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Lst>
  <p:notesMasterIdLst>
    <p:notesMasterId r:id="rId106"/>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notesMaster" Target="notesMasters/notesMaster1.xml"/><Relationship Id="rId107" Type="http://schemas.openxmlformats.org/officeDocument/2006/relationships/presProps" Target="presProps.xml"/><Relationship Id="rId108" Type="http://schemas.openxmlformats.org/officeDocument/2006/relationships/viewProps" Target="viewProps.xml"/><Relationship Id="rId109" Type="http://schemas.openxmlformats.org/officeDocument/2006/relationships/theme" Target="theme/theme1.xml"/><Relationship Id="rId1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le module : introduction au Big Data et au Cloud Computing, une formation de 20h construite entièrement autour d'ateliers pratiques.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module s'articule autour d'un fil conducteur unique illustrant l'évolution des architectures de données. Docker en constitue le socle technique transversal ; l'écosystème Hadoop (HDFS, YARN, Hive) fournit le cadre au sein duquel Spark s'est imposé comme moteur de calcul.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Objectifs pédagogiques : à l'issue du module l'étudiant sait expliquer les enjeux, identifier les limites du relationnel, manipuler MongoDB, développer en PySpark, comprendre Hadoop/Hive, utiliser Docker, expliquer le Cloud et déployer sur EMR.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jeux de données réels : countries.json (250 pays, atelier 2 MongoDB) et purchases.txt (tickets de caisse, fil rouge des ateliers 4, 5, 7). Les mêmes questions métier traitées successivement en RDD, DataFrame, Spark SQL, HiveQL, puis à l'échelle sur EMR.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première séance introduit les facteurs ayant conduit à l’émergence du Big Data : croissance des volumes, diversification des sources de données et apparition de nouvelles contraintes de traitement, avant de formaliser les 5V et le principe des architectures distribuées.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évolutions ont bouleversé la production de données depuis les années 2000 : Internet, les réseaux sociaux et le mobile, puis les capteurs et objets connectés. Les organisations ne traitent plus seulement leurs propres saisies, mais des flux continus, multi-sources, multi-formats.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SGBDR restent excellents pour la gestion, mais montrent des limites face aux données massives : scalabilité verticale plafonnée, schéma rigide, jointures coûteuses à grande échelle, disponibilité liée à un serveur unique. La vraie question : à partir de quel volume/vitesse/variété un autre modèle devient nécessaire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Changement de paradigme : au lieu de renforcer une seule machine (scale-up), on répartit données et calculs sur plusieurs machines (scale-out, scalabilité horizontale). Avantages : capacité extensible, tolérance aux pannes, coût maîtrisé avec des machines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5V donnent une grille de lecture pour qualifier un problème Big Data : Volume, Vélocité, Variété, Véracité, Valeur. Les 3V originels de Doug Laney (2001) ont été étendus à 5. La Valeur est l'objectif final : une donnée n'a d'intérêt que si on en extrait une information exploitable.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règle d'or empirique : trois questions pour trancher entre une infrastructure Big Data et un système standard. Le test de la RAM (les données tiennent-elles sur une seule machine ?), scale-up vs scale-out (peut-on simplement acheter un serveur plus puissant, ou faut-il distribuer ?), et la rupture technologique (passe-t-on plus de temps à contourner qu'à développer ?). Une seule réponse « Non/Oui » vers la distribution suffit à qualifier un problème Big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Principe d'une architecture distribuée : un coordinateur répartit données et calcul sur plusieurs nœuds, chacun stockant une partie des données et exécutant une partie du traitement. Ce principe sous-tend NoSQL, Spark, Hadoop et le Cloud lui-même.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niveaux d'analytique, du plus simple au plus complexe : descriptive (que s'est-il passé ?), diagnostique (pourquoi ?), prédictive (que va-t-il se passer ?), prescriptive (que faire ?). Le module se concentre sur le descriptif à grande échelle, brique indispensable avant le reste.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Toute plateforme Big Data s'organise en quatre étapes : ingestion, stockage, traitement, analyse/visualisation, jusqu'à la décision. Trois métiers interviennent : Data Engineer (infrastructure), Data Analyst (analyses), Data Scientist (modèles prédictifs). Le module place l'étudiant côté Engineer puis Analyst.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même d'introduire un outil Big Data, les commandes shell standard caractérisent un jeu de données trop volumineux pour un tableur. Elles ne chargent jamais tout en mémoire : elles traitent le flux ligne par ligne — un avant-goût du principe des architectures distribuées.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question : posez la ou les questions à la classe et recueillez les réponses avant d'afficher la slide de correction qui suit.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Quiz de fin d'atelier 1 : vérifier la compréhension de la définition du Big Data et de ce qui distingue une plateforme distribuée d'un SGBDR classique. Réponses : B et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 pratique sur les 5V : pour chaque situation, déterminer s'il s'agit d'un problème Big Data et quels V sont mobilisés. Message clé : un fort volume n'est ni nécessaire ni suffisant — la vélocité ou la variété peuvent suffire, et sans Valeur la donnée reste inexploitée.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Atelier 2 : NoSQL avec MongoDB. Principe du NoSQL, théorème CAP, quatre familles de modèles, et manipulation de MongoDB dans un conteneur Docker.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NoSQL = Not Only SQL. Ces bases ne remplacent pas le relationnel : elles offrent des modèles alternatifs, plus flexibles, conçus pour un schéma souple, la scalabilité horizontale, et la priorité à la disponibilité et la rapidité — quitte à assouplir la cohérence stricte (théorème 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Théorème CAP : dans un système distribué, on ne peut garantir simultanément que deux des trois propriétés — Cohérence, Disponibilité, tolérance au Partitionnement. Les bases NoSQL choisissent souvent AP ou CP ; un SGBDR classique privilégie CA sur une seule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grandes familles NoSQL : clé-valeur (Redis, DynamoDB), orienté documents (MongoDB, CouchDB), orienté colonnes (Cassandra, HBase), orienté graphes (Neo4j). Chacune répond à des cas d'usage distincts.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famille NoSQL organise les données différemment. Clé-valeur : une table à deux colonnes, la clé pointe une valeur opaque (Redis). Documents : une hiérarchie base → collection → documents → champs (MongoDB). Colonnes : une Row Key regroupant des familles de colonnes (HBase, Cassandra). Graphe : des nœuds reliés par des relations typées (Neo4j).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MongoDB est orienté documents : chaque enregistrement est un document BSON regroupé dans des collections. Pas de schéma fixe, imbrication de structures sans jointure, requêtes proches de JSON. La correspondance de vocabulaire aide à passer du SQL au MongoDB.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MongoDB s'organise en cinq niveaux emboîtés : un serveur héberge plusieurs bases ; une base contient des collections ; une collection regroupe des documents ; chaque document est un ensemble de champs. C'est l'équivalent conceptuel de serveur → base → tables → lignes → colonnes du monde relationnel, mais sans schéma imposé.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jeu de données countries.json contient 250 fiches de pays. Chaque document embarque directement ses tableaux de devises et de langues — ce que le relationnel exigerait de répartir sur des tables séparées reliées par des clés étrangères.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MongoDB Query Language (MQL) est à MongoDB ce que SQL est au relationnel : le langage d'interrogation et de manipulation, mais adapté au modèle orienté documents. Une requête MQL cible toujours db.collection, applique une méthode (find, aggregate…), un filtre de sélection, puis des modificateurs (projection, tri, limite). Le schéma montre le parcours : la collection entière passe par le filtre, puis la projection, le tri et la limite avant de renvoyer les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MQL fournit trois familles d'opérateurs pour construire les filtres. Comparaison : $eq, $ne, $gt, $gte, $lt, $lte, $in, $nin. Logiques : $and, $or, $not pour combiner plusieurs conditions. Tableaux : $elemMatch (au moins un élément satisfait plusieurs critères), $size (taille exacte du tableau), $all (contient toutes les valeurs). Ces opérateurs s'emploient aussi bien dans find que dans l'étage $match d'un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 combine filtre et projection ; aggregate enchaîne un pipeline d'étages ($match, $group, $sum, $sort) qui correspondent aux clauses SQL WHERE, GROUP BY, agrégats et ORDER BY. Ici : population totale par région, triée.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quatre opérations CRUD s'appliquent toutes aux documents d'une collection. Create : insertOne / insertMany. Read : find / findOne, avec projection, sort, limit. Update : updateOne / updateMany / replaceOne, via les opérateurs $set, $inc, $push, $unset. Delete : deleteOne / deleteMany. Insister sur le fait que ces opérations manipulent les documents, pas des lignes de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Premières moitiés du CRUD sur la collection students. insertOne ajoute un document et génère automatiquement son _id ; insertMany en ajoute plusieurs et renvoie les insertedIds. Côté lecture : find renvoie tous les documents correspondants, findOne le premier ; sort ordonne (1 croissant, -1 décroissant), skip et limit paginent, countDocuments compte.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Seconde moitié du CRUD. Update s'appuie sur des opérateurs : $set modifie, $inc incrémente, $push ajoute à un tableau, $pull en retire, $unset supprime un champ, $rename le renomme ; l'option upsert crée le document s'il n'existe pas. replaceOne remplace tout le document. Delete : deleteOne / deleteMany renvoient deletedCount.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question : posez la ou les questions à la classe et recueillez les réponses avant d'afficher la slide de correction qui suit.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Quiz NoSQL : MongoDB est préféré pour sa capacité à accueillir des structures hétérogènes, et convient particulièrement aux documents JSON. Réponses : B et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 constitue l’environnement d’exécution utilisé tout au long du module afin d’assurer la reproductibilité des différents ateliers pratiques. Cette séance en présente les concepts fondamentaux, la comparaison avec la virtualisation et l’orchestration multi-services.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 empaquette une application avec tout son environnement d'exécution dans une unité portable et reproductible : le conteneur. Fini le « ça marche sur ma machine ». Cinq concepts à maîtriser : image, conteneur, registre, volume, réseau.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conteneur partage le noyau de l'hôte : il démarre en quelques secondes et consomme peu, contre des dizaines de secondes à minutes pour une VM avec son OS invité complet. C'est cette légèreté qui rend Docker adapté aux plateformes Big Data multi-services.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Dockerfile décrit, instruction par instruction, comment construire une image. Exemple avec une petite API FastAPI utilisant pandas et numpy. Chaque instruction crée une couche (layer) : Docker empile ces couches et met en cache celles qui n'ont pas changé — d'où l'ordre : copier requirements.txt et installer AVANT de copier le code, pour ne pas réinstaller les dépendances à chaque modification du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 Compose décrit dans un fichier unique l'ensemble des services, leurs images, ports, volumes, variables d'environnement et le réseau partagé, puis les démarre d'une seule commande. Exemple léger et universel : une API FastAPI qui dépend d'un cache Redis. Les deux conteneurs partagent un réseau et se joignent par leur nom de service (redis).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question : posez la ou les questions à la classe et recueillez les réponses avant d'afficher la slide de correction qui suit.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Quiz Docker : l'intérêt central est de fournir une plateforme Big Data identique et reproductible pour tous ; une image contient les instructions permettant de créer un conteneur. Réponses : B et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Atelier 4.1 : avant Spark, l'écosystème Hadoop. Stockage distribué (HDFS), gestion des ressources (YARN) et interrogation SQL (Hive). Spark ne remplace ni HDFS ni YARN : il s'exécute au-dessus, comme moteur de calcul — d'où la nécessité de poser ces fondations d'abord.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stockage sur une seule machine atteint vite ses limites : capacité disque, mémoire insuffisante, aucun parallélisme, point unique de panne. Hadoop répond par le scale-out (Atelier 1) : répartir données et calcul sur un grand nombre de serveurs standards peu coûteux, plutôt qu'un seul serveur très puissant.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lectures complémentaires de la même architecture. À GAUCHE, les couches logicielles : le client soumet une requête ; Hive (couche SQL) et Spark (moteur de calcul) sont deux applications de même niveau ; toutes deux passent par YARN (gestion des ressources) qui s'appuie sur HDFS (stockage). Hive n'est PAS un service tournant sur chaque nœud — HiveServer2 et le Metastore sont des services du nœud de contrôle. À DROITE, l'architecture physique : un nœud de contrôle (NameNode, ResourceManager, Hive Metastore — souvent des machines distinctes en production, regroupées ici pour l'enseignement) et des nœuds de calcul, chacun exécutant un DataNode (processus HDFS) et un NodeManager (processus YARN). Le nœud n'EST pas le DataNode : il l'héberge.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HDFS repose sur trois idées : découpage en blocs (128 Mo par défaut), répartition des blocs sur plusieurs DataNodes, et réplication (facteur 3 par défaut) pour la tolérance aux pannes. Découper permet de stocker des fichiers plus gros qu'un disque, de lire/écrire en parallèle, et de répartir la charge. La réplication garantit qu'un bloc reste disponible malgré la panne d'un DataNode.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Distinction fondamentale : le NameNode ne stocke JAMAIS les données. Il ne détient que les métadonnées (arborescence, permissions, liste et localisation des blocs). Les DataNodes stockent réellement les blocs et exécutent les lectures/écritures. Le NameNode est donc léger mais critique : sa perte rend le cluster inutilisable même si les données sont intactes.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Distinction régulièrement demandée en examen : le Heartbeat (toutes les ~3 s) signale seulement 'je suis vivant' — un signal de disponibilité. Le Block Report (moins fréquent) transmet 'voici la liste complète des blocs que je possède', permettant au NameNode de reconstruire sa connaissance de la localisation des blocs. Sans heartbeat prolongé, le NameNode déclare le DataNode défaillant et recrée ses répliques ailleurs.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principes clés. Lecture : le NameNode ne transporte jamais les données — il indique seulement au client où sont les blocs, que le client lit ensuite directement auprès des DataNodes, en parallèle (le NameNode n'est pas un goulot d'étranglement). Écriture : le client écrit vers un premier DataNode, qui retransmet au deuxième, puis au troisième — un pipeline de réplication qui économise la bande passante du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YARN (Yet Another Resource Negotiator) alloue CPU et mémoire aux applications (Hive, Spark, MapReduce), indépendamment du moteur. Quatre composants : ResourceManager (central, négocie l'allocation globale), NodeManager (un par nœud, gère les containers locaux), ApplicationMaster (un par application, négocie et coordonne ses tâches), Container (unité de ressources CPU+mémoire où s'exécute une tâche). C'est ce ResourceManager que Spark sollicitera à l'atelier 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Schéma récapitulatif de l'allocation YARN. Le ResourceManager a la vue globale ; chaque Worker Node exécute un NodeManager qui héberge des containers, chacun réservant une quantité précise de RAM et de vCores. À retenir : le RM décide OÙ s'exécutent les applications, le NM gère les ressources d'un seul nœud, l'ApplicationMaster coordonne UNE application, et le Container représente les ressources réservées pour UNE tâche. Cette séparation des responsabilités est l'évolution majeure de YARN (Hadoop 2.x) par rapport à Hadoop 1.x.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MapReduce est le paradigme de traitement historique de Hadoop : le calcul est déplacé vers les données (sur les nœuds esclaves) plutôt que l'inverse. Phase Map : transformation ligne à ligne en parallèle sur chaque partition, produisant des paires clé-valeur. Shuffle &amp; sort : regroupement des paires par clé. Phase Reduce : agrégation par clé. Les résultats intermédiaires sont écrits sur disque (HDFS), ce qui est robuste mais lent — c'est précisément cette limite que Spark lèvera en travaillant en mémoire.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Hive n'est pas une base de données au sens classique : c'est un entrepôt de données (Data Warehouse) construit au-dessus de HDFS. Il traduit des requêtes SQL (HiveQL) en un plan d'exécution distribué, historiquement via MapReduce, aujourd'hui le plus souvent via Tez ou Spark. Il apporte le métastore (catalogue des tables) réutilisé ensuite par Spark 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pratique sur cluster Hadoop (EMR). Partie A HDFS : copier purchases.txt dans /data/raw, puis fsck pour observer le découpage en blocs et la réplication réels. Partie B Hive : créer achatdb.purchases pointant directement sur /data/raw (LOCATION, sans LOAD DATA), puis exécuter les quatre requêtes métier — les mêmes qu'en Spark. Noter le classement des magasins : il servira de référence pour comparer avec Spark (4.2) et Spark SQL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question : posez les questions à la classe avant d'afficher la correction. Réponses : B (le NameNode ne stocke que les métadonnées) et B (128 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Correction : le NameNode ne stocke que les métadonnées (les données réelles sont sur les DataNodes), et la taille de bloc HDFS par défaut est 128 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Atelier 4.2 : Apache Spark, le moteur de calcul. Prérequis : les données sont déjà sur HDFS (/data/raw/purchases.txt, atelier 4.1) et les notions YARN sont acquises. Spark ne remplace ni HDFS ni YARN — il s'exécute au-dessus, lisant sur HDFS et négociant ses ressources auprès de YARN.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script pandas classique charge tout en mémoire sur une seule machine : la RAM plafonne le volume, le traitement est séquentiel, et une panne oblige à tout recommencer. Le MapReduce de Hadoop a été la première réponse ; Spark en reprend la logique mais travaille en mémoire.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Spark : le Driver exécute le programme principal et planifie les tâches ; le Cluster Manager alloue les ressources (Standalone en local, YARN sur EMR) ; les Executors exécutent les tâches en parallèle et stockent les données en mémoire.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RDD est la structure bas niveau, proche du MapReduce (paires clé-valeur, reduceByKey), résiliente par son lignage. Le DataFrame est l'abstraction haut niveau, optimisée automatiquement par Catalyst. Recommandé pour l'usage courant. Évaluation paresseuse : rien ne s'exécute avant une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en RDD : montant total des ventes par magasin, trié. On parse chaque ligne, on projette (magasin, coût), on agrège avec reduceByKey, on trie. L'API RDD manipule explicitement des paires clé-valeur, dans l'esprit Map/Reduce.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implémentation résout le même problème à l’aide de l’API DataFrame, qui offre un niveau d’abstraction supérieur et permet au moteur Catalyst d’optimiser automatiquement le plan d’exécution, pour un résultat identique à l’approche RDD.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 un cluster Hadoop, le Cluster Manager de Spark est YARN — exactement le vocabulaire de l'atelier 4.1. Le Driver Spark négocie ses ressources auprès du ResourceManager via un ApplicationMaster dédié ; chaque Executor s'exécute dans un Container, sur un nœud géré par un NodeManager. Même mécanique que pour une requête Hive, appliquée à une application Spark.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Toute opération Spark est soit une transformation (paresseuse, ne calcule rien : map, filter, groupBy, reduceByKey), soit une action (déclenche le calcul : collect, count, take, save). Rien ne s'exécute tant qu'aucune action n'est appelée — c'est l'évaluation paresseuse. Chaque transformation est enregistrée dans un DAG (graphe orienté acyclique) que l'action déclenche, permettant à Spark d'optimiser globalement l'enchaînement avant tout calcul.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leviers de performance. Partitionnement : un RDD/DataFrame est découpé en partitions, chacune traitée par un Executor — c'est ce qui rend le parallélisme possible. Trop peu de partitions sous-utilise le cluster, trop en multiplie le coût de gestion. Cache : par défaut un RDD est recalculé à chaque action ; .cache() le garde en mémoire après le premier calcul, ce qui accélère fortement les réutilisations.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application Spark expose une interface web de suivi (localhost:4040). Elle décompose l'exécution : un Job par action, découpé en Stages (séparés par les échanges de données entre partitions, typiquement un groupBy), eux-mêmes découpés en Tasks (une par partition). L'onglet DAG Visualization montre le plan d'exécution, l'onglet Executors la mémoire et les tâches par executor. Exercice : comparer le nombre de stages/tasks entre RDD et DataFrame sur la même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de synthèse qui clôt le chapitre 4 : HDFS (stockage), Hive (SQL sur YARN), Spark RDD (bas niveau), Spark DataFrame (optimisé Catalyst), YARN (ressources). La progression : du stockage distribué vers l'orchestration des ressources, puis vers les moteurs de calcul — chacun exploitant les deux premiers sans les dupliquer.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question : posez la ou les questions à la classe et recueillez les réponses avant d'afficher la slide de correction qui suit.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Quiz Spark : Spark est plus rapide car il exploite la mémoire pour les traitements intermédiaires ; PySpark est la bibliothèque Python d'accès à Spark. Réponses : A et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Atelier 5.1 : Apache Hive, le Data Warehouse distribué. HDFS et YARN vus en 4.1, Spark en 4.2 ; ici on introduit Hive en profondeur — pourquoi il existe, son architecture interne, le data modeling (Managed/External, partitioning, bucketing) — avant Spark SQL en 5.2, pour comparer en connaissance de cause deux façons d'interroger les mêmes données en 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Hive, analyser des téraoctets sur HDFS imposait d'écrire des centaines de lignes de MapReduce en Java (Mapper, Reducer, compilation, JAR, soumission) — même pour un simple total des ventes par magasin. Hive remplace tout ce cycle par une requête SQL. Point essentiel : Hive ne calcule JAMAIS lui-même, il traduit le SQL en un plan d'exécution distribué confié à un moteur (Tez, Spark ou MapReduce).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Empilement à retenir dans l'ordre : l'utilisateur écrit du HiveQL ; Hive est la couche SQL qui traduit la requête ; en dessous, Tez/Spark/MapReduce sont les moteurs qui exécutent réellement le calcul ; YARN gère les ressources (4.1) ; HDFS stocke les données (4.1). Hive s'insère au-dessus de la pile Hadoop déjà connue.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 composants gouvernent le cycle de vie d'une requête HiveQL. Driver : le chef d'orchestre, pilote compilation, optimisation, exécution. Compiler : construit l'AST, valide syntaxe et sémantique (en interrogeant le Metastore). Optimizer : améliore le plan (CBO, Predicate Pushdown, Map Join, Partition Pruning). Execution Engine : exécute sur Tez/Spark/MapReduce. Metastore : catalogue des métadonnées — jamais les données. C'est ce Metastore que Spark SQL réutilisera en 5.2.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passage d'une requête HiveQL à un résultat suit sept étapes : 1. Execute Query (utilisateur → Driver), 2. Get Plan (Driver → Compiler), 3. Get Metadata (Compiler → Metastore), 4. Send Metadata (Metastore → Compiler), 5. Send Plan (Compiler → Driver), 6. Execute Plan (Driver → Execution Engine), 7. Execute Job + Fetch Result (Engine → YARN → DataNodes, résultats remontés à l'utilisateur).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Hive propose des types primitifs (entiers TINYINT→BIGINT, FLOAT/DOUBLE, DECIMAL pour le financier, STRING/VARCHAR/CHAR, BOOLEAN, DATE, TIMESTAMP, BINARY) et surtout des types complexes qui exploitent le semi-structuré : ARRAY (collection ordonnée), MAP (paires clé-valeur), STRUCT (champs nommés). Ces types restent interrogeables en SQL avec une syntaxe d'accès dédiée : [index], .champ,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Distinction majeure du data modeling. Managed Table : Hive possède les données, stockées dans /user/hive/warehouse ; DROP TABLE supprime métadonnées ET données. External Table : Hive référence des données ailleurs (clause LOCATION) sans en être propriétaire ; DROP TABLE ne supprime que les métadonnées. C'est l'approche data lake — et c'était déjà, sans le nommer, la table achatdb.purchases de l'atelier 4.1 (LOCATION /data/raw).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partitioning organise physiquement les données en un sous-répertoire par valeur de la colonne de partition (ex. store=Tampa, store=Chicago). Sans partition, filtrer sur store impose un scan complet du fichier. Avec partition, une requête WHERE store='Tampa' ne lit QUE le sous-répertoire correspondant : c'est le Partition Pruning, réalisé dès la planification par l'Optimizer.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bucketing intervient à l'intérieur d'une partition (ou de la table entière) : il répartit les lignes dans un nombre fixe de fichiers via une fonction de hachage sur une colonne (CLUSTERED BY store INTO 4 BUCKETS). Bénéfices : jointures bucket par bucket sans shuffle global, et échantillonnage efficace (TABLESAMPLE). Formats de stockage : TEXTFILE (simple), AVRO (ligne, évolution de schéma), ORC (colonnaire Hive), PARQUET (colonnaire Spark).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Hive est un moteur analytique, pas transactionnel. Face à un SGBDR classique (PostgreSQL) : pas de clés primaires/étrangères imposées, accès par scan massif (atténué par partitioning/bucketing) plutôt que par index, traitement par lots plutôt que temps réel, scalabilité horizontale plutôt que verticale. Deux modes d'exécution : local (sans YARN, petits jeux de test) et distribué (YARN → Tez → HDFS). Il n'est pas conçu pour des mises à jour ligne à ligne ni des contraintes d'intégrité.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TP sur environnement Docker dédié (HDFS + YARN + Hive + Metastore PostgreSQL + HiveServer2). Parcours : docker compose ps, docker exec dans hive-server, connexion beeline, création de base, puis les variantes de table (Managed, External, partitionnée, bucketisée) et enfin la comparaison de performances — les étudiants constatent directement pourquoi partitioning et bucketing existent, plutôt que de l'admettre sur parole.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Synthèse en pile : HDFS stocke les fichiers, Hive ajoute un schéma SQL, le Metastore mémorise les métadonnées, Driver+Optimizer construisent le plan, Tez/Spark/MR exécutent, YARN fournit CPU et mémoire. Points clés : Hive ne calcule jamais lui-même, le Metastore ne stocke jamais les données, Managed vs External se distinguent par la propriété et l'effet de DROP, partitioning (répertoires) et bucketing (fichiers) sont complémentaires. Ce Metastore sera réutilisé par Spark SQL en 5.2.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question : posez les questions à la classe avant la correction. Réponses : B (Hive ne calcule jamais, il traduit) et B (External : DROP ne supprime que les métadonnées).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Correction : Hive traduit le SQL en un plan d'exécution confié à un moteur (il ne calcule jamais lui-même) ; sur une External Table, DROP TABLE ne supprime que les métadonnées, les données restent sur HDFS.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Atelier 5.2 : Spark SQL. La quatrième façon d'exprimer les mêmes questions métier — en SQL standard, dans Spark. S'appuie sur un DataFrame chargé depuis purchases.txt et réutilise le Hive Metastore vu en 5.1.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Spark SQL interroge des DataFrames en SQL standard, strictement équivalent à l'API programmatique (même moteur Catalyst). Le métastore est un catalogue centralisé qui décrit les tables — noms, colonnes, types, emplacement, format — indépendamment du moteur qui les interroge.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enregistre le DataFrame comme vue temporaire, puis on exécute du SQL standard : GROUP BY, ORDER BY. spark.sql renvoie un DataFrame comme un autre — on peut y enchaîner des méthodes DataFrame. Les deux API sont interchangeables à tout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Requête bonus : un PIVOT croise deux dimensions (magasin × mode de paiement), transformant les valeurs de la colonne payment en colonnes. C'est une opération naturelle en SQL, plus verbeuse à écrire en API DataFrame — un bon exemple de ce que le SQL exprime élégamment.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Synthèse du fil rouge : sur la même question métier (ventes par magasin sur purchases.txt), RDD, DataFrame, Spark SQL et HiveQL produisent un résultat strictement identique — avec des niveaux d'abstraction et de performance différents.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Atelier 6 : introduction au Cloud Computing. Virtualisation, modèles de service IaaS/PaaS/SaaS, types de déploiement, élasticité et haute disponibilité, et les services AWS fondamentaux : régions, AZ, IAM, VPC, EC2, S3.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Cloud : accéder à des ressources (calcul, stockage, réseau, bases) à la demande via Internet, en pay-as-you-go, sans acheter de serveurs. La virtualisation rend le Cloud possible : plusieurs VM isolées sur un même serveur physique, grâce à un hyperviseur. Un VPS est une VM louée.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modèles de service selon le partage des responsabilités. IaaS : le prestataire fournit serveurs, stockage, réseau ; le client gère OS, middleware, apps, données (EC2, S3). PaaS : + environnement d'exécution, le client ne gère que code et données (Beanstalk, Heroku). SaaS : application complète prête à l'emploi (Gmail, Salesforce). EMR se situe entre IaaS et PaaS.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types de déploiement : public (infrastructure partagée, gérée par un tiers, coût faible, rapide), privé (dédié à une organisation, contrôle et sécurité renforcés, coût élevé), hybride (combinaison — garder le sensible en interne, exploiter l'élasticité du public pour les pics).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promesses centrales du Cloud. Élasticité : ajuster automatiquement les ressources à la hausse comme à la baisse selon la charge, sans intervention — ce qui permet de ne payer que l'utilisé. Haute disponibilité : rester opérationnel malgré la panne d'un composant, par réplication sur plusieurs zones séparées.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région AWS (ex. eu-west-3 à Paris) est une zone géographique composée de plusieurs zones de disponibilité — des datacenters physiquement distincts reliés par un réseau à faible latence. Répartir des ressources sur plusieurs AZ permet de survivre à la panne d'un datacenter.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services AWS fondamentaux : EC2 (machines virtuelles à la demande) et S3 (stockage d'objets en buckets, le plus utilisé pour le Big Data) forment la base calcul + stockage ; IAM (qui peut faire quoi, principe du moindre privilège), VPC (réseau privé isolé) et Security Groups (pare-feu par ressource) en assurent la sécurité. EMR lit et écrit typiquement depuis S3.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question : posez la ou les questions à la classe et recueillez les réponses avant d'afficher la slide de correction qui suit.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Quiz Cloud : EC2 relève de l'IaaS ; un Security Group définit les règles de trafic entrant/sortant d'une instance ; S3 est un stockage objet durable, scalable et indépendant du cycle de vie des instances. Réponses : B, B et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séance transpose vers une infrastructure Cloud managée les traitements précédemment réalisés en local sur Docker, afin d’étudier les problématiques de montée en charge et d’exploitation d’un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Même une instance EC2 puissante reste une seule machine : RAM et cœurs plafonnés, panne = indisponibilité totale. Un cluster répartit stockage et calcul, apportant trois bénéfices : scalabilité horizontale, parallélisme réel, résilience.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Amazon EMR (Elastic MapReduce) déploie en quelques minutes un cluster préconfiguré : Spark, Hadoop, Hive, Zeppelin, Hue. Un nœud maître (YARN ResourceManager, NameNode, Driver Spark, interfaces) ; des nœuds core (Executors + stockage HDFS) ; des nœuds task optionnels (calcul supplémentaire, souvent en Spot). Les données viennent de S3.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 EMR, Spark tourne avec YARN. Le principe économique central : séparer strictement le stockage (S3, permanent) du calcul (cluster EMR, temporaire, facturé à l'usage). Les données brutes restent sur S3, on démarre un cluster à la demande, on réécrit les résultats sur S3, puis on arrête le cluster — sans perdre les données.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cluster EMR est facturé à l'heure/seconde : coût des instances EC2 + surcoût EMR. S3 est facturé séparément. Bonnes pratiques : terminer systématiquement le cluster, séparer stockage et calcul, utiliser des instances Spot pour les tasks, dimensionner au juste besoin, automatiser via des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question : posez la ou les questions à la classe et recueillez les réponses avant d'afficher la slide de correction qui suit.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Quiz EMR : l'intérêt principal est de déployer et gérer facilement un cluster Big Data (Spark, Hadoop, Hive) sans configurer manuellement chaque nœud. Réponse :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pipeline introduit à l'atelier 1 se retrouve intégralement sur AWS : données brutes sur S3, cluster EMR démarré à la demande pour traiter, résultats réécrits sur S3, cluster arrêté, puis QuickSight ou Athena pour l'analyse et la visualisation. La séparation stockage/calcul referme le pipeline ouvert à l'atelier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Bilan : purchases.txt traverse tout le module — Docker (socle), MongoDB (NoSQL), HDFS (stockage) et Hive (SQL) en 4.1, Spark RDD puis DataFrame en 4.2, Spark SQL en 5, S3, puis EMR à l'échelle. Chaque étudiant doit expliquer, pour chaque brique, quelle limite elle résout par rapport à la précédente.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svg"/><Relationship Id="rId3" Type="http://schemas.openxmlformats.org/officeDocument/2006/relationships/image" Target="../media/image-35-3.png"/><Relationship Id="rId4" Type="http://schemas.openxmlformats.org/officeDocument/2006/relationships/image" Target="../media/image-35-4.svg"/><Relationship Id="rId5" Type="http://schemas.openxmlformats.org/officeDocument/2006/relationships/image" Target="../media/image-35-5.png"/><Relationship Id="rId6" Type="http://schemas.openxmlformats.org/officeDocument/2006/relationships/image" Target="../media/image-35-6.svg"/><Relationship Id="rId7" Type="http://schemas.openxmlformats.org/officeDocument/2006/relationships/image" Target="../media/image-35-7.png"/><Relationship Id="rId8" Type="http://schemas.openxmlformats.org/officeDocument/2006/relationships/image" Target="../media/image-35-8.svg"/><Relationship Id="rId9" Type="http://schemas.openxmlformats.org/officeDocument/2006/relationships/image" Target="../media/image-35-9.png"/><Relationship Id="rId10" Type="http://schemas.openxmlformats.org/officeDocument/2006/relationships/image" Target="../media/image-35-10.svg"/><Relationship Id="rId11" Type="http://schemas.openxmlformats.org/officeDocument/2006/relationships/slideLayout" Target="../slideLayouts/slideLayout1.xml"/><Relationship Id="rId1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svg"/><Relationship Id="rId3" Type="http://schemas.openxmlformats.org/officeDocument/2006/relationships/image" Target="../media/image-36-3.png"/><Relationship Id="rId4" Type="http://schemas.openxmlformats.org/officeDocument/2006/relationships/image" Target="../media/image-36-4.svg"/><Relationship Id="rId5" Type="http://schemas.openxmlformats.org/officeDocument/2006/relationships/slideLayout" Target="../slideLayouts/slideLayout1.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png"/><Relationship Id="rId2" Type="http://schemas.openxmlformats.org/officeDocument/2006/relationships/image" Target="../media/image-88-2.svg"/><Relationship Id="rId3" Type="http://schemas.openxmlformats.org/officeDocument/2006/relationships/image" Target="../media/image-88-3.png"/><Relationship Id="rId4" Type="http://schemas.openxmlformats.org/officeDocument/2006/relationships/image" Target="../media/image-88-4.svg"/><Relationship Id="rId5" Type="http://schemas.openxmlformats.org/officeDocument/2006/relationships/slideLayout" Target="../slideLayouts/slideLayout1.xml"/><Relationship Id="rId6"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png"/><Relationship Id="rId2" Type="http://schemas.openxmlformats.org/officeDocument/2006/relationships/image" Target="../media/image-90-2.png"/><Relationship Id="rId3" Type="http://schemas.openxmlformats.org/officeDocument/2006/relationships/image" Target="../media/image-90-3.png"/><Relationship Id="rId4" Type="http://schemas.openxmlformats.org/officeDocument/2006/relationships/slideLayout" Target="../slideLayouts/slideLayout1.xml"/><Relationship Id="rId5"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image-98-1.png"/><Relationship Id="rId2" Type="http://schemas.openxmlformats.org/officeDocument/2006/relationships/slideLayout" Target="../slideLayouts/slideLayout1.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5"/>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55DCDC">
                  <a:alpha val="20000"/>
                </a:srgbClr>
              </a:gs>
              <a:gs pos="62000">
                <a:srgbClr val="55DCDC">
                  <a:alpha val="0"/>
                </a:srgbClr>
              </a:gs>
            </a:gsLst>
            <a:path path="circle">
              <a:fillToRect l="78000" t="0" r="22000" b="100000"/>
            </a:path>
          </a:gradFill>
          <a:ln/>
        </p:spPr>
      </p:sp>
      <p:sp>
        <p:nvSpPr>
          <p:cNvPr id="3" name="Text 1"/>
          <p:cNvSpPr/>
          <p:nvPr/>
        </p:nvSpPr>
        <p:spPr>
          <a:xfrm>
            <a:off x="1066800" y="2443560"/>
            <a:ext cx="17769840" cy="342900"/>
          </a:xfrm>
          <a:prstGeom prst="rect">
            <a:avLst/>
          </a:prstGeom>
          <a:noFill/>
          <a:ln/>
        </p:spPr>
        <p:txBody>
          <a:bodyPr wrap="square" lIns="25400" tIns="25400" rIns="25400" bIns="25400" rtlCol="0" anchor="t">
            <a:normAutofit/>
          </a:bodyPr>
          <a:lstStyle/>
          <a:p>
            <a:pPr algn="l" indent="0" marL="0">
              <a:buNone/>
            </a:pPr>
            <a:r>
              <a:rPr lang="en-US" sz="1800" spc="504" kern="0" dirty="0">
                <a:solidFill>
                  <a:srgbClr val="56DBDB"/>
                </a:solidFill>
                <a:latin typeface="Courier New" pitchFamily="34" charset="0"/>
                <a:ea typeface="Courier New" pitchFamily="34" charset="-122"/>
                <a:cs typeface="Courier New" pitchFamily="34" charset="-120"/>
              </a:rPr>
              <a:t>LICENCE INFORMATIQUE 2 · SUPDECO</a:t>
            </a:r>
            <a:endParaRPr lang="en-US" sz="1800" dirty="0"/>
          </a:p>
        </p:txBody>
      </p:sp>
      <p:sp>
        <p:nvSpPr>
          <p:cNvPr id="4" name="Text 2"/>
          <p:cNvSpPr/>
          <p:nvPr/>
        </p:nvSpPr>
        <p:spPr>
          <a:xfrm>
            <a:off x="1066800" y="3072210"/>
            <a:ext cx="13204146" cy="2091531"/>
          </a:xfrm>
          <a:prstGeom prst="rect">
            <a:avLst/>
          </a:prstGeom>
          <a:noFill/>
          <a:ln/>
        </p:spPr>
        <p:txBody>
          <a:bodyPr wrap="square" lIns="25400" tIns="25400" rIns="25400" bIns="25400" rtlCol="0" anchor="t">
            <a:normAutofit/>
          </a:bodyPr>
          <a:lstStyle/>
          <a:p>
            <a:pPr algn="l" indent="0" marL="0">
              <a:lnSpc>
                <a:spcPct val="85556"/>
              </a:lnSpc>
              <a:buNone/>
            </a:pPr>
            <a:r>
              <a:rPr lang="en-US" sz="8250" b="1" spc="-247" kern="0" dirty="0">
                <a:solidFill>
                  <a:srgbClr val="EEF3F9"/>
                </a:solidFill>
                <a:latin typeface="Arial" pitchFamily="34" charset="0"/>
                <a:ea typeface="Arial" pitchFamily="34" charset="-122"/>
                <a:cs typeface="Arial" pitchFamily="34" charset="-120"/>
              </a:rPr>
              <a:t>Introduction au Big Data et au Cloud Computing</a:t>
            </a:r>
            <a:endParaRPr lang="en-US" sz="8250" dirty="0"/>
          </a:p>
        </p:txBody>
      </p:sp>
      <p:sp>
        <p:nvSpPr>
          <p:cNvPr id="5" name="Text 3"/>
          <p:cNvSpPr/>
          <p:nvPr/>
        </p:nvSpPr>
        <p:spPr>
          <a:xfrm>
            <a:off x="1066800" y="5449491"/>
            <a:ext cx="10831068" cy="1104900"/>
          </a:xfrm>
          <a:prstGeom prst="rect">
            <a:avLst/>
          </a:prstGeom>
          <a:noFill/>
          <a:ln/>
        </p:spPr>
        <p:txBody>
          <a:bodyPr wrap="square" lIns="25400" tIns="25400" rIns="25400" bIns="25400" rtlCol="0" anchor="t">
            <a:normAutofit/>
          </a:bodyPr>
          <a:lstStyle/>
          <a:p>
            <a:pPr algn="l" indent="0" marL="0">
              <a:lnSpc>
                <a:spcPct val="121739"/>
              </a:lnSpc>
              <a:buNone/>
            </a:pPr>
            <a:r>
              <a:rPr lang="en-US" sz="3000" dirty="0">
                <a:solidFill>
                  <a:srgbClr val="8EA0B5"/>
                </a:solidFill>
                <a:latin typeface="Arial" pitchFamily="34" charset="0"/>
                <a:ea typeface="Arial" pitchFamily="34" charset="-122"/>
                <a:cs typeface="Arial" pitchFamily="34" charset="-120"/>
              </a:rPr>
              <a:t>Construction progressive d’une plateforme Big Data, des bases de données au Cloud, structurée en sept ateliers.</a:t>
            </a:r>
            <a:endParaRPr lang="en-US" sz="3000" dirty="0"/>
          </a:p>
        </p:txBody>
      </p:sp>
      <p:sp>
        <p:nvSpPr>
          <p:cNvPr id="6" name="Text 4"/>
          <p:cNvSpPr/>
          <p:nvPr/>
        </p:nvSpPr>
        <p:spPr>
          <a:xfrm>
            <a:off x="1066800" y="7125891"/>
            <a:ext cx="150876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solidFill>
                <a:latin typeface="Courier New" pitchFamily="34" charset="0"/>
                <a:ea typeface="Courier New" pitchFamily="34" charset="-122"/>
                <a:cs typeface="Courier New" pitchFamily="34" charset="-120"/>
              </a:rPr>
              <a:t>Enseignant</a:t>
            </a:r>
            <a:endParaRPr lang="en-US" sz="1800" dirty="0"/>
          </a:p>
        </p:txBody>
      </p:sp>
      <p:sp>
        <p:nvSpPr>
          <p:cNvPr id="7" name="Text 5"/>
          <p:cNvSpPr/>
          <p:nvPr/>
        </p:nvSpPr>
        <p:spPr>
          <a:xfrm>
            <a:off x="1066800" y="7506891"/>
            <a:ext cx="1508760" cy="374650"/>
          </a:xfrm>
          <a:prstGeom prst="rect">
            <a:avLst/>
          </a:prstGeom>
          <a:noFill/>
          <a:ln/>
        </p:spPr>
        <p:txBody>
          <a:bodyPr wrap="square" lIns="25400" tIns="25400" rIns="25400" bIns="25400" rtlCol="0" anchor="t">
            <a:normAutofit/>
          </a:bodyPr>
          <a:lstStyle/>
          <a:p>
            <a:pPr algn="l" indent="0" marL="0">
              <a:buNone/>
            </a:pPr>
            <a:r>
              <a:rPr lang="en-US" sz="2025" dirty="0">
                <a:solidFill>
                  <a:srgbClr val="EEF3F9"/>
                </a:solidFill>
                <a:latin typeface="Courier New" pitchFamily="34" charset="0"/>
                <a:ea typeface="Courier New" pitchFamily="34" charset="-122"/>
                <a:cs typeface="Courier New" pitchFamily="34" charset="-120"/>
              </a:rPr>
              <a:t>M. TOP</a:t>
            </a:r>
            <a:endParaRPr lang="en-US" sz="2025" dirty="0"/>
          </a:p>
        </p:txBody>
      </p:sp>
      <p:sp>
        <p:nvSpPr>
          <p:cNvPr id="8" name="Shape 6"/>
          <p:cNvSpPr/>
          <p:nvPr/>
        </p:nvSpPr>
        <p:spPr>
          <a:xfrm>
            <a:off x="2857500" y="7125891"/>
            <a:ext cx="9525" cy="717550"/>
          </a:xfrm>
          <a:prstGeom prst="rect">
            <a:avLst/>
          </a:prstGeom>
          <a:solidFill>
            <a:srgbClr val="FFFFFF">
              <a:alpha val="10000"/>
            </a:srgbClr>
          </a:solidFill>
          <a:ln/>
        </p:spPr>
      </p:sp>
      <p:sp>
        <p:nvSpPr>
          <p:cNvPr id="9" name="Text 7"/>
          <p:cNvSpPr/>
          <p:nvPr/>
        </p:nvSpPr>
        <p:spPr>
          <a:xfrm>
            <a:off x="3282950" y="7125891"/>
            <a:ext cx="152764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solidFill>
                <a:latin typeface="Courier New" pitchFamily="34" charset="0"/>
                <a:ea typeface="Courier New" pitchFamily="34" charset="-122"/>
                <a:cs typeface="Courier New" pitchFamily="34" charset="-120"/>
              </a:rPr>
              <a:t>Volume</a:t>
            </a:r>
            <a:endParaRPr lang="en-US" sz="1800" dirty="0"/>
          </a:p>
        </p:txBody>
      </p:sp>
      <p:sp>
        <p:nvSpPr>
          <p:cNvPr id="10" name="Text 8"/>
          <p:cNvSpPr/>
          <p:nvPr/>
        </p:nvSpPr>
        <p:spPr>
          <a:xfrm>
            <a:off x="3282950" y="7506891"/>
            <a:ext cx="1527641" cy="374650"/>
          </a:xfrm>
          <a:prstGeom prst="rect">
            <a:avLst/>
          </a:prstGeom>
          <a:noFill/>
          <a:ln/>
        </p:spPr>
        <p:txBody>
          <a:bodyPr wrap="square" lIns="25400" tIns="25400" rIns="25400" bIns="25400" rtlCol="0" anchor="t">
            <a:normAutofit/>
          </a:bodyPr>
          <a:lstStyle/>
          <a:p>
            <a:pPr algn="l" indent="0" marL="0">
              <a:buNone/>
            </a:pPr>
            <a:r>
              <a:rPr lang="en-US" sz="2025" dirty="0">
                <a:solidFill>
                  <a:srgbClr val="EEF3F9"/>
                </a:solidFill>
                <a:latin typeface="Courier New" pitchFamily="34" charset="0"/>
                <a:ea typeface="Courier New" pitchFamily="34" charset="-122"/>
                <a:cs typeface="Courier New" pitchFamily="34" charset="-120"/>
              </a:rPr>
              <a:t>20 heures</a:t>
            </a:r>
            <a:endParaRPr lang="en-US" sz="2025" dirty="0"/>
          </a:p>
        </p:txBody>
      </p:sp>
      <p:sp>
        <p:nvSpPr>
          <p:cNvPr id="11" name="Shape 9"/>
          <p:cNvSpPr/>
          <p:nvPr/>
        </p:nvSpPr>
        <p:spPr>
          <a:xfrm>
            <a:off x="5090815" y="7125891"/>
            <a:ext cx="9525" cy="717550"/>
          </a:xfrm>
          <a:prstGeom prst="rect">
            <a:avLst/>
          </a:prstGeom>
          <a:solidFill>
            <a:srgbClr val="FFFFFF">
              <a:alpha val="10000"/>
            </a:srgbClr>
          </a:solidFill>
          <a:ln/>
        </p:spPr>
      </p:sp>
      <p:sp>
        <p:nvSpPr>
          <p:cNvPr id="12" name="Text 10"/>
          <p:cNvSpPr/>
          <p:nvPr/>
        </p:nvSpPr>
        <p:spPr>
          <a:xfrm>
            <a:off x="5516265" y="7125891"/>
            <a:ext cx="237631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solidFill>
                <a:latin typeface="Courier New" pitchFamily="34" charset="0"/>
                <a:ea typeface="Courier New" pitchFamily="34" charset="-122"/>
                <a:cs typeface="Courier New" pitchFamily="34" charset="-120"/>
              </a:rPr>
              <a:t>Approche</a:t>
            </a:r>
            <a:endParaRPr lang="en-US" sz="1800" dirty="0"/>
          </a:p>
        </p:txBody>
      </p:sp>
      <p:sp>
        <p:nvSpPr>
          <p:cNvPr id="13" name="Text 11"/>
          <p:cNvSpPr/>
          <p:nvPr/>
        </p:nvSpPr>
        <p:spPr>
          <a:xfrm>
            <a:off x="5516265" y="7506891"/>
            <a:ext cx="2376319" cy="374650"/>
          </a:xfrm>
          <a:prstGeom prst="rect">
            <a:avLst/>
          </a:prstGeom>
          <a:noFill/>
          <a:ln/>
        </p:spPr>
        <p:txBody>
          <a:bodyPr wrap="square" lIns="25400" tIns="25400" rIns="25400" bIns="25400" rtlCol="0" anchor="t">
            <a:normAutofit/>
          </a:bodyPr>
          <a:lstStyle/>
          <a:p>
            <a:pPr algn="l" indent="0" marL="0">
              <a:buNone/>
            </a:pPr>
            <a:r>
              <a:rPr lang="en-US" sz="2025" dirty="0">
                <a:solidFill>
                  <a:srgbClr val="EEF3F9"/>
                </a:solidFill>
                <a:latin typeface="Courier New" pitchFamily="34" charset="0"/>
                <a:ea typeface="Courier New" pitchFamily="34" charset="-122"/>
                <a:cs typeface="Courier New" pitchFamily="34" charset="-120"/>
              </a:rPr>
              <a:t>Workshop-based</a:t>
            </a:r>
            <a:endParaRPr lang="en-US" sz="20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15"/>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56DBDB">
                    <a:alpha val="97000"/>
                  </a:srgbClr>
                </a:solidFill>
                <a:latin typeface="Courier New" pitchFamily="34" charset="0"/>
                <a:ea typeface="Courier New" pitchFamily="34" charset="-122"/>
                <a:cs typeface="Courier New" pitchFamily="34" charset="-120"/>
              </a:rPr>
              <a:t>CADRE DU MODULE</a:t>
            </a:r>
            <a:endParaRPr lang="en-US" sz="1800" dirty="0"/>
          </a:p>
        </p:txBody>
      </p:sp>
      <p:sp>
        <p:nvSpPr>
          <p:cNvPr id="3" name="Text 1"/>
          <p:cNvSpPr/>
          <p:nvPr/>
        </p:nvSpPr>
        <p:spPr>
          <a:xfrm>
            <a:off x="1066800" y="1314451"/>
            <a:ext cx="8204537"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Le fil conducteur du module</a:t>
            </a:r>
            <a:endParaRPr lang="en-US" sz="4800" dirty="0"/>
          </a:p>
        </p:txBody>
      </p:sp>
      <p:sp>
        <p:nvSpPr>
          <p:cNvPr id="4" name="Shape 2"/>
          <p:cNvSpPr/>
          <p:nvPr/>
        </p:nvSpPr>
        <p:spPr>
          <a:xfrm>
            <a:off x="1066800" y="2557959"/>
            <a:ext cx="2565400" cy="1682353"/>
          </a:xfrm>
          <a:prstGeom prst="roundRect">
            <a:avLst>
              <a:gd name="adj" fmla="val 9059"/>
            </a:avLst>
          </a:prstGeom>
          <a:solidFill>
            <a:srgbClr val="FFFFFF">
              <a:alpha val="3000"/>
            </a:srgbClr>
          </a:solidFill>
          <a:ln w="6350">
            <a:solidFill>
              <a:srgbClr val="FFFFFF">
                <a:alpha val="10000"/>
              </a:srgbClr>
            </a:solidFill>
            <a:prstDash val="solid"/>
          </a:ln>
        </p:spPr>
      </p:sp>
      <p:sp>
        <p:nvSpPr>
          <p:cNvPr id="5" name="Text 3"/>
          <p:cNvSpPr/>
          <p:nvPr/>
        </p:nvSpPr>
        <p:spPr>
          <a:xfrm>
            <a:off x="1320800" y="2850059"/>
            <a:ext cx="226314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6DBDB"/>
                </a:solidFill>
                <a:latin typeface="Courier New" pitchFamily="34" charset="0"/>
                <a:ea typeface="Courier New" pitchFamily="34" charset="-122"/>
                <a:cs typeface="Courier New" pitchFamily="34" charset="-120"/>
              </a:rPr>
              <a:t>01</a:t>
            </a:r>
            <a:endParaRPr lang="en-US" sz="1800" dirty="0"/>
          </a:p>
        </p:txBody>
      </p:sp>
      <p:sp>
        <p:nvSpPr>
          <p:cNvPr id="6" name="Text 4"/>
          <p:cNvSpPr/>
          <p:nvPr/>
        </p:nvSpPr>
        <p:spPr>
          <a:xfrm>
            <a:off x="1320800" y="3269159"/>
            <a:ext cx="2133600" cy="717153"/>
          </a:xfrm>
          <a:prstGeom prst="rect">
            <a:avLst/>
          </a:prstGeom>
          <a:noFill/>
          <a:ln/>
        </p:spPr>
        <p:txBody>
          <a:bodyPr wrap="square" lIns="25400" tIns="25400" rIns="25400" bIns="25400" rtlCol="0" anchor="t">
            <a:normAutofit/>
          </a:bodyPr>
          <a:lstStyle/>
          <a:p>
            <a:pPr algn="l" indent="0" marL="0">
              <a:lnSpc>
                <a:spcPct val="99028"/>
              </a:lnSpc>
              <a:buNone/>
            </a:pPr>
            <a:r>
              <a:rPr lang="en-US" sz="2325" b="1" dirty="0">
                <a:solidFill>
                  <a:srgbClr val="EEF3F9"/>
                </a:solidFill>
                <a:latin typeface="Arial" pitchFamily="34" charset="0"/>
                <a:ea typeface="Arial" pitchFamily="34" charset="-122"/>
                <a:cs typeface="Arial" pitchFamily="34" charset="-120"/>
              </a:rPr>
              <a:t>Bases de données</a:t>
            </a:r>
            <a:endParaRPr lang="en-US" sz="2325" dirty="0"/>
          </a:p>
        </p:txBody>
      </p:sp>
      <p:sp>
        <p:nvSpPr>
          <p:cNvPr id="7" name="Shape 5"/>
          <p:cNvSpPr/>
          <p:nvPr/>
        </p:nvSpPr>
        <p:spPr>
          <a:xfrm>
            <a:off x="3784085" y="2557621"/>
            <a:ext cx="2566430" cy="1683029"/>
          </a:xfrm>
          <a:prstGeom prst="roundRect">
            <a:avLst>
              <a:gd name="adj" fmla="val 9059"/>
            </a:avLst>
          </a:prstGeom>
          <a:solidFill>
            <a:srgbClr val="FFFFFF">
              <a:alpha val="3000"/>
            </a:srgbClr>
          </a:solidFill>
          <a:ln w="6353">
            <a:solidFill>
              <a:srgbClr val="FFFFFF">
                <a:alpha val="10000"/>
              </a:srgbClr>
            </a:solidFill>
            <a:prstDash val="solid"/>
          </a:ln>
        </p:spPr>
      </p:sp>
      <p:sp>
        <p:nvSpPr>
          <p:cNvPr id="8" name="Text 6"/>
          <p:cNvSpPr/>
          <p:nvPr/>
        </p:nvSpPr>
        <p:spPr>
          <a:xfrm>
            <a:off x="4038187" y="2849838"/>
            <a:ext cx="2264049" cy="343022"/>
          </a:xfrm>
          <a:prstGeom prst="rect">
            <a:avLst/>
          </a:prstGeom>
          <a:noFill/>
          <a:ln/>
        </p:spPr>
        <p:txBody>
          <a:bodyPr wrap="square" lIns="25400" tIns="25400" rIns="25400" bIns="25400" rtlCol="0" anchor="t">
            <a:normAutofit/>
          </a:bodyPr>
          <a:lstStyle/>
          <a:p>
            <a:pPr algn="l" indent="0" marL="0">
              <a:buNone/>
            </a:pPr>
            <a:r>
              <a:rPr lang="en-US" sz="1801" dirty="0">
                <a:solidFill>
                  <a:srgbClr val="B897F0"/>
                </a:solidFill>
                <a:latin typeface="Courier New" pitchFamily="34" charset="0"/>
                <a:ea typeface="Courier New" pitchFamily="34" charset="-122"/>
                <a:cs typeface="Courier New" pitchFamily="34" charset="-120"/>
              </a:rPr>
              <a:t>02</a:t>
            </a:r>
            <a:endParaRPr lang="en-US" sz="1801" dirty="0"/>
          </a:p>
        </p:txBody>
      </p:sp>
      <p:sp>
        <p:nvSpPr>
          <p:cNvPr id="9" name="Text 7"/>
          <p:cNvSpPr/>
          <p:nvPr/>
        </p:nvSpPr>
        <p:spPr>
          <a:xfrm>
            <a:off x="4038187" y="3269106"/>
            <a:ext cx="2264049" cy="377763"/>
          </a:xfrm>
          <a:prstGeom prst="rect">
            <a:avLst/>
          </a:prstGeom>
          <a:noFill/>
          <a:ln/>
        </p:spPr>
        <p:txBody>
          <a:bodyPr wrap="square" lIns="25400" tIns="25400" rIns="25400" bIns="25400" rtlCol="0" anchor="t">
            <a:normAutofit/>
          </a:bodyPr>
          <a:lstStyle/>
          <a:p>
            <a:pPr algn="l" indent="0" marL="0">
              <a:lnSpc>
                <a:spcPct val="99028"/>
              </a:lnSpc>
              <a:buNone/>
            </a:pPr>
            <a:r>
              <a:rPr lang="en-US" sz="2326" b="1" dirty="0">
                <a:solidFill>
                  <a:srgbClr val="EEF3F9"/>
                </a:solidFill>
                <a:latin typeface="Arial" pitchFamily="34" charset="0"/>
                <a:ea typeface="Arial" pitchFamily="34" charset="-122"/>
                <a:cs typeface="Arial" pitchFamily="34" charset="-120"/>
              </a:rPr>
              <a:t>NoSQL</a:t>
            </a:r>
            <a:endParaRPr lang="en-US" sz="2326" dirty="0"/>
          </a:p>
        </p:txBody>
      </p:sp>
      <p:sp>
        <p:nvSpPr>
          <p:cNvPr id="10" name="Shape 8"/>
          <p:cNvSpPr/>
          <p:nvPr/>
        </p:nvSpPr>
        <p:spPr>
          <a:xfrm>
            <a:off x="6492908" y="2551734"/>
            <a:ext cx="2584385" cy="1694803"/>
          </a:xfrm>
          <a:prstGeom prst="roundRect">
            <a:avLst>
              <a:gd name="adj" fmla="val 9059"/>
            </a:avLst>
          </a:prstGeom>
          <a:solidFill>
            <a:srgbClr val="FFFFFF">
              <a:alpha val="3000"/>
            </a:srgbClr>
          </a:solidFill>
          <a:ln w="6397">
            <a:solidFill>
              <a:srgbClr val="FFFFFF">
                <a:alpha val="10000"/>
              </a:srgbClr>
            </a:solidFill>
            <a:prstDash val="solid"/>
          </a:ln>
        </p:spPr>
      </p:sp>
      <p:sp>
        <p:nvSpPr>
          <p:cNvPr id="11" name="Text 9"/>
          <p:cNvSpPr/>
          <p:nvPr/>
        </p:nvSpPr>
        <p:spPr>
          <a:xfrm>
            <a:off x="6748788" y="2845995"/>
            <a:ext cx="2279886" cy="345155"/>
          </a:xfrm>
          <a:prstGeom prst="rect">
            <a:avLst/>
          </a:prstGeom>
          <a:noFill/>
          <a:ln/>
        </p:spPr>
        <p:txBody>
          <a:bodyPr wrap="square" lIns="25400" tIns="25400" rIns="25400" bIns="25400" rtlCol="0" anchor="t">
            <a:normAutofit/>
          </a:bodyPr>
          <a:lstStyle/>
          <a:p>
            <a:pPr algn="l" indent="0" marL="0">
              <a:buNone/>
            </a:pPr>
            <a:r>
              <a:rPr lang="en-US" sz="1813" dirty="0">
                <a:solidFill>
                  <a:srgbClr val="56DBDB"/>
                </a:solidFill>
                <a:latin typeface="Courier New" pitchFamily="34" charset="0"/>
                <a:ea typeface="Courier New" pitchFamily="34" charset="-122"/>
                <a:cs typeface="Courier New" pitchFamily="34" charset="-120"/>
              </a:rPr>
              <a:t>04</a:t>
            </a:r>
            <a:endParaRPr lang="en-US" sz="1813" dirty="0"/>
          </a:p>
        </p:txBody>
      </p:sp>
      <p:sp>
        <p:nvSpPr>
          <p:cNvPr id="12" name="Text 10"/>
          <p:cNvSpPr/>
          <p:nvPr/>
        </p:nvSpPr>
        <p:spPr>
          <a:xfrm>
            <a:off x="6748788" y="3268197"/>
            <a:ext cx="2148824" cy="722178"/>
          </a:xfrm>
          <a:prstGeom prst="rect">
            <a:avLst/>
          </a:prstGeom>
          <a:noFill/>
          <a:ln/>
        </p:spPr>
        <p:txBody>
          <a:bodyPr wrap="square" lIns="25400" tIns="25400" rIns="25400" bIns="25400" rtlCol="0" anchor="t">
            <a:normAutofit/>
          </a:bodyPr>
          <a:lstStyle/>
          <a:p>
            <a:pPr algn="l" indent="0" marL="0">
              <a:lnSpc>
                <a:spcPct val="99028"/>
              </a:lnSpc>
              <a:buNone/>
            </a:pPr>
            <a:r>
              <a:rPr lang="en-US" sz="2342" b="1" dirty="0">
                <a:solidFill>
                  <a:srgbClr val="EEF3F9"/>
                </a:solidFill>
                <a:latin typeface="Arial" pitchFamily="34" charset="0"/>
                <a:ea typeface="Arial" pitchFamily="34" charset="-122"/>
                <a:cs typeface="Arial" pitchFamily="34" charset="-120"/>
              </a:rPr>
              <a:t>Traitement distribué</a:t>
            </a:r>
            <a:endParaRPr lang="en-US" sz="2342" dirty="0"/>
          </a:p>
        </p:txBody>
      </p:sp>
      <p:sp>
        <p:nvSpPr>
          <p:cNvPr id="13" name="Shape 11"/>
          <p:cNvSpPr/>
          <p:nvPr/>
        </p:nvSpPr>
        <p:spPr>
          <a:xfrm>
            <a:off x="9205233" y="2548144"/>
            <a:ext cx="2595333" cy="1701983"/>
          </a:xfrm>
          <a:prstGeom prst="roundRect">
            <a:avLst>
              <a:gd name="adj" fmla="val 9059"/>
            </a:avLst>
          </a:prstGeom>
          <a:solidFill>
            <a:srgbClr val="FFFFFF">
              <a:alpha val="3000"/>
            </a:srgbClr>
          </a:solidFill>
          <a:ln w="6424">
            <a:solidFill>
              <a:srgbClr val="FFFFFF">
                <a:alpha val="10000"/>
              </a:srgbClr>
            </a:solidFill>
            <a:prstDash val="solid"/>
          </a:ln>
        </p:spPr>
      </p:sp>
      <p:sp>
        <p:nvSpPr>
          <p:cNvPr id="14" name="Text 12"/>
          <p:cNvSpPr/>
          <p:nvPr/>
        </p:nvSpPr>
        <p:spPr>
          <a:xfrm>
            <a:off x="9462197" y="2843652"/>
            <a:ext cx="2289546" cy="346456"/>
          </a:xfrm>
          <a:prstGeom prst="rect">
            <a:avLst/>
          </a:prstGeom>
          <a:noFill/>
          <a:ln/>
        </p:spPr>
        <p:txBody>
          <a:bodyPr wrap="square" lIns="25400" tIns="25400" rIns="25400" bIns="25400" rtlCol="0" anchor="t">
            <a:normAutofit/>
          </a:bodyPr>
          <a:lstStyle/>
          <a:p>
            <a:pPr algn="l" indent="0" marL="0">
              <a:buNone/>
            </a:pPr>
            <a:r>
              <a:rPr lang="en-US" sz="1821" dirty="0">
                <a:solidFill>
                  <a:srgbClr val="FFB46E"/>
                </a:solidFill>
                <a:latin typeface="Courier New" pitchFamily="34" charset="0"/>
                <a:ea typeface="Courier New" pitchFamily="34" charset="-122"/>
                <a:cs typeface="Courier New" pitchFamily="34" charset="-120"/>
              </a:rPr>
              <a:t>03</a:t>
            </a:r>
            <a:endParaRPr lang="en-US" sz="1821" dirty="0"/>
          </a:p>
        </p:txBody>
      </p:sp>
      <p:sp>
        <p:nvSpPr>
          <p:cNvPr id="15" name="Text 13"/>
          <p:cNvSpPr/>
          <p:nvPr/>
        </p:nvSpPr>
        <p:spPr>
          <a:xfrm>
            <a:off x="9462197" y="3267642"/>
            <a:ext cx="2289546" cy="381588"/>
          </a:xfrm>
          <a:prstGeom prst="rect">
            <a:avLst/>
          </a:prstGeom>
          <a:noFill/>
          <a:ln/>
        </p:spPr>
        <p:txBody>
          <a:bodyPr wrap="square" lIns="25400" tIns="25400" rIns="25400" bIns="25400" rtlCol="0" anchor="t">
            <a:normAutofit/>
          </a:bodyPr>
          <a:lstStyle/>
          <a:p>
            <a:pPr algn="l" indent="0" marL="0">
              <a:lnSpc>
                <a:spcPct val="99028"/>
              </a:lnSpc>
              <a:buNone/>
            </a:pPr>
            <a:r>
              <a:rPr lang="en-US" sz="2352" b="1" dirty="0">
                <a:solidFill>
                  <a:srgbClr val="EEF3F9"/>
                </a:solidFill>
                <a:latin typeface="Arial" pitchFamily="34" charset="0"/>
                <a:ea typeface="Arial" pitchFamily="34" charset="-122"/>
                <a:cs typeface="Arial" pitchFamily="34" charset="-120"/>
              </a:rPr>
              <a:t>Conteneurisation</a:t>
            </a:r>
            <a:endParaRPr lang="en-US" sz="2352" dirty="0"/>
          </a:p>
        </p:txBody>
      </p:sp>
      <p:sp>
        <p:nvSpPr>
          <p:cNvPr id="16" name="Shape 14"/>
          <p:cNvSpPr/>
          <p:nvPr/>
        </p:nvSpPr>
        <p:spPr>
          <a:xfrm>
            <a:off x="11922635" y="2547882"/>
            <a:ext cx="2596130" cy="1702506"/>
          </a:xfrm>
          <a:prstGeom prst="roundRect">
            <a:avLst>
              <a:gd name="adj" fmla="val 9059"/>
            </a:avLst>
          </a:prstGeom>
          <a:solidFill>
            <a:srgbClr val="FFFFFF">
              <a:alpha val="3000"/>
            </a:srgbClr>
          </a:solidFill>
          <a:ln w="6426">
            <a:solidFill>
              <a:srgbClr val="FFFFFF">
                <a:alpha val="10000"/>
              </a:srgbClr>
            </a:solidFill>
            <a:prstDash val="solid"/>
          </a:ln>
        </p:spPr>
      </p:sp>
      <p:sp>
        <p:nvSpPr>
          <p:cNvPr id="17" name="Text 15"/>
          <p:cNvSpPr/>
          <p:nvPr/>
        </p:nvSpPr>
        <p:spPr>
          <a:xfrm>
            <a:off x="12179677" y="2843481"/>
            <a:ext cx="2290250" cy="346551"/>
          </a:xfrm>
          <a:prstGeom prst="rect">
            <a:avLst/>
          </a:prstGeom>
          <a:noFill/>
          <a:ln/>
        </p:spPr>
        <p:txBody>
          <a:bodyPr wrap="square" lIns="25400" tIns="25400" rIns="25400" bIns="25400" rtlCol="0" anchor="t">
            <a:normAutofit/>
          </a:bodyPr>
          <a:lstStyle/>
          <a:p>
            <a:pPr algn="l" indent="0" marL="0">
              <a:buNone/>
            </a:pPr>
            <a:r>
              <a:rPr lang="en-US" sz="1822" dirty="0">
                <a:solidFill>
                  <a:srgbClr val="FFB46E"/>
                </a:solidFill>
                <a:latin typeface="Courier New" pitchFamily="34" charset="0"/>
                <a:ea typeface="Courier New" pitchFamily="34" charset="-122"/>
                <a:cs typeface="Courier New" pitchFamily="34" charset="-120"/>
              </a:rPr>
              <a:t>06</a:t>
            </a:r>
            <a:endParaRPr lang="en-US" sz="1822" dirty="0"/>
          </a:p>
        </p:txBody>
      </p:sp>
      <p:sp>
        <p:nvSpPr>
          <p:cNvPr id="18" name="Text 16"/>
          <p:cNvSpPr/>
          <p:nvPr/>
        </p:nvSpPr>
        <p:spPr>
          <a:xfrm>
            <a:off x="12179677" y="3267602"/>
            <a:ext cx="2158246" cy="725287"/>
          </a:xfrm>
          <a:prstGeom prst="rect">
            <a:avLst/>
          </a:prstGeom>
          <a:noFill/>
          <a:ln/>
        </p:spPr>
        <p:txBody>
          <a:bodyPr wrap="square" lIns="25400" tIns="25400" rIns="25400" bIns="25400" rtlCol="0" anchor="t">
            <a:normAutofit/>
          </a:bodyPr>
          <a:lstStyle/>
          <a:p>
            <a:pPr algn="l" indent="0" marL="0">
              <a:lnSpc>
                <a:spcPct val="99028"/>
              </a:lnSpc>
              <a:buNone/>
            </a:pPr>
            <a:r>
              <a:rPr lang="en-US" sz="2353" b="1" dirty="0">
                <a:solidFill>
                  <a:srgbClr val="EEF3F9"/>
                </a:solidFill>
                <a:latin typeface="Arial" pitchFamily="34" charset="0"/>
                <a:ea typeface="Arial" pitchFamily="34" charset="-122"/>
                <a:cs typeface="Arial" pitchFamily="34" charset="-120"/>
              </a:rPr>
              <a:t>Cloud Computing</a:t>
            </a:r>
            <a:endParaRPr lang="en-US" sz="2353" dirty="0"/>
          </a:p>
        </p:txBody>
      </p:sp>
      <p:sp>
        <p:nvSpPr>
          <p:cNvPr id="19" name="Shape 17"/>
          <p:cNvSpPr/>
          <p:nvPr/>
        </p:nvSpPr>
        <p:spPr>
          <a:xfrm>
            <a:off x="14647857" y="2552750"/>
            <a:ext cx="2581286" cy="1692771"/>
          </a:xfrm>
          <a:prstGeom prst="roundRect">
            <a:avLst>
              <a:gd name="adj" fmla="val 9059"/>
            </a:avLst>
          </a:prstGeom>
          <a:gradFill rotWithShape="1">
            <a:gsLst>
              <a:gs pos="0">
                <a:srgbClr val="57DBDB">
                  <a:alpha val="22000"/>
                </a:srgbClr>
              </a:gs>
              <a:gs pos="100000">
                <a:srgbClr val="FFFFFF">
                  <a:alpha val="3000"/>
                </a:srgbClr>
              </a:gs>
            </a:gsLst>
            <a:lin ang="4200000" scaled="0"/>
          </a:gradFill>
          <a:ln w="6389">
            <a:solidFill>
              <a:srgbClr val="75E1E1">
                <a:alpha val="46000"/>
              </a:srgbClr>
            </a:solidFill>
            <a:prstDash val="solid"/>
          </a:ln>
        </p:spPr>
      </p:sp>
      <p:sp>
        <p:nvSpPr>
          <p:cNvPr id="20" name="Text 18"/>
          <p:cNvSpPr/>
          <p:nvPr/>
        </p:nvSpPr>
        <p:spPr>
          <a:xfrm>
            <a:off x="14903430" y="2846659"/>
            <a:ext cx="2277154" cy="344787"/>
          </a:xfrm>
          <a:prstGeom prst="rect">
            <a:avLst/>
          </a:prstGeom>
          <a:noFill/>
          <a:ln/>
        </p:spPr>
        <p:txBody>
          <a:bodyPr wrap="square" lIns="25400" tIns="25400" rIns="25400" bIns="25400" rtlCol="0" anchor="t">
            <a:normAutofit/>
          </a:bodyPr>
          <a:lstStyle/>
          <a:p>
            <a:pPr algn="l" indent="0" marL="0">
              <a:buNone/>
            </a:pPr>
            <a:r>
              <a:rPr lang="en-US" sz="1811" dirty="0">
                <a:solidFill>
                  <a:srgbClr val="56DBDB"/>
                </a:solidFill>
                <a:latin typeface="Courier New" pitchFamily="34" charset="0"/>
                <a:ea typeface="Courier New" pitchFamily="34" charset="-122"/>
                <a:cs typeface="Courier New" pitchFamily="34" charset="-120"/>
              </a:rPr>
              <a:t>07</a:t>
            </a:r>
            <a:endParaRPr lang="en-US" sz="1811" dirty="0"/>
          </a:p>
        </p:txBody>
      </p:sp>
      <p:sp>
        <p:nvSpPr>
          <p:cNvPr id="21" name="Text 19"/>
          <p:cNvSpPr/>
          <p:nvPr/>
        </p:nvSpPr>
        <p:spPr>
          <a:xfrm>
            <a:off x="14903430" y="3268354"/>
            <a:ext cx="2146340" cy="721358"/>
          </a:xfrm>
          <a:prstGeom prst="rect">
            <a:avLst/>
          </a:prstGeom>
          <a:noFill/>
          <a:ln/>
        </p:spPr>
        <p:txBody>
          <a:bodyPr wrap="square" lIns="25400" tIns="25400" rIns="25400" bIns="25400" rtlCol="0" anchor="t">
            <a:normAutofit/>
          </a:bodyPr>
          <a:lstStyle/>
          <a:p>
            <a:pPr algn="l" indent="0" marL="0">
              <a:lnSpc>
                <a:spcPct val="99028"/>
              </a:lnSpc>
              <a:buNone/>
            </a:pPr>
            <a:r>
              <a:rPr lang="en-US" sz="2339" b="1" dirty="0">
                <a:solidFill>
                  <a:srgbClr val="EEF3F9"/>
                </a:solidFill>
                <a:latin typeface="Arial" pitchFamily="34" charset="0"/>
                <a:ea typeface="Arial" pitchFamily="34" charset="-122"/>
                <a:cs typeface="Arial" pitchFamily="34" charset="-120"/>
              </a:rPr>
              <a:t>Big Data sur AWS</a:t>
            </a:r>
            <a:endParaRPr lang="en-US" sz="2339" dirty="0"/>
          </a:p>
        </p:txBody>
      </p:sp>
      <p:sp>
        <p:nvSpPr>
          <p:cNvPr id="22" name="Shape 20"/>
          <p:cNvSpPr/>
          <p:nvPr/>
        </p:nvSpPr>
        <p:spPr>
          <a:xfrm>
            <a:off x="1066800" y="4773712"/>
            <a:ext cx="25400" cy="1563688"/>
          </a:xfrm>
          <a:prstGeom prst="rect">
            <a:avLst/>
          </a:prstGeom>
          <a:solidFill>
            <a:srgbClr val="FFB46E">
              <a:alpha val="18000"/>
            </a:srgbClr>
          </a:solidFill>
          <a:ln/>
        </p:spPr>
      </p:sp>
      <p:sp>
        <p:nvSpPr>
          <p:cNvPr id="23" name="Text 21"/>
          <p:cNvSpPr/>
          <p:nvPr/>
        </p:nvSpPr>
        <p:spPr>
          <a:xfrm>
            <a:off x="1339850" y="4773712"/>
            <a:ext cx="8375015" cy="349250"/>
          </a:xfrm>
          <a:prstGeom prst="rect">
            <a:avLst/>
          </a:prstGeom>
          <a:noFill/>
          <a:ln/>
        </p:spPr>
        <p:txBody>
          <a:bodyPr wrap="square" lIns="25400" tIns="25400" rIns="25400" bIns="25400" rtlCol="0" anchor="t">
            <a:normAutofit/>
          </a:bodyPr>
          <a:lstStyle/>
          <a:p>
            <a:pPr algn="l" indent="0" marL="0">
              <a:buNone/>
            </a:pPr>
            <a:r>
              <a:rPr lang="en-US" sz="2175" b="1" dirty="0">
                <a:solidFill>
                  <a:srgbClr val="FFB46E">
                    <a:alpha val="18000"/>
                  </a:srgbClr>
                </a:solidFill>
                <a:latin typeface="Arial" pitchFamily="34" charset="0"/>
                <a:ea typeface="Arial" pitchFamily="34" charset="-122"/>
                <a:cs typeface="Arial" pitchFamily="34" charset="-120"/>
              </a:rPr>
              <a:t>Docker, socle transversal</a:t>
            </a:r>
            <a:endParaRPr lang="en-US" sz="2175" dirty="0"/>
          </a:p>
        </p:txBody>
      </p:sp>
      <p:sp>
        <p:nvSpPr>
          <p:cNvPr id="24" name="Text 22"/>
          <p:cNvSpPr/>
          <p:nvPr/>
        </p:nvSpPr>
        <p:spPr>
          <a:xfrm>
            <a:off x="1339850" y="5180112"/>
            <a:ext cx="7842060" cy="1195388"/>
          </a:xfrm>
          <a:prstGeom prst="rect">
            <a:avLst/>
          </a:prstGeom>
          <a:noFill/>
          <a:ln/>
        </p:spPr>
        <p:txBody>
          <a:bodyPr wrap="square" lIns="25400" tIns="25400" rIns="25400" bIns="25400" rtlCol="0" anchor="t">
            <a:normAutofit/>
          </a:bodyPr>
          <a:lstStyle/>
          <a:p>
            <a:pPr algn="l" indent="0" marL="0">
              <a:lnSpc>
                <a:spcPct val="129255"/>
              </a:lnSpc>
              <a:buNone/>
            </a:pPr>
            <a:r>
              <a:rPr lang="en-US" sz="2025" dirty="0">
                <a:solidFill>
                  <a:srgbClr val="8EA0B5">
                    <a:alpha val="18000"/>
                  </a:srgbClr>
                </a:solidFill>
                <a:latin typeface="Arial" pitchFamily="34" charset="0"/>
                <a:ea typeface="Arial" pitchFamily="34" charset="-122"/>
                <a:cs typeface="Arial" pitchFamily="34" charset="-120"/>
              </a:rPr>
              <a:t>MongoDB puis Spark sont exécutés dans un même environnement conteneurisé dès l’atelier 2, ce qui prépare la transition vers Amazon EMR.</a:t>
            </a:r>
            <a:endParaRPr lang="en-US" sz="2025" dirty="0"/>
          </a:p>
        </p:txBody>
      </p:sp>
      <p:sp>
        <p:nvSpPr>
          <p:cNvPr id="25" name="Shape 23"/>
          <p:cNvSpPr/>
          <p:nvPr/>
        </p:nvSpPr>
        <p:spPr>
          <a:xfrm>
            <a:off x="9334500" y="4773712"/>
            <a:ext cx="25400" cy="1563688"/>
          </a:xfrm>
          <a:prstGeom prst="rect">
            <a:avLst/>
          </a:prstGeom>
          <a:solidFill>
            <a:srgbClr val="B897F0">
              <a:alpha val="18000"/>
            </a:srgbClr>
          </a:solidFill>
          <a:ln/>
        </p:spPr>
      </p:sp>
      <p:sp>
        <p:nvSpPr>
          <p:cNvPr id="26" name="Text 24"/>
          <p:cNvSpPr/>
          <p:nvPr/>
        </p:nvSpPr>
        <p:spPr>
          <a:xfrm>
            <a:off x="9607550" y="4773712"/>
            <a:ext cx="8375015" cy="349250"/>
          </a:xfrm>
          <a:prstGeom prst="rect">
            <a:avLst/>
          </a:prstGeom>
          <a:noFill/>
          <a:ln/>
        </p:spPr>
        <p:txBody>
          <a:bodyPr wrap="square" lIns="25400" tIns="25400" rIns="25400" bIns="25400" rtlCol="0" anchor="t">
            <a:normAutofit/>
          </a:bodyPr>
          <a:lstStyle/>
          <a:p>
            <a:pPr algn="l" indent="0" marL="0">
              <a:buNone/>
            </a:pPr>
            <a:r>
              <a:rPr lang="en-US" sz="2175" b="1" dirty="0">
                <a:solidFill>
                  <a:srgbClr val="B897F0">
                    <a:alpha val="18000"/>
                  </a:srgbClr>
                </a:solidFill>
                <a:latin typeface="Arial" pitchFamily="34" charset="0"/>
                <a:ea typeface="Arial" pitchFamily="34" charset="-122"/>
                <a:cs typeface="Arial" pitchFamily="34" charset="-120"/>
              </a:rPr>
              <a:t>Hadoop, l'écosystème historique</a:t>
            </a:r>
            <a:endParaRPr lang="en-US" sz="2175" dirty="0"/>
          </a:p>
        </p:txBody>
      </p:sp>
      <p:sp>
        <p:nvSpPr>
          <p:cNvPr id="27" name="Text 25"/>
          <p:cNvSpPr/>
          <p:nvPr/>
        </p:nvSpPr>
        <p:spPr>
          <a:xfrm>
            <a:off x="9607550" y="5180112"/>
            <a:ext cx="7842060" cy="1195388"/>
          </a:xfrm>
          <a:prstGeom prst="rect">
            <a:avLst/>
          </a:prstGeom>
          <a:noFill/>
          <a:ln/>
        </p:spPr>
        <p:txBody>
          <a:bodyPr wrap="square" lIns="25400" tIns="25400" rIns="25400" bIns="25400" rtlCol="0" anchor="t">
            <a:normAutofit/>
          </a:bodyPr>
          <a:lstStyle/>
          <a:p>
            <a:pPr algn="l" indent="0" marL="0">
              <a:lnSpc>
                <a:spcPct val="129255"/>
              </a:lnSpc>
              <a:buNone/>
            </a:pPr>
            <a:r>
              <a:rPr lang="en-US" sz="2025" dirty="0">
                <a:solidFill>
                  <a:srgbClr val="8EA0B5">
                    <a:alpha val="18000"/>
                  </a:srgbClr>
                </a:solidFill>
                <a:latin typeface="Arial" pitchFamily="34" charset="0"/>
                <a:ea typeface="Arial" pitchFamily="34" charset="-122"/>
                <a:cs typeface="Arial" pitchFamily="34" charset="-120"/>
              </a:rPr>
              <a:t>Présenté non comme un chapitre isolé mais comme l’écosystème (HDFS, YARN, Hive) au sein duquel Spark s’est imposé comme moteur de calcul.</a:t>
            </a:r>
            <a:endParaRPr lang="en-US" sz="20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121C"/>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56DBDB">
                    <a:alpha val="97000"/>
                  </a:srgbClr>
                </a:solidFill>
                <a:latin typeface="Courier New" pitchFamily="34" charset="0"/>
                <a:ea typeface="Courier New" pitchFamily="34" charset="-122"/>
                <a:cs typeface="Courier New" pitchFamily="34" charset="-120"/>
              </a:rPr>
              <a:t>CADRE DU MODULE</a:t>
            </a:r>
            <a:endParaRPr lang="en-US" sz="1800" dirty="0"/>
          </a:p>
        </p:txBody>
      </p:sp>
      <p:sp>
        <p:nvSpPr>
          <p:cNvPr id="3" name="Text 1"/>
          <p:cNvSpPr/>
          <p:nvPr/>
        </p:nvSpPr>
        <p:spPr>
          <a:xfrm>
            <a:off x="1066800" y="1314452"/>
            <a:ext cx="7458670"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Les compétences visées</a:t>
            </a:r>
            <a:endParaRPr lang="en-US" sz="4800" dirty="0"/>
          </a:p>
        </p:txBody>
      </p:sp>
      <p:sp>
        <p:nvSpPr>
          <p:cNvPr id="4" name="Text 2"/>
          <p:cNvSpPr/>
          <p:nvPr/>
        </p:nvSpPr>
        <p:spPr>
          <a:xfrm>
            <a:off x="1066800" y="2481759"/>
            <a:ext cx="419100" cy="368300"/>
          </a:xfrm>
          <a:prstGeom prst="rect">
            <a:avLst/>
          </a:prstGeom>
          <a:noFill/>
          <a:ln/>
        </p:spPr>
        <p:txBody>
          <a:bodyPr wrap="square" lIns="25400" tIns="25400" rIns="25400" bIns="25400" rtlCol="0" anchor="t">
            <a:normAutofit/>
          </a:bodyPr>
          <a:lstStyle/>
          <a:p>
            <a:pPr algn="l" indent="0" marL="0">
              <a:buNone/>
            </a:pPr>
            <a:r>
              <a:rPr lang="en-US" sz="1950" dirty="0">
                <a:solidFill>
                  <a:srgbClr val="56DBDB"/>
                </a:solidFill>
                <a:latin typeface="Courier New" pitchFamily="34" charset="0"/>
                <a:ea typeface="Courier New" pitchFamily="34" charset="-122"/>
                <a:cs typeface="Courier New" pitchFamily="34" charset="-120"/>
              </a:rPr>
              <a:t>01</a:t>
            </a:r>
            <a:endParaRPr lang="en-US" sz="1950" dirty="0"/>
          </a:p>
        </p:txBody>
      </p:sp>
      <p:sp>
        <p:nvSpPr>
          <p:cNvPr id="5" name="Text 3"/>
          <p:cNvSpPr/>
          <p:nvPr/>
        </p:nvSpPr>
        <p:spPr>
          <a:xfrm>
            <a:off x="1619250" y="2481759"/>
            <a:ext cx="7475792" cy="861020"/>
          </a:xfrm>
          <a:prstGeom prst="rect">
            <a:avLst/>
          </a:prstGeom>
          <a:noFill/>
          <a:ln/>
        </p:spPr>
        <p:txBody>
          <a:bodyPr wrap="square" lIns="25400" tIns="25400" rIns="25400" bIns="25400" rtlCol="0" anchor="t">
            <a:normAutofit/>
          </a:bodyPr>
          <a:lstStyle/>
          <a:p>
            <a:pPr algn="l" indent="0" marL="0">
              <a:lnSpc>
                <a:spcPct val="117818"/>
              </a:lnSpc>
              <a:buNone/>
            </a:pPr>
            <a:r>
              <a:rPr lang="en-US" sz="2400" dirty="0">
                <a:solidFill>
                  <a:srgbClr val="EEF3F9"/>
                </a:solidFill>
                <a:latin typeface="Arial" pitchFamily="34" charset="0"/>
                <a:ea typeface="Arial" pitchFamily="34" charset="-122"/>
                <a:cs typeface="Arial" pitchFamily="34" charset="-120"/>
              </a:rPr>
              <a:t>Expliquer les enjeux du Big Data et du Cloud Computing</a:t>
            </a:r>
            <a:endParaRPr lang="en-US" sz="2400" dirty="0"/>
          </a:p>
        </p:txBody>
      </p:sp>
      <p:sp>
        <p:nvSpPr>
          <p:cNvPr id="6" name="Text 4"/>
          <p:cNvSpPr/>
          <p:nvPr/>
        </p:nvSpPr>
        <p:spPr>
          <a:xfrm>
            <a:off x="9410479" y="2481759"/>
            <a:ext cx="419100" cy="368300"/>
          </a:xfrm>
          <a:prstGeom prst="rect">
            <a:avLst/>
          </a:prstGeom>
          <a:noFill/>
          <a:ln/>
        </p:spPr>
        <p:txBody>
          <a:bodyPr wrap="square" lIns="25400" tIns="25400" rIns="25400" bIns="25400" rtlCol="0" anchor="t">
            <a:normAutofit/>
          </a:bodyPr>
          <a:lstStyle/>
          <a:p>
            <a:pPr algn="l" indent="0" marL="0">
              <a:buNone/>
            </a:pPr>
            <a:r>
              <a:rPr lang="en-US" sz="1950" dirty="0">
                <a:solidFill>
                  <a:srgbClr val="56DBDB"/>
                </a:solidFill>
                <a:latin typeface="Courier New" pitchFamily="34" charset="0"/>
                <a:ea typeface="Courier New" pitchFamily="34" charset="-122"/>
                <a:cs typeface="Courier New" pitchFamily="34" charset="-120"/>
              </a:rPr>
              <a:t>05</a:t>
            </a:r>
            <a:endParaRPr lang="en-US" sz="1950" dirty="0"/>
          </a:p>
        </p:txBody>
      </p:sp>
      <p:sp>
        <p:nvSpPr>
          <p:cNvPr id="7" name="Text 5"/>
          <p:cNvSpPr/>
          <p:nvPr/>
        </p:nvSpPr>
        <p:spPr>
          <a:xfrm>
            <a:off x="9962929" y="2481759"/>
            <a:ext cx="7475793" cy="861020"/>
          </a:xfrm>
          <a:prstGeom prst="rect">
            <a:avLst/>
          </a:prstGeom>
          <a:noFill/>
          <a:ln/>
        </p:spPr>
        <p:txBody>
          <a:bodyPr wrap="square" lIns="25400" tIns="25400" rIns="25400" bIns="25400" rtlCol="0" anchor="t">
            <a:normAutofit/>
          </a:bodyPr>
          <a:lstStyle/>
          <a:p>
            <a:pPr algn="l" indent="0" marL="0">
              <a:lnSpc>
                <a:spcPct val="117818"/>
              </a:lnSpc>
              <a:buNone/>
            </a:pPr>
            <a:r>
              <a:rPr lang="en-US" sz="2400" dirty="0">
                <a:solidFill>
                  <a:srgbClr val="EEF3F9"/>
                </a:solidFill>
                <a:latin typeface="Arial" pitchFamily="34" charset="0"/>
                <a:ea typeface="Arial" pitchFamily="34" charset="-122"/>
                <a:cs typeface="Arial" pitchFamily="34" charset="-120"/>
              </a:rPr>
              <a:t>Décrire le rôle des composants de l’écosystème Hadoop, dont Hive</a:t>
            </a:r>
            <a:endParaRPr lang="en-US" sz="2400" dirty="0"/>
          </a:p>
        </p:txBody>
      </p:sp>
      <p:sp>
        <p:nvSpPr>
          <p:cNvPr id="8" name="Text 6"/>
          <p:cNvSpPr/>
          <p:nvPr/>
        </p:nvSpPr>
        <p:spPr>
          <a:xfrm>
            <a:off x="1065432" y="3514229"/>
            <a:ext cx="419100" cy="368300"/>
          </a:xfrm>
          <a:prstGeom prst="rect">
            <a:avLst/>
          </a:prstGeom>
          <a:noFill/>
          <a:ln/>
        </p:spPr>
        <p:txBody>
          <a:bodyPr wrap="square" lIns="25400" tIns="25400" rIns="25400" bIns="25400" rtlCol="0" anchor="t">
            <a:normAutofit/>
          </a:bodyPr>
          <a:lstStyle/>
          <a:p>
            <a:pPr algn="l" indent="0" marL="0">
              <a:buNone/>
            </a:pPr>
            <a:r>
              <a:rPr lang="en-US" sz="1950" dirty="0">
                <a:solidFill>
                  <a:srgbClr val="56DBDB">
                    <a:alpha val="99000"/>
                  </a:srgbClr>
                </a:solidFill>
                <a:latin typeface="Courier New" pitchFamily="34" charset="0"/>
                <a:ea typeface="Courier New" pitchFamily="34" charset="-122"/>
                <a:cs typeface="Courier New" pitchFamily="34" charset="-120"/>
              </a:rPr>
              <a:t>02</a:t>
            </a:r>
            <a:endParaRPr lang="en-US" sz="1950" dirty="0"/>
          </a:p>
        </p:txBody>
      </p:sp>
      <p:sp>
        <p:nvSpPr>
          <p:cNvPr id="9" name="Text 7"/>
          <p:cNvSpPr/>
          <p:nvPr/>
        </p:nvSpPr>
        <p:spPr>
          <a:xfrm>
            <a:off x="1617882" y="3514229"/>
            <a:ext cx="7475792" cy="861020"/>
          </a:xfrm>
          <a:prstGeom prst="rect">
            <a:avLst/>
          </a:prstGeom>
          <a:noFill/>
          <a:ln/>
        </p:spPr>
        <p:txBody>
          <a:bodyPr wrap="square" lIns="25400" tIns="25400" rIns="25400" bIns="25400" rtlCol="0" anchor="t">
            <a:normAutofit/>
          </a:bodyPr>
          <a:lstStyle/>
          <a:p>
            <a:pPr algn="l" indent="0" marL="0">
              <a:lnSpc>
                <a:spcPct val="117818"/>
              </a:lnSpc>
              <a:buNone/>
            </a:pPr>
            <a:r>
              <a:rPr lang="en-US" sz="2400" dirty="0">
                <a:solidFill>
                  <a:srgbClr val="EEF3F9">
                    <a:alpha val="99000"/>
                  </a:srgbClr>
                </a:solidFill>
                <a:latin typeface="Arial" pitchFamily="34" charset="0"/>
                <a:ea typeface="Arial" pitchFamily="34" charset="-122"/>
                <a:cs typeface="Arial" pitchFamily="34" charset="-120"/>
              </a:rPr>
              <a:t>Identifier les limites du relationnel face aux données massives</a:t>
            </a:r>
            <a:endParaRPr lang="en-US" sz="2400" dirty="0"/>
          </a:p>
        </p:txBody>
      </p:sp>
      <p:sp>
        <p:nvSpPr>
          <p:cNvPr id="10" name="Text 8"/>
          <p:cNvSpPr/>
          <p:nvPr/>
        </p:nvSpPr>
        <p:spPr>
          <a:xfrm>
            <a:off x="9406897" y="3514229"/>
            <a:ext cx="419100" cy="368300"/>
          </a:xfrm>
          <a:prstGeom prst="rect">
            <a:avLst/>
          </a:prstGeom>
          <a:noFill/>
          <a:ln/>
        </p:spPr>
        <p:txBody>
          <a:bodyPr wrap="square" lIns="25400" tIns="25400" rIns="25400" bIns="25400" rtlCol="0" anchor="t">
            <a:normAutofit/>
          </a:bodyPr>
          <a:lstStyle/>
          <a:p>
            <a:pPr algn="l" indent="0" marL="0">
              <a:buNone/>
            </a:pPr>
            <a:r>
              <a:rPr lang="en-US" sz="1950" dirty="0">
                <a:solidFill>
                  <a:srgbClr val="56DBDB">
                    <a:alpha val="98000"/>
                  </a:srgbClr>
                </a:solidFill>
                <a:latin typeface="Courier New" pitchFamily="34" charset="0"/>
                <a:ea typeface="Courier New" pitchFamily="34" charset="-122"/>
                <a:cs typeface="Courier New" pitchFamily="34" charset="-120"/>
              </a:rPr>
              <a:t>06</a:t>
            </a:r>
            <a:endParaRPr lang="en-US" sz="1950" dirty="0"/>
          </a:p>
        </p:txBody>
      </p:sp>
      <p:sp>
        <p:nvSpPr>
          <p:cNvPr id="11" name="Text 9"/>
          <p:cNvSpPr/>
          <p:nvPr/>
        </p:nvSpPr>
        <p:spPr>
          <a:xfrm>
            <a:off x="9959347" y="3514229"/>
            <a:ext cx="7475791" cy="861020"/>
          </a:xfrm>
          <a:prstGeom prst="rect">
            <a:avLst/>
          </a:prstGeom>
          <a:noFill/>
          <a:ln/>
        </p:spPr>
        <p:txBody>
          <a:bodyPr wrap="square" lIns="25400" tIns="25400" rIns="25400" bIns="25400" rtlCol="0" anchor="t">
            <a:normAutofit/>
          </a:bodyPr>
          <a:lstStyle/>
          <a:p>
            <a:pPr algn="l" indent="0" marL="0">
              <a:lnSpc>
                <a:spcPct val="117818"/>
              </a:lnSpc>
              <a:buNone/>
            </a:pPr>
            <a:r>
              <a:rPr lang="en-US" sz="2400" dirty="0">
                <a:solidFill>
                  <a:srgbClr val="EEF3F9">
                    <a:alpha val="98000"/>
                  </a:srgbClr>
                </a:solidFill>
                <a:latin typeface="Arial" pitchFamily="34" charset="0"/>
                <a:ea typeface="Arial" pitchFamily="34" charset="-122"/>
                <a:cs typeface="Arial" pitchFamily="34" charset="-120"/>
              </a:rPr>
              <a:t>Utiliser Docker pour exécuter une plateforme Big Data</a:t>
            </a:r>
            <a:endParaRPr lang="en-US" sz="2400" dirty="0"/>
          </a:p>
        </p:txBody>
      </p:sp>
      <p:sp>
        <p:nvSpPr>
          <p:cNvPr id="12" name="Text 10"/>
          <p:cNvSpPr/>
          <p:nvPr/>
        </p:nvSpPr>
        <p:spPr>
          <a:xfrm>
            <a:off x="1058753" y="4546699"/>
            <a:ext cx="419100" cy="368300"/>
          </a:xfrm>
          <a:prstGeom prst="rect">
            <a:avLst/>
          </a:prstGeom>
          <a:noFill/>
          <a:ln/>
        </p:spPr>
        <p:txBody>
          <a:bodyPr wrap="square" lIns="25400" tIns="25400" rIns="25400" bIns="25400" rtlCol="0" anchor="t">
            <a:normAutofit/>
          </a:bodyPr>
          <a:lstStyle/>
          <a:p>
            <a:pPr algn="l" indent="0" marL="0">
              <a:buNone/>
            </a:pPr>
            <a:r>
              <a:rPr lang="en-US" sz="1950" dirty="0">
                <a:solidFill>
                  <a:srgbClr val="56DBDB">
                    <a:alpha val="97000"/>
                  </a:srgbClr>
                </a:solidFill>
                <a:latin typeface="Courier New" pitchFamily="34" charset="0"/>
                <a:ea typeface="Courier New" pitchFamily="34" charset="-122"/>
                <a:cs typeface="Courier New" pitchFamily="34" charset="-120"/>
              </a:rPr>
              <a:t>03</a:t>
            </a:r>
            <a:endParaRPr lang="en-US" sz="1950" dirty="0"/>
          </a:p>
        </p:txBody>
      </p:sp>
      <p:sp>
        <p:nvSpPr>
          <p:cNvPr id="13" name="Text 11"/>
          <p:cNvSpPr/>
          <p:nvPr/>
        </p:nvSpPr>
        <p:spPr>
          <a:xfrm>
            <a:off x="1611203" y="4546699"/>
            <a:ext cx="7475792" cy="861020"/>
          </a:xfrm>
          <a:prstGeom prst="rect">
            <a:avLst/>
          </a:prstGeom>
          <a:noFill/>
          <a:ln/>
        </p:spPr>
        <p:txBody>
          <a:bodyPr wrap="square" lIns="25400" tIns="25400" rIns="25400" bIns="25400" rtlCol="0" anchor="t">
            <a:normAutofit/>
          </a:bodyPr>
          <a:lstStyle/>
          <a:p>
            <a:pPr algn="l" indent="0" marL="0">
              <a:lnSpc>
                <a:spcPct val="117818"/>
              </a:lnSpc>
              <a:buNone/>
            </a:pPr>
            <a:r>
              <a:rPr lang="en-US" sz="2400" dirty="0">
                <a:solidFill>
                  <a:srgbClr val="EEF3F9">
                    <a:alpha val="97000"/>
                  </a:srgbClr>
                </a:solidFill>
                <a:latin typeface="Arial" pitchFamily="34" charset="0"/>
                <a:ea typeface="Arial" pitchFamily="34" charset="-122"/>
                <a:cs typeface="Arial" pitchFamily="34" charset="-120"/>
              </a:rPr>
              <a:t>Manipuler MongoDB et comparer les modèles NoSQL en environnement conteneurisé</a:t>
            </a:r>
            <a:endParaRPr lang="en-US" sz="2400" dirty="0"/>
          </a:p>
        </p:txBody>
      </p:sp>
      <p:sp>
        <p:nvSpPr>
          <p:cNvPr id="14" name="Text 12"/>
          <p:cNvSpPr/>
          <p:nvPr/>
        </p:nvSpPr>
        <p:spPr>
          <a:xfrm>
            <a:off x="9395746" y="4546699"/>
            <a:ext cx="419100" cy="368300"/>
          </a:xfrm>
          <a:prstGeom prst="rect">
            <a:avLst/>
          </a:prstGeom>
          <a:noFill/>
          <a:ln/>
        </p:spPr>
        <p:txBody>
          <a:bodyPr wrap="square" lIns="25400" tIns="25400" rIns="25400" bIns="25400" rtlCol="0" anchor="t">
            <a:normAutofit/>
          </a:bodyPr>
          <a:lstStyle/>
          <a:p>
            <a:pPr algn="l" indent="0" marL="0">
              <a:buNone/>
            </a:pPr>
            <a:r>
              <a:rPr lang="en-US" sz="1950" dirty="0">
                <a:solidFill>
                  <a:srgbClr val="56DBDB">
                    <a:alpha val="94000"/>
                  </a:srgbClr>
                </a:solidFill>
                <a:latin typeface="Courier New" pitchFamily="34" charset="0"/>
                <a:ea typeface="Courier New" pitchFamily="34" charset="-122"/>
                <a:cs typeface="Courier New" pitchFamily="34" charset="-120"/>
              </a:rPr>
              <a:t>07</a:t>
            </a:r>
            <a:endParaRPr lang="en-US" sz="1950" dirty="0"/>
          </a:p>
        </p:txBody>
      </p:sp>
      <p:sp>
        <p:nvSpPr>
          <p:cNvPr id="15" name="Text 13"/>
          <p:cNvSpPr/>
          <p:nvPr/>
        </p:nvSpPr>
        <p:spPr>
          <a:xfrm>
            <a:off x="9948196" y="4546699"/>
            <a:ext cx="7475792" cy="861020"/>
          </a:xfrm>
          <a:prstGeom prst="rect">
            <a:avLst/>
          </a:prstGeom>
          <a:noFill/>
          <a:ln/>
        </p:spPr>
        <p:txBody>
          <a:bodyPr wrap="square" lIns="25400" tIns="25400" rIns="25400" bIns="25400" rtlCol="0" anchor="t">
            <a:normAutofit/>
          </a:bodyPr>
          <a:lstStyle/>
          <a:p>
            <a:pPr algn="l" indent="0" marL="0">
              <a:lnSpc>
                <a:spcPct val="117818"/>
              </a:lnSpc>
              <a:buNone/>
            </a:pPr>
            <a:r>
              <a:rPr lang="en-US" sz="2400" dirty="0">
                <a:solidFill>
                  <a:srgbClr val="EEF3F9">
                    <a:alpha val="94000"/>
                  </a:srgbClr>
                </a:solidFill>
                <a:latin typeface="Arial" pitchFamily="34" charset="0"/>
                <a:ea typeface="Arial" pitchFamily="34" charset="-122"/>
                <a:cs typeface="Arial" pitchFamily="34" charset="-120"/>
              </a:rPr>
              <a:t>Distinguer IaaS, PaaS et SaaS ; expliquer élasticité et haute disponibilité</a:t>
            </a:r>
            <a:endParaRPr lang="en-US" sz="2400" dirty="0"/>
          </a:p>
        </p:txBody>
      </p:sp>
      <p:sp>
        <p:nvSpPr>
          <p:cNvPr id="16" name="Text 14"/>
          <p:cNvSpPr/>
          <p:nvPr/>
        </p:nvSpPr>
        <p:spPr>
          <a:xfrm>
            <a:off x="1040737" y="5579170"/>
            <a:ext cx="419100" cy="368300"/>
          </a:xfrm>
          <a:prstGeom prst="rect">
            <a:avLst/>
          </a:prstGeom>
          <a:noFill/>
          <a:ln/>
        </p:spPr>
        <p:txBody>
          <a:bodyPr wrap="square" lIns="25400" tIns="25400" rIns="25400" bIns="25400" rtlCol="0" anchor="t">
            <a:normAutofit/>
          </a:bodyPr>
          <a:lstStyle/>
          <a:p>
            <a:pPr algn="l" indent="0" marL="0">
              <a:buNone/>
            </a:pPr>
            <a:r>
              <a:rPr lang="en-US" sz="1950" dirty="0">
                <a:solidFill>
                  <a:srgbClr val="56DBDB">
                    <a:alpha val="89000"/>
                  </a:srgbClr>
                </a:solidFill>
                <a:latin typeface="Courier New" pitchFamily="34" charset="0"/>
                <a:ea typeface="Courier New" pitchFamily="34" charset="-122"/>
                <a:cs typeface="Courier New" pitchFamily="34" charset="-120"/>
              </a:rPr>
              <a:t>04</a:t>
            </a:r>
            <a:endParaRPr lang="en-US" sz="1950" dirty="0"/>
          </a:p>
        </p:txBody>
      </p:sp>
      <p:sp>
        <p:nvSpPr>
          <p:cNvPr id="17" name="Text 15"/>
          <p:cNvSpPr/>
          <p:nvPr/>
        </p:nvSpPr>
        <p:spPr>
          <a:xfrm>
            <a:off x="1593187" y="5579170"/>
            <a:ext cx="7475792" cy="861020"/>
          </a:xfrm>
          <a:prstGeom prst="rect">
            <a:avLst/>
          </a:prstGeom>
          <a:noFill/>
          <a:ln/>
        </p:spPr>
        <p:txBody>
          <a:bodyPr wrap="square" lIns="25400" tIns="25400" rIns="25400" bIns="25400" rtlCol="0" anchor="t">
            <a:normAutofit/>
          </a:bodyPr>
          <a:lstStyle/>
          <a:p>
            <a:pPr algn="l" indent="0" marL="0">
              <a:lnSpc>
                <a:spcPct val="117818"/>
              </a:lnSpc>
              <a:buNone/>
            </a:pPr>
            <a:r>
              <a:rPr lang="en-US" sz="2400" dirty="0">
                <a:solidFill>
                  <a:srgbClr val="EEF3F9">
                    <a:alpha val="89000"/>
                  </a:srgbClr>
                </a:solidFill>
                <a:latin typeface="Arial" pitchFamily="34" charset="0"/>
                <a:ea typeface="Arial" pitchFamily="34" charset="-122"/>
                <a:cs typeface="Arial" pitchFamily="34" charset="-120"/>
              </a:rPr>
              <a:t>Développer des traitements PySpark en RDD et en DataFrame</a:t>
            </a:r>
            <a:endParaRPr lang="en-US" sz="2400" dirty="0"/>
          </a:p>
        </p:txBody>
      </p:sp>
      <p:sp>
        <p:nvSpPr>
          <p:cNvPr id="18" name="Text 16"/>
          <p:cNvSpPr/>
          <p:nvPr/>
        </p:nvSpPr>
        <p:spPr>
          <a:xfrm>
            <a:off x="9366267" y="5579170"/>
            <a:ext cx="419100" cy="368300"/>
          </a:xfrm>
          <a:prstGeom prst="rect">
            <a:avLst/>
          </a:prstGeom>
          <a:noFill/>
          <a:ln/>
        </p:spPr>
        <p:txBody>
          <a:bodyPr wrap="square" lIns="25400" tIns="25400" rIns="25400" bIns="25400" rtlCol="0" anchor="t">
            <a:normAutofit/>
          </a:bodyPr>
          <a:lstStyle/>
          <a:p>
            <a:pPr algn="l" indent="0" marL="0">
              <a:buNone/>
            </a:pPr>
            <a:r>
              <a:rPr lang="en-US" sz="1950" dirty="0">
                <a:solidFill>
                  <a:srgbClr val="56DBDB">
                    <a:alpha val="82000"/>
                  </a:srgbClr>
                </a:solidFill>
                <a:latin typeface="Courier New" pitchFamily="34" charset="0"/>
                <a:ea typeface="Courier New" pitchFamily="34" charset="-122"/>
                <a:cs typeface="Courier New" pitchFamily="34" charset="-120"/>
              </a:rPr>
              <a:t>08</a:t>
            </a:r>
            <a:endParaRPr lang="en-US" sz="1950" dirty="0"/>
          </a:p>
        </p:txBody>
      </p:sp>
      <p:sp>
        <p:nvSpPr>
          <p:cNvPr id="19" name="Text 17"/>
          <p:cNvSpPr/>
          <p:nvPr/>
        </p:nvSpPr>
        <p:spPr>
          <a:xfrm>
            <a:off x="9918717" y="5579170"/>
            <a:ext cx="7475791" cy="861020"/>
          </a:xfrm>
          <a:prstGeom prst="rect">
            <a:avLst/>
          </a:prstGeom>
          <a:noFill/>
          <a:ln/>
        </p:spPr>
        <p:txBody>
          <a:bodyPr wrap="square" lIns="25400" tIns="25400" rIns="25400" bIns="25400" rtlCol="0" anchor="t">
            <a:normAutofit/>
          </a:bodyPr>
          <a:lstStyle/>
          <a:p>
            <a:pPr algn="l" indent="0" marL="0">
              <a:lnSpc>
                <a:spcPct val="117818"/>
              </a:lnSpc>
              <a:buNone/>
            </a:pPr>
            <a:r>
              <a:rPr lang="en-US" sz="2400" dirty="0">
                <a:solidFill>
                  <a:srgbClr val="EEF3F9">
                    <a:alpha val="82000"/>
                  </a:srgbClr>
                </a:solidFill>
                <a:latin typeface="Arial" pitchFamily="34" charset="0"/>
                <a:ea typeface="Arial" pitchFamily="34" charset="-122"/>
                <a:cs typeface="Arial" pitchFamily="34" charset="-120"/>
              </a:rPr>
              <a:t>Déployer un cluster Spark/Hadoop sur Amazon EMR (EC2, S3, IAM, VPC)</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15"/>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56DBDB">
                    <a:alpha val="97000"/>
                  </a:srgbClr>
                </a:solidFill>
                <a:latin typeface="Courier New" pitchFamily="34" charset="0"/>
                <a:ea typeface="Courier New" pitchFamily="34" charset="-122"/>
                <a:cs typeface="Courier New" pitchFamily="34" charset="-120"/>
              </a:rPr>
              <a:t>CADRE DU MODULE</a:t>
            </a:r>
            <a:endParaRPr lang="en-US" sz="1800" dirty="0"/>
          </a:p>
        </p:txBody>
      </p:sp>
      <p:sp>
        <p:nvSpPr>
          <p:cNvPr id="3" name="Text 1"/>
          <p:cNvSpPr/>
          <p:nvPr/>
        </p:nvSpPr>
        <p:spPr>
          <a:xfrm>
            <a:off x="1066800" y="1314451"/>
            <a:ext cx="8380833" cy="1305917"/>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Le projet fil rouge : deux jeux de données</a:t>
            </a:r>
            <a:endParaRPr lang="en-US" sz="4800" dirty="0"/>
          </a:p>
        </p:txBody>
      </p:sp>
      <p:sp>
        <p:nvSpPr>
          <p:cNvPr id="4" name="Shape 2"/>
          <p:cNvSpPr/>
          <p:nvPr/>
        </p:nvSpPr>
        <p:spPr>
          <a:xfrm>
            <a:off x="1066800" y="3077569"/>
            <a:ext cx="6741021" cy="3787775"/>
          </a:xfrm>
          <a:prstGeom prst="roundRect">
            <a:avLst>
              <a:gd name="adj" fmla="val 5029"/>
            </a:avLst>
          </a:prstGeom>
          <a:solidFill>
            <a:srgbClr val="FFFFFF">
              <a:alpha val="3000"/>
            </a:srgbClr>
          </a:solidFill>
          <a:ln w="6350">
            <a:solidFill>
              <a:srgbClr val="FFFFFF">
                <a:alpha val="10000"/>
              </a:srgbClr>
            </a:solidFill>
            <a:prstDash val="solid"/>
          </a:ln>
        </p:spPr>
      </p:sp>
      <p:sp>
        <p:nvSpPr>
          <p:cNvPr id="5" name="Text 3"/>
          <p:cNvSpPr/>
          <p:nvPr/>
        </p:nvSpPr>
        <p:spPr>
          <a:xfrm>
            <a:off x="1454150" y="3464919"/>
            <a:ext cx="6562953" cy="368300"/>
          </a:xfrm>
          <a:prstGeom prst="rect">
            <a:avLst/>
          </a:prstGeom>
          <a:noFill/>
          <a:ln/>
        </p:spPr>
        <p:txBody>
          <a:bodyPr wrap="square" lIns="25400" tIns="25400" rIns="25400" bIns="25400" rtlCol="0" anchor="t">
            <a:normAutofit/>
          </a:bodyPr>
          <a:lstStyle/>
          <a:p>
            <a:pPr algn="l" indent="0" marL="0">
              <a:buNone/>
            </a:pPr>
            <a:r>
              <a:rPr lang="en-US" sz="1950" dirty="0">
                <a:solidFill>
                  <a:srgbClr val="B897F0"/>
                </a:solidFill>
                <a:latin typeface="Courier New" pitchFamily="34" charset="0"/>
                <a:ea typeface="Courier New" pitchFamily="34" charset="-122"/>
                <a:cs typeface="Courier New" pitchFamily="34" charset="-120"/>
              </a:rPr>
              <a:t>countries.json</a:t>
            </a:r>
            <a:endParaRPr lang="en-US" sz="1950" dirty="0"/>
          </a:p>
        </p:txBody>
      </p:sp>
      <p:sp>
        <p:nvSpPr>
          <p:cNvPr id="6" name="Text 4"/>
          <p:cNvSpPr/>
          <p:nvPr/>
        </p:nvSpPr>
        <p:spPr>
          <a:xfrm>
            <a:off x="1454150" y="3928469"/>
            <a:ext cx="6562953" cy="412750"/>
          </a:xfrm>
          <a:prstGeom prst="rect">
            <a:avLst/>
          </a:prstGeom>
          <a:noFill/>
          <a:ln/>
        </p:spPr>
        <p:txBody>
          <a:bodyPr wrap="square" lIns="25400" tIns="25400" rIns="25400" bIns="25400" rtlCol="0" anchor="t">
            <a:normAutofit/>
          </a:bodyPr>
          <a:lstStyle/>
          <a:p>
            <a:pPr algn="l" indent="0" marL="0">
              <a:buNone/>
            </a:pPr>
            <a:r>
              <a:rPr lang="en-US" sz="2550" b="1" dirty="0">
                <a:solidFill>
                  <a:srgbClr val="EEF3F9"/>
                </a:solidFill>
                <a:latin typeface="Arial" pitchFamily="34" charset="0"/>
                <a:ea typeface="Arial" pitchFamily="34" charset="-122"/>
                <a:cs typeface="Arial" pitchFamily="34" charset="-120"/>
              </a:rPr>
              <a:t>250 fiches de pays</a:t>
            </a:r>
            <a:endParaRPr lang="en-US" sz="2550" dirty="0"/>
          </a:p>
        </p:txBody>
      </p:sp>
      <p:sp>
        <p:nvSpPr>
          <p:cNvPr id="7" name="Text 5"/>
          <p:cNvSpPr/>
          <p:nvPr/>
        </p:nvSpPr>
        <p:spPr>
          <a:xfrm>
            <a:off x="1454150" y="4436469"/>
            <a:ext cx="6145311" cy="1195388"/>
          </a:xfrm>
          <a:prstGeom prst="rect">
            <a:avLst/>
          </a:prstGeom>
          <a:noFill/>
          <a:ln/>
        </p:spPr>
        <p:txBody>
          <a:bodyPr wrap="square" lIns="25400" tIns="25400" rIns="25400" bIns="25400" rtlCol="0" anchor="t">
            <a:normAutofit/>
          </a:bodyPr>
          <a:lstStyle/>
          <a:p>
            <a:pPr algn="l" indent="0" marL="0">
              <a:lnSpc>
                <a:spcPct val="129255"/>
              </a:lnSpc>
              <a:buNone/>
            </a:pPr>
            <a:r>
              <a:rPr lang="en-US" sz="2025" dirty="0">
                <a:solidFill>
                  <a:srgbClr val="8EA0B5"/>
                </a:solidFill>
                <a:latin typeface="Arial" pitchFamily="34" charset="0"/>
                <a:ea typeface="Arial" pitchFamily="34" charset="-122"/>
                <a:cs typeface="Arial" pitchFamily="34" charset="-120"/>
              </a:rPr>
              <a:t>Nom, capitale, région, population, devises, langues. Champs imbriqués — le terrain idéal du modèle documents de MongoDB.</a:t>
            </a:r>
            <a:endParaRPr lang="en-US" sz="2025" dirty="0"/>
          </a:p>
        </p:txBody>
      </p:sp>
      <p:sp>
        <p:nvSpPr>
          <p:cNvPr id="8" name="Text 6"/>
          <p:cNvSpPr/>
          <p:nvPr/>
        </p:nvSpPr>
        <p:spPr>
          <a:xfrm>
            <a:off x="1454150" y="6173194"/>
            <a:ext cx="614531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6DBDB"/>
                </a:solidFill>
                <a:latin typeface="Courier New" pitchFamily="34" charset="0"/>
                <a:ea typeface="Courier New" pitchFamily="34" charset="-122"/>
                <a:cs typeface="Courier New" pitchFamily="34" charset="-120"/>
              </a:rPr>
              <a:t>→ Atelier 2 · MongoDB / NoSQL</a:t>
            </a:r>
            <a:endParaRPr lang="en-US" sz="1800" dirty="0"/>
          </a:p>
        </p:txBody>
      </p:sp>
      <p:sp>
        <p:nvSpPr>
          <p:cNvPr id="9" name="Shape 7"/>
          <p:cNvSpPr/>
          <p:nvPr/>
        </p:nvSpPr>
        <p:spPr>
          <a:xfrm>
            <a:off x="8093571" y="3079715"/>
            <a:ext cx="9127629" cy="3787775"/>
          </a:xfrm>
          <a:prstGeom prst="roundRect">
            <a:avLst>
              <a:gd name="adj" fmla="val 5029"/>
            </a:avLst>
          </a:prstGeom>
          <a:gradFill rotWithShape="1">
            <a:gsLst>
              <a:gs pos="0">
                <a:srgbClr val="FFB56B">
                  <a:alpha val="12000"/>
                </a:srgbClr>
              </a:gs>
              <a:gs pos="100000">
                <a:srgbClr val="FFFFFF">
                  <a:alpha val="3000"/>
                </a:srgbClr>
              </a:gs>
            </a:gsLst>
            <a:lin ang="4200000" scaled="0"/>
          </a:gradFill>
          <a:ln w="6350">
            <a:solidFill>
              <a:srgbClr val="FFC491">
                <a:alpha val="33000"/>
              </a:srgbClr>
            </a:solidFill>
            <a:prstDash val="solid"/>
          </a:ln>
        </p:spPr>
      </p:sp>
      <p:sp>
        <p:nvSpPr>
          <p:cNvPr id="10" name="Text 8"/>
          <p:cNvSpPr/>
          <p:nvPr/>
        </p:nvSpPr>
        <p:spPr>
          <a:xfrm>
            <a:off x="8480921" y="3467065"/>
            <a:ext cx="9188222" cy="368300"/>
          </a:xfrm>
          <a:prstGeom prst="rect">
            <a:avLst/>
          </a:prstGeom>
          <a:noFill/>
          <a:ln/>
        </p:spPr>
        <p:txBody>
          <a:bodyPr wrap="square" lIns="25400" tIns="25400" rIns="25400" bIns="25400" rtlCol="0" anchor="t">
            <a:normAutofit/>
          </a:bodyPr>
          <a:lstStyle/>
          <a:p>
            <a:pPr algn="l" indent="0" marL="0">
              <a:buNone/>
            </a:pPr>
            <a:r>
              <a:rPr lang="en-US" sz="1950" dirty="0">
                <a:solidFill>
                  <a:srgbClr val="FFB46E">
                    <a:alpha val="99000"/>
                  </a:srgbClr>
                </a:solidFill>
                <a:latin typeface="Courier New" pitchFamily="34" charset="0"/>
                <a:ea typeface="Courier New" pitchFamily="34" charset="-122"/>
                <a:cs typeface="Courier New" pitchFamily="34" charset="-120"/>
              </a:rPr>
              <a:t>purchases.txt</a:t>
            </a:r>
            <a:endParaRPr lang="en-US" sz="1950" dirty="0"/>
          </a:p>
        </p:txBody>
      </p:sp>
      <p:sp>
        <p:nvSpPr>
          <p:cNvPr id="11" name="Text 9"/>
          <p:cNvSpPr/>
          <p:nvPr/>
        </p:nvSpPr>
        <p:spPr>
          <a:xfrm>
            <a:off x="8480921" y="3930615"/>
            <a:ext cx="9188222" cy="412750"/>
          </a:xfrm>
          <a:prstGeom prst="rect">
            <a:avLst/>
          </a:prstGeom>
          <a:noFill/>
          <a:ln/>
        </p:spPr>
        <p:txBody>
          <a:bodyPr wrap="square" lIns="25400" tIns="25400" rIns="25400" bIns="25400" rtlCol="0" anchor="t">
            <a:normAutofit/>
          </a:bodyPr>
          <a:lstStyle/>
          <a:p>
            <a:pPr algn="l" indent="0" marL="0">
              <a:buNone/>
            </a:pPr>
            <a:r>
              <a:rPr lang="en-US" sz="2550" b="1" dirty="0">
                <a:solidFill>
                  <a:srgbClr val="EEF3F9">
                    <a:alpha val="99000"/>
                  </a:srgbClr>
                </a:solidFill>
                <a:latin typeface="Arial" pitchFamily="34" charset="0"/>
                <a:ea typeface="Arial" pitchFamily="34" charset="-122"/>
                <a:cs typeface="Arial" pitchFamily="34" charset="-120"/>
              </a:rPr>
              <a:t>Historique de tickets de caisse</a:t>
            </a:r>
            <a:endParaRPr lang="en-US" sz="2550" dirty="0"/>
          </a:p>
        </p:txBody>
      </p:sp>
      <p:sp>
        <p:nvSpPr>
          <p:cNvPr id="12" name="Text 10"/>
          <p:cNvSpPr/>
          <p:nvPr/>
        </p:nvSpPr>
        <p:spPr>
          <a:xfrm>
            <a:off x="8480921" y="4438615"/>
            <a:ext cx="8603517" cy="809625"/>
          </a:xfrm>
          <a:prstGeom prst="rect">
            <a:avLst/>
          </a:prstGeom>
          <a:noFill/>
          <a:ln/>
        </p:spPr>
        <p:txBody>
          <a:bodyPr wrap="square" lIns="25400" tIns="25400" rIns="25400" bIns="25400" rtlCol="0" anchor="t">
            <a:normAutofit/>
          </a:bodyPr>
          <a:lstStyle/>
          <a:p>
            <a:pPr algn="l" indent="0" marL="0">
              <a:lnSpc>
                <a:spcPct val="129255"/>
              </a:lnSpc>
              <a:buNone/>
            </a:pPr>
            <a:r>
              <a:rPr lang="en-US" sz="2025" dirty="0">
                <a:solidFill>
                  <a:srgbClr val="8EA0B5">
                    <a:alpha val="99000"/>
                  </a:srgbClr>
                </a:solidFill>
                <a:latin typeface="Arial" pitchFamily="34" charset="0"/>
                <a:ea typeface="Arial" pitchFamily="34" charset="-122"/>
                <a:cs typeface="Arial" pitchFamily="34" charset="-120"/>
              </a:rPr>
              <a:t>Les mêmes questions métier — ventes par magasin, par heure, par mode de paiement — traitées de quatre façons différentes.</a:t>
            </a:r>
            <a:endParaRPr lang="en-US" sz="2025" dirty="0"/>
          </a:p>
        </p:txBody>
      </p:sp>
      <p:sp>
        <p:nvSpPr>
          <p:cNvPr id="13" name="Shape 11"/>
          <p:cNvSpPr/>
          <p:nvPr/>
        </p:nvSpPr>
        <p:spPr>
          <a:xfrm>
            <a:off x="8480921" y="5457790"/>
            <a:ext cx="767159" cy="469900"/>
          </a:xfrm>
          <a:prstGeom prst="roundRect">
            <a:avLst>
              <a:gd name="adj" fmla="val 50000"/>
            </a:avLst>
          </a:prstGeom>
          <a:solidFill>
            <a:srgbClr val="FFFFFF">
              <a:alpha val="6000"/>
            </a:srgbClr>
          </a:solidFill>
          <a:ln w="6350">
            <a:solidFill>
              <a:srgbClr val="FFFFFF">
                <a:alpha val="10000"/>
              </a:srgbClr>
            </a:solidFill>
            <a:prstDash val="solid"/>
          </a:ln>
        </p:spPr>
      </p:sp>
      <p:sp>
        <p:nvSpPr>
          <p:cNvPr id="14" name="Text 12"/>
          <p:cNvSpPr/>
          <p:nvPr/>
        </p:nvSpPr>
        <p:spPr>
          <a:xfrm>
            <a:off x="8658721" y="5540340"/>
            <a:ext cx="48775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EEF3F9">
                    <a:alpha val="99000"/>
                  </a:srgbClr>
                </a:solidFill>
                <a:latin typeface="Courier New" pitchFamily="34" charset="0"/>
                <a:ea typeface="Courier New" pitchFamily="34" charset="-122"/>
                <a:cs typeface="Courier New" pitchFamily="34" charset="-120"/>
              </a:rPr>
              <a:t>RDD</a:t>
            </a:r>
            <a:endParaRPr lang="en-US" sz="1800" dirty="0"/>
          </a:p>
        </p:txBody>
      </p:sp>
      <p:sp>
        <p:nvSpPr>
          <p:cNvPr id="15" name="Shape 13"/>
          <p:cNvSpPr/>
          <p:nvPr/>
        </p:nvSpPr>
        <p:spPr>
          <a:xfrm>
            <a:off x="9362381" y="5457790"/>
            <a:ext cx="1590080" cy="469900"/>
          </a:xfrm>
          <a:prstGeom prst="roundRect">
            <a:avLst>
              <a:gd name="adj" fmla="val 50000"/>
            </a:avLst>
          </a:prstGeom>
          <a:solidFill>
            <a:srgbClr val="FFFFFF">
              <a:alpha val="6000"/>
            </a:srgbClr>
          </a:solidFill>
          <a:ln w="6350">
            <a:solidFill>
              <a:srgbClr val="FFFFFF">
                <a:alpha val="10000"/>
              </a:srgbClr>
            </a:solidFill>
            <a:prstDash val="solid"/>
          </a:ln>
        </p:spPr>
      </p:sp>
      <p:sp>
        <p:nvSpPr>
          <p:cNvPr id="16" name="Text 14"/>
          <p:cNvSpPr/>
          <p:nvPr/>
        </p:nvSpPr>
        <p:spPr>
          <a:xfrm>
            <a:off x="9540181" y="5540340"/>
            <a:ext cx="131068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EEF3F9">
                    <a:alpha val="99000"/>
                  </a:srgbClr>
                </a:solidFill>
                <a:latin typeface="Courier New" pitchFamily="34" charset="0"/>
                <a:ea typeface="Courier New" pitchFamily="34" charset="-122"/>
                <a:cs typeface="Courier New" pitchFamily="34" charset="-120"/>
              </a:rPr>
              <a:t>DataFrame</a:t>
            </a:r>
            <a:endParaRPr lang="en-US" sz="1800" dirty="0"/>
          </a:p>
        </p:txBody>
      </p:sp>
      <p:sp>
        <p:nvSpPr>
          <p:cNvPr id="17" name="Shape 15"/>
          <p:cNvSpPr/>
          <p:nvPr/>
        </p:nvSpPr>
        <p:spPr>
          <a:xfrm>
            <a:off x="11066761" y="5457790"/>
            <a:ext cx="1590080" cy="469900"/>
          </a:xfrm>
          <a:prstGeom prst="roundRect">
            <a:avLst>
              <a:gd name="adj" fmla="val 50000"/>
            </a:avLst>
          </a:prstGeom>
          <a:solidFill>
            <a:srgbClr val="FFFFFF">
              <a:alpha val="6000"/>
            </a:srgbClr>
          </a:solidFill>
          <a:ln w="6350">
            <a:solidFill>
              <a:srgbClr val="FFFFFF">
                <a:alpha val="10000"/>
              </a:srgbClr>
            </a:solidFill>
            <a:prstDash val="solid"/>
          </a:ln>
        </p:spPr>
      </p:sp>
      <p:sp>
        <p:nvSpPr>
          <p:cNvPr id="18" name="Text 16"/>
          <p:cNvSpPr/>
          <p:nvPr/>
        </p:nvSpPr>
        <p:spPr>
          <a:xfrm>
            <a:off x="11244561" y="5540340"/>
            <a:ext cx="131068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EEF3F9">
                    <a:alpha val="99000"/>
                  </a:srgbClr>
                </a:solidFill>
                <a:latin typeface="Courier New" pitchFamily="34" charset="0"/>
                <a:ea typeface="Courier New" pitchFamily="34" charset="-122"/>
                <a:cs typeface="Courier New" pitchFamily="34" charset="-120"/>
              </a:rPr>
              <a:t>Spark SQL</a:t>
            </a:r>
            <a:endParaRPr lang="en-US" sz="1800" dirty="0"/>
          </a:p>
        </p:txBody>
      </p:sp>
      <p:sp>
        <p:nvSpPr>
          <p:cNvPr id="19" name="Shape 17"/>
          <p:cNvSpPr/>
          <p:nvPr/>
        </p:nvSpPr>
        <p:spPr>
          <a:xfrm>
            <a:off x="12771140" y="5457790"/>
            <a:ext cx="1178620" cy="469900"/>
          </a:xfrm>
          <a:prstGeom prst="roundRect">
            <a:avLst>
              <a:gd name="adj" fmla="val 50000"/>
            </a:avLst>
          </a:prstGeom>
          <a:solidFill>
            <a:srgbClr val="FFFFFF">
              <a:alpha val="6000"/>
            </a:srgbClr>
          </a:solidFill>
          <a:ln w="6350">
            <a:solidFill>
              <a:srgbClr val="FFFFFF">
                <a:alpha val="10000"/>
              </a:srgbClr>
            </a:solidFill>
            <a:prstDash val="solid"/>
          </a:ln>
        </p:spPr>
      </p:sp>
      <p:sp>
        <p:nvSpPr>
          <p:cNvPr id="20" name="Text 18"/>
          <p:cNvSpPr/>
          <p:nvPr/>
        </p:nvSpPr>
        <p:spPr>
          <a:xfrm>
            <a:off x="12948940" y="5540340"/>
            <a:ext cx="8992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EEF3F9">
                    <a:alpha val="99000"/>
                  </a:srgbClr>
                </a:solidFill>
                <a:latin typeface="Courier New" pitchFamily="34" charset="0"/>
                <a:ea typeface="Courier New" pitchFamily="34" charset="-122"/>
                <a:cs typeface="Courier New" pitchFamily="34" charset="-120"/>
              </a:rPr>
              <a:t>HiveQL</a:t>
            </a:r>
            <a:endParaRPr lang="en-US" sz="1800" dirty="0"/>
          </a:p>
        </p:txBody>
      </p:sp>
      <p:sp>
        <p:nvSpPr>
          <p:cNvPr id="21" name="Text 19"/>
          <p:cNvSpPr/>
          <p:nvPr/>
        </p:nvSpPr>
        <p:spPr>
          <a:xfrm>
            <a:off x="8480921" y="6175340"/>
            <a:ext cx="8603517"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FB46E">
                    <a:alpha val="99000"/>
                  </a:srgbClr>
                </a:solidFill>
                <a:latin typeface="Courier New" pitchFamily="34" charset="0"/>
                <a:ea typeface="Courier New" pitchFamily="34" charset="-122"/>
                <a:cs typeface="Courier New" pitchFamily="34" charset="-120"/>
              </a:rPr>
              <a:t>→ Ateliers 4 · 5 · 6 · 7</a:t>
            </a:r>
            <a:endParaRPr lang="en-US" sz="1800" dirty="0"/>
          </a:p>
        </p:txBody>
      </p:sp>
      <p:sp>
        <p:nvSpPr>
          <p:cNvPr id="22" name="Text 20"/>
          <p:cNvSpPr/>
          <p:nvPr/>
        </p:nvSpPr>
        <p:spPr>
          <a:xfrm>
            <a:off x="259080" y="7189193"/>
            <a:ext cx="17769840" cy="374650"/>
          </a:xfrm>
          <a:prstGeom prst="rect">
            <a:avLst/>
          </a:prstGeom>
          <a:noFill/>
          <a:ln/>
        </p:spPr>
        <p:txBody>
          <a:bodyPr wrap="square" lIns="25400" tIns="25400" rIns="25400" bIns="25400" rtlCol="0" anchor="t">
            <a:normAutofit/>
          </a:bodyPr>
          <a:lstStyle/>
          <a:p>
            <a:pPr algn="ctr" indent="0" marL="0">
              <a:buNone/>
            </a:pPr>
            <a:r>
              <a:rPr lang="en-US" sz="2025" dirty="0">
                <a:solidFill>
                  <a:srgbClr val="8EA0B5">
                    <a:alpha val="45000"/>
                  </a:srgbClr>
                </a:solidFill>
                <a:latin typeface="Arial" pitchFamily="34" charset="0"/>
                <a:ea typeface="Arial" pitchFamily="34" charset="-122"/>
                <a:cs typeface="Arial" pitchFamily="34" charset="-120"/>
              </a:rPr>
              <a:t>Le tout repose sur la plateforme Docker de l'atelier 3, reproduite dans le Cloud à l'atelier 7.</a:t>
            </a:r>
            <a:endParaRPr lang="en-US" sz="20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121C"/>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55DCDC">
                  <a:alpha val="20000"/>
                </a:srgbClr>
              </a:gs>
              <a:gs pos="60000">
                <a:srgbClr val="55DCDC">
                  <a:alpha val="0"/>
                </a:srgbClr>
              </a:gs>
            </a:gsLst>
            <a:path path="circle">
              <a:fillToRect l="22000" t="34000" r="78000" b="66000"/>
            </a:path>
          </a:gradFill>
          <a:ln/>
        </p:spPr>
      </p:sp>
      <p:sp>
        <p:nvSpPr>
          <p:cNvPr id="3" name="Text 1"/>
          <p:cNvSpPr/>
          <p:nvPr/>
        </p:nvSpPr>
        <p:spPr>
          <a:xfrm>
            <a:off x="1066800" y="2666107"/>
            <a:ext cx="17769840" cy="368300"/>
          </a:xfrm>
          <a:prstGeom prst="rect">
            <a:avLst/>
          </a:prstGeom>
          <a:noFill/>
          <a:ln/>
        </p:spPr>
        <p:txBody>
          <a:bodyPr wrap="square" lIns="25400" tIns="25400" rIns="25400" bIns="25400" rtlCol="0" anchor="t">
            <a:normAutofit/>
          </a:bodyPr>
          <a:lstStyle/>
          <a:p>
            <a:pPr algn="l" indent="0" marL="0">
              <a:buNone/>
            </a:pPr>
            <a:r>
              <a:rPr lang="en-US" sz="1950" spc="546" kern="0" dirty="0">
                <a:solidFill>
                  <a:srgbClr val="56DBDB">
                    <a:alpha val="97000"/>
                  </a:srgbClr>
                </a:solidFill>
                <a:latin typeface="Courier New" pitchFamily="34" charset="0"/>
                <a:ea typeface="Courier New" pitchFamily="34" charset="-122"/>
                <a:cs typeface="Courier New" pitchFamily="34" charset="-120"/>
              </a:rPr>
              <a:t>ATELIER 01 · 2 HEURES</a:t>
            </a:r>
            <a:endParaRPr lang="en-US" sz="1950" dirty="0"/>
          </a:p>
        </p:txBody>
      </p:sp>
      <p:sp>
        <p:nvSpPr>
          <p:cNvPr id="4" name="Text 2"/>
          <p:cNvSpPr/>
          <p:nvPr/>
        </p:nvSpPr>
        <p:spPr>
          <a:xfrm>
            <a:off x="1066800" y="3072508"/>
            <a:ext cx="17769840" cy="1924050"/>
          </a:xfrm>
          <a:prstGeom prst="rect">
            <a:avLst/>
          </a:prstGeom>
          <a:noFill/>
          <a:ln/>
        </p:spPr>
        <p:txBody>
          <a:bodyPr wrap="square" lIns="25400" tIns="25400" rIns="25400" bIns="25400" rtlCol="0" anchor="t">
            <a:normAutofit/>
          </a:bodyPr>
          <a:lstStyle/>
          <a:p>
            <a:pPr algn="l" indent="0" marL="0">
              <a:lnSpc>
                <a:spcPct val="78158"/>
              </a:lnSpc>
              <a:buNone/>
            </a:pPr>
            <a:r>
              <a:rPr lang="en-US" sz="16500" b="1" spc="-660" kern="0" dirty="0">
                <a:solidFill>
                  <a:srgbClr val="8EE3E4"/>
                </a:solidFill>
                <a:latin typeface="Arial" pitchFamily="34" charset="0"/>
                <a:ea typeface="Arial" pitchFamily="34" charset="-122"/>
                <a:cs typeface="Arial" pitchFamily="34" charset="-120"/>
              </a:rPr>
              <a:t>01</a:t>
            </a:r>
            <a:endParaRPr lang="en-US" sz="16500" dirty="0"/>
          </a:p>
        </p:txBody>
      </p:sp>
      <p:sp>
        <p:nvSpPr>
          <p:cNvPr id="5" name="Text 3"/>
          <p:cNvSpPr/>
          <p:nvPr/>
        </p:nvSpPr>
        <p:spPr>
          <a:xfrm>
            <a:off x="1066800" y="5036109"/>
            <a:ext cx="17769840" cy="776387"/>
          </a:xfrm>
          <a:prstGeom prst="rect">
            <a:avLst/>
          </a:prstGeom>
          <a:noFill/>
          <a:ln/>
        </p:spPr>
        <p:txBody>
          <a:bodyPr wrap="square" lIns="25400" tIns="25400" rIns="25400" bIns="25400" rtlCol="0" anchor="t">
            <a:normAutofit/>
          </a:bodyPr>
          <a:lstStyle/>
          <a:p>
            <a:pPr algn="l" indent="0" marL="0">
              <a:lnSpc>
                <a:spcPct val="88763"/>
              </a:lnSpc>
              <a:buNone/>
            </a:pPr>
            <a:r>
              <a:rPr lang="en-US" sz="5700" b="1" spc="-114" kern="0" dirty="0">
                <a:solidFill>
                  <a:srgbClr val="EEF3F9">
                    <a:alpha val="99000"/>
                  </a:srgbClr>
                </a:solidFill>
                <a:latin typeface="Arial" pitchFamily="34" charset="0"/>
                <a:ea typeface="Arial" pitchFamily="34" charset="-122"/>
                <a:cs typeface="Arial" pitchFamily="34" charset="-120"/>
              </a:rPr>
              <a:t>Émergence du paradigme Big Data</a:t>
            </a:r>
            <a:endParaRPr lang="en-US" sz="5700" dirty="0"/>
          </a:p>
        </p:txBody>
      </p:sp>
      <p:sp>
        <p:nvSpPr>
          <p:cNvPr id="6" name="Text 4"/>
          <p:cNvSpPr/>
          <p:nvPr/>
        </p:nvSpPr>
        <p:spPr>
          <a:xfrm>
            <a:off x="1066800" y="6020594"/>
            <a:ext cx="10360152" cy="1638300"/>
          </a:xfrm>
          <a:prstGeom prst="rect">
            <a:avLst/>
          </a:prstGeom>
          <a:noFill/>
          <a:ln/>
        </p:spPr>
        <p:txBody>
          <a:bodyPr wrap="square" lIns="25400" tIns="25400" rIns="25400" bIns="25400" rtlCol="0" anchor="t">
            <a:normAutofit/>
          </a:bodyPr>
          <a:lstStyle/>
          <a:p>
            <a:pPr algn="l" indent="0" marL="0">
              <a:lnSpc>
                <a:spcPct val="121739"/>
              </a:lnSpc>
              <a:buNone/>
            </a:pPr>
            <a:r>
              <a:rPr lang="en-US" sz="3000" dirty="0">
                <a:solidFill>
                  <a:srgbClr val="8EA0B5">
                    <a:alpha val="77000"/>
                  </a:srgbClr>
                </a:solidFill>
                <a:latin typeface="Arial" pitchFamily="34" charset="0"/>
                <a:ea typeface="Arial" pitchFamily="34" charset="-122"/>
                <a:cs typeface="Arial" pitchFamily="34" charset="-120"/>
              </a:rPr>
              <a:t>L'explosion des données, les limites du relationnel, les 5V et leurs seuils, le test pratique et le passage à une architecture distribuée.</a:t>
            </a:r>
            <a:endParaRPr lang="en-US" sz="3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15"/>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56DBDB">
                    <a:alpha val="97000"/>
                  </a:srgbClr>
                </a:solidFill>
                <a:latin typeface="Courier New" pitchFamily="34" charset="0"/>
                <a:ea typeface="Courier New" pitchFamily="34" charset="-122"/>
                <a:cs typeface="Courier New" pitchFamily="34" charset="-120"/>
              </a:rPr>
              <a:t>ATELIER 01 · CONTEXTE</a:t>
            </a:r>
            <a:endParaRPr lang="en-US" sz="1800" dirty="0"/>
          </a:p>
        </p:txBody>
      </p:sp>
      <p:sp>
        <p:nvSpPr>
          <p:cNvPr id="3" name="Text 1"/>
          <p:cNvSpPr/>
          <p:nvPr/>
        </p:nvSpPr>
        <p:spPr>
          <a:xfrm>
            <a:off x="1066800" y="1314451"/>
            <a:ext cx="7682430" cy="1305917"/>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L'explosion des données numériques</a:t>
            </a:r>
            <a:endParaRPr lang="en-US" sz="4800" dirty="0"/>
          </a:p>
        </p:txBody>
      </p:sp>
      <p:sp>
        <p:nvSpPr>
          <p:cNvPr id="4" name="Text 2"/>
          <p:cNvSpPr/>
          <p:nvPr/>
        </p:nvSpPr>
        <p:spPr>
          <a:xfrm>
            <a:off x="1066800" y="2829917"/>
            <a:ext cx="12055369" cy="1363861"/>
          </a:xfrm>
          <a:prstGeom prst="rect">
            <a:avLst/>
          </a:prstGeom>
          <a:noFill/>
          <a:ln/>
        </p:spPr>
        <p:txBody>
          <a:bodyPr wrap="square" lIns="25400" tIns="25400" rIns="25400" bIns="25400" rtlCol="0" anchor="t">
            <a:normAutofit/>
          </a:bodyPr>
          <a:lstStyle/>
          <a:p>
            <a:pPr algn="l" indent="0" marL="0">
              <a:lnSpc>
                <a:spcPct val="126545"/>
              </a:lnSpc>
              <a:buNone/>
            </a:pPr>
            <a:r>
              <a:rPr lang="en-US" sz="2400" dirty="0">
                <a:solidFill>
                  <a:srgbClr val="8EA0B5">
                    <a:alpha val="91000"/>
                  </a:srgbClr>
                </a:solidFill>
                <a:latin typeface="Arial" pitchFamily="34" charset="0"/>
                <a:ea typeface="Arial" pitchFamily="34" charset="-122"/>
                <a:cs typeface="Arial" pitchFamily="34" charset="-120"/>
              </a:rPr>
              <a:t>Jusqu'aux années 1990, les données provenaient des systèmes internes : structurées, de volume modéré, gérées sur un seul serveur. Trois évolutions ont tout changé.</a:t>
            </a:r>
            <a:endParaRPr lang="en-US" sz="2400" dirty="0"/>
          </a:p>
        </p:txBody>
      </p:sp>
      <p:sp>
        <p:nvSpPr>
          <p:cNvPr id="5" name="Shape 3"/>
          <p:cNvSpPr/>
          <p:nvPr/>
        </p:nvSpPr>
        <p:spPr>
          <a:xfrm>
            <a:off x="1066800" y="4650980"/>
            <a:ext cx="5232400" cy="2807791"/>
          </a:xfrm>
          <a:prstGeom prst="roundRect">
            <a:avLst>
              <a:gd name="adj" fmla="val 6106"/>
            </a:avLst>
          </a:prstGeom>
          <a:solidFill>
            <a:srgbClr val="FFFFFF">
              <a:alpha val="3000"/>
            </a:srgbClr>
          </a:solidFill>
          <a:ln w="6350">
            <a:solidFill>
              <a:srgbClr val="FFFFFF">
                <a:alpha val="10000"/>
              </a:srgbClr>
            </a:solidFill>
            <a:prstDash val="solid"/>
          </a:ln>
        </p:spPr>
      </p:sp>
      <p:sp>
        <p:nvSpPr>
          <p:cNvPr id="6" name="Text 4"/>
          <p:cNvSpPr/>
          <p:nvPr/>
        </p:nvSpPr>
        <p:spPr>
          <a:xfrm>
            <a:off x="1377950" y="5000230"/>
            <a:ext cx="507111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6DBDB"/>
                </a:solidFill>
                <a:latin typeface="Courier New" pitchFamily="34" charset="0"/>
                <a:ea typeface="Courier New" pitchFamily="34" charset="-122"/>
                <a:cs typeface="Courier New" pitchFamily="34" charset="-120"/>
              </a:rPr>
              <a:t>01</a:t>
            </a:r>
            <a:endParaRPr lang="en-US" sz="1800" dirty="0"/>
          </a:p>
        </p:txBody>
      </p:sp>
      <p:sp>
        <p:nvSpPr>
          <p:cNvPr id="7" name="Text 5"/>
          <p:cNvSpPr/>
          <p:nvPr/>
        </p:nvSpPr>
        <p:spPr>
          <a:xfrm>
            <a:off x="1377950" y="5457430"/>
            <a:ext cx="5071110" cy="399554"/>
          </a:xfrm>
          <a:prstGeom prst="rect">
            <a:avLst/>
          </a:prstGeom>
          <a:noFill/>
          <a:ln/>
        </p:spPr>
        <p:txBody>
          <a:bodyPr wrap="square" lIns="25400" tIns="25400" rIns="25400" bIns="25400" rtlCol="0" anchor="t">
            <a:normAutofit/>
          </a:bodyPr>
          <a:lstStyle/>
          <a:p>
            <a:pPr algn="l" indent="0" marL="0">
              <a:lnSpc>
                <a:spcPct val="99868"/>
              </a:lnSpc>
              <a:buNone/>
            </a:pPr>
            <a:r>
              <a:rPr lang="en-US" sz="2475" b="1" dirty="0">
                <a:solidFill>
                  <a:srgbClr val="EEF3F9"/>
                </a:solidFill>
                <a:latin typeface="Arial" pitchFamily="34" charset="0"/>
                <a:ea typeface="Arial" pitchFamily="34" charset="-122"/>
                <a:cs typeface="Arial" pitchFamily="34" charset="-120"/>
              </a:rPr>
              <a:t>Démocratisation d'Internet</a:t>
            </a:r>
            <a:endParaRPr lang="en-US" sz="2475" dirty="0"/>
          </a:p>
        </p:txBody>
      </p:sp>
      <p:sp>
        <p:nvSpPr>
          <p:cNvPr id="8" name="Text 6"/>
          <p:cNvSpPr/>
          <p:nvPr/>
        </p:nvSpPr>
        <p:spPr>
          <a:xfrm>
            <a:off x="1377950" y="5952234"/>
            <a:ext cx="4748403" cy="809625"/>
          </a:xfrm>
          <a:prstGeom prst="rect">
            <a:avLst/>
          </a:prstGeom>
          <a:noFill/>
          <a:ln/>
        </p:spPr>
        <p:txBody>
          <a:bodyPr wrap="square" lIns="25400" tIns="25400" rIns="25400" bIns="25400" rtlCol="0" anchor="t">
            <a:normAutofit/>
          </a:bodyPr>
          <a:lstStyle/>
          <a:p>
            <a:pPr algn="l" indent="0" marL="0">
              <a:lnSpc>
                <a:spcPct val="129255"/>
              </a:lnSpc>
              <a:buNone/>
            </a:pPr>
            <a:r>
              <a:rPr lang="en-US" sz="2025" dirty="0">
                <a:solidFill>
                  <a:srgbClr val="8EA0B5"/>
                </a:solidFill>
                <a:latin typeface="Arial" pitchFamily="34" charset="0"/>
                <a:ea typeface="Arial" pitchFamily="34" charset="-122"/>
                <a:cs typeface="Arial" pitchFamily="34" charset="-120"/>
              </a:rPr>
              <a:t>Chaque page, chaque clic, chaque recherche laisse une trace numérique.</a:t>
            </a:r>
            <a:endParaRPr lang="en-US" sz="2025" dirty="0"/>
          </a:p>
        </p:txBody>
      </p:sp>
      <p:sp>
        <p:nvSpPr>
          <p:cNvPr id="9" name="Shape 7"/>
          <p:cNvSpPr/>
          <p:nvPr/>
        </p:nvSpPr>
        <p:spPr>
          <a:xfrm>
            <a:off x="6527800" y="4652435"/>
            <a:ext cx="5232400" cy="2807791"/>
          </a:xfrm>
          <a:prstGeom prst="roundRect">
            <a:avLst>
              <a:gd name="adj" fmla="val 6106"/>
            </a:avLst>
          </a:prstGeom>
          <a:solidFill>
            <a:srgbClr val="FFFFFF">
              <a:alpha val="3000"/>
            </a:srgbClr>
          </a:solidFill>
          <a:ln w="6350">
            <a:solidFill>
              <a:srgbClr val="FFFFFF">
                <a:alpha val="10000"/>
              </a:srgbClr>
            </a:solidFill>
            <a:prstDash val="solid"/>
          </a:ln>
        </p:spPr>
      </p:sp>
      <p:sp>
        <p:nvSpPr>
          <p:cNvPr id="10" name="Text 8"/>
          <p:cNvSpPr/>
          <p:nvPr/>
        </p:nvSpPr>
        <p:spPr>
          <a:xfrm>
            <a:off x="6838950" y="5001685"/>
            <a:ext cx="507111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6DBDB">
                    <a:alpha val="99000"/>
                  </a:srgbClr>
                </a:solidFill>
                <a:latin typeface="Courier New" pitchFamily="34" charset="0"/>
                <a:ea typeface="Courier New" pitchFamily="34" charset="-122"/>
                <a:cs typeface="Courier New" pitchFamily="34" charset="-120"/>
              </a:rPr>
              <a:t>02</a:t>
            </a:r>
            <a:endParaRPr lang="en-US" sz="1800" dirty="0"/>
          </a:p>
        </p:txBody>
      </p:sp>
      <p:sp>
        <p:nvSpPr>
          <p:cNvPr id="11" name="Text 9"/>
          <p:cNvSpPr/>
          <p:nvPr/>
        </p:nvSpPr>
        <p:spPr>
          <a:xfrm>
            <a:off x="6838950" y="5458885"/>
            <a:ext cx="5071110" cy="399554"/>
          </a:xfrm>
          <a:prstGeom prst="rect">
            <a:avLst/>
          </a:prstGeom>
          <a:noFill/>
          <a:ln/>
        </p:spPr>
        <p:txBody>
          <a:bodyPr wrap="square" lIns="25400" tIns="25400" rIns="25400" bIns="25400" rtlCol="0" anchor="t">
            <a:normAutofit/>
          </a:bodyPr>
          <a:lstStyle/>
          <a:p>
            <a:pPr algn="l" indent="0" marL="0">
              <a:lnSpc>
                <a:spcPct val="99868"/>
              </a:lnSpc>
              <a:buNone/>
            </a:pPr>
            <a:r>
              <a:rPr lang="en-US" sz="2475" b="1" dirty="0">
                <a:solidFill>
                  <a:srgbClr val="EEF3F9">
                    <a:alpha val="99000"/>
                  </a:srgbClr>
                </a:solidFill>
                <a:latin typeface="Arial" pitchFamily="34" charset="0"/>
                <a:ea typeface="Arial" pitchFamily="34" charset="-122"/>
                <a:cs typeface="Arial" pitchFamily="34" charset="-120"/>
              </a:rPr>
              <a:t>Réseaux sociaux &amp; mobile</a:t>
            </a:r>
            <a:endParaRPr lang="en-US" sz="2475" dirty="0"/>
          </a:p>
        </p:txBody>
      </p:sp>
      <p:sp>
        <p:nvSpPr>
          <p:cNvPr id="12" name="Text 10"/>
          <p:cNvSpPr/>
          <p:nvPr/>
        </p:nvSpPr>
        <p:spPr>
          <a:xfrm>
            <a:off x="6838950" y="5953689"/>
            <a:ext cx="4748403" cy="1195388"/>
          </a:xfrm>
          <a:prstGeom prst="rect">
            <a:avLst/>
          </a:prstGeom>
          <a:noFill/>
          <a:ln/>
        </p:spPr>
        <p:txBody>
          <a:bodyPr wrap="square" lIns="25400" tIns="25400" rIns="25400" bIns="25400" rtlCol="0" anchor="t">
            <a:normAutofit/>
          </a:bodyPr>
          <a:lstStyle/>
          <a:p>
            <a:pPr algn="l" indent="0" marL="0">
              <a:lnSpc>
                <a:spcPct val="129255"/>
              </a:lnSpc>
              <a:buNone/>
            </a:pPr>
            <a:r>
              <a:rPr lang="en-US" sz="2025" dirty="0">
                <a:solidFill>
                  <a:srgbClr val="8EA0B5">
                    <a:alpha val="99000"/>
                  </a:srgbClr>
                </a:solidFill>
                <a:latin typeface="Arial" pitchFamily="34" charset="0"/>
                <a:ea typeface="Arial" pitchFamily="34" charset="-122"/>
                <a:cs typeface="Arial" pitchFamily="34" charset="-120"/>
              </a:rPr>
              <a:t>Les utilisateurs deviennent producteurs : photos, vidéos, messages, géolocalisation.</a:t>
            </a:r>
            <a:endParaRPr lang="en-US" sz="2025" dirty="0"/>
          </a:p>
        </p:txBody>
      </p:sp>
      <p:sp>
        <p:nvSpPr>
          <p:cNvPr id="13" name="Shape 11"/>
          <p:cNvSpPr/>
          <p:nvPr/>
        </p:nvSpPr>
        <p:spPr>
          <a:xfrm>
            <a:off x="11988801" y="4657750"/>
            <a:ext cx="5232400" cy="2807791"/>
          </a:xfrm>
          <a:prstGeom prst="roundRect">
            <a:avLst>
              <a:gd name="adj" fmla="val 6106"/>
            </a:avLst>
          </a:prstGeom>
          <a:solidFill>
            <a:srgbClr val="FFFFFF">
              <a:alpha val="3000"/>
            </a:srgbClr>
          </a:solidFill>
          <a:ln w="6350">
            <a:solidFill>
              <a:srgbClr val="FFFFFF">
                <a:alpha val="10000"/>
              </a:srgbClr>
            </a:solidFill>
            <a:prstDash val="solid"/>
          </a:ln>
        </p:spPr>
      </p:sp>
      <p:sp>
        <p:nvSpPr>
          <p:cNvPr id="14" name="Text 12"/>
          <p:cNvSpPr/>
          <p:nvPr/>
        </p:nvSpPr>
        <p:spPr>
          <a:xfrm>
            <a:off x="12299950" y="5007000"/>
            <a:ext cx="507111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6DBDB">
                    <a:alpha val="98000"/>
                  </a:srgbClr>
                </a:solidFill>
                <a:latin typeface="Courier New" pitchFamily="34" charset="0"/>
                <a:ea typeface="Courier New" pitchFamily="34" charset="-122"/>
                <a:cs typeface="Courier New" pitchFamily="34" charset="-120"/>
              </a:rPr>
              <a:t>03</a:t>
            </a:r>
            <a:endParaRPr lang="en-US" sz="1800" dirty="0"/>
          </a:p>
        </p:txBody>
      </p:sp>
      <p:sp>
        <p:nvSpPr>
          <p:cNvPr id="15" name="Text 13"/>
          <p:cNvSpPr/>
          <p:nvPr/>
        </p:nvSpPr>
        <p:spPr>
          <a:xfrm>
            <a:off x="12299950" y="5464200"/>
            <a:ext cx="5071110" cy="399554"/>
          </a:xfrm>
          <a:prstGeom prst="rect">
            <a:avLst/>
          </a:prstGeom>
          <a:noFill/>
          <a:ln/>
        </p:spPr>
        <p:txBody>
          <a:bodyPr wrap="square" lIns="25400" tIns="25400" rIns="25400" bIns="25400" rtlCol="0" anchor="t">
            <a:normAutofit/>
          </a:bodyPr>
          <a:lstStyle/>
          <a:p>
            <a:pPr algn="l" indent="0" marL="0">
              <a:lnSpc>
                <a:spcPct val="99868"/>
              </a:lnSpc>
              <a:buNone/>
            </a:pPr>
            <a:r>
              <a:rPr lang="en-US" sz="2475" b="1" dirty="0">
                <a:solidFill>
                  <a:srgbClr val="EEF3F9">
                    <a:alpha val="98000"/>
                  </a:srgbClr>
                </a:solidFill>
                <a:latin typeface="Arial" pitchFamily="34" charset="0"/>
                <a:ea typeface="Arial" pitchFamily="34" charset="-122"/>
                <a:cs typeface="Arial" pitchFamily="34" charset="-120"/>
              </a:rPr>
              <a:t>Capteurs &amp; IoT</a:t>
            </a:r>
            <a:endParaRPr lang="en-US" sz="2475" dirty="0"/>
          </a:p>
        </p:txBody>
      </p:sp>
      <p:sp>
        <p:nvSpPr>
          <p:cNvPr id="16" name="Text 14"/>
          <p:cNvSpPr/>
          <p:nvPr/>
        </p:nvSpPr>
        <p:spPr>
          <a:xfrm>
            <a:off x="12299950" y="5959004"/>
            <a:ext cx="4748403" cy="1195387"/>
          </a:xfrm>
          <a:prstGeom prst="rect">
            <a:avLst/>
          </a:prstGeom>
          <a:noFill/>
          <a:ln/>
        </p:spPr>
        <p:txBody>
          <a:bodyPr wrap="square" lIns="25400" tIns="25400" rIns="25400" bIns="25400" rtlCol="0" anchor="t">
            <a:normAutofit/>
          </a:bodyPr>
          <a:lstStyle/>
          <a:p>
            <a:pPr algn="l" indent="0" marL="0">
              <a:lnSpc>
                <a:spcPct val="129255"/>
              </a:lnSpc>
              <a:buNone/>
            </a:pPr>
            <a:r>
              <a:rPr lang="en-US" sz="2025" dirty="0">
                <a:solidFill>
                  <a:srgbClr val="8EA0B5">
                    <a:alpha val="98000"/>
                  </a:srgbClr>
                </a:solidFill>
                <a:latin typeface="Arial" pitchFamily="34" charset="0"/>
                <a:ea typeface="Arial" pitchFamily="34" charset="-122"/>
                <a:cs typeface="Arial" pitchFamily="34" charset="-120"/>
              </a:rPr>
              <a:t>Véhicules, montres, machines industrielles produisent des flux en continu.</a:t>
            </a:r>
            <a:endParaRPr lang="en-US" sz="20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121C"/>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56DBDB">
                    <a:alpha val="97000"/>
                  </a:srgbClr>
                </a:solidFill>
                <a:latin typeface="Courier New" pitchFamily="34" charset="0"/>
                <a:ea typeface="Courier New" pitchFamily="34" charset="-122"/>
                <a:cs typeface="Courier New" pitchFamily="34" charset="-120"/>
              </a:rPr>
              <a:t>ATELIER 01 · LE RELATIONNEL</a:t>
            </a:r>
            <a:endParaRPr lang="en-US" sz="1800" dirty="0"/>
          </a:p>
        </p:txBody>
      </p:sp>
      <p:sp>
        <p:nvSpPr>
          <p:cNvPr id="3" name="Text 1"/>
          <p:cNvSpPr/>
          <p:nvPr/>
        </p:nvSpPr>
        <p:spPr>
          <a:xfrm>
            <a:off x="1066800" y="1314451"/>
            <a:ext cx="8380833" cy="1305917"/>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Les limites des bases relationnelles</a:t>
            </a:r>
            <a:endParaRPr lang="en-US" sz="4800" dirty="0"/>
          </a:p>
        </p:txBody>
      </p:sp>
      <p:sp>
        <p:nvSpPr>
          <p:cNvPr id="4" name="Shape 2"/>
          <p:cNvSpPr/>
          <p:nvPr/>
        </p:nvSpPr>
        <p:spPr>
          <a:xfrm>
            <a:off x="1066800" y="3039469"/>
            <a:ext cx="7972425" cy="1800225"/>
          </a:xfrm>
          <a:prstGeom prst="roundRect">
            <a:avLst>
              <a:gd name="adj" fmla="val 7407"/>
            </a:avLst>
          </a:prstGeom>
          <a:solidFill>
            <a:srgbClr val="FFFFFF">
              <a:alpha val="3000"/>
            </a:srgbClr>
          </a:solidFill>
          <a:ln/>
        </p:spPr>
      </p:sp>
      <p:sp>
        <p:nvSpPr>
          <p:cNvPr id="5" name="Shape 3"/>
          <p:cNvSpPr/>
          <p:nvPr/>
        </p:nvSpPr>
        <p:spPr>
          <a:xfrm>
            <a:off x="1066800" y="4833344"/>
            <a:ext cx="7972425" cy="9525"/>
          </a:xfrm>
          <a:prstGeom prst="rect">
            <a:avLst/>
          </a:prstGeom>
          <a:solidFill>
            <a:srgbClr val="FFFFFF">
              <a:alpha val="10000"/>
            </a:srgbClr>
          </a:solidFill>
          <a:ln/>
        </p:spPr>
      </p:sp>
      <p:sp>
        <p:nvSpPr>
          <p:cNvPr id="6" name="Shape 4"/>
          <p:cNvSpPr/>
          <p:nvPr/>
        </p:nvSpPr>
        <p:spPr>
          <a:xfrm>
            <a:off x="1066800" y="3039469"/>
            <a:ext cx="7972425" cy="9525"/>
          </a:xfrm>
          <a:prstGeom prst="rect">
            <a:avLst/>
          </a:prstGeom>
          <a:solidFill>
            <a:srgbClr val="FFFFFF">
              <a:alpha val="10000"/>
            </a:srgbClr>
          </a:solidFill>
          <a:ln/>
        </p:spPr>
      </p:sp>
      <p:sp>
        <p:nvSpPr>
          <p:cNvPr id="7" name="Shape 5"/>
          <p:cNvSpPr/>
          <p:nvPr/>
        </p:nvSpPr>
        <p:spPr>
          <a:xfrm>
            <a:off x="1066800" y="3039469"/>
            <a:ext cx="25400" cy="1800225"/>
          </a:xfrm>
          <a:prstGeom prst="rect">
            <a:avLst/>
          </a:prstGeom>
          <a:solidFill>
            <a:srgbClr val="FFB46E"/>
          </a:solidFill>
          <a:ln/>
        </p:spPr>
      </p:sp>
      <p:sp>
        <p:nvSpPr>
          <p:cNvPr id="8" name="Shape 6"/>
          <p:cNvSpPr/>
          <p:nvPr/>
        </p:nvSpPr>
        <p:spPr>
          <a:xfrm>
            <a:off x="9032875" y="3039469"/>
            <a:ext cx="9525" cy="1800225"/>
          </a:xfrm>
          <a:prstGeom prst="rect">
            <a:avLst/>
          </a:prstGeom>
          <a:solidFill>
            <a:srgbClr val="FFFFFF">
              <a:alpha val="10000"/>
            </a:srgbClr>
          </a:solidFill>
          <a:ln/>
        </p:spPr>
      </p:sp>
      <p:sp>
        <p:nvSpPr>
          <p:cNvPr id="9" name="Text 7"/>
          <p:cNvSpPr/>
          <p:nvPr/>
        </p:nvSpPr>
        <p:spPr>
          <a:xfrm>
            <a:off x="1397000" y="3331569"/>
            <a:ext cx="8064183" cy="368300"/>
          </a:xfrm>
          <a:prstGeom prst="rect">
            <a:avLst/>
          </a:prstGeom>
          <a:noFill/>
          <a:ln/>
        </p:spPr>
        <p:txBody>
          <a:bodyPr wrap="square" lIns="25400" tIns="25400" rIns="25400" bIns="25400" rtlCol="0" anchor="t">
            <a:normAutofit/>
          </a:bodyPr>
          <a:lstStyle/>
          <a:p>
            <a:pPr algn="l" indent="0" marL="0">
              <a:buNone/>
            </a:pPr>
            <a:r>
              <a:rPr lang="en-US" sz="2250" b="1" dirty="0">
                <a:solidFill>
                  <a:srgbClr val="EEF3F9"/>
                </a:solidFill>
                <a:latin typeface="Arial" pitchFamily="34" charset="0"/>
                <a:ea typeface="Arial" pitchFamily="34" charset="-122"/>
                <a:cs typeface="Arial" pitchFamily="34" charset="-120"/>
              </a:rPr>
              <a:t>Scalabilité verticale</a:t>
            </a:r>
            <a:endParaRPr lang="en-US" sz="2250" dirty="0"/>
          </a:p>
        </p:txBody>
      </p:sp>
      <p:sp>
        <p:nvSpPr>
          <p:cNvPr id="10" name="Text 8"/>
          <p:cNvSpPr/>
          <p:nvPr/>
        </p:nvSpPr>
        <p:spPr>
          <a:xfrm>
            <a:off x="1397000" y="3776069"/>
            <a:ext cx="7551007" cy="809625"/>
          </a:xfrm>
          <a:prstGeom prst="rect">
            <a:avLst/>
          </a:prstGeom>
          <a:noFill/>
          <a:ln/>
        </p:spPr>
        <p:txBody>
          <a:bodyPr wrap="square" lIns="25400" tIns="25400" rIns="25400" bIns="25400" rtlCol="0" anchor="t">
            <a:normAutofit/>
          </a:bodyPr>
          <a:lstStyle/>
          <a:p>
            <a:pPr algn="l" indent="0" marL="0">
              <a:lnSpc>
                <a:spcPct val="129255"/>
              </a:lnSpc>
              <a:buNone/>
            </a:pPr>
            <a:r>
              <a:rPr lang="en-US" sz="2025" dirty="0">
                <a:solidFill>
                  <a:srgbClr val="8EA0B5"/>
                </a:solidFill>
                <a:latin typeface="Arial" pitchFamily="34" charset="0"/>
                <a:ea typeface="Arial" pitchFamily="34" charset="-122"/>
                <a:cs typeface="Arial" pitchFamily="34" charset="-120"/>
              </a:rPr>
              <a:t>Une seule machine : pour encaisser plus, on ajoute RAM/CPU (scale-up) — plafond physique et financier.</a:t>
            </a:r>
            <a:endParaRPr lang="en-US" sz="2025" dirty="0"/>
          </a:p>
        </p:txBody>
      </p:sp>
      <p:sp>
        <p:nvSpPr>
          <p:cNvPr id="11" name="Shape 9"/>
          <p:cNvSpPr/>
          <p:nvPr/>
        </p:nvSpPr>
        <p:spPr>
          <a:xfrm>
            <a:off x="9248775" y="3040386"/>
            <a:ext cx="7972425" cy="1800225"/>
          </a:xfrm>
          <a:prstGeom prst="roundRect">
            <a:avLst>
              <a:gd name="adj" fmla="val 7407"/>
            </a:avLst>
          </a:prstGeom>
          <a:solidFill>
            <a:srgbClr val="FFFFFF">
              <a:alpha val="3000"/>
            </a:srgbClr>
          </a:solidFill>
          <a:ln/>
        </p:spPr>
      </p:sp>
      <p:sp>
        <p:nvSpPr>
          <p:cNvPr id="12" name="Shape 10"/>
          <p:cNvSpPr/>
          <p:nvPr/>
        </p:nvSpPr>
        <p:spPr>
          <a:xfrm>
            <a:off x="9248775" y="4834261"/>
            <a:ext cx="7972425" cy="9525"/>
          </a:xfrm>
          <a:prstGeom prst="rect">
            <a:avLst/>
          </a:prstGeom>
          <a:solidFill>
            <a:srgbClr val="FFFFFF">
              <a:alpha val="10000"/>
            </a:srgbClr>
          </a:solidFill>
          <a:ln/>
        </p:spPr>
      </p:sp>
      <p:sp>
        <p:nvSpPr>
          <p:cNvPr id="13" name="Shape 11"/>
          <p:cNvSpPr/>
          <p:nvPr/>
        </p:nvSpPr>
        <p:spPr>
          <a:xfrm>
            <a:off x="9248775" y="3040386"/>
            <a:ext cx="7972425" cy="9525"/>
          </a:xfrm>
          <a:prstGeom prst="rect">
            <a:avLst/>
          </a:prstGeom>
          <a:solidFill>
            <a:srgbClr val="FFFFFF">
              <a:alpha val="10000"/>
            </a:srgbClr>
          </a:solidFill>
          <a:ln/>
        </p:spPr>
      </p:sp>
      <p:sp>
        <p:nvSpPr>
          <p:cNvPr id="14" name="Shape 12"/>
          <p:cNvSpPr/>
          <p:nvPr/>
        </p:nvSpPr>
        <p:spPr>
          <a:xfrm>
            <a:off x="9248775" y="3040386"/>
            <a:ext cx="25400" cy="1800225"/>
          </a:xfrm>
          <a:prstGeom prst="rect">
            <a:avLst/>
          </a:prstGeom>
          <a:solidFill>
            <a:srgbClr val="FFB46E"/>
          </a:solidFill>
          <a:ln/>
        </p:spPr>
      </p:sp>
      <p:sp>
        <p:nvSpPr>
          <p:cNvPr id="15" name="Shape 13"/>
          <p:cNvSpPr/>
          <p:nvPr/>
        </p:nvSpPr>
        <p:spPr>
          <a:xfrm>
            <a:off x="17214850" y="3040386"/>
            <a:ext cx="9525" cy="1800225"/>
          </a:xfrm>
          <a:prstGeom prst="rect">
            <a:avLst/>
          </a:prstGeom>
          <a:solidFill>
            <a:srgbClr val="FFFFFF">
              <a:alpha val="10000"/>
            </a:srgbClr>
          </a:solidFill>
          <a:ln/>
        </p:spPr>
      </p:sp>
      <p:sp>
        <p:nvSpPr>
          <p:cNvPr id="16" name="Text 14"/>
          <p:cNvSpPr/>
          <p:nvPr/>
        </p:nvSpPr>
        <p:spPr>
          <a:xfrm>
            <a:off x="9578975" y="3332486"/>
            <a:ext cx="8064183" cy="368300"/>
          </a:xfrm>
          <a:prstGeom prst="rect">
            <a:avLst/>
          </a:prstGeom>
          <a:noFill/>
          <a:ln/>
        </p:spPr>
        <p:txBody>
          <a:bodyPr wrap="square" lIns="25400" tIns="25400" rIns="25400" bIns="25400" rtlCol="0" anchor="t">
            <a:normAutofit/>
          </a:bodyPr>
          <a:lstStyle/>
          <a:p>
            <a:pPr algn="l" indent="0" marL="0">
              <a:buNone/>
            </a:pPr>
            <a:r>
              <a:rPr lang="en-US" sz="2250" b="1" dirty="0">
                <a:solidFill>
                  <a:srgbClr val="EEF3F9"/>
                </a:solidFill>
                <a:latin typeface="Arial" pitchFamily="34" charset="0"/>
                <a:ea typeface="Arial" pitchFamily="34" charset="-122"/>
                <a:cs typeface="Arial" pitchFamily="34" charset="-120"/>
              </a:rPr>
              <a:t>Schéma rigide</a:t>
            </a:r>
            <a:endParaRPr lang="en-US" sz="2250" dirty="0"/>
          </a:p>
        </p:txBody>
      </p:sp>
      <p:sp>
        <p:nvSpPr>
          <p:cNvPr id="17" name="Text 15"/>
          <p:cNvSpPr/>
          <p:nvPr/>
        </p:nvSpPr>
        <p:spPr>
          <a:xfrm>
            <a:off x="9578975" y="3776986"/>
            <a:ext cx="7551007" cy="809625"/>
          </a:xfrm>
          <a:prstGeom prst="rect">
            <a:avLst/>
          </a:prstGeom>
          <a:noFill/>
          <a:ln/>
        </p:spPr>
        <p:txBody>
          <a:bodyPr wrap="square" lIns="25400" tIns="25400" rIns="25400" bIns="25400" rtlCol="0" anchor="t">
            <a:normAutofit/>
          </a:bodyPr>
          <a:lstStyle/>
          <a:p>
            <a:pPr algn="l" indent="0" marL="0">
              <a:lnSpc>
                <a:spcPct val="129255"/>
              </a:lnSpc>
              <a:buNone/>
            </a:pPr>
            <a:r>
              <a:rPr lang="en-US" sz="2025" dirty="0">
                <a:solidFill>
                  <a:srgbClr val="8EA0B5"/>
                </a:solidFill>
                <a:latin typeface="Arial" pitchFamily="34" charset="0"/>
                <a:ea typeface="Arial" pitchFamily="34" charset="-122"/>
                <a:cs typeface="Arial" pitchFamily="34" charset="-120"/>
              </a:rPr>
              <a:t>Tout doit entrer dans un schéma prédéfini ; le semi-structuré et le non-structuré s'y adaptent mal.</a:t>
            </a:r>
            <a:endParaRPr lang="en-US" sz="2025" dirty="0"/>
          </a:p>
        </p:txBody>
      </p:sp>
      <p:sp>
        <p:nvSpPr>
          <p:cNvPr id="18" name="Shape 16"/>
          <p:cNvSpPr/>
          <p:nvPr/>
        </p:nvSpPr>
        <p:spPr>
          <a:xfrm>
            <a:off x="1066800" y="5053290"/>
            <a:ext cx="7972425" cy="1800225"/>
          </a:xfrm>
          <a:prstGeom prst="roundRect">
            <a:avLst>
              <a:gd name="adj" fmla="val 7407"/>
            </a:avLst>
          </a:prstGeom>
          <a:solidFill>
            <a:srgbClr val="FFFFFF">
              <a:alpha val="3000"/>
            </a:srgbClr>
          </a:solidFill>
          <a:ln/>
        </p:spPr>
      </p:sp>
      <p:sp>
        <p:nvSpPr>
          <p:cNvPr id="19" name="Shape 17"/>
          <p:cNvSpPr/>
          <p:nvPr/>
        </p:nvSpPr>
        <p:spPr>
          <a:xfrm>
            <a:off x="1066800" y="6847165"/>
            <a:ext cx="7972425" cy="9525"/>
          </a:xfrm>
          <a:prstGeom prst="rect">
            <a:avLst/>
          </a:prstGeom>
          <a:solidFill>
            <a:srgbClr val="FFFFFF">
              <a:alpha val="10000"/>
            </a:srgbClr>
          </a:solidFill>
          <a:ln/>
        </p:spPr>
      </p:sp>
      <p:sp>
        <p:nvSpPr>
          <p:cNvPr id="20" name="Shape 18"/>
          <p:cNvSpPr/>
          <p:nvPr/>
        </p:nvSpPr>
        <p:spPr>
          <a:xfrm>
            <a:off x="1066800" y="5053290"/>
            <a:ext cx="7972425" cy="9525"/>
          </a:xfrm>
          <a:prstGeom prst="rect">
            <a:avLst/>
          </a:prstGeom>
          <a:solidFill>
            <a:srgbClr val="FFFFFF">
              <a:alpha val="10000"/>
            </a:srgbClr>
          </a:solidFill>
          <a:ln/>
        </p:spPr>
      </p:sp>
      <p:sp>
        <p:nvSpPr>
          <p:cNvPr id="21" name="Shape 19"/>
          <p:cNvSpPr/>
          <p:nvPr/>
        </p:nvSpPr>
        <p:spPr>
          <a:xfrm>
            <a:off x="1066800" y="5053290"/>
            <a:ext cx="25400" cy="1800225"/>
          </a:xfrm>
          <a:prstGeom prst="rect">
            <a:avLst/>
          </a:prstGeom>
          <a:solidFill>
            <a:srgbClr val="FFB46E">
              <a:alpha val="99000"/>
            </a:srgbClr>
          </a:solidFill>
          <a:ln/>
        </p:spPr>
      </p:sp>
      <p:sp>
        <p:nvSpPr>
          <p:cNvPr id="22" name="Shape 20"/>
          <p:cNvSpPr/>
          <p:nvPr/>
        </p:nvSpPr>
        <p:spPr>
          <a:xfrm>
            <a:off x="9032875" y="5053290"/>
            <a:ext cx="9525" cy="1800225"/>
          </a:xfrm>
          <a:prstGeom prst="rect">
            <a:avLst/>
          </a:prstGeom>
          <a:solidFill>
            <a:srgbClr val="FFFFFF">
              <a:alpha val="10000"/>
            </a:srgbClr>
          </a:solidFill>
          <a:ln/>
        </p:spPr>
      </p:sp>
      <p:sp>
        <p:nvSpPr>
          <p:cNvPr id="23" name="Text 21"/>
          <p:cNvSpPr/>
          <p:nvPr/>
        </p:nvSpPr>
        <p:spPr>
          <a:xfrm>
            <a:off x="1397000" y="5345390"/>
            <a:ext cx="8064183" cy="368300"/>
          </a:xfrm>
          <a:prstGeom prst="rect">
            <a:avLst/>
          </a:prstGeom>
          <a:noFill/>
          <a:ln/>
        </p:spPr>
        <p:txBody>
          <a:bodyPr wrap="square" lIns="25400" tIns="25400" rIns="25400" bIns="25400" rtlCol="0" anchor="t">
            <a:normAutofit/>
          </a:bodyPr>
          <a:lstStyle/>
          <a:p>
            <a:pPr algn="l" indent="0" marL="0">
              <a:buNone/>
            </a:pPr>
            <a:r>
              <a:rPr lang="en-US" sz="2250" b="1" dirty="0">
                <a:solidFill>
                  <a:srgbClr val="EEF3F9">
                    <a:alpha val="99000"/>
                  </a:srgbClr>
                </a:solidFill>
                <a:latin typeface="Arial" pitchFamily="34" charset="0"/>
                <a:ea typeface="Arial" pitchFamily="34" charset="-122"/>
                <a:cs typeface="Arial" pitchFamily="34" charset="-120"/>
              </a:rPr>
              <a:t>Jointures à grande échelle</a:t>
            </a:r>
            <a:endParaRPr lang="en-US" sz="2250" dirty="0"/>
          </a:p>
        </p:txBody>
      </p:sp>
      <p:sp>
        <p:nvSpPr>
          <p:cNvPr id="24" name="Text 22"/>
          <p:cNvSpPr/>
          <p:nvPr/>
        </p:nvSpPr>
        <p:spPr>
          <a:xfrm>
            <a:off x="1397000" y="5789890"/>
            <a:ext cx="7551007" cy="809625"/>
          </a:xfrm>
          <a:prstGeom prst="rect">
            <a:avLst/>
          </a:prstGeom>
          <a:noFill/>
          <a:ln/>
        </p:spPr>
        <p:txBody>
          <a:bodyPr wrap="square" lIns="25400" tIns="25400" rIns="25400" bIns="25400" rtlCol="0" anchor="t">
            <a:normAutofit/>
          </a:bodyPr>
          <a:lstStyle/>
          <a:p>
            <a:pPr algn="l" indent="0" marL="0">
              <a:lnSpc>
                <a:spcPct val="129255"/>
              </a:lnSpc>
              <a:buNone/>
            </a:pPr>
            <a:r>
              <a:rPr lang="en-US" sz="2025" dirty="0">
                <a:solidFill>
                  <a:srgbClr val="8EA0B5">
                    <a:alpha val="99000"/>
                  </a:srgbClr>
                </a:solidFill>
                <a:latin typeface="Arial" pitchFamily="34" charset="0"/>
                <a:ea typeface="Arial" pitchFamily="34" charset="-122"/>
                <a:cs typeface="Arial" pitchFamily="34" charset="-120"/>
              </a:rPr>
              <a:t>Entre très grandes tables, elles deviennent lentes et coûteuses en ressources.</a:t>
            </a:r>
            <a:endParaRPr lang="en-US" sz="2025" dirty="0"/>
          </a:p>
        </p:txBody>
      </p:sp>
      <p:sp>
        <p:nvSpPr>
          <p:cNvPr id="25" name="Shape 23"/>
          <p:cNvSpPr/>
          <p:nvPr/>
        </p:nvSpPr>
        <p:spPr>
          <a:xfrm>
            <a:off x="9248775" y="5059809"/>
            <a:ext cx="7972425" cy="1800225"/>
          </a:xfrm>
          <a:prstGeom prst="roundRect">
            <a:avLst>
              <a:gd name="adj" fmla="val 7407"/>
            </a:avLst>
          </a:prstGeom>
          <a:solidFill>
            <a:srgbClr val="FFFFFF">
              <a:alpha val="3000"/>
            </a:srgbClr>
          </a:solidFill>
          <a:ln/>
        </p:spPr>
      </p:sp>
      <p:sp>
        <p:nvSpPr>
          <p:cNvPr id="26" name="Shape 24"/>
          <p:cNvSpPr/>
          <p:nvPr/>
        </p:nvSpPr>
        <p:spPr>
          <a:xfrm>
            <a:off x="9248775" y="6853684"/>
            <a:ext cx="7972425" cy="9525"/>
          </a:xfrm>
          <a:prstGeom prst="rect">
            <a:avLst/>
          </a:prstGeom>
          <a:solidFill>
            <a:srgbClr val="FFFFFF">
              <a:alpha val="10000"/>
            </a:srgbClr>
          </a:solidFill>
          <a:ln/>
        </p:spPr>
      </p:sp>
      <p:sp>
        <p:nvSpPr>
          <p:cNvPr id="27" name="Shape 25"/>
          <p:cNvSpPr/>
          <p:nvPr/>
        </p:nvSpPr>
        <p:spPr>
          <a:xfrm>
            <a:off x="9248775" y="5059809"/>
            <a:ext cx="7972425" cy="9525"/>
          </a:xfrm>
          <a:prstGeom prst="rect">
            <a:avLst/>
          </a:prstGeom>
          <a:solidFill>
            <a:srgbClr val="FFFFFF">
              <a:alpha val="10000"/>
            </a:srgbClr>
          </a:solidFill>
          <a:ln/>
        </p:spPr>
      </p:sp>
      <p:sp>
        <p:nvSpPr>
          <p:cNvPr id="28" name="Shape 26"/>
          <p:cNvSpPr/>
          <p:nvPr/>
        </p:nvSpPr>
        <p:spPr>
          <a:xfrm>
            <a:off x="9248775" y="5059809"/>
            <a:ext cx="25400" cy="1800225"/>
          </a:xfrm>
          <a:prstGeom prst="rect">
            <a:avLst/>
          </a:prstGeom>
          <a:solidFill>
            <a:srgbClr val="FFB46E">
              <a:alpha val="96000"/>
            </a:srgbClr>
          </a:solidFill>
          <a:ln/>
        </p:spPr>
      </p:sp>
      <p:sp>
        <p:nvSpPr>
          <p:cNvPr id="29" name="Shape 27"/>
          <p:cNvSpPr/>
          <p:nvPr/>
        </p:nvSpPr>
        <p:spPr>
          <a:xfrm>
            <a:off x="17214850" y="5059809"/>
            <a:ext cx="9525" cy="1800225"/>
          </a:xfrm>
          <a:prstGeom prst="rect">
            <a:avLst/>
          </a:prstGeom>
          <a:solidFill>
            <a:srgbClr val="FFFFFF">
              <a:alpha val="10000"/>
            </a:srgbClr>
          </a:solidFill>
          <a:ln/>
        </p:spPr>
      </p:sp>
      <p:sp>
        <p:nvSpPr>
          <p:cNvPr id="30" name="Text 28"/>
          <p:cNvSpPr/>
          <p:nvPr/>
        </p:nvSpPr>
        <p:spPr>
          <a:xfrm>
            <a:off x="9578975" y="5351908"/>
            <a:ext cx="8064183" cy="368300"/>
          </a:xfrm>
          <a:prstGeom prst="rect">
            <a:avLst/>
          </a:prstGeom>
          <a:noFill/>
          <a:ln/>
        </p:spPr>
        <p:txBody>
          <a:bodyPr wrap="square" lIns="25400" tIns="25400" rIns="25400" bIns="25400" rtlCol="0" anchor="t">
            <a:normAutofit/>
          </a:bodyPr>
          <a:lstStyle/>
          <a:p>
            <a:pPr algn="l" indent="0" marL="0">
              <a:buNone/>
            </a:pPr>
            <a:r>
              <a:rPr lang="en-US" sz="2250" b="1" dirty="0">
                <a:solidFill>
                  <a:srgbClr val="EEF3F9">
                    <a:alpha val="96000"/>
                  </a:srgbClr>
                </a:solidFill>
                <a:latin typeface="Arial" pitchFamily="34" charset="0"/>
                <a:ea typeface="Arial" pitchFamily="34" charset="-122"/>
                <a:cs typeface="Arial" pitchFamily="34" charset="-120"/>
              </a:rPr>
              <a:t>Disponibilité</a:t>
            </a:r>
            <a:endParaRPr lang="en-US" sz="2250" dirty="0"/>
          </a:p>
        </p:txBody>
      </p:sp>
      <p:sp>
        <p:nvSpPr>
          <p:cNvPr id="31" name="Text 29"/>
          <p:cNvSpPr/>
          <p:nvPr/>
        </p:nvSpPr>
        <p:spPr>
          <a:xfrm>
            <a:off x="9578975" y="5796408"/>
            <a:ext cx="7551007" cy="809625"/>
          </a:xfrm>
          <a:prstGeom prst="rect">
            <a:avLst/>
          </a:prstGeom>
          <a:noFill/>
          <a:ln/>
        </p:spPr>
        <p:txBody>
          <a:bodyPr wrap="square" lIns="25400" tIns="25400" rIns="25400" bIns="25400" rtlCol="0" anchor="t">
            <a:normAutofit/>
          </a:bodyPr>
          <a:lstStyle/>
          <a:p>
            <a:pPr algn="l" indent="0" marL="0">
              <a:lnSpc>
                <a:spcPct val="129255"/>
              </a:lnSpc>
              <a:buNone/>
            </a:pPr>
            <a:r>
              <a:rPr lang="en-US" sz="2025" dirty="0">
                <a:solidFill>
                  <a:srgbClr val="8EA0B5">
                    <a:alpha val="96000"/>
                  </a:srgbClr>
                </a:solidFill>
                <a:latin typeface="Arial" pitchFamily="34" charset="0"/>
                <a:ea typeface="Arial" pitchFamily="34" charset="-122"/>
                <a:cs typeface="Arial" pitchFamily="34" charset="-120"/>
              </a:rPr>
              <a:t>Une panne du serveur unique rend le système indisponible, sauf réplication complexe.</a:t>
            </a:r>
            <a:endParaRPr lang="en-US" sz="2025" dirty="0"/>
          </a:p>
        </p:txBody>
      </p:sp>
      <p:sp>
        <p:nvSpPr>
          <p:cNvPr id="32" name="Text 30"/>
          <p:cNvSpPr/>
          <p:nvPr/>
        </p:nvSpPr>
        <p:spPr>
          <a:xfrm>
            <a:off x="1066800" y="7211417"/>
            <a:ext cx="13986144" cy="809625"/>
          </a:xfrm>
          <a:prstGeom prst="rect">
            <a:avLst/>
          </a:prstGeom>
          <a:noFill/>
          <a:ln/>
        </p:spPr>
        <p:txBody>
          <a:bodyPr wrap="square" lIns="25400" tIns="25400" rIns="25400" bIns="25400" rtlCol="0" anchor="t">
            <a:normAutofit/>
          </a:bodyPr>
          <a:lstStyle/>
          <a:p>
            <a:pPr algn="l" indent="0" marL="0">
              <a:lnSpc>
                <a:spcPct val="129255"/>
              </a:lnSpc>
              <a:buNone/>
            </a:pPr>
            <a:r>
              <a:rPr lang="en-US" sz="2025" dirty="0">
                <a:solidFill>
                  <a:srgbClr val="8EA0B5">
                    <a:alpha val="45000"/>
                  </a:srgbClr>
                </a:solidFill>
                <a:latin typeface="Arial" pitchFamily="34" charset="0"/>
                <a:ea typeface="Arial" pitchFamily="34" charset="-122"/>
                <a:cs typeface="Arial" pitchFamily="34" charset="-120"/>
              </a:rPr>
              <a:t>Le relationnel n'est pas dépassé : il reste la norme pour la gestion. La question est de savoir </a:t>
            </a:r>
            <a:pPr algn="l" indent="0" marL="0">
              <a:lnSpc>
                <a:spcPct val="129255"/>
              </a:lnSpc>
              <a:buNone/>
            </a:pPr>
            <a:r>
              <a:rPr lang="en-US" sz="2025" dirty="0">
                <a:solidFill>
                  <a:srgbClr val="EEF3F9">
                    <a:alpha val="45000"/>
                  </a:srgbClr>
                </a:solidFill>
                <a:latin typeface="Arial" pitchFamily="34" charset="0"/>
                <a:ea typeface="Arial" pitchFamily="34" charset="-122"/>
                <a:cs typeface="Arial" pitchFamily="34" charset="-120"/>
              </a:rPr>
              <a:t>à partir de quel volume, quelle vitesse ou quelle variété </a:t>
            </a:r>
            <a:pPr algn="l" indent="0" marL="0">
              <a:lnSpc>
                <a:spcPct val="129255"/>
              </a:lnSpc>
              <a:buNone/>
            </a:pPr>
            <a:r>
              <a:rPr lang="en-US" sz="2025" dirty="0">
                <a:solidFill>
                  <a:srgbClr val="8EA0B5">
                    <a:alpha val="45000"/>
                  </a:srgbClr>
                </a:solidFill>
                <a:latin typeface="Arial" pitchFamily="34" charset="0"/>
                <a:ea typeface="Arial" pitchFamily="34" charset="-122"/>
                <a:cs typeface="Arial" pitchFamily="34" charset="-120"/>
              </a:rPr>
              <a:t>un autre modèle s'impose.</a:t>
            </a:r>
            <a:endParaRPr lang="en-US" sz="202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E15"/>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56DBDB">
                    <a:alpha val="96000"/>
                  </a:srgbClr>
                </a:solidFill>
                <a:latin typeface="Courier New" pitchFamily="34" charset="0"/>
                <a:ea typeface="Courier New" pitchFamily="34" charset="-122"/>
                <a:cs typeface="Courier New" pitchFamily="34" charset="-120"/>
              </a:rPr>
              <a:t>ATELIER 01 · PARADIGME</a:t>
            </a:r>
            <a:endParaRPr lang="en-US" sz="1800" dirty="0"/>
          </a:p>
        </p:txBody>
      </p:sp>
      <p:sp>
        <p:nvSpPr>
          <p:cNvPr id="3" name="Text 1"/>
          <p:cNvSpPr/>
          <p:nvPr/>
        </p:nvSpPr>
        <p:spPr>
          <a:xfrm>
            <a:off x="1066800" y="1314498"/>
            <a:ext cx="9696271"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Scalabilité verticale et horizontale</a:t>
            </a:r>
            <a:endParaRPr lang="en-US" sz="4800" dirty="0"/>
          </a:p>
        </p:txBody>
      </p:sp>
      <p:sp>
        <p:nvSpPr>
          <p:cNvPr id="4" name="Shape 2"/>
          <p:cNvSpPr/>
          <p:nvPr/>
        </p:nvSpPr>
        <p:spPr>
          <a:xfrm>
            <a:off x="1066800" y="2443707"/>
            <a:ext cx="7000479" cy="7024192"/>
          </a:xfrm>
          <a:prstGeom prst="roundRect">
            <a:avLst>
              <a:gd name="adj" fmla="val 2721"/>
            </a:avLst>
          </a:prstGeom>
          <a:solidFill>
            <a:srgbClr val="FFFFFF">
              <a:alpha val="3000"/>
            </a:srgbClr>
          </a:solidFill>
          <a:ln w="6350">
            <a:solidFill>
              <a:srgbClr val="FFFFFF">
                <a:alpha val="10000"/>
              </a:srgbClr>
            </a:solidFill>
            <a:prstDash val="solid"/>
          </a:ln>
        </p:spPr>
      </p:sp>
      <p:sp>
        <p:nvSpPr>
          <p:cNvPr id="5" name="Text 3"/>
          <p:cNvSpPr/>
          <p:nvPr/>
        </p:nvSpPr>
        <p:spPr>
          <a:xfrm>
            <a:off x="1454150" y="4036664"/>
            <a:ext cx="117355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solidFill>
                <a:latin typeface="Courier New" pitchFamily="34" charset="0"/>
                <a:ea typeface="Courier New" pitchFamily="34" charset="-122"/>
                <a:cs typeface="Courier New" pitchFamily="34" charset="-120"/>
              </a:rPr>
              <a:t>scale-up</a:t>
            </a:r>
            <a:endParaRPr lang="en-US" sz="1800" dirty="0"/>
          </a:p>
        </p:txBody>
      </p:sp>
      <p:sp>
        <p:nvSpPr>
          <p:cNvPr id="6" name="Shape 4"/>
          <p:cNvSpPr/>
          <p:nvPr/>
        </p:nvSpPr>
        <p:spPr>
          <a:xfrm>
            <a:off x="3995539" y="4589114"/>
            <a:ext cx="1143000" cy="361950"/>
          </a:xfrm>
          <a:prstGeom prst="roundRect">
            <a:avLst>
              <a:gd name="adj" fmla="val 21053"/>
            </a:avLst>
          </a:prstGeom>
          <a:solidFill>
            <a:srgbClr val="FFBF81">
              <a:alpha val="34000"/>
            </a:srgbClr>
          </a:solidFill>
          <a:ln w="6350">
            <a:solidFill>
              <a:srgbClr val="FFFFFF">
                <a:alpha val="10000"/>
              </a:srgbClr>
            </a:solidFill>
            <a:prstDash val="solid"/>
          </a:ln>
        </p:spPr>
      </p:sp>
      <p:sp>
        <p:nvSpPr>
          <p:cNvPr id="7" name="Shape 5"/>
          <p:cNvSpPr/>
          <p:nvPr/>
        </p:nvSpPr>
        <p:spPr>
          <a:xfrm>
            <a:off x="3852664" y="5046314"/>
            <a:ext cx="1428750" cy="495300"/>
          </a:xfrm>
          <a:prstGeom prst="roundRect">
            <a:avLst>
              <a:gd name="adj" fmla="val 15385"/>
            </a:avLst>
          </a:prstGeom>
          <a:solidFill>
            <a:srgbClr val="FFB978">
              <a:alpha val="48000"/>
            </a:srgbClr>
          </a:solidFill>
          <a:ln w="6350">
            <a:solidFill>
              <a:srgbClr val="FFFFFF">
                <a:alpha val="10000"/>
              </a:srgbClr>
            </a:solidFill>
            <a:prstDash val="solid"/>
          </a:ln>
        </p:spPr>
      </p:sp>
      <p:sp>
        <p:nvSpPr>
          <p:cNvPr id="8" name="Shape 6"/>
          <p:cNvSpPr/>
          <p:nvPr/>
        </p:nvSpPr>
        <p:spPr>
          <a:xfrm>
            <a:off x="3662164" y="5636864"/>
            <a:ext cx="1809750" cy="666750"/>
          </a:xfrm>
          <a:prstGeom prst="roundRect">
            <a:avLst>
              <a:gd name="adj" fmla="val 11429"/>
            </a:avLst>
          </a:prstGeom>
          <a:solidFill>
            <a:srgbClr val="FFB773">
              <a:alpha val="62000"/>
            </a:srgbClr>
          </a:solidFill>
          <a:ln w="6350">
            <a:solidFill>
              <a:srgbClr val="FFFFFF">
                <a:alpha val="10000"/>
              </a:srgbClr>
            </a:solidFill>
            <a:prstDash val="solid"/>
          </a:ln>
        </p:spPr>
      </p:sp>
      <p:sp>
        <p:nvSpPr>
          <p:cNvPr id="9" name="Text 7"/>
          <p:cNvSpPr/>
          <p:nvPr/>
        </p:nvSpPr>
        <p:spPr>
          <a:xfrm>
            <a:off x="3081834" y="6551264"/>
            <a:ext cx="3267343" cy="368300"/>
          </a:xfrm>
          <a:prstGeom prst="rect">
            <a:avLst/>
          </a:prstGeom>
          <a:noFill/>
          <a:ln/>
        </p:spPr>
        <p:txBody>
          <a:bodyPr wrap="square" lIns="25400" tIns="25400" rIns="25400" bIns="25400" rtlCol="0" anchor="t">
            <a:normAutofit/>
          </a:bodyPr>
          <a:lstStyle/>
          <a:p>
            <a:pPr algn="l" indent="0" marL="0">
              <a:buNone/>
            </a:pPr>
            <a:r>
              <a:rPr lang="en-US" sz="2250" b="1" dirty="0">
                <a:solidFill>
                  <a:srgbClr val="EEF3F9"/>
                </a:solidFill>
                <a:latin typeface="Arial" pitchFamily="34" charset="0"/>
                <a:ea typeface="Arial" pitchFamily="34" charset="-122"/>
                <a:cs typeface="Arial" pitchFamily="34" charset="-120"/>
              </a:rPr>
              <a:t>Renforcer une machine</a:t>
            </a:r>
            <a:endParaRPr lang="en-US" sz="2250" dirty="0"/>
          </a:p>
        </p:txBody>
      </p:sp>
      <p:sp>
        <p:nvSpPr>
          <p:cNvPr id="10" name="Text 8"/>
          <p:cNvSpPr/>
          <p:nvPr/>
        </p:nvSpPr>
        <p:spPr>
          <a:xfrm>
            <a:off x="1360763" y="7129114"/>
            <a:ext cx="6412551" cy="783828"/>
          </a:xfrm>
          <a:prstGeom prst="rect">
            <a:avLst/>
          </a:prstGeom>
          <a:noFill/>
          <a:ln/>
        </p:spPr>
        <p:txBody>
          <a:bodyPr wrap="square" lIns="25400" tIns="25400" rIns="25400" bIns="25400" rtlCol="0" anchor="t">
            <a:normAutofit/>
          </a:bodyPr>
          <a:lstStyle/>
          <a:p>
            <a:pPr algn="ctr" indent="0" marL="0">
              <a:lnSpc>
                <a:spcPct val="124947"/>
              </a:lnSpc>
              <a:buNone/>
            </a:pPr>
            <a:r>
              <a:rPr lang="en-US" sz="2025" dirty="0">
                <a:solidFill>
                  <a:srgbClr val="8EA0B5"/>
                </a:solidFill>
                <a:latin typeface="Arial" pitchFamily="34" charset="0"/>
                <a:ea typeface="Arial" pitchFamily="34" charset="-122"/>
                <a:cs typeface="Arial" pitchFamily="34" charset="-120"/>
              </a:rPr>
              <a:t>Ajouter RAM et CPU à un serveur unique. Simple, mais plafonné.</a:t>
            </a:r>
            <a:endParaRPr lang="en-US" sz="2025" dirty="0"/>
          </a:p>
        </p:txBody>
      </p:sp>
      <p:sp>
        <p:nvSpPr>
          <p:cNvPr id="11" name="Shape 9"/>
          <p:cNvSpPr/>
          <p:nvPr/>
        </p:nvSpPr>
        <p:spPr>
          <a:xfrm>
            <a:off x="8353029" y="2446504"/>
            <a:ext cx="8868172" cy="7024192"/>
          </a:xfrm>
          <a:prstGeom prst="roundRect">
            <a:avLst>
              <a:gd name="adj" fmla="val 2712"/>
            </a:avLst>
          </a:prstGeom>
          <a:gradFill rotWithShape="1">
            <a:gsLst>
              <a:gs pos="0">
                <a:srgbClr val="52DEDE">
                  <a:alpha val="12000"/>
                </a:srgbClr>
              </a:gs>
              <a:gs pos="100000">
                <a:srgbClr val="FFFFFF">
                  <a:alpha val="3000"/>
                </a:srgbClr>
              </a:gs>
            </a:gsLst>
            <a:lin ang="4200000" scaled="0"/>
          </a:gradFill>
          <a:ln w="6350">
            <a:solidFill>
              <a:srgbClr val="81E4E1">
                <a:alpha val="37000"/>
              </a:srgbClr>
            </a:solidFill>
            <a:prstDash val="solid"/>
          </a:ln>
        </p:spPr>
      </p:sp>
      <p:sp>
        <p:nvSpPr>
          <p:cNvPr id="12" name="Text 10"/>
          <p:cNvSpPr/>
          <p:nvPr/>
        </p:nvSpPr>
        <p:spPr>
          <a:xfrm>
            <a:off x="8740378" y="4477611"/>
            <a:ext cx="3319294"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6DBDB">
                    <a:alpha val="99000"/>
                  </a:srgbClr>
                </a:solidFill>
                <a:latin typeface="Courier New" pitchFamily="34" charset="0"/>
                <a:ea typeface="Courier New" pitchFamily="34" charset="-122"/>
                <a:cs typeface="Courier New" pitchFamily="34" charset="-120"/>
              </a:rPr>
              <a:t>scale-out · horizontal</a:t>
            </a:r>
            <a:endParaRPr lang="en-US" sz="1800" dirty="0"/>
          </a:p>
        </p:txBody>
      </p:sp>
      <p:sp>
        <p:nvSpPr>
          <p:cNvPr id="13" name="Shape 11"/>
          <p:cNvSpPr/>
          <p:nvPr/>
        </p:nvSpPr>
        <p:spPr>
          <a:xfrm>
            <a:off x="10882115" y="5030062"/>
            <a:ext cx="838200" cy="838200"/>
          </a:xfrm>
          <a:prstGeom prst="roundRect">
            <a:avLst>
              <a:gd name="adj" fmla="val 13636"/>
            </a:avLst>
          </a:prstGeom>
          <a:solidFill>
            <a:srgbClr val="6EDFDF">
              <a:alpha val="38000"/>
            </a:srgbClr>
          </a:solidFill>
          <a:ln w="6350">
            <a:solidFill>
              <a:srgbClr val="6BDEDE">
                <a:alpha val="54000"/>
              </a:srgbClr>
            </a:solidFill>
            <a:prstDash val="solid"/>
          </a:ln>
        </p:spPr>
      </p:sp>
      <p:sp>
        <p:nvSpPr>
          <p:cNvPr id="14" name="Shape 12"/>
          <p:cNvSpPr/>
          <p:nvPr/>
        </p:nvSpPr>
        <p:spPr>
          <a:xfrm>
            <a:off x="11870485" y="5027832"/>
            <a:ext cx="842659" cy="842659"/>
          </a:xfrm>
          <a:prstGeom prst="roundRect">
            <a:avLst>
              <a:gd name="adj" fmla="val 13636"/>
            </a:avLst>
          </a:prstGeom>
          <a:solidFill>
            <a:srgbClr val="6EDFDF">
              <a:alpha val="38000"/>
            </a:srgbClr>
          </a:solidFill>
          <a:ln w="6384">
            <a:solidFill>
              <a:srgbClr val="6BDEDE">
                <a:alpha val="54000"/>
              </a:srgbClr>
            </a:solidFill>
            <a:prstDash val="solid"/>
          </a:ln>
        </p:spPr>
      </p:sp>
      <p:sp>
        <p:nvSpPr>
          <p:cNvPr id="15" name="Shape 13"/>
          <p:cNvSpPr/>
          <p:nvPr/>
        </p:nvSpPr>
        <p:spPr>
          <a:xfrm>
            <a:off x="12858331" y="5025078"/>
            <a:ext cx="848166" cy="848167"/>
          </a:xfrm>
          <a:prstGeom prst="roundRect">
            <a:avLst>
              <a:gd name="adj" fmla="val 13636"/>
            </a:avLst>
          </a:prstGeom>
          <a:solidFill>
            <a:srgbClr val="6EDFDF">
              <a:alpha val="38000"/>
            </a:srgbClr>
          </a:solidFill>
          <a:ln w="6426">
            <a:solidFill>
              <a:srgbClr val="6BDEDE">
                <a:alpha val="54000"/>
              </a:srgbClr>
            </a:solidFill>
            <a:prstDash val="solid"/>
          </a:ln>
        </p:spPr>
      </p:sp>
      <p:sp>
        <p:nvSpPr>
          <p:cNvPr id="16" name="Shape 14"/>
          <p:cNvSpPr/>
          <p:nvPr/>
        </p:nvSpPr>
        <p:spPr>
          <a:xfrm>
            <a:off x="13849763" y="5025910"/>
            <a:ext cx="846503" cy="846505"/>
          </a:xfrm>
          <a:prstGeom prst="roundRect">
            <a:avLst>
              <a:gd name="adj" fmla="val 13636"/>
            </a:avLst>
          </a:prstGeom>
          <a:solidFill>
            <a:srgbClr val="6EDFDF">
              <a:alpha val="38000"/>
            </a:srgbClr>
          </a:solidFill>
          <a:ln w="6413">
            <a:solidFill>
              <a:srgbClr val="6BDEDE">
                <a:alpha val="54000"/>
              </a:srgbClr>
            </a:solidFill>
            <a:prstDash val="solid"/>
          </a:ln>
        </p:spPr>
      </p:sp>
      <p:sp>
        <p:nvSpPr>
          <p:cNvPr id="17" name="Text 15"/>
          <p:cNvSpPr/>
          <p:nvPr/>
        </p:nvSpPr>
        <p:spPr>
          <a:xfrm>
            <a:off x="11341894" y="6115912"/>
            <a:ext cx="3179376" cy="368300"/>
          </a:xfrm>
          <a:prstGeom prst="rect">
            <a:avLst/>
          </a:prstGeom>
          <a:noFill/>
          <a:ln/>
        </p:spPr>
        <p:txBody>
          <a:bodyPr wrap="square" lIns="25400" tIns="25400" rIns="25400" bIns="25400" rtlCol="0" anchor="t">
            <a:normAutofit/>
          </a:bodyPr>
          <a:lstStyle/>
          <a:p>
            <a:pPr algn="l" indent="0" marL="0">
              <a:buNone/>
            </a:pPr>
            <a:r>
              <a:rPr lang="en-US" sz="2250" b="1" dirty="0">
                <a:solidFill>
                  <a:srgbClr val="EEF3F9">
                    <a:alpha val="99000"/>
                  </a:srgbClr>
                </a:solidFill>
                <a:latin typeface="Arial" pitchFamily="34" charset="0"/>
                <a:ea typeface="Arial" pitchFamily="34" charset="-122"/>
                <a:cs typeface="Arial" pitchFamily="34" charset="-120"/>
              </a:rPr>
              <a:t>Multiplier les machines</a:t>
            </a:r>
            <a:endParaRPr lang="en-US" sz="2250" dirty="0"/>
          </a:p>
        </p:txBody>
      </p:sp>
      <p:sp>
        <p:nvSpPr>
          <p:cNvPr id="18" name="Text 16"/>
          <p:cNvSpPr/>
          <p:nvPr/>
        </p:nvSpPr>
        <p:spPr>
          <a:xfrm>
            <a:off x="8618976" y="6693762"/>
            <a:ext cx="8336276" cy="783828"/>
          </a:xfrm>
          <a:prstGeom prst="rect">
            <a:avLst/>
          </a:prstGeom>
          <a:noFill/>
          <a:ln/>
        </p:spPr>
        <p:txBody>
          <a:bodyPr wrap="square" lIns="25400" tIns="25400" rIns="25400" bIns="25400" rtlCol="0" anchor="t">
            <a:normAutofit/>
          </a:bodyPr>
          <a:lstStyle/>
          <a:p>
            <a:pPr algn="ctr" indent="0" marL="0">
              <a:lnSpc>
                <a:spcPct val="124947"/>
              </a:lnSpc>
              <a:buNone/>
            </a:pPr>
            <a:r>
              <a:rPr lang="en-US" sz="2025" dirty="0">
                <a:solidFill>
                  <a:srgbClr val="8EA0B5">
                    <a:alpha val="99000"/>
                  </a:srgbClr>
                </a:solidFill>
                <a:latin typeface="Arial" pitchFamily="34" charset="0"/>
                <a:ea typeface="Arial" pitchFamily="34" charset="-122"/>
                <a:cs typeface="Arial" pitchFamily="34" charset="-120"/>
              </a:rPr>
              <a:t>Répartir données et calculs. Capacité extensible, tolérance aux pannes, coût maîtrisé.</a:t>
            </a:r>
            <a:endParaRPr lang="en-US" sz="20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121C"/>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56DBDB">
                    <a:alpha val="97000"/>
                  </a:srgbClr>
                </a:solidFill>
                <a:latin typeface="Courier New" pitchFamily="34" charset="0"/>
                <a:ea typeface="Courier New" pitchFamily="34" charset="-122"/>
                <a:cs typeface="Courier New" pitchFamily="34" charset="-120"/>
              </a:rPr>
              <a:t>ATELIER 01 · DÉFINITION</a:t>
            </a:r>
            <a:endParaRPr lang="en-US" sz="1800" dirty="0"/>
          </a:p>
        </p:txBody>
      </p:sp>
      <p:sp>
        <p:nvSpPr>
          <p:cNvPr id="3" name="Text 1"/>
          <p:cNvSpPr/>
          <p:nvPr/>
        </p:nvSpPr>
        <p:spPr>
          <a:xfrm>
            <a:off x="1066800" y="1314451"/>
            <a:ext cx="17769840"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Les 5V du Big Data</a:t>
            </a:r>
            <a:endParaRPr lang="en-US" sz="4800" dirty="0"/>
          </a:p>
        </p:txBody>
      </p:sp>
      <p:sp>
        <p:nvSpPr>
          <p:cNvPr id="4" name="Shape 2"/>
          <p:cNvSpPr/>
          <p:nvPr/>
        </p:nvSpPr>
        <p:spPr>
          <a:xfrm>
            <a:off x="1066800" y="2551861"/>
            <a:ext cx="3078460" cy="6363539"/>
          </a:xfrm>
          <a:prstGeom prst="roundRect">
            <a:avLst>
              <a:gd name="adj" fmla="val 5539"/>
            </a:avLst>
          </a:prstGeom>
          <a:solidFill>
            <a:srgbClr val="FFFFFF">
              <a:alpha val="3000"/>
            </a:srgbClr>
          </a:solidFill>
          <a:ln/>
        </p:spPr>
      </p:sp>
      <p:sp>
        <p:nvSpPr>
          <p:cNvPr id="5" name="Shape 3"/>
          <p:cNvSpPr/>
          <p:nvPr/>
        </p:nvSpPr>
        <p:spPr>
          <a:xfrm>
            <a:off x="1066800" y="8909119"/>
            <a:ext cx="3078460" cy="9525"/>
          </a:xfrm>
          <a:prstGeom prst="rect">
            <a:avLst/>
          </a:prstGeom>
          <a:solidFill>
            <a:srgbClr val="FFFFFF">
              <a:alpha val="10000"/>
            </a:srgbClr>
          </a:solidFill>
          <a:ln/>
        </p:spPr>
      </p:sp>
      <p:sp>
        <p:nvSpPr>
          <p:cNvPr id="6" name="Shape 4"/>
          <p:cNvSpPr/>
          <p:nvPr/>
        </p:nvSpPr>
        <p:spPr>
          <a:xfrm>
            <a:off x="1066800" y="2551861"/>
            <a:ext cx="3078460" cy="9525"/>
          </a:xfrm>
          <a:prstGeom prst="rect">
            <a:avLst/>
          </a:prstGeom>
          <a:solidFill>
            <a:srgbClr val="FFFFFF">
              <a:alpha val="10000"/>
            </a:srgbClr>
          </a:solidFill>
          <a:ln/>
        </p:spPr>
      </p:sp>
      <p:sp>
        <p:nvSpPr>
          <p:cNvPr id="7" name="Shape 5"/>
          <p:cNvSpPr/>
          <p:nvPr/>
        </p:nvSpPr>
        <p:spPr>
          <a:xfrm>
            <a:off x="1066800" y="2551861"/>
            <a:ext cx="9525" cy="6363539"/>
          </a:xfrm>
          <a:prstGeom prst="rect">
            <a:avLst/>
          </a:prstGeom>
          <a:solidFill>
            <a:srgbClr val="FFFFFF">
              <a:alpha val="10000"/>
            </a:srgbClr>
          </a:solidFill>
          <a:ln/>
        </p:spPr>
      </p:sp>
      <p:sp>
        <p:nvSpPr>
          <p:cNvPr id="8" name="Shape 6"/>
          <p:cNvSpPr/>
          <p:nvPr/>
        </p:nvSpPr>
        <p:spPr>
          <a:xfrm>
            <a:off x="4138910" y="2551861"/>
            <a:ext cx="9525" cy="6363539"/>
          </a:xfrm>
          <a:prstGeom prst="rect">
            <a:avLst/>
          </a:prstGeom>
          <a:solidFill>
            <a:srgbClr val="FFFFFF">
              <a:alpha val="10000"/>
            </a:srgbClr>
          </a:solidFill>
          <a:ln/>
        </p:spPr>
      </p:sp>
      <p:sp>
        <p:nvSpPr>
          <p:cNvPr id="9" name="Text 7"/>
          <p:cNvSpPr/>
          <p:nvPr/>
        </p:nvSpPr>
        <p:spPr>
          <a:xfrm>
            <a:off x="1320800" y="2878464"/>
            <a:ext cx="2827506" cy="647338"/>
          </a:xfrm>
          <a:prstGeom prst="rect">
            <a:avLst/>
          </a:prstGeom>
          <a:noFill/>
          <a:ln/>
        </p:spPr>
        <p:txBody>
          <a:bodyPr wrap="square" lIns="25400" tIns="25400" rIns="25400" bIns="25400" rtlCol="0" anchor="t">
            <a:normAutofit/>
          </a:bodyPr>
          <a:lstStyle/>
          <a:p>
            <a:pPr algn="l" indent="0" marL="0">
              <a:buNone/>
            </a:pPr>
            <a:r>
              <a:rPr lang="en-US" sz="4154" b="1" dirty="0">
                <a:solidFill>
                  <a:srgbClr val="56DBDB"/>
                </a:solidFill>
                <a:latin typeface="Arial" pitchFamily="34" charset="0"/>
                <a:ea typeface="Arial" pitchFamily="34" charset="-122"/>
                <a:cs typeface="Arial" pitchFamily="34" charset="-120"/>
              </a:rPr>
              <a:t>V</a:t>
            </a:r>
            <a:endParaRPr lang="en-US" sz="4154" dirty="0"/>
          </a:p>
        </p:txBody>
      </p:sp>
      <p:sp>
        <p:nvSpPr>
          <p:cNvPr id="10" name="Text 8"/>
          <p:cNvSpPr/>
          <p:nvPr/>
        </p:nvSpPr>
        <p:spPr>
          <a:xfrm>
            <a:off x="1320800" y="3563072"/>
            <a:ext cx="2827506" cy="364702"/>
          </a:xfrm>
          <a:prstGeom prst="rect">
            <a:avLst/>
          </a:prstGeom>
          <a:noFill/>
          <a:ln/>
        </p:spPr>
        <p:txBody>
          <a:bodyPr wrap="square" lIns="25400" tIns="25400" rIns="25400" bIns="25400" rtlCol="0" anchor="t">
            <a:normAutofit/>
          </a:bodyPr>
          <a:lstStyle/>
          <a:p>
            <a:pPr algn="l" indent="0" marL="0">
              <a:buNone/>
            </a:pPr>
            <a:r>
              <a:rPr lang="en-US" sz="2225" b="1" dirty="0">
                <a:solidFill>
                  <a:srgbClr val="EEF3F9"/>
                </a:solidFill>
                <a:latin typeface="Arial" pitchFamily="34" charset="0"/>
                <a:ea typeface="Arial" pitchFamily="34" charset="-122"/>
                <a:cs typeface="Arial" pitchFamily="34" charset="-120"/>
              </a:rPr>
              <a:t>Volume</a:t>
            </a:r>
            <a:endParaRPr lang="en-US" sz="2225" dirty="0"/>
          </a:p>
        </p:txBody>
      </p:sp>
      <p:sp>
        <p:nvSpPr>
          <p:cNvPr id="11" name="Text 9"/>
          <p:cNvSpPr/>
          <p:nvPr/>
        </p:nvSpPr>
        <p:spPr>
          <a:xfrm>
            <a:off x="1320800" y="4021571"/>
            <a:ext cx="2647574" cy="1027328"/>
          </a:xfrm>
          <a:prstGeom prst="rect">
            <a:avLst/>
          </a:prstGeom>
          <a:noFill/>
          <a:ln/>
        </p:spPr>
        <p:txBody>
          <a:bodyPr wrap="square" lIns="25400" tIns="25400" rIns="25400" bIns="25400" rtlCol="0" anchor="t">
            <a:normAutofit/>
          </a:bodyPr>
          <a:lstStyle/>
          <a:p>
            <a:pPr algn="l" indent="0" marL="0">
              <a:lnSpc>
                <a:spcPct val="122093"/>
              </a:lnSpc>
              <a:buNone/>
            </a:pPr>
            <a:r>
              <a:rPr lang="en-US" sz="1855" dirty="0">
                <a:solidFill>
                  <a:srgbClr val="8EA0B5"/>
                </a:solidFill>
                <a:latin typeface="Arial" pitchFamily="34" charset="0"/>
                <a:ea typeface="Arial" pitchFamily="34" charset="-122"/>
                <a:cs typeface="Arial" pitchFamily="34" charset="-120"/>
              </a:rPr>
              <a:t>L'échelle des données — dizaines de To jusqu'au Po.</a:t>
            </a:r>
            <a:endParaRPr lang="en-US" sz="1855" dirty="0"/>
          </a:p>
        </p:txBody>
      </p:sp>
      <p:sp>
        <p:nvSpPr>
          <p:cNvPr id="12" name="Text 10"/>
          <p:cNvSpPr/>
          <p:nvPr/>
        </p:nvSpPr>
        <p:spPr>
          <a:xfrm>
            <a:off x="1320800" y="7367966"/>
            <a:ext cx="2647574" cy="1258933"/>
          </a:xfrm>
          <a:prstGeom prst="rect">
            <a:avLst/>
          </a:prstGeom>
          <a:noFill/>
          <a:ln/>
        </p:spPr>
        <p:txBody>
          <a:bodyPr wrap="square" lIns="25400" tIns="25400" rIns="25400" bIns="25400" rtlCol="0" anchor="t">
            <a:normAutofit/>
          </a:bodyPr>
          <a:lstStyle/>
          <a:p>
            <a:pPr algn="l" indent="0" marL="0">
              <a:lnSpc>
                <a:spcPct val="115714"/>
              </a:lnSpc>
              <a:buNone/>
            </a:pPr>
            <a:r>
              <a:rPr lang="en-US" sz="1780" dirty="0">
                <a:solidFill>
                  <a:srgbClr val="56DBDB"/>
                </a:solidFill>
                <a:latin typeface="Arial" pitchFamily="34" charset="0"/>
                <a:ea typeface="Arial" pitchFamily="34" charset="-122"/>
                <a:cs typeface="Arial" pitchFamily="34" charset="-120"/>
              </a:rPr>
              <a:t>Seuil : ne tient plus sur un seul serveur → stockage distribué (HDFS, S3).</a:t>
            </a:r>
            <a:endParaRPr lang="en-US" sz="1780" dirty="0"/>
          </a:p>
        </p:txBody>
      </p:sp>
      <p:sp>
        <p:nvSpPr>
          <p:cNvPr id="13" name="Shape 11"/>
          <p:cNvSpPr/>
          <p:nvPr/>
        </p:nvSpPr>
        <p:spPr>
          <a:xfrm>
            <a:off x="4335760" y="2890674"/>
            <a:ext cx="3078559" cy="6024726"/>
          </a:xfrm>
          <a:prstGeom prst="roundRect">
            <a:avLst>
              <a:gd name="adj" fmla="val 5392"/>
            </a:avLst>
          </a:prstGeom>
          <a:solidFill>
            <a:srgbClr val="FFFFFF">
              <a:alpha val="3000"/>
            </a:srgbClr>
          </a:solidFill>
          <a:ln/>
        </p:spPr>
      </p:sp>
      <p:sp>
        <p:nvSpPr>
          <p:cNvPr id="14" name="Shape 12"/>
          <p:cNvSpPr/>
          <p:nvPr/>
        </p:nvSpPr>
        <p:spPr>
          <a:xfrm>
            <a:off x="4335760" y="8909454"/>
            <a:ext cx="3078559" cy="9525"/>
          </a:xfrm>
          <a:prstGeom prst="rect">
            <a:avLst/>
          </a:prstGeom>
          <a:solidFill>
            <a:srgbClr val="FFFFFF">
              <a:alpha val="10000"/>
            </a:srgbClr>
          </a:solidFill>
          <a:ln/>
        </p:spPr>
      </p:sp>
      <p:sp>
        <p:nvSpPr>
          <p:cNvPr id="15" name="Shape 13"/>
          <p:cNvSpPr/>
          <p:nvPr/>
        </p:nvSpPr>
        <p:spPr>
          <a:xfrm>
            <a:off x="4335760" y="2890674"/>
            <a:ext cx="3078559" cy="9525"/>
          </a:xfrm>
          <a:prstGeom prst="rect">
            <a:avLst/>
          </a:prstGeom>
          <a:solidFill>
            <a:srgbClr val="FFFFFF">
              <a:alpha val="10000"/>
            </a:srgbClr>
          </a:solidFill>
          <a:ln/>
        </p:spPr>
      </p:sp>
      <p:sp>
        <p:nvSpPr>
          <p:cNvPr id="16" name="Shape 14"/>
          <p:cNvSpPr/>
          <p:nvPr/>
        </p:nvSpPr>
        <p:spPr>
          <a:xfrm>
            <a:off x="4335760" y="2890674"/>
            <a:ext cx="9525" cy="6024726"/>
          </a:xfrm>
          <a:prstGeom prst="rect">
            <a:avLst/>
          </a:prstGeom>
          <a:solidFill>
            <a:srgbClr val="FFFFFF">
              <a:alpha val="10000"/>
            </a:srgbClr>
          </a:solidFill>
          <a:ln/>
        </p:spPr>
      </p:sp>
      <p:sp>
        <p:nvSpPr>
          <p:cNvPr id="17" name="Shape 15"/>
          <p:cNvSpPr/>
          <p:nvPr/>
        </p:nvSpPr>
        <p:spPr>
          <a:xfrm>
            <a:off x="7407970" y="2890674"/>
            <a:ext cx="9525" cy="6024726"/>
          </a:xfrm>
          <a:prstGeom prst="rect">
            <a:avLst/>
          </a:prstGeom>
          <a:solidFill>
            <a:srgbClr val="FFFFFF">
              <a:alpha val="10000"/>
            </a:srgbClr>
          </a:solidFill>
          <a:ln/>
        </p:spPr>
      </p:sp>
      <p:sp>
        <p:nvSpPr>
          <p:cNvPr id="18" name="Text 16"/>
          <p:cNvSpPr/>
          <p:nvPr/>
        </p:nvSpPr>
        <p:spPr>
          <a:xfrm>
            <a:off x="4589760" y="3199887"/>
            <a:ext cx="2827615" cy="614901"/>
          </a:xfrm>
          <a:prstGeom prst="rect">
            <a:avLst/>
          </a:prstGeom>
          <a:noFill/>
          <a:ln/>
        </p:spPr>
        <p:txBody>
          <a:bodyPr wrap="square" lIns="25400" tIns="25400" rIns="25400" bIns="25400" rtlCol="0" anchor="t">
            <a:normAutofit/>
          </a:bodyPr>
          <a:lstStyle/>
          <a:p>
            <a:pPr algn="l" indent="0" marL="0">
              <a:buNone/>
            </a:pPr>
            <a:r>
              <a:rPr lang="en-US" sz="3933" b="1" dirty="0">
                <a:solidFill>
                  <a:srgbClr val="56DBDB"/>
                </a:solidFill>
                <a:latin typeface="Arial" pitchFamily="34" charset="0"/>
                <a:ea typeface="Arial" pitchFamily="34" charset="-122"/>
                <a:cs typeface="Arial" pitchFamily="34" charset="-120"/>
              </a:rPr>
              <a:t>V</a:t>
            </a:r>
            <a:endParaRPr lang="en-US" sz="3933" dirty="0"/>
          </a:p>
        </p:txBody>
      </p:sp>
      <p:sp>
        <p:nvSpPr>
          <p:cNvPr id="19" name="Text 17"/>
          <p:cNvSpPr/>
          <p:nvPr/>
        </p:nvSpPr>
        <p:spPr>
          <a:xfrm>
            <a:off x="4589760" y="3848045"/>
            <a:ext cx="2827615" cy="347313"/>
          </a:xfrm>
          <a:prstGeom prst="rect">
            <a:avLst/>
          </a:prstGeom>
          <a:noFill/>
          <a:ln/>
        </p:spPr>
        <p:txBody>
          <a:bodyPr wrap="square" lIns="25400" tIns="25400" rIns="25400" bIns="25400" rtlCol="0" anchor="t">
            <a:normAutofit/>
          </a:bodyPr>
          <a:lstStyle/>
          <a:p>
            <a:pPr algn="l" indent="0" marL="0">
              <a:buNone/>
            </a:pPr>
            <a:r>
              <a:rPr lang="en-US" sz="2107" b="1" dirty="0">
                <a:solidFill>
                  <a:srgbClr val="EEF3F9"/>
                </a:solidFill>
                <a:latin typeface="Arial" pitchFamily="34" charset="0"/>
                <a:ea typeface="Arial" pitchFamily="34" charset="-122"/>
                <a:cs typeface="Arial" pitchFamily="34" charset="-120"/>
              </a:rPr>
              <a:t>Vélocité</a:t>
            </a:r>
            <a:endParaRPr lang="en-US" sz="2107" dirty="0"/>
          </a:p>
        </p:txBody>
      </p:sp>
      <p:sp>
        <p:nvSpPr>
          <p:cNvPr id="20" name="Text 18"/>
          <p:cNvSpPr/>
          <p:nvPr/>
        </p:nvSpPr>
        <p:spPr>
          <a:xfrm>
            <a:off x="4589760" y="4282132"/>
            <a:ext cx="2647676" cy="662472"/>
          </a:xfrm>
          <a:prstGeom prst="rect">
            <a:avLst/>
          </a:prstGeom>
          <a:noFill/>
          <a:ln/>
        </p:spPr>
        <p:txBody>
          <a:bodyPr wrap="square" lIns="25400" tIns="25400" rIns="25400" bIns="25400" rtlCol="0" anchor="t">
            <a:normAutofit/>
          </a:bodyPr>
          <a:lstStyle/>
          <a:p>
            <a:pPr algn="l" indent="0" marL="0">
              <a:lnSpc>
                <a:spcPct val="122093"/>
              </a:lnSpc>
              <a:buNone/>
            </a:pPr>
            <a:r>
              <a:rPr lang="en-US" sz="1756" dirty="0">
                <a:solidFill>
                  <a:srgbClr val="8EA0B5"/>
                </a:solidFill>
                <a:latin typeface="Arial" pitchFamily="34" charset="0"/>
                <a:ea typeface="Arial" pitchFamily="34" charset="-122"/>
                <a:cs typeface="Arial" pitchFamily="34" charset="-120"/>
              </a:rPr>
              <a:t>La vitesse d'arrivée, jusqu'au temps réel.</a:t>
            </a:r>
            <a:endParaRPr lang="en-US" sz="1756" dirty="0"/>
          </a:p>
        </p:txBody>
      </p:sp>
      <p:sp>
        <p:nvSpPr>
          <p:cNvPr id="21" name="Text 19"/>
          <p:cNvSpPr/>
          <p:nvPr/>
        </p:nvSpPr>
        <p:spPr>
          <a:xfrm>
            <a:off x="4589760" y="7450356"/>
            <a:ext cx="2647676" cy="1193931"/>
          </a:xfrm>
          <a:prstGeom prst="rect">
            <a:avLst/>
          </a:prstGeom>
          <a:noFill/>
          <a:ln/>
        </p:spPr>
        <p:txBody>
          <a:bodyPr wrap="square" lIns="25400" tIns="25400" rIns="25400" bIns="25400" rtlCol="0" anchor="t">
            <a:normAutofit/>
          </a:bodyPr>
          <a:lstStyle/>
          <a:p>
            <a:pPr algn="l" indent="0" marL="0">
              <a:lnSpc>
                <a:spcPct val="115714"/>
              </a:lnSpc>
              <a:buNone/>
            </a:pPr>
            <a:r>
              <a:rPr lang="en-US" sz="1686" dirty="0">
                <a:solidFill>
                  <a:srgbClr val="56DBDB"/>
                </a:solidFill>
                <a:latin typeface="Arial" pitchFamily="34" charset="0"/>
                <a:ea typeface="Arial" pitchFamily="34" charset="-122"/>
                <a:cs typeface="Arial" pitchFamily="34" charset="-120"/>
              </a:rPr>
              <a:t>Seuil : le batch de nuit ne suffit plus → flux (Kafka, Spark Streaming).</a:t>
            </a:r>
            <a:endParaRPr lang="en-US" sz="1686" dirty="0"/>
          </a:p>
        </p:txBody>
      </p:sp>
      <p:sp>
        <p:nvSpPr>
          <p:cNvPr id="22" name="Shape 20"/>
          <p:cNvSpPr/>
          <p:nvPr/>
        </p:nvSpPr>
        <p:spPr>
          <a:xfrm>
            <a:off x="7604820" y="3726074"/>
            <a:ext cx="3078460" cy="5189326"/>
          </a:xfrm>
          <a:prstGeom prst="roundRect">
            <a:avLst>
              <a:gd name="adj" fmla="val 5031"/>
            </a:avLst>
          </a:prstGeom>
          <a:solidFill>
            <a:srgbClr val="FFFFFF">
              <a:alpha val="3000"/>
            </a:srgbClr>
          </a:solidFill>
          <a:ln/>
        </p:spPr>
      </p:sp>
      <p:sp>
        <p:nvSpPr>
          <p:cNvPr id="23" name="Shape 21"/>
          <p:cNvSpPr/>
          <p:nvPr/>
        </p:nvSpPr>
        <p:spPr>
          <a:xfrm>
            <a:off x="7604820" y="8910278"/>
            <a:ext cx="3078460" cy="9525"/>
          </a:xfrm>
          <a:prstGeom prst="rect">
            <a:avLst/>
          </a:prstGeom>
          <a:solidFill>
            <a:srgbClr val="FFFFFF">
              <a:alpha val="10000"/>
            </a:srgbClr>
          </a:solidFill>
          <a:ln/>
        </p:spPr>
      </p:sp>
      <p:sp>
        <p:nvSpPr>
          <p:cNvPr id="24" name="Shape 22"/>
          <p:cNvSpPr/>
          <p:nvPr/>
        </p:nvSpPr>
        <p:spPr>
          <a:xfrm>
            <a:off x="7604820" y="3726074"/>
            <a:ext cx="3078460" cy="9525"/>
          </a:xfrm>
          <a:prstGeom prst="rect">
            <a:avLst/>
          </a:prstGeom>
          <a:solidFill>
            <a:srgbClr val="FFFFFF">
              <a:alpha val="10000"/>
            </a:srgbClr>
          </a:solidFill>
          <a:ln/>
        </p:spPr>
      </p:sp>
      <p:sp>
        <p:nvSpPr>
          <p:cNvPr id="25" name="Shape 23"/>
          <p:cNvSpPr/>
          <p:nvPr/>
        </p:nvSpPr>
        <p:spPr>
          <a:xfrm>
            <a:off x="7604820" y="3726074"/>
            <a:ext cx="9525" cy="5189326"/>
          </a:xfrm>
          <a:prstGeom prst="rect">
            <a:avLst/>
          </a:prstGeom>
          <a:solidFill>
            <a:srgbClr val="FFFFFF">
              <a:alpha val="10000"/>
            </a:srgbClr>
          </a:solidFill>
          <a:ln/>
        </p:spPr>
      </p:sp>
      <p:sp>
        <p:nvSpPr>
          <p:cNvPr id="26" name="Shape 24"/>
          <p:cNvSpPr/>
          <p:nvPr/>
        </p:nvSpPr>
        <p:spPr>
          <a:xfrm>
            <a:off x="10676930" y="3726074"/>
            <a:ext cx="9525" cy="5189326"/>
          </a:xfrm>
          <a:prstGeom prst="rect">
            <a:avLst/>
          </a:prstGeom>
          <a:solidFill>
            <a:srgbClr val="FFFFFF">
              <a:alpha val="10000"/>
            </a:srgbClr>
          </a:solidFill>
          <a:ln/>
        </p:spPr>
      </p:sp>
      <p:sp>
        <p:nvSpPr>
          <p:cNvPr id="27" name="Text 25"/>
          <p:cNvSpPr/>
          <p:nvPr/>
        </p:nvSpPr>
        <p:spPr>
          <a:xfrm>
            <a:off x="7858820" y="3992411"/>
            <a:ext cx="2827506" cy="534920"/>
          </a:xfrm>
          <a:prstGeom prst="rect">
            <a:avLst/>
          </a:prstGeom>
          <a:noFill/>
          <a:ln/>
        </p:spPr>
        <p:txBody>
          <a:bodyPr wrap="square" lIns="25400" tIns="25400" rIns="25400" bIns="25400" rtlCol="0" anchor="t">
            <a:normAutofit/>
          </a:bodyPr>
          <a:lstStyle/>
          <a:p>
            <a:pPr algn="l" indent="0" marL="0">
              <a:buNone/>
            </a:pPr>
            <a:r>
              <a:rPr lang="en-US" sz="3388" b="1" dirty="0">
                <a:solidFill>
                  <a:srgbClr val="56DBDB"/>
                </a:solidFill>
                <a:latin typeface="Arial" pitchFamily="34" charset="0"/>
                <a:ea typeface="Arial" pitchFamily="34" charset="-122"/>
                <a:cs typeface="Arial" pitchFamily="34" charset="-120"/>
              </a:rPr>
              <a:t>V</a:t>
            </a:r>
            <a:endParaRPr lang="en-US" sz="3388" dirty="0"/>
          </a:p>
        </p:txBody>
      </p:sp>
      <p:sp>
        <p:nvSpPr>
          <p:cNvPr id="28" name="Text 26"/>
          <p:cNvSpPr/>
          <p:nvPr/>
        </p:nvSpPr>
        <p:spPr>
          <a:xfrm>
            <a:off x="7858820" y="4550694"/>
            <a:ext cx="2827506" cy="304437"/>
          </a:xfrm>
          <a:prstGeom prst="rect">
            <a:avLst/>
          </a:prstGeom>
          <a:noFill/>
          <a:ln/>
        </p:spPr>
        <p:txBody>
          <a:bodyPr wrap="square" lIns="25400" tIns="25400" rIns="25400" bIns="25400" rtlCol="0" anchor="t">
            <a:normAutofit/>
          </a:bodyPr>
          <a:lstStyle/>
          <a:p>
            <a:pPr algn="l" indent="0" marL="0">
              <a:buNone/>
            </a:pPr>
            <a:r>
              <a:rPr lang="en-US" sz="1815" b="1" dirty="0">
                <a:solidFill>
                  <a:srgbClr val="EEF3F9"/>
                </a:solidFill>
                <a:latin typeface="Arial" pitchFamily="34" charset="0"/>
                <a:ea typeface="Arial" pitchFamily="34" charset="-122"/>
                <a:cs typeface="Arial" pitchFamily="34" charset="-120"/>
              </a:rPr>
              <a:t>Variété</a:t>
            </a:r>
            <a:endParaRPr lang="en-US" sz="1815" dirty="0"/>
          </a:p>
        </p:txBody>
      </p:sp>
      <p:sp>
        <p:nvSpPr>
          <p:cNvPr id="29" name="Text 27"/>
          <p:cNvSpPr/>
          <p:nvPr/>
        </p:nvSpPr>
        <p:spPr>
          <a:xfrm>
            <a:off x="7858820" y="4924590"/>
            <a:ext cx="2647574" cy="844793"/>
          </a:xfrm>
          <a:prstGeom prst="rect">
            <a:avLst/>
          </a:prstGeom>
          <a:noFill/>
          <a:ln/>
        </p:spPr>
        <p:txBody>
          <a:bodyPr wrap="square" lIns="25400" tIns="25400" rIns="25400" bIns="25400" rtlCol="0" anchor="t">
            <a:normAutofit/>
          </a:bodyPr>
          <a:lstStyle/>
          <a:p>
            <a:pPr algn="l" indent="0" marL="0">
              <a:lnSpc>
                <a:spcPct val="122093"/>
              </a:lnSpc>
              <a:buNone/>
            </a:pPr>
            <a:r>
              <a:rPr lang="en-US" sz="1512" dirty="0">
                <a:solidFill>
                  <a:srgbClr val="8EA0B5"/>
                </a:solidFill>
                <a:latin typeface="Arial" pitchFamily="34" charset="0"/>
                <a:ea typeface="Arial" pitchFamily="34" charset="-122"/>
                <a:cs typeface="Arial" pitchFamily="34" charset="-120"/>
              </a:rPr>
              <a:t>Structuré, semi-structuré, non structuré.</a:t>
            </a:r>
            <a:endParaRPr lang="en-US" sz="1512" dirty="0"/>
          </a:p>
        </p:txBody>
      </p:sp>
      <p:sp>
        <p:nvSpPr>
          <p:cNvPr id="30" name="Text 28"/>
          <p:cNvSpPr/>
          <p:nvPr/>
        </p:nvSpPr>
        <p:spPr>
          <a:xfrm>
            <a:off x="7858820" y="7902392"/>
            <a:ext cx="2647574" cy="784771"/>
          </a:xfrm>
          <a:prstGeom prst="rect">
            <a:avLst/>
          </a:prstGeom>
          <a:noFill/>
          <a:ln/>
        </p:spPr>
        <p:txBody>
          <a:bodyPr wrap="square" lIns="25400" tIns="25400" rIns="25400" bIns="25400" rtlCol="0" anchor="t">
            <a:normAutofit/>
          </a:bodyPr>
          <a:lstStyle/>
          <a:p>
            <a:pPr algn="l" indent="0" marL="0">
              <a:lnSpc>
                <a:spcPct val="115714"/>
              </a:lnSpc>
              <a:buNone/>
            </a:pPr>
            <a:r>
              <a:rPr lang="en-US" sz="1452" dirty="0">
                <a:solidFill>
                  <a:srgbClr val="56DBDB"/>
                </a:solidFill>
                <a:latin typeface="Arial" pitchFamily="34" charset="0"/>
                <a:ea typeface="Arial" pitchFamily="34" charset="-122"/>
                <a:cs typeface="Arial" pitchFamily="34" charset="-120"/>
              </a:rPr>
              <a:t>Seuil : formats multiples, schéma changeant → NoSQL, data lake.</a:t>
            </a:r>
            <a:endParaRPr lang="en-US" sz="1452" dirty="0"/>
          </a:p>
        </p:txBody>
      </p:sp>
      <p:sp>
        <p:nvSpPr>
          <p:cNvPr id="31" name="Shape 29"/>
          <p:cNvSpPr/>
          <p:nvPr/>
        </p:nvSpPr>
        <p:spPr>
          <a:xfrm>
            <a:off x="10873780" y="5548261"/>
            <a:ext cx="3078460" cy="3367139"/>
          </a:xfrm>
          <a:prstGeom prst="roundRect">
            <a:avLst>
              <a:gd name="adj" fmla="val 4242"/>
            </a:avLst>
          </a:prstGeom>
          <a:solidFill>
            <a:srgbClr val="FFFFFF">
              <a:alpha val="3000"/>
            </a:srgbClr>
          </a:solidFill>
          <a:ln/>
        </p:spPr>
      </p:sp>
      <p:sp>
        <p:nvSpPr>
          <p:cNvPr id="32" name="Shape 30"/>
          <p:cNvSpPr/>
          <p:nvPr/>
        </p:nvSpPr>
        <p:spPr>
          <a:xfrm>
            <a:off x="10873780" y="8912077"/>
            <a:ext cx="3078460" cy="9525"/>
          </a:xfrm>
          <a:prstGeom prst="rect">
            <a:avLst/>
          </a:prstGeom>
          <a:solidFill>
            <a:srgbClr val="FFFFFF">
              <a:alpha val="10000"/>
            </a:srgbClr>
          </a:solidFill>
          <a:ln/>
        </p:spPr>
      </p:sp>
      <p:sp>
        <p:nvSpPr>
          <p:cNvPr id="33" name="Shape 31"/>
          <p:cNvSpPr/>
          <p:nvPr/>
        </p:nvSpPr>
        <p:spPr>
          <a:xfrm>
            <a:off x="10873780" y="5548261"/>
            <a:ext cx="3078460" cy="9525"/>
          </a:xfrm>
          <a:prstGeom prst="rect">
            <a:avLst/>
          </a:prstGeom>
          <a:solidFill>
            <a:srgbClr val="FFFFFF">
              <a:alpha val="10000"/>
            </a:srgbClr>
          </a:solidFill>
          <a:ln/>
        </p:spPr>
      </p:sp>
      <p:sp>
        <p:nvSpPr>
          <p:cNvPr id="34" name="Shape 32"/>
          <p:cNvSpPr/>
          <p:nvPr/>
        </p:nvSpPr>
        <p:spPr>
          <a:xfrm>
            <a:off x="10873780" y="5548261"/>
            <a:ext cx="9525" cy="3367139"/>
          </a:xfrm>
          <a:prstGeom prst="rect">
            <a:avLst/>
          </a:prstGeom>
          <a:solidFill>
            <a:srgbClr val="FFFFFF">
              <a:alpha val="10000"/>
            </a:srgbClr>
          </a:solidFill>
          <a:ln/>
        </p:spPr>
      </p:sp>
      <p:sp>
        <p:nvSpPr>
          <p:cNvPr id="35" name="Shape 33"/>
          <p:cNvSpPr/>
          <p:nvPr/>
        </p:nvSpPr>
        <p:spPr>
          <a:xfrm>
            <a:off x="13945891" y="5548261"/>
            <a:ext cx="9525" cy="3367139"/>
          </a:xfrm>
          <a:prstGeom prst="rect">
            <a:avLst/>
          </a:prstGeom>
          <a:solidFill>
            <a:srgbClr val="FFFFFF">
              <a:alpha val="10000"/>
            </a:srgbClr>
          </a:solidFill>
          <a:ln/>
        </p:spPr>
      </p:sp>
      <p:sp>
        <p:nvSpPr>
          <p:cNvPr id="36" name="Text 34"/>
          <p:cNvSpPr/>
          <p:nvPr/>
        </p:nvSpPr>
        <p:spPr>
          <a:xfrm>
            <a:off x="11127780" y="5721076"/>
            <a:ext cx="2827506" cy="360466"/>
          </a:xfrm>
          <a:prstGeom prst="rect">
            <a:avLst/>
          </a:prstGeom>
          <a:noFill/>
          <a:ln/>
        </p:spPr>
        <p:txBody>
          <a:bodyPr wrap="square" lIns="25400" tIns="25400" rIns="25400" bIns="25400" rtlCol="0" anchor="t">
            <a:normAutofit/>
          </a:bodyPr>
          <a:lstStyle/>
          <a:p>
            <a:pPr algn="l" indent="0" marL="0">
              <a:buNone/>
            </a:pPr>
            <a:r>
              <a:rPr lang="en-US" sz="2198" b="1" dirty="0">
                <a:solidFill>
                  <a:srgbClr val="56DBDB"/>
                </a:solidFill>
                <a:latin typeface="Arial" pitchFamily="34" charset="0"/>
                <a:ea typeface="Arial" pitchFamily="34" charset="-122"/>
                <a:cs typeface="Arial" pitchFamily="34" charset="-120"/>
              </a:rPr>
              <a:t>V</a:t>
            </a:r>
            <a:endParaRPr lang="en-US" sz="2198" dirty="0"/>
          </a:p>
        </p:txBody>
      </p:sp>
      <p:sp>
        <p:nvSpPr>
          <p:cNvPr id="37" name="Text 35"/>
          <p:cNvSpPr/>
          <p:nvPr/>
        </p:nvSpPr>
        <p:spPr>
          <a:xfrm>
            <a:off x="11127780" y="6083323"/>
            <a:ext cx="2827506" cy="210915"/>
          </a:xfrm>
          <a:prstGeom prst="rect">
            <a:avLst/>
          </a:prstGeom>
          <a:noFill/>
          <a:ln/>
        </p:spPr>
        <p:txBody>
          <a:bodyPr wrap="square" lIns="25400" tIns="25400" rIns="25400" bIns="25400" rtlCol="0" anchor="t">
            <a:normAutofit/>
          </a:bodyPr>
          <a:lstStyle/>
          <a:p>
            <a:pPr algn="l" indent="0" marL="0">
              <a:buNone/>
            </a:pPr>
            <a:r>
              <a:rPr lang="en-US" sz="1178" b="1" dirty="0">
                <a:solidFill>
                  <a:srgbClr val="EEF3F9"/>
                </a:solidFill>
                <a:latin typeface="Arial" pitchFamily="34" charset="0"/>
                <a:ea typeface="Arial" pitchFamily="34" charset="-122"/>
                <a:cs typeface="Arial" pitchFamily="34" charset="-120"/>
              </a:rPr>
              <a:t>Véracité</a:t>
            </a:r>
            <a:endParaRPr lang="en-US" sz="1178" dirty="0"/>
          </a:p>
        </p:txBody>
      </p:sp>
      <p:sp>
        <p:nvSpPr>
          <p:cNvPr id="38" name="Text 36"/>
          <p:cNvSpPr/>
          <p:nvPr/>
        </p:nvSpPr>
        <p:spPr>
          <a:xfrm>
            <a:off x="11127780" y="6325929"/>
            <a:ext cx="2647574" cy="561530"/>
          </a:xfrm>
          <a:prstGeom prst="rect">
            <a:avLst/>
          </a:prstGeom>
          <a:noFill/>
          <a:ln/>
        </p:spPr>
        <p:txBody>
          <a:bodyPr wrap="square" lIns="25400" tIns="25400" rIns="25400" bIns="25400" rtlCol="0" anchor="t">
            <a:normAutofit/>
          </a:bodyPr>
          <a:lstStyle/>
          <a:p>
            <a:pPr algn="l" indent="0" marL="0">
              <a:lnSpc>
                <a:spcPct val="122093"/>
              </a:lnSpc>
              <a:buNone/>
            </a:pPr>
            <a:r>
              <a:rPr lang="en-US" sz="981" dirty="0">
                <a:solidFill>
                  <a:srgbClr val="8EA0B5"/>
                </a:solidFill>
                <a:latin typeface="Arial" pitchFamily="34" charset="0"/>
                <a:ea typeface="Arial" pitchFamily="34" charset="-122"/>
                <a:cs typeface="Arial" pitchFamily="34" charset="-120"/>
              </a:rPr>
              <a:t>Fiabilité : données bruitées, incomplètes, incohérentes.</a:t>
            </a:r>
            <a:endParaRPr lang="en-US" sz="981" dirty="0"/>
          </a:p>
        </p:txBody>
      </p:sp>
      <p:sp>
        <p:nvSpPr>
          <p:cNvPr id="39" name="Text 37"/>
          <p:cNvSpPr/>
          <p:nvPr/>
        </p:nvSpPr>
        <p:spPr>
          <a:xfrm>
            <a:off x="11127780" y="8258101"/>
            <a:ext cx="2647574" cy="522584"/>
          </a:xfrm>
          <a:prstGeom prst="rect">
            <a:avLst/>
          </a:prstGeom>
          <a:noFill/>
          <a:ln/>
        </p:spPr>
        <p:txBody>
          <a:bodyPr wrap="square" lIns="25400" tIns="25400" rIns="25400" bIns="25400" rtlCol="0" anchor="t">
            <a:normAutofit/>
          </a:bodyPr>
          <a:lstStyle/>
          <a:p>
            <a:pPr algn="l" indent="0" marL="0">
              <a:lnSpc>
                <a:spcPct val="115714"/>
              </a:lnSpc>
              <a:buNone/>
            </a:pPr>
            <a:r>
              <a:rPr lang="en-US" sz="942" dirty="0">
                <a:solidFill>
                  <a:srgbClr val="56DBDB"/>
                </a:solidFill>
                <a:latin typeface="Arial" pitchFamily="34" charset="0"/>
                <a:ea typeface="Arial" pitchFamily="34" charset="-122"/>
                <a:cs typeface="Arial" pitchFamily="34" charset="-120"/>
              </a:rPr>
              <a:t>Seuil : nettoyage manuel impossible → pipelines ETL distribués.</a:t>
            </a:r>
            <a:endParaRPr lang="en-US" sz="942" dirty="0"/>
          </a:p>
        </p:txBody>
      </p:sp>
      <p:sp>
        <p:nvSpPr>
          <p:cNvPr id="40" name="Shape 38"/>
          <p:cNvSpPr/>
          <p:nvPr/>
        </p:nvSpPr>
        <p:spPr>
          <a:xfrm>
            <a:off x="14142740" y="7711956"/>
            <a:ext cx="3078460" cy="1203444"/>
          </a:xfrm>
          <a:prstGeom prst="roundRect">
            <a:avLst>
              <a:gd name="adj" fmla="val 8456"/>
            </a:avLst>
          </a:prstGeom>
          <a:gradFill rotWithShape="1">
            <a:gsLst>
              <a:gs pos="0">
                <a:srgbClr val="FFB16F">
                  <a:alpha val="18000"/>
                </a:srgbClr>
              </a:gs>
              <a:gs pos="100000">
                <a:srgbClr val="FFFFFF">
                  <a:alpha val="3000"/>
                </a:srgbClr>
              </a:gs>
            </a:gsLst>
            <a:lin ang="4800000" scaled="0"/>
          </a:gradFill>
          <a:ln/>
        </p:spPr>
      </p:sp>
      <p:sp>
        <p:nvSpPr>
          <p:cNvPr id="41" name="Shape 39"/>
          <p:cNvSpPr/>
          <p:nvPr/>
        </p:nvSpPr>
        <p:spPr>
          <a:xfrm>
            <a:off x="14142740" y="8914213"/>
            <a:ext cx="3078460" cy="9525"/>
          </a:xfrm>
          <a:prstGeom prst="rect">
            <a:avLst/>
          </a:prstGeom>
          <a:solidFill>
            <a:srgbClr val="FFC18C">
              <a:alpha val="37000"/>
            </a:srgbClr>
          </a:solidFill>
          <a:ln/>
        </p:spPr>
      </p:sp>
      <p:sp>
        <p:nvSpPr>
          <p:cNvPr id="42" name="Shape 40"/>
          <p:cNvSpPr/>
          <p:nvPr/>
        </p:nvSpPr>
        <p:spPr>
          <a:xfrm>
            <a:off x="14142740" y="7711956"/>
            <a:ext cx="3078460" cy="9525"/>
          </a:xfrm>
          <a:prstGeom prst="rect">
            <a:avLst/>
          </a:prstGeom>
          <a:solidFill>
            <a:srgbClr val="FFC18C">
              <a:alpha val="37000"/>
            </a:srgbClr>
          </a:solidFill>
          <a:ln/>
        </p:spPr>
      </p:sp>
      <p:sp>
        <p:nvSpPr>
          <p:cNvPr id="43" name="Shape 41"/>
          <p:cNvSpPr/>
          <p:nvPr/>
        </p:nvSpPr>
        <p:spPr>
          <a:xfrm>
            <a:off x="14142740" y="7711956"/>
            <a:ext cx="9525" cy="1203444"/>
          </a:xfrm>
          <a:prstGeom prst="rect">
            <a:avLst/>
          </a:prstGeom>
          <a:solidFill>
            <a:srgbClr val="FFC18C">
              <a:alpha val="37000"/>
            </a:srgbClr>
          </a:solidFill>
          <a:ln/>
        </p:spPr>
      </p:sp>
      <p:sp>
        <p:nvSpPr>
          <p:cNvPr id="44" name="Shape 42"/>
          <p:cNvSpPr/>
          <p:nvPr/>
        </p:nvSpPr>
        <p:spPr>
          <a:xfrm>
            <a:off x="17214851" y="7711956"/>
            <a:ext cx="9525" cy="1203444"/>
          </a:xfrm>
          <a:prstGeom prst="rect">
            <a:avLst/>
          </a:prstGeom>
          <a:solidFill>
            <a:srgbClr val="FFC18C">
              <a:alpha val="37000"/>
            </a:srgbClr>
          </a:solidFill>
          <a:ln/>
        </p:spPr>
      </p:sp>
      <p:sp>
        <p:nvSpPr>
          <p:cNvPr id="45" name="Text 43"/>
          <p:cNvSpPr/>
          <p:nvPr/>
        </p:nvSpPr>
        <p:spPr>
          <a:xfrm>
            <a:off x="14396740" y="7773722"/>
            <a:ext cx="2827506" cy="153316"/>
          </a:xfrm>
          <a:prstGeom prst="rect">
            <a:avLst/>
          </a:prstGeom>
          <a:noFill/>
          <a:ln/>
        </p:spPr>
        <p:txBody>
          <a:bodyPr wrap="square" lIns="25400" tIns="25400" rIns="25400" bIns="25400" rtlCol="0" anchor="t">
            <a:normAutofit/>
          </a:bodyPr>
          <a:lstStyle/>
          <a:p>
            <a:pPr algn="l" indent="0" marL="0">
              <a:buNone/>
            </a:pPr>
            <a:r>
              <a:rPr lang="en-US" sz="786" b="1" dirty="0">
                <a:solidFill>
                  <a:srgbClr val="FFB46E"/>
                </a:solidFill>
                <a:latin typeface="Arial" pitchFamily="34" charset="0"/>
                <a:ea typeface="Arial" pitchFamily="34" charset="-122"/>
                <a:cs typeface="Arial" pitchFamily="34" charset="-120"/>
              </a:rPr>
              <a:t>V</a:t>
            </a:r>
            <a:endParaRPr lang="en-US" sz="786" dirty="0"/>
          </a:p>
        </p:txBody>
      </p:sp>
      <p:sp>
        <p:nvSpPr>
          <p:cNvPr id="46" name="Text 44"/>
          <p:cNvSpPr/>
          <p:nvPr/>
        </p:nvSpPr>
        <p:spPr>
          <a:xfrm>
            <a:off x="14396740" y="7903192"/>
            <a:ext cx="2827506" cy="99865"/>
          </a:xfrm>
          <a:prstGeom prst="rect">
            <a:avLst/>
          </a:prstGeom>
          <a:noFill/>
          <a:ln/>
        </p:spPr>
        <p:txBody>
          <a:bodyPr wrap="square" lIns="25400" tIns="25400" rIns="25400" bIns="25400" rtlCol="0" anchor="t">
            <a:normAutofit/>
          </a:bodyPr>
          <a:lstStyle/>
          <a:p>
            <a:pPr algn="l" indent="0" marL="0">
              <a:buNone/>
            </a:pPr>
            <a:r>
              <a:rPr lang="en-US" sz="421" b="1" dirty="0">
                <a:solidFill>
                  <a:srgbClr val="EEF3F9"/>
                </a:solidFill>
                <a:latin typeface="Arial" pitchFamily="34" charset="0"/>
                <a:ea typeface="Arial" pitchFamily="34" charset="-122"/>
                <a:cs typeface="Arial" pitchFamily="34" charset="-120"/>
              </a:rPr>
              <a:t>Valeur</a:t>
            </a:r>
            <a:endParaRPr lang="en-US" sz="421" dirty="0"/>
          </a:p>
        </p:txBody>
      </p:sp>
      <p:sp>
        <p:nvSpPr>
          <p:cNvPr id="47" name="Text 45"/>
          <p:cNvSpPr/>
          <p:nvPr/>
        </p:nvSpPr>
        <p:spPr>
          <a:xfrm>
            <a:off x="14396740" y="7989901"/>
            <a:ext cx="2647574" cy="162819"/>
          </a:xfrm>
          <a:prstGeom prst="rect">
            <a:avLst/>
          </a:prstGeom>
          <a:noFill/>
          <a:ln/>
        </p:spPr>
        <p:txBody>
          <a:bodyPr wrap="square" lIns="25400" tIns="25400" rIns="25400" bIns="25400" rtlCol="0" anchor="t">
            <a:normAutofit/>
          </a:bodyPr>
          <a:lstStyle/>
          <a:p>
            <a:pPr algn="l" indent="0" marL="0">
              <a:lnSpc>
                <a:spcPct val="122093"/>
              </a:lnSpc>
              <a:buNone/>
            </a:pPr>
            <a:r>
              <a:rPr lang="en-US" sz="351" dirty="0">
                <a:solidFill>
                  <a:srgbClr val="8EA0B5"/>
                </a:solidFill>
                <a:latin typeface="Arial" pitchFamily="34" charset="0"/>
                <a:ea typeface="Arial" pitchFamily="34" charset="-122"/>
                <a:cs typeface="Arial" pitchFamily="34" charset="-120"/>
              </a:rPr>
              <a:t>L'utilité business — la finalité du Big Data.</a:t>
            </a:r>
            <a:endParaRPr lang="en-US" sz="351" dirty="0"/>
          </a:p>
        </p:txBody>
      </p:sp>
      <p:sp>
        <p:nvSpPr>
          <p:cNvPr id="48" name="Text 46"/>
          <p:cNvSpPr/>
          <p:nvPr/>
        </p:nvSpPr>
        <p:spPr>
          <a:xfrm>
            <a:off x="14396740" y="8622756"/>
            <a:ext cx="2647574" cy="268979"/>
          </a:xfrm>
          <a:prstGeom prst="rect">
            <a:avLst/>
          </a:prstGeom>
          <a:noFill/>
          <a:ln/>
        </p:spPr>
        <p:txBody>
          <a:bodyPr wrap="square" lIns="25400" tIns="25400" rIns="25400" bIns="25400" rtlCol="0" anchor="t">
            <a:normAutofit/>
          </a:bodyPr>
          <a:lstStyle/>
          <a:p>
            <a:pPr algn="l" indent="0" marL="0">
              <a:lnSpc>
                <a:spcPct val="115714"/>
              </a:lnSpc>
              <a:buNone/>
            </a:pPr>
            <a:r>
              <a:rPr lang="en-US" sz="337" dirty="0">
                <a:solidFill>
                  <a:srgbClr val="FFB46E"/>
                </a:solidFill>
                <a:latin typeface="Arial" pitchFamily="34" charset="0"/>
                <a:ea typeface="Arial" pitchFamily="34" charset="-122"/>
                <a:cs typeface="Arial" pitchFamily="34" charset="-120"/>
              </a:rPr>
              <a:t>Seuil : le coût est compensé par des décisions concrètes (ML, reco).</a:t>
            </a:r>
            <a:endParaRPr lang="en-US" sz="337" dirty="0"/>
          </a:p>
        </p:txBody>
      </p:sp>
      <p:sp>
        <p:nvSpPr>
          <p:cNvPr id="49" name="Text 47"/>
          <p:cNvSpPr/>
          <p:nvPr/>
        </p:nvSpPr>
        <p:spPr>
          <a:xfrm>
            <a:off x="259080" y="9163050"/>
            <a:ext cx="17769840" cy="342900"/>
          </a:xfrm>
          <a:prstGeom prst="rect">
            <a:avLst/>
          </a:prstGeom>
          <a:noFill/>
          <a:ln/>
        </p:spPr>
        <p:txBody>
          <a:bodyPr wrap="square" lIns="25400" tIns="25400" rIns="25400" bIns="25400" rtlCol="0" anchor="t">
            <a:normAutofit/>
          </a:bodyPr>
          <a:lstStyle/>
          <a:p>
            <a:pPr algn="ctr" indent="0" marL="0">
              <a:buNone/>
            </a:pPr>
            <a:r>
              <a:rPr lang="en-US" sz="1875" dirty="0">
                <a:solidFill>
                  <a:srgbClr val="8EA0B5">
                    <a:alpha val="7000"/>
                  </a:srgbClr>
                </a:solidFill>
                <a:latin typeface="Arial" pitchFamily="34" charset="0"/>
                <a:ea typeface="Arial" pitchFamily="34" charset="-122"/>
                <a:cs typeface="Arial" pitchFamily="34" charset="-120"/>
              </a:rPr>
              <a:t>Une seule dimension atteignant son seuil suffit à justifier une architecture Big Data — les 5V ne sont pas requises simultanément.</a:t>
            </a:r>
            <a:endParaRPr lang="en-US" sz="18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121C"/>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56DBDB">
                    <a:alpha val="97000"/>
                  </a:srgbClr>
                </a:solidFill>
                <a:latin typeface="Courier New" pitchFamily="34" charset="0"/>
                <a:ea typeface="Courier New" pitchFamily="34" charset="-122"/>
                <a:cs typeface="Courier New" pitchFamily="34" charset="-120"/>
              </a:rPr>
              <a:t>ATELIER 01 · RÈGLE D'OR</a:t>
            </a:r>
            <a:endParaRPr lang="en-US" sz="1800" dirty="0"/>
          </a:p>
        </p:txBody>
      </p:sp>
      <p:sp>
        <p:nvSpPr>
          <p:cNvPr id="3" name="Text 1"/>
          <p:cNvSpPr/>
          <p:nvPr/>
        </p:nvSpPr>
        <p:spPr>
          <a:xfrm>
            <a:off x="1066800" y="1314451"/>
            <a:ext cx="10442138"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Le test pratique en trois questions</a:t>
            </a:r>
            <a:endParaRPr lang="en-US" sz="4800" dirty="0"/>
          </a:p>
        </p:txBody>
      </p:sp>
      <p:sp>
        <p:nvSpPr>
          <p:cNvPr id="4" name="Text 2"/>
          <p:cNvSpPr/>
          <p:nvPr/>
        </p:nvSpPr>
        <p:spPr>
          <a:xfrm>
            <a:off x="1066800" y="2157909"/>
            <a:ext cx="13939033" cy="921941"/>
          </a:xfrm>
          <a:prstGeom prst="rect">
            <a:avLst/>
          </a:prstGeom>
          <a:noFill/>
          <a:ln/>
        </p:spPr>
        <p:txBody>
          <a:bodyPr wrap="square" lIns="25400" tIns="25400" rIns="25400" bIns="25400" rtlCol="0" anchor="t">
            <a:normAutofit/>
          </a:bodyPr>
          <a:lstStyle/>
          <a:p>
            <a:pPr algn="l" indent="0" marL="0">
              <a:lnSpc>
                <a:spcPct val="126545"/>
              </a:lnSpc>
              <a:buNone/>
            </a:pPr>
            <a:r>
              <a:rPr lang="en-US" sz="2400" dirty="0">
                <a:solidFill>
                  <a:srgbClr val="8EA0B5">
                    <a:alpha val="91000"/>
                  </a:srgbClr>
                </a:solidFill>
                <a:latin typeface="Arial" pitchFamily="34" charset="0"/>
                <a:ea typeface="Arial" pitchFamily="34" charset="-122"/>
                <a:cs typeface="Arial" pitchFamily="34" charset="-120"/>
              </a:rPr>
              <a:t>Face à un cas concret, ces trois questions tranchent entre une architecture distribuée et un simple serveur.</a:t>
            </a:r>
            <a:endParaRPr lang="en-US" sz="2400" dirty="0"/>
          </a:p>
        </p:txBody>
      </p:sp>
      <p:sp>
        <p:nvSpPr>
          <p:cNvPr id="5" name="Shape 3"/>
          <p:cNvSpPr/>
          <p:nvPr/>
        </p:nvSpPr>
        <p:spPr>
          <a:xfrm>
            <a:off x="1066800" y="3460851"/>
            <a:ext cx="3881438" cy="6007001"/>
          </a:xfrm>
          <a:prstGeom prst="roundRect">
            <a:avLst>
              <a:gd name="adj" fmla="val 4417"/>
            </a:avLst>
          </a:prstGeom>
          <a:solidFill>
            <a:srgbClr val="FFFFFF">
              <a:alpha val="3000"/>
            </a:srgbClr>
          </a:solidFill>
          <a:ln w="6350">
            <a:solidFill>
              <a:srgbClr val="FFFFFF">
                <a:alpha val="10000"/>
              </a:srgbClr>
            </a:solidFill>
            <a:prstDash val="solid"/>
          </a:ln>
        </p:spPr>
      </p:sp>
      <p:sp>
        <p:nvSpPr>
          <p:cNvPr id="6" name="Text 4"/>
          <p:cNvSpPr/>
          <p:nvPr/>
        </p:nvSpPr>
        <p:spPr>
          <a:xfrm>
            <a:off x="1358900" y="3791051"/>
            <a:ext cx="362696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6DBDB"/>
                </a:solidFill>
                <a:latin typeface="Courier New" pitchFamily="34" charset="0"/>
                <a:ea typeface="Courier New" pitchFamily="34" charset="-122"/>
                <a:cs typeface="Courier New" pitchFamily="34" charset="-120"/>
              </a:rPr>
              <a:t>01</a:t>
            </a:r>
            <a:endParaRPr lang="en-US" sz="1800" dirty="0"/>
          </a:p>
        </p:txBody>
      </p:sp>
      <p:sp>
        <p:nvSpPr>
          <p:cNvPr id="7" name="Text 5"/>
          <p:cNvSpPr/>
          <p:nvPr/>
        </p:nvSpPr>
        <p:spPr>
          <a:xfrm>
            <a:off x="1358900" y="4229201"/>
            <a:ext cx="3626961" cy="377627"/>
          </a:xfrm>
          <a:prstGeom prst="rect">
            <a:avLst/>
          </a:prstGeom>
          <a:noFill/>
          <a:ln/>
        </p:spPr>
        <p:txBody>
          <a:bodyPr wrap="square" lIns="25400" tIns="25400" rIns="25400" bIns="25400" rtlCol="0" anchor="t">
            <a:normAutofit/>
          </a:bodyPr>
          <a:lstStyle/>
          <a:p>
            <a:pPr algn="l" indent="0" marL="0">
              <a:lnSpc>
                <a:spcPct val="99028"/>
              </a:lnSpc>
              <a:buNone/>
            </a:pPr>
            <a:r>
              <a:rPr lang="en-US" sz="2325" b="1" dirty="0">
                <a:solidFill>
                  <a:srgbClr val="EEF3F9"/>
                </a:solidFill>
                <a:latin typeface="Arial" pitchFamily="34" charset="0"/>
                <a:ea typeface="Arial" pitchFamily="34" charset="-122"/>
                <a:cs typeface="Arial" pitchFamily="34" charset="-120"/>
              </a:rPr>
              <a:t>Le test de la RAM</a:t>
            </a:r>
            <a:endParaRPr lang="en-US" sz="2325" dirty="0"/>
          </a:p>
        </p:txBody>
      </p:sp>
      <p:sp>
        <p:nvSpPr>
          <p:cNvPr id="8" name="Text 6"/>
          <p:cNvSpPr/>
          <p:nvPr/>
        </p:nvSpPr>
        <p:spPr>
          <a:xfrm>
            <a:off x="1358900" y="4702078"/>
            <a:ext cx="3396155" cy="4012704"/>
          </a:xfrm>
          <a:prstGeom prst="rect">
            <a:avLst/>
          </a:prstGeom>
          <a:noFill/>
          <a:ln/>
        </p:spPr>
        <p:txBody>
          <a:bodyPr wrap="square" lIns="25400" tIns="25400" rIns="25400" bIns="25400" rtlCol="0" anchor="t">
            <a:normAutofit/>
          </a:bodyPr>
          <a:lstStyle/>
          <a:p>
            <a:pPr algn="l" indent="0" marL="0">
              <a:lnSpc>
                <a:spcPct val="126453"/>
              </a:lnSpc>
              <a:buNone/>
            </a:pPr>
            <a:r>
              <a:rPr lang="en-US" sz="1875" dirty="0">
                <a:solidFill>
                  <a:srgbClr val="8EA0B5"/>
                </a:solidFill>
                <a:latin typeface="Arial" pitchFamily="34" charset="0"/>
                <a:ea typeface="Arial" pitchFamily="34" charset="-122"/>
                <a:cs typeface="Arial" pitchFamily="34" charset="-120"/>
              </a:rPr>
              <a:t>Les données tiennent-elles dans la mémoire d'une seule machine très performante ?</a:t>
            </a:r>
            <a:endParaRPr lang="en-US" sz="1875" dirty="0"/>
          </a:p>
        </p:txBody>
      </p:sp>
      <p:sp>
        <p:nvSpPr>
          <p:cNvPr id="9" name="Text 7"/>
          <p:cNvSpPr/>
          <p:nvPr/>
        </p:nvSpPr>
        <p:spPr>
          <a:xfrm>
            <a:off x="1358900" y="8829081"/>
            <a:ext cx="3626961" cy="34667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56DBDB"/>
                </a:solidFill>
                <a:latin typeface="Arial" pitchFamily="34" charset="0"/>
                <a:ea typeface="Arial" pitchFamily="34" charset="-122"/>
                <a:cs typeface="Arial" pitchFamily="34" charset="-120"/>
              </a:rPr>
              <a:t>Non → Big Data</a:t>
            </a:r>
            <a:endParaRPr lang="en-US" sz="1800" dirty="0"/>
          </a:p>
        </p:txBody>
      </p:sp>
      <p:sp>
        <p:nvSpPr>
          <p:cNvPr id="10" name="Shape 8"/>
          <p:cNvSpPr/>
          <p:nvPr/>
        </p:nvSpPr>
        <p:spPr>
          <a:xfrm>
            <a:off x="5157788" y="3462307"/>
            <a:ext cx="3881438" cy="6007001"/>
          </a:xfrm>
          <a:prstGeom prst="roundRect">
            <a:avLst>
              <a:gd name="adj" fmla="val 4417"/>
            </a:avLst>
          </a:prstGeom>
          <a:solidFill>
            <a:srgbClr val="FFFFFF">
              <a:alpha val="3000"/>
            </a:srgbClr>
          </a:solidFill>
          <a:ln w="6350">
            <a:solidFill>
              <a:srgbClr val="FFFFFF">
                <a:alpha val="10000"/>
              </a:srgbClr>
            </a:solidFill>
            <a:prstDash val="solid"/>
          </a:ln>
        </p:spPr>
      </p:sp>
      <p:sp>
        <p:nvSpPr>
          <p:cNvPr id="11" name="Text 9"/>
          <p:cNvSpPr/>
          <p:nvPr/>
        </p:nvSpPr>
        <p:spPr>
          <a:xfrm>
            <a:off x="5449888" y="3792507"/>
            <a:ext cx="362696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6DBDB">
                    <a:alpha val="99000"/>
                  </a:srgbClr>
                </a:solidFill>
                <a:latin typeface="Courier New" pitchFamily="34" charset="0"/>
                <a:ea typeface="Courier New" pitchFamily="34" charset="-122"/>
                <a:cs typeface="Courier New" pitchFamily="34" charset="-120"/>
              </a:rPr>
              <a:t>02</a:t>
            </a:r>
            <a:endParaRPr lang="en-US" sz="1800" dirty="0"/>
          </a:p>
        </p:txBody>
      </p:sp>
      <p:sp>
        <p:nvSpPr>
          <p:cNvPr id="12" name="Text 10"/>
          <p:cNvSpPr/>
          <p:nvPr/>
        </p:nvSpPr>
        <p:spPr>
          <a:xfrm>
            <a:off x="5449888" y="4230657"/>
            <a:ext cx="3626961" cy="377627"/>
          </a:xfrm>
          <a:prstGeom prst="rect">
            <a:avLst/>
          </a:prstGeom>
          <a:noFill/>
          <a:ln/>
        </p:spPr>
        <p:txBody>
          <a:bodyPr wrap="square" lIns="25400" tIns="25400" rIns="25400" bIns="25400" rtlCol="0" anchor="t">
            <a:normAutofit/>
          </a:bodyPr>
          <a:lstStyle/>
          <a:p>
            <a:pPr algn="l" indent="0" marL="0">
              <a:lnSpc>
                <a:spcPct val="99028"/>
              </a:lnSpc>
              <a:buNone/>
            </a:pPr>
            <a:r>
              <a:rPr lang="en-US" sz="2325" b="1" dirty="0">
                <a:solidFill>
                  <a:srgbClr val="EEF3F9">
                    <a:alpha val="99000"/>
                  </a:srgbClr>
                </a:solidFill>
                <a:latin typeface="Arial" pitchFamily="34" charset="0"/>
                <a:ea typeface="Arial" pitchFamily="34" charset="-122"/>
                <a:cs typeface="Arial" pitchFamily="34" charset="-120"/>
              </a:rPr>
              <a:t>Scale-up ou scale-out ?</a:t>
            </a:r>
            <a:endParaRPr lang="en-US" sz="2325" dirty="0"/>
          </a:p>
        </p:txBody>
      </p:sp>
      <p:sp>
        <p:nvSpPr>
          <p:cNvPr id="13" name="Text 11"/>
          <p:cNvSpPr/>
          <p:nvPr/>
        </p:nvSpPr>
        <p:spPr>
          <a:xfrm>
            <a:off x="5449888" y="4703534"/>
            <a:ext cx="3396155" cy="4012704"/>
          </a:xfrm>
          <a:prstGeom prst="rect">
            <a:avLst/>
          </a:prstGeom>
          <a:noFill/>
          <a:ln/>
        </p:spPr>
        <p:txBody>
          <a:bodyPr wrap="square" lIns="25400" tIns="25400" rIns="25400" bIns="25400" rtlCol="0" anchor="t">
            <a:normAutofit/>
          </a:bodyPr>
          <a:lstStyle/>
          <a:p>
            <a:pPr algn="l" indent="0" marL="0">
              <a:lnSpc>
                <a:spcPct val="126453"/>
              </a:lnSpc>
              <a:buNone/>
            </a:pPr>
            <a:r>
              <a:rPr lang="en-US" sz="1875" dirty="0">
                <a:solidFill>
                  <a:srgbClr val="8EA0B5">
                    <a:alpha val="99000"/>
                  </a:srgbClr>
                </a:solidFill>
                <a:latin typeface="Arial" pitchFamily="34" charset="0"/>
                <a:ea typeface="Arial" pitchFamily="34" charset="-122"/>
                <a:cs typeface="Arial" pitchFamily="34" charset="-120"/>
              </a:rPr>
              <a:t>Un serveur plus puissant suffit-il, ou faut-il obligatoirement distribuer le travail ?</a:t>
            </a:r>
            <a:endParaRPr lang="en-US" sz="1875" dirty="0"/>
          </a:p>
        </p:txBody>
      </p:sp>
      <p:sp>
        <p:nvSpPr>
          <p:cNvPr id="14" name="Text 12"/>
          <p:cNvSpPr/>
          <p:nvPr/>
        </p:nvSpPr>
        <p:spPr>
          <a:xfrm>
            <a:off x="5449888" y="8830537"/>
            <a:ext cx="3626961" cy="34667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56DBDB">
                    <a:alpha val="99000"/>
                  </a:srgbClr>
                </a:solidFill>
                <a:latin typeface="Arial" pitchFamily="34" charset="0"/>
                <a:ea typeface="Arial" pitchFamily="34" charset="-122"/>
                <a:cs typeface="Arial" pitchFamily="34" charset="-120"/>
              </a:rPr>
              <a:t>Distribution requise → Big Data</a:t>
            </a:r>
            <a:endParaRPr lang="en-US" sz="1800" dirty="0"/>
          </a:p>
        </p:txBody>
      </p:sp>
      <p:sp>
        <p:nvSpPr>
          <p:cNvPr id="15" name="Shape 13"/>
          <p:cNvSpPr/>
          <p:nvPr/>
        </p:nvSpPr>
        <p:spPr>
          <a:xfrm>
            <a:off x="9248775" y="3467624"/>
            <a:ext cx="3881438" cy="6007001"/>
          </a:xfrm>
          <a:prstGeom prst="roundRect">
            <a:avLst>
              <a:gd name="adj" fmla="val 4417"/>
            </a:avLst>
          </a:prstGeom>
          <a:solidFill>
            <a:srgbClr val="FFFFFF">
              <a:alpha val="3000"/>
            </a:srgbClr>
          </a:solidFill>
          <a:ln w="6350">
            <a:solidFill>
              <a:srgbClr val="FFFFFF">
                <a:alpha val="10000"/>
              </a:srgbClr>
            </a:solidFill>
            <a:prstDash val="solid"/>
          </a:ln>
        </p:spPr>
      </p:sp>
      <p:sp>
        <p:nvSpPr>
          <p:cNvPr id="16" name="Text 14"/>
          <p:cNvSpPr/>
          <p:nvPr/>
        </p:nvSpPr>
        <p:spPr>
          <a:xfrm>
            <a:off x="9540875" y="3797825"/>
            <a:ext cx="362696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6DBDB">
                    <a:alpha val="98000"/>
                  </a:srgbClr>
                </a:solidFill>
                <a:latin typeface="Courier New" pitchFamily="34" charset="0"/>
                <a:ea typeface="Courier New" pitchFamily="34" charset="-122"/>
                <a:cs typeface="Courier New" pitchFamily="34" charset="-120"/>
              </a:rPr>
              <a:t>03</a:t>
            </a:r>
            <a:endParaRPr lang="en-US" sz="1800" dirty="0"/>
          </a:p>
        </p:txBody>
      </p:sp>
      <p:sp>
        <p:nvSpPr>
          <p:cNvPr id="17" name="Text 15"/>
          <p:cNvSpPr/>
          <p:nvPr/>
        </p:nvSpPr>
        <p:spPr>
          <a:xfrm>
            <a:off x="9540875" y="4235975"/>
            <a:ext cx="3626961" cy="377627"/>
          </a:xfrm>
          <a:prstGeom prst="rect">
            <a:avLst/>
          </a:prstGeom>
          <a:noFill/>
          <a:ln/>
        </p:spPr>
        <p:txBody>
          <a:bodyPr wrap="square" lIns="25400" tIns="25400" rIns="25400" bIns="25400" rtlCol="0" anchor="t">
            <a:normAutofit/>
          </a:bodyPr>
          <a:lstStyle/>
          <a:p>
            <a:pPr algn="l" indent="0" marL="0">
              <a:lnSpc>
                <a:spcPct val="99028"/>
              </a:lnSpc>
              <a:buNone/>
            </a:pPr>
            <a:r>
              <a:rPr lang="en-US" sz="2325" b="1" dirty="0">
                <a:solidFill>
                  <a:srgbClr val="EEF3F9">
                    <a:alpha val="98000"/>
                  </a:srgbClr>
                </a:solidFill>
                <a:latin typeface="Arial" pitchFamily="34" charset="0"/>
                <a:ea typeface="Arial" pitchFamily="34" charset="-122"/>
                <a:cs typeface="Arial" pitchFamily="34" charset="-120"/>
              </a:rPr>
              <a:t>La rupture technologique</a:t>
            </a:r>
            <a:endParaRPr lang="en-US" sz="2325" dirty="0"/>
          </a:p>
        </p:txBody>
      </p:sp>
      <p:sp>
        <p:nvSpPr>
          <p:cNvPr id="18" name="Text 16"/>
          <p:cNvSpPr/>
          <p:nvPr/>
        </p:nvSpPr>
        <p:spPr>
          <a:xfrm>
            <a:off x="9540875" y="4708851"/>
            <a:ext cx="3396155" cy="4012704"/>
          </a:xfrm>
          <a:prstGeom prst="rect">
            <a:avLst/>
          </a:prstGeom>
          <a:noFill/>
          <a:ln/>
        </p:spPr>
        <p:txBody>
          <a:bodyPr wrap="square" lIns="25400" tIns="25400" rIns="25400" bIns="25400" rtlCol="0" anchor="t">
            <a:normAutofit/>
          </a:bodyPr>
          <a:lstStyle/>
          <a:p>
            <a:pPr algn="l" indent="0" marL="0">
              <a:lnSpc>
                <a:spcPct val="126453"/>
              </a:lnSpc>
              <a:buNone/>
            </a:pPr>
            <a:r>
              <a:rPr lang="en-US" sz="1875" dirty="0">
                <a:solidFill>
                  <a:srgbClr val="8EA0B5">
                    <a:alpha val="98000"/>
                  </a:srgbClr>
                </a:solidFill>
                <a:latin typeface="Arial" pitchFamily="34" charset="0"/>
                <a:ea typeface="Arial" pitchFamily="34" charset="-122"/>
                <a:cs typeface="Arial" pitchFamily="34" charset="-120"/>
              </a:rPr>
              <a:t>Passe-t-on plus de temps à contourner la base SQL qu'à développer le métier ?</a:t>
            </a:r>
            <a:endParaRPr lang="en-US" sz="1875" dirty="0"/>
          </a:p>
        </p:txBody>
      </p:sp>
      <p:sp>
        <p:nvSpPr>
          <p:cNvPr id="19" name="Text 17"/>
          <p:cNvSpPr/>
          <p:nvPr/>
        </p:nvSpPr>
        <p:spPr>
          <a:xfrm>
            <a:off x="9540875" y="8835855"/>
            <a:ext cx="3626961" cy="34667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56DBDB">
                    <a:alpha val="98000"/>
                  </a:srgbClr>
                </a:solidFill>
                <a:latin typeface="Arial" pitchFamily="34" charset="0"/>
                <a:ea typeface="Arial" pitchFamily="34" charset="-122"/>
                <a:cs typeface="Arial" pitchFamily="34" charset="-120"/>
              </a:rPr>
              <a:t>Oui → point de rupture</a:t>
            </a:r>
            <a:endParaRPr lang="en-US" sz="1800" dirty="0"/>
          </a:p>
        </p:txBody>
      </p:sp>
      <p:sp>
        <p:nvSpPr>
          <p:cNvPr id="20" name="Shape 18"/>
          <p:cNvSpPr/>
          <p:nvPr/>
        </p:nvSpPr>
        <p:spPr>
          <a:xfrm>
            <a:off x="13339763" y="3479803"/>
            <a:ext cx="3881438" cy="6007001"/>
          </a:xfrm>
          <a:prstGeom prst="roundRect">
            <a:avLst>
              <a:gd name="adj" fmla="val 4417"/>
            </a:avLst>
          </a:prstGeom>
          <a:gradFill rotWithShape="1">
            <a:gsLst>
              <a:gs pos="0">
                <a:srgbClr val="FFB470">
                  <a:alpha val="15000"/>
                </a:srgbClr>
              </a:gs>
              <a:gs pos="100000">
                <a:srgbClr val="FFFFFF">
                  <a:alpha val="3000"/>
                </a:srgbClr>
              </a:gs>
            </a:gsLst>
            <a:lin ang="4200000" scaled="0"/>
          </a:gradFill>
          <a:ln w="6350">
            <a:solidFill>
              <a:srgbClr val="FFC18C">
                <a:alpha val="35000"/>
              </a:srgbClr>
            </a:solidFill>
            <a:prstDash val="solid"/>
          </a:ln>
        </p:spPr>
      </p:sp>
      <p:sp>
        <p:nvSpPr>
          <p:cNvPr id="21" name="Text 19"/>
          <p:cNvSpPr/>
          <p:nvPr/>
        </p:nvSpPr>
        <p:spPr>
          <a:xfrm>
            <a:off x="13631863" y="5009657"/>
            <a:ext cx="3626961" cy="377627"/>
          </a:xfrm>
          <a:prstGeom prst="rect">
            <a:avLst/>
          </a:prstGeom>
          <a:noFill/>
          <a:ln/>
        </p:spPr>
        <p:txBody>
          <a:bodyPr wrap="square" lIns="25400" tIns="25400" rIns="25400" bIns="25400" rtlCol="0" anchor="t">
            <a:normAutofit/>
          </a:bodyPr>
          <a:lstStyle/>
          <a:p>
            <a:pPr algn="l" indent="0" marL="0">
              <a:lnSpc>
                <a:spcPct val="99028"/>
              </a:lnSpc>
              <a:buNone/>
            </a:pPr>
            <a:r>
              <a:rPr lang="en-US" sz="2325" b="1" dirty="0">
                <a:solidFill>
                  <a:srgbClr val="FFB46E">
                    <a:alpha val="93000"/>
                  </a:srgbClr>
                </a:solidFill>
                <a:latin typeface="Arial" pitchFamily="34" charset="0"/>
                <a:ea typeface="Arial" pitchFamily="34" charset="-122"/>
                <a:cs typeface="Arial" pitchFamily="34" charset="-120"/>
              </a:rPr>
              <a:t>Verdict</a:t>
            </a:r>
            <a:endParaRPr lang="en-US" sz="2325" dirty="0"/>
          </a:p>
        </p:txBody>
      </p:sp>
      <p:sp>
        <p:nvSpPr>
          <p:cNvPr id="22" name="Text 20"/>
          <p:cNvSpPr/>
          <p:nvPr/>
        </p:nvSpPr>
        <p:spPr>
          <a:xfrm>
            <a:off x="13631863" y="5482534"/>
            <a:ext cx="3396155" cy="1419225"/>
          </a:xfrm>
          <a:prstGeom prst="rect">
            <a:avLst/>
          </a:prstGeom>
          <a:noFill/>
          <a:ln/>
        </p:spPr>
        <p:txBody>
          <a:bodyPr wrap="square" lIns="25400" tIns="25400" rIns="25400" bIns="25400" rtlCol="0" anchor="t">
            <a:normAutofit/>
          </a:bodyPr>
          <a:lstStyle/>
          <a:p>
            <a:pPr algn="l" indent="0" marL="0">
              <a:lnSpc>
                <a:spcPct val="126453"/>
              </a:lnSpc>
              <a:buNone/>
            </a:pPr>
            <a:r>
              <a:rPr lang="en-US" sz="1875" dirty="0">
                <a:solidFill>
                  <a:srgbClr val="8EA0B5">
                    <a:alpha val="93000"/>
                  </a:srgbClr>
                </a:solidFill>
                <a:latin typeface="Arial" pitchFamily="34" charset="0"/>
                <a:ea typeface="Arial" pitchFamily="34" charset="-122"/>
                <a:cs typeface="Arial" pitchFamily="34" charset="-120"/>
              </a:rPr>
              <a:t>Une seule réponse pointant vers la distribution suffit à qualifier le problème de Big Data.</a:t>
            </a:r>
            <a:endParaRPr lang="en-US" sz="1875" dirty="0"/>
          </a:p>
        </p:txBody>
      </p:sp>
      <p:sp>
        <p:nvSpPr>
          <p:cNvPr id="23" name="Text 21"/>
          <p:cNvSpPr/>
          <p:nvPr/>
        </p:nvSpPr>
        <p:spPr>
          <a:xfrm>
            <a:off x="13631863" y="6997009"/>
            <a:ext cx="3396155" cy="998041"/>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8EA0B5">
                    <a:alpha val="93000"/>
                  </a:srgbClr>
                </a:solidFill>
                <a:latin typeface="Arial" pitchFamily="34" charset="0"/>
                <a:ea typeface="Arial" pitchFamily="34" charset="-122"/>
                <a:cs typeface="Arial" pitchFamily="34" charset="-120"/>
              </a:rPr>
              <a:t>Sinon : problème de données traditionnel — rester sur du simple.</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E15"/>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56DBDB">
                    <a:alpha val="97000"/>
                  </a:srgbClr>
                </a:solidFill>
                <a:latin typeface="Courier New" pitchFamily="34" charset="0"/>
                <a:ea typeface="Courier New" pitchFamily="34" charset="-122"/>
                <a:cs typeface="Courier New" pitchFamily="34" charset="-120"/>
              </a:rPr>
              <a:t>ATELIER 01 · ARCHITECTURE</a:t>
            </a:r>
            <a:endParaRPr lang="en-US" sz="1800" dirty="0"/>
          </a:p>
        </p:txBody>
      </p:sp>
      <p:sp>
        <p:nvSpPr>
          <p:cNvPr id="3" name="Text 1"/>
          <p:cNvSpPr/>
          <p:nvPr/>
        </p:nvSpPr>
        <p:spPr>
          <a:xfrm>
            <a:off x="1066800" y="1314451"/>
            <a:ext cx="9079236" cy="1305917"/>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Le principe d'une architecture distribuée</a:t>
            </a:r>
            <a:endParaRPr lang="en-US" sz="4800" dirty="0"/>
          </a:p>
        </p:txBody>
      </p:sp>
      <p:sp>
        <p:nvSpPr>
          <p:cNvPr id="4" name="Shape 2"/>
          <p:cNvSpPr/>
          <p:nvPr/>
        </p:nvSpPr>
        <p:spPr>
          <a:xfrm>
            <a:off x="3645793" y="4459784"/>
            <a:ext cx="3746500" cy="723900"/>
          </a:xfrm>
          <a:prstGeom prst="roundRect">
            <a:avLst>
              <a:gd name="adj" fmla="val 15789"/>
            </a:avLst>
          </a:prstGeom>
          <a:solidFill>
            <a:srgbClr val="FFFFFF">
              <a:alpha val="6000"/>
            </a:srgbClr>
          </a:solidFill>
          <a:ln w="6350">
            <a:solidFill>
              <a:srgbClr val="FFFFFF">
                <a:alpha val="10000"/>
              </a:srgbClr>
            </a:solidFill>
            <a:prstDash val="solid"/>
          </a:ln>
        </p:spPr>
      </p:sp>
      <p:sp>
        <p:nvSpPr>
          <p:cNvPr id="5" name="Text 3"/>
          <p:cNvSpPr/>
          <p:nvPr/>
        </p:nvSpPr>
        <p:spPr>
          <a:xfrm>
            <a:off x="4033143" y="4656634"/>
            <a:ext cx="3084195" cy="368300"/>
          </a:xfrm>
          <a:prstGeom prst="rect">
            <a:avLst/>
          </a:prstGeom>
          <a:noFill/>
          <a:ln/>
        </p:spPr>
        <p:txBody>
          <a:bodyPr wrap="square" lIns="25400" tIns="25400" rIns="25400" bIns="25400" rtlCol="0" anchor="t">
            <a:normAutofit/>
          </a:bodyPr>
          <a:lstStyle/>
          <a:p>
            <a:pPr algn="l" indent="0" marL="0">
              <a:buNone/>
            </a:pPr>
            <a:r>
              <a:rPr lang="en-US" sz="1950" dirty="0">
                <a:solidFill>
                  <a:srgbClr val="EEF3F9"/>
                </a:solidFill>
                <a:latin typeface="Courier New" pitchFamily="34" charset="0"/>
                <a:ea typeface="Courier New" pitchFamily="34" charset="-122"/>
                <a:cs typeface="Courier New" pitchFamily="34" charset="-120"/>
              </a:rPr>
              <a:t>Client / Application</a:t>
            </a:r>
            <a:endParaRPr lang="en-US" sz="1950" dirty="0"/>
          </a:p>
        </p:txBody>
      </p:sp>
      <p:sp>
        <p:nvSpPr>
          <p:cNvPr id="6" name="Shape 4"/>
          <p:cNvSpPr/>
          <p:nvPr/>
        </p:nvSpPr>
        <p:spPr>
          <a:xfrm>
            <a:off x="5509518" y="5183684"/>
            <a:ext cx="19050" cy="323850"/>
          </a:xfrm>
          <a:prstGeom prst="rect">
            <a:avLst/>
          </a:prstGeom>
          <a:solidFill>
            <a:srgbClr val="56DBDB">
              <a:alpha val="69000"/>
            </a:srgbClr>
          </a:solidFill>
          <a:ln/>
        </p:spPr>
      </p:sp>
      <p:sp>
        <p:nvSpPr>
          <p:cNvPr id="7" name="Shape 5"/>
          <p:cNvSpPr/>
          <p:nvPr/>
        </p:nvSpPr>
        <p:spPr>
          <a:xfrm>
            <a:off x="4197188" y="5506208"/>
            <a:ext cx="2643710" cy="726553"/>
          </a:xfrm>
          <a:prstGeom prst="roundRect">
            <a:avLst>
              <a:gd name="adj" fmla="val 15789"/>
            </a:avLst>
          </a:prstGeom>
          <a:gradFill rotWithShape="1">
            <a:gsLst>
              <a:gs pos="0">
                <a:srgbClr val="55DCDC">
                  <a:alpha val="20000"/>
                </a:srgbClr>
              </a:gs>
              <a:gs pos="100000">
                <a:srgbClr val="FFFFFF">
                  <a:alpha val="6000"/>
                </a:srgbClr>
              </a:gs>
            </a:gsLst>
            <a:lin ang="4200000" scaled="0"/>
          </a:gradFill>
          <a:ln w="6373">
            <a:solidFill>
              <a:srgbClr val="75E1E1">
                <a:alpha val="46000"/>
              </a:srgbClr>
            </a:solidFill>
            <a:prstDash val="solid"/>
          </a:ln>
        </p:spPr>
      </p:sp>
      <p:sp>
        <p:nvSpPr>
          <p:cNvPr id="8" name="Text 6"/>
          <p:cNvSpPr/>
          <p:nvPr/>
        </p:nvSpPr>
        <p:spPr>
          <a:xfrm>
            <a:off x="4624195" y="5703778"/>
            <a:ext cx="1869007" cy="369512"/>
          </a:xfrm>
          <a:prstGeom prst="rect">
            <a:avLst/>
          </a:prstGeom>
          <a:noFill/>
          <a:ln/>
        </p:spPr>
        <p:txBody>
          <a:bodyPr wrap="square" lIns="25400" tIns="25400" rIns="25400" bIns="25400" rtlCol="0" anchor="t">
            <a:normAutofit/>
          </a:bodyPr>
          <a:lstStyle/>
          <a:p>
            <a:pPr algn="l" indent="0" marL="0">
              <a:buNone/>
            </a:pPr>
            <a:r>
              <a:rPr lang="en-US" sz="1957" dirty="0">
                <a:solidFill>
                  <a:srgbClr val="56DBDB"/>
                </a:solidFill>
                <a:latin typeface="Courier New" pitchFamily="34" charset="0"/>
                <a:ea typeface="Courier New" pitchFamily="34" charset="-122"/>
                <a:cs typeface="Courier New" pitchFamily="34" charset="-120"/>
              </a:rPr>
              <a:t>Coordinateur</a:t>
            </a:r>
            <a:endParaRPr lang="en-US" sz="1957" dirty="0"/>
          </a:p>
        </p:txBody>
      </p:sp>
      <p:sp>
        <p:nvSpPr>
          <p:cNvPr id="9" name="Shape 7"/>
          <p:cNvSpPr/>
          <p:nvPr/>
        </p:nvSpPr>
        <p:spPr>
          <a:xfrm>
            <a:off x="5509518" y="6231434"/>
            <a:ext cx="19050" cy="323850"/>
          </a:xfrm>
          <a:prstGeom prst="rect">
            <a:avLst/>
          </a:prstGeom>
          <a:solidFill>
            <a:srgbClr val="56DBDB">
              <a:alpha val="69000"/>
            </a:srgbClr>
          </a:solidFill>
          <a:ln/>
        </p:spPr>
      </p:sp>
      <p:sp>
        <p:nvSpPr>
          <p:cNvPr id="10" name="Shape 8"/>
          <p:cNvSpPr/>
          <p:nvPr/>
        </p:nvSpPr>
        <p:spPr>
          <a:xfrm>
            <a:off x="2949782" y="6547098"/>
            <a:ext cx="1584904" cy="1470521"/>
          </a:xfrm>
          <a:prstGeom prst="roundRect">
            <a:avLst>
              <a:gd name="adj" fmla="val 7860"/>
            </a:avLst>
          </a:prstGeom>
          <a:solidFill>
            <a:srgbClr val="FFFFFF">
              <a:alpha val="3000"/>
            </a:srgbClr>
          </a:solidFill>
          <a:ln w="6422">
            <a:solidFill>
              <a:srgbClr val="FFFFFF">
                <a:alpha val="10000"/>
              </a:srgbClr>
            </a:solidFill>
            <a:prstDash val="solid"/>
          </a:ln>
        </p:spPr>
      </p:sp>
      <p:sp>
        <p:nvSpPr>
          <p:cNvPr id="11" name="Text 9"/>
          <p:cNvSpPr/>
          <p:nvPr/>
        </p:nvSpPr>
        <p:spPr>
          <a:xfrm>
            <a:off x="3149277" y="6784694"/>
            <a:ext cx="1185914" cy="339909"/>
          </a:xfrm>
          <a:prstGeom prst="rect">
            <a:avLst/>
          </a:prstGeom>
          <a:noFill/>
          <a:ln/>
        </p:spPr>
        <p:txBody>
          <a:bodyPr wrap="square" lIns="25400" tIns="25400" rIns="25400" bIns="25400" rtlCol="0" anchor="t">
            <a:normAutofit/>
          </a:bodyPr>
          <a:lstStyle/>
          <a:p>
            <a:pPr algn="ctr" indent="0" marL="0">
              <a:buNone/>
            </a:pPr>
            <a:r>
              <a:rPr lang="en-US" sz="2048" b="1" dirty="0">
                <a:solidFill>
                  <a:srgbClr val="EEF3F9"/>
                </a:solidFill>
                <a:latin typeface="Arial" pitchFamily="34" charset="0"/>
                <a:ea typeface="Arial" pitchFamily="34" charset="-122"/>
                <a:cs typeface="Arial" pitchFamily="34" charset="-120"/>
              </a:rPr>
              <a:t>Nœud 1</a:t>
            </a:r>
            <a:endParaRPr lang="en-US" sz="2048" dirty="0"/>
          </a:p>
        </p:txBody>
      </p:sp>
      <p:sp>
        <p:nvSpPr>
          <p:cNvPr id="12" name="Text 10"/>
          <p:cNvSpPr/>
          <p:nvPr/>
        </p:nvSpPr>
        <p:spPr>
          <a:xfrm>
            <a:off x="3149277" y="7163562"/>
            <a:ext cx="1185914" cy="654563"/>
          </a:xfrm>
          <a:prstGeom prst="rect">
            <a:avLst/>
          </a:prstGeom>
          <a:noFill/>
          <a:ln/>
        </p:spPr>
        <p:txBody>
          <a:bodyPr wrap="square" lIns="25400" tIns="25400" rIns="25400" bIns="25400" rtlCol="0" anchor="t">
            <a:normAutofit/>
          </a:bodyPr>
          <a:lstStyle/>
          <a:p>
            <a:pPr algn="ctr" indent="0" marL="0">
              <a:buNone/>
            </a:pPr>
            <a:r>
              <a:rPr lang="en-US" sz="1820" dirty="0">
                <a:solidFill>
                  <a:srgbClr val="8EA0B5"/>
                </a:solidFill>
                <a:latin typeface="Courier New" pitchFamily="34" charset="0"/>
                <a:ea typeface="Courier New" pitchFamily="34" charset="-122"/>
                <a:cs typeface="Courier New" pitchFamily="34" charset="-120"/>
              </a:rPr>
              <a:t>données + calcul</a:t>
            </a:r>
            <a:endParaRPr lang="en-US" sz="1820" dirty="0"/>
          </a:p>
        </p:txBody>
      </p:sp>
      <p:sp>
        <p:nvSpPr>
          <p:cNvPr id="13" name="Shape 11"/>
          <p:cNvSpPr/>
          <p:nvPr/>
        </p:nvSpPr>
        <p:spPr>
          <a:xfrm>
            <a:off x="4726726" y="6547224"/>
            <a:ext cx="1584634" cy="1470270"/>
          </a:xfrm>
          <a:prstGeom prst="roundRect">
            <a:avLst>
              <a:gd name="adj" fmla="val 7860"/>
            </a:avLst>
          </a:prstGeom>
          <a:solidFill>
            <a:srgbClr val="FFFFFF">
              <a:alpha val="3000"/>
            </a:srgbClr>
          </a:solidFill>
          <a:ln w="6420">
            <a:solidFill>
              <a:srgbClr val="FFFFFF">
                <a:alpha val="10000"/>
              </a:srgbClr>
            </a:solidFill>
            <a:prstDash val="solid"/>
          </a:ln>
        </p:spPr>
      </p:sp>
      <p:sp>
        <p:nvSpPr>
          <p:cNvPr id="14" name="Text 12"/>
          <p:cNvSpPr/>
          <p:nvPr/>
        </p:nvSpPr>
        <p:spPr>
          <a:xfrm>
            <a:off x="4926181" y="6784778"/>
            <a:ext cx="1185725" cy="339858"/>
          </a:xfrm>
          <a:prstGeom prst="rect">
            <a:avLst/>
          </a:prstGeom>
          <a:noFill/>
          <a:ln/>
        </p:spPr>
        <p:txBody>
          <a:bodyPr wrap="square" lIns="25400" tIns="25400" rIns="25400" bIns="25400" rtlCol="0" anchor="t">
            <a:normAutofit/>
          </a:bodyPr>
          <a:lstStyle/>
          <a:p>
            <a:pPr algn="ctr" indent="0" marL="0">
              <a:buNone/>
            </a:pPr>
            <a:r>
              <a:rPr lang="en-US" sz="2047" b="1" dirty="0">
                <a:solidFill>
                  <a:srgbClr val="EEF3F9"/>
                </a:solidFill>
                <a:latin typeface="Arial" pitchFamily="34" charset="0"/>
                <a:ea typeface="Arial" pitchFamily="34" charset="-122"/>
                <a:cs typeface="Arial" pitchFamily="34" charset="-120"/>
              </a:rPr>
              <a:t>Nœud 2</a:t>
            </a:r>
            <a:endParaRPr lang="en-US" sz="2047" dirty="0"/>
          </a:p>
        </p:txBody>
      </p:sp>
      <p:sp>
        <p:nvSpPr>
          <p:cNvPr id="15" name="Text 13"/>
          <p:cNvSpPr/>
          <p:nvPr/>
        </p:nvSpPr>
        <p:spPr>
          <a:xfrm>
            <a:off x="4926181" y="7163581"/>
            <a:ext cx="1185725" cy="654458"/>
          </a:xfrm>
          <a:prstGeom prst="rect">
            <a:avLst/>
          </a:prstGeom>
          <a:noFill/>
          <a:ln/>
        </p:spPr>
        <p:txBody>
          <a:bodyPr wrap="square" lIns="25400" tIns="25400" rIns="25400" bIns="25400" rtlCol="0" anchor="t">
            <a:normAutofit/>
          </a:bodyPr>
          <a:lstStyle/>
          <a:p>
            <a:pPr algn="ctr" indent="0" marL="0">
              <a:buNone/>
            </a:pPr>
            <a:r>
              <a:rPr lang="en-US" sz="1820" dirty="0">
                <a:solidFill>
                  <a:srgbClr val="8EA0B5"/>
                </a:solidFill>
                <a:latin typeface="Courier New" pitchFamily="34" charset="0"/>
                <a:ea typeface="Courier New" pitchFamily="34" charset="-122"/>
                <a:cs typeface="Courier New" pitchFamily="34" charset="-120"/>
              </a:rPr>
              <a:t>données + calcul</a:t>
            </a:r>
            <a:endParaRPr lang="en-US" sz="1820" dirty="0"/>
          </a:p>
        </p:txBody>
      </p:sp>
      <p:sp>
        <p:nvSpPr>
          <p:cNvPr id="16" name="Shape 14"/>
          <p:cNvSpPr/>
          <p:nvPr/>
        </p:nvSpPr>
        <p:spPr>
          <a:xfrm>
            <a:off x="6515164" y="6558013"/>
            <a:ext cx="1561378" cy="1448692"/>
          </a:xfrm>
          <a:prstGeom prst="roundRect">
            <a:avLst>
              <a:gd name="adj" fmla="val 7860"/>
            </a:avLst>
          </a:prstGeom>
          <a:solidFill>
            <a:srgbClr val="FFFFFF">
              <a:alpha val="3000"/>
            </a:srgbClr>
          </a:solidFill>
          <a:ln w="6326">
            <a:solidFill>
              <a:srgbClr val="FFFFFF">
                <a:alpha val="10000"/>
              </a:srgbClr>
            </a:solidFill>
            <a:prstDash val="solid"/>
          </a:ln>
        </p:spPr>
      </p:sp>
      <p:sp>
        <p:nvSpPr>
          <p:cNvPr id="17" name="Text 15"/>
          <p:cNvSpPr/>
          <p:nvPr/>
        </p:nvSpPr>
        <p:spPr>
          <a:xfrm>
            <a:off x="6711132" y="6792081"/>
            <a:ext cx="1169440" cy="335430"/>
          </a:xfrm>
          <a:prstGeom prst="rect">
            <a:avLst/>
          </a:prstGeom>
          <a:noFill/>
          <a:ln/>
        </p:spPr>
        <p:txBody>
          <a:bodyPr wrap="square" lIns="25400" tIns="25400" rIns="25400" bIns="25400" rtlCol="0" anchor="t">
            <a:normAutofit/>
          </a:bodyPr>
          <a:lstStyle/>
          <a:p>
            <a:pPr algn="ctr" indent="0" marL="0">
              <a:buNone/>
            </a:pPr>
            <a:r>
              <a:rPr lang="en-US" sz="2017" b="1" dirty="0">
                <a:solidFill>
                  <a:srgbClr val="EEF3F9">
                    <a:alpha val="98000"/>
                  </a:srgbClr>
                </a:solidFill>
                <a:latin typeface="Arial" pitchFamily="34" charset="0"/>
                <a:ea typeface="Arial" pitchFamily="34" charset="-122"/>
                <a:cs typeface="Arial" pitchFamily="34" charset="-120"/>
              </a:rPr>
              <a:t>Nœud 3</a:t>
            </a:r>
            <a:endParaRPr lang="en-US" sz="2017" dirty="0"/>
          </a:p>
        </p:txBody>
      </p:sp>
      <p:sp>
        <p:nvSpPr>
          <p:cNvPr id="18" name="Text 16"/>
          <p:cNvSpPr/>
          <p:nvPr/>
        </p:nvSpPr>
        <p:spPr>
          <a:xfrm>
            <a:off x="6711132" y="7165325"/>
            <a:ext cx="1169440" cy="645412"/>
          </a:xfrm>
          <a:prstGeom prst="rect">
            <a:avLst/>
          </a:prstGeom>
          <a:noFill/>
          <a:ln/>
        </p:spPr>
        <p:txBody>
          <a:bodyPr wrap="square" lIns="25400" tIns="25400" rIns="25400" bIns="25400" rtlCol="0" anchor="t">
            <a:normAutofit/>
          </a:bodyPr>
          <a:lstStyle/>
          <a:p>
            <a:pPr algn="ctr" indent="0" marL="0">
              <a:buNone/>
            </a:pPr>
            <a:r>
              <a:rPr lang="en-US" sz="1793" dirty="0">
                <a:solidFill>
                  <a:srgbClr val="8EA0B5">
                    <a:alpha val="98000"/>
                  </a:srgbClr>
                </a:solidFill>
                <a:latin typeface="Courier New" pitchFamily="34" charset="0"/>
                <a:ea typeface="Courier New" pitchFamily="34" charset="-122"/>
                <a:cs typeface="Courier New" pitchFamily="34" charset="-120"/>
              </a:rPr>
              <a:t>données + calcul</a:t>
            </a:r>
            <a:endParaRPr lang="en-US" sz="1793" dirty="0"/>
          </a:p>
        </p:txBody>
      </p:sp>
      <p:sp>
        <p:nvSpPr>
          <p:cNvPr id="19" name="Text 17"/>
          <p:cNvSpPr/>
          <p:nvPr/>
        </p:nvSpPr>
        <p:spPr>
          <a:xfrm>
            <a:off x="10542787" y="4752578"/>
            <a:ext cx="361950" cy="406400"/>
          </a:xfrm>
          <a:prstGeom prst="rect">
            <a:avLst/>
          </a:prstGeom>
          <a:noFill/>
          <a:ln/>
        </p:spPr>
        <p:txBody>
          <a:bodyPr wrap="square" lIns="25400" tIns="25400" rIns="25400" bIns="25400" rtlCol="0" anchor="t">
            <a:normAutofit/>
          </a:bodyPr>
          <a:lstStyle/>
          <a:p>
            <a:pPr algn="l" indent="0" marL="0">
              <a:buNone/>
            </a:pPr>
            <a:r>
              <a:rPr lang="en-US" sz="2250" dirty="0">
                <a:solidFill>
                  <a:srgbClr val="56DBDB"/>
                </a:solidFill>
                <a:latin typeface="Arial" pitchFamily="34" charset="0"/>
                <a:ea typeface="Arial" pitchFamily="34" charset="-122"/>
                <a:cs typeface="Arial" pitchFamily="34" charset="-120"/>
              </a:rPr>
              <a:t>→</a:t>
            </a:r>
            <a:endParaRPr lang="en-US" sz="2250" dirty="0"/>
          </a:p>
        </p:txBody>
      </p:sp>
      <p:sp>
        <p:nvSpPr>
          <p:cNvPr id="20" name="Text 18"/>
          <p:cNvSpPr/>
          <p:nvPr/>
        </p:nvSpPr>
        <p:spPr>
          <a:xfrm>
            <a:off x="10999987" y="4752578"/>
            <a:ext cx="6407851" cy="861020"/>
          </a:xfrm>
          <a:prstGeom prst="rect">
            <a:avLst/>
          </a:prstGeom>
          <a:noFill/>
          <a:ln/>
        </p:spPr>
        <p:txBody>
          <a:bodyPr wrap="square" lIns="25400" tIns="25400" rIns="25400" bIns="25400" rtlCol="0" anchor="t">
            <a:normAutofit/>
          </a:bodyPr>
          <a:lstStyle/>
          <a:p>
            <a:pPr algn="l" indent="0" marL="0">
              <a:lnSpc>
                <a:spcPct val="117818"/>
              </a:lnSpc>
              <a:buNone/>
            </a:pPr>
            <a:r>
              <a:rPr lang="en-US" sz="2400" dirty="0">
                <a:solidFill>
                  <a:srgbClr val="EEF3F9"/>
                </a:solidFill>
                <a:latin typeface="Arial" pitchFamily="34" charset="0"/>
                <a:ea typeface="Arial" pitchFamily="34" charset="-122"/>
                <a:cs typeface="Arial" pitchFamily="34" charset="-120"/>
              </a:rPr>
              <a:t>Capacité extensible : il suffit d'ajouter des machines</a:t>
            </a:r>
            <a:endParaRPr lang="en-US" sz="2400" dirty="0"/>
          </a:p>
        </p:txBody>
      </p:sp>
      <p:sp>
        <p:nvSpPr>
          <p:cNvPr id="21" name="Text 19"/>
          <p:cNvSpPr/>
          <p:nvPr/>
        </p:nvSpPr>
        <p:spPr>
          <a:xfrm>
            <a:off x="10541937" y="5823149"/>
            <a:ext cx="361950" cy="406400"/>
          </a:xfrm>
          <a:prstGeom prst="rect">
            <a:avLst/>
          </a:prstGeom>
          <a:noFill/>
          <a:ln/>
        </p:spPr>
        <p:txBody>
          <a:bodyPr wrap="square" lIns="25400" tIns="25400" rIns="25400" bIns="25400" rtlCol="0" anchor="t">
            <a:normAutofit/>
          </a:bodyPr>
          <a:lstStyle/>
          <a:p>
            <a:pPr algn="l" indent="0" marL="0">
              <a:buNone/>
            </a:pPr>
            <a:r>
              <a:rPr lang="en-US" sz="2250" dirty="0">
                <a:solidFill>
                  <a:srgbClr val="56DBDB"/>
                </a:solidFill>
                <a:latin typeface="Arial" pitchFamily="34" charset="0"/>
                <a:ea typeface="Arial" pitchFamily="34" charset="-122"/>
                <a:cs typeface="Arial" pitchFamily="34" charset="-120"/>
              </a:rPr>
              <a:t>→</a:t>
            </a:r>
            <a:endParaRPr lang="en-US" sz="2250" dirty="0"/>
          </a:p>
        </p:txBody>
      </p:sp>
      <p:sp>
        <p:nvSpPr>
          <p:cNvPr id="22" name="Text 20"/>
          <p:cNvSpPr/>
          <p:nvPr/>
        </p:nvSpPr>
        <p:spPr>
          <a:xfrm>
            <a:off x="10999137" y="5823149"/>
            <a:ext cx="6407851" cy="861020"/>
          </a:xfrm>
          <a:prstGeom prst="rect">
            <a:avLst/>
          </a:prstGeom>
          <a:noFill/>
          <a:ln/>
        </p:spPr>
        <p:txBody>
          <a:bodyPr wrap="square" lIns="25400" tIns="25400" rIns="25400" bIns="25400" rtlCol="0" anchor="t">
            <a:normAutofit/>
          </a:bodyPr>
          <a:lstStyle/>
          <a:p>
            <a:pPr algn="l" indent="0" marL="0">
              <a:lnSpc>
                <a:spcPct val="117818"/>
              </a:lnSpc>
              <a:buNone/>
            </a:pPr>
            <a:r>
              <a:rPr lang="en-US" sz="2400" dirty="0">
                <a:solidFill>
                  <a:srgbClr val="EEF3F9"/>
                </a:solidFill>
                <a:latin typeface="Arial" pitchFamily="34" charset="0"/>
                <a:ea typeface="Arial" pitchFamily="34" charset="-122"/>
                <a:cs typeface="Arial" pitchFamily="34" charset="-120"/>
              </a:rPr>
              <a:t>Tolérance aux pannes grâce à la réplication des données</a:t>
            </a:r>
            <a:endParaRPr lang="en-US" sz="2400" dirty="0"/>
          </a:p>
        </p:txBody>
      </p:sp>
      <p:sp>
        <p:nvSpPr>
          <p:cNvPr id="23" name="Text 21"/>
          <p:cNvSpPr/>
          <p:nvPr/>
        </p:nvSpPr>
        <p:spPr>
          <a:xfrm>
            <a:off x="10537838" y="6893719"/>
            <a:ext cx="361950" cy="406400"/>
          </a:xfrm>
          <a:prstGeom prst="rect">
            <a:avLst/>
          </a:prstGeom>
          <a:noFill/>
          <a:ln/>
        </p:spPr>
        <p:txBody>
          <a:bodyPr wrap="square" lIns="25400" tIns="25400" rIns="25400" bIns="25400" rtlCol="0" anchor="t">
            <a:normAutofit/>
          </a:bodyPr>
          <a:lstStyle/>
          <a:p>
            <a:pPr algn="l" indent="0" marL="0">
              <a:buNone/>
            </a:pPr>
            <a:r>
              <a:rPr lang="en-US" sz="2250" dirty="0">
                <a:solidFill>
                  <a:srgbClr val="56DBDB">
                    <a:alpha val="98000"/>
                  </a:srgbClr>
                </a:solidFill>
                <a:latin typeface="Arial" pitchFamily="34" charset="0"/>
                <a:ea typeface="Arial" pitchFamily="34" charset="-122"/>
                <a:cs typeface="Arial" pitchFamily="34" charset="-120"/>
              </a:rPr>
              <a:t>→</a:t>
            </a:r>
            <a:endParaRPr lang="en-US" sz="2250" dirty="0"/>
          </a:p>
        </p:txBody>
      </p:sp>
      <p:sp>
        <p:nvSpPr>
          <p:cNvPr id="24" name="Text 22"/>
          <p:cNvSpPr/>
          <p:nvPr/>
        </p:nvSpPr>
        <p:spPr>
          <a:xfrm>
            <a:off x="10995038" y="6893719"/>
            <a:ext cx="6407851" cy="861020"/>
          </a:xfrm>
          <a:prstGeom prst="rect">
            <a:avLst/>
          </a:prstGeom>
          <a:noFill/>
          <a:ln/>
        </p:spPr>
        <p:txBody>
          <a:bodyPr wrap="square" lIns="25400" tIns="25400" rIns="25400" bIns="25400" rtlCol="0" anchor="t">
            <a:normAutofit/>
          </a:bodyPr>
          <a:lstStyle/>
          <a:p>
            <a:pPr algn="l" indent="0" marL="0">
              <a:lnSpc>
                <a:spcPct val="117818"/>
              </a:lnSpc>
              <a:buNone/>
            </a:pPr>
            <a:r>
              <a:rPr lang="en-US" sz="2400" dirty="0">
                <a:solidFill>
                  <a:srgbClr val="EEF3F9">
                    <a:alpha val="98000"/>
                  </a:srgbClr>
                </a:solidFill>
                <a:latin typeface="Arial" pitchFamily="34" charset="0"/>
                <a:ea typeface="Arial" pitchFamily="34" charset="-122"/>
                <a:cs typeface="Arial" pitchFamily="34" charset="-120"/>
              </a:rPr>
              <a:t>Coût maîtrisé : des machines standard plutôt qu'un serveur surdimensionné</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121C"/>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56DBDB">
                    <a:alpha val="97000"/>
                  </a:srgbClr>
                </a:solidFill>
                <a:latin typeface="Courier New" pitchFamily="34" charset="0"/>
                <a:ea typeface="Courier New" pitchFamily="34" charset="-122"/>
                <a:cs typeface="Courier New" pitchFamily="34" charset="-120"/>
              </a:rPr>
              <a:t>ATELIER 01 · VALEUR</a:t>
            </a:r>
            <a:endParaRPr lang="en-US" sz="1800" dirty="0"/>
          </a:p>
        </p:txBody>
      </p:sp>
      <p:sp>
        <p:nvSpPr>
          <p:cNvPr id="3" name="Text 1"/>
          <p:cNvSpPr/>
          <p:nvPr/>
        </p:nvSpPr>
        <p:spPr>
          <a:xfrm>
            <a:off x="1066800" y="1314450"/>
            <a:ext cx="8380833" cy="1305917"/>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Les quatre niveaux d'analytique</a:t>
            </a:r>
            <a:endParaRPr lang="en-US" sz="4800" dirty="0"/>
          </a:p>
        </p:txBody>
      </p:sp>
      <p:sp>
        <p:nvSpPr>
          <p:cNvPr id="4" name="Shape 2"/>
          <p:cNvSpPr/>
          <p:nvPr/>
        </p:nvSpPr>
        <p:spPr>
          <a:xfrm>
            <a:off x="1066800" y="5685463"/>
            <a:ext cx="3910013" cy="3268037"/>
          </a:xfrm>
          <a:custGeom>
            <a:avLst/>
            <a:gdLst/>
            <a:ahLst/>
            <a:cxnLst/>
            <a:rect l="l" t="t" r="r" b="b"/>
            <a:pathLst>
              <a:path w="3910013" h="3268037">
                <a:moveTo>
                  <a:pt x="151880" y="0"/>
                </a:moveTo>
                <a:lnTo>
                  <a:pt x="3758132" y="0"/>
                </a:lnTo>
                <a:arcTo hR="151880" wR="151880" stAng="16200000" swAng="5400000"/>
                <a:lnTo>
                  <a:pt x="3910013" y="3268037"/>
                </a:lnTo>
                <a:lnTo>
                  <a:pt x="0" y="3268037"/>
                </a:lnTo>
                <a:lnTo>
                  <a:pt x="0" y="151880"/>
                </a:lnTo>
                <a:arcTo hR="151880" wR="151880" stAng="10800000" swAng="5400000"/>
                <a:close/>
              </a:path>
            </a:pathLst>
          </a:custGeom>
          <a:gradFill rotWithShape="1">
            <a:gsLst>
              <a:gs pos="0">
                <a:srgbClr val="55DCDC">
                  <a:alpha val="26000"/>
                </a:srgbClr>
              </a:gs>
              <a:gs pos="100000">
                <a:srgbClr val="FFFFFF">
                  <a:alpha val="3000"/>
                </a:srgbClr>
              </a:gs>
            </a:gsLst>
            <a:lin ang="5400000" scaled="0"/>
          </a:gradFill>
          <a:ln/>
        </p:spPr>
      </p:sp>
      <p:sp>
        <p:nvSpPr>
          <p:cNvPr id="5" name="Shape 3"/>
          <p:cNvSpPr/>
          <p:nvPr/>
        </p:nvSpPr>
        <p:spPr>
          <a:xfrm>
            <a:off x="1066800" y="8947194"/>
            <a:ext cx="3910013" cy="9525"/>
          </a:xfrm>
          <a:prstGeom prst="rect">
            <a:avLst/>
          </a:prstGeom>
          <a:solidFill>
            <a:srgbClr val="78E0E0">
              <a:alpha val="42000"/>
            </a:srgbClr>
          </a:solidFill>
          <a:ln/>
        </p:spPr>
      </p:sp>
      <p:sp>
        <p:nvSpPr>
          <p:cNvPr id="6" name="Shape 4"/>
          <p:cNvSpPr/>
          <p:nvPr/>
        </p:nvSpPr>
        <p:spPr>
          <a:xfrm>
            <a:off x="1066800" y="5685463"/>
            <a:ext cx="3910013" cy="9525"/>
          </a:xfrm>
          <a:prstGeom prst="rect">
            <a:avLst/>
          </a:prstGeom>
          <a:solidFill>
            <a:srgbClr val="78E0E0">
              <a:alpha val="42000"/>
            </a:srgbClr>
          </a:solidFill>
          <a:ln/>
        </p:spPr>
      </p:sp>
      <p:sp>
        <p:nvSpPr>
          <p:cNvPr id="7" name="Shape 5"/>
          <p:cNvSpPr/>
          <p:nvPr/>
        </p:nvSpPr>
        <p:spPr>
          <a:xfrm>
            <a:off x="1066800" y="5685463"/>
            <a:ext cx="9525" cy="3268037"/>
          </a:xfrm>
          <a:prstGeom prst="rect">
            <a:avLst/>
          </a:prstGeom>
          <a:solidFill>
            <a:srgbClr val="78E0E0">
              <a:alpha val="42000"/>
            </a:srgbClr>
          </a:solidFill>
          <a:ln/>
        </p:spPr>
      </p:sp>
      <p:sp>
        <p:nvSpPr>
          <p:cNvPr id="8" name="Shape 6"/>
          <p:cNvSpPr/>
          <p:nvPr/>
        </p:nvSpPr>
        <p:spPr>
          <a:xfrm>
            <a:off x="4970462" y="5685463"/>
            <a:ext cx="9525" cy="3268037"/>
          </a:xfrm>
          <a:prstGeom prst="rect">
            <a:avLst/>
          </a:prstGeom>
          <a:solidFill>
            <a:srgbClr val="78E0E0">
              <a:alpha val="42000"/>
            </a:srgbClr>
          </a:solidFill>
          <a:ln/>
        </p:spPr>
      </p:sp>
      <p:sp>
        <p:nvSpPr>
          <p:cNvPr id="9" name="Text 7"/>
          <p:cNvSpPr/>
          <p:nvPr/>
        </p:nvSpPr>
        <p:spPr>
          <a:xfrm>
            <a:off x="1320800" y="7513116"/>
            <a:ext cx="3742214" cy="340820"/>
          </a:xfrm>
          <a:prstGeom prst="rect">
            <a:avLst/>
          </a:prstGeom>
          <a:noFill/>
          <a:ln/>
        </p:spPr>
        <p:txBody>
          <a:bodyPr wrap="square" lIns="25400" tIns="25400" rIns="25400" bIns="25400" rtlCol="0" anchor="t">
            <a:normAutofit/>
          </a:bodyPr>
          <a:lstStyle/>
          <a:p>
            <a:pPr algn="l" indent="0" marL="0">
              <a:buNone/>
            </a:pPr>
            <a:r>
              <a:rPr lang="en-US" sz="1788" dirty="0">
                <a:solidFill>
                  <a:srgbClr val="56DBDB"/>
                </a:solidFill>
                <a:latin typeface="Courier New" pitchFamily="34" charset="0"/>
                <a:ea typeface="Courier New" pitchFamily="34" charset="-122"/>
                <a:cs typeface="Courier New" pitchFamily="34" charset="-120"/>
              </a:rPr>
              <a:t>Que s'est-il passé ?</a:t>
            </a:r>
            <a:endParaRPr lang="en-US" sz="1788" dirty="0"/>
          </a:p>
        </p:txBody>
      </p:sp>
      <p:sp>
        <p:nvSpPr>
          <p:cNvPr id="10" name="Text 8"/>
          <p:cNvSpPr/>
          <p:nvPr/>
        </p:nvSpPr>
        <p:spPr>
          <a:xfrm>
            <a:off x="1320800" y="7910436"/>
            <a:ext cx="3742214" cy="378661"/>
          </a:xfrm>
          <a:prstGeom prst="rect">
            <a:avLst/>
          </a:prstGeom>
          <a:noFill/>
          <a:ln/>
        </p:spPr>
        <p:txBody>
          <a:bodyPr wrap="square" lIns="25400" tIns="25400" rIns="25400" bIns="25400" rtlCol="0" anchor="t">
            <a:normAutofit/>
          </a:bodyPr>
          <a:lstStyle/>
          <a:p>
            <a:pPr algn="l" indent="0" marL="0">
              <a:buNone/>
            </a:pPr>
            <a:r>
              <a:rPr lang="en-US" sz="2309" b="1" dirty="0">
                <a:solidFill>
                  <a:srgbClr val="EEF3F9"/>
                </a:solidFill>
                <a:latin typeface="Arial" pitchFamily="34" charset="0"/>
                <a:ea typeface="Arial" pitchFamily="34" charset="-122"/>
                <a:cs typeface="Arial" pitchFamily="34" charset="-120"/>
              </a:rPr>
              <a:t>Descriptive</a:t>
            </a:r>
            <a:endParaRPr lang="en-US" sz="2309" dirty="0"/>
          </a:p>
        </p:txBody>
      </p:sp>
      <p:sp>
        <p:nvSpPr>
          <p:cNvPr id="11" name="Text 9"/>
          <p:cNvSpPr/>
          <p:nvPr/>
        </p:nvSpPr>
        <p:spPr>
          <a:xfrm>
            <a:off x="1320800" y="8345596"/>
            <a:ext cx="3742214" cy="355897"/>
          </a:xfrm>
          <a:prstGeom prst="rect">
            <a:avLst/>
          </a:prstGeom>
          <a:noFill/>
          <a:ln/>
        </p:spPr>
        <p:txBody>
          <a:bodyPr wrap="square" lIns="25400" tIns="25400" rIns="25400" bIns="25400" rtlCol="0" anchor="t">
            <a:normAutofit/>
          </a:bodyPr>
          <a:lstStyle/>
          <a:p>
            <a:pPr algn="l" indent="0" marL="0">
              <a:lnSpc>
                <a:spcPct val="120000"/>
              </a:lnSpc>
              <a:buNone/>
            </a:pPr>
            <a:r>
              <a:rPr lang="en-US" sz="1788" dirty="0">
                <a:solidFill>
                  <a:srgbClr val="8EA0B5"/>
                </a:solidFill>
                <a:latin typeface="Arial" pitchFamily="34" charset="0"/>
                <a:ea typeface="Arial" pitchFamily="34" charset="-122"/>
                <a:cs typeface="Arial" pitchFamily="34" charset="-120"/>
              </a:rPr>
              <a:t>CA du mois par magasin</a:t>
            </a:r>
            <a:endParaRPr lang="en-US" sz="1788" dirty="0"/>
          </a:p>
        </p:txBody>
      </p:sp>
      <p:sp>
        <p:nvSpPr>
          <p:cNvPr id="12" name="Shape 10"/>
          <p:cNvSpPr/>
          <p:nvPr/>
        </p:nvSpPr>
        <p:spPr>
          <a:xfrm>
            <a:off x="5148263" y="5113980"/>
            <a:ext cx="3910013" cy="3839520"/>
          </a:xfrm>
          <a:custGeom>
            <a:avLst/>
            <a:gdLst/>
            <a:ahLst/>
            <a:cxnLst/>
            <a:rect l="l" t="t" r="r" b="b"/>
            <a:pathLst>
              <a:path w="3910013" h="3839520">
                <a:moveTo>
                  <a:pt x="147331" y="0"/>
                </a:moveTo>
                <a:lnTo>
                  <a:pt x="3762681" y="0"/>
                </a:lnTo>
                <a:arcTo hR="147331" wR="147331" stAng="16200000" swAng="5400000"/>
                <a:lnTo>
                  <a:pt x="3910013" y="3839520"/>
                </a:lnTo>
                <a:lnTo>
                  <a:pt x="0" y="3839520"/>
                </a:lnTo>
                <a:lnTo>
                  <a:pt x="0" y="147331"/>
                </a:lnTo>
                <a:arcTo hR="147331" wR="147331" stAng="10800000" swAng="5400000"/>
                <a:close/>
              </a:path>
            </a:pathLst>
          </a:custGeom>
          <a:solidFill>
            <a:srgbClr val="FFFFFF">
              <a:alpha val="3000"/>
            </a:srgbClr>
          </a:solidFill>
          <a:ln/>
        </p:spPr>
      </p:sp>
      <p:sp>
        <p:nvSpPr>
          <p:cNvPr id="13" name="Shape 11"/>
          <p:cNvSpPr/>
          <p:nvPr/>
        </p:nvSpPr>
        <p:spPr>
          <a:xfrm>
            <a:off x="5148263" y="8947572"/>
            <a:ext cx="3910013" cy="9525"/>
          </a:xfrm>
          <a:prstGeom prst="rect">
            <a:avLst/>
          </a:prstGeom>
          <a:solidFill>
            <a:srgbClr val="FFFFFF">
              <a:alpha val="10000"/>
            </a:srgbClr>
          </a:solidFill>
          <a:ln/>
        </p:spPr>
      </p:sp>
      <p:sp>
        <p:nvSpPr>
          <p:cNvPr id="14" name="Shape 12"/>
          <p:cNvSpPr/>
          <p:nvPr/>
        </p:nvSpPr>
        <p:spPr>
          <a:xfrm>
            <a:off x="5148263" y="5113980"/>
            <a:ext cx="3910013" cy="9525"/>
          </a:xfrm>
          <a:prstGeom prst="rect">
            <a:avLst/>
          </a:prstGeom>
          <a:solidFill>
            <a:srgbClr val="FFFFFF">
              <a:alpha val="10000"/>
            </a:srgbClr>
          </a:solidFill>
          <a:ln/>
        </p:spPr>
      </p:sp>
      <p:sp>
        <p:nvSpPr>
          <p:cNvPr id="15" name="Shape 13"/>
          <p:cNvSpPr/>
          <p:nvPr/>
        </p:nvSpPr>
        <p:spPr>
          <a:xfrm>
            <a:off x="5148263" y="5113980"/>
            <a:ext cx="9525" cy="3839520"/>
          </a:xfrm>
          <a:prstGeom prst="rect">
            <a:avLst/>
          </a:prstGeom>
          <a:solidFill>
            <a:srgbClr val="FFFFFF">
              <a:alpha val="10000"/>
            </a:srgbClr>
          </a:solidFill>
          <a:ln/>
        </p:spPr>
      </p:sp>
      <p:sp>
        <p:nvSpPr>
          <p:cNvPr id="16" name="Shape 14"/>
          <p:cNvSpPr/>
          <p:nvPr/>
        </p:nvSpPr>
        <p:spPr>
          <a:xfrm>
            <a:off x="9051925" y="5113980"/>
            <a:ext cx="9525" cy="3839520"/>
          </a:xfrm>
          <a:prstGeom prst="rect">
            <a:avLst/>
          </a:prstGeom>
          <a:solidFill>
            <a:srgbClr val="FFFFFF">
              <a:alpha val="10000"/>
            </a:srgbClr>
          </a:solidFill>
          <a:ln/>
        </p:spPr>
      </p:sp>
      <p:sp>
        <p:nvSpPr>
          <p:cNvPr id="17" name="Text 15"/>
          <p:cNvSpPr/>
          <p:nvPr/>
        </p:nvSpPr>
        <p:spPr>
          <a:xfrm>
            <a:off x="5402263" y="7599688"/>
            <a:ext cx="3742214" cy="322625"/>
          </a:xfrm>
          <a:prstGeom prst="rect">
            <a:avLst/>
          </a:prstGeom>
          <a:noFill/>
          <a:ln/>
        </p:spPr>
        <p:txBody>
          <a:bodyPr wrap="square" lIns="25400" tIns="25400" rIns="25400" bIns="25400" rtlCol="0" anchor="t">
            <a:normAutofit/>
          </a:bodyPr>
          <a:lstStyle/>
          <a:p>
            <a:pPr algn="l" indent="0" marL="0">
              <a:buNone/>
            </a:pPr>
            <a:r>
              <a:rPr lang="en-US" sz="1680" dirty="0">
                <a:solidFill>
                  <a:srgbClr val="8EA0B5"/>
                </a:solidFill>
                <a:latin typeface="Courier New" pitchFamily="34" charset="0"/>
                <a:ea typeface="Courier New" pitchFamily="34" charset="-122"/>
                <a:cs typeface="Courier New" pitchFamily="34" charset="-120"/>
              </a:rPr>
              <a:t>Pourquoi ?</a:t>
            </a:r>
            <a:endParaRPr lang="en-US" sz="1680" dirty="0"/>
          </a:p>
        </p:txBody>
      </p:sp>
      <p:sp>
        <p:nvSpPr>
          <p:cNvPr id="18" name="Text 16"/>
          <p:cNvSpPr/>
          <p:nvPr/>
        </p:nvSpPr>
        <p:spPr>
          <a:xfrm>
            <a:off x="5402263" y="7973128"/>
            <a:ext cx="3742214" cy="358191"/>
          </a:xfrm>
          <a:prstGeom prst="rect">
            <a:avLst/>
          </a:prstGeom>
          <a:noFill/>
          <a:ln/>
        </p:spPr>
        <p:txBody>
          <a:bodyPr wrap="square" lIns="25400" tIns="25400" rIns="25400" bIns="25400" rtlCol="0" anchor="t">
            <a:normAutofit/>
          </a:bodyPr>
          <a:lstStyle/>
          <a:p>
            <a:pPr algn="l" indent="0" marL="0">
              <a:buNone/>
            </a:pPr>
            <a:r>
              <a:rPr lang="en-US" sz="2170" b="1" dirty="0">
                <a:solidFill>
                  <a:srgbClr val="EEF3F9"/>
                </a:solidFill>
                <a:latin typeface="Arial" pitchFamily="34" charset="0"/>
                <a:ea typeface="Arial" pitchFamily="34" charset="-122"/>
                <a:cs typeface="Arial" pitchFamily="34" charset="-120"/>
              </a:rPr>
              <a:t>Diagnostique</a:t>
            </a:r>
            <a:endParaRPr lang="en-US" sz="2170" dirty="0"/>
          </a:p>
        </p:txBody>
      </p:sp>
      <p:sp>
        <p:nvSpPr>
          <p:cNvPr id="19" name="Text 17"/>
          <p:cNvSpPr/>
          <p:nvPr/>
        </p:nvSpPr>
        <p:spPr>
          <a:xfrm>
            <a:off x="5402263" y="8382134"/>
            <a:ext cx="3742214" cy="336797"/>
          </a:xfrm>
          <a:prstGeom prst="rect">
            <a:avLst/>
          </a:prstGeom>
          <a:noFill/>
          <a:ln/>
        </p:spPr>
        <p:txBody>
          <a:bodyPr wrap="square" lIns="25400" tIns="25400" rIns="25400" bIns="25400" rtlCol="0" anchor="t">
            <a:normAutofit/>
          </a:bodyPr>
          <a:lstStyle/>
          <a:p>
            <a:pPr algn="l" indent="0" marL="0">
              <a:lnSpc>
                <a:spcPct val="120000"/>
              </a:lnSpc>
              <a:buNone/>
            </a:pPr>
            <a:r>
              <a:rPr lang="en-US" sz="1680" dirty="0">
                <a:solidFill>
                  <a:srgbClr val="8EA0B5"/>
                </a:solidFill>
                <a:latin typeface="Arial" pitchFamily="34" charset="0"/>
                <a:ea typeface="Arial" pitchFamily="34" charset="-122"/>
                <a:cs typeface="Arial" pitchFamily="34" charset="-120"/>
              </a:rPr>
              <a:t>Pourquoi les ventes ont chuté ?</a:t>
            </a:r>
            <a:endParaRPr lang="en-US" sz="1680" dirty="0"/>
          </a:p>
        </p:txBody>
      </p:sp>
      <p:sp>
        <p:nvSpPr>
          <p:cNvPr id="20" name="Shape 18"/>
          <p:cNvSpPr/>
          <p:nvPr/>
        </p:nvSpPr>
        <p:spPr>
          <a:xfrm>
            <a:off x="9229725" y="5215850"/>
            <a:ext cx="3910013" cy="3737650"/>
          </a:xfrm>
          <a:custGeom>
            <a:avLst/>
            <a:gdLst/>
            <a:ahLst/>
            <a:cxnLst/>
            <a:rect l="l" t="t" r="r" b="b"/>
            <a:pathLst>
              <a:path w="3910013" h="3737650">
                <a:moveTo>
                  <a:pt x="133903" y="0"/>
                </a:moveTo>
                <a:lnTo>
                  <a:pt x="3776109" y="0"/>
                </a:lnTo>
                <a:arcTo hR="133903" wR="133903" stAng="16200000" swAng="5400000"/>
                <a:lnTo>
                  <a:pt x="3910013" y="3737650"/>
                </a:lnTo>
                <a:lnTo>
                  <a:pt x="0" y="3737650"/>
                </a:lnTo>
                <a:lnTo>
                  <a:pt x="0" y="133903"/>
                </a:lnTo>
                <a:arcTo hR="133903" wR="133903" stAng="10800000" swAng="5400000"/>
                <a:close/>
              </a:path>
            </a:pathLst>
          </a:custGeom>
          <a:solidFill>
            <a:srgbClr val="FFFFFF">
              <a:alpha val="3000"/>
            </a:srgbClr>
          </a:solidFill>
          <a:ln/>
        </p:spPr>
      </p:sp>
      <p:sp>
        <p:nvSpPr>
          <p:cNvPr id="21" name="Shape 19"/>
          <p:cNvSpPr/>
          <p:nvPr/>
        </p:nvSpPr>
        <p:spPr>
          <a:xfrm>
            <a:off x="9229725" y="8948691"/>
            <a:ext cx="3910013" cy="9525"/>
          </a:xfrm>
          <a:prstGeom prst="rect">
            <a:avLst/>
          </a:prstGeom>
          <a:solidFill>
            <a:srgbClr val="FFFFFF">
              <a:alpha val="10000"/>
            </a:srgbClr>
          </a:solidFill>
          <a:ln/>
        </p:spPr>
      </p:sp>
      <p:sp>
        <p:nvSpPr>
          <p:cNvPr id="22" name="Shape 20"/>
          <p:cNvSpPr/>
          <p:nvPr/>
        </p:nvSpPr>
        <p:spPr>
          <a:xfrm>
            <a:off x="9229725" y="5215850"/>
            <a:ext cx="3910013" cy="9525"/>
          </a:xfrm>
          <a:prstGeom prst="rect">
            <a:avLst/>
          </a:prstGeom>
          <a:solidFill>
            <a:srgbClr val="FFFFFF">
              <a:alpha val="10000"/>
            </a:srgbClr>
          </a:solidFill>
          <a:ln/>
        </p:spPr>
      </p:sp>
      <p:sp>
        <p:nvSpPr>
          <p:cNvPr id="23" name="Shape 21"/>
          <p:cNvSpPr/>
          <p:nvPr/>
        </p:nvSpPr>
        <p:spPr>
          <a:xfrm>
            <a:off x="9229725" y="5215850"/>
            <a:ext cx="9525" cy="3737650"/>
          </a:xfrm>
          <a:prstGeom prst="rect">
            <a:avLst/>
          </a:prstGeom>
          <a:solidFill>
            <a:srgbClr val="FFFFFF">
              <a:alpha val="10000"/>
            </a:srgbClr>
          </a:solidFill>
          <a:ln/>
        </p:spPr>
      </p:sp>
      <p:sp>
        <p:nvSpPr>
          <p:cNvPr id="24" name="Shape 22"/>
          <p:cNvSpPr/>
          <p:nvPr/>
        </p:nvSpPr>
        <p:spPr>
          <a:xfrm>
            <a:off x="13133387" y="5215850"/>
            <a:ext cx="9525" cy="3737650"/>
          </a:xfrm>
          <a:prstGeom prst="rect">
            <a:avLst/>
          </a:prstGeom>
          <a:solidFill>
            <a:srgbClr val="FFFFFF">
              <a:alpha val="10000"/>
            </a:srgbClr>
          </a:solidFill>
          <a:ln/>
        </p:spPr>
      </p:sp>
      <p:sp>
        <p:nvSpPr>
          <p:cNvPr id="25" name="Text 23"/>
          <p:cNvSpPr/>
          <p:nvPr/>
        </p:nvSpPr>
        <p:spPr>
          <a:xfrm>
            <a:off x="9483725" y="7855257"/>
            <a:ext cx="3742214" cy="268913"/>
          </a:xfrm>
          <a:prstGeom prst="rect">
            <a:avLst/>
          </a:prstGeom>
          <a:noFill/>
          <a:ln/>
        </p:spPr>
        <p:txBody>
          <a:bodyPr wrap="square" lIns="25400" tIns="25400" rIns="25400" bIns="25400" rtlCol="0" anchor="t">
            <a:normAutofit/>
          </a:bodyPr>
          <a:lstStyle/>
          <a:p>
            <a:pPr algn="l" indent="0" marL="0">
              <a:buNone/>
            </a:pPr>
            <a:r>
              <a:rPr lang="en-US" sz="1363" dirty="0">
                <a:solidFill>
                  <a:srgbClr val="8EA0B5"/>
                </a:solidFill>
                <a:latin typeface="Courier New" pitchFamily="34" charset="0"/>
                <a:ea typeface="Courier New" pitchFamily="34" charset="-122"/>
                <a:cs typeface="Courier New" pitchFamily="34" charset="-120"/>
              </a:rPr>
              <a:t>Que va-t-il se passer ?</a:t>
            </a:r>
            <a:endParaRPr lang="en-US" sz="1363" dirty="0"/>
          </a:p>
        </p:txBody>
      </p:sp>
      <p:sp>
        <p:nvSpPr>
          <p:cNvPr id="26" name="Text 24"/>
          <p:cNvSpPr/>
          <p:nvPr/>
        </p:nvSpPr>
        <p:spPr>
          <a:xfrm>
            <a:off x="9483725" y="8158200"/>
            <a:ext cx="3742214" cy="297766"/>
          </a:xfrm>
          <a:prstGeom prst="rect">
            <a:avLst/>
          </a:prstGeom>
          <a:noFill/>
          <a:ln/>
        </p:spPr>
        <p:txBody>
          <a:bodyPr wrap="square" lIns="25400" tIns="25400" rIns="25400" bIns="25400" rtlCol="0" anchor="t">
            <a:normAutofit/>
          </a:bodyPr>
          <a:lstStyle/>
          <a:p>
            <a:pPr algn="l" indent="0" marL="0">
              <a:buNone/>
            </a:pPr>
            <a:r>
              <a:rPr lang="en-US" sz="1761" b="1" dirty="0">
                <a:solidFill>
                  <a:srgbClr val="EEF3F9"/>
                </a:solidFill>
                <a:latin typeface="Arial" pitchFamily="34" charset="0"/>
                <a:ea typeface="Arial" pitchFamily="34" charset="-122"/>
                <a:cs typeface="Arial" pitchFamily="34" charset="-120"/>
              </a:rPr>
              <a:t>Prédictive</a:t>
            </a:r>
            <a:endParaRPr lang="en-US" sz="1761" dirty="0"/>
          </a:p>
        </p:txBody>
      </p:sp>
      <p:sp>
        <p:nvSpPr>
          <p:cNvPr id="27" name="Text 25"/>
          <p:cNvSpPr/>
          <p:nvPr/>
        </p:nvSpPr>
        <p:spPr>
          <a:xfrm>
            <a:off x="9483725" y="8489995"/>
            <a:ext cx="3742214" cy="280410"/>
          </a:xfrm>
          <a:prstGeom prst="rect">
            <a:avLst/>
          </a:prstGeom>
          <a:noFill/>
          <a:ln/>
        </p:spPr>
        <p:txBody>
          <a:bodyPr wrap="square" lIns="25400" tIns="25400" rIns="25400" bIns="25400" rtlCol="0" anchor="t">
            <a:normAutofit/>
          </a:bodyPr>
          <a:lstStyle/>
          <a:p>
            <a:pPr algn="l" indent="0" marL="0">
              <a:lnSpc>
                <a:spcPct val="120000"/>
              </a:lnSpc>
              <a:buNone/>
            </a:pPr>
            <a:r>
              <a:rPr lang="en-US" sz="1363" dirty="0">
                <a:solidFill>
                  <a:srgbClr val="8EA0B5"/>
                </a:solidFill>
                <a:latin typeface="Arial" pitchFamily="34" charset="0"/>
                <a:ea typeface="Arial" pitchFamily="34" charset="-122"/>
                <a:cs typeface="Arial" pitchFamily="34" charset="-120"/>
              </a:rPr>
              <a:t>Prévision du mois prochain</a:t>
            </a:r>
            <a:endParaRPr lang="en-US" sz="1363" dirty="0"/>
          </a:p>
        </p:txBody>
      </p:sp>
      <p:sp>
        <p:nvSpPr>
          <p:cNvPr id="28" name="Shape 26"/>
          <p:cNvSpPr/>
          <p:nvPr/>
        </p:nvSpPr>
        <p:spPr>
          <a:xfrm>
            <a:off x="13311188" y="6849406"/>
            <a:ext cx="3910013" cy="2104094"/>
          </a:xfrm>
          <a:custGeom>
            <a:avLst/>
            <a:gdLst/>
            <a:ahLst/>
            <a:cxnLst/>
            <a:rect l="l" t="t" r="r" b="b"/>
            <a:pathLst>
              <a:path w="3910013" h="2104094">
                <a:moveTo>
                  <a:pt x="103486" y="0"/>
                </a:moveTo>
                <a:lnTo>
                  <a:pt x="3806526" y="0"/>
                </a:lnTo>
                <a:arcTo hR="103486" wR="103486" stAng="16200000" swAng="5400000"/>
                <a:lnTo>
                  <a:pt x="3910013" y="2104094"/>
                </a:lnTo>
                <a:lnTo>
                  <a:pt x="0" y="2104094"/>
                </a:lnTo>
                <a:lnTo>
                  <a:pt x="0" y="103486"/>
                </a:lnTo>
                <a:arcTo hR="103486" wR="103486" stAng="10800000" swAng="5400000"/>
                <a:close/>
              </a:path>
            </a:pathLst>
          </a:custGeom>
          <a:solidFill>
            <a:srgbClr val="FFFFFF">
              <a:alpha val="3000"/>
            </a:srgbClr>
          </a:solidFill>
          <a:ln/>
        </p:spPr>
      </p:sp>
      <p:sp>
        <p:nvSpPr>
          <p:cNvPr id="29" name="Shape 27"/>
          <p:cNvSpPr/>
          <p:nvPr/>
        </p:nvSpPr>
        <p:spPr>
          <a:xfrm>
            <a:off x="13311188" y="8951227"/>
            <a:ext cx="3910013" cy="9525"/>
          </a:xfrm>
          <a:prstGeom prst="rect">
            <a:avLst/>
          </a:prstGeom>
          <a:solidFill>
            <a:srgbClr val="FFFFFF">
              <a:alpha val="10000"/>
            </a:srgbClr>
          </a:solidFill>
          <a:ln/>
        </p:spPr>
      </p:sp>
      <p:sp>
        <p:nvSpPr>
          <p:cNvPr id="30" name="Shape 28"/>
          <p:cNvSpPr/>
          <p:nvPr/>
        </p:nvSpPr>
        <p:spPr>
          <a:xfrm>
            <a:off x="13311188" y="6849406"/>
            <a:ext cx="3910013" cy="9525"/>
          </a:xfrm>
          <a:prstGeom prst="rect">
            <a:avLst/>
          </a:prstGeom>
          <a:solidFill>
            <a:srgbClr val="FFFFFF">
              <a:alpha val="10000"/>
            </a:srgbClr>
          </a:solidFill>
          <a:ln/>
        </p:spPr>
      </p:sp>
      <p:sp>
        <p:nvSpPr>
          <p:cNvPr id="31" name="Shape 29"/>
          <p:cNvSpPr/>
          <p:nvPr/>
        </p:nvSpPr>
        <p:spPr>
          <a:xfrm>
            <a:off x="13311188" y="6849406"/>
            <a:ext cx="9525" cy="2104094"/>
          </a:xfrm>
          <a:prstGeom prst="rect">
            <a:avLst/>
          </a:prstGeom>
          <a:solidFill>
            <a:srgbClr val="FFFFFF">
              <a:alpha val="10000"/>
            </a:srgbClr>
          </a:solidFill>
          <a:ln/>
        </p:spPr>
      </p:sp>
      <p:sp>
        <p:nvSpPr>
          <p:cNvPr id="32" name="Shape 30"/>
          <p:cNvSpPr/>
          <p:nvPr/>
        </p:nvSpPr>
        <p:spPr>
          <a:xfrm>
            <a:off x="17214850" y="6849406"/>
            <a:ext cx="9525" cy="2104094"/>
          </a:xfrm>
          <a:prstGeom prst="rect">
            <a:avLst/>
          </a:prstGeom>
          <a:solidFill>
            <a:srgbClr val="FFFFFF">
              <a:alpha val="10000"/>
            </a:srgbClr>
          </a:solidFill>
          <a:ln/>
        </p:spPr>
      </p:sp>
      <p:sp>
        <p:nvSpPr>
          <p:cNvPr id="33" name="Text 31"/>
          <p:cNvSpPr/>
          <p:nvPr/>
        </p:nvSpPr>
        <p:spPr>
          <a:xfrm>
            <a:off x="13565188" y="8434174"/>
            <a:ext cx="3742214" cy="147245"/>
          </a:xfrm>
          <a:prstGeom prst="rect">
            <a:avLst/>
          </a:prstGeom>
          <a:noFill/>
          <a:ln/>
        </p:spPr>
        <p:txBody>
          <a:bodyPr wrap="square" lIns="25400" tIns="25400" rIns="25400" bIns="25400" rtlCol="0" anchor="t">
            <a:normAutofit/>
          </a:bodyPr>
          <a:lstStyle/>
          <a:p>
            <a:pPr algn="l" indent="0" marL="0">
              <a:buNone/>
            </a:pPr>
            <a:r>
              <a:rPr lang="en-US" sz="645" dirty="0">
                <a:solidFill>
                  <a:srgbClr val="8EA0B5"/>
                </a:solidFill>
                <a:latin typeface="Courier New" pitchFamily="34" charset="0"/>
                <a:ea typeface="Courier New" pitchFamily="34" charset="-122"/>
                <a:cs typeface="Courier New" pitchFamily="34" charset="-120"/>
              </a:rPr>
              <a:t>Que faire ?</a:t>
            </a:r>
            <a:endParaRPr lang="en-US" sz="645" dirty="0"/>
          </a:p>
        </p:txBody>
      </p:sp>
      <p:sp>
        <p:nvSpPr>
          <p:cNvPr id="34" name="Text 32"/>
          <p:cNvSpPr/>
          <p:nvPr/>
        </p:nvSpPr>
        <p:spPr>
          <a:xfrm>
            <a:off x="13565188" y="8577427"/>
            <a:ext cx="3742214" cy="160888"/>
          </a:xfrm>
          <a:prstGeom prst="rect">
            <a:avLst/>
          </a:prstGeom>
          <a:noFill/>
          <a:ln/>
        </p:spPr>
        <p:txBody>
          <a:bodyPr wrap="square" lIns="25400" tIns="25400" rIns="25400" bIns="25400" rtlCol="0" anchor="t">
            <a:normAutofit/>
          </a:bodyPr>
          <a:lstStyle/>
          <a:p>
            <a:pPr algn="l" indent="0" marL="0">
              <a:buNone/>
            </a:pPr>
            <a:r>
              <a:rPr lang="en-US" sz="833" b="1" dirty="0">
                <a:solidFill>
                  <a:srgbClr val="EEF3F9"/>
                </a:solidFill>
                <a:latin typeface="Arial" pitchFamily="34" charset="0"/>
                <a:ea typeface="Arial" pitchFamily="34" charset="-122"/>
                <a:cs typeface="Arial" pitchFamily="34" charset="-120"/>
              </a:rPr>
              <a:t>Prescriptive</a:t>
            </a:r>
            <a:endParaRPr lang="en-US" sz="833" dirty="0"/>
          </a:p>
        </p:txBody>
      </p:sp>
      <p:sp>
        <p:nvSpPr>
          <p:cNvPr id="35" name="Text 33"/>
          <p:cNvSpPr/>
          <p:nvPr/>
        </p:nvSpPr>
        <p:spPr>
          <a:xfrm>
            <a:off x="13565188" y="8734323"/>
            <a:ext cx="3742214" cy="152681"/>
          </a:xfrm>
          <a:prstGeom prst="rect">
            <a:avLst/>
          </a:prstGeom>
          <a:noFill/>
          <a:ln/>
        </p:spPr>
        <p:txBody>
          <a:bodyPr wrap="square" lIns="25400" tIns="25400" rIns="25400" bIns="25400" rtlCol="0" anchor="t">
            <a:normAutofit/>
          </a:bodyPr>
          <a:lstStyle/>
          <a:p>
            <a:pPr algn="l" indent="0" marL="0">
              <a:lnSpc>
                <a:spcPct val="120000"/>
              </a:lnSpc>
              <a:buNone/>
            </a:pPr>
            <a:r>
              <a:rPr lang="en-US" sz="645" dirty="0">
                <a:solidFill>
                  <a:srgbClr val="8EA0B5"/>
                </a:solidFill>
                <a:latin typeface="Arial" pitchFamily="34" charset="0"/>
                <a:ea typeface="Arial" pitchFamily="34" charset="-122"/>
                <a:cs typeface="Arial" pitchFamily="34" charset="-120"/>
              </a:rPr>
              <a:t>Quelles actions engager ?</a:t>
            </a:r>
            <a:endParaRPr lang="en-US" sz="645" dirty="0"/>
          </a:p>
        </p:txBody>
      </p:sp>
      <p:sp>
        <p:nvSpPr>
          <p:cNvPr id="36" name="Text 34"/>
          <p:cNvSpPr/>
          <p:nvPr/>
        </p:nvSpPr>
        <p:spPr>
          <a:xfrm>
            <a:off x="1066800" y="9163050"/>
            <a:ext cx="4828054"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alpha val="22000"/>
                  </a:srgbClr>
                </a:solidFill>
                <a:latin typeface="Courier New" pitchFamily="34" charset="0"/>
                <a:ea typeface="Courier New" pitchFamily="34" charset="-122"/>
                <a:cs typeface="Courier New" pitchFamily="34" charset="-120"/>
              </a:rPr>
              <a:t>Complexité et valeur croissantes</a:t>
            </a:r>
            <a:endParaRPr lang="en-US" sz="1800" dirty="0"/>
          </a:p>
        </p:txBody>
      </p:sp>
      <p:sp>
        <p:nvSpPr>
          <p:cNvPr id="37" name="Shape 35"/>
          <p:cNvSpPr/>
          <p:nvPr/>
        </p:nvSpPr>
        <p:spPr>
          <a:xfrm>
            <a:off x="5608340" y="9310688"/>
            <a:ext cx="11334750" cy="9525"/>
          </a:xfrm>
          <a:prstGeom prst="rect">
            <a:avLst/>
          </a:prstGeom>
          <a:solidFill>
            <a:srgbClr val="FFFFFF">
              <a:alpha val="2000"/>
            </a:srgbClr>
          </a:solidFill>
          <a:ln/>
        </p:spPr>
      </p:sp>
      <p:sp>
        <p:nvSpPr>
          <p:cNvPr id="38" name="Text 36"/>
          <p:cNvSpPr/>
          <p:nvPr/>
        </p:nvSpPr>
        <p:spPr>
          <a:xfrm>
            <a:off x="17095490" y="9163050"/>
            <a:ext cx="20191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6DBDB">
                    <a:alpha val="22000"/>
                  </a:srgbClr>
                </a:solidFill>
                <a:latin typeface="Courier New" pitchFamily="34" charset="0"/>
                <a:ea typeface="Courier New" pitchFamily="34" charset="-122"/>
                <a:cs typeface="Courier New" pitchFamily="34" charset="-120"/>
              </a:rPr>
              <a:t>▸</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E15"/>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56DBDB">
                    <a:alpha val="97000"/>
                  </a:srgbClr>
                </a:solidFill>
                <a:latin typeface="Courier New" pitchFamily="34" charset="0"/>
                <a:ea typeface="Courier New" pitchFamily="34" charset="-122"/>
                <a:cs typeface="Courier New" pitchFamily="34" charset="-120"/>
              </a:rPr>
              <a:t>ATELIER 01 · PIPELINE</a:t>
            </a:r>
            <a:endParaRPr lang="en-US" sz="1800" dirty="0"/>
          </a:p>
        </p:txBody>
      </p:sp>
      <p:sp>
        <p:nvSpPr>
          <p:cNvPr id="3" name="Text 1"/>
          <p:cNvSpPr/>
          <p:nvPr/>
        </p:nvSpPr>
        <p:spPr>
          <a:xfrm>
            <a:off x="1066800" y="1314450"/>
            <a:ext cx="9079236" cy="1305917"/>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Le pipeline Big Data et ses métiers</a:t>
            </a:r>
            <a:endParaRPr lang="en-US" sz="4800" dirty="0"/>
          </a:p>
        </p:txBody>
      </p:sp>
      <p:sp>
        <p:nvSpPr>
          <p:cNvPr id="4" name="Shape 2"/>
          <p:cNvSpPr/>
          <p:nvPr/>
        </p:nvSpPr>
        <p:spPr>
          <a:xfrm>
            <a:off x="1066800" y="3039467"/>
            <a:ext cx="3034209" cy="1193800"/>
          </a:xfrm>
          <a:prstGeom prst="roundRect">
            <a:avLst>
              <a:gd name="adj" fmla="val 11170"/>
            </a:avLst>
          </a:prstGeom>
          <a:solidFill>
            <a:srgbClr val="FFFFFF">
              <a:alpha val="3000"/>
            </a:srgbClr>
          </a:solidFill>
          <a:ln w="6350">
            <a:solidFill>
              <a:srgbClr val="FFFFFF">
                <a:alpha val="10000"/>
              </a:srgbClr>
            </a:solidFill>
            <a:prstDash val="solid"/>
          </a:ln>
        </p:spPr>
      </p:sp>
      <p:sp>
        <p:nvSpPr>
          <p:cNvPr id="5" name="Text 3"/>
          <p:cNvSpPr/>
          <p:nvPr/>
        </p:nvSpPr>
        <p:spPr>
          <a:xfrm>
            <a:off x="1131625" y="3293467"/>
            <a:ext cx="2904559"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56DBDB"/>
                </a:solidFill>
                <a:latin typeface="Courier New" pitchFamily="34" charset="0"/>
                <a:ea typeface="Courier New" pitchFamily="34" charset="-122"/>
                <a:cs typeface="Courier New" pitchFamily="34" charset="-120"/>
              </a:rPr>
              <a:t>01</a:t>
            </a:r>
            <a:endParaRPr lang="en-US" sz="1800" dirty="0"/>
          </a:p>
        </p:txBody>
      </p:sp>
      <p:sp>
        <p:nvSpPr>
          <p:cNvPr id="6" name="Text 4"/>
          <p:cNvSpPr/>
          <p:nvPr/>
        </p:nvSpPr>
        <p:spPr>
          <a:xfrm>
            <a:off x="1131625" y="3674467"/>
            <a:ext cx="2904559" cy="342900"/>
          </a:xfrm>
          <a:prstGeom prst="rect">
            <a:avLst/>
          </a:prstGeom>
          <a:noFill/>
          <a:ln/>
        </p:spPr>
        <p:txBody>
          <a:bodyPr wrap="square" lIns="25400" tIns="25400" rIns="25400" bIns="25400" rtlCol="0" anchor="t">
            <a:normAutofit/>
          </a:bodyPr>
          <a:lstStyle/>
          <a:p>
            <a:pPr algn="ctr" indent="0" marL="0">
              <a:buNone/>
            </a:pPr>
            <a:r>
              <a:rPr lang="en-US" sz="2100" b="1" dirty="0">
                <a:solidFill>
                  <a:srgbClr val="EEF3F9"/>
                </a:solidFill>
                <a:latin typeface="Arial" pitchFamily="34" charset="0"/>
                <a:ea typeface="Arial" pitchFamily="34" charset="-122"/>
                <a:cs typeface="Arial" pitchFamily="34" charset="-120"/>
              </a:rPr>
              <a:t>Ingestion</a:t>
            </a:r>
            <a:endParaRPr lang="en-US" sz="2100" dirty="0"/>
          </a:p>
        </p:txBody>
      </p:sp>
      <p:sp>
        <p:nvSpPr>
          <p:cNvPr id="7" name="Text 5"/>
          <p:cNvSpPr/>
          <p:nvPr/>
        </p:nvSpPr>
        <p:spPr>
          <a:xfrm>
            <a:off x="4196259" y="3452217"/>
            <a:ext cx="361950" cy="406400"/>
          </a:xfrm>
          <a:prstGeom prst="rect">
            <a:avLst/>
          </a:prstGeom>
          <a:noFill/>
          <a:ln/>
        </p:spPr>
        <p:txBody>
          <a:bodyPr wrap="square" lIns="25400" tIns="25400" rIns="25400" bIns="25400" rtlCol="0" anchor="t">
            <a:normAutofit/>
          </a:bodyPr>
          <a:lstStyle/>
          <a:p>
            <a:pPr algn="l" indent="0" marL="0">
              <a:buNone/>
            </a:pPr>
            <a:r>
              <a:rPr lang="en-US" sz="2250" dirty="0">
                <a:solidFill>
                  <a:srgbClr val="56DBDB">
                    <a:alpha val="97000"/>
                  </a:srgbClr>
                </a:solidFill>
                <a:latin typeface="Arial" pitchFamily="34" charset="0"/>
                <a:ea typeface="Arial" pitchFamily="34" charset="-122"/>
                <a:cs typeface="Arial" pitchFamily="34" charset="-120"/>
              </a:rPr>
              <a:t>→</a:t>
            </a:r>
            <a:endParaRPr lang="en-US" sz="2250" dirty="0"/>
          </a:p>
        </p:txBody>
      </p:sp>
      <p:sp>
        <p:nvSpPr>
          <p:cNvPr id="8" name="Shape 6"/>
          <p:cNvSpPr/>
          <p:nvPr/>
        </p:nvSpPr>
        <p:spPr>
          <a:xfrm>
            <a:off x="4577259" y="3039467"/>
            <a:ext cx="3034308" cy="1193800"/>
          </a:xfrm>
          <a:prstGeom prst="roundRect">
            <a:avLst>
              <a:gd name="adj" fmla="val 11170"/>
            </a:avLst>
          </a:prstGeom>
          <a:solidFill>
            <a:srgbClr val="FFFFFF">
              <a:alpha val="3000"/>
            </a:srgbClr>
          </a:solidFill>
          <a:ln w="6350">
            <a:solidFill>
              <a:srgbClr val="FFFFFF">
                <a:alpha val="10000"/>
              </a:srgbClr>
            </a:solidFill>
            <a:prstDash val="solid"/>
          </a:ln>
        </p:spPr>
      </p:sp>
      <p:sp>
        <p:nvSpPr>
          <p:cNvPr id="9" name="Text 7"/>
          <p:cNvSpPr/>
          <p:nvPr/>
        </p:nvSpPr>
        <p:spPr>
          <a:xfrm>
            <a:off x="4642078" y="3293467"/>
            <a:ext cx="2904669"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56DBDB"/>
                </a:solidFill>
                <a:latin typeface="Courier New" pitchFamily="34" charset="0"/>
                <a:ea typeface="Courier New" pitchFamily="34" charset="-122"/>
                <a:cs typeface="Courier New" pitchFamily="34" charset="-120"/>
              </a:rPr>
              <a:t>02</a:t>
            </a:r>
            <a:endParaRPr lang="en-US" sz="1800" dirty="0"/>
          </a:p>
        </p:txBody>
      </p:sp>
      <p:sp>
        <p:nvSpPr>
          <p:cNvPr id="10" name="Text 8"/>
          <p:cNvSpPr/>
          <p:nvPr/>
        </p:nvSpPr>
        <p:spPr>
          <a:xfrm>
            <a:off x="4642078" y="3674467"/>
            <a:ext cx="2904669" cy="342900"/>
          </a:xfrm>
          <a:prstGeom prst="rect">
            <a:avLst/>
          </a:prstGeom>
          <a:noFill/>
          <a:ln/>
        </p:spPr>
        <p:txBody>
          <a:bodyPr wrap="square" lIns="25400" tIns="25400" rIns="25400" bIns="25400" rtlCol="0" anchor="t">
            <a:normAutofit/>
          </a:bodyPr>
          <a:lstStyle/>
          <a:p>
            <a:pPr algn="ctr" indent="0" marL="0">
              <a:buNone/>
            </a:pPr>
            <a:r>
              <a:rPr lang="en-US" sz="2100" b="1" dirty="0">
                <a:solidFill>
                  <a:srgbClr val="EEF3F9"/>
                </a:solidFill>
                <a:latin typeface="Arial" pitchFamily="34" charset="0"/>
                <a:ea typeface="Arial" pitchFamily="34" charset="-122"/>
                <a:cs typeface="Arial" pitchFamily="34" charset="-120"/>
              </a:rPr>
              <a:t>Stockage</a:t>
            </a:r>
            <a:endParaRPr lang="en-US" sz="2100" dirty="0"/>
          </a:p>
        </p:txBody>
      </p:sp>
      <p:sp>
        <p:nvSpPr>
          <p:cNvPr id="11" name="Text 9"/>
          <p:cNvSpPr/>
          <p:nvPr/>
        </p:nvSpPr>
        <p:spPr>
          <a:xfrm>
            <a:off x="7706817" y="3452217"/>
            <a:ext cx="361950" cy="406400"/>
          </a:xfrm>
          <a:prstGeom prst="rect">
            <a:avLst/>
          </a:prstGeom>
          <a:noFill/>
          <a:ln/>
        </p:spPr>
        <p:txBody>
          <a:bodyPr wrap="square" lIns="25400" tIns="25400" rIns="25400" bIns="25400" rtlCol="0" anchor="t">
            <a:normAutofit/>
          </a:bodyPr>
          <a:lstStyle/>
          <a:p>
            <a:pPr algn="l" indent="0" marL="0">
              <a:buNone/>
            </a:pPr>
            <a:r>
              <a:rPr lang="en-US" sz="2250" dirty="0">
                <a:solidFill>
                  <a:srgbClr val="56DBDB">
                    <a:alpha val="97000"/>
                  </a:srgbClr>
                </a:solidFill>
                <a:latin typeface="Arial" pitchFamily="34" charset="0"/>
                <a:ea typeface="Arial" pitchFamily="34" charset="-122"/>
                <a:cs typeface="Arial" pitchFamily="34" charset="-120"/>
              </a:rPr>
              <a:t>→</a:t>
            </a:r>
            <a:endParaRPr lang="en-US" sz="2250" dirty="0"/>
          </a:p>
        </p:txBody>
      </p:sp>
      <p:sp>
        <p:nvSpPr>
          <p:cNvPr id="12" name="Shape 10"/>
          <p:cNvSpPr/>
          <p:nvPr/>
        </p:nvSpPr>
        <p:spPr>
          <a:xfrm>
            <a:off x="8076211" y="3034901"/>
            <a:ext cx="3057422" cy="1202933"/>
          </a:xfrm>
          <a:prstGeom prst="roundRect">
            <a:avLst>
              <a:gd name="adj" fmla="val 11170"/>
            </a:avLst>
          </a:prstGeom>
          <a:gradFill rotWithShape="1">
            <a:gsLst>
              <a:gs pos="0">
                <a:srgbClr val="59DEDE">
                  <a:alpha val="18000"/>
                </a:srgbClr>
              </a:gs>
              <a:gs pos="100000">
                <a:srgbClr val="FFFFFF">
                  <a:alpha val="3000"/>
                </a:srgbClr>
              </a:gs>
            </a:gsLst>
            <a:lin ang="4200000" scaled="0"/>
          </a:gradFill>
          <a:ln w="6399">
            <a:solidFill>
              <a:srgbClr val="7BE2E2">
                <a:alpha val="41000"/>
              </a:srgbClr>
            </a:solidFill>
            <a:prstDash val="solid"/>
          </a:ln>
        </p:spPr>
      </p:sp>
      <p:sp>
        <p:nvSpPr>
          <p:cNvPr id="13" name="Text 11"/>
          <p:cNvSpPr/>
          <p:nvPr/>
        </p:nvSpPr>
        <p:spPr>
          <a:xfrm>
            <a:off x="8141531" y="3290844"/>
            <a:ext cx="2926780" cy="345232"/>
          </a:xfrm>
          <a:prstGeom prst="rect">
            <a:avLst/>
          </a:prstGeom>
          <a:noFill/>
          <a:ln/>
        </p:spPr>
        <p:txBody>
          <a:bodyPr wrap="square" lIns="25400" tIns="25400" rIns="25400" bIns="25400" rtlCol="0" anchor="t">
            <a:normAutofit/>
          </a:bodyPr>
          <a:lstStyle/>
          <a:p>
            <a:pPr algn="ctr" indent="0" marL="0">
              <a:buNone/>
            </a:pPr>
            <a:r>
              <a:rPr lang="en-US" sz="1814" dirty="0">
                <a:solidFill>
                  <a:srgbClr val="56DBDB"/>
                </a:solidFill>
                <a:latin typeface="Courier New" pitchFamily="34" charset="0"/>
                <a:ea typeface="Courier New" pitchFamily="34" charset="-122"/>
                <a:cs typeface="Courier New" pitchFamily="34" charset="-120"/>
              </a:rPr>
              <a:t>03</a:t>
            </a:r>
            <a:endParaRPr lang="en-US" sz="1814" dirty="0"/>
          </a:p>
        </p:txBody>
      </p:sp>
      <p:sp>
        <p:nvSpPr>
          <p:cNvPr id="14" name="Text 12"/>
          <p:cNvSpPr/>
          <p:nvPr/>
        </p:nvSpPr>
        <p:spPr>
          <a:xfrm>
            <a:off x="8141531" y="3674759"/>
            <a:ext cx="2926780" cy="345232"/>
          </a:xfrm>
          <a:prstGeom prst="rect">
            <a:avLst/>
          </a:prstGeom>
          <a:noFill/>
          <a:ln/>
        </p:spPr>
        <p:txBody>
          <a:bodyPr wrap="square" lIns="25400" tIns="25400" rIns="25400" bIns="25400" rtlCol="0" anchor="t">
            <a:normAutofit/>
          </a:bodyPr>
          <a:lstStyle/>
          <a:p>
            <a:pPr algn="ctr" indent="0" marL="0">
              <a:buNone/>
            </a:pPr>
            <a:r>
              <a:rPr lang="en-US" sz="2116" b="1" dirty="0">
                <a:solidFill>
                  <a:srgbClr val="EEF3F9"/>
                </a:solidFill>
                <a:latin typeface="Arial" pitchFamily="34" charset="0"/>
                <a:ea typeface="Arial" pitchFamily="34" charset="-122"/>
                <a:cs typeface="Arial" pitchFamily="34" charset="-120"/>
              </a:rPr>
              <a:t>Traitement</a:t>
            </a:r>
            <a:endParaRPr lang="en-US" sz="2116" dirty="0"/>
          </a:p>
        </p:txBody>
      </p:sp>
      <p:sp>
        <p:nvSpPr>
          <p:cNvPr id="15" name="Text 13"/>
          <p:cNvSpPr/>
          <p:nvPr/>
        </p:nvSpPr>
        <p:spPr>
          <a:xfrm>
            <a:off x="11217276" y="3452217"/>
            <a:ext cx="361950" cy="406400"/>
          </a:xfrm>
          <a:prstGeom prst="rect">
            <a:avLst/>
          </a:prstGeom>
          <a:noFill/>
          <a:ln/>
        </p:spPr>
        <p:txBody>
          <a:bodyPr wrap="square" lIns="25400" tIns="25400" rIns="25400" bIns="25400" rtlCol="0" anchor="t">
            <a:normAutofit/>
          </a:bodyPr>
          <a:lstStyle/>
          <a:p>
            <a:pPr algn="l" indent="0" marL="0">
              <a:buNone/>
            </a:pPr>
            <a:r>
              <a:rPr lang="en-US" sz="2250" dirty="0">
                <a:solidFill>
                  <a:srgbClr val="56DBDB">
                    <a:alpha val="97000"/>
                  </a:srgbClr>
                </a:solidFill>
                <a:latin typeface="Arial" pitchFamily="34" charset="0"/>
                <a:ea typeface="Arial" pitchFamily="34" charset="-122"/>
                <a:cs typeface="Arial" pitchFamily="34" charset="-120"/>
              </a:rPr>
              <a:t>→</a:t>
            </a:r>
            <a:endParaRPr lang="en-US" sz="2250" dirty="0"/>
          </a:p>
        </p:txBody>
      </p:sp>
      <p:sp>
        <p:nvSpPr>
          <p:cNvPr id="16" name="Shape 14"/>
          <p:cNvSpPr/>
          <p:nvPr/>
        </p:nvSpPr>
        <p:spPr>
          <a:xfrm>
            <a:off x="11579958" y="3032260"/>
            <a:ext cx="3070845" cy="1208214"/>
          </a:xfrm>
          <a:prstGeom prst="roundRect">
            <a:avLst>
              <a:gd name="adj" fmla="val 11170"/>
            </a:avLst>
          </a:prstGeom>
          <a:solidFill>
            <a:srgbClr val="FFFFFF">
              <a:alpha val="3000"/>
            </a:srgbClr>
          </a:solidFill>
          <a:ln w="6427">
            <a:solidFill>
              <a:srgbClr val="FFFFFF">
                <a:alpha val="10000"/>
              </a:srgbClr>
            </a:solidFill>
            <a:prstDash val="solid"/>
          </a:ln>
        </p:spPr>
      </p:sp>
      <p:sp>
        <p:nvSpPr>
          <p:cNvPr id="17" name="Text 15"/>
          <p:cNvSpPr/>
          <p:nvPr/>
        </p:nvSpPr>
        <p:spPr>
          <a:xfrm>
            <a:off x="11645565" y="3289327"/>
            <a:ext cx="2939629" cy="346580"/>
          </a:xfrm>
          <a:prstGeom prst="rect">
            <a:avLst/>
          </a:prstGeom>
          <a:noFill/>
          <a:ln/>
        </p:spPr>
        <p:txBody>
          <a:bodyPr wrap="square" lIns="25400" tIns="25400" rIns="25400" bIns="25400" rtlCol="0" anchor="t">
            <a:normAutofit/>
          </a:bodyPr>
          <a:lstStyle/>
          <a:p>
            <a:pPr algn="ctr" indent="0" marL="0">
              <a:buNone/>
            </a:pPr>
            <a:r>
              <a:rPr lang="en-US" sz="1822" dirty="0">
                <a:solidFill>
                  <a:srgbClr val="56DBDB"/>
                </a:solidFill>
                <a:latin typeface="Courier New" pitchFamily="34" charset="0"/>
                <a:ea typeface="Courier New" pitchFamily="34" charset="-122"/>
                <a:cs typeface="Courier New" pitchFamily="34" charset="-120"/>
              </a:rPr>
              <a:t>04</a:t>
            </a:r>
            <a:endParaRPr lang="en-US" sz="1822" dirty="0"/>
          </a:p>
        </p:txBody>
      </p:sp>
      <p:sp>
        <p:nvSpPr>
          <p:cNvPr id="18" name="Text 16"/>
          <p:cNvSpPr/>
          <p:nvPr/>
        </p:nvSpPr>
        <p:spPr>
          <a:xfrm>
            <a:off x="11645565" y="3674927"/>
            <a:ext cx="2939629" cy="346580"/>
          </a:xfrm>
          <a:prstGeom prst="rect">
            <a:avLst/>
          </a:prstGeom>
          <a:noFill/>
          <a:ln/>
        </p:spPr>
        <p:txBody>
          <a:bodyPr wrap="square" lIns="25400" tIns="25400" rIns="25400" bIns="25400" rtlCol="0" anchor="t">
            <a:normAutofit/>
          </a:bodyPr>
          <a:lstStyle/>
          <a:p>
            <a:pPr algn="ctr" indent="0" marL="0">
              <a:buNone/>
            </a:pPr>
            <a:r>
              <a:rPr lang="en-US" sz="2125" b="1" dirty="0">
                <a:solidFill>
                  <a:srgbClr val="EEF3F9"/>
                </a:solidFill>
                <a:latin typeface="Arial" pitchFamily="34" charset="0"/>
                <a:ea typeface="Arial" pitchFamily="34" charset="-122"/>
                <a:cs typeface="Arial" pitchFamily="34" charset="-120"/>
              </a:rPr>
              <a:t>Analyse &amp; viz</a:t>
            </a:r>
            <a:endParaRPr lang="en-US" sz="2125" dirty="0"/>
          </a:p>
        </p:txBody>
      </p:sp>
      <p:sp>
        <p:nvSpPr>
          <p:cNvPr id="19" name="Text 17"/>
          <p:cNvSpPr/>
          <p:nvPr/>
        </p:nvSpPr>
        <p:spPr>
          <a:xfrm>
            <a:off x="14727734" y="3452217"/>
            <a:ext cx="361950" cy="406400"/>
          </a:xfrm>
          <a:prstGeom prst="rect">
            <a:avLst/>
          </a:prstGeom>
          <a:noFill/>
          <a:ln/>
        </p:spPr>
        <p:txBody>
          <a:bodyPr wrap="square" lIns="25400" tIns="25400" rIns="25400" bIns="25400" rtlCol="0" anchor="t">
            <a:normAutofit/>
          </a:bodyPr>
          <a:lstStyle/>
          <a:p>
            <a:pPr algn="l" indent="0" marL="0">
              <a:buNone/>
            </a:pPr>
            <a:r>
              <a:rPr lang="en-US" sz="2250" dirty="0">
                <a:solidFill>
                  <a:srgbClr val="8EA0B5">
                    <a:alpha val="97000"/>
                  </a:srgbClr>
                </a:solidFill>
                <a:latin typeface="Arial" pitchFamily="34" charset="0"/>
                <a:ea typeface="Arial" pitchFamily="34" charset="-122"/>
                <a:cs typeface="Arial" pitchFamily="34" charset="-120"/>
              </a:rPr>
              <a:t>→</a:t>
            </a:r>
            <a:endParaRPr lang="en-US" sz="2250" dirty="0"/>
          </a:p>
        </p:txBody>
      </p:sp>
      <p:sp>
        <p:nvSpPr>
          <p:cNvPr id="20" name="Text 18"/>
          <p:cNvSpPr/>
          <p:nvPr/>
        </p:nvSpPr>
        <p:spPr>
          <a:xfrm>
            <a:off x="14990456" y="3482307"/>
            <a:ext cx="2349022" cy="346220"/>
          </a:xfrm>
          <a:prstGeom prst="rect">
            <a:avLst/>
          </a:prstGeom>
          <a:noFill/>
          <a:ln/>
        </p:spPr>
        <p:txBody>
          <a:bodyPr wrap="square" lIns="25400" tIns="25400" rIns="25400" bIns="25400" rtlCol="0" anchor="t">
            <a:normAutofit/>
          </a:bodyPr>
          <a:lstStyle/>
          <a:p>
            <a:pPr algn="ctr" indent="0" marL="0">
              <a:buNone/>
            </a:pPr>
            <a:r>
              <a:rPr lang="en-US" sz="2123" b="1" dirty="0">
                <a:solidFill>
                  <a:srgbClr val="FFB46E"/>
                </a:solidFill>
                <a:latin typeface="Arial" pitchFamily="34" charset="0"/>
                <a:ea typeface="Arial" pitchFamily="34" charset="-122"/>
                <a:cs typeface="Arial" pitchFamily="34" charset="-120"/>
              </a:rPr>
              <a:t>Décision</a:t>
            </a:r>
            <a:endParaRPr lang="en-US" sz="2123" dirty="0"/>
          </a:p>
        </p:txBody>
      </p:sp>
      <p:sp>
        <p:nvSpPr>
          <p:cNvPr id="21" name="Shape 19"/>
          <p:cNvSpPr/>
          <p:nvPr/>
        </p:nvSpPr>
        <p:spPr>
          <a:xfrm>
            <a:off x="1066800" y="4728567"/>
            <a:ext cx="3910013" cy="2335213"/>
          </a:xfrm>
          <a:prstGeom prst="roundRect">
            <a:avLst>
              <a:gd name="adj" fmla="val 6526"/>
            </a:avLst>
          </a:prstGeom>
          <a:solidFill>
            <a:srgbClr val="FFFFFF">
              <a:alpha val="3000"/>
            </a:srgbClr>
          </a:solidFill>
          <a:ln w="6350">
            <a:solidFill>
              <a:srgbClr val="FFFFFF">
                <a:alpha val="10000"/>
              </a:srgbClr>
            </a:solidFill>
            <a:prstDash val="solid"/>
          </a:ln>
        </p:spPr>
      </p:sp>
      <p:sp>
        <p:nvSpPr>
          <p:cNvPr id="22" name="Text 20"/>
          <p:cNvSpPr/>
          <p:nvPr/>
        </p:nvSpPr>
        <p:spPr>
          <a:xfrm>
            <a:off x="1339850" y="5020667"/>
            <a:ext cx="3700304" cy="349250"/>
          </a:xfrm>
          <a:prstGeom prst="rect">
            <a:avLst/>
          </a:prstGeom>
          <a:noFill/>
          <a:ln/>
        </p:spPr>
        <p:txBody>
          <a:bodyPr wrap="square" lIns="25400" tIns="25400" rIns="25400" bIns="25400" rtlCol="0" anchor="t">
            <a:normAutofit/>
          </a:bodyPr>
          <a:lstStyle/>
          <a:p>
            <a:pPr algn="l" indent="0" marL="0">
              <a:buNone/>
            </a:pPr>
            <a:r>
              <a:rPr lang="en-US" sz="2175" b="1" dirty="0">
                <a:solidFill>
                  <a:srgbClr val="56DBDB"/>
                </a:solidFill>
                <a:latin typeface="Arial" pitchFamily="34" charset="0"/>
                <a:ea typeface="Arial" pitchFamily="34" charset="-122"/>
                <a:cs typeface="Arial" pitchFamily="34" charset="-120"/>
              </a:rPr>
              <a:t>Data Engineer</a:t>
            </a:r>
            <a:endParaRPr lang="en-US" sz="2175" dirty="0"/>
          </a:p>
        </p:txBody>
      </p:sp>
      <p:sp>
        <p:nvSpPr>
          <p:cNvPr id="23" name="Text 21"/>
          <p:cNvSpPr/>
          <p:nvPr/>
        </p:nvSpPr>
        <p:spPr>
          <a:xfrm>
            <a:off x="1339850" y="5446118"/>
            <a:ext cx="3464830" cy="1363663"/>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8EA0B5"/>
                </a:solidFill>
                <a:latin typeface="Arial" pitchFamily="34" charset="0"/>
                <a:ea typeface="Arial" pitchFamily="34" charset="-122"/>
                <a:cs typeface="Arial" pitchFamily="34" charset="-120"/>
              </a:rPr>
              <a:t>Construit et maintient l'infrastructure : collecte, stockage, intégration, prétraitement.</a:t>
            </a:r>
            <a:endParaRPr lang="en-US" sz="1800" dirty="0"/>
          </a:p>
        </p:txBody>
      </p:sp>
      <p:sp>
        <p:nvSpPr>
          <p:cNvPr id="24" name="Shape 22"/>
          <p:cNvSpPr/>
          <p:nvPr/>
        </p:nvSpPr>
        <p:spPr>
          <a:xfrm>
            <a:off x="5148263" y="4729558"/>
            <a:ext cx="3910013" cy="2335213"/>
          </a:xfrm>
          <a:prstGeom prst="roundRect">
            <a:avLst>
              <a:gd name="adj" fmla="val 6526"/>
            </a:avLst>
          </a:prstGeom>
          <a:solidFill>
            <a:srgbClr val="FFFFFF">
              <a:alpha val="3000"/>
            </a:srgbClr>
          </a:solidFill>
          <a:ln w="6350">
            <a:solidFill>
              <a:srgbClr val="FFFFFF">
                <a:alpha val="10000"/>
              </a:srgbClr>
            </a:solidFill>
            <a:prstDash val="solid"/>
          </a:ln>
        </p:spPr>
      </p:sp>
      <p:sp>
        <p:nvSpPr>
          <p:cNvPr id="25" name="Text 23"/>
          <p:cNvSpPr/>
          <p:nvPr/>
        </p:nvSpPr>
        <p:spPr>
          <a:xfrm>
            <a:off x="5421313" y="5021659"/>
            <a:ext cx="3700304" cy="349250"/>
          </a:xfrm>
          <a:prstGeom prst="rect">
            <a:avLst/>
          </a:prstGeom>
          <a:noFill/>
          <a:ln/>
        </p:spPr>
        <p:txBody>
          <a:bodyPr wrap="square" lIns="25400" tIns="25400" rIns="25400" bIns="25400" rtlCol="0" anchor="t">
            <a:normAutofit/>
          </a:bodyPr>
          <a:lstStyle/>
          <a:p>
            <a:pPr algn="l" indent="0" marL="0">
              <a:buNone/>
            </a:pPr>
            <a:r>
              <a:rPr lang="en-US" sz="2175" b="1" dirty="0">
                <a:solidFill>
                  <a:srgbClr val="56DBDB"/>
                </a:solidFill>
                <a:latin typeface="Arial" pitchFamily="34" charset="0"/>
                <a:ea typeface="Arial" pitchFamily="34" charset="-122"/>
                <a:cs typeface="Arial" pitchFamily="34" charset="-120"/>
              </a:rPr>
              <a:t>Data Analyst</a:t>
            </a:r>
            <a:endParaRPr lang="en-US" sz="2175" dirty="0"/>
          </a:p>
        </p:txBody>
      </p:sp>
      <p:sp>
        <p:nvSpPr>
          <p:cNvPr id="26" name="Text 24"/>
          <p:cNvSpPr/>
          <p:nvPr/>
        </p:nvSpPr>
        <p:spPr>
          <a:xfrm>
            <a:off x="5421313" y="5447109"/>
            <a:ext cx="3464830" cy="1032272"/>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8EA0B5"/>
                </a:solidFill>
                <a:latin typeface="Arial" pitchFamily="34" charset="0"/>
                <a:ea typeface="Arial" pitchFamily="34" charset="-122"/>
                <a:cs typeface="Arial" pitchFamily="34" charset="-120"/>
              </a:rPr>
              <a:t>Manipule les données préparées, produit analyses statistiques et rapports.</a:t>
            </a:r>
            <a:endParaRPr lang="en-US" sz="1800" dirty="0"/>
          </a:p>
        </p:txBody>
      </p:sp>
      <p:sp>
        <p:nvSpPr>
          <p:cNvPr id="27" name="Shape 25"/>
          <p:cNvSpPr/>
          <p:nvPr/>
        </p:nvSpPr>
        <p:spPr>
          <a:xfrm>
            <a:off x="9229725" y="4734072"/>
            <a:ext cx="3910013" cy="2335212"/>
          </a:xfrm>
          <a:prstGeom prst="roundRect">
            <a:avLst>
              <a:gd name="adj" fmla="val 6526"/>
            </a:avLst>
          </a:prstGeom>
          <a:solidFill>
            <a:srgbClr val="FFFFFF">
              <a:alpha val="3000"/>
            </a:srgbClr>
          </a:solidFill>
          <a:ln w="6350">
            <a:solidFill>
              <a:srgbClr val="FFFFFF">
                <a:alpha val="10000"/>
              </a:srgbClr>
            </a:solidFill>
            <a:prstDash val="solid"/>
          </a:ln>
        </p:spPr>
      </p:sp>
      <p:sp>
        <p:nvSpPr>
          <p:cNvPr id="28" name="Text 26"/>
          <p:cNvSpPr/>
          <p:nvPr/>
        </p:nvSpPr>
        <p:spPr>
          <a:xfrm>
            <a:off x="9502775" y="5026172"/>
            <a:ext cx="3700304" cy="349250"/>
          </a:xfrm>
          <a:prstGeom prst="rect">
            <a:avLst/>
          </a:prstGeom>
          <a:noFill/>
          <a:ln/>
        </p:spPr>
        <p:txBody>
          <a:bodyPr wrap="square" lIns="25400" tIns="25400" rIns="25400" bIns="25400" rtlCol="0" anchor="t">
            <a:normAutofit/>
          </a:bodyPr>
          <a:lstStyle/>
          <a:p>
            <a:pPr algn="l" indent="0" marL="0">
              <a:buNone/>
            </a:pPr>
            <a:r>
              <a:rPr lang="en-US" sz="2175" b="1" dirty="0">
                <a:solidFill>
                  <a:srgbClr val="56DBDB">
                    <a:alpha val="98000"/>
                  </a:srgbClr>
                </a:solidFill>
                <a:latin typeface="Arial" pitchFamily="34" charset="0"/>
                <a:ea typeface="Arial" pitchFamily="34" charset="-122"/>
                <a:cs typeface="Arial" pitchFamily="34" charset="-120"/>
              </a:rPr>
              <a:t>Data Scientist</a:t>
            </a:r>
            <a:endParaRPr lang="en-US" sz="2175" dirty="0"/>
          </a:p>
        </p:txBody>
      </p:sp>
      <p:sp>
        <p:nvSpPr>
          <p:cNvPr id="29" name="Text 27"/>
          <p:cNvSpPr/>
          <p:nvPr/>
        </p:nvSpPr>
        <p:spPr>
          <a:xfrm>
            <a:off x="9502775" y="5451622"/>
            <a:ext cx="3464830" cy="1363662"/>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8EA0B5">
                    <a:alpha val="98000"/>
                  </a:srgbClr>
                </a:solidFill>
                <a:latin typeface="Arial" pitchFamily="34" charset="0"/>
                <a:ea typeface="Arial" pitchFamily="34" charset="-122"/>
                <a:cs typeface="Arial" pitchFamily="34" charset="-120"/>
              </a:rPr>
              <a:t>Développe des modèles prédictifs avancés (apprentissage automatique, IA).</a:t>
            </a:r>
            <a:endParaRPr lang="en-US" sz="1800" dirty="0"/>
          </a:p>
        </p:txBody>
      </p:sp>
      <p:sp>
        <p:nvSpPr>
          <p:cNvPr id="30" name="Shape 28"/>
          <p:cNvSpPr/>
          <p:nvPr/>
        </p:nvSpPr>
        <p:spPr>
          <a:xfrm>
            <a:off x="13311188" y="4744752"/>
            <a:ext cx="3910013" cy="2335213"/>
          </a:xfrm>
          <a:prstGeom prst="roundRect">
            <a:avLst>
              <a:gd name="adj" fmla="val 6526"/>
            </a:avLst>
          </a:prstGeom>
          <a:solidFill>
            <a:srgbClr val="FFFFFF">
              <a:alpha val="3000"/>
            </a:srgbClr>
          </a:solidFill>
          <a:ln w="6350">
            <a:solidFill>
              <a:srgbClr val="FFFFFF">
                <a:alpha val="9000"/>
              </a:srgbClr>
            </a:solidFill>
            <a:prstDash val="solid"/>
          </a:ln>
        </p:spPr>
      </p:sp>
      <p:sp>
        <p:nvSpPr>
          <p:cNvPr id="31" name="Text 29"/>
          <p:cNvSpPr/>
          <p:nvPr/>
        </p:nvSpPr>
        <p:spPr>
          <a:xfrm>
            <a:off x="13584238" y="5036852"/>
            <a:ext cx="3700304" cy="349250"/>
          </a:xfrm>
          <a:prstGeom prst="rect">
            <a:avLst/>
          </a:prstGeom>
          <a:noFill/>
          <a:ln/>
        </p:spPr>
        <p:txBody>
          <a:bodyPr wrap="square" lIns="25400" tIns="25400" rIns="25400" bIns="25400" rtlCol="0" anchor="t">
            <a:normAutofit/>
          </a:bodyPr>
          <a:lstStyle/>
          <a:p>
            <a:pPr algn="l" indent="0" marL="0">
              <a:buNone/>
            </a:pPr>
            <a:r>
              <a:rPr lang="en-US" sz="2175" b="1" dirty="0">
                <a:solidFill>
                  <a:srgbClr val="56DBDB">
                    <a:alpha val="94000"/>
                  </a:srgbClr>
                </a:solidFill>
                <a:latin typeface="Arial" pitchFamily="34" charset="0"/>
                <a:ea typeface="Arial" pitchFamily="34" charset="-122"/>
                <a:cs typeface="Arial" pitchFamily="34" charset="-120"/>
              </a:rPr>
              <a:t>ML Engineer</a:t>
            </a:r>
            <a:endParaRPr lang="en-US" sz="2175" dirty="0"/>
          </a:p>
        </p:txBody>
      </p:sp>
      <p:sp>
        <p:nvSpPr>
          <p:cNvPr id="32" name="Text 30"/>
          <p:cNvSpPr/>
          <p:nvPr/>
        </p:nvSpPr>
        <p:spPr>
          <a:xfrm>
            <a:off x="13584238" y="5462301"/>
            <a:ext cx="3464830" cy="1032272"/>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8EA0B5">
                    <a:alpha val="94000"/>
                  </a:srgbClr>
                </a:solidFill>
                <a:latin typeface="Arial" pitchFamily="34" charset="0"/>
                <a:ea typeface="Arial" pitchFamily="34" charset="-122"/>
                <a:cs typeface="Arial" pitchFamily="34" charset="-120"/>
              </a:rPr>
              <a:t>Industrialise et déploie en production les modèles conçus par le Data Scientist.</a:t>
            </a:r>
            <a:endParaRPr lang="en-US" sz="1800" dirty="0"/>
          </a:p>
        </p:txBody>
      </p:sp>
      <p:sp>
        <p:nvSpPr>
          <p:cNvPr id="33" name="Text 31"/>
          <p:cNvSpPr/>
          <p:nvPr/>
        </p:nvSpPr>
        <p:spPr>
          <a:xfrm>
            <a:off x="1066800" y="7311430"/>
            <a:ext cx="17769840"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alpha val="50000"/>
                  </a:srgbClr>
                </a:solidFill>
                <a:latin typeface="Arial" pitchFamily="34" charset="0"/>
                <a:ea typeface="Arial" pitchFamily="34" charset="-122"/>
                <a:cs typeface="Arial" pitchFamily="34" charset="-120"/>
              </a:rPr>
              <a:t>Ce module place l'étudiant côté </a:t>
            </a:r>
            <a:pPr algn="l" indent="0" marL="0">
              <a:buNone/>
            </a:pPr>
            <a:r>
              <a:rPr lang="en-US" sz="1875" dirty="0">
                <a:solidFill>
                  <a:srgbClr val="EEF3F9">
                    <a:alpha val="50000"/>
                  </a:srgbClr>
                </a:solidFill>
                <a:latin typeface="Arial" pitchFamily="34" charset="0"/>
                <a:ea typeface="Arial" pitchFamily="34" charset="-122"/>
                <a:cs typeface="Arial" pitchFamily="34" charset="-120"/>
              </a:rPr>
              <a:t>Data Engineer </a:t>
            </a:r>
            <a:pPr algn="l" indent="0" marL="0">
              <a:buNone/>
            </a:pPr>
            <a:r>
              <a:rPr lang="en-US" sz="1875" dirty="0">
                <a:solidFill>
                  <a:srgbClr val="8EA0B5">
                    <a:alpha val="50000"/>
                  </a:srgbClr>
                </a:solidFill>
                <a:latin typeface="Arial" pitchFamily="34" charset="0"/>
                <a:ea typeface="Arial" pitchFamily="34" charset="-122"/>
                <a:cs typeface="Arial" pitchFamily="34" charset="-120"/>
              </a:rPr>
              <a:t>(Docker, Spark, EMR) puis </a:t>
            </a:r>
            <a:pPr algn="l" indent="0" marL="0">
              <a:buNone/>
            </a:pPr>
            <a:r>
              <a:rPr lang="en-US" sz="1875" dirty="0">
                <a:solidFill>
                  <a:srgbClr val="EEF3F9">
                    <a:alpha val="50000"/>
                  </a:srgbClr>
                </a:solidFill>
                <a:latin typeface="Arial" pitchFamily="34" charset="0"/>
                <a:ea typeface="Arial" pitchFamily="34" charset="-122"/>
                <a:cs typeface="Arial" pitchFamily="34" charset="-120"/>
              </a:rPr>
              <a:t>Data Analyst </a:t>
            </a:r>
            <a:pPr algn="l" indent="0" marL="0">
              <a:buNone/>
            </a:pPr>
            <a:r>
              <a:rPr lang="en-US" sz="1875" dirty="0">
                <a:solidFill>
                  <a:srgbClr val="8EA0B5">
                    <a:alpha val="50000"/>
                  </a:srgbClr>
                </a:solidFill>
                <a:latin typeface="Arial" pitchFamily="34" charset="0"/>
                <a:ea typeface="Arial" pitchFamily="34" charset="-122"/>
                <a:cs typeface="Arial" pitchFamily="34" charset="-120"/>
              </a:rPr>
              <a:t>(requêtes et agrégations).</a:t>
            </a:r>
            <a:endParaRPr lang="en-US" sz="187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121C"/>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56DBDB">
                    <a:alpha val="96000"/>
                  </a:srgbClr>
                </a:solidFill>
                <a:latin typeface="Courier New" pitchFamily="34" charset="0"/>
                <a:ea typeface="Courier New" pitchFamily="34" charset="-122"/>
                <a:cs typeface="Courier New" pitchFamily="34" charset="-120"/>
              </a:rPr>
              <a:t>ATELIER 01 · PRATIQUE</a:t>
            </a:r>
            <a:endParaRPr lang="en-US" sz="1800" dirty="0"/>
          </a:p>
        </p:txBody>
      </p:sp>
      <p:sp>
        <p:nvSpPr>
          <p:cNvPr id="3" name="Text 1"/>
          <p:cNvSpPr/>
          <p:nvPr/>
        </p:nvSpPr>
        <p:spPr>
          <a:xfrm>
            <a:off x="1066800" y="1314499"/>
            <a:ext cx="10476041" cy="1305917"/>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Explorer un gros fichier en ligne de commande</a:t>
            </a:r>
            <a:endParaRPr lang="en-US" sz="4800" dirty="0"/>
          </a:p>
        </p:txBody>
      </p:sp>
      <p:sp>
        <p:nvSpPr>
          <p:cNvPr id="4" name="Shape 2"/>
          <p:cNvSpPr/>
          <p:nvPr/>
        </p:nvSpPr>
        <p:spPr>
          <a:xfrm>
            <a:off x="1066800" y="3001416"/>
            <a:ext cx="9503371" cy="6466483"/>
          </a:xfrm>
          <a:prstGeom prst="roundRect">
            <a:avLst>
              <a:gd name="adj" fmla="val 2357"/>
            </a:avLst>
          </a:prstGeom>
          <a:solidFill>
            <a:srgbClr val="06090E"/>
          </a:solidFill>
          <a:ln w="6350">
            <a:solidFill>
              <a:srgbClr val="FFFFFF">
                <a:alpha val="10000"/>
              </a:srgbClr>
            </a:solidFill>
            <a:prstDash val="solid"/>
          </a:ln>
        </p:spPr>
      </p:sp>
      <p:sp>
        <p:nvSpPr>
          <p:cNvPr id="5" name="Shape 3"/>
          <p:cNvSpPr/>
          <p:nvPr/>
        </p:nvSpPr>
        <p:spPr>
          <a:xfrm>
            <a:off x="1073150" y="3617366"/>
            <a:ext cx="9490671" cy="9525"/>
          </a:xfrm>
          <a:prstGeom prst="rect">
            <a:avLst/>
          </a:prstGeom>
          <a:solidFill>
            <a:srgbClr val="FFFFFF">
              <a:alpha val="6000"/>
            </a:srgbClr>
          </a:solidFill>
          <a:ln/>
        </p:spPr>
      </p:sp>
      <p:sp>
        <p:nvSpPr>
          <p:cNvPr id="6" name="Shape 4"/>
          <p:cNvSpPr/>
          <p:nvPr/>
        </p:nvSpPr>
        <p:spPr>
          <a:xfrm>
            <a:off x="1282700" y="3250653"/>
            <a:ext cx="123825" cy="123825"/>
          </a:xfrm>
          <a:prstGeom prst="ellipse">
            <a:avLst/>
          </a:prstGeom>
          <a:solidFill>
            <a:srgbClr val="FF5F57"/>
          </a:solidFill>
          <a:ln/>
        </p:spPr>
      </p:sp>
      <p:sp>
        <p:nvSpPr>
          <p:cNvPr id="7" name="Shape 5"/>
          <p:cNvSpPr/>
          <p:nvPr/>
        </p:nvSpPr>
        <p:spPr>
          <a:xfrm>
            <a:off x="1501775" y="3250653"/>
            <a:ext cx="123825" cy="123825"/>
          </a:xfrm>
          <a:prstGeom prst="ellipse">
            <a:avLst/>
          </a:prstGeom>
          <a:solidFill>
            <a:srgbClr val="FEBC2E"/>
          </a:solidFill>
          <a:ln/>
        </p:spPr>
      </p:sp>
      <p:sp>
        <p:nvSpPr>
          <p:cNvPr id="8" name="Shape 6"/>
          <p:cNvSpPr/>
          <p:nvPr/>
        </p:nvSpPr>
        <p:spPr>
          <a:xfrm>
            <a:off x="1720850" y="3250653"/>
            <a:ext cx="123825" cy="123825"/>
          </a:xfrm>
          <a:prstGeom prst="ellipse">
            <a:avLst/>
          </a:prstGeom>
          <a:solidFill>
            <a:srgbClr val="28C840"/>
          </a:solidFill>
          <a:ln/>
        </p:spPr>
      </p:sp>
      <p:sp>
        <p:nvSpPr>
          <p:cNvPr id="9" name="Text 7"/>
          <p:cNvSpPr/>
          <p:nvPr/>
        </p:nvSpPr>
        <p:spPr>
          <a:xfrm>
            <a:off x="2054225" y="3160166"/>
            <a:ext cx="30175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solidFill>
                <a:latin typeface="Courier New" pitchFamily="34" charset="0"/>
                <a:ea typeface="Courier New" pitchFamily="34" charset="-122"/>
                <a:cs typeface="Courier New" pitchFamily="34" charset="-120"/>
              </a:rPr>
              <a:t>bash — purchases.txt</a:t>
            </a:r>
            <a:endParaRPr lang="en-US" sz="1800" dirty="0"/>
          </a:p>
        </p:txBody>
      </p:sp>
      <p:sp>
        <p:nvSpPr>
          <p:cNvPr id="10" name="Text 8"/>
          <p:cNvSpPr/>
          <p:nvPr/>
        </p:nvSpPr>
        <p:spPr>
          <a:xfrm>
            <a:off x="1358900" y="3890416"/>
            <a:ext cx="9203891" cy="3934619"/>
          </a:xfrm>
          <a:prstGeom prst="rect">
            <a:avLst/>
          </a:prstGeom>
          <a:noFill/>
          <a:ln/>
        </p:spPr>
        <p:txBody>
          <a:bodyPr wrap="none" lIns="25400" tIns="25400" rIns="25400" bIns="25400" rtlCol="0" anchor="t">
            <a:normAutofit/>
          </a:bodyPr>
          <a:lstStyle/>
          <a:p>
            <a:pPr algn="l" indent="0" marL="0">
              <a:lnSpc>
                <a:spcPct val="156250"/>
              </a:lnSpc>
              <a:buNone/>
            </a:pPr>
            <a:r>
              <a:rPr lang="en-US" sz="1875" dirty="0">
                <a:solidFill>
                  <a:srgbClr val="8EA0B5"/>
                </a:solidFill>
                <a:latin typeface="Courier New" pitchFamily="34" charset="0"/>
                <a:ea typeface="Courier New" pitchFamily="34" charset="-122"/>
                <a:cs typeface="Courier New" pitchFamily="34" charset="-120"/>
              </a:rPr>
              <a:t># télécharger et décompresser</a:t>
            </a:r>
            <a:pPr algn="l" indent="0" marL="0">
              <a:lnSpc>
                <a:spcPct val="156250"/>
              </a:lnSpc>
              <a:buNone/>
            </a:pPr>
            <a:r>
              <a:rPr lang="en-US" sz="1875" dirty="0">
                <a:solidFill>
                  <a:srgbClr val="56DBDB"/>
                </a:solidFill>
                <a:latin typeface="Courier New" pitchFamily="34" charset="0"/>
                <a:ea typeface="Courier New" pitchFamily="34" charset="-122"/>
                <a:cs typeface="Courier New" pitchFamily="34" charset="-120"/>
              </a:rPr>
              <a:t>wget</a:t>
            </a:r>
            <a:pPr algn="l" indent="0" marL="0">
              <a:lnSpc>
                <a:spcPct val="156250"/>
              </a:lnSpc>
              <a:buNone/>
            </a:pPr>
            <a:r>
              <a:rPr lang="en-US" sz="1875" dirty="0">
                <a:solidFill>
                  <a:srgbClr val="CDD7E3"/>
                </a:solidFill>
                <a:latin typeface="Courier New" pitchFamily="34" charset="0"/>
                <a:ea typeface="Courier New" pitchFamily="34" charset="-122"/>
                <a:cs typeface="Courier New" pitchFamily="34" charset="-120"/>
              </a:rPr>
              <a:t> https://.../purchases.txt.gz </a:t>
            </a:r>
            <a:pPr algn="l" indent="0" marL="0">
              <a:lnSpc>
                <a:spcPct val="156250"/>
              </a:lnSpc>
              <a:buNone/>
            </a:pPr>
            <a:r>
              <a:rPr lang="en-US" sz="1875" dirty="0">
                <a:solidFill>
                  <a:srgbClr val="56DBDB"/>
                </a:solidFill>
                <a:latin typeface="Courier New" pitchFamily="34" charset="0"/>
                <a:ea typeface="Courier New" pitchFamily="34" charset="-122"/>
                <a:cs typeface="Courier New" pitchFamily="34" charset="-120"/>
              </a:rPr>
              <a:t>gunzip</a:t>
            </a:r>
            <a:pPr algn="l" indent="0" marL="0">
              <a:lnSpc>
                <a:spcPct val="156250"/>
              </a:lnSpc>
              <a:buNone/>
            </a:pPr>
            <a:r>
              <a:rPr lang="en-US" sz="1875" dirty="0">
                <a:solidFill>
                  <a:srgbClr val="CDD7E3"/>
                </a:solidFill>
                <a:latin typeface="Courier New" pitchFamily="34" charset="0"/>
                <a:ea typeface="Courier New" pitchFamily="34" charset="-122"/>
                <a:cs typeface="Courier New" pitchFamily="34" charset="-120"/>
              </a:rPr>
              <a:t> purchases.txt.gz </a:t>
            </a:r>
            <a:pPr algn="l" indent="0" marL="0">
              <a:lnSpc>
                <a:spcPct val="156250"/>
              </a:lnSpc>
              <a:buNone/>
            </a:pPr>
            <a:r>
              <a:rPr lang="en-US" sz="1875" dirty="0">
                <a:solidFill>
                  <a:srgbClr val="8EA0B5"/>
                </a:solidFill>
                <a:latin typeface="Courier New" pitchFamily="34" charset="0"/>
                <a:ea typeface="Courier New" pitchFamily="34" charset="-122"/>
                <a:cs typeface="Courier New" pitchFamily="34" charset="-120"/>
              </a:rPr>
              <a:t># taille et nombre de lignes</a:t>
            </a:r>
            <a:pPr algn="l" indent="0" marL="0">
              <a:lnSpc>
                <a:spcPct val="156250"/>
              </a:lnSpc>
              <a:buNone/>
            </a:pPr>
            <a:r>
              <a:rPr lang="en-US" sz="1875" dirty="0">
                <a:solidFill>
                  <a:srgbClr val="56DBDB"/>
                </a:solidFill>
                <a:latin typeface="Courier New" pitchFamily="34" charset="0"/>
                <a:ea typeface="Courier New" pitchFamily="34" charset="-122"/>
                <a:cs typeface="Courier New" pitchFamily="34" charset="-120"/>
              </a:rPr>
              <a:t>ls</a:t>
            </a:r>
            <a:pPr algn="l" indent="0" marL="0">
              <a:lnSpc>
                <a:spcPct val="156250"/>
              </a:lnSpc>
              <a:buNone/>
            </a:pPr>
            <a:r>
              <a:rPr lang="en-US" sz="1875" dirty="0">
                <a:solidFill>
                  <a:srgbClr val="CDD7E3"/>
                </a:solidFill>
                <a:latin typeface="Courier New" pitchFamily="34" charset="0"/>
                <a:ea typeface="Courier New" pitchFamily="34" charset="-122"/>
                <a:cs typeface="Courier New" pitchFamily="34" charset="-120"/>
              </a:rPr>
              <a:t> -l purchases.txt </a:t>
            </a:r>
            <a:pPr algn="l" indent="0" marL="0">
              <a:lnSpc>
                <a:spcPct val="156250"/>
              </a:lnSpc>
              <a:buNone/>
            </a:pPr>
            <a:r>
              <a:rPr lang="en-US" sz="1875" dirty="0">
                <a:solidFill>
                  <a:srgbClr val="56DBDB"/>
                </a:solidFill>
                <a:latin typeface="Courier New" pitchFamily="34" charset="0"/>
                <a:ea typeface="Courier New" pitchFamily="34" charset="-122"/>
                <a:cs typeface="Courier New" pitchFamily="34" charset="-120"/>
              </a:rPr>
              <a:t>wc</a:t>
            </a:r>
            <a:pPr algn="l" indent="0" marL="0">
              <a:lnSpc>
                <a:spcPct val="156250"/>
              </a:lnSpc>
              <a:buNone/>
            </a:pPr>
            <a:r>
              <a:rPr lang="en-US" sz="1875" dirty="0">
                <a:solidFill>
                  <a:srgbClr val="CDD7E3"/>
                </a:solidFill>
                <a:latin typeface="Courier New" pitchFamily="34" charset="0"/>
                <a:ea typeface="Courier New" pitchFamily="34" charset="-122"/>
                <a:cs typeface="Courier New" pitchFamily="34" charset="-120"/>
              </a:rPr>
              <a:t> -l purchases.txt </a:t>
            </a:r>
            <a:pPr algn="l" indent="0" marL="0">
              <a:lnSpc>
                <a:spcPct val="156250"/>
              </a:lnSpc>
              <a:buNone/>
            </a:pPr>
            <a:r>
              <a:rPr lang="en-US" sz="1875" dirty="0">
                <a:solidFill>
                  <a:srgbClr val="8EA0B5"/>
                </a:solidFill>
                <a:latin typeface="Courier New" pitchFamily="34" charset="0"/>
                <a:ea typeface="Courier New" pitchFamily="34" charset="-122"/>
                <a:cs typeface="Courier New" pitchFamily="34" charset="-120"/>
              </a:rPr>
              <a:t># homogénéité du format</a:t>
            </a:r>
            <a:pPr algn="l" indent="0" marL="0">
              <a:lnSpc>
                <a:spcPct val="156250"/>
              </a:lnSpc>
              <a:buNone/>
            </a:pPr>
            <a:r>
              <a:rPr lang="en-US" sz="1875" dirty="0">
                <a:solidFill>
                  <a:srgbClr val="56DBDB"/>
                </a:solidFill>
                <a:latin typeface="Courier New" pitchFamily="34" charset="0"/>
                <a:ea typeface="Courier New" pitchFamily="34" charset="-122"/>
                <a:cs typeface="Courier New" pitchFamily="34" charset="-120"/>
              </a:rPr>
              <a:t>awk</a:t>
            </a:r>
            <a:pPr algn="l" indent="0" marL="0">
              <a:lnSpc>
                <a:spcPct val="156250"/>
              </a:lnSpc>
              <a:buNone/>
            </a:pPr>
            <a:r>
              <a:rPr lang="en-US" sz="1875" dirty="0">
                <a:solidFill>
                  <a:srgbClr val="CDD7E3"/>
                </a:solidFill>
                <a:latin typeface="Courier New" pitchFamily="34" charset="0"/>
                <a:ea typeface="Courier New" pitchFamily="34" charset="-122"/>
                <a:cs typeface="Courier New" pitchFamily="34" charset="-120"/>
              </a:rPr>
              <a:t> -F</a:t>
            </a:r>
            <a:pPr algn="l" indent="0" marL="0">
              <a:lnSpc>
                <a:spcPct val="156250"/>
              </a:lnSpc>
              <a:buNone/>
            </a:pPr>
            <a:r>
              <a:rPr lang="en-US" sz="1875" dirty="0">
                <a:solidFill>
                  <a:srgbClr val="FFB46E"/>
                </a:solidFill>
                <a:latin typeface="Courier New" pitchFamily="34" charset="0"/>
                <a:ea typeface="Courier New" pitchFamily="34" charset="-122"/>
                <a:cs typeface="Courier New" pitchFamily="34" charset="-120"/>
              </a:rPr>
              <a:t>'\t'</a:t>
            </a:r>
            <a:pPr algn="l" indent="0" marL="0">
              <a:lnSpc>
                <a:spcPct val="156250"/>
              </a:lnSpc>
              <a:buNone/>
            </a:pPr>
            <a:r>
              <a:rPr lang="en-US" sz="1875" dirty="0">
                <a:solidFill>
                  <a:srgbClr val="CDD7E3"/>
                </a:solidFill>
                <a:latin typeface="Courier New" pitchFamily="34" charset="0"/>
                <a:ea typeface="Courier New" pitchFamily="34" charset="-122"/>
                <a:cs typeface="Courier New" pitchFamily="34" charset="-120"/>
              </a:rPr>
              <a:t> </a:t>
            </a:r>
            <a:pPr algn="l" indent="0" marL="0">
              <a:lnSpc>
                <a:spcPct val="156250"/>
              </a:lnSpc>
              <a:buNone/>
            </a:pPr>
            <a:r>
              <a:rPr lang="en-US" sz="1875" dirty="0">
                <a:solidFill>
                  <a:srgbClr val="FFB46E"/>
                </a:solidFill>
                <a:latin typeface="Courier New" pitchFamily="34" charset="0"/>
                <a:ea typeface="Courier New" pitchFamily="34" charset="-122"/>
                <a:cs typeface="Courier New" pitchFamily="34" charset="-120"/>
              </a:rPr>
              <a:t>'{print NF}'</a:t>
            </a:r>
            <a:pPr algn="l" indent="0" marL="0">
              <a:lnSpc>
                <a:spcPct val="156250"/>
              </a:lnSpc>
              <a:buNone/>
            </a:pPr>
            <a:r>
              <a:rPr lang="en-US" sz="1875" dirty="0">
                <a:solidFill>
                  <a:srgbClr val="CDD7E3"/>
                </a:solidFill>
                <a:latin typeface="Courier New" pitchFamily="34" charset="0"/>
                <a:ea typeface="Courier New" pitchFamily="34" charset="-122"/>
                <a:cs typeface="Courier New" pitchFamily="34" charset="-120"/>
              </a:rPr>
              <a:t> purchases.txt | </a:t>
            </a:r>
            <a:pPr algn="l" indent="0" marL="0">
              <a:lnSpc>
                <a:spcPct val="156250"/>
              </a:lnSpc>
              <a:buNone/>
            </a:pPr>
            <a:r>
              <a:rPr lang="en-US" sz="1875" dirty="0">
                <a:solidFill>
                  <a:srgbClr val="56DBDB"/>
                </a:solidFill>
                <a:latin typeface="Courier New" pitchFamily="34" charset="0"/>
                <a:ea typeface="Courier New" pitchFamily="34" charset="-122"/>
                <a:cs typeface="Courier New" pitchFamily="34" charset="-120"/>
              </a:rPr>
              <a:t>sort</a:t>
            </a:r>
            <a:pPr algn="l" indent="0" marL="0">
              <a:lnSpc>
                <a:spcPct val="156250"/>
              </a:lnSpc>
              <a:buNone/>
            </a:pPr>
            <a:r>
              <a:rPr lang="en-US" sz="1875" dirty="0">
                <a:solidFill>
                  <a:srgbClr val="CDD7E3"/>
                </a:solidFill>
                <a:latin typeface="Courier New" pitchFamily="34" charset="0"/>
                <a:ea typeface="Courier New" pitchFamily="34" charset="-122"/>
                <a:cs typeface="Courier New" pitchFamily="34" charset="-120"/>
              </a:rPr>
              <a:t> -u </a:t>
            </a:r>
            <a:pPr algn="l" indent="0" marL="0">
              <a:lnSpc>
                <a:spcPct val="156250"/>
              </a:lnSpc>
              <a:buNone/>
            </a:pPr>
            <a:r>
              <a:rPr lang="en-US" sz="1875" dirty="0">
                <a:solidFill>
                  <a:srgbClr val="8EA0B5"/>
                </a:solidFill>
                <a:latin typeface="Courier New" pitchFamily="34" charset="0"/>
                <a:ea typeface="Courier New" pitchFamily="34" charset="-122"/>
                <a:cs typeface="Courier New" pitchFamily="34" charset="-120"/>
              </a:rPr>
              <a:t># valeurs distinctes d'une colonne</a:t>
            </a:r>
            <a:pPr algn="l" indent="0" marL="0">
              <a:lnSpc>
                <a:spcPct val="156250"/>
              </a:lnSpc>
              <a:buNone/>
            </a:pPr>
            <a:r>
              <a:rPr lang="en-US" sz="1875" dirty="0">
                <a:solidFill>
                  <a:srgbClr val="56DBDB"/>
                </a:solidFill>
                <a:latin typeface="Courier New" pitchFamily="34" charset="0"/>
                <a:ea typeface="Courier New" pitchFamily="34" charset="-122"/>
                <a:cs typeface="Courier New" pitchFamily="34" charset="-120"/>
              </a:rPr>
              <a:t>awk</a:t>
            </a:r>
            <a:pPr algn="l" indent="0" marL="0">
              <a:lnSpc>
                <a:spcPct val="156250"/>
              </a:lnSpc>
              <a:buNone/>
            </a:pPr>
            <a:r>
              <a:rPr lang="en-US" sz="1875" dirty="0">
                <a:solidFill>
                  <a:srgbClr val="CDD7E3"/>
                </a:solidFill>
                <a:latin typeface="Courier New" pitchFamily="34" charset="0"/>
                <a:ea typeface="Courier New" pitchFamily="34" charset="-122"/>
                <a:cs typeface="Courier New" pitchFamily="34" charset="-120"/>
              </a:rPr>
              <a:t> -F</a:t>
            </a:r>
            <a:pPr algn="l" indent="0" marL="0">
              <a:lnSpc>
                <a:spcPct val="156250"/>
              </a:lnSpc>
              <a:buNone/>
            </a:pPr>
            <a:r>
              <a:rPr lang="en-US" sz="1875" dirty="0">
                <a:solidFill>
                  <a:srgbClr val="FFB46E"/>
                </a:solidFill>
                <a:latin typeface="Courier New" pitchFamily="34" charset="0"/>
                <a:ea typeface="Courier New" pitchFamily="34" charset="-122"/>
                <a:cs typeface="Courier New" pitchFamily="34" charset="-120"/>
              </a:rPr>
              <a:t>'\t'</a:t>
            </a:r>
            <a:pPr algn="l" indent="0" marL="0">
              <a:lnSpc>
                <a:spcPct val="156250"/>
              </a:lnSpc>
              <a:buNone/>
            </a:pPr>
            <a:r>
              <a:rPr lang="en-US" sz="1875" dirty="0">
                <a:solidFill>
                  <a:srgbClr val="CDD7E3"/>
                </a:solidFill>
                <a:latin typeface="Courier New" pitchFamily="34" charset="0"/>
                <a:ea typeface="Courier New" pitchFamily="34" charset="-122"/>
                <a:cs typeface="Courier New" pitchFamily="34" charset="-120"/>
              </a:rPr>
              <a:t> </a:t>
            </a:r>
            <a:pPr algn="l" indent="0" marL="0">
              <a:lnSpc>
                <a:spcPct val="156250"/>
              </a:lnSpc>
              <a:buNone/>
            </a:pPr>
            <a:r>
              <a:rPr lang="en-US" sz="1875" dirty="0">
                <a:solidFill>
                  <a:srgbClr val="FFB46E"/>
                </a:solidFill>
                <a:latin typeface="Courier New" pitchFamily="34" charset="0"/>
                <a:ea typeface="Courier New" pitchFamily="34" charset="-122"/>
                <a:cs typeface="Courier New" pitchFamily="34" charset="-120"/>
              </a:rPr>
              <a:t>'{print $6}'</a:t>
            </a:r>
            <a:pPr algn="l" indent="0" marL="0">
              <a:lnSpc>
                <a:spcPct val="156250"/>
              </a:lnSpc>
              <a:buNone/>
            </a:pPr>
            <a:r>
              <a:rPr lang="en-US" sz="1875" dirty="0">
                <a:solidFill>
                  <a:srgbClr val="CDD7E3"/>
                </a:solidFill>
                <a:latin typeface="Courier New" pitchFamily="34" charset="0"/>
                <a:ea typeface="Courier New" pitchFamily="34" charset="-122"/>
                <a:cs typeface="Courier New" pitchFamily="34" charset="-120"/>
              </a:rPr>
              <a:t> purchases.txt | </a:t>
            </a:r>
            <a:pPr algn="l" indent="0" marL="0">
              <a:lnSpc>
                <a:spcPct val="156250"/>
              </a:lnSpc>
              <a:buNone/>
            </a:pPr>
            <a:r>
              <a:rPr lang="en-US" sz="1875" dirty="0">
                <a:solidFill>
                  <a:srgbClr val="56DBDB"/>
                </a:solidFill>
                <a:latin typeface="Courier New" pitchFamily="34" charset="0"/>
                <a:ea typeface="Courier New" pitchFamily="34" charset="-122"/>
                <a:cs typeface="Courier New" pitchFamily="34" charset="-120"/>
              </a:rPr>
              <a:t>sort</a:t>
            </a:r>
            <a:pPr algn="l" indent="0" marL="0">
              <a:lnSpc>
                <a:spcPct val="156250"/>
              </a:lnSpc>
              <a:buNone/>
            </a:pPr>
            <a:r>
              <a:rPr lang="en-US" sz="1875" dirty="0">
                <a:solidFill>
                  <a:srgbClr val="CDD7E3"/>
                </a:solidFill>
                <a:latin typeface="Courier New" pitchFamily="34" charset="0"/>
                <a:ea typeface="Courier New" pitchFamily="34" charset="-122"/>
                <a:cs typeface="Courier New" pitchFamily="34" charset="-120"/>
              </a:rPr>
              <a:t> -u</a:t>
            </a:r>
            <a:endParaRPr lang="en-US" sz="1875" dirty="0"/>
          </a:p>
        </p:txBody>
      </p:sp>
      <p:sp>
        <p:nvSpPr>
          <p:cNvPr id="11" name="Text 9"/>
          <p:cNvSpPr/>
          <p:nvPr/>
        </p:nvSpPr>
        <p:spPr>
          <a:xfrm>
            <a:off x="10894021" y="4148137"/>
            <a:ext cx="6959898" cy="410468"/>
          </a:xfrm>
          <a:prstGeom prst="rect">
            <a:avLst/>
          </a:prstGeom>
          <a:noFill/>
          <a:ln/>
        </p:spPr>
        <p:txBody>
          <a:bodyPr wrap="square" lIns="25400" tIns="25400" rIns="25400" bIns="25400" rtlCol="0" anchor="t">
            <a:normAutofit/>
          </a:bodyPr>
          <a:lstStyle/>
          <a:p>
            <a:pPr algn="l" indent="0" marL="0">
              <a:lnSpc>
                <a:spcPct val="99407"/>
              </a:lnSpc>
              <a:buNone/>
            </a:pPr>
            <a:r>
              <a:rPr lang="en-US" sz="2550" b="1" dirty="0">
                <a:solidFill>
                  <a:srgbClr val="EEF3F9">
                    <a:alpha val="80000"/>
                  </a:srgbClr>
                </a:solidFill>
                <a:latin typeface="Arial" pitchFamily="34" charset="0"/>
                <a:ea typeface="Arial" pitchFamily="34" charset="-122"/>
                <a:cs typeface="Arial" pitchFamily="34" charset="-120"/>
              </a:rPr>
              <a:t>Limites d’un tableur</a:t>
            </a:r>
            <a:endParaRPr lang="en-US" sz="2550" dirty="0"/>
          </a:p>
        </p:txBody>
      </p:sp>
      <p:sp>
        <p:nvSpPr>
          <p:cNvPr id="12" name="Text 10"/>
          <p:cNvSpPr/>
          <p:nvPr/>
        </p:nvSpPr>
        <p:spPr>
          <a:xfrm>
            <a:off x="10894021" y="4787205"/>
            <a:ext cx="6516995" cy="952500"/>
          </a:xfrm>
          <a:prstGeom prst="rect">
            <a:avLst/>
          </a:prstGeom>
          <a:noFill/>
          <a:ln/>
        </p:spPr>
        <p:txBody>
          <a:bodyPr wrap="square" lIns="25400" tIns="25400" rIns="25400" bIns="25400" rtlCol="0" anchor="t">
            <a:normAutofit/>
          </a:bodyPr>
          <a:lstStyle/>
          <a:p>
            <a:pPr algn="l" indent="0" marL="0">
              <a:lnSpc>
                <a:spcPct val="130909"/>
              </a:lnSpc>
              <a:buNone/>
            </a:pPr>
            <a:r>
              <a:rPr lang="en-US" sz="2400" dirty="0">
                <a:solidFill>
                  <a:srgbClr val="EEF3F9">
                    <a:alpha val="80000"/>
                  </a:srgbClr>
                </a:solidFill>
                <a:latin typeface="Arial" pitchFamily="34" charset="0"/>
                <a:ea typeface="Arial" pitchFamily="34" charset="-122"/>
                <a:cs typeface="Arial" pitchFamily="34" charset="-120"/>
              </a:rPr>
              <a:t>wc</a:t>
            </a:r>
            <a:pPr algn="l" indent="0" marL="0">
              <a:lnSpc>
                <a:spcPct val="130909"/>
              </a:lnSpc>
              <a:buNone/>
            </a:pPr>
            <a:r>
              <a:rPr lang="en-US" sz="2400" dirty="0">
                <a:solidFill>
                  <a:srgbClr val="8EA0B5">
                    <a:alpha val="80000"/>
                  </a:srgbClr>
                </a:solidFill>
                <a:latin typeface="Arial" pitchFamily="34" charset="0"/>
                <a:ea typeface="Arial" pitchFamily="34" charset="-122"/>
                <a:cs typeface="Arial" pitchFamily="34" charset="-120"/>
              </a:rPr>
              <a:t>, </a:t>
            </a:r>
            <a:pPr algn="l" indent="0" marL="0">
              <a:lnSpc>
                <a:spcPct val="130909"/>
              </a:lnSpc>
              <a:buNone/>
            </a:pPr>
            <a:r>
              <a:rPr lang="en-US" sz="2400" dirty="0">
                <a:solidFill>
                  <a:srgbClr val="EEF3F9">
                    <a:alpha val="80000"/>
                  </a:srgbClr>
                </a:solidFill>
                <a:latin typeface="Arial" pitchFamily="34" charset="0"/>
                <a:ea typeface="Arial" pitchFamily="34" charset="-122"/>
                <a:cs typeface="Arial" pitchFamily="34" charset="-120"/>
              </a:rPr>
              <a:t>awk </a:t>
            </a:r>
            <a:pPr algn="l" indent="0" marL="0">
              <a:lnSpc>
                <a:spcPct val="130909"/>
              </a:lnSpc>
              <a:buNone/>
            </a:pPr>
            <a:r>
              <a:rPr lang="en-US" sz="2400" dirty="0">
                <a:solidFill>
                  <a:srgbClr val="8EA0B5">
                    <a:alpha val="80000"/>
                  </a:srgbClr>
                </a:solidFill>
                <a:latin typeface="Arial" pitchFamily="34" charset="0"/>
                <a:ea typeface="Arial" pitchFamily="34" charset="-122"/>
                <a:cs typeface="Arial" pitchFamily="34" charset="-120"/>
              </a:rPr>
              <a:t>et </a:t>
            </a:r>
            <a:pPr algn="l" indent="0" marL="0">
              <a:lnSpc>
                <a:spcPct val="130909"/>
              </a:lnSpc>
              <a:buNone/>
            </a:pPr>
            <a:r>
              <a:rPr lang="en-US" sz="2400" dirty="0">
                <a:solidFill>
                  <a:srgbClr val="EEF3F9">
                    <a:alpha val="80000"/>
                  </a:srgbClr>
                </a:solidFill>
                <a:latin typeface="Arial" pitchFamily="34" charset="0"/>
                <a:ea typeface="Arial" pitchFamily="34" charset="-122"/>
                <a:cs typeface="Arial" pitchFamily="34" charset="-120"/>
              </a:rPr>
              <a:t>sort </a:t>
            </a:r>
            <a:pPr algn="l" indent="0" marL="0">
              <a:lnSpc>
                <a:spcPct val="130909"/>
              </a:lnSpc>
              <a:buNone/>
            </a:pPr>
            <a:r>
              <a:rPr lang="en-US" sz="2400" dirty="0">
                <a:solidFill>
                  <a:srgbClr val="8EA0B5">
                    <a:alpha val="80000"/>
                  </a:srgbClr>
                </a:solidFill>
                <a:latin typeface="Arial" pitchFamily="34" charset="0"/>
                <a:ea typeface="Arial" pitchFamily="34" charset="-122"/>
                <a:cs typeface="Arial" pitchFamily="34" charset="-120"/>
              </a:rPr>
              <a:t>traitent le flux ligne par ligne — jamais tout le fichier en RAM.</a:t>
            </a:r>
            <a:endParaRPr lang="en-US" sz="2400" dirty="0"/>
          </a:p>
        </p:txBody>
      </p:sp>
      <p:sp>
        <p:nvSpPr>
          <p:cNvPr id="13" name="Text 11"/>
          <p:cNvSpPr/>
          <p:nvPr/>
        </p:nvSpPr>
        <p:spPr>
          <a:xfrm>
            <a:off x="10894021" y="5968305"/>
            <a:ext cx="6516995" cy="1409700"/>
          </a:xfrm>
          <a:prstGeom prst="rect">
            <a:avLst/>
          </a:prstGeom>
          <a:noFill/>
          <a:ln/>
        </p:spPr>
        <p:txBody>
          <a:bodyPr wrap="square" lIns="25400" tIns="25400" rIns="25400" bIns="25400" rtlCol="0" anchor="t">
            <a:normAutofit/>
          </a:bodyPr>
          <a:lstStyle/>
          <a:p>
            <a:pPr algn="l" indent="0" marL="0">
              <a:lnSpc>
                <a:spcPct val="130909"/>
              </a:lnSpc>
              <a:buNone/>
            </a:pPr>
            <a:r>
              <a:rPr lang="en-US" sz="2400" dirty="0">
                <a:solidFill>
                  <a:srgbClr val="8EA0B5">
                    <a:alpha val="80000"/>
                  </a:srgbClr>
                </a:solidFill>
                <a:latin typeface="Arial" pitchFamily="34" charset="0"/>
                <a:ea typeface="Arial" pitchFamily="34" charset="-122"/>
                <a:cs typeface="Arial" pitchFamily="34" charset="-120"/>
              </a:rPr>
              <a:t>Ils restent utilisables sur plusieurs centaines de Mo, là où un tableur charge tout avant d'afficher quoi que ce soit.</a:t>
            </a:r>
            <a:endParaRPr lang="en-US" sz="2400" dirty="0"/>
          </a:p>
        </p:txBody>
      </p:sp>
      <p:sp>
        <p:nvSpPr>
          <p:cNvPr id="14" name="Shape 12"/>
          <p:cNvSpPr/>
          <p:nvPr/>
        </p:nvSpPr>
        <p:spPr>
          <a:xfrm>
            <a:off x="10894021" y="7606605"/>
            <a:ext cx="25400" cy="714375"/>
          </a:xfrm>
          <a:prstGeom prst="rect">
            <a:avLst/>
          </a:prstGeom>
          <a:solidFill>
            <a:srgbClr val="56DBDB">
              <a:alpha val="80000"/>
            </a:srgbClr>
          </a:solidFill>
          <a:ln/>
        </p:spPr>
      </p:sp>
      <p:sp>
        <p:nvSpPr>
          <p:cNvPr id="15" name="Text 13"/>
          <p:cNvSpPr/>
          <p:nvPr/>
        </p:nvSpPr>
        <p:spPr>
          <a:xfrm>
            <a:off x="11128971" y="7606605"/>
            <a:ext cx="6282045" cy="752475"/>
          </a:xfrm>
          <a:prstGeom prst="rect">
            <a:avLst/>
          </a:prstGeom>
          <a:noFill/>
          <a:ln/>
        </p:spPr>
        <p:txBody>
          <a:bodyPr wrap="square" lIns="25400" tIns="25400" rIns="25400" bIns="25400" rtlCol="0" anchor="t">
            <a:normAutofit/>
          </a:bodyPr>
          <a:lstStyle/>
          <a:p>
            <a:pPr algn="l" indent="0" marL="0">
              <a:lnSpc>
                <a:spcPct val="130814"/>
              </a:lnSpc>
              <a:buNone/>
            </a:pPr>
            <a:r>
              <a:rPr lang="en-US" sz="1875" dirty="0">
                <a:solidFill>
                  <a:srgbClr val="8EA0B5">
                    <a:alpha val="80000"/>
                  </a:srgbClr>
                </a:solidFill>
                <a:latin typeface="Arial" pitchFamily="34" charset="0"/>
                <a:ea typeface="Arial" pitchFamily="34" charset="-122"/>
                <a:cs typeface="Arial" pitchFamily="34" charset="-120"/>
              </a:rPr>
              <a:t>Un premier aperçu, à petite échelle, du traitement par blocs des architectures distribuées.</a:t>
            </a:r>
            <a:endParaRPr lang="en-US" sz="187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C121C"/>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55DCDC">
                  <a:alpha val="14000"/>
                </a:srgbClr>
              </a:gs>
              <a:gs pos="60000">
                <a:srgbClr val="55DCDC">
                  <a:alpha val="0"/>
                </a:srgbClr>
              </a:gs>
            </a:gsLst>
            <a:path path="circle">
              <a:fillToRect l="80000" t="8000" r="20000" b="92000"/>
            </a:path>
          </a:gradFill>
          <a:ln/>
        </p:spPr>
      </p:sp>
      <p:sp>
        <p:nvSpPr>
          <p:cNvPr id="3" name="Shape 1"/>
          <p:cNvSpPr/>
          <p:nvPr/>
        </p:nvSpPr>
        <p:spPr>
          <a:xfrm>
            <a:off x="1066800" y="819150"/>
            <a:ext cx="419100" cy="419100"/>
          </a:xfrm>
          <a:prstGeom prst="roundRect">
            <a:avLst>
              <a:gd name="adj" fmla="val 27273"/>
            </a:avLst>
          </a:prstGeom>
          <a:ln w="19050">
            <a:solidFill>
              <a:srgbClr val="56DBDB">
                <a:alpha val="97000"/>
              </a:srgbClr>
            </a:solidFill>
            <a:prstDash val="solid"/>
          </a:ln>
        </p:spPr>
      </p:sp>
      <p:sp>
        <p:nvSpPr>
          <p:cNvPr id="4" name="Text 2"/>
          <p:cNvSpPr/>
          <p:nvPr/>
        </p:nvSpPr>
        <p:spPr>
          <a:xfrm>
            <a:off x="1047750" y="838200"/>
            <a:ext cx="457200" cy="419100"/>
          </a:xfrm>
          <a:prstGeom prst="rect">
            <a:avLst/>
          </a:prstGeom>
          <a:noFill/>
          <a:ln/>
        </p:spPr>
        <p:txBody>
          <a:bodyPr wrap="square" lIns="25400" tIns="25400" rIns="25400" bIns="25400" rtlCol="0" anchor="ctr">
            <a:normAutofit/>
          </a:bodyPr>
          <a:lstStyle/>
          <a:p>
            <a:pPr algn="ctr" indent="0" marL="0">
              <a:buNone/>
            </a:pPr>
            <a:r>
              <a:rPr lang="en-US" sz="1950" spc="432" kern="0" dirty="0">
                <a:solidFill>
                  <a:srgbClr val="56DBDB">
                    <a:alpha val="97000"/>
                  </a:srgbClr>
                </a:solidFill>
                <a:latin typeface="Courier New" pitchFamily="34" charset="0"/>
                <a:ea typeface="Courier New" pitchFamily="34" charset="-122"/>
                <a:cs typeface="Courier New" pitchFamily="34" charset="-120"/>
              </a:rPr>
              <a:t>?</a:t>
            </a:r>
            <a:endParaRPr lang="en-US" sz="1950" dirty="0"/>
          </a:p>
        </p:txBody>
      </p:sp>
      <p:sp>
        <p:nvSpPr>
          <p:cNvPr id="5" name="Text 3"/>
          <p:cNvSpPr/>
          <p:nvPr/>
        </p:nvSpPr>
        <p:spPr>
          <a:xfrm>
            <a:off x="1638300" y="876300"/>
            <a:ext cx="3362430" cy="342900"/>
          </a:xfrm>
          <a:prstGeom prst="rect">
            <a:avLst/>
          </a:prstGeom>
          <a:noFill/>
          <a:ln/>
        </p:spPr>
        <p:txBody>
          <a:bodyPr wrap="square" lIns="0" tIns="0" rIns="0" bIns="0" rtlCol="0" anchor="t">
            <a:normAutofit/>
          </a:bodyPr>
          <a:lstStyle/>
          <a:p>
            <a:pPr algn="l" indent="0" marL="0">
              <a:buNone/>
            </a:pPr>
            <a:r>
              <a:rPr lang="en-US" sz="1800" spc="432" kern="0" dirty="0">
                <a:solidFill>
                  <a:srgbClr val="56DBDB">
                    <a:alpha val="97000"/>
                  </a:srgbClr>
                </a:solidFill>
                <a:latin typeface="Courier New" pitchFamily="34" charset="0"/>
                <a:ea typeface="Courier New" pitchFamily="34" charset="-122"/>
                <a:cs typeface="Courier New" pitchFamily="34" charset="-120"/>
              </a:rPr>
              <a:t>QUIZ · ATELIER 01</a:t>
            </a:r>
            <a:endParaRPr lang="en-US" sz="1800" dirty="0"/>
          </a:p>
        </p:txBody>
      </p:sp>
      <p:sp>
        <p:nvSpPr>
          <p:cNvPr id="6" name="Text 4"/>
          <p:cNvSpPr/>
          <p:nvPr/>
        </p:nvSpPr>
        <p:spPr>
          <a:xfrm>
            <a:off x="1066800" y="1428751"/>
            <a:ext cx="17769840"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Testez vos connaissances</a:t>
            </a:r>
            <a:endParaRPr lang="en-US" sz="4800" dirty="0"/>
          </a:p>
        </p:txBody>
      </p:sp>
      <p:sp>
        <p:nvSpPr>
          <p:cNvPr id="7" name="Text 5"/>
          <p:cNvSpPr/>
          <p:nvPr/>
        </p:nvSpPr>
        <p:spPr>
          <a:xfrm>
            <a:off x="1066800" y="2481760"/>
            <a:ext cx="8654415" cy="369491"/>
          </a:xfrm>
          <a:prstGeom prst="rect">
            <a:avLst/>
          </a:prstGeom>
          <a:noFill/>
          <a:ln/>
        </p:spPr>
        <p:txBody>
          <a:bodyPr wrap="square" lIns="25400" tIns="25400" rIns="25400" bIns="25400" rtlCol="0" anchor="t">
            <a:normAutofit/>
          </a:bodyPr>
          <a:lstStyle/>
          <a:p>
            <a:pPr algn="l" indent="0" marL="0">
              <a:lnSpc>
                <a:spcPct val="106531"/>
              </a:lnSpc>
              <a:buNone/>
            </a:pPr>
            <a:r>
              <a:rPr lang="en-US" sz="2175" b="1" dirty="0">
                <a:solidFill>
                  <a:srgbClr val="EEF3F9"/>
                </a:solidFill>
                <a:latin typeface="Arial" pitchFamily="34" charset="0"/>
                <a:ea typeface="Arial" pitchFamily="34" charset="-122"/>
                <a:cs typeface="Arial" pitchFamily="34" charset="-120"/>
              </a:rPr>
              <a:t>Quelle affirmation décrit le mieux le Big Data ?</a:t>
            </a:r>
            <a:endParaRPr lang="en-US" sz="2175" dirty="0"/>
          </a:p>
        </p:txBody>
      </p:sp>
      <p:sp>
        <p:nvSpPr>
          <p:cNvPr id="8" name="Shape 6"/>
          <p:cNvSpPr/>
          <p:nvPr/>
        </p:nvSpPr>
        <p:spPr>
          <a:xfrm>
            <a:off x="1066800" y="3022701"/>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9" name="Shape 7"/>
          <p:cNvSpPr/>
          <p:nvPr/>
        </p:nvSpPr>
        <p:spPr>
          <a:xfrm>
            <a:off x="1282700" y="3200501"/>
            <a:ext cx="323850" cy="323850"/>
          </a:xfrm>
          <a:prstGeom prst="roundRect">
            <a:avLst>
              <a:gd name="adj" fmla="val 23529"/>
            </a:avLst>
          </a:prstGeom>
          <a:solidFill>
            <a:srgbClr val="FFFFFF">
              <a:alpha val="6000"/>
            </a:srgbClr>
          </a:solidFill>
          <a:ln/>
        </p:spPr>
      </p:sp>
      <p:sp>
        <p:nvSpPr>
          <p:cNvPr id="10" name="Text 8"/>
          <p:cNvSpPr/>
          <p:nvPr/>
        </p:nvSpPr>
        <p:spPr>
          <a:xfrm>
            <a:off x="1244600" y="3200501"/>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solidFill>
                <a:latin typeface="Arial" pitchFamily="34" charset="0"/>
                <a:ea typeface="Arial" pitchFamily="34" charset="-122"/>
                <a:cs typeface="Arial" pitchFamily="34" charset="-120"/>
              </a:rPr>
              <a:t>A</a:t>
            </a:r>
            <a:endParaRPr lang="en-US" sz="1875" dirty="0"/>
          </a:p>
        </p:txBody>
      </p:sp>
      <p:sp>
        <p:nvSpPr>
          <p:cNvPr id="11" name="Text 9"/>
          <p:cNvSpPr/>
          <p:nvPr/>
        </p:nvSpPr>
        <p:spPr>
          <a:xfrm>
            <a:off x="1758950" y="3210026"/>
            <a:ext cx="5047099"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solidFill>
                <a:latin typeface="Arial" pitchFamily="34" charset="0"/>
                <a:ea typeface="Arial" pitchFamily="34" charset="-122"/>
                <a:cs typeface="Arial" pitchFamily="34" charset="-120"/>
              </a:rPr>
              <a:t>Des données très nombreuses uniquement</a:t>
            </a:r>
            <a:endParaRPr lang="en-US" sz="1875" dirty="0"/>
          </a:p>
        </p:txBody>
      </p:sp>
      <p:sp>
        <p:nvSpPr>
          <p:cNvPr id="12" name="Shape 10"/>
          <p:cNvSpPr/>
          <p:nvPr/>
        </p:nvSpPr>
        <p:spPr>
          <a:xfrm>
            <a:off x="1066800" y="3835501"/>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13" name="Shape 11"/>
          <p:cNvSpPr/>
          <p:nvPr/>
        </p:nvSpPr>
        <p:spPr>
          <a:xfrm>
            <a:off x="1282700" y="4013301"/>
            <a:ext cx="323850" cy="323850"/>
          </a:xfrm>
          <a:prstGeom prst="roundRect">
            <a:avLst>
              <a:gd name="adj" fmla="val 23529"/>
            </a:avLst>
          </a:prstGeom>
          <a:solidFill>
            <a:srgbClr val="FFFFFF">
              <a:alpha val="6000"/>
            </a:srgbClr>
          </a:solidFill>
          <a:ln/>
        </p:spPr>
      </p:sp>
      <p:sp>
        <p:nvSpPr>
          <p:cNvPr id="14" name="Text 12"/>
          <p:cNvSpPr/>
          <p:nvPr/>
        </p:nvSpPr>
        <p:spPr>
          <a:xfrm>
            <a:off x="1244600" y="4013301"/>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solidFill>
                <a:latin typeface="Arial" pitchFamily="34" charset="0"/>
                <a:ea typeface="Arial" pitchFamily="34" charset="-122"/>
                <a:cs typeface="Arial" pitchFamily="34" charset="-120"/>
              </a:rPr>
              <a:t>B</a:t>
            </a:r>
            <a:endParaRPr lang="en-US" sz="1875" dirty="0"/>
          </a:p>
        </p:txBody>
      </p:sp>
      <p:sp>
        <p:nvSpPr>
          <p:cNvPr id="15" name="Text 13"/>
          <p:cNvSpPr/>
          <p:nvPr/>
        </p:nvSpPr>
        <p:spPr>
          <a:xfrm>
            <a:off x="1758950" y="4022826"/>
            <a:ext cx="7573923"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solidFill>
                <a:latin typeface="Arial" pitchFamily="34" charset="0"/>
                <a:ea typeface="Arial" pitchFamily="34" charset="-122"/>
                <a:cs typeface="Arial" pitchFamily="34" charset="-120"/>
              </a:rPr>
              <a:t>Des données qui dépassent les capacités des outils traditionnels</a:t>
            </a:r>
            <a:endParaRPr lang="en-US" sz="1875" dirty="0"/>
          </a:p>
        </p:txBody>
      </p:sp>
      <p:sp>
        <p:nvSpPr>
          <p:cNvPr id="16" name="Shape 14"/>
          <p:cNvSpPr/>
          <p:nvPr/>
        </p:nvSpPr>
        <p:spPr>
          <a:xfrm>
            <a:off x="1066800" y="4648301"/>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17" name="Shape 15"/>
          <p:cNvSpPr/>
          <p:nvPr/>
        </p:nvSpPr>
        <p:spPr>
          <a:xfrm>
            <a:off x="1282700" y="4826101"/>
            <a:ext cx="323850" cy="323850"/>
          </a:xfrm>
          <a:prstGeom prst="roundRect">
            <a:avLst>
              <a:gd name="adj" fmla="val 23529"/>
            </a:avLst>
          </a:prstGeom>
          <a:solidFill>
            <a:srgbClr val="FFFFFF">
              <a:alpha val="6000"/>
            </a:srgbClr>
          </a:solidFill>
          <a:ln/>
        </p:spPr>
      </p:sp>
      <p:sp>
        <p:nvSpPr>
          <p:cNvPr id="18" name="Text 16"/>
          <p:cNvSpPr/>
          <p:nvPr/>
        </p:nvSpPr>
        <p:spPr>
          <a:xfrm>
            <a:off x="1244600" y="4826101"/>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solidFill>
                <a:latin typeface="Arial" pitchFamily="34" charset="0"/>
                <a:ea typeface="Arial" pitchFamily="34" charset="-122"/>
                <a:cs typeface="Arial" pitchFamily="34" charset="-120"/>
              </a:rPr>
              <a:t>C</a:t>
            </a:r>
            <a:endParaRPr lang="en-US" sz="1875" dirty="0"/>
          </a:p>
        </p:txBody>
      </p:sp>
      <p:sp>
        <p:nvSpPr>
          <p:cNvPr id="19" name="Text 17"/>
          <p:cNvSpPr/>
          <p:nvPr/>
        </p:nvSpPr>
        <p:spPr>
          <a:xfrm>
            <a:off x="1758950" y="4835626"/>
            <a:ext cx="3726061"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solidFill>
                <a:latin typeface="Arial" pitchFamily="34" charset="0"/>
                <a:ea typeface="Arial" pitchFamily="34" charset="-122"/>
                <a:cs typeface="Arial" pitchFamily="34" charset="-120"/>
              </a:rPr>
              <a:t>Une base de données MongoDB</a:t>
            </a:r>
            <a:endParaRPr lang="en-US" sz="1875" dirty="0"/>
          </a:p>
        </p:txBody>
      </p:sp>
      <p:sp>
        <p:nvSpPr>
          <p:cNvPr id="20" name="Shape 18"/>
          <p:cNvSpPr/>
          <p:nvPr/>
        </p:nvSpPr>
        <p:spPr>
          <a:xfrm>
            <a:off x="1066800" y="5461101"/>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21" name="Shape 19"/>
          <p:cNvSpPr/>
          <p:nvPr/>
        </p:nvSpPr>
        <p:spPr>
          <a:xfrm>
            <a:off x="1282700" y="5638901"/>
            <a:ext cx="323850" cy="323850"/>
          </a:xfrm>
          <a:prstGeom prst="roundRect">
            <a:avLst>
              <a:gd name="adj" fmla="val 23529"/>
            </a:avLst>
          </a:prstGeom>
          <a:solidFill>
            <a:srgbClr val="FFFFFF">
              <a:alpha val="6000"/>
            </a:srgbClr>
          </a:solidFill>
          <a:ln/>
        </p:spPr>
      </p:sp>
      <p:sp>
        <p:nvSpPr>
          <p:cNvPr id="22" name="Text 20"/>
          <p:cNvSpPr/>
          <p:nvPr/>
        </p:nvSpPr>
        <p:spPr>
          <a:xfrm>
            <a:off x="1244600" y="5638901"/>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solidFill>
                <a:latin typeface="Arial" pitchFamily="34" charset="0"/>
                <a:ea typeface="Arial" pitchFamily="34" charset="-122"/>
                <a:cs typeface="Arial" pitchFamily="34" charset="-120"/>
              </a:rPr>
              <a:t>D</a:t>
            </a:r>
            <a:endParaRPr lang="en-US" sz="1875" dirty="0"/>
          </a:p>
        </p:txBody>
      </p:sp>
      <p:sp>
        <p:nvSpPr>
          <p:cNvPr id="23" name="Text 21"/>
          <p:cNvSpPr/>
          <p:nvPr/>
        </p:nvSpPr>
        <p:spPr>
          <a:xfrm>
            <a:off x="1758950" y="5648426"/>
            <a:ext cx="2016919"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solidFill>
                <a:latin typeface="Arial" pitchFamily="34" charset="0"/>
                <a:ea typeface="Arial" pitchFamily="34" charset="-122"/>
                <a:cs typeface="Arial" pitchFamily="34" charset="-120"/>
              </a:rPr>
              <a:t>Un serveur Cloud</a:t>
            </a:r>
            <a:endParaRPr lang="en-US" sz="1875" dirty="0"/>
          </a:p>
        </p:txBody>
      </p:sp>
      <p:sp>
        <p:nvSpPr>
          <p:cNvPr id="24" name="Text 22"/>
          <p:cNvSpPr/>
          <p:nvPr/>
        </p:nvSpPr>
        <p:spPr>
          <a:xfrm>
            <a:off x="9353550" y="2483902"/>
            <a:ext cx="8654415" cy="369491"/>
          </a:xfrm>
          <a:prstGeom prst="rect">
            <a:avLst/>
          </a:prstGeom>
          <a:noFill/>
          <a:ln/>
        </p:spPr>
        <p:txBody>
          <a:bodyPr wrap="square" lIns="25400" tIns="25400" rIns="25400" bIns="25400" rtlCol="0" anchor="t">
            <a:normAutofit/>
          </a:bodyPr>
          <a:lstStyle/>
          <a:p>
            <a:pPr algn="l" indent="0" marL="0">
              <a:lnSpc>
                <a:spcPct val="106531"/>
              </a:lnSpc>
              <a:buNone/>
            </a:pPr>
            <a:r>
              <a:rPr lang="en-US" sz="2175" b="1" dirty="0">
                <a:solidFill>
                  <a:srgbClr val="EEF3F9">
                    <a:alpha val="99000"/>
                  </a:srgbClr>
                </a:solidFill>
                <a:latin typeface="Arial" pitchFamily="34" charset="0"/>
                <a:ea typeface="Arial" pitchFamily="34" charset="-122"/>
                <a:cs typeface="Arial" pitchFamily="34" charset="-120"/>
              </a:rPr>
              <a:t>Qu'est-ce qui distingue une plateforme Big Data d'un SGBDR ?</a:t>
            </a:r>
            <a:endParaRPr lang="en-US" sz="2175" dirty="0"/>
          </a:p>
        </p:txBody>
      </p:sp>
      <p:sp>
        <p:nvSpPr>
          <p:cNvPr id="25" name="Shape 23"/>
          <p:cNvSpPr/>
          <p:nvPr/>
        </p:nvSpPr>
        <p:spPr>
          <a:xfrm>
            <a:off x="9353550" y="3024843"/>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26" name="Shape 24"/>
          <p:cNvSpPr/>
          <p:nvPr/>
        </p:nvSpPr>
        <p:spPr>
          <a:xfrm>
            <a:off x="9569450" y="3202643"/>
            <a:ext cx="323850" cy="323850"/>
          </a:xfrm>
          <a:prstGeom prst="roundRect">
            <a:avLst>
              <a:gd name="adj" fmla="val 23529"/>
            </a:avLst>
          </a:prstGeom>
          <a:solidFill>
            <a:srgbClr val="FFFFFF">
              <a:alpha val="6000"/>
            </a:srgbClr>
          </a:solidFill>
          <a:ln/>
        </p:spPr>
      </p:sp>
      <p:sp>
        <p:nvSpPr>
          <p:cNvPr id="27" name="Text 25"/>
          <p:cNvSpPr/>
          <p:nvPr/>
        </p:nvSpPr>
        <p:spPr>
          <a:xfrm>
            <a:off x="9531350" y="3202643"/>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alpha val="99000"/>
                  </a:srgbClr>
                </a:solidFill>
                <a:latin typeface="Arial" pitchFamily="34" charset="0"/>
                <a:ea typeface="Arial" pitchFamily="34" charset="-122"/>
                <a:cs typeface="Arial" pitchFamily="34" charset="-120"/>
              </a:rPr>
              <a:t>A</a:t>
            </a:r>
            <a:endParaRPr lang="en-US" sz="1875" dirty="0"/>
          </a:p>
        </p:txBody>
      </p:sp>
      <p:sp>
        <p:nvSpPr>
          <p:cNvPr id="28" name="Text 26"/>
          <p:cNvSpPr/>
          <p:nvPr/>
        </p:nvSpPr>
        <p:spPr>
          <a:xfrm>
            <a:off x="10045701" y="3212168"/>
            <a:ext cx="2028269"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alpha val="99000"/>
                  </a:srgbClr>
                </a:solidFill>
                <a:latin typeface="Arial" pitchFamily="34" charset="0"/>
                <a:ea typeface="Arial" pitchFamily="34" charset="-122"/>
                <a:cs typeface="Arial" pitchFamily="34" charset="-120"/>
              </a:rPr>
              <a:t>Le langage utilisé</a:t>
            </a:r>
            <a:endParaRPr lang="en-US" sz="1875" dirty="0"/>
          </a:p>
        </p:txBody>
      </p:sp>
      <p:sp>
        <p:nvSpPr>
          <p:cNvPr id="29" name="Shape 27"/>
          <p:cNvSpPr/>
          <p:nvPr/>
        </p:nvSpPr>
        <p:spPr>
          <a:xfrm>
            <a:off x="9353550" y="3837643"/>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30" name="Shape 28"/>
          <p:cNvSpPr/>
          <p:nvPr/>
        </p:nvSpPr>
        <p:spPr>
          <a:xfrm>
            <a:off x="9569450" y="4015443"/>
            <a:ext cx="323850" cy="323850"/>
          </a:xfrm>
          <a:prstGeom prst="roundRect">
            <a:avLst>
              <a:gd name="adj" fmla="val 23529"/>
            </a:avLst>
          </a:prstGeom>
          <a:solidFill>
            <a:srgbClr val="FFFFFF">
              <a:alpha val="6000"/>
            </a:srgbClr>
          </a:solidFill>
          <a:ln/>
        </p:spPr>
      </p:sp>
      <p:sp>
        <p:nvSpPr>
          <p:cNvPr id="31" name="Text 29"/>
          <p:cNvSpPr/>
          <p:nvPr/>
        </p:nvSpPr>
        <p:spPr>
          <a:xfrm>
            <a:off x="9531350" y="4015443"/>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alpha val="99000"/>
                  </a:srgbClr>
                </a:solidFill>
                <a:latin typeface="Arial" pitchFamily="34" charset="0"/>
                <a:ea typeface="Arial" pitchFamily="34" charset="-122"/>
                <a:cs typeface="Arial" pitchFamily="34" charset="-120"/>
              </a:rPr>
              <a:t>B</a:t>
            </a:r>
            <a:endParaRPr lang="en-US" sz="1875" dirty="0"/>
          </a:p>
        </p:txBody>
      </p:sp>
      <p:sp>
        <p:nvSpPr>
          <p:cNvPr id="32" name="Text 30"/>
          <p:cNvSpPr/>
          <p:nvPr/>
        </p:nvSpPr>
        <p:spPr>
          <a:xfrm>
            <a:off x="10045701" y="4024968"/>
            <a:ext cx="3270617"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alpha val="99000"/>
                  </a:srgbClr>
                </a:solidFill>
                <a:latin typeface="Arial" pitchFamily="34" charset="0"/>
                <a:ea typeface="Arial" pitchFamily="34" charset="-122"/>
                <a:cs typeface="Arial" pitchFamily="34" charset="-120"/>
              </a:rPr>
              <a:t>Le nombre de développeurs</a:t>
            </a:r>
            <a:endParaRPr lang="en-US" sz="1875" dirty="0"/>
          </a:p>
        </p:txBody>
      </p:sp>
      <p:sp>
        <p:nvSpPr>
          <p:cNvPr id="33" name="Shape 31"/>
          <p:cNvSpPr/>
          <p:nvPr/>
        </p:nvSpPr>
        <p:spPr>
          <a:xfrm>
            <a:off x="9353550" y="4650443"/>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34" name="Shape 32"/>
          <p:cNvSpPr/>
          <p:nvPr/>
        </p:nvSpPr>
        <p:spPr>
          <a:xfrm>
            <a:off x="9569450" y="4828243"/>
            <a:ext cx="323850" cy="323850"/>
          </a:xfrm>
          <a:prstGeom prst="roundRect">
            <a:avLst>
              <a:gd name="adj" fmla="val 23529"/>
            </a:avLst>
          </a:prstGeom>
          <a:solidFill>
            <a:srgbClr val="FFFFFF">
              <a:alpha val="6000"/>
            </a:srgbClr>
          </a:solidFill>
          <a:ln/>
        </p:spPr>
      </p:sp>
      <p:sp>
        <p:nvSpPr>
          <p:cNvPr id="35" name="Text 33"/>
          <p:cNvSpPr/>
          <p:nvPr/>
        </p:nvSpPr>
        <p:spPr>
          <a:xfrm>
            <a:off x="9531350" y="4828243"/>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alpha val="99000"/>
                  </a:srgbClr>
                </a:solidFill>
                <a:latin typeface="Arial" pitchFamily="34" charset="0"/>
                <a:ea typeface="Arial" pitchFamily="34" charset="-122"/>
                <a:cs typeface="Arial" pitchFamily="34" charset="-120"/>
              </a:rPr>
              <a:t>C</a:t>
            </a:r>
            <a:endParaRPr lang="en-US" sz="1875" dirty="0"/>
          </a:p>
        </p:txBody>
      </p:sp>
      <p:sp>
        <p:nvSpPr>
          <p:cNvPr id="36" name="Text 34"/>
          <p:cNvSpPr/>
          <p:nvPr/>
        </p:nvSpPr>
        <p:spPr>
          <a:xfrm>
            <a:off x="10045701" y="4837768"/>
            <a:ext cx="7349966"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alpha val="99000"/>
                  </a:srgbClr>
                </a:solidFill>
                <a:latin typeface="Arial" pitchFamily="34" charset="0"/>
                <a:ea typeface="Arial" pitchFamily="34" charset="-122"/>
                <a:cs typeface="Arial" pitchFamily="34" charset="-120"/>
              </a:rPr>
              <a:t>La distribution du stockage et du calcul sur plusieurs machines</a:t>
            </a:r>
            <a:endParaRPr lang="en-US" sz="1875" dirty="0"/>
          </a:p>
        </p:txBody>
      </p:sp>
      <p:sp>
        <p:nvSpPr>
          <p:cNvPr id="37" name="Shape 35"/>
          <p:cNvSpPr/>
          <p:nvPr/>
        </p:nvSpPr>
        <p:spPr>
          <a:xfrm>
            <a:off x="9353550" y="5463243"/>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38" name="Shape 36"/>
          <p:cNvSpPr/>
          <p:nvPr/>
        </p:nvSpPr>
        <p:spPr>
          <a:xfrm>
            <a:off x="9569450" y="5641043"/>
            <a:ext cx="323850" cy="323850"/>
          </a:xfrm>
          <a:prstGeom prst="roundRect">
            <a:avLst>
              <a:gd name="adj" fmla="val 23529"/>
            </a:avLst>
          </a:prstGeom>
          <a:solidFill>
            <a:srgbClr val="FFFFFF">
              <a:alpha val="6000"/>
            </a:srgbClr>
          </a:solidFill>
          <a:ln/>
        </p:spPr>
      </p:sp>
      <p:sp>
        <p:nvSpPr>
          <p:cNvPr id="39" name="Text 37"/>
          <p:cNvSpPr/>
          <p:nvPr/>
        </p:nvSpPr>
        <p:spPr>
          <a:xfrm>
            <a:off x="9531350" y="5641043"/>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alpha val="99000"/>
                  </a:srgbClr>
                </a:solidFill>
                <a:latin typeface="Arial" pitchFamily="34" charset="0"/>
                <a:ea typeface="Arial" pitchFamily="34" charset="-122"/>
                <a:cs typeface="Arial" pitchFamily="34" charset="-120"/>
              </a:rPr>
              <a:t>D</a:t>
            </a:r>
            <a:endParaRPr lang="en-US" sz="1875" dirty="0"/>
          </a:p>
        </p:txBody>
      </p:sp>
      <p:sp>
        <p:nvSpPr>
          <p:cNvPr id="40" name="Text 38"/>
          <p:cNvSpPr/>
          <p:nvPr/>
        </p:nvSpPr>
        <p:spPr>
          <a:xfrm>
            <a:off x="10045701" y="5650568"/>
            <a:ext cx="2985105"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alpha val="99000"/>
                  </a:srgbClr>
                </a:solidFill>
                <a:latin typeface="Arial" pitchFamily="34" charset="0"/>
                <a:ea typeface="Arial" pitchFamily="34" charset="-122"/>
                <a:cs typeface="Arial" pitchFamily="34" charset="-120"/>
              </a:rPr>
              <a:t>Le système d'exploitation</a:t>
            </a:r>
            <a:endParaRPr lang="en-US" sz="187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C121C"/>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55DCDC">
                  <a:alpha val="14000"/>
                </a:srgbClr>
              </a:gs>
              <a:gs pos="60000">
                <a:srgbClr val="55DCDC">
                  <a:alpha val="0"/>
                </a:srgbClr>
              </a:gs>
            </a:gsLst>
            <a:path path="circle">
              <a:fillToRect l="80000" t="8000" r="20000" b="92000"/>
            </a:path>
          </a:gradFill>
          <a:ln/>
        </p:spPr>
      </p:sp>
      <p:sp>
        <p:nvSpPr>
          <p:cNvPr id="3" name="Shape 1"/>
          <p:cNvSpPr/>
          <p:nvPr/>
        </p:nvSpPr>
        <p:spPr>
          <a:xfrm>
            <a:off x="1066800" y="819150"/>
            <a:ext cx="419100" cy="419100"/>
          </a:xfrm>
          <a:prstGeom prst="roundRect">
            <a:avLst>
              <a:gd name="adj" fmla="val 27273"/>
            </a:avLst>
          </a:prstGeom>
          <a:ln w="19050">
            <a:solidFill>
              <a:srgbClr val="56DBDB">
                <a:alpha val="97000"/>
              </a:srgbClr>
            </a:solidFill>
            <a:prstDash val="solid"/>
          </a:ln>
        </p:spPr>
      </p:sp>
      <p:sp>
        <p:nvSpPr>
          <p:cNvPr id="4" name="Text 2"/>
          <p:cNvSpPr/>
          <p:nvPr/>
        </p:nvSpPr>
        <p:spPr>
          <a:xfrm>
            <a:off x="1047750" y="838200"/>
            <a:ext cx="457200" cy="419100"/>
          </a:xfrm>
          <a:prstGeom prst="rect">
            <a:avLst/>
          </a:prstGeom>
          <a:noFill/>
          <a:ln/>
        </p:spPr>
        <p:txBody>
          <a:bodyPr wrap="square" lIns="25400" tIns="25400" rIns="25400" bIns="25400" rtlCol="0" anchor="ctr">
            <a:normAutofit/>
          </a:bodyPr>
          <a:lstStyle/>
          <a:p>
            <a:pPr algn="ctr" indent="0" marL="0">
              <a:buNone/>
            </a:pPr>
            <a:r>
              <a:rPr lang="en-US" sz="1950" spc="432" kern="0" dirty="0">
                <a:solidFill>
                  <a:srgbClr val="56DBDB">
                    <a:alpha val="97000"/>
                  </a:srgbClr>
                </a:solidFill>
                <a:latin typeface="Courier New" pitchFamily="34" charset="0"/>
                <a:ea typeface="Courier New" pitchFamily="34" charset="-122"/>
                <a:cs typeface="Courier New" pitchFamily="34" charset="-120"/>
              </a:rPr>
              <a:t>?</a:t>
            </a:r>
            <a:endParaRPr lang="en-US" sz="1950" dirty="0"/>
          </a:p>
        </p:txBody>
      </p:sp>
      <p:sp>
        <p:nvSpPr>
          <p:cNvPr id="5" name="Text 3"/>
          <p:cNvSpPr/>
          <p:nvPr/>
        </p:nvSpPr>
        <p:spPr>
          <a:xfrm>
            <a:off x="1638300" y="876300"/>
            <a:ext cx="4549122" cy="342900"/>
          </a:xfrm>
          <a:prstGeom prst="rect">
            <a:avLst/>
          </a:prstGeom>
          <a:noFill/>
          <a:ln/>
        </p:spPr>
        <p:txBody>
          <a:bodyPr wrap="square" lIns="0" tIns="0" rIns="0" bIns="0" rtlCol="0" anchor="t">
            <a:normAutofit/>
          </a:bodyPr>
          <a:lstStyle/>
          <a:p>
            <a:pPr algn="l" indent="0" marL="0">
              <a:buNone/>
            </a:pPr>
            <a:r>
              <a:rPr lang="en-US" sz="1800" spc="432" kern="0" dirty="0">
                <a:solidFill>
                  <a:srgbClr val="56DBDB">
                    <a:alpha val="97000"/>
                  </a:srgbClr>
                </a:solidFill>
                <a:latin typeface="Courier New" pitchFamily="34" charset="0"/>
                <a:ea typeface="Courier New" pitchFamily="34" charset="-122"/>
                <a:cs typeface="Courier New" pitchFamily="34" charset="-120"/>
              </a:rPr>
              <a:t>CORRECTION · ATELIER 01</a:t>
            </a:r>
            <a:endParaRPr lang="en-US" sz="1800" dirty="0"/>
          </a:p>
        </p:txBody>
      </p:sp>
      <p:sp>
        <p:nvSpPr>
          <p:cNvPr id="6" name="Text 4"/>
          <p:cNvSpPr/>
          <p:nvPr/>
        </p:nvSpPr>
        <p:spPr>
          <a:xfrm>
            <a:off x="1066800" y="1428751"/>
            <a:ext cx="17769840"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Testez vos connaissances</a:t>
            </a:r>
            <a:endParaRPr lang="en-US" sz="4800" dirty="0"/>
          </a:p>
        </p:txBody>
      </p:sp>
      <p:sp>
        <p:nvSpPr>
          <p:cNvPr id="7" name="Text 5"/>
          <p:cNvSpPr/>
          <p:nvPr/>
        </p:nvSpPr>
        <p:spPr>
          <a:xfrm>
            <a:off x="1066800" y="2481760"/>
            <a:ext cx="8654415" cy="369491"/>
          </a:xfrm>
          <a:prstGeom prst="rect">
            <a:avLst/>
          </a:prstGeom>
          <a:noFill/>
          <a:ln/>
        </p:spPr>
        <p:txBody>
          <a:bodyPr wrap="square" lIns="25400" tIns="25400" rIns="25400" bIns="25400" rtlCol="0" anchor="t">
            <a:normAutofit/>
          </a:bodyPr>
          <a:lstStyle/>
          <a:p>
            <a:pPr algn="l" indent="0" marL="0">
              <a:lnSpc>
                <a:spcPct val="106531"/>
              </a:lnSpc>
              <a:buNone/>
            </a:pPr>
            <a:r>
              <a:rPr lang="en-US" sz="2175" b="1" dirty="0">
                <a:solidFill>
                  <a:srgbClr val="EEF3F9"/>
                </a:solidFill>
                <a:latin typeface="Arial" pitchFamily="34" charset="0"/>
                <a:ea typeface="Arial" pitchFamily="34" charset="-122"/>
                <a:cs typeface="Arial" pitchFamily="34" charset="-120"/>
              </a:rPr>
              <a:t>Quelle affirmation décrit le mieux le Big Data ?</a:t>
            </a:r>
            <a:endParaRPr lang="en-US" sz="2175" dirty="0"/>
          </a:p>
        </p:txBody>
      </p:sp>
      <p:sp>
        <p:nvSpPr>
          <p:cNvPr id="8" name="Shape 6"/>
          <p:cNvSpPr/>
          <p:nvPr/>
        </p:nvSpPr>
        <p:spPr>
          <a:xfrm>
            <a:off x="1066800" y="3022701"/>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9" name="Shape 7"/>
          <p:cNvSpPr/>
          <p:nvPr/>
        </p:nvSpPr>
        <p:spPr>
          <a:xfrm>
            <a:off x="1282700" y="3200501"/>
            <a:ext cx="323850" cy="323850"/>
          </a:xfrm>
          <a:prstGeom prst="roundRect">
            <a:avLst>
              <a:gd name="adj" fmla="val 23529"/>
            </a:avLst>
          </a:prstGeom>
          <a:solidFill>
            <a:srgbClr val="FFFFFF">
              <a:alpha val="6000"/>
            </a:srgbClr>
          </a:solidFill>
          <a:ln/>
        </p:spPr>
      </p:sp>
      <p:sp>
        <p:nvSpPr>
          <p:cNvPr id="10" name="Text 8"/>
          <p:cNvSpPr/>
          <p:nvPr/>
        </p:nvSpPr>
        <p:spPr>
          <a:xfrm>
            <a:off x="1244600" y="3200501"/>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solidFill>
                <a:latin typeface="Arial" pitchFamily="34" charset="0"/>
                <a:ea typeface="Arial" pitchFamily="34" charset="-122"/>
                <a:cs typeface="Arial" pitchFamily="34" charset="-120"/>
              </a:rPr>
              <a:t>A</a:t>
            </a:r>
            <a:endParaRPr lang="en-US" sz="1875" dirty="0"/>
          </a:p>
        </p:txBody>
      </p:sp>
      <p:sp>
        <p:nvSpPr>
          <p:cNvPr id="11" name="Text 9"/>
          <p:cNvSpPr/>
          <p:nvPr/>
        </p:nvSpPr>
        <p:spPr>
          <a:xfrm>
            <a:off x="1758950" y="3210026"/>
            <a:ext cx="5047099"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solidFill>
                <a:latin typeface="Arial" pitchFamily="34" charset="0"/>
                <a:ea typeface="Arial" pitchFamily="34" charset="-122"/>
                <a:cs typeface="Arial" pitchFamily="34" charset="-120"/>
              </a:rPr>
              <a:t>Des données très nombreuses uniquement</a:t>
            </a:r>
            <a:endParaRPr lang="en-US" sz="1875" dirty="0"/>
          </a:p>
        </p:txBody>
      </p:sp>
      <p:sp>
        <p:nvSpPr>
          <p:cNvPr id="12" name="Shape 10"/>
          <p:cNvSpPr/>
          <p:nvPr/>
        </p:nvSpPr>
        <p:spPr>
          <a:xfrm>
            <a:off x="1066800" y="3835501"/>
            <a:ext cx="7867650" cy="965200"/>
          </a:xfrm>
          <a:prstGeom prst="roundRect">
            <a:avLst>
              <a:gd name="adj" fmla="val 11842"/>
            </a:avLst>
          </a:prstGeom>
          <a:gradFill rotWithShape="1">
            <a:gsLst>
              <a:gs pos="0">
                <a:srgbClr val="55DCDC">
                  <a:alpha val="20000"/>
                </a:srgbClr>
              </a:gs>
              <a:gs pos="100000">
                <a:srgbClr val="FFFFFF">
                  <a:alpha val="3000"/>
                </a:srgbClr>
              </a:gs>
            </a:gsLst>
            <a:lin ang="4200000" scaled="0"/>
          </a:gradFill>
          <a:ln w="6350">
            <a:solidFill>
              <a:srgbClr val="73E0E0">
                <a:alpha val="48000"/>
              </a:srgbClr>
            </a:solidFill>
            <a:prstDash val="solid"/>
          </a:ln>
        </p:spPr>
      </p:sp>
      <p:sp>
        <p:nvSpPr>
          <p:cNvPr id="13" name="Shape 11"/>
          <p:cNvSpPr/>
          <p:nvPr/>
        </p:nvSpPr>
        <p:spPr>
          <a:xfrm>
            <a:off x="1282700" y="4156176"/>
            <a:ext cx="312043" cy="323850"/>
          </a:xfrm>
          <a:prstGeom prst="roundRect">
            <a:avLst>
              <a:gd name="adj" fmla="val 24420"/>
            </a:avLst>
          </a:prstGeom>
          <a:solidFill>
            <a:srgbClr val="56DBDB"/>
          </a:solidFill>
          <a:ln/>
        </p:spPr>
      </p:sp>
      <p:sp>
        <p:nvSpPr>
          <p:cNvPr id="14" name="Text 12"/>
          <p:cNvSpPr/>
          <p:nvPr/>
        </p:nvSpPr>
        <p:spPr>
          <a:xfrm>
            <a:off x="1244600" y="4156176"/>
            <a:ext cx="388243"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04070C"/>
                </a:solidFill>
                <a:latin typeface="Arial" pitchFamily="34" charset="0"/>
                <a:ea typeface="Arial" pitchFamily="34" charset="-122"/>
                <a:cs typeface="Arial" pitchFamily="34" charset="-120"/>
              </a:rPr>
              <a:t>B</a:t>
            </a:r>
            <a:endParaRPr lang="en-US" sz="1875" dirty="0"/>
          </a:p>
        </p:txBody>
      </p:sp>
      <p:sp>
        <p:nvSpPr>
          <p:cNvPr id="15" name="Text 13"/>
          <p:cNvSpPr/>
          <p:nvPr/>
        </p:nvSpPr>
        <p:spPr>
          <a:xfrm>
            <a:off x="1747143" y="4013301"/>
            <a:ext cx="6832472" cy="647700"/>
          </a:xfrm>
          <a:prstGeom prst="rect">
            <a:avLst/>
          </a:prstGeom>
          <a:noFill/>
          <a:ln/>
        </p:spPr>
        <p:txBody>
          <a:bodyPr wrap="square" lIns="25400" tIns="25400" rIns="25400" bIns="25400" rtlCol="0" anchor="t">
            <a:normAutofit/>
          </a:bodyPr>
          <a:lstStyle/>
          <a:p>
            <a:pPr algn="l" indent="0" marL="0">
              <a:buNone/>
            </a:pPr>
            <a:r>
              <a:rPr lang="en-US" sz="1875" dirty="0">
                <a:solidFill>
                  <a:srgbClr val="EEF3F9"/>
                </a:solidFill>
                <a:latin typeface="Arial" pitchFamily="34" charset="0"/>
                <a:ea typeface="Arial" pitchFamily="34" charset="-122"/>
                <a:cs typeface="Arial" pitchFamily="34" charset="-120"/>
              </a:rPr>
              <a:t>Des données qui dépassent les capacités des outils traditionnels</a:t>
            </a:r>
            <a:endParaRPr lang="en-US" sz="1875" dirty="0"/>
          </a:p>
        </p:txBody>
      </p:sp>
      <p:sp>
        <p:nvSpPr>
          <p:cNvPr id="16" name="Text 14"/>
          <p:cNvSpPr/>
          <p:nvPr/>
        </p:nvSpPr>
        <p:spPr>
          <a:xfrm>
            <a:off x="8533011" y="4149826"/>
            <a:ext cx="261739" cy="374650"/>
          </a:xfrm>
          <a:prstGeom prst="rect">
            <a:avLst/>
          </a:prstGeom>
          <a:noFill/>
          <a:ln/>
        </p:spPr>
        <p:txBody>
          <a:bodyPr wrap="square" lIns="25400" tIns="25400" rIns="25400" bIns="25400" rtlCol="0" anchor="t">
            <a:normAutofit/>
          </a:bodyPr>
          <a:lstStyle/>
          <a:p>
            <a:pPr algn="l" indent="0" marL="0">
              <a:buNone/>
            </a:pPr>
            <a:r>
              <a:rPr lang="en-US" sz="1950" dirty="0">
                <a:solidFill>
                  <a:srgbClr val="56DBDB"/>
                </a:solidFill>
                <a:latin typeface="Arial" pitchFamily="34" charset="0"/>
                <a:ea typeface="Arial" pitchFamily="34" charset="-122"/>
                <a:cs typeface="Arial" pitchFamily="34" charset="-120"/>
              </a:rPr>
              <a:t>✓</a:t>
            </a:r>
            <a:endParaRPr lang="en-US" sz="1950" dirty="0"/>
          </a:p>
        </p:txBody>
      </p:sp>
      <p:sp>
        <p:nvSpPr>
          <p:cNvPr id="17" name="Shape 15"/>
          <p:cNvSpPr/>
          <p:nvPr/>
        </p:nvSpPr>
        <p:spPr>
          <a:xfrm>
            <a:off x="1066800" y="4934051"/>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18" name="Shape 16"/>
          <p:cNvSpPr/>
          <p:nvPr/>
        </p:nvSpPr>
        <p:spPr>
          <a:xfrm>
            <a:off x="1282700" y="5111851"/>
            <a:ext cx="323850" cy="323850"/>
          </a:xfrm>
          <a:prstGeom prst="roundRect">
            <a:avLst>
              <a:gd name="adj" fmla="val 23529"/>
            </a:avLst>
          </a:prstGeom>
          <a:solidFill>
            <a:srgbClr val="FFFFFF">
              <a:alpha val="6000"/>
            </a:srgbClr>
          </a:solidFill>
          <a:ln/>
        </p:spPr>
      </p:sp>
      <p:sp>
        <p:nvSpPr>
          <p:cNvPr id="19" name="Text 17"/>
          <p:cNvSpPr/>
          <p:nvPr/>
        </p:nvSpPr>
        <p:spPr>
          <a:xfrm>
            <a:off x="1244600" y="5111851"/>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solidFill>
                <a:latin typeface="Arial" pitchFamily="34" charset="0"/>
                <a:ea typeface="Arial" pitchFamily="34" charset="-122"/>
                <a:cs typeface="Arial" pitchFamily="34" charset="-120"/>
              </a:rPr>
              <a:t>C</a:t>
            </a:r>
            <a:endParaRPr lang="en-US" sz="1875" dirty="0"/>
          </a:p>
        </p:txBody>
      </p:sp>
      <p:sp>
        <p:nvSpPr>
          <p:cNvPr id="20" name="Text 18"/>
          <p:cNvSpPr/>
          <p:nvPr/>
        </p:nvSpPr>
        <p:spPr>
          <a:xfrm>
            <a:off x="1758950" y="5121376"/>
            <a:ext cx="3726061"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solidFill>
                <a:latin typeface="Arial" pitchFamily="34" charset="0"/>
                <a:ea typeface="Arial" pitchFamily="34" charset="-122"/>
                <a:cs typeface="Arial" pitchFamily="34" charset="-120"/>
              </a:rPr>
              <a:t>Une base de données MongoDB</a:t>
            </a:r>
            <a:endParaRPr lang="en-US" sz="1875" dirty="0"/>
          </a:p>
        </p:txBody>
      </p:sp>
      <p:sp>
        <p:nvSpPr>
          <p:cNvPr id="21" name="Shape 19"/>
          <p:cNvSpPr/>
          <p:nvPr/>
        </p:nvSpPr>
        <p:spPr>
          <a:xfrm>
            <a:off x="1066800" y="5746850"/>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22" name="Shape 20"/>
          <p:cNvSpPr/>
          <p:nvPr/>
        </p:nvSpPr>
        <p:spPr>
          <a:xfrm>
            <a:off x="1282700" y="5924651"/>
            <a:ext cx="323850" cy="323850"/>
          </a:xfrm>
          <a:prstGeom prst="roundRect">
            <a:avLst>
              <a:gd name="adj" fmla="val 23529"/>
            </a:avLst>
          </a:prstGeom>
          <a:solidFill>
            <a:srgbClr val="FFFFFF">
              <a:alpha val="6000"/>
            </a:srgbClr>
          </a:solidFill>
          <a:ln/>
        </p:spPr>
      </p:sp>
      <p:sp>
        <p:nvSpPr>
          <p:cNvPr id="23" name="Text 21"/>
          <p:cNvSpPr/>
          <p:nvPr/>
        </p:nvSpPr>
        <p:spPr>
          <a:xfrm>
            <a:off x="1244600" y="5924651"/>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solidFill>
                <a:latin typeface="Arial" pitchFamily="34" charset="0"/>
                <a:ea typeface="Arial" pitchFamily="34" charset="-122"/>
                <a:cs typeface="Arial" pitchFamily="34" charset="-120"/>
              </a:rPr>
              <a:t>D</a:t>
            </a:r>
            <a:endParaRPr lang="en-US" sz="1875" dirty="0"/>
          </a:p>
        </p:txBody>
      </p:sp>
      <p:sp>
        <p:nvSpPr>
          <p:cNvPr id="24" name="Text 22"/>
          <p:cNvSpPr/>
          <p:nvPr/>
        </p:nvSpPr>
        <p:spPr>
          <a:xfrm>
            <a:off x="1758950" y="5934176"/>
            <a:ext cx="2016919"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solidFill>
                <a:latin typeface="Arial" pitchFamily="34" charset="0"/>
                <a:ea typeface="Arial" pitchFamily="34" charset="-122"/>
                <a:cs typeface="Arial" pitchFamily="34" charset="-120"/>
              </a:rPr>
              <a:t>Un serveur Cloud</a:t>
            </a:r>
            <a:endParaRPr lang="en-US" sz="1875" dirty="0"/>
          </a:p>
        </p:txBody>
      </p:sp>
      <p:sp>
        <p:nvSpPr>
          <p:cNvPr id="25" name="Text 23"/>
          <p:cNvSpPr/>
          <p:nvPr/>
        </p:nvSpPr>
        <p:spPr>
          <a:xfrm>
            <a:off x="9353550" y="2483904"/>
            <a:ext cx="8654415" cy="369491"/>
          </a:xfrm>
          <a:prstGeom prst="rect">
            <a:avLst/>
          </a:prstGeom>
          <a:noFill/>
          <a:ln/>
        </p:spPr>
        <p:txBody>
          <a:bodyPr wrap="square" lIns="25400" tIns="25400" rIns="25400" bIns="25400" rtlCol="0" anchor="t">
            <a:normAutofit/>
          </a:bodyPr>
          <a:lstStyle/>
          <a:p>
            <a:pPr algn="l" indent="0" marL="0">
              <a:lnSpc>
                <a:spcPct val="106531"/>
              </a:lnSpc>
              <a:buNone/>
            </a:pPr>
            <a:r>
              <a:rPr lang="en-US" sz="2175" b="1" dirty="0">
                <a:solidFill>
                  <a:srgbClr val="EEF3F9">
                    <a:alpha val="99000"/>
                  </a:srgbClr>
                </a:solidFill>
                <a:latin typeface="Arial" pitchFamily="34" charset="0"/>
                <a:ea typeface="Arial" pitchFamily="34" charset="-122"/>
                <a:cs typeface="Arial" pitchFamily="34" charset="-120"/>
              </a:rPr>
              <a:t>Qu'est-ce qui distingue une plateforme Big Data d'un SGBDR ?</a:t>
            </a:r>
            <a:endParaRPr lang="en-US" sz="2175" dirty="0"/>
          </a:p>
        </p:txBody>
      </p:sp>
      <p:sp>
        <p:nvSpPr>
          <p:cNvPr id="26" name="Shape 24"/>
          <p:cNvSpPr/>
          <p:nvPr/>
        </p:nvSpPr>
        <p:spPr>
          <a:xfrm>
            <a:off x="9353550" y="3024845"/>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27" name="Shape 25"/>
          <p:cNvSpPr/>
          <p:nvPr/>
        </p:nvSpPr>
        <p:spPr>
          <a:xfrm>
            <a:off x="9569450" y="3202645"/>
            <a:ext cx="323850" cy="323850"/>
          </a:xfrm>
          <a:prstGeom prst="roundRect">
            <a:avLst>
              <a:gd name="adj" fmla="val 23529"/>
            </a:avLst>
          </a:prstGeom>
          <a:solidFill>
            <a:srgbClr val="FFFFFF">
              <a:alpha val="6000"/>
            </a:srgbClr>
          </a:solidFill>
          <a:ln/>
        </p:spPr>
      </p:sp>
      <p:sp>
        <p:nvSpPr>
          <p:cNvPr id="28" name="Text 26"/>
          <p:cNvSpPr/>
          <p:nvPr/>
        </p:nvSpPr>
        <p:spPr>
          <a:xfrm>
            <a:off x="9531350" y="3202645"/>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alpha val="99000"/>
                  </a:srgbClr>
                </a:solidFill>
                <a:latin typeface="Arial" pitchFamily="34" charset="0"/>
                <a:ea typeface="Arial" pitchFamily="34" charset="-122"/>
                <a:cs typeface="Arial" pitchFamily="34" charset="-120"/>
              </a:rPr>
              <a:t>A</a:t>
            </a:r>
            <a:endParaRPr lang="en-US" sz="1875" dirty="0"/>
          </a:p>
        </p:txBody>
      </p:sp>
      <p:sp>
        <p:nvSpPr>
          <p:cNvPr id="29" name="Text 27"/>
          <p:cNvSpPr/>
          <p:nvPr/>
        </p:nvSpPr>
        <p:spPr>
          <a:xfrm>
            <a:off x="10045701" y="3212170"/>
            <a:ext cx="2028269"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alpha val="99000"/>
                  </a:srgbClr>
                </a:solidFill>
                <a:latin typeface="Arial" pitchFamily="34" charset="0"/>
                <a:ea typeface="Arial" pitchFamily="34" charset="-122"/>
                <a:cs typeface="Arial" pitchFamily="34" charset="-120"/>
              </a:rPr>
              <a:t>Le langage utilisé</a:t>
            </a:r>
            <a:endParaRPr lang="en-US" sz="1875" dirty="0"/>
          </a:p>
        </p:txBody>
      </p:sp>
      <p:sp>
        <p:nvSpPr>
          <p:cNvPr id="30" name="Shape 28"/>
          <p:cNvSpPr/>
          <p:nvPr/>
        </p:nvSpPr>
        <p:spPr>
          <a:xfrm>
            <a:off x="9353550" y="3837645"/>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31" name="Shape 29"/>
          <p:cNvSpPr/>
          <p:nvPr/>
        </p:nvSpPr>
        <p:spPr>
          <a:xfrm>
            <a:off x="9569450" y="4015445"/>
            <a:ext cx="323850" cy="323850"/>
          </a:xfrm>
          <a:prstGeom prst="roundRect">
            <a:avLst>
              <a:gd name="adj" fmla="val 23529"/>
            </a:avLst>
          </a:prstGeom>
          <a:solidFill>
            <a:srgbClr val="FFFFFF">
              <a:alpha val="6000"/>
            </a:srgbClr>
          </a:solidFill>
          <a:ln/>
        </p:spPr>
      </p:sp>
      <p:sp>
        <p:nvSpPr>
          <p:cNvPr id="32" name="Text 30"/>
          <p:cNvSpPr/>
          <p:nvPr/>
        </p:nvSpPr>
        <p:spPr>
          <a:xfrm>
            <a:off x="9531350" y="4015445"/>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alpha val="99000"/>
                  </a:srgbClr>
                </a:solidFill>
                <a:latin typeface="Arial" pitchFamily="34" charset="0"/>
                <a:ea typeface="Arial" pitchFamily="34" charset="-122"/>
                <a:cs typeface="Arial" pitchFamily="34" charset="-120"/>
              </a:rPr>
              <a:t>B</a:t>
            </a:r>
            <a:endParaRPr lang="en-US" sz="1875" dirty="0"/>
          </a:p>
        </p:txBody>
      </p:sp>
      <p:sp>
        <p:nvSpPr>
          <p:cNvPr id="33" name="Text 31"/>
          <p:cNvSpPr/>
          <p:nvPr/>
        </p:nvSpPr>
        <p:spPr>
          <a:xfrm>
            <a:off x="10045701" y="4024970"/>
            <a:ext cx="3270617"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alpha val="99000"/>
                  </a:srgbClr>
                </a:solidFill>
                <a:latin typeface="Arial" pitchFamily="34" charset="0"/>
                <a:ea typeface="Arial" pitchFamily="34" charset="-122"/>
                <a:cs typeface="Arial" pitchFamily="34" charset="-120"/>
              </a:rPr>
              <a:t>Le nombre de développeurs</a:t>
            </a:r>
            <a:endParaRPr lang="en-US" sz="1875" dirty="0"/>
          </a:p>
        </p:txBody>
      </p:sp>
      <p:sp>
        <p:nvSpPr>
          <p:cNvPr id="34" name="Shape 32"/>
          <p:cNvSpPr/>
          <p:nvPr/>
        </p:nvSpPr>
        <p:spPr>
          <a:xfrm>
            <a:off x="9353550" y="4650445"/>
            <a:ext cx="7867650" cy="965200"/>
          </a:xfrm>
          <a:prstGeom prst="roundRect">
            <a:avLst>
              <a:gd name="adj" fmla="val 11842"/>
            </a:avLst>
          </a:prstGeom>
          <a:gradFill rotWithShape="1">
            <a:gsLst>
              <a:gs pos="0">
                <a:srgbClr val="55DCDC">
                  <a:alpha val="20000"/>
                </a:srgbClr>
              </a:gs>
              <a:gs pos="100000">
                <a:srgbClr val="FFFFFF">
                  <a:alpha val="3000"/>
                </a:srgbClr>
              </a:gs>
            </a:gsLst>
            <a:lin ang="4200000" scaled="0"/>
          </a:gradFill>
          <a:ln w="6350">
            <a:solidFill>
              <a:srgbClr val="73E0E0">
                <a:alpha val="47000"/>
              </a:srgbClr>
            </a:solidFill>
            <a:prstDash val="solid"/>
          </a:ln>
        </p:spPr>
      </p:sp>
      <p:sp>
        <p:nvSpPr>
          <p:cNvPr id="35" name="Shape 33"/>
          <p:cNvSpPr/>
          <p:nvPr/>
        </p:nvSpPr>
        <p:spPr>
          <a:xfrm>
            <a:off x="9569450" y="4971120"/>
            <a:ext cx="321072" cy="323850"/>
          </a:xfrm>
          <a:prstGeom prst="roundRect">
            <a:avLst>
              <a:gd name="adj" fmla="val 23733"/>
            </a:avLst>
          </a:prstGeom>
          <a:solidFill>
            <a:srgbClr val="56DBDB">
              <a:alpha val="99000"/>
            </a:srgbClr>
          </a:solidFill>
          <a:ln/>
        </p:spPr>
      </p:sp>
      <p:sp>
        <p:nvSpPr>
          <p:cNvPr id="36" name="Text 34"/>
          <p:cNvSpPr/>
          <p:nvPr/>
        </p:nvSpPr>
        <p:spPr>
          <a:xfrm>
            <a:off x="9531350" y="4971120"/>
            <a:ext cx="397272"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04070C">
                    <a:alpha val="99000"/>
                  </a:srgbClr>
                </a:solidFill>
                <a:latin typeface="Arial" pitchFamily="34" charset="0"/>
                <a:ea typeface="Arial" pitchFamily="34" charset="-122"/>
                <a:cs typeface="Arial" pitchFamily="34" charset="-120"/>
              </a:rPr>
              <a:t>C</a:t>
            </a:r>
            <a:endParaRPr lang="en-US" sz="1875" dirty="0"/>
          </a:p>
        </p:txBody>
      </p:sp>
      <p:sp>
        <p:nvSpPr>
          <p:cNvPr id="37" name="Text 35"/>
          <p:cNvSpPr/>
          <p:nvPr/>
        </p:nvSpPr>
        <p:spPr>
          <a:xfrm>
            <a:off x="10042922" y="4828245"/>
            <a:ext cx="6823172" cy="647700"/>
          </a:xfrm>
          <a:prstGeom prst="rect">
            <a:avLst/>
          </a:prstGeom>
          <a:noFill/>
          <a:ln/>
        </p:spPr>
        <p:txBody>
          <a:bodyPr wrap="square" lIns="25400" tIns="25400" rIns="25400" bIns="25400" rtlCol="0" anchor="t">
            <a:normAutofit/>
          </a:bodyPr>
          <a:lstStyle/>
          <a:p>
            <a:pPr algn="l" indent="0" marL="0">
              <a:buNone/>
            </a:pPr>
            <a:r>
              <a:rPr lang="en-US" sz="1875" dirty="0">
                <a:solidFill>
                  <a:srgbClr val="EEF3F9">
                    <a:alpha val="99000"/>
                  </a:srgbClr>
                </a:solidFill>
                <a:latin typeface="Arial" pitchFamily="34" charset="0"/>
                <a:ea typeface="Arial" pitchFamily="34" charset="-122"/>
                <a:cs typeface="Arial" pitchFamily="34" charset="-120"/>
              </a:rPr>
              <a:t>La distribution du stockage et du calcul sur plusieurs machines</a:t>
            </a:r>
            <a:endParaRPr lang="en-US" sz="1875" dirty="0"/>
          </a:p>
        </p:txBody>
      </p:sp>
      <p:sp>
        <p:nvSpPr>
          <p:cNvPr id="38" name="Text 36"/>
          <p:cNvSpPr/>
          <p:nvPr/>
        </p:nvSpPr>
        <p:spPr>
          <a:xfrm>
            <a:off x="16819762" y="4964770"/>
            <a:ext cx="261739" cy="374650"/>
          </a:xfrm>
          <a:prstGeom prst="rect">
            <a:avLst/>
          </a:prstGeom>
          <a:noFill/>
          <a:ln/>
        </p:spPr>
        <p:txBody>
          <a:bodyPr wrap="square" lIns="25400" tIns="25400" rIns="25400" bIns="25400" rtlCol="0" anchor="t">
            <a:normAutofit/>
          </a:bodyPr>
          <a:lstStyle/>
          <a:p>
            <a:pPr algn="l" indent="0" marL="0">
              <a:buNone/>
            </a:pPr>
            <a:r>
              <a:rPr lang="en-US" sz="1950" dirty="0">
                <a:solidFill>
                  <a:srgbClr val="56DBDB">
                    <a:alpha val="99000"/>
                  </a:srgbClr>
                </a:solidFill>
                <a:latin typeface="Arial" pitchFamily="34" charset="0"/>
                <a:ea typeface="Arial" pitchFamily="34" charset="-122"/>
                <a:cs typeface="Arial" pitchFamily="34" charset="-120"/>
              </a:rPr>
              <a:t>✓</a:t>
            </a:r>
            <a:endParaRPr lang="en-US" sz="1950" dirty="0"/>
          </a:p>
        </p:txBody>
      </p:sp>
      <p:sp>
        <p:nvSpPr>
          <p:cNvPr id="39" name="Shape 37"/>
          <p:cNvSpPr/>
          <p:nvPr/>
        </p:nvSpPr>
        <p:spPr>
          <a:xfrm>
            <a:off x="9353550" y="5748995"/>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40" name="Shape 38"/>
          <p:cNvSpPr/>
          <p:nvPr/>
        </p:nvSpPr>
        <p:spPr>
          <a:xfrm>
            <a:off x="9569450" y="5926795"/>
            <a:ext cx="323850" cy="323850"/>
          </a:xfrm>
          <a:prstGeom prst="roundRect">
            <a:avLst>
              <a:gd name="adj" fmla="val 23529"/>
            </a:avLst>
          </a:prstGeom>
          <a:solidFill>
            <a:srgbClr val="FFFFFF">
              <a:alpha val="6000"/>
            </a:srgbClr>
          </a:solidFill>
          <a:ln/>
        </p:spPr>
      </p:sp>
      <p:sp>
        <p:nvSpPr>
          <p:cNvPr id="41" name="Text 39"/>
          <p:cNvSpPr/>
          <p:nvPr/>
        </p:nvSpPr>
        <p:spPr>
          <a:xfrm>
            <a:off x="9531350" y="5926795"/>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alpha val="99000"/>
                  </a:srgbClr>
                </a:solidFill>
                <a:latin typeface="Arial" pitchFamily="34" charset="0"/>
                <a:ea typeface="Arial" pitchFamily="34" charset="-122"/>
                <a:cs typeface="Arial" pitchFamily="34" charset="-120"/>
              </a:rPr>
              <a:t>D</a:t>
            </a:r>
            <a:endParaRPr lang="en-US" sz="1875" dirty="0"/>
          </a:p>
        </p:txBody>
      </p:sp>
      <p:sp>
        <p:nvSpPr>
          <p:cNvPr id="42" name="Text 40"/>
          <p:cNvSpPr/>
          <p:nvPr/>
        </p:nvSpPr>
        <p:spPr>
          <a:xfrm>
            <a:off x="10045701" y="5936320"/>
            <a:ext cx="2985105"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alpha val="99000"/>
                  </a:srgbClr>
                </a:solidFill>
                <a:latin typeface="Arial" pitchFamily="34" charset="0"/>
                <a:ea typeface="Arial" pitchFamily="34" charset="-122"/>
                <a:cs typeface="Arial" pitchFamily="34" charset="-120"/>
              </a:rPr>
              <a:t>Le système d'exploitation</a:t>
            </a:r>
            <a:endParaRPr lang="en-US" sz="187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0E15"/>
        </a:solidFill>
      </p:bgPr>
    </p:bg>
    <p:spTree>
      <p:nvGrpSpPr>
        <p:cNvPr id="1" name=""/>
        <p:cNvGrpSpPr/>
        <p:nvPr/>
      </p:nvGrpSpPr>
      <p:grpSpPr>
        <a:xfrm>
          <a:off x="0" y="0"/>
          <a:ext cx="0" cy="0"/>
          <a:chOff x="0" y="0"/>
          <a:chExt cx="0" cy="0"/>
        </a:xfrm>
      </p:grpSpPr>
      <p:sp>
        <p:nvSpPr>
          <p:cNvPr id="2" name="Shape 0"/>
          <p:cNvSpPr/>
          <p:nvPr/>
        </p:nvSpPr>
        <p:spPr>
          <a:xfrm>
            <a:off x="1066800" y="819150"/>
            <a:ext cx="419100" cy="419100"/>
          </a:xfrm>
          <a:prstGeom prst="roundRect">
            <a:avLst>
              <a:gd name="adj" fmla="val 27273"/>
            </a:avLst>
          </a:prstGeom>
          <a:ln w="19050">
            <a:solidFill>
              <a:srgbClr val="56DBDB">
                <a:alpha val="96000"/>
              </a:srgbClr>
            </a:solidFill>
            <a:prstDash val="solid"/>
          </a:ln>
        </p:spPr>
      </p:sp>
      <p:sp>
        <p:nvSpPr>
          <p:cNvPr id="3" name="Text 1"/>
          <p:cNvSpPr/>
          <p:nvPr/>
        </p:nvSpPr>
        <p:spPr>
          <a:xfrm>
            <a:off x="1047750" y="838200"/>
            <a:ext cx="457200" cy="419100"/>
          </a:xfrm>
          <a:prstGeom prst="rect">
            <a:avLst/>
          </a:prstGeom>
          <a:noFill/>
          <a:ln/>
        </p:spPr>
        <p:txBody>
          <a:bodyPr wrap="square" lIns="25400" tIns="25400" rIns="25400" bIns="25400" rtlCol="0" anchor="ctr">
            <a:normAutofit/>
          </a:bodyPr>
          <a:lstStyle/>
          <a:p>
            <a:pPr algn="ctr" indent="0" marL="0">
              <a:buNone/>
            </a:pPr>
            <a:r>
              <a:rPr lang="en-US" sz="1950" spc="432" kern="0" dirty="0">
                <a:solidFill>
                  <a:srgbClr val="56DBDB">
                    <a:alpha val="96000"/>
                  </a:srgbClr>
                </a:solidFill>
                <a:latin typeface="Courier New" pitchFamily="34" charset="0"/>
                <a:ea typeface="Courier New" pitchFamily="34" charset="-122"/>
                <a:cs typeface="Courier New" pitchFamily="34" charset="-120"/>
              </a:rPr>
              <a:t>?</a:t>
            </a:r>
            <a:endParaRPr lang="en-US" sz="1950" dirty="0"/>
          </a:p>
        </p:txBody>
      </p:sp>
      <p:sp>
        <p:nvSpPr>
          <p:cNvPr id="4" name="Text 2"/>
          <p:cNvSpPr/>
          <p:nvPr/>
        </p:nvSpPr>
        <p:spPr>
          <a:xfrm>
            <a:off x="1638300" y="876300"/>
            <a:ext cx="6329160" cy="342900"/>
          </a:xfrm>
          <a:prstGeom prst="rect">
            <a:avLst/>
          </a:prstGeom>
          <a:noFill/>
          <a:ln/>
        </p:spPr>
        <p:txBody>
          <a:bodyPr wrap="square" lIns="0" tIns="0" rIns="0" bIns="0" rtlCol="0" anchor="t">
            <a:normAutofit/>
          </a:bodyPr>
          <a:lstStyle/>
          <a:p>
            <a:pPr algn="l" indent="0" marL="0">
              <a:buNone/>
            </a:pPr>
            <a:r>
              <a:rPr lang="en-US" sz="1800" spc="432" kern="0" dirty="0">
                <a:solidFill>
                  <a:srgbClr val="56DBDB">
                    <a:alpha val="96000"/>
                  </a:srgbClr>
                </a:solidFill>
                <a:latin typeface="Courier New" pitchFamily="34" charset="0"/>
                <a:ea typeface="Courier New" pitchFamily="34" charset="-122"/>
                <a:cs typeface="Courier New" pitchFamily="34" charset="-120"/>
              </a:rPr>
              <a:t>QUIZ · ATELIER 01 — CAS PRATIQUE</a:t>
            </a:r>
            <a:endParaRPr lang="en-US" sz="1800" dirty="0"/>
          </a:p>
        </p:txBody>
      </p:sp>
      <p:sp>
        <p:nvSpPr>
          <p:cNvPr id="5" name="Text 3"/>
          <p:cNvSpPr/>
          <p:nvPr/>
        </p:nvSpPr>
        <p:spPr>
          <a:xfrm>
            <a:off x="1066800" y="1428797"/>
            <a:ext cx="11188005"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Est-ce du Big Data ? Quels « V » ?</a:t>
            </a:r>
            <a:endParaRPr lang="en-US" sz="4800" dirty="0"/>
          </a:p>
        </p:txBody>
      </p:sp>
      <p:sp>
        <p:nvSpPr>
          <p:cNvPr id="6" name="Shape 4"/>
          <p:cNvSpPr/>
          <p:nvPr/>
        </p:nvSpPr>
        <p:spPr>
          <a:xfrm>
            <a:off x="1066800" y="2443659"/>
            <a:ext cx="5270500" cy="3405386"/>
          </a:xfrm>
          <a:prstGeom prst="roundRect">
            <a:avLst>
              <a:gd name="adj" fmla="val 3916"/>
            </a:avLst>
          </a:prstGeom>
          <a:solidFill>
            <a:srgbClr val="FFFFFF">
              <a:alpha val="3000"/>
            </a:srgbClr>
          </a:solidFill>
          <a:ln w="6350">
            <a:solidFill>
              <a:srgbClr val="FFFFFF">
                <a:alpha val="10000"/>
              </a:srgbClr>
            </a:solidFill>
            <a:prstDash val="solid"/>
          </a:ln>
        </p:spPr>
      </p:sp>
      <p:sp>
        <p:nvSpPr>
          <p:cNvPr id="7" name="Text 5"/>
          <p:cNvSpPr/>
          <p:nvPr/>
        </p:nvSpPr>
        <p:spPr>
          <a:xfrm>
            <a:off x="1320800" y="2697659"/>
            <a:ext cx="4905375" cy="2363986"/>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8EA0B5"/>
                </a:solidFill>
                <a:latin typeface="Arial" pitchFamily="34" charset="0"/>
                <a:ea typeface="Arial" pitchFamily="34" charset="-122"/>
                <a:cs typeface="Arial" pitchFamily="34" charset="-120"/>
              </a:rPr>
              <a:t>Netflix reçoit des millions de clics par minute dans le monde entier.</a:t>
            </a:r>
            <a:endParaRPr lang="en-US" sz="1800" dirty="0"/>
          </a:p>
        </p:txBody>
      </p:sp>
      <p:sp>
        <p:nvSpPr>
          <p:cNvPr id="8" name="Shape 6"/>
          <p:cNvSpPr/>
          <p:nvPr/>
        </p:nvSpPr>
        <p:spPr>
          <a:xfrm>
            <a:off x="1320800" y="5175945"/>
            <a:ext cx="1089720" cy="419100"/>
          </a:xfrm>
          <a:prstGeom prst="roundRect">
            <a:avLst>
              <a:gd name="adj" fmla="val 50000"/>
            </a:avLst>
          </a:prstGeom>
          <a:solidFill>
            <a:srgbClr val="7CE1E1">
              <a:alpha val="27000"/>
            </a:srgbClr>
          </a:solidFill>
          <a:ln/>
        </p:spPr>
      </p:sp>
      <p:sp>
        <p:nvSpPr>
          <p:cNvPr id="9" name="Text 7"/>
          <p:cNvSpPr/>
          <p:nvPr/>
        </p:nvSpPr>
        <p:spPr>
          <a:xfrm>
            <a:off x="1454150" y="5233095"/>
            <a:ext cx="8992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EEF3F9"/>
                </a:solidFill>
                <a:latin typeface="Courier New" pitchFamily="34" charset="0"/>
                <a:ea typeface="Courier New" pitchFamily="34" charset="-122"/>
                <a:cs typeface="Courier New" pitchFamily="34" charset="-120"/>
              </a:rPr>
              <a:t>Volume</a:t>
            </a:r>
            <a:endParaRPr lang="en-US" sz="1800" dirty="0"/>
          </a:p>
        </p:txBody>
      </p:sp>
      <p:sp>
        <p:nvSpPr>
          <p:cNvPr id="10" name="Shape 8"/>
          <p:cNvSpPr/>
          <p:nvPr/>
        </p:nvSpPr>
        <p:spPr>
          <a:xfrm>
            <a:off x="2486720" y="5175945"/>
            <a:ext cx="1364059" cy="419100"/>
          </a:xfrm>
          <a:prstGeom prst="roundRect">
            <a:avLst>
              <a:gd name="adj" fmla="val 50000"/>
            </a:avLst>
          </a:prstGeom>
          <a:solidFill>
            <a:srgbClr val="7CE1E1">
              <a:alpha val="27000"/>
            </a:srgbClr>
          </a:solidFill>
          <a:ln/>
        </p:spPr>
      </p:sp>
      <p:sp>
        <p:nvSpPr>
          <p:cNvPr id="11" name="Text 9"/>
          <p:cNvSpPr/>
          <p:nvPr/>
        </p:nvSpPr>
        <p:spPr>
          <a:xfrm>
            <a:off x="2620070" y="5233095"/>
            <a:ext cx="117355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EEF3F9"/>
                </a:solidFill>
                <a:latin typeface="Courier New" pitchFamily="34" charset="0"/>
                <a:ea typeface="Courier New" pitchFamily="34" charset="-122"/>
                <a:cs typeface="Courier New" pitchFamily="34" charset="-120"/>
              </a:rPr>
              <a:t>Vélocité</a:t>
            </a:r>
            <a:endParaRPr lang="en-US" sz="1800" dirty="0"/>
          </a:p>
        </p:txBody>
      </p:sp>
      <p:sp>
        <p:nvSpPr>
          <p:cNvPr id="12" name="Shape 10"/>
          <p:cNvSpPr/>
          <p:nvPr/>
        </p:nvSpPr>
        <p:spPr>
          <a:xfrm>
            <a:off x="3926979" y="5175945"/>
            <a:ext cx="1089720" cy="419100"/>
          </a:xfrm>
          <a:prstGeom prst="roundRect">
            <a:avLst>
              <a:gd name="adj" fmla="val 50000"/>
            </a:avLst>
          </a:prstGeom>
          <a:solidFill>
            <a:srgbClr val="7CE1E1">
              <a:alpha val="27000"/>
            </a:srgbClr>
          </a:solidFill>
          <a:ln/>
        </p:spPr>
      </p:sp>
      <p:sp>
        <p:nvSpPr>
          <p:cNvPr id="13" name="Text 11"/>
          <p:cNvSpPr/>
          <p:nvPr/>
        </p:nvSpPr>
        <p:spPr>
          <a:xfrm>
            <a:off x="4060329" y="5233095"/>
            <a:ext cx="8992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EEF3F9"/>
                </a:solidFill>
                <a:latin typeface="Courier New" pitchFamily="34" charset="0"/>
                <a:ea typeface="Courier New" pitchFamily="34" charset="-122"/>
                <a:cs typeface="Courier New" pitchFamily="34" charset="-120"/>
              </a:rPr>
              <a:t>Valeur</a:t>
            </a:r>
            <a:endParaRPr lang="en-US" sz="1800" dirty="0"/>
          </a:p>
        </p:txBody>
      </p:sp>
      <p:sp>
        <p:nvSpPr>
          <p:cNvPr id="14" name="Shape 12"/>
          <p:cNvSpPr/>
          <p:nvPr/>
        </p:nvSpPr>
        <p:spPr>
          <a:xfrm>
            <a:off x="6505762" y="2441728"/>
            <a:ext cx="5276477" cy="3409248"/>
          </a:xfrm>
          <a:prstGeom prst="roundRect">
            <a:avLst>
              <a:gd name="adj" fmla="val 3916"/>
            </a:avLst>
          </a:prstGeom>
          <a:solidFill>
            <a:srgbClr val="FFFFFF">
              <a:alpha val="3000"/>
            </a:srgbClr>
          </a:solidFill>
          <a:ln w="6357">
            <a:solidFill>
              <a:srgbClr val="FFFFFF">
                <a:alpha val="10000"/>
              </a:srgbClr>
            </a:solidFill>
            <a:prstDash val="solid"/>
          </a:ln>
        </p:spPr>
      </p:sp>
      <p:sp>
        <p:nvSpPr>
          <p:cNvPr id="15" name="Text 13"/>
          <p:cNvSpPr/>
          <p:nvPr/>
        </p:nvSpPr>
        <p:spPr>
          <a:xfrm>
            <a:off x="6760050" y="2696016"/>
            <a:ext cx="4910938" cy="2366623"/>
          </a:xfrm>
          <a:prstGeom prst="rect">
            <a:avLst/>
          </a:prstGeom>
          <a:noFill/>
          <a:ln/>
        </p:spPr>
        <p:txBody>
          <a:bodyPr wrap="square" lIns="25400" tIns="25400" rIns="25400" bIns="25400" rtlCol="0" anchor="t">
            <a:normAutofit/>
          </a:bodyPr>
          <a:lstStyle/>
          <a:p>
            <a:pPr algn="l" indent="0" marL="0">
              <a:lnSpc>
                <a:spcPct val="120000"/>
              </a:lnSpc>
              <a:buNone/>
            </a:pPr>
            <a:r>
              <a:rPr lang="en-US" sz="1802" dirty="0">
                <a:solidFill>
                  <a:srgbClr val="8EA0B5"/>
                </a:solidFill>
                <a:latin typeface="Arial" pitchFamily="34" charset="0"/>
                <a:ea typeface="Arial" pitchFamily="34" charset="-122"/>
                <a:cs typeface="Arial" pitchFamily="34" charset="-120"/>
              </a:rPr>
              <a:t>Un hôpital conserve IRM, radios, vidéos, dossiers et analyses.</a:t>
            </a:r>
            <a:endParaRPr lang="en-US" sz="1802" dirty="0"/>
          </a:p>
        </p:txBody>
      </p:sp>
      <p:sp>
        <p:nvSpPr>
          <p:cNvPr id="16" name="Shape 14"/>
          <p:cNvSpPr/>
          <p:nvPr/>
        </p:nvSpPr>
        <p:spPr>
          <a:xfrm>
            <a:off x="6760050" y="5177112"/>
            <a:ext cx="1228232" cy="419576"/>
          </a:xfrm>
          <a:prstGeom prst="roundRect">
            <a:avLst>
              <a:gd name="adj" fmla="val 50000"/>
            </a:avLst>
          </a:prstGeom>
          <a:solidFill>
            <a:srgbClr val="7CE1E1">
              <a:alpha val="27000"/>
            </a:srgbClr>
          </a:solidFill>
          <a:ln/>
        </p:spPr>
      </p:sp>
      <p:sp>
        <p:nvSpPr>
          <p:cNvPr id="17" name="Text 15"/>
          <p:cNvSpPr/>
          <p:nvPr/>
        </p:nvSpPr>
        <p:spPr>
          <a:xfrm>
            <a:off x="6893550" y="5234326"/>
            <a:ext cx="1037431" cy="343246"/>
          </a:xfrm>
          <a:prstGeom prst="rect">
            <a:avLst/>
          </a:prstGeom>
          <a:noFill/>
          <a:ln/>
        </p:spPr>
        <p:txBody>
          <a:bodyPr wrap="square" lIns="25400" tIns="25400" rIns="25400" bIns="25400" rtlCol="0" anchor="t">
            <a:normAutofit/>
          </a:bodyPr>
          <a:lstStyle/>
          <a:p>
            <a:pPr algn="l" indent="0" marL="0">
              <a:buNone/>
            </a:pPr>
            <a:r>
              <a:rPr lang="en-US" sz="1802" dirty="0">
                <a:solidFill>
                  <a:srgbClr val="EEF3F9"/>
                </a:solidFill>
                <a:latin typeface="Courier New" pitchFamily="34" charset="0"/>
                <a:ea typeface="Courier New" pitchFamily="34" charset="-122"/>
                <a:cs typeface="Courier New" pitchFamily="34" charset="-120"/>
              </a:rPr>
              <a:t>Variété</a:t>
            </a:r>
            <a:endParaRPr lang="en-US" sz="1802" dirty="0"/>
          </a:p>
        </p:txBody>
      </p:sp>
      <p:sp>
        <p:nvSpPr>
          <p:cNvPr id="18" name="Shape 16"/>
          <p:cNvSpPr/>
          <p:nvPr/>
        </p:nvSpPr>
        <p:spPr>
          <a:xfrm>
            <a:off x="8064568" y="5177112"/>
            <a:ext cx="1090955" cy="419576"/>
          </a:xfrm>
          <a:prstGeom prst="roundRect">
            <a:avLst>
              <a:gd name="adj" fmla="val 50000"/>
            </a:avLst>
          </a:prstGeom>
          <a:solidFill>
            <a:srgbClr val="7CE1E1">
              <a:alpha val="27000"/>
            </a:srgbClr>
          </a:solidFill>
          <a:ln/>
        </p:spPr>
      </p:sp>
      <p:sp>
        <p:nvSpPr>
          <p:cNvPr id="19" name="Text 17"/>
          <p:cNvSpPr/>
          <p:nvPr/>
        </p:nvSpPr>
        <p:spPr>
          <a:xfrm>
            <a:off x="8198068" y="5234326"/>
            <a:ext cx="900154" cy="343246"/>
          </a:xfrm>
          <a:prstGeom prst="rect">
            <a:avLst/>
          </a:prstGeom>
          <a:noFill/>
          <a:ln/>
        </p:spPr>
        <p:txBody>
          <a:bodyPr wrap="square" lIns="25400" tIns="25400" rIns="25400" bIns="25400" rtlCol="0" anchor="t">
            <a:normAutofit/>
          </a:bodyPr>
          <a:lstStyle/>
          <a:p>
            <a:pPr algn="l" indent="0" marL="0">
              <a:buNone/>
            </a:pPr>
            <a:r>
              <a:rPr lang="en-US" sz="1802" dirty="0">
                <a:solidFill>
                  <a:srgbClr val="EEF3F9"/>
                </a:solidFill>
                <a:latin typeface="Courier New" pitchFamily="34" charset="0"/>
                <a:ea typeface="Courier New" pitchFamily="34" charset="-122"/>
                <a:cs typeface="Courier New" pitchFamily="34" charset="-120"/>
              </a:rPr>
              <a:t>Volume</a:t>
            </a:r>
            <a:endParaRPr lang="en-US" sz="1802" dirty="0"/>
          </a:p>
        </p:txBody>
      </p:sp>
      <p:sp>
        <p:nvSpPr>
          <p:cNvPr id="20" name="Shape 18"/>
          <p:cNvSpPr/>
          <p:nvPr/>
        </p:nvSpPr>
        <p:spPr>
          <a:xfrm>
            <a:off x="9231810" y="5177112"/>
            <a:ext cx="1090955" cy="419576"/>
          </a:xfrm>
          <a:prstGeom prst="roundRect">
            <a:avLst>
              <a:gd name="adj" fmla="val 50000"/>
            </a:avLst>
          </a:prstGeom>
          <a:solidFill>
            <a:srgbClr val="7CE1E1">
              <a:alpha val="27000"/>
            </a:srgbClr>
          </a:solidFill>
          <a:ln/>
        </p:spPr>
      </p:sp>
      <p:sp>
        <p:nvSpPr>
          <p:cNvPr id="21" name="Text 19"/>
          <p:cNvSpPr/>
          <p:nvPr/>
        </p:nvSpPr>
        <p:spPr>
          <a:xfrm>
            <a:off x="9365310" y="5234326"/>
            <a:ext cx="900154" cy="343246"/>
          </a:xfrm>
          <a:prstGeom prst="rect">
            <a:avLst/>
          </a:prstGeom>
          <a:noFill/>
          <a:ln/>
        </p:spPr>
        <p:txBody>
          <a:bodyPr wrap="square" lIns="25400" tIns="25400" rIns="25400" bIns="25400" rtlCol="0" anchor="t">
            <a:normAutofit/>
          </a:bodyPr>
          <a:lstStyle/>
          <a:p>
            <a:pPr algn="l" indent="0" marL="0">
              <a:buNone/>
            </a:pPr>
            <a:r>
              <a:rPr lang="en-US" sz="1802" dirty="0">
                <a:solidFill>
                  <a:srgbClr val="EEF3F9"/>
                </a:solidFill>
                <a:latin typeface="Courier New" pitchFamily="34" charset="0"/>
                <a:ea typeface="Courier New" pitchFamily="34" charset="-122"/>
                <a:cs typeface="Courier New" pitchFamily="34" charset="-120"/>
              </a:rPr>
              <a:t>Valeur</a:t>
            </a:r>
            <a:endParaRPr lang="en-US" sz="1802" dirty="0"/>
          </a:p>
        </p:txBody>
      </p:sp>
      <p:sp>
        <p:nvSpPr>
          <p:cNvPr id="22" name="Shape 20"/>
          <p:cNvSpPr/>
          <p:nvPr/>
        </p:nvSpPr>
        <p:spPr>
          <a:xfrm>
            <a:off x="11931990" y="2431569"/>
            <a:ext cx="5307921" cy="3429565"/>
          </a:xfrm>
          <a:prstGeom prst="roundRect">
            <a:avLst>
              <a:gd name="adj" fmla="val 3916"/>
            </a:avLst>
          </a:prstGeom>
          <a:solidFill>
            <a:srgbClr val="FFFFFF">
              <a:alpha val="3000"/>
            </a:srgbClr>
          </a:solidFill>
          <a:ln w="6395">
            <a:solidFill>
              <a:srgbClr val="FFFFFF">
                <a:alpha val="10000"/>
              </a:srgbClr>
            </a:solidFill>
            <a:prstDash val="solid"/>
          </a:ln>
        </p:spPr>
      </p:sp>
      <p:sp>
        <p:nvSpPr>
          <p:cNvPr id="23" name="Text 21"/>
          <p:cNvSpPr/>
          <p:nvPr/>
        </p:nvSpPr>
        <p:spPr>
          <a:xfrm>
            <a:off x="12187793" y="2687373"/>
            <a:ext cx="4940204" cy="2354919"/>
          </a:xfrm>
          <a:prstGeom prst="rect">
            <a:avLst/>
          </a:prstGeom>
          <a:noFill/>
          <a:ln/>
        </p:spPr>
        <p:txBody>
          <a:bodyPr wrap="square" lIns="25400" tIns="25400" rIns="25400" bIns="25400" rtlCol="0" anchor="t">
            <a:normAutofit/>
          </a:bodyPr>
          <a:lstStyle/>
          <a:p>
            <a:pPr algn="l" indent="0" marL="0">
              <a:lnSpc>
                <a:spcPct val="120000"/>
              </a:lnSpc>
              <a:buNone/>
            </a:pPr>
            <a:r>
              <a:rPr lang="en-US" sz="1813" dirty="0">
                <a:solidFill>
                  <a:srgbClr val="8EA0B5"/>
                </a:solidFill>
                <a:latin typeface="Arial" pitchFamily="34" charset="0"/>
                <a:ea typeface="Arial" pitchFamily="34" charset="-122"/>
                <a:cs typeface="Arial" pitchFamily="34" charset="-120"/>
              </a:rPr>
              <a:t>2 Go seulement, mais 80 000 arrivées par seconde.</a:t>
            </a:r>
            <a:endParaRPr lang="en-US" sz="1813" dirty="0"/>
          </a:p>
        </p:txBody>
      </p:sp>
      <p:sp>
        <p:nvSpPr>
          <p:cNvPr id="24" name="Shape 22"/>
          <p:cNvSpPr/>
          <p:nvPr/>
        </p:nvSpPr>
        <p:spPr>
          <a:xfrm>
            <a:off x="12187793" y="5157675"/>
            <a:ext cx="1697096" cy="447656"/>
          </a:xfrm>
          <a:prstGeom prst="roundRect">
            <a:avLst>
              <a:gd name="adj" fmla="val 50000"/>
            </a:avLst>
          </a:prstGeom>
          <a:solidFill>
            <a:srgbClr val="72DFDF">
              <a:alpha val="34000"/>
            </a:srgbClr>
          </a:solidFill>
          <a:ln w="6395">
            <a:solidFill>
              <a:srgbClr val="70E1DF">
                <a:alpha val="50000"/>
              </a:srgbClr>
            </a:solidFill>
            <a:prstDash val="solid"/>
          </a:ln>
        </p:spPr>
      </p:sp>
      <p:sp>
        <p:nvSpPr>
          <p:cNvPr id="25" name="Text 23"/>
          <p:cNvSpPr/>
          <p:nvPr/>
        </p:nvSpPr>
        <p:spPr>
          <a:xfrm>
            <a:off x="12328485" y="5221626"/>
            <a:ext cx="1491912" cy="357854"/>
          </a:xfrm>
          <a:prstGeom prst="rect">
            <a:avLst/>
          </a:prstGeom>
          <a:noFill/>
          <a:ln/>
        </p:spPr>
        <p:txBody>
          <a:bodyPr wrap="square" lIns="25400" tIns="25400" rIns="25400" bIns="25400" rtlCol="0" anchor="t">
            <a:normAutofit/>
          </a:bodyPr>
          <a:lstStyle/>
          <a:p>
            <a:pPr algn="l" indent="0" marL="0">
              <a:buNone/>
            </a:pPr>
            <a:r>
              <a:rPr lang="en-US" sz="1813" dirty="0">
                <a:solidFill>
                  <a:srgbClr val="56DBDB"/>
                </a:solidFill>
                <a:latin typeface="Courier New" pitchFamily="34" charset="0"/>
                <a:ea typeface="Courier New" pitchFamily="34" charset="-122"/>
                <a:cs typeface="Courier New" pitchFamily="34" charset="-120"/>
              </a:rPr>
              <a:t>Big Data ✓</a:t>
            </a:r>
            <a:endParaRPr lang="en-US" sz="1813" dirty="0"/>
          </a:p>
        </p:txBody>
      </p:sp>
      <p:sp>
        <p:nvSpPr>
          <p:cNvPr id="26" name="Text 24"/>
          <p:cNvSpPr/>
          <p:nvPr/>
        </p:nvSpPr>
        <p:spPr>
          <a:xfrm>
            <a:off x="13961630" y="5231218"/>
            <a:ext cx="3160510" cy="338668"/>
          </a:xfrm>
          <a:prstGeom prst="rect">
            <a:avLst/>
          </a:prstGeom>
          <a:noFill/>
          <a:ln/>
        </p:spPr>
        <p:txBody>
          <a:bodyPr wrap="square" lIns="25400" tIns="25400" rIns="25400" bIns="25400" rtlCol="0" anchor="t">
            <a:normAutofit/>
          </a:bodyPr>
          <a:lstStyle/>
          <a:p>
            <a:pPr algn="l" indent="0" marL="0">
              <a:buNone/>
            </a:pPr>
            <a:r>
              <a:rPr lang="en-US" sz="1813" dirty="0">
                <a:solidFill>
                  <a:srgbClr val="8EA0B5"/>
                </a:solidFill>
                <a:latin typeface="Arial" pitchFamily="34" charset="0"/>
                <a:ea typeface="Arial" pitchFamily="34" charset="-122"/>
                <a:cs typeface="Arial" pitchFamily="34" charset="-120"/>
              </a:rPr>
              <a:t>→ la vélocité, pas le volume</a:t>
            </a:r>
            <a:endParaRPr lang="en-US" sz="1813" dirty="0"/>
          </a:p>
        </p:txBody>
      </p:sp>
      <p:sp>
        <p:nvSpPr>
          <p:cNvPr id="27" name="Shape 25"/>
          <p:cNvSpPr/>
          <p:nvPr/>
        </p:nvSpPr>
        <p:spPr>
          <a:xfrm>
            <a:off x="1037544" y="6001359"/>
            <a:ext cx="5329011" cy="3485627"/>
          </a:xfrm>
          <a:prstGeom prst="roundRect">
            <a:avLst>
              <a:gd name="adj" fmla="val 3868"/>
            </a:avLst>
          </a:prstGeom>
          <a:solidFill>
            <a:srgbClr val="FFFFFF">
              <a:alpha val="3000"/>
            </a:srgbClr>
          </a:solidFill>
          <a:ln w="6420">
            <a:solidFill>
              <a:srgbClr val="FFFFFF">
                <a:alpha val="10000"/>
              </a:srgbClr>
            </a:solidFill>
            <a:prstDash val="solid"/>
          </a:ln>
        </p:spPr>
      </p:sp>
      <p:sp>
        <p:nvSpPr>
          <p:cNvPr id="28" name="Text 26"/>
          <p:cNvSpPr/>
          <p:nvPr/>
        </p:nvSpPr>
        <p:spPr>
          <a:xfrm>
            <a:off x="1294364" y="6258178"/>
            <a:ext cx="4959834" cy="2419402"/>
          </a:xfrm>
          <a:prstGeom prst="rect">
            <a:avLst/>
          </a:prstGeom>
          <a:noFill/>
          <a:ln/>
        </p:spPr>
        <p:txBody>
          <a:bodyPr wrap="square" lIns="25400" tIns="25400" rIns="25400" bIns="25400" rtlCol="0" anchor="t">
            <a:normAutofit/>
          </a:bodyPr>
          <a:lstStyle/>
          <a:p>
            <a:pPr algn="l" indent="0" marL="0">
              <a:lnSpc>
                <a:spcPct val="120000"/>
              </a:lnSpc>
              <a:buNone/>
            </a:pPr>
            <a:r>
              <a:rPr lang="en-US" sz="1820" dirty="0">
                <a:solidFill>
                  <a:srgbClr val="8EA0B5"/>
                </a:solidFill>
                <a:latin typeface="Arial" pitchFamily="34" charset="0"/>
                <a:ea typeface="Arial" pitchFamily="34" charset="-122"/>
                <a:cs typeface="Arial" pitchFamily="34" charset="-120"/>
              </a:rPr>
              <a:t>700 To de données propres, mais jamais exploitées.</a:t>
            </a:r>
            <a:endParaRPr lang="en-US" sz="1820" dirty="0"/>
          </a:p>
        </p:txBody>
      </p:sp>
      <p:sp>
        <p:nvSpPr>
          <p:cNvPr id="29" name="Shape 27"/>
          <p:cNvSpPr/>
          <p:nvPr/>
        </p:nvSpPr>
        <p:spPr>
          <a:xfrm>
            <a:off x="1294364" y="8793572"/>
            <a:ext cx="2224100" cy="436594"/>
          </a:xfrm>
          <a:prstGeom prst="roundRect">
            <a:avLst>
              <a:gd name="adj" fmla="val 50000"/>
            </a:avLst>
          </a:prstGeom>
          <a:solidFill>
            <a:srgbClr val="FFC084">
              <a:alpha val="30000"/>
            </a:srgbClr>
          </a:solidFill>
          <a:ln w="6420">
            <a:solidFill>
              <a:srgbClr val="FFBE82">
                <a:alpha val="46000"/>
              </a:srgbClr>
            </a:solidFill>
            <a:prstDash val="solid"/>
          </a:ln>
        </p:spPr>
      </p:sp>
      <p:sp>
        <p:nvSpPr>
          <p:cNvPr id="30" name="Text 28"/>
          <p:cNvSpPr/>
          <p:nvPr/>
        </p:nvSpPr>
        <p:spPr>
          <a:xfrm>
            <a:off x="1435615" y="8857777"/>
            <a:ext cx="2017799" cy="346284"/>
          </a:xfrm>
          <a:prstGeom prst="rect">
            <a:avLst/>
          </a:prstGeom>
          <a:noFill/>
          <a:ln/>
        </p:spPr>
        <p:txBody>
          <a:bodyPr wrap="square" lIns="25400" tIns="25400" rIns="25400" bIns="25400" rtlCol="0" anchor="t">
            <a:normAutofit/>
          </a:bodyPr>
          <a:lstStyle/>
          <a:p>
            <a:pPr algn="l" indent="0" marL="0">
              <a:buNone/>
            </a:pPr>
            <a:r>
              <a:rPr lang="en-US" sz="1820" dirty="0">
                <a:solidFill>
                  <a:srgbClr val="FFB46E"/>
                </a:solidFill>
                <a:latin typeface="Courier New" pitchFamily="34" charset="0"/>
                <a:ea typeface="Courier New" pitchFamily="34" charset="-122"/>
                <a:cs typeface="Courier New" pitchFamily="34" charset="-120"/>
              </a:rPr>
              <a:t>Valeur absente</a:t>
            </a:r>
            <a:endParaRPr lang="en-US" sz="1820" dirty="0"/>
          </a:p>
        </p:txBody>
      </p:sp>
      <p:sp>
        <p:nvSpPr>
          <p:cNvPr id="31" name="Shape 29"/>
          <p:cNvSpPr/>
          <p:nvPr/>
        </p:nvSpPr>
        <p:spPr>
          <a:xfrm>
            <a:off x="6476015" y="5999083"/>
            <a:ext cx="5335972" cy="3490179"/>
          </a:xfrm>
          <a:prstGeom prst="roundRect">
            <a:avLst>
              <a:gd name="adj" fmla="val 3868"/>
            </a:avLst>
          </a:prstGeom>
          <a:solidFill>
            <a:srgbClr val="FFFFFF">
              <a:alpha val="3000"/>
            </a:srgbClr>
          </a:solidFill>
          <a:ln w="6429">
            <a:solidFill>
              <a:srgbClr val="FFFFFF">
                <a:alpha val="10000"/>
              </a:srgbClr>
            </a:solidFill>
            <a:prstDash val="solid"/>
          </a:ln>
        </p:spPr>
      </p:sp>
      <p:sp>
        <p:nvSpPr>
          <p:cNvPr id="32" name="Text 30"/>
          <p:cNvSpPr/>
          <p:nvPr/>
        </p:nvSpPr>
        <p:spPr>
          <a:xfrm>
            <a:off x="6733170" y="6256238"/>
            <a:ext cx="4966311" cy="2422511"/>
          </a:xfrm>
          <a:prstGeom prst="rect">
            <a:avLst/>
          </a:prstGeom>
          <a:noFill/>
          <a:ln/>
        </p:spPr>
        <p:txBody>
          <a:bodyPr wrap="square" lIns="25400" tIns="25400" rIns="25400" bIns="25400" rtlCol="0" anchor="t">
            <a:normAutofit/>
          </a:bodyPr>
          <a:lstStyle/>
          <a:p>
            <a:pPr algn="l" indent="0" marL="0">
              <a:lnSpc>
                <a:spcPct val="120000"/>
              </a:lnSpc>
              <a:buNone/>
            </a:pPr>
            <a:r>
              <a:rPr lang="en-US" sz="1822" dirty="0">
                <a:solidFill>
                  <a:srgbClr val="8EA0B5"/>
                </a:solidFill>
                <a:latin typeface="Arial" pitchFamily="34" charset="0"/>
                <a:ea typeface="Arial" pitchFamily="34" charset="-122"/>
                <a:cs typeface="Arial" pitchFamily="34" charset="-120"/>
              </a:rPr>
              <a:t>Des millions de tweets avec fautes, spams et faux comptes.</a:t>
            </a:r>
            <a:endParaRPr lang="en-US" sz="1822" dirty="0"/>
          </a:p>
        </p:txBody>
      </p:sp>
      <p:sp>
        <p:nvSpPr>
          <p:cNvPr id="33" name="Shape 31"/>
          <p:cNvSpPr/>
          <p:nvPr/>
        </p:nvSpPr>
        <p:spPr>
          <a:xfrm>
            <a:off x="6733170" y="8794943"/>
            <a:ext cx="1393861" cy="437163"/>
          </a:xfrm>
          <a:prstGeom prst="roundRect">
            <a:avLst>
              <a:gd name="adj" fmla="val 50000"/>
            </a:avLst>
          </a:prstGeom>
          <a:solidFill>
            <a:srgbClr val="FFC084">
              <a:alpha val="30000"/>
            </a:srgbClr>
          </a:solidFill>
          <a:ln w="6429">
            <a:solidFill>
              <a:srgbClr val="FFBE82">
                <a:alpha val="46000"/>
              </a:srgbClr>
            </a:solidFill>
            <a:prstDash val="solid"/>
          </a:ln>
        </p:spPr>
      </p:sp>
      <p:sp>
        <p:nvSpPr>
          <p:cNvPr id="34" name="Text 32"/>
          <p:cNvSpPr/>
          <p:nvPr/>
        </p:nvSpPr>
        <p:spPr>
          <a:xfrm>
            <a:off x="6874605" y="8859232"/>
            <a:ext cx="1187191" cy="346686"/>
          </a:xfrm>
          <a:prstGeom prst="rect">
            <a:avLst/>
          </a:prstGeom>
          <a:noFill/>
          <a:ln/>
        </p:spPr>
        <p:txBody>
          <a:bodyPr wrap="square" lIns="25400" tIns="25400" rIns="25400" bIns="25400" rtlCol="0" anchor="t">
            <a:normAutofit/>
          </a:bodyPr>
          <a:lstStyle/>
          <a:p>
            <a:pPr algn="l" indent="0" marL="0">
              <a:buNone/>
            </a:pPr>
            <a:r>
              <a:rPr lang="en-US" sz="1822" dirty="0">
                <a:solidFill>
                  <a:srgbClr val="FFB46E"/>
                </a:solidFill>
                <a:latin typeface="Courier New" pitchFamily="34" charset="0"/>
                <a:ea typeface="Courier New" pitchFamily="34" charset="-122"/>
                <a:cs typeface="Courier New" pitchFamily="34" charset="-120"/>
              </a:rPr>
              <a:t>Véracité</a:t>
            </a:r>
            <a:endParaRPr lang="en-US" sz="1822" dirty="0"/>
          </a:p>
        </p:txBody>
      </p:sp>
      <p:sp>
        <p:nvSpPr>
          <p:cNvPr id="35" name="Shape 33"/>
          <p:cNvSpPr/>
          <p:nvPr/>
        </p:nvSpPr>
        <p:spPr>
          <a:xfrm>
            <a:off x="11924550" y="6003390"/>
            <a:ext cx="5322801" cy="3481565"/>
          </a:xfrm>
          <a:prstGeom prst="roundRect">
            <a:avLst>
              <a:gd name="adj" fmla="val 3868"/>
            </a:avLst>
          </a:prstGeom>
          <a:solidFill>
            <a:srgbClr val="FFFFFF">
              <a:alpha val="3000"/>
            </a:srgbClr>
          </a:solidFill>
          <a:ln w="6413">
            <a:solidFill>
              <a:srgbClr val="FFFFFF">
                <a:alpha val="10000"/>
              </a:srgbClr>
            </a:solidFill>
            <a:prstDash val="solid"/>
          </a:ln>
        </p:spPr>
      </p:sp>
      <p:sp>
        <p:nvSpPr>
          <p:cNvPr id="36" name="Text 34"/>
          <p:cNvSpPr/>
          <p:nvPr/>
        </p:nvSpPr>
        <p:spPr>
          <a:xfrm>
            <a:off x="12181070" y="6259910"/>
            <a:ext cx="4954054" cy="2038259"/>
          </a:xfrm>
          <a:prstGeom prst="rect">
            <a:avLst/>
          </a:prstGeom>
          <a:noFill/>
          <a:ln/>
        </p:spPr>
        <p:txBody>
          <a:bodyPr wrap="square" lIns="25400" tIns="25400" rIns="25400" bIns="25400" rtlCol="0" anchor="t">
            <a:normAutofit/>
          </a:bodyPr>
          <a:lstStyle/>
          <a:p>
            <a:pPr algn="l" indent="0" marL="0">
              <a:lnSpc>
                <a:spcPct val="120000"/>
              </a:lnSpc>
              <a:buNone/>
            </a:pPr>
            <a:r>
              <a:rPr lang="en-US" sz="1818" dirty="0">
                <a:solidFill>
                  <a:srgbClr val="8EA0B5"/>
                </a:solidFill>
                <a:latin typeface="Arial" pitchFamily="34" charset="0"/>
                <a:ea typeface="Arial" pitchFamily="34" charset="-122"/>
                <a:cs typeface="Arial" pitchFamily="34" charset="-120"/>
              </a:rPr>
              <a:t>Une PME possède une base Oracle de 80 Go.</a:t>
            </a:r>
            <a:endParaRPr lang="en-US" sz="1818" dirty="0"/>
          </a:p>
        </p:txBody>
      </p:sp>
      <p:sp>
        <p:nvSpPr>
          <p:cNvPr id="37" name="Shape 35"/>
          <p:cNvSpPr/>
          <p:nvPr/>
        </p:nvSpPr>
        <p:spPr>
          <a:xfrm>
            <a:off x="12181070" y="8413982"/>
            <a:ext cx="2083026" cy="436085"/>
          </a:xfrm>
          <a:prstGeom prst="roundRect">
            <a:avLst>
              <a:gd name="adj" fmla="val 50000"/>
            </a:avLst>
          </a:prstGeom>
          <a:solidFill>
            <a:srgbClr val="FFFFFF">
              <a:alpha val="6000"/>
            </a:srgbClr>
          </a:solidFill>
          <a:ln w="6413">
            <a:solidFill>
              <a:srgbClr val="FFFFFF">
                <a:alpha val="10000"/>
              </a:srgbClr>
            </a:solidFill>
            <a:prstDash val="solid"/>
          </a:ln>
        </p:spPr>
      </p:sp>
      <p:sp>
        <p:nvSpPr>
          <p:cNvPr id="38" name="Text 36"/>
          <p:cNvSpPr/>
          <p:nvPr/>
        </p:nvSpPr>
        <p:spPr>
          <a:xfrm>
            <a:off x="12322156" y="8478112"/>
            <a:ext cx="1877055" cy="345925"/>
          </a:xfrm>
          <a:prstGeom prst="rect">
            <a:avLst/>
          </a:prstGeom>
          <a:noFill/>
          <a:ln/>
        </p:spPr>
        <p:txBody>
          <a:bodyPr wrap="square" lIns="25400" tIns="25400" rIns="25400" bIns="25400" rtlCol="0" anchor="t">
            <a:normAutofit/>
          </a:bodyPr>
          <a:lstStyle/>
          <a:p>
            <a:pPr algn="l" indent="0" marL="0">
              <a:buNone/>
            </a:pPr>
            <a:r>
              <a:rPr lang="en-US" sz="1818" dirty="0">
                <a:solidFill>
                  <a:srgbClr val="8EA0B5"/>
                </a:solidFill>
                <a:latin typeface="Courier New" pitchFamily="34" charset="0"/>
                <a:ea typeface="Courier New" pitchFamily="34" charset="-122"/>
                <a:cs typeface="Courier New" pitchFamily="34" charset="-120"/>
              </a:rPr>
              <a:t>Pas forcément</a:t>
            </a:r>
            <a:endParaRPr lang="en-US" sz="1818" dirty="0"/>
          </a:p>
        </p:txBody>
      </p:sp>
      <p:sp>
        <p:nvSpPr>
          <p:cNvPr id="39" name="Text 37"/>
          <p:cNvSpPr/>
          <p:nvPr/>
        </p:nvSpPr>
        <p:spPr>
          <a:xfrm>
            <a:off x="12181070" y="8927023"/>
            <a:ext cx="3411644" cy="339512"/>
          </a:xfrm>
          <a:prstGeom prst="rect">
            <a:avLst/>
          </a:prstGeom>
          <a:noFill/>
          <a:ln/>
        </p:spPr>
        <p:txBody>
          <a:bodyPr wrap="square" lIns="25400" tIns="25400" rIns="25400" bIns="25400" rtlCol="0" anchor="t">
            <a:normAutofit/>
          </a:bodyPr>
          <a:lstStyle/>
          <a:p>
            <a:pPr algn="l" indent="0" marL="0">
              <a:buNone/>
            </a:pPr>
            <a:r>
              <a:rPr lang="en-US" sz="1818" dirty="0">
                <a:solidFill>
                  <a:srgbClr val="8EA0B5"/>
                </a:solidFill>
                <a:latin typeface="Arial" pitchFamily="34" charset="0"/>
                <a:ea typeface="Arial" pitchFamily="34" charset="-122"/>
                <a:cs typeface="Arial" pitchFamily="34" charset="-120"/>
              </a:rPr>
              <a:t>→ le volume seul ne suffit pas</a:t>
            </a:r>
            <a:endParaRPr lang="en-US" sz="1818"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121C"/>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B696F1">
                  <a:alpha val="22000"/>
                </a:srgbClr>
              </a:gs>
              <a:gs pos="60000">
                <a:srgbClr val="B696F1">
                  <a:alpha val="0"/>
                </a:srgbClr>
              </a:gs>
            </a:gsLst>
            <a:path path="circle">
              <a:fillToRect l="22000" t="34000" r="78000" b="66000"/>
            </a:path>
          </a:gradFill>
          <a:ln/>
        </p:spPr>
      </p:sp>
      <p:sp>
        <p:nvSpPr>
          <p:cNvPr id="3" name="Text 1"/>
          <p:cNvSpPr/>
          <p:nvPr/>
        </p:nvSpPr>
        <p:spPr>
          <a:xfrm>
            <a:off x="1066800" y="2932807"/>
            <a:ext cx="17769840" cy="368300"/>
          </a:xfrm>
          <a:prstGeom prst="rect">
            <a:avLst/>
          </a:prstGeom>
          <a:noFill/>
          <a:ln/>
        </p:spPr>
        <p:txBody>
          <a:bodyPr wrap="square" lIns="25400" tIns="25400" rIns="25400" bIns="25400" rtlCol="0" anchor="t">
            <a:normAutofit/>
          </a:bodyPr>
          <a:lstStyle/>
          <a:p>
            <a:pPr algn="l" indent="0" marL="0">
              <a:buNone/>
            </a:pPr>
            <a:r>
              <a:rPr lang="en-US" sz="1950" spc="546" kern="0" dirty="0">
                <a:solidFill>
                  <a:srgbClr val="B897F0">
                    <a:alpha val="96000"/>
                  </a:srgbClr>
                </a:solidFill>
                <a:latin typeface="Courier New" pitchFamily="34" charset="0"/>
                <a:ea typeface="Courier New" pitchFamily="34" charset="-122"/>
                <a:cs typeface="Courier New" pitchFamily="34" charset="-120"/>
              </a:rPr>
              <a:t>ATELIER 02 · 2 HEURES</a:t>
            </a:r>
            <a:endParaRPr lang="en-US" sz="1950" dirty="0"/>
          </a:p>
        </p:txBody>
      </p:sp>
      <p:sp>
        <p:nvSpPr>
          <p:cNvPr id="4" name="Text 2"/>
          <p:cNvSpPr/>
          <p:nvPr/>
        </p:nvSpPr>
        <p:spPr>
          <a:xfrm>
            <a:off x="1066800" y="3339255"/>
            <a:ext cx="17769840" cy="1924050"/>
          </a:xfrm>
          <a:prstGeom prst="rect">
            <a:avLst/>
          </a:prstGeom>
          <a:noFill/>
          <a:ln/>
        </p:spPr>
        <p:txBody>
          <a:bodyPr wrap="square" lIns="25400" tIns="25400" rIns="25400" bIns="25400" rtlCol="0" anchor="t">
            <a:normAutofit/>
          </a:bodyPr>
          <a:lstStyle/>
          <a:p>
            <a:pPr algn="l" indent="0" marL="0">
              <a:lnSpc>
                <a:spcPct val="78158"/>
              </a:lnSpc>
              <a:buNone/>
            </a:pPr>
            <a:r>
              <a:rPr lang="en-US" sz="16500" b="1" spc="-660" kern="0" dirty="0">
                <a:solidFill>
                  <a:srgbClr val="C5AFF4"/>
                </a:solidFill>
                <a:latin typeface="Arial" pitchFamily="34" charset="0"/>
                <a:ea typeface="Arial" pitchFamily="34" charset="-122"/>
                <a:cs typeface="Arial" pitchFamily="34" charset="-120"/>
              </a:rPr>
              <a:t>02</a:t>
            </a:r>
            <a:endParaRPr lang="en-US" sz="16500" dirty="0"/>
          </a:p>
        </p:txBody>
      </p:sp>
      <p:sp>
        <p:nvSpPr>
          <p:cNvPr id="5" name="Text 3"/>
          <p:cNvSpPr/>
          <p:nvPr/>
        </p:nvSpPr>
        <p:spPr>
          <a:xfrm>
            <a:off x="1066800" y="5303380"/>
            <a:ext cx="17769840" cy="776387"/>
          </a:xfrm>
          <a:prstGeom prst="rect">
            <a:avLst/>
          </a:prstGeom>
          <a:noFill/>
          <a:ln/>
        </p:spPr>
        <p:txBody>
          <a:bodyPr wrap="square" lIns="25400" tIns="25400" rIns="25400" bIns="25400" rtlCol="0" anchor="t">
            <a:normAutofit/>
          </a:bodyPr>
          <a:lstStyle/>
          <a:p>
            <a:pPr algn="l" indent="0" marL="0">
              <a:lnSpc>
                <a:spcPct val="88763"/>
              </a:lnSpc>
              <a:buNone/>
            </a:pPr>
            <a:r>
              <a:rPr lang="en-US" sz="5700" b="1" spc="-114" kern="0" dirty="0">
                <a:solidFill>
                  <a:srgbClr val="EEF3F9">
                    <a:alpha val="99000"/>
                  </a:srgbClr>
                </a:solidFill>
                <a:latin typeface="Arial" pitchFamily="34" charset="0"/>
                <a:ea typeface="Arial" pitchFamily="34" charset="-122"/>
                <a:cs typeface="Arial" pitchFamily="34" charset="-120"/>
              </a:rPr>
              <a:t>Fondements des bases de données NoSQL</a:t>
            </a:r>
            <a:endParaRPr lang="en-US" sz="5700" dirty="0"/>
          </a:p>
        </p:txBody>
      </p:sp>
      <p:sp>
        <p:nvSpPr>
          <p:cNvPr id="6" name="Text 4"/>
          <p:cNvSpPr/>
          <p:nvPr/>
        </p:nvSpPr>
        <p:spPr>
          <a:xfrm>
            <a:off x="1066800" y="6287294"/>
            <a:ext cx="10831068" cy="1104900"/>
          </a:xfrm>
          <a:prstGeom prst="rect">
            <a:avLst/>
          </a:prstGeom>
          <a:noFill/>
          <a:ln/>
        </p:spPr>
        <p:txBody>
          <a:bodyPr wrap="square" lIns="25400" tIns="25400" rIns="25400" bIns="25400" rtlCol="0" anchor="t">
            <a:normAutofit/>
          </a:bodyPr>
          <a:lstStyle/>
          <a:p>
            <a:pPr algn="l" indent="0" marL="0">
              <a:lnSpc>
                <a:spcPct val="121739"/>
              </a:lnSpc>
              <a:buNone/>
            </a:pPr>
            <a:r>
              <a:rPr lang="en-US" sz="3000" dirty="0">
                <a:solidFill>
                  <a:srgbClr val="8EA0B5">
                    <a:alpha val="75000"/>
                  </a:srgbClr>
                </a:solidFill>
                <a:latin typeface="Arial" pitchFamily="34" charset="0"/>
                <a:ea typeface="Arial" pitchFamily="34" charset="-122"/>
                <a:cs typeface="Arial" pitchFamily="34" charset="-120"/>
              </a:rPr>
              <a:t>Des modèles de données flexibles pour répondre aux limites du relationnel — appliqués à une base orientée documents.</a:t>
            </a:r>
            <a:endParaRPr lang="en-US" sz="3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0E15"/>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B897F0">
                    <a:alpha val="97000"/>
                  </a:srgbClr>
                </a:solidFill>
                <a:latin typeface="Courier New" pitchFamily="34" charset="0"/>
                <a:ea typeface="Courier New" pitchFamily="34" charset="-122"/>
                <a:cs typeface="Courier New" pitchFamily="34" charset="-120"/>
              </a:rPr>
              <a:t>ATELIER 02 · PRINCIPE</a:t>
            </a:r>
            <a:endParaRPr lang="en-US" sz="1800" dirty="0"/>
          </a:p>
        </p:txBody>
      </p:sp>
      <p:sp>
        <p:nvSpPr>
          <p:cNvPr id="3" name="Text 1"/>
          <p:cNvSpPr/>
          <p:nvPr/>
        </p:nvSpPr>
        <p:spPr>
          <a:xfrm>
            <a:off x="1066800" y="1314451"/>
            <a:ext cx="17769840"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Les limites du modèle relationnel et l’émergence du NoSQL</a:t>
            </a:r>
            <a:endParaRPr lang="en-US" sz="4800" dirty="0"/>
          </a:p>
        </p:txBody>
      </p:sp>
      <p:sp>
        <p:nvSpPr>
          <p:cNvPr id="4" name="Text 2"/>
          <p:cNvSpPr/>
          <p:nvPr/>
        </p:nvSpPr>
        <p:spPr>
          <a:xfrm>
            <a:off x="1066800" y="2196009"/>
            <a:ext cx="13185648" cy="921941"/>
          </a:xfrm>
          <a:prstGeom prst="rect">
            <a:avLst/>
          </a:prstGeom>
          <a:noFill/>
          <a:ln/>
        </p:spPr>
        <p:txBody>
          <a:bodyPr wrap="square" lIns="25400" tIns="25400" rIns="25400" bIns="25400" rtlCol="0" anchor="t">
            <a:normAutofit/>
          </a:bodyPr>
          <a:lstStyle/>
          <a:p>
            <a:pPr algn="l" indent="0" marL="0">
              <a:lnSpc>
                <a:spcPct val="126545"/>
              </a:lnSpc>
              <a:buNone/>
            </a:pPr>
            <a:r>
              <a:rPr lang="en-US" sz="2400" dirty="0">
                <a:solidFill>
                  <a:srgbClr val="EEF3F9">
                    <a:alpha val="91000"/>
                  </a:srgbClr>
                </a:solidFill>
                <a:latin typeface="Arial" pitchFamily="34" charset="0"/>
                <a:ea typeface="Arial" pitchFamily="34" charset="-122"/>
                <a:cs typeface="Arial" pitchFamily="34" charset="-120"/>
              </a:rPr>
              <a:t>Not Only SQL </a:t>
            </a:r>
            <a:pPr algn="l" indent="0" marL="0">
              <a:lnSpc>
                <a:spcPct val="126545"/>
              </a:lnSpc>
              <a:buNone/>
            </a:pPr>
            <a:r>
              <a:rPr lang="en-US" sz="2400" dirty="0">
                <a:solidFill>
                  <a:srgbClr val="8EA0B5">
                    <a:alpha val="91000"/>
                  </a:srgbClr>
                </a:solidFill>
                <a:latin typeface="Arial" pitchFamily="34" charset="0"/>
                <a:ea typeface="Arial" pitchFamily="34" charset="-122"/>
                <a:cs typeface="Arial" pitchFamily="34" charset="-120"/>
              </a:rPr>
              <a:t>— pas un remplaçant du relationnel, mais une famille de modèles alternatifs, plus flexibles.</a:t>
            </a:r>
            <a:endParaRPr lang="en-US" sz="2400" dirty="0"/>
          </a:p>
        </p:txBody>
      </p:sp>
      <p:sp>
        <p:nvSpPr>
          <p:cNvPr id="5" name="Shape 3"/>
          <p:cNvSpPr/>
          <p:nvPr/>
        </p:nvSpPr>
        <p:spPr>
          <a:xfrm>
            <a:off x="1066800" y="3575150"/>
            <a:ext cx="5232400" cy="5892701"/>
          </a:xfrm>
          <a:prstGeom prst="roundRect">
            <a:avLst>
              <a:gd name="adj" fmla="val 3277"/>
            </a:avLst>
          </a:prstGeom>
          <a:solidFill>
            <a:srgbClr val="FFFFFF">
              <a:alpha val="3000"/>
            </a:srgbClr>
          </a:solidFill>
          <a:ln w="6350">
            <a:solidFill>
              <a:srgbClr val="FFFFFF">
                <a:alpha val="10000"/>
              </a:srgbClr>
            </a:solidFill>
            <a:prstDash val="solid"/>
          </a:ln>
        </p:spPr>
      </p:sp>
      <p:sp>
        <p:nvSpPr>
          <p:cNvPr id="6" name="Text 4"/>
          <p:cNvSpPr/>
          <p:nvPr/>
        </p:nvSpPr>
        <p:spPr>
          <a:xfrm>
            <a:off x="1397000" y="3943451"/>
            <a:ext cx="5029200" cy="400050"/>
          </a:xfrm>
          <a:prstGeom prst="rect">
            <a:avLst/>
          </a:prstGeom>
          <a:noFill/>
          <a:ln/>
        </p:spPr>
        <p:txBody>
          <a:bodyPr wrap="square" lIns="25400" tIns="25400" rIns="25400" bIns="25400" rtlCol="0" anchor="t">
            <a:normAutofit/>
          </a:bodyPr>
          <a:lstStyle/>
          <a:p>
            <a:pPr algn="l" indent="0" marL="0">
              <a:buNone/>
            </a:pPr>
            <a:r>
              <a:rPr lang="en-US" sz="2475" b="1" dirty="0">
                <a:solidFill>
                  <a:srgbClr val="B897F0"/>
                </a:solidFill>
                <a:latin typeface="Arial" pitchFamily="34" charset="0"/>
                <a:ea typeface="Arial" pitchFamily="34" charset="-122"/>
                <a:cs typeface="Arial" pitchFamily="34" charset="-120"/>
              </a:rPr>
              <a:t>Schéma flexible</a:t>
            </a:r>
            <a:endParaRPr lang="en-US" sz="2475" dirty="0"/>
          </a:p>
        </p:txBody>
      </p:sp>
      <p:sp>
        <p:nvSpPr>
          <p:cNvPr id="7" name="Text 5"/>
          <p:cNvSpPr/>
          <p:nvPr/>
        </p:nvSpPr>
        <p:spPr>
          <a:xfrm>
            <a:off x="1397000" y="4457801"/>
            <a:ext cx="4709160" cy="1195388"/>
          </a:xfrm>
          <a:prstGeom prst="rect">
            <a:avLst/>
          </a:prstGeom>
          <a:noFill/>
          <a:ln/>
        </p:spPr>
        <p:txBody>
          <a:bodyPr wrap="square" lIns="25400" tIns="25400" rIns="25400" bIns="25400" rtlCol="0" anchor="t">
            <a:normAutofit/>
          </a:bodyPr>
          <a:lstStyle/>
          <a:p>
            <a:pPr algn="l" indent="0" marL="0">
              <a:lnSpc>
                <a:spcPct val="129255"/>
              </a:lnSpc>
              <a:buNone/>
            </a:pPr>
            <a:r>
              <a:rPr lang="en-US" sz="2025" dirty="0">
                <a:solidFill>
                  <a:srgbClr val="8EA0B5"/>
                </a:solidFill>
                <a:latin typeface="Arial" pitchFamily="34" charset="0"/>
                <a:ea typeface="Arial" pitchFamily="34" charset="-122"/>
                <a:cs typeface="Arial" pitchFamily="34" charset="-120"/>
              </a:rPr>
              <a:t>S'adapter à des données dont la structure varie ou évolue, voire sans schéma du tout.</a:t>
            </a:r>
            <a:endParaRPr lang="en-US" sz="2025" dirty="0"/>
          </a:p>
        </p:txBody>
      </p:sp>
      <p:sp>
        <p:nvSpPr>
          <p:cNvPr id="8" name="Shape 6"/>
          <p:cNvSpPr/>
          <p:nvPr/>
        </p:nvSpPr>
        <p:spPr>
          <a:xfrm>
            <a:off x="6527800" y="3576605"/>
            <a:ext cx="5232400" cy="5892701"/>
          </a:xfrm>
          <a:prstGeom prst="roundRect">
            <a:avLst>
              <a:gd name="adj" fmla="val 3277"/>
            </a:avLst>
          </a:prstGeom>
          <a:solidFill>
            <a:srgbClr val="FFFFFF">
              <a:alpha val="3000"/>
            </a:srgbClr>
          </a:solidFill>
          <a:ln w="6350">
            <a:solidFill>
              <a:srgbClr val="FFFFFF">
                <a:alpha val="10000"/>
              </a:srgbClr>
            </a:solidFill>
            <a:prstDash val="solid"/>
          </a:ln>
        </p:spPr>
      </p:sp>
      <p:sp>
        <p:nvSpPr>
          <p:cNvPr id="9" name="Text 7"/>
          <p:cNvSpPr/>
          <p:nvPr/>
        </p:nvSpPr>
        <p:spPr>
          <a:xfrm>
            <a:off x="6858000" y="3944905"/>
            <a:ext cx="5029200" cy="400050"/>
          </a:xfrm>
          <a:prstGeom prst="rect">
            <a:avLst/>
          </a:prstGeom>
          <a:noFill/>
          <a:ln/>
        </p:spPr>
        <p:txBody>
          <a:bodyPr wrap="square" lIns="25400" tIns="25400" rIns="25400" bIns="25400" rtlCol="0" anchor="t">
            <a:normAutofit/>
          </a:bodyPr>
          <a:lstStyle/>
          <a:p>
            <a:pPr algn="l" indent="0" marL="0">
              <a:buNone/>
            </a:pPr>
            <a:r>
              <a:rPr lang="en-US" sz="2475" b="1" dirty="0">
                <a:solidFill>
                  <a:srgbClr val="B897F0">
                    <a:alpha val="99000"/>
                  </a:srgbClr>
                </a:solidFill>
                <a:latin typeface="Arial" pitchFamily="34" charset="0"/>
                <a:ea typeface="Arial" pitchFamily="34" charset="-122"/>
                <a:cs typeface="Arial" pitchFamily="34" charset="-120"/>
              </a:rPr>
              <a:t>Scalabilité horizontale</a:t>
            </a:r>
            <a:endParaRPr lang="en-US" sz="2475" dirty="0"/>
          </a:p>
        </p:txBody>
      </p:sp>
      <p:sp>
        <p:nvSpPr>
          <p:cNvPr id="10" name="Text 8"/>
          <p:cNvSpPr/>
          <p:nvPr/>
        </p:nvSpPr>
        <p:spPr>
          <a:xfrm>
            <a:off x="6858000" y="4459255"/>
            <a:ext cx="4709160" cy="809625"/>
          </a:xfrm>
          <a:prstGeom prst="rect">
            <a:avLst/>
          </a:prstGeom>
          <a:noFill/>
          <a:ln/>
        </p:spPr>
        <p:txBody>
          <a:bodyPr wrap="square" lIns="25400" tIns="25400" rIns="25400" bIns="25400" rtlCol="0" anchor="t">
            <a:normAutofit/>
          </a:bodyPr>
          <a:lstStyle/>
          <a:p>
            <a:pPr algn="l" indent="0" marL="0">
              <a:lnSpc>
                <a:spcPct val="129255"/>
              </a:lnSpc>
              <a:buNone/>
            </a:pPr>
            <a:r>
              <a:rPr lang="en-US" sz="2025" dirty="0">
                <a:solidFill>
                  <a:srgbClr val="8EA0B5">
                    <a:alpha val="99000"/>
                  </a:srgbClr>
                </a:solidFill>
                <a:latin typeface="Arial" pitchFamily="34" charset="0"/>
                <a:ea typeface="Arial" pitchFamily="34" charset="-122"/>
                <a:cs typeface="Arial" pitchFamily="34" charset="-120"/>
              </a:rPr>
              <a:t>Se répartir naturellement sur plusieurs machines, dans l'esprit du scale-out.</a:t>
            </a:r>
            <a:endParaRPr lang="en-US" sz="2025" dirty="0"/>
          </a:p>
        </p:txBody>
      </p:sp>
      <p:sp>
        <p:nvSpPr>
          <p:cNvPr id="11" name="Shape 9"/>
          <p:cNvSpPr/>
          <p:nvPr/>
        </p:nvSpPr>
        <p:spPr>
          <a:xfrm>
            <a:off x="11988801" y="3581919"/>
            <a:ext cx="5232400" cy="5892701"/>
          </a:xfrm>
          <a:prstGeom prst="roundRect">
            <a:avLst>
              <a:gd name="adj" fmla="val 3277"/>
            </a:avLst>
          </a:prstGeom>
          <a:solidFill>
            <a:srgbClr val="FFFFFF">
              <a:alpha val="3000"/>
            </a:srgbClr>
          </a:solidFill>
          <a:ln w="6350">
            <a:solidFill>
              <a:srgbClr val="FFFFFF">
                <a:alpha val="10000"/>
              </a:srgbClr>
            </a:solidFill>
            <a:prstDash val="solid"/>
          </a:ln>
        </p:spPr>
      </p:sp>
      <p:sp>
        <p:nvSpPr>
          <p:cNvPr id="12" name="Text 10"/>
          <p:cNvSpPr/>
          <p:nvPr/>
        </p:nvSpPr>
        <p:spPr>
          <a:xfrm>
            <a:off x="12319000" y="3950219"/>
            <a:ext cx="5029200" cy="400050"/>
          </a:xfrm>
          <a:prstGeom prst="rect">
            <a:avLst/>
          </a:prstGeom>
          <a:noFill/>
          <a:ln/>
        </p:spPr>
        <p:txBody>
          <a:bodyPr wrap="square" lIns="25400" tIns="25400" rIns="25400" bIns="25400" rtlCol="0" anchor="t">
            <a:normAutofit/>
          </a:bodyPr>
          <a:lstStyle/>
          <a:p>
            <a:pPr algn="l" indent="0" marL="0">
              <a:buNone/>
            </a:pPr>
            <a:r>
              <a:rPr lang="en-US" sz="2475" b="1" dirty="0">
                <a:solidFill>
                  <a:srgbClr val="B897F0">
                    <a:alpha val="98000"/>
                  </a:srgbClr>
                </a:solidFill>
                <a:latin typeface="Arial" pitchFamily="34" charset="0"/>
                <a:ea typeface="Arial" pitchFamily="34" charset="-122"/>
                <a:cs typeface="Arial" pitchFamily="34" charset="-120"/>
              </a:rPr>
              <a:t>Disponibilité &amp; rapidité</a:t>
            </a:r>
            <a:endParaRPr lang="en-US" sz="2475" dirty="0"/>
          </a:p>
        </p:txBody>
      </p:sp>
      <p:sp>
        <p:nvSpPr>
          <p:cNvPr id="13" name="Text 11"/>
          <p:cNvSpPr/>
          <p:nvPr/>
        </p:nvSpPr>
        <p:spPr>
          <a:xfrm>
            <a:off x="12319000" y="4464569"/>
            <a:ext cx="4709160" cy="1195388"/>
          </a:xfrm>
          <a:prstGeom prst="rect">
            <a:avLst/>
          </a:prstGeom>
          <a:noFill/>
          <a:ln/>
        </p:spPr>
        <p:txBody>
          <a:bodyPr wrap="square" lIns="25400" tIns="25400" rIns="25400" bIns="25400" rtlCol="0" anchor="t">
            <a:normAutofit/>
          </a:bodyPr>
          <a:lstStyle/>
          <a:p>
            <a:pPr algn="l" indent="0" marL="0">
              <a:lnSpc>
                <a:spcPct val="129255"/>
              </a:lnSpc>
              <a:buNone/>
            </a:pPr>
            <a:r>
              <a:rPr lang="en-US" sz="2025" dirty="0">
                <a:solidFill>
                  <a:srgbClr val="8EA0B5">
                    <a:alpha val="98000"/>
                  </a:srgbClr>
                </a:solidFill>
                <a:latin typeface="Arial" pitchFamily="34" charset="0"/>
                <a:ea typeface="Arial" pitchFamily="34" charset="-122"/>
                <a:cs typeface="Arial" pitchFamily="34" charset="-120"/>
              </a:rPr>
              <a:t>Privilégier la réponse rapide, quitte à assouplir certaines garanties de cohérence stricte.</a:t>
            </a:r>
            <a:endParaRPr lang="en-US" sz="202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C121C"/>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B897F0">
                    <a:alpha val="97000"/>
                  </a:srgbClr>
                </a:solidFill>
                <a:latin typeface="Courier New" pitchFamily="34" charset="0"/>
                <a:ea typeface="Courier New" pitchFamily="34" charset="-122"/>
                <a:cs typeface="Courier New" pitchFamily="34" charset="-120"/>
              </a:rPr>
              <a:t>ATELIER 02 · NOTION CLÉ</a:t>
            </a:r>
            <a:endParaRPr lang="en-US" sz="1800" dirty="0"/>
          </a:p>
        </p:txBody>
      </p:sp>
      <p:sp>
        <p:nvSpPr>
          <p:cNvPr id="3" name="Text 1"/>
          <p:cNvSpPr/>
          <p:nvPr/>
        </p:nvSpPr>
        <p:spPr>
          <a:xfrm>
            <a:off x="1066800" y="1314451"/>
            <a:ext cx="17769840"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Le théorème CAP</a:t>
            </a:r>
            <a:endParaRPr lang="en-US" sz="4800" dirty="0"/>
          </a:p>
        </p:txBody>
      </p:sp>
      <p:sp>
        <p:nvSpPr>
          <p:cNvPr id="4" name="Shape 2"/>
          <p:cNvSpPr/>
          <p:nvPr/>
        </p:nvSpPr>
        <p:spPr>
          <a:xfrm>
            <a:off x="1066800" y="3760192"/>
            <a:ext cx="7385050" cy="1298575"/>
          </a:xfrm>
          <a:prstGeom prst="roundRect">
            <a:avLst>
              <a:gd name="adj" fmla="val 10269"/>
            </a:avLst>
          </a:prstGeom>
          <a:solidFill>
            <a:srgbClr val="FFFFFF">
              <a:alpha val="3000"/>
            </a:srgbClr>
          </a:solidFill>
          <a:ln/>
        </p:spPr>
      </p:sp>
      <p:sp>
        <p:nvSpPr>
          <p:cNvPr id="5" name="Shape 3"/>
          <p:cNvSpPr/>
          <p:nvPr/>
        </p:nvSpPr>
        <p:spPr>
          <a:xfrm>
            <a:off x="1066800" y="5052417"/>
            <a:ext cx="7385050" cy="9525"/>
          </a:xfrm>
          <a:prstGeom prst="rect">
            <a:avLst/>
          </a:prstGeom>
          <a:solidFill>
            <a:srgbClr val="FFFFFF">
              <a:alpha val="10000"/>
            </a:srgbClr>
          </a:solidFill>
          <a:ln/>
        </p:spPr>
      </p:sp>
      <p:sp>
        <p:nvSpPr>
          <p:cNvPr id="6" name="Shape 4"/>
          <p:cNvSpPr/>
          <p:nvPr/>
        </p:nvSpPr>
        <p:spPr>
          <a:xfrm>
            <a:off x="1066800" y="3760192"/>
            <a:ext cx="7385050" cy="9525"/>
          </a:xfrm>
          <a:prstGeom prst="rect">
            <a:avLst/>
          </a:prstGeom>
          <a:solidFill>
            <a:srgbClr val="FFFFFF">
              <a:alpha val="10000"/>
            </a:srgbClr>
          </a:solidFill>
          <a:ln/>
        </p:spPr>
      </p:sp>
      <p:sp>
        <p:nvSpPr>
          <p:cNvPr id="7" name="Shape 5"/>
          <p:cNvSpPr/>
          <p:nvPr/>
        </p:nvSpPr>
        <p:spPr>
          <a:xfrm>
            <a:off x="1066800" y="3760192"/>
            <a:ext cx="25400" cy="1298575"/>
          </a:xfrm>
          <a:prstGeom prst="rect">
            <a:avLst/>
          </a:prstGeom>
          <a:solidFill>
            <a:srgbClr val="B897F0"/>
          </a:solidFill>
          <a:ln/>
        </p:spPr>
      </p:sp>
      <p:sp>
        <p:nvSpPr>
          <p:cNvPr id="8" name="Shape 6"/>
          <p:cNvSpPr/>
          <p:nvPr/>
        </p:nvSpPr>
        <p:spPr>
          <a:xfrm>
            <a:off x="8445500" y="3760192"/>
            <a:ext cx="9525" cy="1298575"/>
          </a:xfrm>
          <a:prstGeom prst="rect">
            <a:avLst/>
          </a:prstGeom>
          <a:solidFill>
            <a:srgbClr val="FFFFFF">
              <a:alpha val="10000"/>
            </a:srgbClr>
          </a:solidFill>
          <a:ln/>
        </p:spPr>
      </p:sp>
      <p:sp>
        <p:nvSpPr>
          <p:cNvPr id="9" name="Text 7"/>
          <p:cNvSpPr/>
          <p:nvPr/>
        </p:nvSpPr>
        <p:spPr>
          <a:xfrm>
            <a:off x="1377950" y="4033242"/>
            <a:ext cx="7459980" cy="381000"/>
          </a:xfrm>
          <a:prstGeom prst="rect">
            <a:avLst/>
          </a:prstGeom>
          <a:noFill/>
          <a:ln/>
        </p:spPr>
        <p:txBody>
          <a:bodyPr wrap="square" lIns="25400" tIns="25400" rIns="25400" bIns="25400" rtlCol="0" anchor="t">
            <a:normAutofit/>
          </a:bodyPr>
          <a:lstStyle/>
          <a:p>
            <a:pPr algn="l" indent="0" marL="0">
              <a:buNone/>
            </a:pPr>
            <a:r>
              <a:rPr lang="en-US" sz="2325" b="1" dirty="0">
                <a:solidFill>
                  <a:srgbClr val="B897F0"/>
                </a:solidFill>
                <a:latin typeface="Arial" pitchFamily="34" charset="0"/>
                <a:ea typeface="Arial" pitchFamily="34" charset="-122"/>
                <a:cs typeface="Arial" pitchFamily="34" charset="-120"/>
              </a:rPr>
              <a:t>C</a:t>
            </a:r>
            <a:pPr algn="l" indent="0" marL="0">
              <a:buNone/>
            </a:pPr>
            <a:r>
              <a:rPr lang="en-US" sz="2325" b="1" dirty="0">
                <a:solidFill>
                  <a:srgbClr val="EEF3F9"/>
                </a:solidFill>
                <a:latin typeface="Arial" pitchFamily="34" charset="0"/>
                <a:ea typeface="Arial" pitchFamily="34" charset="-122"/>
                <a:cs typeface="Arial" pitchFamily="34" charset="-120"/>
              </a:rPr>
              <a:t>ohérence</a:t>
            </a:r>
            <a:endParaRPr lang="en-US" sz="2325" dirty="0"/>
          </a:p>
        </p:txBody>
      </p:sp>
      <p:sp>
        <p:nvSpPr>
          <p:cNvPr id="10" name="Text 8"/>
          <p:cNvSpPr/>
          <p:nvPr/>
        </p:nvSpPr>
        <p:spPr>
          <a:xfrm>
            <a:off x="1377950" y="4452342"/>
            <a:ext cx="7459980" cy="371475"/>
          </a:xfrm>
          <a:prstGeom prst="rect">
            <a:avLst/>
          </a:prstGeom>
          <a:noFill/>
          <a:ln/>
        </p:spPr>
        <p:txBody>
          <a:bodyPr wrap="square" lIns="25400" tIns="25400" rIns="25400" bIns="25400" rtlCol="0" anchor="t">
            <a:normAutofit/>
          </a:bodyPr>
          <a:lstStyle/>
          <a:p>
            <a:pPr algn="l" indent="0" marL="0">
              <a:lnSpc>
                <a:spcPct val="122093"/>
              </a:lnSpc>
              <a:buNone/>
            </a:pPr>
            <a:r>
              <a:rPr lang="en-US" sz="1875" dirty="0">
                <a:solidFill>
                  <a:srgbClr val="8EA0B5"/>
                </a:solidFill>
                <a:latin typeface="Arial" pitchFamily="34" charset="0"/>
                <a:ea typeface="Arial" pitchFamily="34" charset="-122"/>
                <a:cs typeface="Arial" pitchFamily="34" charset="-120"/>
              </a:rPr>
              <a:t>Toute lecture renvoie la donnée la plus récente.</a:t>
            </a:r>
            <a:endParaRPr lang="en-US" sz="1875" dirty="0"/>
          </a:p>
        </p:txBody>
      </p:sp>
      <p:sp>
        <p:nvSpPr>
          <p:cNvPr id="11" name="Shape 9"/>
          <p:cNvSpPr/>
          <p:nvPr/>
        </p:nvSpPr>
        <p:spPr>
          <a:xfrm>
            <a:off x="1053275" y="5246889"/>
            <a:ext cx="7412101" cy="1303331"/>
          </a:xfrm>
          <a:prstGeom prst="roundRect">
            <a:avLst>
              <a:gd name="adj" fmla="val 10269"/>
            </a:avLst>
          </a:prstGeom>
          <a:solidFill>
            <a:srgbClr val="FFFFFF">
              <a:alpha val="3000"/>
            </a:srgbClr>
          </a:solidFill>
          <a:ln/>
        </p:spPr>
      </p:sp>
      <p:sp>
        <p:nvSpPr>
          <p:cNvPr id="12" name="Shape 10"/>
          <p:cNvSpPr/>
          <p:nvPr/>
        </p:nvSpPr>
        <p:spPr>
          <a:xfrm>
            <a:off x="1053275" y="6543847"/>
            <a:ext cx="7412101" cy="9525"/>
          </a:xfrm>
          <a:prstGeom prst="rect">
            <a:avLst/>
          </a:prstGeom>
          <a:solidFill>
            <a:srgbClr val="FFFFFF">
              <a:alpha val="10000"/>
            </a:srgbClr>
          </a:solidFill>
          <a:ln/>
        </p:spPr>
      </p:sp>
      <p:sp>
        <p:nvSpPr>
          <p:cNvPr id="13" name="Shape 11"/>
          <p:cNvSpPr/>
          <p:nvPr/>
        </p:nvSpPr>
        <p:spPr>
          <a:xfrm>
            <a:off x="1053275" y="5246889"/>
            <a:ext cx="7412101" cy="9525"/>
          </a:xfrm>
          <a:prstGeom prst="rect">
            <a:avLst/>
          </a:prstGeom>
          <a:solidFill>
            <a:srgbClr val="FFFFFF">
              <a:alpha val="10000"/>
            </a:srgbClr>
          </a:solidFill>
          <a:ln/>
        </p:spPr>
      </p:sp>
      <p:sp>
        <p:nvSpPr>
          <p:cNvPr id="14" name="Shape 12"/>
          <p:cNvSpPr/>
          <p:nvPr/>
        </p:nvSpPr>
        <p:spPr>
          <a:xfrm>
            <a:off x="1053275" y="5246889"/>
            <a:ext cx="25493" cy="1303331"/>
          </a:xfrm>
          <a:prstGeom prst="rect">
            <a:avLst/>
          </a:prstGeom>
          <a:solidFill>
            <a:srgbClr val="B897F0"/>
          </a:solidFill>
          <a:ln/>
        </p:spPr>
      </p:sp>
      <p:sp>
        <p:nvSpPr>
          <p:cNvPr id="15" name="Shape 13"/>
          <p:cNvSpPr/>
          <p:nvPr/>
        </p:nvSpPr>
        <p:spPr>
          <a:xfrm>
            <a:off x="8459002" y="5246889"/>
            <a:ext cx="9525" cy="1303331"/>
          </a:xfrm>
          <a:prstGeom prst="rect">
            <a:avLst/>
          </a:prstGeom>
          <a:solidFill>
            <a:srgbClr val="FFFFFF">
              <a:alpha val="10000"/>
            </a:srgbClr>
          </a:solidFill>
          <a:ln/>
        </p:spPr>
      </p:sp>
      <p:sp>
        <p:nvSpPr>
          <p:cNvPr id="16" name="Text 14"/>
          <p:cNvSpPr/>
          <p:nvPr/>
        </p:nvSpPr>
        <p:spPr>
          <a:xfrm>
            <a:off x="1365564" y="5520939"/>
            <a:ext cx="7487306" cy="382256"/>
          </a:xfrm>
          <a:prstGeom prst="rect">
            <a:avLst/>
          </a:prstGeom>
          <a:noFill/>
          <a:ln/>
        </p:spPr>
        <p:txBody>
          <a:bodyPr wrap="square" lIns="25400" tIns="25400" rIns="25400" bIns="25400" rtlCol="0" anchor="t">
            <a:normAutofit/>
          </a:bodyPr>
          <a:lstStyle/>
          <a:p>
            <a:pPr algn="l" indent="0" marL="0">
              <a:buNone/>
            </a:pPr>
            <a:r>
              <a:rPr lang="en-US" sz="2334" b="1" dirty="0">
                <a:solidFill>
                  <a:srgbClr val="B897F0"/>
                </a:solidFill>
                <a:latin typeface="Arial" pitchFamily="34" charset="0"/>
                <a:ea typeface="Arial" pitchFamily="34" charset="-122"/>
                <a:cs typeface="Arial" pitchFamily="34" charset="-120"/>
              </a:rPr>
              <a:t>A</a:t>
            </a:r>
            <a:pPr algn="l" indent="0" marL="0">
              <a:buNone/>
            </a:pPr>
            <a:r>
              <a:rPr lang="en-US" sz="2334" b="1" dirty="0">
                <a:solidFill>
                  <a:srgbClr val="EEF3F9"/>
                </a:solidFill>
                <a:latin typeface="Arial" pitchFamily="34" charset="0"/>
                <a:ea typeface="Arial" pitchFamily="34" charset="-122"/>
                <a:cs typeface="Arial" pitchFamily="34" charset="-120"/>
              </a:rPr>
              <a:t>vailability</a:t>
            </a:r>
            <a:endParaRPr lang="en-US" sz="2334" dirty="0"/>
          </a:p>
        </p:txBody>
      </p:sp>
      <p:sp>
        <p:nvSpPr>
          <p:cNvPr id="17" name="Text 15"/>
          <p:cNvSpPr/>
          <p:nvPr/>
        </p:nvSpPr>
        <p:spPr>
          <a:xfrm>
            <a:off x="1365564" y="5941575"/>
            <a:ext cx="7487306" cy="372696"/>
          </a:xfrm>
          <a:prstGeom prst="rect">
            <a:avLst/>
          </a:prstGeom>
          <a:noFill/>
          <a:ln/>
        </p:spPr>
        <p:txBody>
          <a:bodyPr wrap="square" lIns="25400" tIns="25400" rIns="25400" bIns="25400" rtlCol="0" anchor="t">
            <a:normAutofit/>
          </a:bodyPr>
          <a:lstStyle/>
          <a:p>
            <a:pPr algn="l" indent="0" marL="0">
              <a:lnSpc>
                <a:spcPct val="122093"/>
              </a:lnSpc>
              <a:buNone/>
            </a:pPr>
            <a:r>
              <a:rPr lang="en-US" sz="1882" dirty="0">
                <a:solidFill>
                  <a:srgbClr val="8EA0B5"/>
                </a:solidFill>
                <a:latin typeface="Arial" pitchFamily="34" charset="0"/>
                <a:ea typeface="Arial" pitchFamily="34" charset="-122"/>
                <a:cs typeface="Arial" pitchFamily="34" charset="-120"/>
              </a:rPr>
              <a:t>Chaque requête reçoit une réponse, même en panne partielle.</a:t>
            </a:r>
            <a:endParaRPr lang="en-US" sz="1882" dirty="0"/>
          </a:p>
        </p:txBody>
      </p:sp>
      <p:sp>
        <p:nvSpPr>
          <p:cNvPr id="18" name="Shape 16"/>
          <p:cNvSpPr/>
          <p:nvPr/>
        </p:nvSpPr>
        <p:spPr>
          <a:xfrm>
            <a:off x="1025231" y="6731033"/>
            <a:ext cx="7468189" cy="1313194"/>
          </a:xfrm>
          <a:prstGeom prst="roundRect">
            <a:avLst>
              <a:gd name="adj" fmla="val 10269"/>
            </a:avLst>
          </a:prstGeom>
          <a:solidFill>
            <a:srgbClr val="FFFFFF">
              <a:alpha val="3000"/>
            </a:srgbClr>
          </a:solidFill>
          <a:ln/>
        </p:spPr>
      </p:sp>
      <p:sp>
        <p:nvSpPr>
          <p:cNvPr id="19" name="Shape 17"/>
          <p:cNvSpPr/>
          <p:nvPr/>
        </p:nvSpPr>
        <p:spPr>
          <a:xfrm>
            <a:off x="1025231" y="8037806"/>
            <a:ext cx="7468189" cy="9525"/>
          </a:xfrm>
          <a:prstGeom prst="rect">
            <a:avLst/>
          </a:prstGeom>
          <a:solidFill>
            <a:srgbClr val="FFFFFF">
              <a:alpha val="10000"/>
            </a:srgbClr>
          </a:solidFill>
          <a:ln/>
        </p:spPr>
      </p:sp>
      <p:sp>
        <p:nvSpPr>
          <p:cNvPr id="20" name="Shape 18"/>
          <p:cNvSpPr/>
          <p:nvPr/>
        </p:nvSpPr>
        <p:spPr>
          <a:xfrm>
            <a:off x="1025231" y="6731033"/>
            <a:ext cx="7468189" cy="9525"/>
          </a:xfrm>
          <a:prstGeom prst="rect">
            <a:avLst/>
          </a:prstGeom>
          <a:solidFill>
            <a:srgbClr val="FFFFFF">
              <a:alpha val="10000"/>
            </a:srgbClr>
          </a:solidFill>
          <a:ln/>
        </p:spPr>
      </p:sp>
      <p:sp>
        <p:nvSpPr>
          <p:cNvPr id="21" name="Shape 19"/>
          <p:cNvSpPr/>
          <p:nvPr/>
        </p:nvSpPr>
        <p:spPr>
          <a:xfrm>
            <a:off x="1025231" y="6731033"/>
            <a:ext cx="25686" cy="1313194"/>
          </a:xfrm>
          <a:prstGeom prst="rect">
            <a:avLst/>
          </a:prstGeom>
          <a:solidFill>
            <a:srgbClr val="B897F0"/>
          </a:solidFill>
          <a:ln/>
        </p:spPr>
      </p:sp>
      <p:sp>
        <p:nvSpPr>
          <p:cNvPr id="22" name="Shape 20"/>
          <p:cNvSpPr/>
          <p:nvPr/>
        </p:nvSpPr>
        <p:spPr>
          <a:xfrm>
            <a:off x="8486999" y="6731033"/>
            <a:ext cx="9525" cy="1313194"/>
          </a:xfrm>
          <a:prstGeom prst="rect">
            <a:avLst/>
          </a:prstGeom>
          <a:solidFill>
            <a:srgbClr val="FFFFFF">
              <a:alpha val="10000"/>
            </a:srgbClr>
          </a:solidFill>
          <a:ln/>
        </p:spPr>
      </p:sp>
      <p:sp>
        <p:nvSpPr>
          <p:cNvPr id="23" name="Text 21"/>
          <p:cNvSpPr/>
          <p:nvPr/>
        </p:nvSpPr>
        <p:spPr>
          <a:xfrm>
            <a:off x="1339884" y="7007157"/>
            <a:ext cx="7543963" cy="384860"/>
          </a:xfrm>
          <a:prstGeom prst="rect">
            <a:avLst/>
          </a:prstGeom>
          <a:noFill/>
          <a:ln/>
        </p:spPr>
        <p:txBody>
          <a:bodyPr wrap="square" lIns="25400" tIns="25400" rIns="25400" bIns="25400" rtlCol="0" anchor="t">
            <a:normAutofit/>
          </a:bodyPr>
          <a:lstStyle/>
          <a:p>
            <a:pPr algn="l" indent="0" marL="0">
              <a:buNone/>
            </a:pPr>
            <a:r>
              <a:rPr lang="en-US" sz="2351" b="1" dirty="0">
                <a:solidFill>
                  <a:srgbClr val="B897F0"/>
                </a:solidFill>
                <a:latin typeface="Arial" pitchFamily="34" charset="0"/>
                <a:ea typeface="Arial" pitchFamily="34" charset="-122"/>
                <a:cs typeface="Arial" pitchFamily="34" charset="-120"/>
              </a:rPr>
              <a:t>P</a:t>
            </a:r>
            <a:pPr algn="l" indent="0" marL="0">
              <a:buNone/>
            </a:pPr>
            <a:r>
              <a:rPr lang="en-US" sz="2351" b="1" dirty="0">
                <a:solidFill>
                  <a:srgbClr val="EEF3F9"/>
                </a:solidFill>
                <a:latin typeface="Arial" pitchFamily="34" charset="0"/>
                <a:ea typeface="Arial" pitchFamily="34" charset="-122"/>
                <a:cs typeface="Arial" pitchFamily="34" charset="-120"/>
              </a:rPr>
              <a:t>artition tolerance</a:t>
            </a:r>
            <a:endParaRPr lang="en-US" sz="2351" dirty="0"/>
          </a:p>
        </p:txBody>
      </p:sp>
      <p:sp>
        <p:nvSpPr>
          <p:cNvPr id="24" name="Text 22"/>
          <p:cNvSpPr/>
          <p:nvPr/>
        </p:nvSpPr>
        <p:spPr>
          <a:xfrm>
            <a:off x="1339884" y="7430974"/>
            <a:ext cx="7543963" cy="375228"/>
          </a:xfrm>
          <a:prstGeom prst="rect">
            <a:avLst/>
          </a:prstGeom>
          <a:noFill/>
          <a:ln/>
        </p:spPr>
        <p:txBody>
          <a:bodyPr wrap="square" lIns="25400" tIns="25400" rIns="25400" bIns="25400" rtlCol="0" anchor="t">
            <a:normAutofit/>
          </a:bodyPr>
          <a:lstStyle/>
          <a:p>
            <a:pPr algn="l" indent="0" marL="0">
              <a:lnSpc>
                <a:spcPct val="122093"/>
              </a:lnSpc>
              <a:buNone/>
            </a:pPr>
            <a:r>
              <a:rPr lang="en-US" sz="1896" dirty="0">
                <a:solidFill>
                  <a:srgbClr val="8EA0B5"/>
                </a:solidFill>
                <a:latin typeface="Arial" pitchFamily="34" charset="0"/>
                <a:ea typeface="Arial" pitchFamily="34" charset="-122"/>
                <a:cs typeface="Arial" pitchFamily="34" charset="-120"/>
              </a:rPr>
              <a:t>Le système tient malgré une coupure réseau entre nœuds.</a:t>
            </a:r>
            <a:endParaRPr lang="en-US" sz="1896" dirty="0"/>
          </a:p>
        </p:txBody>
      </p:sp>
      <p:sp>
        <p:nvSpPr>
          <p:cNvPr id="25" name="Shape 23"/>
          <p:cNvSpPr/>
          <p:nvPr/>
        </p:nvSpPr>
        <p:spPr>
          <a:xfrm>
            <a:off x="8985250" y="4082867"/>
            <a:ext cx="8235950" cy="3644900"/>
          </a:xfrm>
          <a:prstGeom prst="roundRect">
            <a:avLst>
              <a:gd name="adj" fmla="val 5226"/>
            </a:avLst>
          </a:prstGeom>
          <a:gradFill rotWithShape="1">
            <a:gsLst>
              <a:gs pos="0">
                <a:srgbClr val="B895F1">
                  <a:alpha val="14000"/>
                </a:srgbClr>
              </a:gs>
              <a:gs pos="100000">
                <a:srgbClr val="FFFFFF">
                  <a:alpha val="3000"/>
                </a:srgbClr>
              </a:gs>
            </a:gsLst>
            <a:lin ang="4200000" scaled="0"/>
          </a:gradFill>
          <a:ln w="6350">
            <a:solidFill>
              <a:srgbClr val="C7AFF6">
                <a:alpha val="33000"/>
              </a:srgbClr>
            </a:solidFill>
            <a:prstDash val="solid"/>
          </a:ln>
        </p:spPr>
      </p:sp>
      <p:sp>
        <p:nvSpPr>
          <p:cNvPr id="26" name="Text 24"/>
          <p:cNvSpPr/>
          <p:nvPr/>
        </p:nvSpPr>
        <p:spPr>
          <a:xfrm>
            <a:off x="9410700" y="4527367"/>
            <a:ext cx="8123555" cy="476250"/>
          </a:xfrm>
          <a:prstGeom prst="rect">
            <a:avLst/>
          </a:prstGeom>
          <a:noFill/>
          <a:ln/>
        </p:spPr>
        <p:txBody>
          <a:bodyPr wrap="square" lIns="25400" tIns="25400" rIns="25400" bIns="25400" rtlCol="0" anchor="t">
            <a:normAutofit/>
          </a:bodyPr>
          <a:lstStyle/>
          <a:p>
            <a:pPr algn="l" indent="0" marL="0">
              <a:buNone/>
            </a:pPr>
            <a:r>
              <a:rPr lang="en-US" sz="3000" b="1" dirty="0">
                <a:solidFill>
                  <a:srgbClr val="B897F0">
                    <a:alpha val="98000"/>
                  </a:srgbClr>
                </a:solidFill>
                <a:latin typeface="Arial" pitchFamily="34" charset="0"/>
                <a:ea typeface="Arial" pitchFamily="34" charset="-122"/>
                <a:cs typeface="Arial" pitchFamily="34" charset="-120"/>
              </a:rPr>
              <a:t>2 sur 3</a:t>
            </a:r>
            <a:endParaRPr lang="en-US" sz="3000" dirty="0"/>
          </a:p>
        </p:txBody>
      </p:sp>
      <p:sp>
        <p:nvSpPr>
          <p:cNvPr id="27" name="Text 25"/>
          <p:cNvSpPr/>
          <p:nvPr/>
        </p:nvSpPr>
        <p:spPr>
          <a:xfrm>
            <a:off x="9410700" y="5156017"/>
            <a:ext cx="7606602" cy="952500"/>
          </a:xfrm>
          <a:prstGeom prst="rect">
            <a:avLst/>
          </a:prstGeom>
          <a:noFill/>
          <a:ln/>
        </p:spPr>
        <p:txBody>
          <a:bodyPr wrap="square" lIns="25400" tIns="25400" rIns="25400" bIns="25400" rtlCol="0" anchor="t">
            <a:normAutofit/>
          </a:bodyPr>
          <a:lstStyle/>
          <a:p>
            <a:pPr algn="l" indent="0" marL="0">
              <a:lnSpc>
                <a:spcPct val="130909"/>
              </a:lnSpc>
              <a:buNone/>
            </a:pPr>
            <a:r>
              <a:rPr lang="en-US" sz="2400" dirty="0">
                <a:solidFill>
                  <a:srgbClr val="8EA0B5">
                    <a:alpha val="98000"/>
                  </a:srgbClr>
                </a:solidFill>
                <a:latin typeface="Arial" pitchFamily="34" charset="0"/>
                <a:ea typeface="Arial" pitchFamily="34" charset="-122"/>
                <a:cs typeface="Arial" pitchFamily="34" charset="-120"/>
              </a:rPr>
              <a:t>On ne peut garantir simultanément que </a:t>
            </a:r>
            <a:pPr algn="l" indent="0" marL="0">
              <a:lnSpc>
                <a:spcPct val="130909"/>
              </a:lnSpc>
              <a:buNone/>
            </a:pPr>
            <a:r>
              <a:rPr lang="en-US" sz="2400" dirty="0">
                <a:solidFill>
                  <a:srgbClr val="EEF3F9">
                    <a:alpha val="98000"/>
                  </a:srgbClr>
                </a:solidFill>
                <a:latin typeface="Arial" pitchFamily="34" charset="0"/>
                <a:ea typeface="Arial" pitchFamily="34" charset="-122"/>
                <a:cs typeface="Arial" pitchFamily="34" charset="-120"/>
              </a:rPr>
              <a:t>deux </a:t>
            </a:r>
            <a:pPr algn="l" indent="0" marL="0">
              <a:lnSpc>
                <a:spcPct val="130909"/>
              </a:lnSpc>
              <a:buNone/>
            </a:pPr>
            <a:r>
              <a:rPr lang="en-US" sz="2400" dirty="0">
                <a:solidFill>
                  <a:srgbClr val="8EA0B5">
                    <a:alpha val="98000"/>
                  </a:srgbClr>
                </a:solidFill>
                <a:latin typeface="Arial" pitchFamily="34" charset="0"/>
                <a:ea typeface="Arial" pitchFamily="34" charset="-122"/>
                <a:cs typeface="Arial" pitchFamily="34" charset="-120"/>
              </a:rPr>
              <a:t>des trois propriétés.</a:t>
            </a:r>
            <a:endParaRPr lang="en-US" sz="2400" dirty="0"/>
          </a:p>
        </p:txBody>
      </p:sp>
      <p:sp>
        <p:nvSpPr>
          <p:cNvPr id="28" name="Shape 26"/>
          <p:cNvSpPr/>
          <p:nvPr/>
        </p:nvSpPr>
        <p:spPr>
          <a:xfrm>
            <a:off x="9410700" y="6807017"/>
            <a:ext cx="7385050" cy="9525"/>
          </a:xfrm>
          <a:prstGeom prst="rect">
            <a:avLst/>
          </a:prstGeom>
          <a:solidFill>
            <a:srgbClr val="FFFFFF">
              <a:alpha val="6000"/>
            </a:srgbClr>
          </a:solidFill>
          <a:ln/>
        </p:spPr>
      </p:sp>
      <p:sp>
        <p:nvSpPr>
          <p:cNvPr id="29" name="Text 27"/>
          <p:cNvSpPr/>
          <p:nvPr/>
        </p:nvSpPr>
        <p:spPr>
          <a:xfrm>
            <a:off x="9410700" y="6356167"/>
            <a:ext cx="2056100" cy="374650"/>
          </a:xfrm>
          <a:prstGeom prst="rect">
            <a:avLst/>
          </a:prstGeom>
          <a:noFill/>
          <a:ln/>
        </p:spPr>
        <p:txBody>
          <a:bodyPr wrap="square" lIns="25400" tIns="25400" rIns="25400" bIns="25400" rtlCol="0" anchor="t">
            <a:normAutofit/>
          </a:bodyPr>
          <a:lstStyle/>
          <a:p>
            <a:pPr algn="l" indent="0" marL="0">
              <a:buNone/>
            </a:pPr>
            <a:r>
              <a:rPr lang="en-US" sz="2025" dirty="0">
                <a:solidFill>
                  <a:srgbClr val="8EA0B5">
                    <a:alpha val="98000"/>
                  </a:srgbClr>
                </a:solidFill>
                <a:latin typeface="Arial" pitchFamily="34" charset="0"/>
                <a:ea typeface="Arial" pitchFamily="34" charset="-122"/>
                <a:cs typeface="Arial" pitchFamily="34" charset="-120"/>
              </a:rPr>
              <a:t>NoSQL distribué</a:t>
            </a:r>
            <a:endParaRPr lang="en-US" sz="2025" dirty="0"/>
          </a:p>
        </p:txBody>
      </p:sp>
      <p:sp>
        <p:nvSpPr>
          <p:cNvPr id="30" name="Text 28"/>
          <p:cNvSpPr/>
          <p:nvPr/>
        </p:nvSpPr>
        <p:spPr>
          <a:xfrm>
            <a:off x="15561271" y="6356167"/>
            <a:ext cx="1357928" cy="374650"/>
          </a:xfrm>
          <a:prstGeom prst="rect">
            <a:avLst/>
          </a:prstGeom>
          <a:noFill/>
          <a:ln/>
        </p:spPr>
        <p:txBody>
          <a:bodyPr wrap="square" lIns="25400" tIns="25400" rIns="25400" bIns="25400" rtlCol="0" anchor="t">
            <a:normAutofit/>
          </a:bodyPr>
          <a:lstStyle/>
          <a:p>
            <a:pPr algn="l" indent="0" marL="0">
              <a:buNone/>
            </a:pPr>
            <a:r>
              <a:rPr lang="en-US" sz="2025" dirty="0">
                <a:solidFill>
                  <a:srgbClr val="B897F0">
                    <a:alpha val="98000"/>
                  </a:srgbClr>
                </a:solidFill>
                <a:latin typeface="Courier New" pitchFamily="34" charset="0"/>
                <a:ea typeface="Courier New" pitchFamily="34" charset="-122"/>
                <a:cs typeface="Courier New" pitchFamily="34" charset="-120"/>
              </a:rPr>
              <a:t>AP ou CP</a:t>
            </a:r>
            <a:endParaRPr lang="en-US" sz="2025" dirty="0"/>
          </a:p>
        </p:txBody>
      </p:sp>
      <p:sp>
        <p:nvSpPr>
          <p:cNvPr id="31" name="Text 29"/>
          <p:cNvSpPr/>
          <p:nvPr/>
        </p:nvSpPr>
        <p:spPr>
          <a:xfrm>
            <a:off x="9410700" y="6946717"/>
            <a:ext cx="2911326" cy="374650"/>
          </a:xfrm>
          <a:prstGeom prst="rect">
            <a:avLst/>
          </a:prstGeom>
          <a:noFill/>
          <a:ln/>
        </p:spPr>
        <p:txBody>
          <a:bodyPr wrap="square" lIns="25400" tIns="25400" rIns="25400" bIns="25400" rtlCol="0" anchor="t">
            <a:normAutofit/>
          </a:bodyPr>
          <a:lstStyle/>
          <a:p>
            <a:pPr algn="l" indent="0" marL="0">
              <a:buNone/>
            </a:pPr>
            <a:r>
              <a:rPr lang="en-US" sz="2025" dirty="0">
                <a:solidFill>
                  <a:srgbClr val="8EA0B5">
                    <a:alpha val="98000"/>
                  </a:srgbClr>
                </a:solidFill>
                <a:latin typeface="Arial" pitchFamily="34" charset="0"/>
                <a:ea typeface="Arial" pitchFamily="34" charset="-122"/>
                <a:cs typeface="Arial" pitchFamily="34" charset="-120"/>
              </a:rPr>
              <a:t>SGBDR mono-machine</a:t>
            </a:r>
            <a:endParaRPr lang="en-US" sz="2025" dirty="0"/>
          </a:p>
        </p:txBody>
      </p:sp>
      <p:sp>
        <p:nvSpPr>
          <p:cNvPr id="32" name="Text 30"/>
          <p:cNvSpPr/>
          <p:nvPr/>
        </p:nvSpPr>
        <p:spPr>
          <a:xfrm>
            <a:off x="16487081" y="6946717"/>
            <a:ext cx="384870" cy="374650"/>
          </a:xfrm>
          <a:prstGeom prst="rect">
            <a:avLst/>
          </a:prstGeom>
          <a:noFill/>
          <a:ln/>
        </p:spPr>
        <p:txBody>
          <a:bodyPr wrap="square" lIns="25400" tIns="25400" rIns="25400" bIns="25400" rtlCol="0" anchor="t">
            <a:normAutofit/>
          </a:bodyPr>
          <a:lstStyle/>
          <a:p>
            <a:pPr algn="l" indent="0" marL="0">
              <a:buNone/>
            </a:pPr>
            <a:r>
              <a:rPr lang="en-US" sz="2025" dirty="0">
                <a:solidFill>
                  <a:srgbClr val="FFB46E">
                    <a:alpha val="98000"/>
                  </a:srgbClr>
                </a:solidFill>
                <a:latin typeface="Courier New" pitchFamily="34" charset="0"/>
                <a:ea typeface="Courier New" pitchFamily="34" charset="-122"/>
                <a:cs typeface="Courier New" pitchFamily="34" charset="-120"/>
              </a:rPr>
              <a:t>CA</a:t>
            </a:r>
            <a:endParaRPr lang="en-US" sz="202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0E15"/>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B897F0">
                    <a:alpha val="97000"/>
                  </a:srgbClr>
                </a:solidFill>
                <a:latin typeface="Courier New" pitchFamily="34" charset="0"/>
                <a:ea typeface="Courier New" pitchFamily="34" charset="-122"/>
                <a:cs typeface="Courier New" pitchFamily="34" charset="-120"/>
              </a:rPr>
              <a:t>ATELIER 02 · MODÈLES</a:t>
            </a:r>
            <a:endParaRPr lang="en-US" sz="1800" dirty="0"/>
          </a:p>
        </p:txBody>
      </p:sp>
      <p:sp>
        <p:nvSpPr>
          <p:cNvPr id="3" name="Text 1"/>
          <p:cNvSpPr/>
          <p:nvPr/>
        </p:nvSpPr>
        <p:spPr>
          <a:xfrm>
            <a:off x="1066800" y="1314451"/>
            <a:ext cx="9079236" cy="1305917"/>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Les quatre familles de modèles NoSQL</a:t>
            </a:r>
            <a:endParaRPr lang="en-US" sz="4800" dirty="0"/>
          </a:p>
        </p:txBody>
      </p:sp>
      <p:sp>
        <p:nvSpPr>
          <p:cNvPr id="4" name="Shape 2"/>
          <p:cNvSpPr/>
          <p:nvPr/>
        </p:nvSpPr>
        <p:spPr>
          <a:xfrm>
            <a:off x="1066800" y="3001369"/>
            <a:ext cx="7972425" cy="3128467"/>
          </a:xfrm>
          <a:prstGeom prst="roundRect">
            <a:avLst>
              <a:gd name="adj" fmla="val 5480"/>
            </a:avLst>
          </a:prstGeom>
          <a:solidFill>
            <a:srgbClr val="FFFFFF">
              <a:alpha val="3000"/>
            </a:srgbClr>
          </a:solidFill>
          <a:ln w="6350">
            <a:solidFill>
              <a:srgbClr val="FFFFFF">
                <a:alpha val="10000"/>
              </a:srgbClr>
            </a:solidFill>
            <a:prstDash val="solid"/>
          </a:ln>
        </p:spPr>
      </p:sp>
      <p:sp>
        <p:nvSpPr>
          <p:cNvPr id="5" name="Text 3"/>
          <p:cNvSpPr/>
          <p:nvPr/>
        </p:nvSpPr>
        <p:spPr>
          <a:xfrm>
            <a:off x="1397000" y="3312519"/>
            <a:ext cx="1527969" cy="387350"/>
          </a:xfrm>
          <a:prstGeom prst="rect">
            <a:avLst/>
          </a:prstGeom>
          <a:noFill/>
          <a:ln/>
        </p:spPr>
        <p:txBody>
          <a:bodyPr wrap="square" lIns="25400" tIns="25400" rIns="25400" bIns="25400" rtlCol="0" anchor="t">
            <a:normAutofit/>
          </a:bodyPr>
          <a:lstStyle/>
          <a:p>
            <a:pPr algn="l" indent="0" marL="0">
              <a:buNone/>
            </a:pPr>
            <a:r>
              <a:rPr lang="en-US" sz="2400" b="1" dirty="0">
                <a:solidFill>
                  <a:srgbClr val="EEF3F9"/>
                </a:solidFill>
                <a:latin typeface="Arial" pitchFamily="34" charset="0"/>
                <a:ea typeface="Arial" pitchFamily="34" charset="-122"/>
                <a:cs typeface="Arial" pitchFamily="34" charset="-120"/>
              </a:rPr>
              <a:t>Clé-valeur</a:t>
            </a:r>
            <a:endParaRPr lang="en-US" sz="2400" dirty="0"/>
          </a:p>
        </p:txBody>
      </p:sp>
      <p:sp>
        <p:nvSpPr>
          <p:cNvPr id="6" name="Text 4"/>
          <p:cNvSpPr/>
          <p:nvPr/>
        </p:nvSpPr>
        <p:spPr>
          <a:xfrm>
            <a:off x="6514406" y="3356969"/>
            <a:ext cx="241408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B897F0"/>
                </a:solidFill>
                <a:latin typeface="Courier New" pitchFamily="34" charset="0"/>
                <a:ea typeface="Courier New" pitchFamily="34" charset="-122"/>
                <a:cs typeface="Courier New" pitchFamily="34" charset="-120"/>
              </a:rPr>
              <a:t>Redis · DynamoDB</a:t>
            </a:r>
            <a:endParaRPr lang="en-US" sz="1800" dirty="0"/>
          </a:p>
        </p:txBody>
      </p:sp>
      <p:sp>
        <p:nvSpPr>
          <p:cNvPr id="7" name="Text 5"/>
          <p:cNvSpPr/>
          <p:nvPr/>
        </p:nvSpPr>
        <p:spPr>
          <a:xfrm>
            <a:off x="1397000" y="3795119"/>
            <a:ext cx="8043228" cy="383381"/>
          </a:xfrm>
          <a:prstGeom prst="rect">
            <a:avLst/>
          </a:prstGeom>
          <a:noFill/>
          <a:ln/>
        </p:spPr>
        <p:txBody>
          <a:bodyPr wrap="square" lIns="25400" tIns="25400" rIns="25400" bIns="25400" rtlCol="0" anchor="t">
            <a:normAutofit/>
          </a:bodyPr>
          <a:lstStyle/>
          <a:p>
            <a:pPr algn="l" indent="0" marL="0">
              <a:lnSpc>
                <a:spcPct val="126453"/>
              </a:lnSpc>
              <a:buNone/>
            </a:pPr>
            <a:r>
              <a:rPr lang="en-US" sz="1875" dirty="0">
                <a:solidFill>
                  <a:srgbClr val="8EA0B5"/>
                </a:solidFill>
                <a:latin typeface="Arial" pitchFamily="34" charset="0"/>
                <a:ea typeface="Arial" pitchFamily="34" charset="-122"/>
                <a:cs typeface="Arial" pitchFamily="34" charset="-120"/>
              </a:rPr>
              <a:t>Une clé associée à une valeur opaque. Cache, sessions, compteurs.</a:t>
            </a:r>
            <a:endParaRPr lang="en-US" sz="1875" dirty="0"/>
          </a:p>
        </p:txBody>
      </p:sp>
      <p:sp>
        <p:nvSpPr>
          <p:cNvPr id="8" name="Shape 6"/>
          <p:cNvSpPr/>
          <p:nvPr/>
        </p:nvSpPr>
        <p:spPr>
          <a:xfrm>
            <a:off x="9248775" y="3002284"/>
            <a:ext cx="7972425" cy="3128467"/>
          </a:xfrm>
          <a:prstGeom prst="roundRect">
            <a:avLst>
              <a:gd name="adj" fmla="val 5480"/>
            </a:avLst>
          </a:prstGeom>
          <a:gradFill rotWithShape="1">
            <a:gsLst>
              <a:gs pos="0">
                <a:srgbClr val="BB95F3">
                  <a:alpha val="16000"/>
                </a:srgbClr>
              </a:gs>
              <a:gs pos="100000">
                <a:srgbClr val="FFFFFF">
                  <a:alpha val="3000"/>
                </a:srgbClr>
              </a:gs>
            </a:gsLst>
            <a:lin ang="4200000" scaled="0"/>
          </a:gradFill>
          <a:ln w="6350">
            <a:solidFill>
              <a:srgbClr val="C4ACF4">
                <a:alpha val="37000"/>
              </a:srgbClr>
            </a:solidFill>
            <a:prstDash val="solid"/>
          </a:ln>
        </p:spPr>
      </p:sp>
      <p:sp>
        <p:nvSpPr>
          <p:cNvPr id="9" name="Text 7"/>
          <p:cNvSpPr/>
          <p:nvPr/>
        </p:nvSpPr>
        <p:spPr>
          <a:xfrm>
            <a:off x="9578975" y="3313434"/>
            <a:ext cx="2832745" cy="387350"/>
          </a:xfrm>
          <a:prstGeom prst="rect">
            <a:avLst/>
          </a:prstGeom>
          <a:noFill/>
          <a:ln/>
        </p:spPr>
        <p:txBody>
          <a:bodyPr wrap="square" lIns="25400" tIns="25400" rIns="25400" bIns="25400" rtlCol="0" anchor="t">
            <a:normAutofit/>
          </a:bodyPr>
          <a:lstStyle/>
          <a:p>
            <a:pPr algn="l" indent="0" marL="0">
              <a:buNone/>
            </a:pPr>
            <a:r>
              <a:rPr lang="en-US" sz="2400" b="1" dirty="0">
                <a:solidFill>
                  <a:srgbClr val="EEF3F9"/>
                </a:solidFill>
                <a:latin typeface="Arial" pitchFamily="34" charset="0"/>
                <a:ea typeface="Arial" pitchFamily="34" charset="-122"/>
                <a:cs typeface="Arial" pitchFamily="34" charset="-120"/>
              </a:rPr>
              <a:t>Orienté documents</a:t>
            </a:r>
            <a:endParaRPr lang="en-US" sz="2400" dirty="0"/>
          </a:p>
        </p:txBody>
      </p:sp>
      <p:sp>
        <p:nvSpPr>
          <p:cNvPr id="10" name="Text 8"/>
          <p:cNvSpPr/>
          <p:nvPr/>
        </p:nvSpPr>
        <p:spPr>
          <a:xfrm>
            <a:off x="14559260" y="3357884"/>
            <a:ext cx="2564914" cy="342900"/>
          </a:xfrm>
          <a:prstGeom prst="rect">
            <a:avLst/>
          </a:prstGeom>
          <a:noFill/>
          <a:ln/>
        </p:spPr>
        <p:txBody>
          <a:bodyPr wrap="square" lIns="25400" tIns="25400" rIns="25400" bIns="25400" rtlCol="0" anchor="t">
            <a:normAutofit/>
          </a:bodyPr>
          <a:lstStyle/>
          <a:p>
            <a:pPr algn="l" indent="0" marL="0">
              <a:buNone/>
            </a:pPr>
            <a:r>
              <a:rPr lang="en-US" sz="1800" dirty="0">
                <a:solidFill>
                  <a:srgbClr val="B897F0"/>
                </a:solidFill>
                <a:latin typeface="Courier New" pitchFamily="34" charset="0"/>
                <a:ea typeface="Courier New" pitchFamily="34" charset="-122"/>
                <a:cs typeface="Courier New" pitchFamily="34" charset="-120"/>
              </a:rPr>
              <a:t>MongoDB · CouchDB</a:t>
            </a:r>
            <a:endParaRPr lang="en-US" sz="1800" dirty="0"/>
          </a:p>
        </p:txBody>
      </p:sp>
      <p:sp>
        <p:nvSpPr>
          <p:cNvPr id="11" name="Text 9"/>
          <p:cNvSpPr/>
          <p:nvPr/>
        </p:nvSpPr>
        <p:spPr>
          <a:xfrm>
            <a:off x="9578975" y="3796034"/>
            <a:ext cx="7531386" cy="728663"/>
          </a:xfrm>
          <a:prstGeom prst="rect">
            <a:avLst/>
          </a:prstGeom>
          <a:noFill/>
          <a:ln/>
        </p:spPr>
        <p:txBody>
          <a:bodyPr wrap="square" lIns="25400" tIns="25400" rIns="25400" bIns="25400" rtlCol="0" anchor="t">
            <a:normAutofit/>
          </a:bodyPr>
          <a:lstStyle/>
          <a:p>
            <a:pPr algn="l" indent="0" marL="0">
              <a:lnSpc>
                <a:spcPct val="126453"/>
              </a:lnSpc>
              <a:buNone/>
            </a:pPr>
            <a:r>
              <a:rPr lang="en-US" sz="1875" dirty="0">
                <a:solidFill>
                  <a:srgbClr val="8EA0B5"/>
                </a:solidFill>
                <a:latin typeface="Arial" pitchFamily="34" charset="0"/>
                <a:ea typeface="Arial" pitchFamily="34" charset="-122"/>
                <a:cs typeface="Arial" pitchFamily="34" charset="-120"/>
              </a:rPr>
              <a:t>Documents semi-structurés JSON/BSON. Catalogues, contenus, profils.</a:t>
            </a:r>
            <a:endParaRPr lang="en-US" sz="1875" dirty="0"/>
          </a:p>
        </p:txBody>
      </p:sp>
      <p:sp>
        <p:nvSpPr>
          <p:cNvPr id="12" name="Shape 10"/>
          <p:cNvSpPr/>
          <p:nvPr/>
        </p:nvSpPr>
        <p:spPr>
          <a:xfrm>
            <a:off x="1066800" y="6343427"/>
            <a:ext cx="7972425" cy="3128467"/>
          </a:xfrm>
          <a:prstGeom prst="roundRect">
            <a:avLst>
              <a:gd name="adj" fmla="val 5480"/>
            </a:avLst>
          </a:prstGeom>
          <a:solidFill>
            <a:srgbClr val="FFFFFF">
              <a:alpha val="3000"/>
            </a:srgbClr>
          </a:solidFill>
          <a:ln w="6350">
            <a:solidFill>
              <a:srgbClr val="FFFFFF">
                <a:alpha val="10000"/>
              </a:srgbClr>
            </a:solidFill>
            <a:prstDash val="solid"/>
          </a:ln>
        </p:spPr>
      </p:sp>
      <p:sp>
        <p:nvSpPr>
          <p:cNvPr id="13" name="Text 11"/>
          <p:cNvSpPr/>
          <p:nvPr/>
        </p:nvSpPr>
        <p:spPr>
          <a:xfrm>
            <a:off x="1397000" y="6654577"/>
            <a:ext cx="2534791" cy="387350"/>
          </a:xfrm>
          <a:prstGeom prst="rect">
            <a:avLst/>
          </a:prstGeom>
          <a:noFill/>
          <a:ln/>
        </p:spPr>
        <p:txBody>
          <a:bodyPr wrap="square" lIns="25400" tIns="25400" rIns="25400" bIns="25400" rtlCol="0" anchor="t">
            <a:normAutofit/>
          </a:bodyPr>
          <a:lstStyle/>
          <a:p>
            <a:pPr algn="l" indent="0" marL="0">
              <a:buNone/>
            </a:pPr>
            <a:r>
              <a:rPr lang="en-US" sz="2400" b="1" dirty="0">
                <a:solidFill>
                  <a:srgbClr val="EEF3F9">
                    <a:alpha val="99000"/>
                  </a:srgbClr>
                </a:solidFill>
                <a:latin typeface="Arial" pitchFamily="34" charset="0"/>
                <a:ea typeface="Arial" pitchFamily="34" charset="-122"/>
                <a:cs typeface="Arial" pitchFamily="34" charset="-120"/>
              </a:rPr>
              <a:t>Orienté colonnes</a:t>
            </a:r>
            <a:endParaRPr lang="en-US" sz="2400" dirty="0"/>
          </a:p>
        </p:txBody>
      </p:sp>
      <p:sp>
        <p:nvSpPr>
          <p:cNvPr id="14" name="Text 12"/>
          <p:cNvSpPr/>
          <p:nvPr/>
        </p:nvSpPr>
        <p:spPr>
          <a:xfrm>
            <a:off x="6377285" y="6699027"/>
            <a:ext cx="2564914" cy="342900"/>
          </a:xfrm>
          <a:prstGeom prst="rect">
            <a:avLst/>
          </a:prstGeom>
          <a:noFill/>
          <a:ln/>
        </p:spPr>
        <p:txBody>
          <a:bodyPr wrap="square" lIns="25400" tIns="25400" rIns="25400" bIns="25400" rtlCol="0" anchor="t">
            <a:normAutofit/>
          </a:bodyPr>
          <a:lstStyle/>
          <a:p>
            <a:pPr algn="l" indent="0" marL="0">
              <a:buNone/>
            </a:pPr>
            <a:r>
              <a:rPr lang="en-US" sz="1800" dirty="0">
                <a:solidFill>
                  <a:srgbClr val="B897F0">
                    <a:alpha val="99000"/>
                  </a:srgbClr>
                </a:solidFill>
                <a:latin typeface="Courier New" pitchFamily="34" charset="0"/>
                <a:ea typeface="Courier New" pitchFamily="34" charset="-122"/>
                <a:cs typeface="Courier New" pitchFamily="34" charset="-120"/>
              </a:rPr>
              <a:t>Cassandra · HBase</a:t>
            </a:r>
            <a:endParaRPr lang="en-US" sz="1800" dirty="0"/>
          </a:p>
        </p:txBody>
      </p:sp>
      <p:sp>
        <p:nvSpPr>
          <p:cNvPr id="15" name="Text 13"/>
          <p:cNvSpPr/>
          <p:nvPr/>
        </p:nvSpPr>
        <p:spPr>
          <a:xfrm>
            <a:off x="1397000" y="7137177"/>
            <a:ext cx="7531386" cy="728663"/>
          </a:xfrm>
          <a:prstGeom prst="rect">
            <a:avLst/>
          </a:prstGeom>
          <a:noFill/>
          <a:ln/>
        </p:spPr>
        <p:txBody>
          <a:bodyPr wrap="square" lIns="25400" tIns="25400" rIns="25400" bIns="25400" rtlCol="0" anchor="t">
            <a:normAutofit/>
          </a:bodyPr>
          <a:lstStyle/>
          <a:p>
            <a:pPr algn="l" indent="0" marL="0">
              <a:lnSpc>
                <a:spcPct val="126453"/>
              </a:lnSpc>
              <a:buNone/>
            </a:pPr>
            <a:r>
              <a:rPr lang="en-US" sz="1875" dirty="0">
                <a:solidFill>
                  <a:srgbClr val="8EA0B5">
                    <a:alpha val="99000"/>
                  </a:srgbClr>
                </a:solidFill>
                <a:latin typeface="Arial" pitchFamily="34" charset="0"/>
                <a:ea typeface="Arial" pitchFamily="34" charset="-122"/>
                <a:cs typeface="Arial" pitchFamily="34" charset="-120"/>
              </a:rPr>
              <a:t>Familles de colonnes stockées ensemble. Séries temporelles, gros volumes en écriture.</a:t>
            </a:r>
            <a:endParaRPr lang="en-US" sz="1875" dirty="0"/>
          </a:p>
        </p:txBody>
      </p:sp>
      <p:sp>
        <p:nvSpPr>
          <p:cNvPr id="16" name="Shape 14"/>
          <p:cNvSpPr/>
          <p:nvPr/>
        </p:nvSpPr>
        <p:spPr>
          <a:xfrm>
            <a:off x="9248775" y="6349940"/>
            <a:ext cx="7972425" cy="3128467"/>
          </a:xfrm>
          <a:prstGeom prst="roundRect">
            <a:avLst>
              <a:gd name="adj" fmla="val 5480"/>
            </a:avLst>
          </a:prstGeom>
          <a:solidFill>
            <a:srgbClr val="FFFFFF">
              <a:alpha val="3000"/>
            </a:srgbClr>
          </a:solidFill>
          <a:ln w="6350">
            <a:solidFill>
              <a:srgbClr val="FFFFFF">
                <a:alpha val="10000"/>
              </a:srgbClr>
            </a:solidFill>
            <a:prstDash val="solid"/>
          </a:ln>
        </p:spPr>
      </p:sp>
      <p:sp>
        <p:nvSpPr>
          <p:cNvPr id="17" name="Text 15"/>
          <p:cNvSpPr/>
          <p:nvPr/>
        </p:nvSpPr>
        <p:spPr>
          <a:xfrm>
            <a:off x="9578975" y="6661091"/>
            <a:ext cx="2404259" cy="387350"/>
          </a:xfrm>
          <a:prstGeom prst="rect">
            <a:avLst/>
          </a:prstGeom>
          <a:noFill/>
          <a:ln/>
        </p:spPr>
        <p:txBody>
          <a:bodyPr wrap="square" lIns="25400" tIns="25400" rIns="25400" bIns="25400" rtlCol="0" anchor="t">
            <a:normAutofit/>
          </a:bodyPr>
          <a:lstStyle/>
          <a:p>
            <a:pPr algn="l" indent="0" marL="0">
              <a:buNone/>
            </a:pPr>
            <a:r>
              <a:rPr lang="en-US" sz="2400" b="1" dirty="0">
                <a:solidFill>
                  <a:srgbClr val="EEF3F9">
                    <a:alpha val="96000"/>
                  </a:srgbClr>
                </a:solidFill>
                <a:latin typeface="Arial" pitchFamily="34" charset="0"/>
                <a:ea typeface="Arial" pitchFamily="34" charset="-122"/>
                <a:cs typeface="Arial" pitchFamily="34" charset="-120"/>
              </a:rPr>
              <a:t>Orienté graphes</a:t>
            </a:r>
            <a:endParaRPr lang="en-US" sz="2400" dirty="0"/>
          </a:p>
        </p:txBody>
      </p:sp>
      <p:sp>
        <p:nvSpPr>
          <p:cNvPr id="18" name="Text 16"/>
          <p:cNvSpPr/>
          <p:nvPr/>
        </p:nvSpPr>
        <p:spPr>
          <a:xfrm>
            <a:off x="16205200" y="6705541"/>
            <a:ext cx="7620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B897F0">
                    <a:alpha val="96000"/>
                  </a:srgbClr>
                </a:solidFill>
                <a:latin typeface="Courier New" pitchFamily="34" charset="0"/>
                <a:ea typeface="Courier New" pitchFamily="34" charset="-122"/>
                <a:cs typeface="Courier New" pitchFamily="34" charset="-120"/>
              </a:rPr>
              <a:t>Neo4j</a:t>
            </a:r>
            <a:endParaRPr lang="en-US" sz="1800" dirty="0"/>
          </a:p>
        </p:txBody>
      </p:sp>
      <p:sp>
        <p:nvSpPr>
          <p:cNvPr id="19" name="Text 17"/>
          <p:cNvSpPr/>
          <p:nvPr/>
        </p:nvSpPr>
        <p:spPr>
          <a:xfrm>
            <a:off x="9578975" y="7143691"/>
            <a:ext cx="7531386" cy="728663"/>
          </a:xfrm>
          <a:prstGeom prst="rect">
            <a:avLst/>
          </a:prstGeom>
          <a:noFill/>
          <a:ln/>
        </p:spPr>
        <p:txBody>
          <a:bodyPr wrap="square" lIns="25400" tIns="25400" rIns="25400" bIns="25400" rtlCol="0" anchor="t">
            <a:normAutofit/>
          </a:bodyPr>
          <a:lstStyle/>
          <a:p>
            <a:pPr algn="l" indent="0" marL="0">
              <a:lnSpc>
                <a:spcPct val="126453"/>
              </a:lnSpc>
              <a:buNone/>
            </a:pPr>
            <a:r>
              <a:rPr lang="en-US" sz="1875" dirty="0">
                <a:solidFill>
                  <a:srgbClr val="8EA0B5">
                    <a:alpha val="96000"/>
                  </a:srgbClr>
                </a:solidFill>
                <a:latin typeface="Arial" pitchFamily="34" charset="0"/>
                <a:ea typeface="Arial" pitchFamily="34" charset="-122"/>
                <a:cs typeface="Arial" pitchFamily="34" charset="-120"/>
              </a:rPr>
              <a:t>Nœuds et relations. Réseaux sociaux, recommandations, détection de fraude.</a:t>
            </a:r>
            <a:endParaRPr lang="en-US" sz="187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C121C"/>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B897F0">
                    <a:alpha val="97000"/>
                  </a:srgbClr>
                </a:solidFill>
                <a:latin typeface="Courier New" pitchFamily="34" charset="0"/>
                <a:ea typeface="Courier New" pitchFamily="34" charset="-122"/>
                <a:cs typeface="Courier New" pitchFamily="34" charset="-120"/>
              </a:rPr>
              <a:t>ATELIER 02 · MODÈLES</a:t>
            </a:r>
            <a:endParaRPr lang="en-US" sz="1800" dirty="0"/>
          </a:p>
        </p:txBody>
      </p:sp>
      <p:sp>
        <p:nvSpPr>
          <p:cNvPr id="3" name="Text 1"/>
          <p:cNvSpPr/>
          <p:nvPr/>
        </p:nvSpPr>
        <p:spPr>
          <a:xfrm>
            <a:off x="1066800" y="1314451"/>
            <a:ext cx="10476041" cy="1305917"/>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Comment chaque famille organise les données</a:t>
            </a:r>
            <a:endParaRPr lang="en-US" sz="4800" dirty="0"/>
          </a:p>
        </p:txBody>
      </p:sp>
      <p:sp>
        <p:nvSpPr>
          <p:cNvPr id="4" name="Shape 2"/>
          <p:cNvSpPr/>
          <p:nvPr/>
        </p:nvSpPr>
        <p:spPr>
          <a:xfrm>
            <a:off x="1066800" y="2925169"/>
            <a:ext cx="7981950" cy="3030042"/>
          </a:xfrm>
          <a:prstGeom prst="roundRect">
            <a:avLst>
              <a:gd name="adj" fmla="val 5030"/>
            </a:avLst>
          </a:prstGeom>
          <a:solidFill>
            <a:srgbClr val="FFFFFF">
              <a:alpha val="3000"/>
            </a:srgbClr>
          </a:solidFill>
          <a:ln w="6350">
            <a:solidFill>
              <a:srgbClr val="FFFFFF">
                <a:alpha val="10000"/>
              </a:srgbClr>
            </a:solidFill>
            <a:prstDash val="solid"/>
          </a:ln>
        </p:spPr>
      </p:sp>
      <p:sp>
        <p:nvSpPr>
          <p:cNvPr id="5" name="Text 3"/>
          <p:cNvSpPr/>
          <p:nvPr/>
        </p:nvSpPr>
        <p:spPr>
          <a:xfrm>
            <a:off x="1358900" y="3179169"/>
            <a:ext cx="1336973" cy="342900"/>
          </a:xfrm>
          <a:prstGeom prst="rect">
            <a:avLst/>
          </a:prstGeom>
          <a:noFill/>
          <a:ln/>
        </p:spPr>
        <p:txBody>
          <a:bodyPr wrap="square" lIns="25400" tIns="25400" rIns="25400" bIns="25400" rtlCol="0" anchor="t">
            <a:normAutofit/>
          </a:bodyPr>
          <a:lstStyle/>
          <a:p>
            <a:pPr algn="l" indent="0" marL="0">
              <a:buNone/>
            </a:pPr>
            <a:r>
              <a:rPr lang="en-US" sz="2100" b="1" dirty="0">
                <a:solidFill>
                  <a:srgbClr val="EEF3F9"/>
                </a:solidFill>
                <a:latin typeface="Arial" pitchFamily="34" charset="0"/>
                <a:ea typeface="Arial" pitchFamily="34" charset="-122"/>
                <a:cs typeface="Arial" pitchFamily="34" charset="-120"/>
              </a:rPr>
              <a:t>Clé-valeur</a:t>
            </a:r>
            <a:endParaRPr lang="en-US" sz="2100" dirty="0"/>
          </a:p>
        </p:txBody>
      </p:sp>
      <p:sp>
        <p:nvSpPr>
          <p:cNvPr id="6" name="Text 4"/>
          <p:cNvSpPr/>
          <p:nvPr/>
        </p:nvSpPr>
        <p:spPr>
          <a:xfrm>
            <a:off x="8070850" y="3185519"/>
            <a:ext cx="7620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B897F0"/>
                </a:solidFill>
                <a:latin typeface="Courier New" pitchFamily="34" charset="0"/>
                <a:ea typeface="Courier New" pitchFamily="34" charset="-122"/>
                <a:cs typeface="Courier New" pitchFamily="34" charset="-120"/>
              </a:rPr>
              <a:t>Redis</a:t>
            </a:r>
            <a:endParaRPr lang="en-US" sz="1800" dirty="0"/>
          </a:p>
        </p:txBody>
      </p:sp>
      <p:sp>
        <p:nvSpPr>
          <p:cNvPr id="7" name="Shape 5"/>
          <p:cNvSpPr/>
          <p:nvPr/>
        </p:nvSpPr>
        <p:spPr>
          <a:xfrm>
            <a:off x="1358900" y="3661768"/>
            <a:ext cx="7397750" cy="2012950"/>
          </a:xfrm>
          <a:prstGeom prst="roundRect">
            <a:avLst>
              <a:gd name="adj" fmla="val 4732"/>
            </a:avLst>
          </a:prstGeom>
          <a:ln w="6350">
            <a:solidFill>
              <a:srgbClr val="FFFFFF">
                <a:alpha val="10000"/>
              </a:srgbClr>
            </a:solidFill>
            <a:prstDash val="solid"/>
          </a:ln>
        </p:spPr>
      </p:sp>
      <p:sp>
        <p:nvSpPr>
          <p:cNvPr id="8" name="Shape 6"/>
          <p:cNvSpPr/>
          <p:nvPr/>
        </p:nvSpPr>
        <p:spPr>
          <a:xfrm>
            <a:off x="1365250" y="3668119"/>
            <a:ext cx="7385050" cy="495300"/>
          </a:xfrm>
          <a:prstGeom prst="rect">
            <a:avLst/>
          </a:prstGeom>
          <a:solidFill>
            <a:srgbClr val="FFFFFF">
              <a:alpha val="6000"/>
            </a:srgbClr>
          </a:solidFill>
          <a:ln/>
        </p:spPr>
      </p:sp>
      <p:sp>
        <p:nvSpPr>
          <p:cNvPr id="9" name="Shape 7"/>
          <p:cNvSpPr/>
          <p:nvPr/>
        </p:nvSpPr>
        <p:spPr>
          <a:xfrm>
            <a:off x="5051425" y="3668119"/>
            <a:ext cx="9525" cy="495300"/>
          </a:xfrm>
          <a:prstGeom prst="rect">
            <a:avLst/>
          </a:prstGeom>
          <a:solidFill>
            <a:srgbClr val="FFFFFF">
              <a:alpha val="10000"/>
            </a:srgbClr>
          </a:solidFill>
          <a:ln/>
        </p:spPr>
      </p:sp>
      <p:sp>
        <p:nvSpPr>
          <p:cNvPr id="10" name="Text 8"/>
          <p:cNvSpPr/>
          <p:nvPr/>
        </p:nvSpPr>
        <p:spPr>
          <a:xfrm>
            <a:off x="1517650" y="3763369"/>
            <a:ext cx="349215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solidFill>
                <a:latin typeface="Courier New" pitchFamily="34" charset="0"/>
                <a:ea typeface="Courier New" pitchFamily="34" charset="-122"/>
                <a:cs typeface="Courier New" pitchFamily="34" charset="-120"/>
              </a:rPr>
              <a:t>Key</a:t>
            </a:r>
            <a:endParaRPr lang="en-US" sz="1800" dirty="0"/>
          </a:p>
        </p:txBody>
      </p:sp>
      <p:sp>
        <p:nvSpPr>
          <p:cNvPr id="11" name="Text 9"/>
          <p:cNvSpPr/>
          <p:nvPr/>
        </p:nvSpPr>
        <p:spPr>
          <a:xfrm>
            <a:off x="5210175" y="3763369"/>
            <a:ext cx="349850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solidFill>
                <a:latin typeface="Courier New" pitchFamily="34" charset="0"/>
                <a:ea typeface="Courier New" pitchFamily="34" charset="-122"/>
                <a:cs typeface="Courier New" pitchFamily="34" charset="-120"/>
              </a:rPr>
              <a:t>Value</a:t>
            </a:r>
            <a:endParaRPr lang="en-US" sz="1800" dirty="0"/>
          </a:p>
        </p:txBody>
      </p:sp>
      <p:sp>
        <p:nvSpPr>
          <p:cNvPr id="12" name="Shape 10"/>
          <p:cNvSpPr/>
          <p:nvPr/>
        </p:nvSpPr>
        <p:spPr>
          <a:xfrm>
            <a:off x="1365250" y="4163419"/>
            <a:ext cx="7385050" cy="9525"/>
          </a:xfrm>
          <a:prstGeom prst="rect">
            <a:avLst/>
          </a:prstGeom>
          <a:solidFill>
            <a:srgbClr val="FFFFFF">
              <a:alpha val="6000"/>
            </a:srgbClr>
          </a:solidFill>
          <a:ln/>
        </p:spPr>
      </p:sp>
      <p:sp>
        <p:nvSpPr>
          <p:cNvPr id="13" name="Shape 11"/>
          <p:cNvSpPr/>
          <p:nvPr/>
        </p:nvSpPr>
        <p:spPr>
          <a:xfrm>
            <a:off x="5051425" y="4169768"/>
            <a:ext cx="9525" cy="495300"/>
          </a:xfrm>
          <a:prstGeom prst="rect">
            <a:avLst/>
          </a:prstGeom>
          <a:solidFill>
            <a:srgbClr val="FFFFFF">
              <a:alpha val="10000"/>
            </a:srgbClr>
          </a:solidFill>
          <a:ln/>
        </p:spPr>
      </p:sp>
      <p:sp>
        <p:nvSpPr>
          <p:cNvPr id="14" name="Text 12"/>
          <p:cNvSpPr/>
          <p:nvPr/>
        </p:nvSpPr>
        <p:spPr>
          <a:xfrm>
            <a:off x="1517650" y="4265018"/>
            <a:ext cx="349215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B897F0"/>
                </a:solidFill>
                <a:latin typeface="Courier New" pitchFamily="34" charset="0"/>
                <a:ea typeface="Courier New" pitchFamily="34" charset="-122"/>
                <a:cs typeface="Courier New" pitchFamily="34" charset="-120"/>
              </a:rPr>
              <a:t>user:1001</a:t>
            </a:r>
            <a:endParaRPr lang="en-US" sz="1800" dirty="0"/>
          </a:p>
        </p:txBody>
      </p:sp>
      <p:sp>
        <p:nvSpPr>
          <p:cNvPr id="15" name="Text 13"/>
          <p:cNvSpPr/>
          <p:nvPr/>
        </p:nvSpPr>
        <p:spPr>
          <a:xfrm>
            <a:off x="5210175" y="4265018"/>
            <a:ext cx="349850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solidFill>
                <a:latin typeface="Courier New" pitchFamily="34" charset="0"/>
                <a:ea typeface="Courier New" pitchFamily="34" charset="-122"/>
                <a:cs typeface="Courier New" pitchFamily="34" charset="-120"/>
              </a:rPr>
              <a:t>{ … }</a:t>
            </a:r>
            <a:endParaRPr lang="en-US" sz="1800" dirty="0"/>
          </a:p>
        </p:txBody>
      </p:sp>
      <p:sp>
        <p:nvSpPr>
          <p:cNvPr id="16" name="Shape 14"/>
          <p:cNvSpPr/>
          <p:nvPr/>
        </p:nvSpPr>
        <p:spPr>
          <a:xfrm>
            <a:off x="1365250" y="4665069"/>
            <a:ext cx="7385050" cy="9525"/>
          </a:xfrm>
          <a:prstGeom prst="rect">
            <a:avLst/>
          </a:prstGeom>
          <a:solidFill>
            <a:srgbClr val="FFFFFF">
              <a:alpha val="6000"/>
            </a:srgbClr>
          </a:solidFill>
          <a:ln/>
        </p:spPr>
      </p:sp>
      <p:sp>
        <p:nvSpPr>
          <p:cNvPr id="17" name="Shape 15"/>
          <p:cNvSpPr/>
          <p:nvPr/>
        </p:nvSpPr>
        <p:spPr>
          <a:xfrm>
            <a:off x="5051425" y="4671419"/>
            <a:ext cx="9525" cy="495300"/>
          </a:xfrm>
          <a:prstGeom prst="rect">
            <a:avLst/>
          </a:prstGeom>
          <a:solidFill>
            <a:srgbClr val="FFFFFF">
              <a:alpha val="10000"/>
            </a:srgbClr>
          </a:solidFill>
          <a:ln/>
        </p:spPr>
      </p:sp>
      <p:sp>
        <p:nvSpPr>
          <p:cNvPr id="18" name="Text 16"/>
          <p:cNvSpPr/>
          <p:nvPr/>
        </p:nvSpPr>
        <p:spPr>
          <a:xfrm>
            <a:off x="1517650" y="4766669"/>
            <a:ext cx="349215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B897F0"/>
                </a:solidFill>
                <a:latin typeface="Courier New" pitchFamily="34" charset="0"/>
                <a:ea typeface="Courier New" pitchFamily="34" charset="-122"/>
                <a:cs typeface="Courier New" pitchFamily="34" charset="-120"/>
              </a:rPr>
              <a:t>user:1002</a:t>
            </a:r>
            <a:endParaRPr lang="en-US" sz="1800" dirty="0"/>
          </a:p>
        </p:txBody>
      </p:sp>
      <p:sp>
        <p:nvSpPr>
          <p:cNvPr id="19" name="Text 17"/>
          <p:cNvSpPr/>
          <p:nvPr/>
        </p:nvSpPr>
        <p:spPr>
          <a:xfrm>
            <a:off x="5210175" y="4766669"/>
            <a:ext cx="349850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solidFill>
                <a:latin typeface="Courier New" pitchFamily="34" charset="0"/>
                <a:ea typeface="Courier New" pitchFamily="34" charset="-122"/>
                <a:cs typeface="Courier New" pitchFamily="34" charset="-120"/>
              </a:rPr>
              <a:t>{ … }</a:t>
            </a:r>
            <a:endParaRPr lang="en-US" sz="1800" dirty="0"/>
          </a:p>
        </p:txBody>
      </p:sp>
      <p:sp>
        <p:nvSpPr>
          <p:cNvPr id="20" name="Shape 18"/>
          <p:cNvSpPr/>
          <p:nvPr/>
        </p:nvSpPr>
        <p:spPr>
          <a:xfrm>
            <a:off x="1365250" y="5166719"/>
            <a:ext cx="7385050" cy="9525"/>
          </a:xfrm>
          <a:prstGeom prst="rect">
            <a:avLst/>
          </a:prstGeom>
          <a:solidFill>
            <a:srgbClr val="FFFFFF">
              <a:alpha val="6000"/>
            </a:srgbClr>
          </a:solidFill>
          <a:ln/>
        </p:spPr>
      </p:sp>
      <p:sp>
        <p:nvSpPr>
          <p:cNvPr id="21" name="Shape 19"/>
          <p:cNvSpPr/>
          <p:nvPr/>
        </p:nvSpPr>
        <p:spPr>
          <a:xfrm>
            <a:off x="5051425" y="5173069"/>
            <a:ext cx="9525" cy="495300"/>
          </a:xfrm>
          <a:prstGeom prst="rect">
            <a:avLst/>
          </a:prstGeom>
          <a:solidFill>
            <a:srgbClr val="FFFFFF">
              <a:alpha val="10000"/>
            </a:srgbClr>
          </a:solidFill>
          <a:ln/>
        </p:spPr>
      </p:sp>
      <p:sp>
        <p:nvSpPr>
          <p:cNvPr id="22" name="Text 20"/>
          <p:cNvSpPr/>
          <p:nvPr/>
        </p:nvSpPr>
        <p:spPr>
          <a:xfrm>
            <a:off x="1517650" y="5268319"/>
            <a:ext cx="349215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B897F0"/>
                </a:solidFill>
                <a:latin typeface="Courier New" pitchFamily="34" charset="0"/>
                <a:ea typeface="Courier New" pitchFamily="34" charset="-122"/>
                <a:cs typeface="Courier New" pitchFamily="34" charset="-120"/>
              </a:rPr>
              <a:t>session:52</a:t>
            </a:r>
            <a:endParaRPr lang="en-US" sz="1800" dirty="0"/>
          </a:p>
        </p:txBody>
      </p:sp>
      <p:sp>
        <p:nvSpPr>
          <p:cNvPr id="23" name="Text 21"/>
          <p:cNvSpPr/>
          <p:nvPr/>
        </p:nvSpPr>
        <p:spPr>
          <a:xfrm>
            <a:off x="5210175" y="5268319"/>
            <a:ext cx="349850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solidFill>
                <a:latin typeface="Courier New" pitchFamily="34" charset="0"/>
                <a:ea typeface="Courier New" pitchFamily="34" charset="-122"/>
                <a:cs typeface="Courier New" pitchFamily="34" charset="-120"/>
              </a:rPr>
              <a:t>{ … }</a:t>
            </a:r>
            <a:endParaRPr lang="en-US" sz="1800" dirty="0"/>
          </a:p>
        </p:txBody>
      </p:sp>
      <p:sp>
        <p:nvSpPr>
          <p:cNvPr id="24" name="Shape 22"/>
          <p:cNvSpPr/>
          <p:nvPr/>
        </p:nvSpPr>
        <p:spPr>
          <a:xfrm>
            <a:off x="9239250" y="2926082"/>
            <a:ext cx="7981950" cy="3030042"/>
          </a:xfrm>
          <a:prstGeom prst="roundRect">
            <a:avLst>
              <a:gd name="adj" fmla="val 5030"/>
            </a:avLst>
          </a:prstGeom>
          <a:gradFill rotWithShape="1">
            <a:gsLst>
              <a:gs pos="0">
                <a:srgbClr val="B895F1">
                  <a:alpha val="14000"/>
                </a:srgbClr>
              </a:gs>
              <a:gs pos="100000">
                <a:srgbClr val="FFFFFF">
                  <a:alpha val="3000"/>
                </a:srgbClr>
              </a:gs>
            </a:gsLst>
            <a:lin ang="4200000" scaled="0"/>
          </a:gradFill>
          <a:ln w="6350">
            <a:solidFill>
              <a:srgbClr val="C6ADF4">
                <a:alpha val="35000"/>
              </a:srgbClr>
            </a:solidFill>
            <a:prstDash val="solid"/>
          </a:ln>
        </p:spPr>
      </p:sp>
      <p:sp>
        <p:nvSpPr>
          <p:cNvPr id="25" name="Text 23"/>
          <p:cNvSpPr/>
          <p:nvPr/>
        </p:nvSpPr>
        <p:spPr>
          <a:xfrm>
            <a:off x="9531350" y="3180083"/>
            <a:ext cx="2478693" cy="342900"/>
          </a:xfrm>
          <a:prstGeom prst="rect">
            <a:avLst/>
          </a:prstGeom>
          <a:noFill/>
          <a:ln/>
        </p:spPr>
        <p:txBody>
          <a:bodyPr wrap="square" lIns="25400" tIns="25400" rIns="25400" bIns="25400" rtlCol="0" anchor="t">
            <a:normAutofit/>
          </a:bodyPr>
          <a:lstStyle/>
          <a:p>
            <a:pPr algn="l" indent="0" marL="0">
              <a:buNone/>
            </a:pPr>
            <a:r>
              <a:rPr lang="en-US" sz="2100" b="1" dirty="0">
                <a:solidFill>
                  <a:srgbClr val="EEF3F9"/>
                </a:solidFill>
                <a:latin typeface="Arial" pitchFamily="34" charset="0"/>
                <a:ea typeface="Arial" pitchFamily="34" charset="-122"/>
                <a:cs typeface="Arial" pitchFamily="34" charset="-120"/>
              </a:rPr>
              <a:t>Orienté documents</a:t>
            </a:r>
            <a:endParaRPr lang="en-US" sz="2100" dirty="0"/>
          </a:p>
        </p:txBody>
      </p:sp>
      <p:sp>
        <p:nvSpPr>
          <p:cNvPr id="26" name="Text 24"/>
          <p:cNvSpPr/>
          <p:nvPr/>
        </p:nvSpPr>
        <p:spPr>
          <a:xfrm>
            <a:off x="15968960" y="3186433"/>
            <a:ext cx="103634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B897F0"/>
                </a:solidFill>
                <a:latin typeface="Courier New" pitchFamily="34" charset="0"/>
                <a:ea typeface="Courier New" pitchFamily="34" charset="-122"/>
                <a:cs typeface="Courier New" pitchFamily="34" charset="-120"/>
              </a:rPr>
              <a:t>MongoDB</a:t>
            </a:r>
            <a:endParaRPr lang="en-US" sz="1800" dirty="0"/>
          </a:p>
        </p:txBody>
      </p:sp>
      <p:sp>
        <p:nvSpPr>
          <p:cNvPr id="27" name="Text 25"/>
          <p:cNvSpPr/>
          <p:nvPr/>
        </p:nvSpPr>
        <p:spPr>
          <a:xfrm>
            <a:off x="9531350" y="3662682"/>
            <a:ext cx="7619683" cy="426641"/>
          </a:xfrm>
          <a:prstGeom prst="rect">
            <a:avLst/>
          </a:prstGeom>
          <a:noFill/>
          <a:ln/>
        </p:spPr>
        <p:txBody>
          <a:bodyPr wrap="square" lIns="25400" tIns="25400" rIns="25400" bIns="25400" rtlCol="0" anchor="t">
            <a:normAutofit/>
          </a:bodyPr>
          <a:lstStyle/>
          <a:p>
            <a:pPr algn="l" indent="0" marL="0">
              <a:lnSpc>
                <a:spcPct val="149268"/>
              </a:lnSpc>
              <a:buNone/>
            </a:pPr>
            <a:r>
              <a:rPr lang="en-US" sz="1800" dirty="0">
                <a:solidFill>
                  <a:srgbClr val="B897F0"/>
                </a:solidFill>
                <a:latin typeface="Courier New" pitchFamily="34" charset="0"/>
                <a:ea typeface="Courier New" pitchFamily="34" charset="-122"/>
                <a:cs typeface="Courier New" pitchFamily="34" charset="-120"/>
              </a:rPr>
              <a:t>Collection : students</a:t>
            </a:r>
            <a:endParaRPr lang="en-US" sz="1800" dirty="0"/>
          </a:p>
        </p:txBody>
      </p:sp>
      <p:sp>
        <p:nvSpPr>
          <p:cNvPr id="28" name="Text 26"/>
          <p:cNvSpPr/>
          <p:nvPr/>
        </p:nvSpPr>
        <p:spPr>
          <a:xfrm>
            <a:off x="9607550" y="4051223"/>
            <a:ext cx="7543483" cy="426641"/>
          </a:xfrm>
          <a:prstGeom prst="rect">
            <a:avLst/>
          </a:prstGeom>
          <a:noFill/>
          <a:ln/>
        </p:spPr>
        <p:txBody>
          <a:bodyPr wrap="square" lIns="25400" tIns="25400" rIns="25400" bIns="25400" rtlCol="0" anchor="t">
            <a:normAutofit/>
          </a:bodyPr>
          <a:lstStyle/>
          <a:p>
            <a:pPr algn="l" indent="0" marL="0">
              <a:lnSpc>
                <a:spcPct val="149268"/>
              </a:lnSpc>
              <a:buNone/>
            </a:pPr>
            <a:r>
              <a:rPr lang="en-US" sz="1800" dirty="0">
                <a:solidFill>
                  <a:srgbClr val="8EA0B5"/>
                </a:solidFill>
                <a:latin typeface="Courier New" pitchFamily="34" charset="0"/>
                <a:ea typeface="Courier New" pitchFamily="34" charset="-122"/>
                <a:cs typeface="Courier New" pitchFamily="34" charset="-120"/>
              </a:rPr>
              <a:t>├─ Document</a:t>
            </a:r>
            <a:endParaRPr lang="en-US" sz="1800" dirty="0"/>
          </a:p>
        </p:txBody>
      </p:sp>
      <p:sp>
        <p:nvSpPr>
          <p:cNvPr id="29" name="Text 27"/>
          <p:cNvSpPr/>
          <p:nvPr/>
        </p:nvSpPr>
        <p:spPr>
          <a:xfrm>
            <a:off x="9855200" y="4439764"/>
            <a:ext cx="7295833" cy="426641"/>
          </a:xfrm>
          <a:prstGeom prst="rect">
            <a:avLst/>
          </a:prstGeom>
          <a:noFill/>
          <a:ln/>
        </p:spPr>
        <p:txBody>
          <a:bodyPr wrap="square" lIns="25400" tIns="25400" rIns="25400" bIns="25400" rtlCol="0" anchor="t">
            <a:normAutofit/>
          </a:bodyPr>
          <a:lstStyle/>
          <a:p>
            <a:pPr algn="l" indent="0" marL="0">
              <a:lnSpc>
                <a:spcPct val="149268"/>
              </a:lnSpc>
              <a:buNone/>
            </a:pPr>
            <a:r>
              <a:rPr lang="en-US" sz="1800" dirty="0">
                <a:solidFill>
                  <a:srgbClr val="EEF3F9"/>
                </a:solidFill>
                <a:latin typeface="Courier New" pitchFamily="34" charset="0"/>
                <a:ea typeface="Courier New" pitchFamily="34" charset="-122"/>
                <a:cs typeface="Courier New" pitchFamily="34" charset="-120"/>
              </a:rPr>
              <a:t>├─ name · age · city</a:t>
            </a:r>
            <a:endParaRPr lang="en-US" sz="1800" dirty="0"/>
          </a:p>
        </p:txBody>
      </p:sp>
      <p:sp>
        <p:nvSpPr>
          <p:cNvPr id="30" name="Text 28"/>
          <p:cNvSpPr/>
          <p:nvPr/>
        </p:nvSpPr>
        <p:spPr>
          <a:xfrm>
            <a:off x="9607550" y="4828305"/>
            <a:ext cx="7543483" cy="426641"/>
          </a:xfrm>
          <a:prstGeom prst="rect">
            <a:avLst/>
          </a:prstGeom>
          <a:noFill/>
          <a:ln/>
        </p:spPr>
        <p:txBody>
          <a:bodyPr wrap="square" lIns="25400" tIns="25400" rIns="25400" bIns="25400" rtlCol="0" anchor="t">
            <a:normAutofit/>
          </a:bodyPr>
          <a:lstStyle/>
          <a:p>
            <a:pPr algn="l" indent="0" marL="0">
              <a:lnSpc>
                <a:spcPct val="149268"/>
              </a:lnSpc>
              <a:buNone/>
            </a:pPr>
            <a:r>
              <a:rPr lang="en-US" sz="1800" dirty="0">
                <a:solidFill>
                  <a:srgbClr val="8EA0B5"/>
                </a:solidFill>
                <a:latin typeface="Courier New" pitchFamily="34" charset="0"/>
                <a:ea typeface="Courier New" pitchFamily="34" charset="-122"/>
                <a:cs typeface="Courier New" pitchFamily="34" charset="-120"/>
              </a:rPr>
              <a:t>├─ Document</a:t>
            </a:r>
            <a:endParaRPr lang="en-US" sz="1800" dirty="0"/>
          </a:p>
        </p:txBody>
      </p:sp>
      <p:sp>
        <p:nvSpPr>
          <p:cNvPr id="31" name="Text 29"/>
          <p:cNvSpPr/>
          <p:nvPr/>
        </p:nvSpPr>
        <p:spPr>
          <a:xfrm>
            <a:off x="9855200" y="5216846"/>
            <a:ext cx="7295833" cy="426641"/>
          </a:xfrm>
          <a:prstGeom prst="rect">
            <a:avLst/>
          </a:prstGeom>
          <a:noFill/>
          <a:ln/>
        </p:spPr>
        <p:txBody>
          <a:bodyPr wrap="square" lIns="25400" tIns="25400" rIns="25400" bIns="25400" rtlCol="0" anchor="t">
            <a:normAutofit/>
          </a:bodyPr>
          <a:lstStyle/>
          <a:p>
            <a:pPr algn="l" indent="0" marL="0">
              <a:lnSpc>
                <a:spcPct val="149268"/>
              </a:lnSpc>
              <a:buNone/>
            </a:pPr>
            <a:r>
              <a:rPr lang="en-US" sz="1800" dirty="0">
                <a:solidFill>
                  <a:srgbClr val="EEF3F9"/>
                </a:solidFill>
                <a:latin typeface="Courier New" pitchFamily="34" charset="0"/>
                <a:ea typeface="Courier New" pitchFamily="34" charset="-122"/>
                <a:cs typeface="Courier New" pitchFamily="34" charset="-120"/>
              </a:rPr>
              <a:t>├─ name · age · city</a:t>
            </a:r>
            <a:endParaRPr lang="en-US" sz="1800" dirty="0"/>
          </a:p>
        </p:txBody>
      </p:sp>
      <p:sp>
        <p:nvSpPr>
          <p:cNvPr id="32" name="Shape 30"/>
          <p:cNvSpPr/>
          <p:nvPr/>
        </p:nvSpPr>
        <p:spPr>
          <a:xfrm>
            <a:off x="1066800" y="6149748"/>
            <a:ext cx="7981950" cy="3322141"/>
          </a:xfrm>
          <a:prstGeom prst="roundRect">
            <a:avLst>
              <a:gd name="adj" fmla="val 4587"/>
            </a:avLst>
          </a:prstGeom>
          <a:solidFill>
            <a:srgbClr val="FFFFFF">
              <a:alpha val="3000"/>
            </a:srgbClr>
          </a:solidFill>
          <a:ln w="6350">
            <a:solidFill>
              <a:srgbClr val="FFFFFF">
                <a:alpha val="10000"/>
              </a:srgbClr>
            </a:solidFill>
            <a:prstDash val="solid"/>
          </a:ln>
        </p:spPr>
      </p:sp>
      <p:sp>
        <p:nvSpPr>
          <p:cNvPr id="33" name="Text 31"/>
          <p:cNvSpPr/>
          <p:nvPr/>
        </p:nvSpPr>
        <p:spPr>
          <a:xfrm>
            <a:off x="1358900" y="6403747"/>
            <a:ext cx="2217956" cy="342900"/>
          </a:xfrm>
          <a:prstGeom prst="rect">
            <a:avLst/>
          </a:prstGeom>
          <a:noFill/>
          <a:ln/>
        </p:spPr>
        <p:txBody>
          <a:bodyPr wrap="square" lIns="25400" tIns="25400" rIns="25400" bIns="25400" rtlCol="0" anchor="t">
            <a:normAutofit/>
          </a:bodyPr>
          <a:lstStyle/>
          <a:p>
            <a:pPr algn="l" indent="0" marL="0">
              <a:buNone/>
            </a:pPr>
            <a:r>
              <a:rPr lang="en-US" sz="2100" b="1" dirty="0">
                <a:solidFill>
                  <a:srgbClr val="EEF3F9">
                    <a:alpha val="99000"/>
                  </a:srgbClr>
                </a:solidFill>
                <a:latin typeface="Arial" pitchFamily="34" charset="0"/>
                <a:ea typeface="Arial" pitchFamily="34" charset="-122"/>
                <a:cs typeface="Arial" pitchFamily="34" charset="-120"/>
              </a:rPr>
              <a:t>Orienté colonnes</a:t>
            </a:r>
            <a:endParaRPr lang="en-US" sz="2100" dirty="0"/>
          </a:p>
        </p:txBody>
      </p:sp>
      <p:sp>
        <p:nvSpPr>
          <p:cNvPr id="34" name="Text 32"/>
          <p:cNvSpPr/>
          <p:nvPr/>
        </p:nvSpPr>
        <p:spPr>
          <a:xfrm>
            <a:off x="6424910" y="6410098"/>
            <a:ext cx="2564914" cy="342900"/>
          </a:xfrm>
          <a:prstGeom prst="rect">
            <a:avLst/>
          </a:prstGeom>
          <a:noFill/>
          <a:ln/>
        </p:spPr>
        <p:txBody>
          <a:bodyPr wrap="square" lIns="25400" tIns="25400" rIns="25400" bIns="25400" rtlCol="0" anchor="t">
            <a:normAutofit/>
          </a:bodyPr>
          <a:lstStyle/>
          <a:p>
            <a:pPr algn="l" indent="0" marL="0">
              <a:buNone/>
            </a:pPr>
            <a:r>
              <a:rPr lang="en-US" sz="1800" dirty="0">
                <a:solidFill>
                  <a:srgbClr val="B897F0">
                    <a:alpha val="99000"/>
                  </a:srgbClr>
                </a:solidFill>
                <a:latin typeface="Courier New" pitchFamily="34" charset="0"/>
                <a:ea typeface="Courier New" pitchFamily="34" charset="-122"/>
                <a:cs typeface="Courier New" pitchFamily="34" charset="-120"/>
              </a:rPr>
              <a:t>Cassandra · HBase</a:t>
            </a:r>
            <a:endParaRPr lang="en-US" sz="1800" dirty="0"/>
          </a:p>
        </p:txBody>
      </p:sp>
      <p:sp>
        <p:nvSpPr>
          <p:cNvPr id="35" name="Text 33"/>
          <p:cNvSpPr/>
          <p:nvPr/>
        </p:nvSpPr>
        <p:spPr>
          <a:xfrm>
            <a:off x="1358900" y="6886347"/>
            <a:ext cx="8137525" cy="392410"/>
          </a:xfrm>
          <a:prstGeom prst="rect">
            <a:avLst/>
          </a:prstGeom>
          <a:noFill/>
          <a:ln/>
        </p:spPr>
        <p:txBody>
          <a:bodyPr wrap="square" lIns="25400" tIns="25400" rIns="25400" bIns="25400" rtlCol="0" anchor="t">
            <a:normAutofit/>
          </a:bodyPr>
          <a:lstStyle/>
          <a:p>
            <a:pPr algn="l" indent="0" marL="0">
              <a:lnSpc>
                <a:spcPct val="136098"/>
              </a:lnSpc>
              <a:buNone/>
            </a:pPr>
            <a:r>
              <a:rPr lang="en-US" sz="1800" dirty="0">
                <a:solidFill>
                  <a:srgbClr val="B897F0">
                    <a:alpha val="99000"/>
                  </a:srgbClr>
                </a:solidFill>
                <a:latin typeface="Courier New" pitchFamily="34" charset="0"/>
                <a:ea typeface="Courier New" pitchFamily="34" charset="-122"/>
                <a:cs typeface="Courier New" pitchFamily="34" charset="-120"/>
              </a:rPr>
              <a:t>RowKey : Student001</a:t>
            </a:r>
            <a:endParaRPr lang="en-US" sz="1800" dirty="0"/>
          </a:p>
        </p:txBody>
      </p:sp>
      <p:sp>
        <p:nvSpPr>
          <p:cNvPr id="36" name="Shape 34"/>
          <p:cNvSpPr/>
          <p:nvPr/>
        </p:nvSpPr>
        <p:spPr>
          <a:xfrm>
            <a:off x="1358900" y="7335907"/>
            <a:ext cx="3651250" cy="1026120"/>
          </a:xfrm>
          <a:prstGeom prst="roundRect">
            <a:avLst>
              <a:gd name="adj" fmla="val 7426"/>
            </a:avLst>
          </a:prstGeom>
          <a:ln w="6350">
            <a:solidFill>
              <a:srgbClr val="FFFFFF">
                <a:alpha val="10000"/>
              </a:srgbClr>
            </a:solidFill>
            <a:prstDash val="solid"/>
          </a:ln>
        </p:spPr>
      </p:sp>
      <p:sp>
        <p:nvSpPr>
          <p:cNvPr id="37" name="Shape 35"/>
          <p:cNvSpPr/>
          <p:nvPr/>
        </p:nvSpPr>
        <p:spPr>
          <a:xfrm>
            <a:off x="1365250" y="7342258"/>
            <a:ext cx="3638550" cy="506710"/>
          </a:xfrm>
          <a:prstGeom prst="rect">
            <a:avLst/>
          </a:prstGeom>
          <a:solidFill>
            <a:srgbClr val="FFFFFF">
              <a:alpha val="6000"/>
            </a:srgbClr>
          </a:solidFill>
          <a:ln/>
        </p:spPr>
      </p:sp>
      <p:sp>
        <p:nvSpPr>
          <p:cNvPr id="38" name="Text 36"/>
          <p:cNvSpPr/>
          <p:nvPr/>
        </p:nvSpPr>
        <p:spPr>
          <a:xfrm>
            <a:off x="1479550" y="7418458"/>
            <a:ext cx="3519106" cy="392410"/>
          </a:xfrm>
          <a:prstGeom prst="rect">
            <a:avLst/>
          </a:prstGeom>
          <a:noFill/>
          <a:ln/>
        </p:spPr>
        <p:txBody>
          <a:bodyPr wrap="square" lIns="25400" tIns="25400" rIns="25400" bIns="25400" rtlCol="0" anchor="t">
            <a:normAutofit/>
          </a:bodyPr>
          <a:lstStyle/>
          <a:p>
            <a:pPr algn="l" indent="0" marL="0">
              <a:lnSpc>
                <a:spcPct val="136098"/>
              </a:lnSpc>
              <a:buNone/>
            </a:pPr>
            <a:r>
              <a:rPr lang="en-US" sz="1800" dirty="0">
                <a:solidFill>
                  <a:srgbClr val="8EA0B5">
                    <a:alpha val="99000"/>
                  </a:srgbClr>
                </a:solidFill>
                <a:latin typeface="Courier New" pitchFamily="34" charset="0"/>
                <a:ea typeface="Courier New" pitchFamily="34" charset="-122"/>
                <a:cs typeface="Courier New" pitchFamily="34" charset="-120"/>
              </a:rPr>
              <a:t>Personal</a:t>
            </a:r>
            <a:endParaRPr lang="en-US" sz="1800" dirty="0"/>
          </a:p>
        </p:txBody>
      </p:sp>
      <p:sp>
        <p:nvSpPr>
          <p:cNvPr id="39" name="Text 37"/>
          <p:cNvSpPr/>
          <p:nvPr/>
        </p:nvSpPr>
        <p:spPr>
          <a:xfrm>
            <a:off x="1479550" y="7925167"/>
            <a:ext cx="3519106" cy="392410"/>
          </a:xfrm>
          <a:prstGeom prst="rect">
            <a:avLst/>
          </a:prstGeom>
          <a:noFill/>
          <a:ln/>
        </p:spPr>
        <p:txBody>
          <a:bodyPr wrap="square" lIns="25400" tIns="25400" rIns="25400" bIns="25400" rtlCol="0" anchor="t">
            <a:normAutofit/>
          </a:bodyPr>
          <a:lstStyle/>
          <a:p>
            <a:pPr algn="l" indent="0" marL="0">
              <a:lnSpc>
                <a:spcPct val="136098"/>
              </a:lnSpc>
              <a:buNone/>
            </a:pPr>
            <a:r>
              <a:rPr lang="en-US" sz="1800" dirty="0">
                <a:solidFill>
                  <a:srgbClr val="EEF3F9">
                    <a:alpha val="99000"/>
                  </a:srgbClr>
                </a:solidFill>
                <a:latin typeface="Courier New" pitchFamily="34" charset="0"/>
                <a:ea typeface="Courier New" pitchFamily="34" charset="-122"/>
                <a:cs typeface="Courier New" pitchFamily="34" charset="-120"/>
              </a:rPr>
              <a:t>Name · Age</a:t>
            </a:r>
            <a:endParaRPr lang="en-US" sz="1800" dirty="0"/>
          </a:p>
        </p:txBody>
      </p:sp>
      <p:sp>
        <p:nvSpPr>
          <p:cNvPr id="40" name="Shape 38"/>
          <p:cNvSpPr/>
          <p:nvPr/>
        </p:nvSpPr>
        <p:spPr>
          <a:xfrm>
            <a:off x="5105400" y="7335907"/>
            <a:ext cx="3651250" cy="1026120"/>
          </a:xfrm>
          <a:prstGeom prst="roundRect">
            <a:avLst>
              <a:gd name="adj" fmla="val 7426"/>
            </a:avLst>
          </a:prstGeom>
          <a:ln w="6350">
            <a:solidFill>
              <a:srgbClr val="FFFFFF">
                <a:alpha val="10000"/>
              </a:srgbClr>
            </a:solidFill>
            <a:prstDash val="solid"/>
          </a:ln>
        </p:spPr>
      </p:sp>
      <p:sp>
        <p:nvSpPr>
          <p:cNvPr id="41" name="Shape 39"/>
          <p:cNvSpPr/>
          <p:nvPr/>
        </p:nvSpPr>
        <p:spPr>
          <a:xfrm>
            <a:off x="5111750" y="7342258"/>
            <a:ext cx="3638550" cy="506710"/>
          </a:xfrm>
          <a:prstGeom prst="rect">
            <a:avLst/>
          </a:prstGeom>
          <a:solidFill>
            <a:srgbClr val="FFFFFF">
              <a:alpha val="6000"/>
            </a:srgbClr>
          </a:solidFill>
          <a:ln/>
        </p:spPr>
      </p:sp>
      <p:sp>
        <p:nvSpPr>
          <p:cNvPr id="42" name="Text 40"/>
          <p:cNvSpPr/>
          <p:nvPr/>
        </p:nvSpPr>
        <p:spPr>
          <a:xfrm>
            <a:off x="5226050" y="7418458"/>
            <a:ext cx="3519106" cy="392410"/>
          </a:xfrm>
          <a:prstGeom prst="rect">
            <a:avLst/>
          </a:prstGeom>
          <a:noFill/>
          <a:ln/>
        </p:spPr>
        <p:txBody>
          <a:bodyPr wrap="square" lIns="25400" tIns="25400" rIns="25400" bIns="25400" rtlCol="0" anchor="t">
            <a:normAutofit/>
          </a:bodyPr>
          <a:lstStyle/>
          <a:p>
            <a:pPr algn="l" indent="0" marL="0">
              <a:lnSpc>
                <a:spcPct val="136098"/>
              </a:lnSpc>
              <a:buNone/>
            </a:pPr>
            <a:r>
              <a:rPr lang="en-US" sz="1800" dirty="0">
                <a:solidFill>
                  <a:srgbClr val="8EA0B5">
                    <a:alpha val="99000"/>
                  </a:srgbClr>
                </a:solidFill>
                <a:latin typeface="Courier New" pitchFamily="34" charset="0"/>
                <a:ea typeface="Courier New" pitchFamily="34" charset="-122"/>
                <a:cs typeface="Courier New" pitchFamily="34" charset="-120"/>
              </a:rPr>
              <a:t>Grades</a:t>
            </a:r>
            <a:endParaRPr lang="en-US" sz="1800" dirty="0"/>
          </a:p>
        </p:txBody>
      </p:sp>
      <p:sp>
        <p:nvSpPr>
          <p:cNvPr id="43" name="Text 41"/>
          <p:cNvSpPr/>
          <p:nvPr/>
        </p:nvSpPr>
        <p:spPr>
          <a:xfrm>
            <a:off x="5226050" y="7925167"/>
            <a:ext cx="3519106" cy="392410"/>
          </a:xfrm>
          <a:prstGeom prst="rect">
            <a:avLst/>
          </a:prstGeom>
          <a:noFill/>
          <a:ln/>
        </p:spPr>
        <p:txBody>
          <a:bodyPr wrap="square" lIns="25400" tIns="25400" rIns="25400" bIns="25400" rtlCol="0" anchor="t">
            <a:normAutofit/>
          </a:bodyPr>
          <a:lstStyle/>
          <a:p>
            <a:pPr algn="l" indent="0" marL="0">
              <a:lnSpc>
                <a:spcPct val="136098"/>
              </a:lnSpc>
              <a:buNone/>
            </a:pPr>
            <a:r>
              <a:rPr lang="en-US" sz="1800" dirty="0">
                <a:solidFill>
                  <a:srgbClr val="EEF3F9">
                    <a:alpha val="99000"/>
                  </a:srgbClr>
                </a:solidFill>
                <a:latin typeface="Courier New" pitchFamily="34" charset="0"/>
                <a:ea typeface="Courier New" pitchFamily="34" charset="-122"/>
                <a:cs typeface="Courier New" pitchFamily="34" charset="-120"/>
              </a:rPr>
              <a:t>Math · Physics</a:t>
            </a:r>
            <a:endParaRPr lang="en-US" sz="1800" dirty="0"/>
          </a:p>
        </p:txBody>
      </p:sp>
      <p:sp>
        <p:nvSpPr>
          <p:cNvPr id="44" name="Text 42"/>
          <p:cNvSpPr/>
          <p:nvPr/>
        </p:nvSpPr>
        <p:spPr>
          <a:xfrm>
            <a:off x="1358900" y="8457278"/>
            <a:ext cx="8137525" cy="392410"/>
          </a:xfrm>
          <a:prstGeom prst="rect">
            <a:avLst/>
          </a:prstGeom>
          <a:noFill/>
          <a:ln/>
        </p:spPr>
        <p:txBody>
          <a:bodyPr wrap="square" lIns="25400" tIns="25400" rIns="25400" bIns="25400" rtlCol="0" anchor="t">
            <a:normAutofit/>
          </a:bodyPr>
          <a:lstStyle/>
          <a:p>
            <a:pPr algn="l" indent="0" marL="0">
              <a:lnSpc>
                <a:spcPct val="136098"/>
              </a:lnSpc>
              <a:buNone/>
            </a:pPr>
            <a:r>
              <a:rPr lang="en-US" sz="1800" dirty="0">
                <a:solidFill>
                  <a:srgbClr val="8EA0B5">
                    <a:alpha val="99000"/>
                  </a:srgbClr>
                </a:solidFill>
                <a:latin typeface="Courier New" pitchFamily="34" charset="0"/>
                <a:ea typeface="Courier New" pitchFamily="34" charset="-122"/>
                <a:cs typeface="Courier New" pitchFamily="34" charset="-120"/>
              </a:rPr>
              <a:t>familles de colonnes</a:t>
            </a:r>
            <a:endParaRPr lang="en-US" sz="1800" dirty="0"/>
          </a:p>
        </p:txBody>
      </p:sp>
      <p:sp>
        <p:nvSpPr>
          <p:cNvPr id="45" name="Shape 43"/>
          <p:cNvSpPr/>
          <p:nvPr/>
        </p:nvSpPr>
        <p:spPr>
          <a:xfrm>
            <a:off x="9239250" y="6156258"/>
            <a:ext cx="7981950" cy="3322141"/>
          </a:xfrm>
          <a:prstGeom prst="roundRect">
            <a:avLst>
              <a:gd name="adj" fmla="val 4587"/>
            </a:avLst>
          </a:prstGeom>
          <a:solidFill>
            <a:srgbClr val="FFFFFF">
              <a:alpha val="3000"/>
            </a:srgbClr>
          </a:solidFill>
          <a:ln w="6350">
            <a:solidFill>
              <a:srgbClr val="FFFFFF">
                <a:alpha val="10000"/>
              </a:srgbClr>
            </a:solidFill>
            <a:prstDash val="solid"/>
          </a:ln>
        </p:spPr>
      </p:sp>
      <p:sp>
        <p:nvSpPr>
          <p:cNvPr id="46" name="Text 44"/>
          <p:cNvSpPr/>
          <p:nvPr/>
        </p:nvSpPr>
        <p:spPr>
          <a:xfrm>
            <a:off x="9531350" y="6410258"/>
            <a:ext cx="2103795" cy="342900"/>
          </a:xfrm>
          <a:prstGeom prst="rect">
            <a:avLst/>
          </a:prstGeom>
          <a:noFill/>
          <a:ln/>
        </p:spPr>
        <p:txBody>
          <a:bodyPr wrap="square" lIns="25400" tIns="25400" rIns="25400" bIns="25400" rtlCol="0" anchor="t">
            <a:normAutofit/>
          </a:bodyPr>
          <a:lstStyle/>
          <a:p>
            <a:pPr algn="l" indent="0" marL="0">
              <a:buNone/>
            </a:pPr>
            <a:r>
              <a:rPr lang="en-US" sz="2100" b="1" dirty="0">
                <a:solidFill>
                  <a:srgbClr val="EEF3F9">
                    <a:alpha val="96000"/>
                  </a:srgbClr>
                </a:solidFill>
                <a:latin typeface="Arial" pitchFamily="34" charset="0"/>
                <a:ea typeface="Arial" pitchFamily="34" charset="-122"/>
                <a:cs typeface="Arial" pitchFamily="34" charset="-120"/>
              </a:rPr>
              <a:t>Orienté graphes</a:t>
            </a:r>
            <a:endParaRPr lang="en-US" sz="2100" dirty="0"/>
          </a:p>
        </p:txBody>
      </p:sp>
      <p:sp>
        <p:nvSpPr>
          <p:cNvPr id="47" name="Text 45"/>
          <p:cNvSpPr/>
          <p:nvPr/>
        </p:nvSpPr>
        <p:spPr>
          <a:xfrm>
            <a:off x="16243300" y="6416608"/>
            <a:ext cx="7620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B897F0">
                    <a:alpha val="96000"/>
                  </a:srgbClr>
                </a:solidFill>
                <a:latin typeface="Courier New" pitchFamily="34" charset="0"/>
                <a:ea typeface="Courier New" pitchFamily="34" charset="-122"/>
                <a:cs typeface="Courier New" pitchFamily="34" charset="-120"/>
              </a:rPr>
              <a:t>Neo4j</a:t>
            </a:r>
            <a:endParaRPr lang="en-US" sz="1800" dirty="0"/>
          </a:p>
        </p:txBody>
      </p:sp>
      <p:sp>
        <p:nvSpPr>
          <p:cNvPr id="48" name="Shape 46"/>
          <p:cNvSpPr/>
          <p:nvPr/>
        </p:nvSpPr>
        <p:spPr>
          <a:xfrm>
            <a:off x="12658626" y="6887004"/>
            <a:ext cx="1143000" cy="495300"/>
          </a:xfrm>
          <a:prstGeom prst="roundRect">
            <a:avLst>
              <a:gd name="adj" fmla="val 50000"/>
            </a:avLst>
          </a:prstGeom>
          <a:ln w="19050">
            <a:solidFill>
              <a:srgbClr val="B897F0">
                <a:alpha val="96000"/>
              </a:srgbClr>
            </a:solidFill>
            <a:prstDash val="solid"/>
          </a:ln>
        </p:spPr>
      </p:sp>
      <p:sp>
        <p:nvSpPr>
          <p:cNvPr id="49" name="Text 47"/>
          <p:cNvSpPr/>
          <p:nvPr/>
        </p:nvSpPr>
        <p:spPr>
          <a:xfrm>
            <a:off x="12887226" y="6982254"/>
            <a:ext cx="7620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EEF3F9">
                    <a:alpha val="96000"/>
                  </a:srgbClr>
                </a:solidFill>
                <a:latin typeface="Courier New" pitchFamily="34" charset="0"/>
                <a:ea typeface="Courier New" pitchFamily="34" charset="-122"/>
                <a:cs typeface="Courier New" pitchFamily="34" charset="-120"/>
              </a:rPr>
              <a:t>Alice</a:t>
            </a:r>
            <a:endParaRPr lang="en-US" sz="1800" dirty="0"/>
          </a:p>
        </p:txBody>
      </p:sp>
      <p:sp>
        <p:nvSpPr>
          <p:cNvPr id="50" name="Text 48"/>
          <p:cNvSpPr/>
          <p:nvPr/>
        </p:nvSpPr>
        <p:spPr>
          <a:xfrm>
            <a:off x="12687201" y="7439454"/>
            <a:ext cx="116205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alpha val="96000"/>
                  </a:srgbClr>
                </a:solidFill>
                <a:latin typeface="Courier New" pitchFamily="34" charset="0"/>
                <a:ea typeface="Courier New" pitchFamily="34" charset="-122"/>
                <a:cs typeface="Courier New" pitchFamily="34" charset="-120"/>
              </a:rPr>
              <a:t>│ FRIEND</a:t>
            </a:r>
            <a:endParaRPr lang="en-US" sz="1800" dirty="0"/>
          </a:p>
        </p:txBody>
      </p:sp>
      <p:sp>
        <p:nvSpPr>
          <p:cNvPr id="51" name="Shape 49"/>
          <p:cNvSpPr/>
          <p:nvPr/>
        </p:nvSpPr>
        <p:spPr>
          <a:xfrm>
            <a:off x="12795747" y="7801404"/>
            <a:ext cx="868759" cy="495300"/>
          </a:xfrm>
          <a:prstGeom prst="roundRect">
            <a:avLst>
              <a:gd name="adj" fmla="val 50000"/>
            </a:avLst>
          </a:prstGeom>
          <a:ln w="19050">
            <a:solidFill>
              <a:srgbClr val="B897F0">
                <a:alpha val="96000"/>
              </a:srgbClr>
            </a:solidFill>
            <a:prstDash val="solid"/>
          </a:ln>
        </p:spPr>
      </p:sp>
      <p:sp>
        <p:nvSpPr>
          <p:cNvPr id="52" name="Text 50"/>
          <p:cNvSpPr/>
          <p:nvPr/>
        </p:nvSpPr>
        <p:spPr>
          <a:xfrm>
            <a:off x="13024347" y="7896654"/>
            <a:ext cx="48775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EEF3F9">
                    <a:alpha val="96000"/>
                  </a:srgbClr>
                </a:solidFill>
                <a:latin typeface="Courier New" pitchFamily="34" charset="0"/>
                <a:ea typeface="Courier New" pitchFamily="34" charset="-122"/>
                <a:cs typeface="Courier New" pitchFamily="34" charset="-120"/>
              </a:rPr>
              <a:t>Bob</a:t>
            </a:r>
            <a:endParaRPr lang="en-US" sz="1800" dirty="0"/>
          </a:p>
        </p:txBody>
      </p:sp>
      <p:sp>
        <p:nvSpPr>
          <p:cNvPr id="53" name="Text 51"/>
          <p:cNvSpPr/>
          <p:nvPr/>
        </p:nvSpPr>
        <p:spPr>
          <a:xfrm>
            <a:off x="12550080" y="8353854"/>
            <a:ext cx="149620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alpha val="96000"/>
                  </a:srgbClr>
                </a:solidFill>
                <a:latin typeface="Courier New" pitchFamily="34" charset="0"/>
                <a:ea typeface="Courier New" pitchFamily="34" charset="-122"/>
                <a:cs typeface="Courier New" pitchFamily="34" charset="-120"/>
              </a:rPr>
              <a:t>│ WORKS_AT</a:t>
            </a:r>
            <a:endParaRPr lang="en-US" sz="1800" dirty="0"/>
          </a:p>
        </p:txBody>
      </p:sp>
      <p:sp>
        <p:nvSpPr>
          <p:cNvPr id="54" name="Shape 52"/>
          <p:cNvSpPr/>
          <p:nvPr/>
        </p:nvSpPr>
        <p:spPr>
          <a:xfrm>
            <a:off x="12521505" y="8715804"/>
            <a:ext cx="1417340" cy="495300"/>
          </a:xfrm>
          <a:prstGeom prst="roundRect">
            <a:avLst>
              <a:gd name="adj" fmla="val 50000"/>
            </a:avLst>
          </a:prstGeom>
          <a:ln w="19050">
            <a:solidFill>
              <a:srgbClr val="8EA0B5">
                <a:alpha val="96000"/>
              </a:srgbClr>
            </a:solidFill>
            <a:prstDash val="solid"/>
          </a:ln>
        </p:spPr>
      </p:sp>
      <p:sp>
        <p:nvSpPr>
          <p:cNvPr id="55" name="Text 53"/>
          <p:cNvSpPr/>
          <p:nvPr/>
        </p:nvSpPr>
        <p:spPr>
          <a:xfrm>
            <a:off x="12750105" y="8811054"/>
            <a:ext cx="103634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alpha val="96000"/>
                  </a:srgbClr>
                </a:solidFill>
                <a:latin typeface="Courier New" pitchFamily="34" charset="0"/>
                <a:ea typeface="Courier New" pitchFamily="34" charset="-122"/>
                <a:cs typeface="Courier New" pitchFamily="34" charset="-120"/>
              </a:rPr>
              <a:t>Company</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C121C"/>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B897F0">
                    <a:alpha val="96000"/>
                  </a:srgbClr>
                </a:solidFill>
                <a:latin typeface="Courier New" pitchFamily="34" charset="0"/>
                <a:ea typeface="Courier New" pitchFamily="34" charset="-122"/>
                <a:cs typeface="Courier New" pitchFamily="34" charset="-120"/>
              </a:rPr>
              <a:t>ATELIER 02 · MONGODB</a:t>
            </a:r>
            <a:endParaRPr lang="en-US" sz="1800" dirty="0"/>
          </a:p>
        </p:txBody>
      </p:sp>
      <p:sp>
        <p:nvSpPr>
          <p:cNvPr id="3" name="Text 1"/>
          <p:cNvSpPr/>
          <p:nvPr/>
        </p:nvSpPr>
        <p:spPr>
          <a:xfrm>
            <a:off x="1066800" y="1314498"/>
            <a:ext cx="9079236" cy="1305917"/>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MongoDB, une base orientée documents</a:t>
            </a:r>
            <a:endParaRPr lang="en-US" sz="4800" dirty="0"/>
          </a:p>
        </p:txBody>
      </p:sp>
      <p:sp>
        <p:nvSpPr>
          <p:cNvPr id="4" name="Text 2"/>
          <p:cNvSpPr/>
          <p:nvPr/>
        </p:nvSpPr>
        <p:spPr>
          <a:xfrm>
            <a:off x="1066800" y="4745185"/>
            <a:ext cx="299045" cy="393700"/>
          </a:xfrm>
          <a:prstGeom prst="rect">
            <a:avLst/>
          </a:prstGeom>
          <a:noFill/>
          <a:ln/>
        </p:spPr>
        <p:txBody>
          <a:bodyPr wrap="square" lIns="25400" tIns="25400" rIns="25400" bIns="25400" rtlCol="0" anchor="t">
            <a:normAutofit/>
          </a:bodyPr>
          <a:lstStyle/>
          <a:p>
            <a:pPr algn="l" indent="0" marL="0">
              <a:buNone/>
            </a:pPr>
            <a:r>
              <a:rPr lang="en-US" sz="2100" dirty="0">
                <a:solidFill>
                  <a:srgbClr val="B897F0"/>
                </a:solidFill>
                <a:latin typeface="Arial" pitchFamily="34" charset="0"/>
                <a:ea typeface="Arial" pitchFamily="34" charset="-122"/>
                <a:cs typeface="Arial" pitchFamily="34" charset="-120"/>
              </a:rPr>
              <a:t>▸</a:t>
            </a:r>
            <a:endParaRPr lang="en-US" sz="2100" dirty="0"/>
          </a:p>
        </p:txBody>
      </p:sp>
      <p:sp>
        <p:nvSpPr>
          <p:cNvPr id="5" name="Text 3"/>
          <p:cNvSpPr/>
          <p:nvPr/>
        </p:nvSpPr>
        <p:spPr>
          <a:xfrm>
            <a:off x="1461095" y="4745185"/>
            <a:ext cx="7686008" cy="891381"/>
          </a:xfrm>
          <a:prstGeom prst="rect">
            <a:avLst/>
          </a:prstGeom>
          <a:noFill/>
          <a:ln/>
        </p:spPr>
        <p:txBody>
          <a:bodyPr wrap="square" lIns="25400" tIns="25400" rIns="25400" bIns="25400" rtlCol="0" anchor="t">
            <a:normAutofit/>
          </a:bodyPr>
          <a:lstStyle/>
          <a:p>
            <a:pPr algn="l" indent="0" marL="0">
              <a:lnSpc>
                <a:spcPct val="122182"/>
              </a:lnSpc>
              <a:buNone/>
            </a:pPr>
            <a:r>
              <a:rPr lang="en-US" sz="2400" dirty="0">
                <a:solidFill>
                  <a:srgbClr val="EEF3F9"/>
                </a:solidFill>
                <a:latin typeface="Arial" pitchFamily="34" charset="0"/>
                <a:ea typeface="Arial" pitchFamily="34" charset="-122"/>
                <a:cs typeface="Arial" pitchFamily="34" charset="-120"/>
              </a:rPr>
              <a:t>Aucun schéma fixe : deux documents d'une même collection peuvent différer</a:t>
            </a:r>
            <a:endParaRPr lang="en-US" sz="2400" dirty="0"/>
          </a:p>
        </p:txBody>
      </p:sp>
      <p:sp>
        <p:nvSpPr>
          <p:cNvPr id="6" name="Text 4"/>
          <p:cNvSpPr/>
          <p:nvPr/>
        </p:nvSpPr>
        <p:spPr>
          <a:xfrm>
            <a:off x="1066800" y="5808016"/>
            <a:ext cx="299045" cy="393700"/>
          </a:xfrm>
          <a:prstGeom prst="rect">
            <a:avLst/>
          </a:prstGeom>
          <a:noFill/>
          <a:ln/>
        </p:spPr>
        <p:txBody>
          <a:bodyPr wrap="square" lIns="25400" tIns="25400" rIns="25400" bIns="25400" rtlCol="0" anchor="t">
            <a:normAutofit/>
          </a:bodyPr>
          <a:lstStyle/>
          <a:p>
            <a:pPr algn="l" indent="0" marL="0">
              <a:buNone/>
            </a:pPr>
            <a:r>
              <a:rPr lang="en-US" sz="2100" dirty="0">
                <a:solidFill>
                  <a:srgbClr val="B897F0"/>
                </a:solidFill>
                <a:latin typeface="Arial" pitchFamily="34" charset="0"/>
                <a:ea typeface="Arial" pitchFamily="34" charset="-122"/>
                <a:cs typeface="Arial" pitchFamily="34" charset="-120"/>
              </a:rPr>
              <a:t>▸</a:t>
            </a:r>
            <a:endParaRPr lang="en-US" sz="2100" dirty="0"/>
          </a:p>
        </p:txBody>
      </p:sp>
      <p:sp>
        <p:nvSpPr>
          <p:cNvPr id="7" name="Text 5"/>
          <p:cNvSpPr/>
          <p:nvPr/>
        </p:nvSpPr>
        <p:spPr>
          <a:xfrm>
            <a:off x="1461095" y="5808016"/>
            <a:ext cx="7686008" cy="891381"/>
          </a:xfrm>
          <a:prstGeom prst="rect">
            <a:avLst/>
          </a:prstGeom>
          <a:noFill/>
          <a:ln/>
        </p:spPr>
        <p:txBody>
          <a:bodyPr wrap="square" lIns="25400" tIns="25400" rIns="25400" bIns="25400" rtlCol="0" anchor="t">
            <a:normAutofit/>
          </a:bodyPr>
          <a:lstStyle/>
          <a:p>
            <a:pPr algn="l" indent="0" marL="0">
              <a:lnSpc>
                <a:spcPct val="122182"/>
              </a:lnSpc>
              <a:buNone/>
            </a:pPr>
            <a:r>
              <a:rPr lang="en-US" sz="2400" dirty="0">
                <a:solidFill>
                  <a:srgbClr val="EEF3F9"/>
                </a:solidFill>
                <a:latin typeface="Arial" pitchFamily="34" charset="0"/>
                <a:ea typeface="Arial" pitchFamily="34" charset="-122"/>
                <a:cs typeface="Arial" pitchFamily="34" charset="-120"/>
              </a:rPr>
              <a:t>Structures imbriquées (sous-documents, tableaux) sans jointure</a:t>
            </a:r>
            <a:endParaRPr lang="en-US" sz="2400" dirty="0"/>
          </a:p>
        </p:txBody>
      </p:sp>
      <p:sp>
        <p:nvSpPr>
          <p:cNvPr id="8" name="Text 6"/>
          <p:cNvSpPr/>
          <p:nvPr/>
        </p:nvSpPr>
        <p:spPr>
          <a:xfrm>
            <a:off x="1066800" y="6870847"/>
            <a:ext cx="299045" cy="393700"/>
          </a:xfrm>
          <a:prstGeom prst="rect">
            <a:avLst/>
          </a:prstGeom>
          <a:noFill/>
          <a:ln/>
        </p:spPr>
        <p:txBody>
          <a:bodyPr wrap="square" lIns="25400" tIns="25400" rIns="25400" bIns="25400" rtlCol="0" anchor="t">
            <a:normAutofit/>
          </a:bodyPr>
          <a:lstStyle/>
          <a:p>
            <a:pPr algn="l" indent="0" marL="0">
              <a:buNone/>
            </a:pPr>
            <a:r>
              <a:rPr lang="en-US" sz="2100" dirty="0">
                <a:solidFill>
                  <a:srgbClr val="B897F0"/>
                </a:solidFill>
                <a:latin typeface="Arial" pitchFamily="34" charset="0"/>
                <a:ea typeface="Arial" pitchFamily="34" charset="-122"/>
                <a:cs typeface="Arial" pitchFamily="34" charset="-120"/>
              </a:rPr>
              <a:t>▸</a:t>
            </a:r>
            <a:endParaRPr lang="en-US" sz="2100" dirty="0"/>
          </a:p>
        </p:txBody>
      </p:sp>
      <p:sp>
        <p:nvSpPr>
          <p:cNvPr id="9" name="Text 7"/>
          <p:cNvSpPr/>
          <p:nvPr/>
        </p:nvSpPr>
        <p:spPr>
          <a:xfrm>
            <a:off x="1461095" y="6870847"/>
            <a:ext cx="7686008" cy="891381"/>
          </a:xfrm>
          <a:prstGeom prst="rect">
            <a:avLst/>
          </a:prstGeom>
          <a:noFill/>
          <a:ln/>
        </p:spPr>
        <p:txBody>
          <a:bodyPr wrap="square" lIns="25400" tIns="25400" rIns="25400" bIns="25400" rtlCol="0" anchor="t">
            <a:normAutofit/>
          </a:bodyPr>
          <a:lstStyle/>
          <a:p>
            <a:pPr algn="l" indent="0" marL="0">
              <a:lnSpc>
                <a:spcPct val="122182"/>
              </a:lnSpc>
              <a:buNone/>
            </a:pPr>
            <a:r>
              <a:rPr lang="en-US" sz="2400" dirty="0">
                <a:solidFill>
                  <a:srgbClr val="EEF3F9"/>
                </a:solidFill>
                <a:latin typeface="Arial" pitchFamily="34" charset="0"/>
                <a:ea typeface="Arial" pitchFamily="34" charset="-122"/>
                <a:cs typeface="Arial" pitchFamily="34" charset="-120"/>
              </a:rPr>
              <a:t>Une syntaxe de requête proche de JSON, facile à prendre en main</a:t>
            </a:r>
            <a:endParaRPr lang="en-US" sz="2400" dirty="0"/>
          </a:p>
        </p:txBody>
      </p:sp>
      <p:sp>
        <p:nvSpPr>
          <p:cNvPr id="10" name="Shape 8"/>
          <p:cNvSpPr/>
          <p:nvPr/>
        </p:nvSpPr>
        <p:spPr>
          <a:xfrm>
            <a:off x="9304238" y="3005222"/>
            <a:ext cx="7916962" cy="6466483"/>
          </a:xfrm>
          <a:prstGeom prst="roundRect">
            <a:avLst>
              <a:gd name="adj" fmla="val 2651"/>
            </a:avLst>
          </a:prstGeom>
          <a:solidFill>
            <a:srgbClr val="FFFFFF">
              <a:alpha val="3000"/>
            </a:srgbClr>
          </a:solidFill>
          <a:ln w="6350">
            <a:solidFill>
              <a:srgbClr val="FFFFFF">
                <a:alpha val="10000"/>
              </a:srgbClr>
            </a:solidFill>
            <a:prstDash val="solid"/>
          </a:ln>
        </p:spPr>
      </p:sp>
      <p:sp>
        <p:nvSpPr>
          <p:cNvPr id="11" name="Shape 9"/>
          <p:cNvSpPr/>
          <p:nvPr/>
        </p:nvSpPr>
        <p:spPr>
          <a:xfrm>
            <a:off x="9691589" y="5114513"/>
            <a:ext cx="7142262" cy="9525"/>
          </a:xfrm>
          <a:prstGeom prst="rect">
            <a:avLst/>
          </a:prstGeom>
          <a:solidFill>
            <a:srgbClr val="FFFFFF">
              <a:alpha val="10000"/>
            </a:srgbClr>
          </a:solidFill>
          <a:ln/>
        </p:spPr>
      </p:sp>
      <p:sp>
        <p:nvSpPr>
          <p:cNvPr id="12" name="Text 10"/>
          <p:cNvSpPr/>
          <p:nvPr/>
        </p:nvSpPr>
        <p:spPr>
          <a:xfrm>
            <a:off x="9691589" y="4600163"/>
            <a:ext cx="48775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FB46E">
                    <a:alpha val="99000"/>
                  </a:srgbClr>
                </a:solidFill>
                <a:latin typeface="Courier New" pitchFamily="34" charset="0"/>
                <a:ea typeface="Courier New" pitchFamily="34" charset="-122"/>
                <a:cs typeface="Courier New" pitchFamily="34" charset="-120"/>
              </a:rPr>
              <a:t>SQL</a:t>
            </a:r>
            <a:endParaRPr lang="en-US" sz="1800" dirty="0"/>
          </a:p>
        </p:txBody>
      </p:sp>
      <p:sp>
        <p:nvSpPr>
          <p:cNvPr id="13" name="Text 11"/>
          <p:cNvSpPr/>
          <p:nvPr/>
        </p:nvSpPr>
        <p:spPr>
          <a:xfrm>
            <a:off x="15873710" y="4600163"/>
            <a:ext cx="103634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B897F0">
                    <a:alpha val="99000"/>
                  </a:srgbClr>
                </a:solidFill>
                <a:latin typeface="Courier New" pitchFamily="34" charset="0"/>
                <a:ea typeface="Courier New" pitchFamily="34" charset="-122"/>
                <a:cs typeface="Courier New" pitchFamily="34" charset="-120"/>
              </a:rPr>
              <a:t>MongoDB</a:t>
            </a:r>
            <a:endParaRPr lang="en-US" sz="1800" dirty="0"/>
          </a:p>
        </p:txBody>
      </p:sp>
      <p:sp>
        <p:nvSpPr>
          <p:cNvPr id="14" name="Shape 12"/>
          <p:cNvSpPr/>
          <p:nvPr/>
        </p:nvSpPr>
        <p:spPr>
          <a:xfrm>
            <a:off x="9691589" y="5838413"/>
            <a:ext cx="7142262" cy="9525"/>
          </a:xfrm>
          <a:prstGeom prst="rect">
            <a:avLst/>
          </a:prstGeom>
          <a:solidFill>
            <a:srgbClr val="FFFFFF">
              <a:alpha val="6000"/>
            </a:srgbClr>
          </a:solidFill>
          <a:ln/>
        </p:spPr>
      </p:sp>
      <p:sp>
        <p:nvSpPr>
          <p:cNvPr id="15" name="Text 13"/>
          <p:cNvSpPr/>
          <p:nvPr/>
        </p:nvSpPr>
        <p:spPr>
          <a:xfrm>
            <a:off x="9691589" y="5311363"/>
            <a:ext cx="702965" cy="374650"/>
          </a:xfrm>
          <a:prstGeom prst="rect">
            <a:avLst/>
          </a:prstGeom>
          <a:noFill/>
          <a:ln/>
        </p:spPr>
        <p:txBody>
          <a:bodyPr wrap="square" lIns="25400" tIns="25400" rIns="25400" bIns="25400" rtlCol="0" anchor="t">
            <a:normAutofit/>
          </a:bodyPr>
          <a:lstStyle/>
          <a:p>
            <a:pPr algn="l" indent="0" marL="0">
              <a:buNone/>
            </a:pPr>
            <a:r>
              <a:rPr lang="en-US" sz="2025" dirty="0">
                <a:solidFill>
                  <a:srgbClr val="8EA0B5">
                    <a:alpha val="99000"/>
                  </a:srgbClr>
                </a:solidFill>
                <a:latin typeface="Arial" pitchFamily="34" charset="0"/>
                <a:ea typeface="Arial" pitchFamily="34" charset="-122"/>
                <a:cs typeface="Arial" pitchFamily="34" charset="-120"/>
              </a:rPr>
              <a:t>Table</a:t>
            </a:r>
            <a:endParaRPr lang="en-US" sz="2025" dirty="0"/>
          </a:p>
        </p:txBody>
      </p:sp>
      <p:sp>
        <p:nvSpPr>
          <p:cNvPr id="16" name="Text 14"/>
          <p:cNvSpPr/>
          <p:nvPr/>
        </p:nvSpPr>
        <p:spPr>
          <a:xfrm>
            <a:off x="15290800" y="5311363"/>
            <a:ext cx="1697355" cy="374650"/>
          </a:xfrm>
          <a:prstGeom prst="rect">
            <a:avLst/>
          </a:prstGeom>
          <a:noFill/>
          <a:ln/>
        </p:spPr>
        <p:txBody>
          <a:bodyPr wrap="square" lIns="25400" tIns="25400" rIns="25400" bIns="25400" rtlCol="0" anchor="t">
            <a:normAutofit/>
          </a:bodyPr>
          <a:lstStyle/>
          <a:p>
            <a:pPr algn="l" indent="0" marL="0">
              <a:buNone/>
            </a:pPr>
            <a:r>
              <a:rPr lang="en-US" sz="2025" dirty="0">
                <a:solidFill>
                  <a:srgbClr val="EEF3F9">
                    <a:alpha val="99000"/>
                  </a:srgbClr>
                </a:solidFill>
                <a:latin typeface="Courier New" pitchFamily="34" charset="0"/>
                <a:ea typeface="Courier New" pitchFamily="34" charset="-122"/>
                <a:cs typeface="Courier New" pitchFamily="34" charset="-120"/>
              </a:rPr>
              <a:t>Collection</a:t>
            </a:r>
            <a:endParaRPr lang="en-US" sz="2025" dirty="0"/>
          </a:p>
        </p:txBody>
      </p:sp>
      <p:sp>
        <p:nvSpPr>
          <p:cNvPr id="17" name="Shape 15"/>
          <p:cNvSpPr/>
          <p:nvPr/>
        </p:nvSpPr>
        <p:spPr>
          <a:xfrm>
            <a:off x="9691589" y="6562313"/>
            <a:ext cx="7142262" cy="9525"/>
          </a:xfrm>
          <a:prstGeom prst="rect">
            <a:avLst/>
          </a:prstGeom>
          <a:solidFill>
            <a:srgbClr val="FFFFFF">
              <a:alpha val="6000"/>
            </a:srgbClr>
          </a:solidFill>
          <a:ln/>
        </p:spPr>
      </p:sp>
      <p:sp>
        <p:nvSpPr>
          <p:cNvPr id="18" name="Text 16"/>
          <p:cNvSpPr/>
          <p:nvPr/>
        </p:nvSpPr>
        <p:spPr>
          <a:xfrm>
            <a:off x="9691589" y="6035263"/>
            <a:ext cx="692448" cy="374650"/>
          </a:xfrm>
          <a:prstGeom prst="rect">
            <a:avLst/>
          </a:prstGeom>
          <a:noFill/>
          <a:ln/>
        </p:spPr>
        <p:txBody>
          <a:bodyPr wrap="square" lIns="25400" tIns="25400" rIns="25400" bIns="25400" rtlCol="0" anchor="t">
            <a:normAutofit/>
          </a:bodyPr>
          <a:lstStyle/>
          <a:p>
            <a:pPr algn="l" indent="0" marL="0">
              <a:buNone/>
            </a:pPr>
            <a:r>
              <a:rPr lang="en-US" sz="2025" dirty="0">
                <a:solidFill>
                  <a:srgbClr val="8EA0B5">
                    <a:alpha val="99000"/>
                  </a:srgbClr>
                </a:solidFill>
                <a:latin typeface="Arial" pitchFamily="34" charset="0"/>
                <a:ea typeface="Arial" pitchFamily="34" charset="-122"/>
                <a:cs typeface="Arial" pitchFamily="34" charset="-120"/>
              </a:rPr>
              <a:t>Ligne</a:t>
            </a:r>
            <a:endParaRPr lang="en-US" sz="2025" dirty="0"/>
          </a:p>
        </p:txBody>
      </p:sp>
      <p:sp>
        <p:nvSpPr>
          <p:cNvPr id="19" name="Text 17"/>
          <p:cNvSpPr/>
          <p:nvPr/>
        </p:nvSpPr>
        <p:spPr>
          <a:xfrm>
            <a:off x="15599371" y="6035263"/>
            <a:ext cx="1357928" cy="374650"/>
          </a:xfrm>
          <a:prstGeom prst="rect">
            <a:avLst/>
          </a:prstGeom>
          <a:noFill/>
          <a:ln/>
        </p:spPr>
        <p:txBody>
          <a:bodyPr wrap="square" lIns="25400" tIns="25400" rIns="25400" bIns="25400" rtlCol="0" anchor="t">
            <a:normAutofit/>
          </a:bodyPr>
          <a:lstStyle/>
          <a:p>
            <a:pPr algn="l" indent="0" marL="0">
              <a:buNone/>
            </a:pPr>
            <a:r>
              <a:rPr lang="en-US" sz="2025" dirty="0">
                <a:solidFill>
                  <a:srgbClr val="EEF3F9">
                    <a:alpha val="99000"/>
                  </a:srgbClr>
                </a:solidFill>
                <a:latin typeface="Courier New" pitchFamily="34" charset="0"/>
                <a:ea typeface="Courier New" pitchFamily="34" charset="-122"/>
                <a:cs typeface="Courier New" pitchFamily="34" charset="-120"/>
              </a:rPr>
              <a:t>Document</a:t>
            </a:r>
            <a:endParaRPr lang="en-US" sz="2025" dirty="0"/>
          </a:p>
        </p:txBody>
      </p:sp>
      <p:sp>
        <p:nvSpPr>
          <p:cNvPr id="20" name="Shape 18"/>
          <p:cNvSpPr/>
          <p:nvPr/>
        </p:nvSpPr>
        <p:spPr>
          <a:xfrm>
            <a:off x="9691589" y="7286213"/>
            <a:ext cx="7142262" cy="9525"/>
          </a:xfrm>
          <a:prstGeom prst="rect">
            <a:avLst/>
          </a:prstGeom>
          <a:solidFill>
            <a:srgbClr val="FFFFFF">
              <a:alpha val="6000"/>
            </a:srgbClr>
          </a:solidFill>
          <a:ln/>
        </p:spPr>
      </p:sp>
      <p:sp>
        <p:nvSpPr>
          <p:cNvPr id="21" name="Text 19"/>
          <p:cNvSpPr/>
          <p:nvPr/>
        </p:nvSpPr>
        <p:spPr>
          <a:xfrm>
            <a:off x="9691589" y="6759163"/>
            <a:ext cx="1027311" cy="374650"/>
          </a:xfrm>
          <a:prstGeom prst="rect">
            <a:avLst/>
          </a:prstGeom>
          <a:noFill/>
          <a:ln/>
        </p:spPr>
        <p:txBody>
          <a:bodyPr wrap="square" lIns="25400" tIns="25400" rIns="25400" bIns="25400" rtlCol="0" anchor="t">
            <a:normAutofit/>
          </a:bodyPr>
          <a:lstStyle/>
          <a:p>
            <a:pPr algn="l" indent="0" marL="0">
              <a:buNone/>
            </a:pPr>
            <a:r>
              <a:rPr lang="en-US" sz="2025" dirty="0">
                <a:solidFill>
                  <a:srgbClr val="8EA0B5">
                    <a:alpha val="99000"/>
                  </a:srgbClr>
                </a:solidFill>
                <a:latin typeface="Arial" pitchFamily="34" charset="0"/>
                <a:ea typeface="Arial" pitchFamily="34" charset="-122"/>
                <a:cs typeface="Arial" pitchFamily="34" charset="-120"/>
              </a:rPr>
              <a:t>Colonne</a:t>
            </a:r>
            <a:endParaRPr lang="en-US" sz="2025" dirty="0"/>
          </a:p>
        </p:txBody>
      </p:sp>
      <p:sp>
        <p:nvSpPr>
          <p:cNvPr id="22" name="Text 20"/>
          <p:cNvSpPr/>
          <p:nvPr/>
        </p:nvSpPr>
        <p:spPr>
          <a:xfrm>
            <a:off x="14827846" y="6759163"/>
            <a:ext cx="2206605" cy="374650"/>
          </a:xfrm>
          <a:prstGeom prst="rect">
            <a:avLst/>
          </a:prstGeom>
          <a:noFill/>
          <a:ln/>
        </p:spPr>
        <p:txBody>
          <a:bodyPr wrap="square" lIns="25400" tIns="25400" rIns="25400" bIns="25400" rtlCol="0" anchor="t">
            <a:normAutofit/>
          </a:bodyPr>
          <a:lstStyle/>
          <a:p>
            <a:pPr algn="l" indent="0" marL="0">
              <a:buNone/>
            </a:pPr>
            <a:r>
              <a:rPr lang="en-US" sz="2025" dirty="0">
                <a:solidFill>
                  <a:srgbClr val="EEF3F9">
                    <a:alpha val="99000"/>
                  </a:srgbClr>
                </a:solidFill>
                <a:latin typeface="Courier New" pitchFamily="34" charset="0"/>
                <a:ea typeface="Courier New" pitchFamily="34" charset="-122"/>
                <a:cs typeface="Courier New" pitchFamily="34" charset="-120"/>
              </a:rPr>
              <a:t>Champ (field)</a:t>
            </a:r>
            <a:endParaRPr lang="en-US" sz="2025" dirty="0"/>
          </a:p>
        </p:txBody>
      </p:sp>
      <p:sp>
        <p:nvSpPr>
          <p:cNvPr id="23" name="Text 21"/>
          <p:cNvSpPr/>
          <p:nvPr/>
        </p:nvSpPr>
        <p:spPr>
          <a:xfrm>
            <a:off x="9691589" y="7483063"/>
            <a:ext cx="1539865" cy="374650"/>
          </a:xfrm>
          <a:prstGeom prst="rect">
            <a:avLst/>
          </a:prstGeom>
          <a:noFill/>
          <a:ln/>
        </p:spPr>
        <p:txBody>
          <a:bodyPr wrap="square" lIns="25400" tIns="25400" rIns="25400" bIns="25400" rtlCol="0" anchor="t">
            <a:normAutofit/>
          </a:bodyPr>
          <a:lstStyle/>
          <a:p>
            <a:pPr algn="l" indent="0" marL="0">
              <a:buNone/>
            </a:pPr>
            <a:r>
              <a:rPr lang="en-US" sz="2025" dirty="0">
                <a:solidFill>
                  <a:srgbClr val="8EA0B5">
                    <a:alpha val="99000"/>
                  </a:srgbClr>
                </a:solidFill>
                <a:latin typeface="Arial" pitchFamily="34" charset="0"/>
                <a:ea typeface="Arial" pitchFamily="34" charset="-122"/>
                <a:cs typeface="Arial" pitchFamily="34" charset="-120"/>
              </a:rPr>
              <a:t>Clé primaire</a:t>
            </a:r>
            <a:endParaRPr lang="en-US" sz="2025" dirty="0"/>
          </a:p>
        </p:txBody>
      </p:sp>
      <p:sp>
        <p:nvSpPr>
          <p:cNvPr id="24" name="Text 22"/>
          <p:cNvSpPr/>
          <p:nvPr/>
        </p:nvSpPr>
        <p:spPr>
          <a:xfrm>
            <a:off x="16370896" y="7483063"/>
            <a:ext cx="539155" cy="374650"/>
          </a:xfrm>
          <a:prstGeom prst="rect">
            <a:avLst/>
          </a:prstGeom>
          <a:noFill/>
          <a:ln/>
        </p:spPr>
        <p:txBody>
          <a:bodyPr wrap="square" lIns="25400" tIns="25400" rIns="25400" bIns="25400" rtlCol="0" anchor="t">
            <a:normAutofit/>
          </a:bodyPr>
          <a:lstStyle/>
          <a:p>
            <a:pPr algn="l" indent="0" marL="0">
              <a:buNone/>
            </a:pPr>
            <a:r>
              <a:rPr lang="en-US" sz="2025" dirty="0">
                <a:solidFill>
                  <a:srgbClr val="EEF3F9">
                    <a:alpha val="99000"/>
                  </a:srgbClr>
                </a:solidFill>
                <a:latin typeface="Courier New" pitchFamily="34" charset="0"/>
                <a:ea typeface="Courier New" pitchFamily="34" charset="-122"/>
                <a:cs typeface="Courier New" pitchFamily="34" charset="-120"/>
              </a:rPr>
              <a:t>_id</a:t>
            </a:r>
            <a:endParaRPr lang="en-US" sz="202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0E15"/>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B897F0">
                    <a:alpha val="97000"/>
                  </a:srgbClr>
                </a:solidFill>
                <a:latin typeface="Courier New" pitchFamily="34" charset="0"/>
                <a:ea typeface="Courier New" pitchFamily="34" charset="-122"/>
                <a:cs typeface="Courier New" pitchFamily="34" charset="-120"/>
              </a:rPr>
              <a:t>ATELIER 02 · ARCHITECTURE</a:t>
            </a:r>
            <a:endParaRPr lang="en-US" sz="1800" dirty="0"/>
          </a:p>
        </p:txBody>
      </p:sp>
      <p:sp>
        <p:nvSpPr>
          <p:cNvPr id="3" name="Text 1"/>
          <p:cNvSpPr/>
          <p:nvPr/>
        </p:nvSpPr>
        <p:spPr>
          <a:xfrm>
            <a:off x="1066800" y="1314450"/>
            <a:ext cx="10442138"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L'architecture d'une base MongoDB</a:t>
            </a:r>
            <a:endParaRPr lang="en-US" sz="4800" dirty="0"/>
          </a:p>
        </p:txBody>
      </p:sp>
      <p:sp>
        <p:nvSpPr>
          <p:cNvPr id="4" name="Shape 2"/>
          <p:cNvSpPr/>
          <p:nvPr/>
        </p:nvSpPr>
        <p:spPr>
          <a:xfrm>
            <a:off x="1066800" y="3764955"/>
            <a:ext cx="8235653" cy="685800"/>
          </a:xfrm>
          <a:prstGeom prst="roundRect">
            <a:avLst>
              <a:gd name="adj" fmla="val 16667"/>
            </a:avLst>
          </a:prstGeom>
          <a:gradFill rotWithShape="1">
            <a:gsLst>
              <a:gs pos="0">
                <a:srgbClr val="B996F0">
                  <a:alpha val="20000"/>
                </a:srgbClr>
              </a:gs>
              <a:gs pos="100000">
                <a:srgbClr val="FFFFFF">
                  <a:alpha val="6000"/>
                </a:srgbClr>
              </a:gs>
            </a:gsLst>
            <a:lin ang="4200000" scaled="0"/>
          </a:gradFill>
          <a:ln w="6350">
            <a:solidFill>
              <a:srgbClr val="C2A7F4">
                <a:alpha val="44000"/>
              </a:srgbClr>
            </a:solidFill>
            <a:prstDash val="solid"/>
          </a:ln>
        </p:spPr>
      </p:sp>
      <p:sp>
        <p:nvSpPr>
          <p:cNvPr id="5" name="Text 3"/>
          <p:cNvSpPr/>
          <p:nvPr/>
        </p:nvSpPr>
        <p:spPr>
          <a:xfrm>
            <a:off x="1320800" y="3942755"/>
            <a:ext cx="7974722" cy="368300"/>
          </a:xfrm>
          <a:prstGeom prst="rect">
            <a:avLst/>
          </a:prstGeom>
          <a:noFill/>
          <a:ln/>
        </p:spPr>
        <p:txBody>
          <a:bodyPr wrap="square" lIns="25400" tIns="25400" rIns="25400" bIns="25400" rtlCol="0" anchor="t">
            <a:normAutofit/>
          </a:bodyPr>
          <a:lstStyle/>
          <a:p>
            <a:pPr algn="l" indent="0" marL="0">
              <a:buNone/>
            </a:pPr>
            <a:r>
              <a:rPr lang="en-US" sz="1950" dirty="0">
                <a:solidFill>
                  <a:srgbClr val="B897F0"/>
                </a:solidFill>
                <a:latin typeface="Courier New" pitchFamily="34" charset="0"/>
                <a:ea typeface="Courier New" pitchFamily="34" charset="-122"/>
                <a:cs typeface="Courier New" pitchFamily="34" charset="-120"/>
              </a:rPr>
              <a:t>MongoDB Server</a:t>
            </a:r>
            <a:endParaRPr lang="en-US" sz="1950" dirty="0"/>
          </a:p>
        </p:txBody>
      </p:sp>
      <p:sp>
        <p:nvSpPr>
          <p:cNvPr id="6" name="Shape 4"/>
          <p:cNvSpPr/>
          <p:nvPr/>
        </p:nvSpPr>
        <p:spPr>
          <a:xfrm>
            <a:off x="1390650" y="4450755"/>
            <a:ext cx="19050" cy="209550"/>
          </a:xfrm>
          <a:prstGeom prst="rect">
            <a:avLst/>
          </a:prstGeom>
          <a:solidFill>
            <a:srgbClr val="B897F0">
              <a:alpha val="71000"/>
            </a:srgbClr>
          </a:solidFill>
          <a:ln/>
        </p:spPr>
      </p:sp>
      <p:sp>
        <p:nvSpPr>
          <p:cNvPr id="7" name="Shape 5"/>
          <p:cNvSpPr/>
          <p:nvPr/>
        </p:nvSpPr>
        <p:spPr>
          <a:xfrm>
            <a:off x="1390398" y="4660305"/>
            <a:ext cx="7911803" cy="685800"/>
          </a:xfrm>
          <a:prstGeom prst="roundRect">
            <a:avLst>
              <a:gd name="adj" fmla="val 16667"/>
            </a:avLst>
          </a:prstGeom>
          <a:solidFill>
            <a:srgbClr val="FFFFFF">
              <a:alpha val="3000"/>
            </a:srgbClr>
          </a:solidFill>
          <a:ln w="6350">
            <a:solidFill>
              <a:srgbClr val="FFFFFF">
                <a:alpha val="10000"/>
              </a:srgbClr>
            </a:solidFill>
            <a:prstDash val="solid"/>
          </a:ln>
        </p:spPr>
      </p:sp>
      <p:sp>
        <p:nvSpPr>
          <p:cNvPr id="8" name="Text 6"/>
          <p:cNvSpPr/>
          <p:nvPr/>
        </p:nvSpPr>
        <p:spPr>
          <a:xfrm>
            <a:off x="1644398" y="4838105"/>
            <a:ext cx="7641157" cy="368300"/>
          </a:xfrm>
          <a:prstGeom prst="rect">
            <a:avLst/>
          </a:prstGeom>
          <a:noFill/>
          <a:ln/>
        </p:spPr>
        <p:txBody>
          <a:bodyPr wrap="square" lIns="25400" tIns="25400" rIns="25400" bIns="25400" rtlCol="0" anchor="t">
            <a:normAutofit/>
          </a:bodyPr>
          <a:lstStyle/>
          <a:p>
            <a:pPr algn="l" indent="0" marL="0">
              <a:buNone/>
            </a:pPr>
            <a:r>
              <a:rPr lang="en-US" sz="1950" dirty="0">
                <a:solidFill>
                  <a:srgbClr val="EEF3F9"/>
                </a:solidFill>
                <a:highlight>
                  <a:srgbClr val="FFFFFF"/>
                </a:highlight>
                <a:latin typeface="Courier New" pitchFamily="34" charset="0"/>
                <a:ea typeface="Courier New" pitchFamily="34" charset="-122"/>
                <a:cs typeface="Courier New" pitchFamily="34" charset="-120"/>
              </a:rPr>
              <a:t>Database </a:t>
            </a:r>
            <a:pPr algn="l" indent="0" marL="0">
              <a:buNone/>
            </a:pPr>
            <a:r>
              <a:rPr lang="en-US" sz="1950" dirty="0">
                <a:solidFill>
                  <a:srgbClr val="8EA0B5"/>
                </a:solidFill>
                <a:latin typeface="Courier New" pitchFamily="34" charset="0"/>
                <a:ea typeface="Courier New" pitchFamily="34" charset="-122"/>
                <a:cs typeface="Courier New" pitchFamily="34" charset="-120"/>
              </a:rPr>
              <a:t>· university</a:t>
            </a:r>
            <a:endParaRPr lang="en-US" sz="1950" dirty="0"/>
          </a:p>
        </p:txBody>
      </p:sp>
      <p:sp>
        <p:nvSpPr>
          <p:cNvPr id="9" name="Shape 7"/>
          <p:cNvSpPr/>
          <p:nvPr/>
        </p:nvSpPr>
        <p:spPr>
          <a:xfrm>
            <a:off x="1714500" y="5346105"/>
            <a:ext cx="19050" cy="209550"/>
          </a:xfrm>
          <a:prstGeom prst="rect">
            <a:avLst/>
          </a:prstGeom>
          <a:solidFill>
            <a:srgbClr val="B897F0">
              <a:alpha val="71000"/>
            </a:srgbClr>
          </a:solidFill>
          <a:ln/>
        </p:spPr>
      </p:sp>
      <p:sp>
        <p:nvSpPr>
          <p:cNvPr id="10" name="Shape 8"/>
          <p:cNvSpPr/>
          <p:nvPr/>
        </p:nvSpPr>
        <p:spPr>
          <a:xfrm>
            <a:off x="1712378" y="5555655"/>
            <a:ext cx="7587953" cy="685800"/>
          </a:xfrm>
          <a:prstGeom prst="roundRect">
            <a:avLst>
              <a:gd name="adj" fmla="val 16667"/>
            </a:avLst>
          </a:prstGeom>
          <a:solidFill>
            <a:srgbClr val="FFFFFF">
              <a:alpha val="3000"/>
            </a:srgbClr>
          </a:solidFill>
          <a:ln w="6350">
            <a:solidFill>
              <a:srgbClr val="FFFFFF">
                <a:alpha val="10000"/>
              </a:srgbClr>
            </a:solidFill>
            <a:prstDash val="solid"/>
          </a:ln>
        </p:spPr>
      </p:sp>
      <p:sp>
        <p:nvSpPr>
          <p:cNvPr id="11" name="Text 9"/>
          <p:cNvSpPr/>
          <p:nvPr/>
        </p:nvSpPr>
        <p:spPr>
          <a:xfrm>
            <a:off x="1966378" y="5733455"/>
            <a:ext cx="7307591" cy="368300"/>
          </a:xfrm>
          <a:prstGeom prst="rect">
            <a:avLst/>
          </a:prstGeom>
          <a:noFill/>
          <a:ln/>
        </p:spPr>
        <p:txBody>
          <a:bodyPr wrap="square" lIns="25400" tIns="25400" rIns="25400" bIns="25400" rtlCol="0" anchor="t">
            <a:normAutofit/>
          </a:bodyPr>
          <a:lstStyle/>
          <a:p>
            <a:pPr algn="l" indent="0" marL="0">
              <a:buNone/>
            </a:pPr>
            <a:r>
              <a:rPr lang="en-US" sz="1950" dirty="0">
                <a:solidFill>
                  <a:srgbClr val="EEF3F9">
                    <a:alpha val="99000"/>
                  </a:srgbClr>
                </a:solidFill>
                <a:highlight>
                  <a:srgbClr val="FDFDFD"/>
                </a:highlight>
                <a:latin typeface="Courier New" pitchFamily="34" charset="0"/>
                <a:ea typeface="Courier New" pitchFamily="34" charset="-122"/>
                <a:cs typeface="Courier New" pitchFamily="34" charset="-120"/>
              </a:rPr>
              <a:t>Collection </a:t>
            </a:r>
            <a:pPr algn="l" indent="0" marL="0">
              <a:buNone/>
            </a:pPr>
            <a:r>
              <a:rPr lang="en-US" sz="1950" dirty="0">
                <a:solidFill>
                  <a:srgbClr val="8EA0B5">
                    <a:alpha val="99000"/>
                  </a:srgbClr>
                </a:solidFill>
                <a:latin typeface="Courier New" pitchFamily="34" charset="0"/>
                <a:ea typeface="Courier New" pitchFamily="34" charset="-122"/>
                <a:cs typeface="Courier New" pitchFamily="34" charset="-120"/>
              </a:rPr>
              <a:t>· students</a:t>
            </a:r>
            <a:endParaRPr lang="en-US" sz="1950" dirty="0"/>
          </a:p>
        </p:txBody>
      </p:sp>
      <p:sp>
        <p:nvSpPr>
          <p:cNvPr id="12" name="Shape 10"/>
          <p:cNvSpPr/>
          <p:nvPr/>
        </p:nvSpPr>
        <p:spPr>
          <a:xfrm>
            <a:off x="2038350" y="6241455"/>
            <a:ext cx="19050" cy="209550"/>
          </a:xfrm>
          <a:prstGeom prst="rect">
            <a:avLst/>
          </a:prstGeom>
          <a:solidFill>
            <a:srgbClr val="B897F0">
              <a:alpha val="71000"/>
            </a:srgbClr>
          </a:solidFill>
          <a:ln/>
        </p:spPr>
      </p:sp>
      <p:sp>
        <p:nvSpPr>
          <p:cNvPr id="13" name="Shape 11"/>
          <p:cNvSpPr/>
          <p:nvPr/>
        </p:nvSpPr>
        <p:spPr>
          <a:xfrm>
            <a:off x="2031740" y="6451005"/>
            <a:ext cx="7264103" cy="685800"/>
          </a:xfrm>
          <a:prstGeom prst="roundRect">
            <a:avLst>
              <a:gd name="adj" fmla="val 16667"/>
            </a:avLst>
          </a:prstGeom>
          <a:solidFill>
            <a:srgbClr val="FFFFFF">
              <a:alpha val="3000"/>
            </a:srgbClr>
          </a:solidFill>
          <a:ln w="6350">
            <a:solidFill>
              <a:srgbClr val="FFFFFF">
                <a:alpha val="10000"/>
              </a:srgbClr>
            </a:solidFill>
            <a:prstDash val="solid"/>
          </a:ln>
        </p:spPr>
      </p:sp>
      <p:sp>
        <p:nvSpPr>
          <p:cNvPr id="14" name="Text 12"/>
          <p:cNvSpPr/>
          <p:nvPr/>
        </p:nvSpPr>
        <p:spPr>
          <a:xfrm>
            <a:off x="2285740" y="6628805"/>
            <a:ext cx="6974026" cy="368300"/>
          </a:xfrm>
          <a:prstGeom prst="rect">
            <a:avLst/>
          </a:prstGeom>
          <a:noFill/>
          <a:ln/>
        </p:spPr>
        <p:txBody>
          <a:bodyPr wrap="square" lIns="25400" tIns="25400" rIns="25400" bIns="25400" rtlCol="0" anchor="t">
            <a:normAutofit/>
          </a:bodyPr>
          <a:lstStyle/>
          <a:p>
            <a:pPr algn="l" indent="0" marL="0">
              <a:buNone/>
            </a:pPr>
            <a:r>
              <a:rPr lang="en-US" sz="1950" dirty="0">
                <a:solidFill>
                  <a:srgbClr val="EEF3F9">
                    <a:alpha val="97000"/>
                  </a:srgbClr>
                </a:solidFill>
                <a:latin typeface="Courier New" pitchFamily="34" charset="0"/>
                <a:ea typeface="Courier New" pitchFamily="34" charset="-122"/>
                <a:cs typeface="Courier New" pitchFamily="34" charset="-120"/>
              </a:rPr>
              <a:t>Documents</a:t>
            </a:r>
            <a:endParaRPr lang="en-US" sz="1950" dirty="0"/>
          </a:p>
        </p:txBody>
      </p:sp>
      <p:sp>
        <p:nvSpPr>
          <p:cNvPr id="15" name="Shape 13"/>
          <p:cNvSpPr/>
          <p:nvPr/>
        </p:nvSpPr>
        <p:spPr>
          <a:xfrm>
            <a:off x="2362200" y="7136805"/>
            <a:ext cx="19050" cy="209550"/>
          </a:xfrm>
          <a:prstGeom prst="rect">
            <a:avLst/>
          </a:prstGeom>
          <a:solidFill>
            <a:srgbClr val="B897F0">
              <a:alpha val="71000"/>
            </a:srgbClr>
          </a:solidFill>
          <a:ln/>
        </p:spPr>
      </p:sp>
      <p:sp>
        <p:nvSpPr>
          <p:cNvPr id="16" name="Shape 14"/>
          <p:cNvSpPr/>
          <p:nvPr/>
        </p:nvSpPr>
        <p:spPr>
          <a:xfrm>
            <a:off x="2346825" y="7346355"/>
            <a:ext cx="6940253" cy="685800"/>
          </a:xfrm>
          <a:prstGeom prst="roundRect">
            <a:avLst>
              <a:gd name="adj" fmla="val 16667"/>
            </a:avLst>
          </a:prstGeom>
          <a:solidFill>
            <a:srgbClr val="FFFFFF">
              <a:alpha val="3000"/>
            </a:srgbClr>
          </a:solidFill>
          <a:ln w="6350">
            <a:solidFill>
              <a:srgbClr val="FFFFFF">
                <a:alpha val="9000"/>
              </a:srgbClr>
            </a:solidFill>
            <a:prstDash val="solid"/>
          </a:ln>
        </p:spPr>
      </p:sp>
      <p:sp>
        <p:nvSpPr>
          <p:cNvPr id="17" name="Text 15"/>
          <p:cNvSpPr/>
          <p:nvPr/>
        </p:nvSpPr>
        <p:spPr>
          <a:xfrm>
            <a:off x="2600825" y="7524155"/>
            <a:ext cx="6640460" cy="368300"/>
          </a:xfrm>
          <a:prstGeom prst="rect">
            <a:avLst/>
          </a:prstGeom>
          <a:noFill/>
          <a:ln/>
        </p:spPr>
        <p:txBody>
          <a:bodyPr wrap="square" lIns="25400" tIns="25400" rIns="25400" bIns="25400" rtlCol="0" anchor="t">
            <a:normAutofit/>
          </a:bodyPr>
          <a:lstStyle/>
          <a:p>
            <a:pPr algn="l" indent="0" marL="0">
              <a:buNone/>
            </a:pPr>
            <a:r>
              <a:rPr lang="en-US" sz="1950" dirty="0">
                <a:solidFill>
                  <a:srgbClr val="FFB46E">
                    <a:alpha val="94000"/>
                  </a:srgbClr>
                </a:solidFill>
                <a:highlight>
                  <a:srgbClr val="F0F0F0"/>
                </a:highlight>
                <a:latin typeface="Courier New" pitchFamily="34" charset="0"/>
                <a:ea typeface="Courier New" pitchFamily="34" charset="-122"/>
                <a:cs typeface="Courier New" pitchFamily="34" charset="-120"/>
              </a:rPr>
              <a:t>Fields </a:t>
            </a:r>
            <a:pPr algn="l" indent="0" marL="0">
              <a:buNone/>
            </a:pPr>
            <a:r>
              <a:rPr lang="en-US" sz="1950" dirty="0">
                <a:solidFill>
                  <a:srgbClr val="8EA0B5">
                    <a:alpha val="94000"/>
                  </a:srgbClr>
                </a:solidFill>
                <a:latin typeface="Courier New" pitchFamily="34" charset="0"/>
                <a:ea typeface="Courier New" pitchFamily="34" charset="-122"/>
                <a:cs typeface="Courier New" pitchFamily="34" charset="-120"/>
              </a:rPr>
              <a:t>· name · age · city</a:t>
            </a:r>
            <a:endParaRPr lang="en-US" sz="1950" dirty="0"/>
          </a:p>
        </p:txBody>
      </p:sp>
      <p:sp>
        <p:nvSpPr>
          <p:cNvPr id="18" name="Shape 16"/>
          <p:cNvSpPr/>
          <p:nvPr/>
        </p:nvSpPr>
        <p:spPr>
          <a:xfrm>
            <a:off x="9721553" y="3056100"/>
            <a:ext cx="7499648" cy="5695950"/>
          </a:xfrm>
          <a:prstGeom prst="roundRect">
            <a:avLst>
              <a:gd name="adj" fmla="val 2676"/>
            </a:avLst>
          </a:prstGeom>
          <a:solidFill>
            <a:srgbClr val="06090E">
              <a:alpha val="98000"/>
            </a:srgbClr>
          </a:solidFill>
          <a:ln w="6350">
            <a:solidFill>
              <a:srgbClr val="FFFFFF">
                <a:alpha val="10000"/>
              </a:srgbClr>
            </a:solidFill>
            <a:prstDash val="solid"/>
          </a:ln>
        </p:spPr>
      </p:sp>
      <p:sp>
        <p:nvSpPr>
          <p:cNvPr id="19" name="Shape 17"/>
          <p:cNvSpPr/>
          <p:nvPr/>
        </p:nvSpPr>
        <p:spPr>
          <a:xfrm>
            <a:off x="9727903" y="3672050"/>
            <a:ext cx="7486948" cy="9525"/>
          </a:xfrm>
          <a:prstGeom prst="rect">
            <a:avLst/>
          </a:prstGeom>
          <a:solidFill>
            <a:srgbClr val="FFFFFF">
              <a:alpha val="6000"/>
            </a:srgbClr>
          </a:solidFill>
          <a:ln/>
        </p:spPr>
      </p:sp>
      <p:sp>
        <p:nvSpPr>
          <p:cNvPr id="20" name="Text 18"/>
          <p:cNvSpPr/>
          <p:nvPr/>
        </p:nvSpPr>
        <p:spPr>
          <a:xfrm>
            <a:off x="9956503" y="3214850"/>
            <a:ext cx="7254356"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alpha val="98000"/>
                  </a:srgbClr>
                </a:solidFill>
                <a:latin typeface="Courier New" pitchFamily="34" charset="0"/>
                <a:ea typeface="Courier New" pitchFamily="34" charset="-122"/>
                <a:cs typeface="Courier New" pitchFamily="34" charset="-120"/>
              </a:rPr>
              <a:t>university → students</a:t>
            </a:r>
            <a:endParaRPr lang="en-US" sz="1800" dirty="0"/>
          </a:p>
        </p:txBody>
      </p:sp>
      <p:sp>
        <p:nvSpPr>
          <p:cNvPr id="21" name="Text 19"/>
          <p:cNvSpPr/>
          <p:nvPr/>
        </p:nvSpPr>
        <p:spPr>
          <a:xfrm>
            <a:off x="10013653" y="3926050"/>
            <a:ext cx="7140056" cy="4610100"/>
          </a:xfrm>
          <a:prstGeom prst="rect">
            <a:avLst/>
          </a:prstGeom>
          <a:noFill/>
          <a:ln/>
        </p:spPr>
        <p:txBody>
          <a:bodyPr wrap="none" lIns="25400" tIns="25400" rIns="25400" bIns="25400" rtlCol="0" anchor="t">
            <a:normAutofit/>
          </a:bodyPr>
          <a:lstStyle/>
          <a:p>
            <a:pPr algn="l" indent="0" marL="0">
              <a:lnSpc>
                <a:spcPct val="142857"/>
              </a:lnSpc>
              <a:buNone/>
            </a:pPr>
            <a:r>
              <a:rPr lang="en-US" sz="1875" dirty="0">
                <a:solidFill>
                  <a:srgbClr val="CDD7E3">
                    <a:alpha val="98000"/>
                  </a:srgbClr>
                </a:solidFill>
                <a:latin typeface="Courier New" pitchFamily="34" charset="0"/>
                <a:ea typeface="Courier New" pitchFamily="34" charset="-122"/>
                <a:cs typeface="Courier New" pitchFamily="34" charset="-120"/>
              </a:rPr>
              <a:t>students: [</a:t>
            </a:r>
            <a:endParaRPr lang="en-US" sz="1875" dirty="0"/>
          </a:p>
          <a:p>
            <a:pPr algn="l" indent="0" marL="0">
              <a:lnSpc>
                <a:spcPct val="142857"/>
              </a:lnSpc>
              <a:buNone/>
            </a:pPr>
            <a:r>
              <a:rPr lang="en-US" sz="1875" dirty="0">
                <a:solidFill>
                  <a:srgbClr val="CDD7E3">
                    <a:alpha val="98000"/>
                  </a:srgbClr>
                </a:solidFill>
                <a:latin typeface="Courier New" pitchFamily="34" charset="0"/>
                <a:ea typeface="Courier New" pitchFamily="34" charset="-122"/>
                <a:cs typeface="Courier New" pitchFamily="34" charset="-120"/>
              </a:rPr>
              <a:t>  {</a:t>
            </a:r>
            <a:endParaRPr lang="en-US" sz="1875" dirty="0"/>
          </a:p>
          <a:p>
            <a:pPr algn="l" indent="0" marL="0">
              <a:lnSpc>
                <a:spcPct val="142857"/>
              </a:lnSpc>
              <a:buNone/>
            </a:pPr>
            <a:r>
              <a:rPr lang="en-US" sz="1875" dirty="0">
                <a:solidFill>
                  <a:srgbClr val="CDD7E3">
                    <a:alpha val="98000"/>
                  </a:srgbClr>
                </a:solidFill>
                <a:latin typeface="Courier New" pitchFamily="34" charset="0"/>
                <a:ea typeface="Courier New" pitchFamily="34" charset="-122"/>
                <a:cs typeface="Courier New" pitchFamily="34" charset="-120"/>
              </a:rPr>
              <a:t>     </a:t>
            </a:r>
            <a:endParaRPr lang="en-US" sz="1875" dirty="0"/>
          </a:p>
          <a:p>
            <a:pPr algn="l" indent="0" marL="0">
              <a:lnSpc>
                <a:spcPct val="142857"/>
              </a:lnSpc>
              <a:buNone/>
            </a:pPr>
            <a:r>
              <a:rPr lang="en-US" sz="1875" dirty="0">
                <a:solidFill>
                  <a:srgbClr val="B897F0">
                    <a:alpha val="98000"/>
                  </a:srgbClr>
                </a:solidFill>
                <a:latin typeface="Courier New" pitchFamily="34" charset="0"/>
                <a:ea typeface="Courier New" pitchFamily="34" charset="-122"/>
                <a:cs typeface="Courier New" pitchFamily="34" charset="-120"/>
              </a:rPr>
              <a:t>"name"</a:t>
            </a:r>
            <a:pPr algn="l" indent="0" marL="0">
              <a:lnSpc>
                <a:spcPct val="142857"/>
              </a:lnSpc>
              <a:buNone/>
            </a:pPr>
            <a:r>
              <a:rPr lang="en-US" sz="1875" dirty="0">
                <a:solidFill>
                  <a:srgbClr val="CDD7E3">
                    <a:alpha val="98000"/>
                  </a:srgbClr>
                </a:solidFill>
                <a:latin typeface="Courier New" pitchFamily="34" charset="0"/>
                <a:ea typeface="Courier New" pitchFamily="34" charset="-122"/>
                <a:cs typeface="Courier New" pitchFamily="34" charset="-120"/>
              </a:rPr>
              <a:t>: </a:t>
            </a:r>
            <a:pPr algn="l" indent="0" marL="0">
              <a:lnSpc>
                <a:spcPct val="142857"/>
              </a:lnSpc>
              <a:buNone/>
            </a:pPr>
            <a:r>
              <a:rPr lang="en-US" sz="1875" dirty="0">
                <a:solidFill>
                  <a:srgbClr val="FFB46E">
                    <a:alpha val="98000"/>
                  </a:srgbClr>
                </a:solidFill>
                <a:latin typeface="Courier New" pitchFamily="34" charset="0"/>
                <a:ea typeface="Courier New" pitchFamily="34" charset="-122"/>
                <a:cs typeface="Courier New" pitchFamily="34" charset="-120"/>
              </a:rPr>
              <a:t>"Awa" </a:t>
            </a:r>
            <a:pPr algn="l" indent="0" marL="0">
              <a:lnSpc>
                <a:spcPct val="142857"/>
              </a:lnSpc>
              <a:buNone/>
            </a:pPr>
            <a:r>
              <a:rPr lang="en-US" sz="1875" dirty="0">
                <a:solidFill>
                  <a:srgbClr val="CDD7E3">
                    <a:alpha val="98000"/>
                  </a:srgbClr>
                </a:solidFill>
                <a:latin typeface="Courier New" pitchFamily="34" charset="0"/>
                <a:ea typeface="Courier New" pitchFamily="34" charset="-122"/>
                <a:cs typeface="Courier New" pitchFamily="34" charset="-120"/>
              </a:rPr>
              <a:t>,</a:t>
            </a:r>
            <a:endParaRPr lang="en-US" sz="1875" dirty="0"/>
          </a:p>
          <a:p>
            <a:pPr algn="l" indent="0" marL="0">
              <a:lnSpc>
                <a:spcPct val="142857"/>
              </a:lnSpc>
              <a:buNone/>
            </a:pPr>
            <a:r>
              <a:rPr lang="en-US" sz="1875" dirty="0">
                <a:solidFill>
                  <a:srgbClr val="CDD7E3">
                    <a:alpha val="98000"/>
                  </a:srgbClr>
                </a:solidFill>
                <a:latin typeface="Courier New" pitchFamily="34" charset="0"/>
                <a:ea typeface="Courier New" pitchFamily="34" charset="-122"/>
                <a:cs typeface="Courier New" pitchFamily="34" charset="-120"/>
              </a:rPr>
              <a:t>     </a:t>
            </a:r>
            <a:endParaRPr lang="en-US" sz="1875" dirty="0"/>
          </a:p>
          <a:p>
            <a:pPr algn="l" indent="0" marL="0">
              <a:lnSpc>
                <a:spcPct val="142857"/>
              </a:lnSpc>
              <a:buNone/>
            </a:pPr>
            <a:r>
              <a:rPr lang="en-US" sz="1875" dirty="0">
                <a:solidFill>
                  <a:srgbClr val="B897F0">
                    <a:alpha val="98000"/>
                  </a:srgbClr>
                </a:solidFill>
                <a:latin typeface="Courier New" pitchFamily="34" charset="0"/>
                <a:ea typeface="Courier New" pitchFamily="34" charset="-122"/>
                <a:cs typeface="Courier New" pitchFamily="34" charset="-120"/>
              </a:rPr>
              <a:t>"age"</a:t>
            </a:r>
            <a:pPr algn="l" indent="0" marL="0">
              <a:lnSpc>
                <a:spcPct val="142857"/>
              </a:lnSpc>
              <a:buNone/>
            </a:pPr>
            <a:r>
              <a:rPr lang="en-US" sz="1875" dirty="0">
                <a:solidFill>
                  <a:srgbClr val="CDD7E3">
                    <a:alpha val="98000"/>
                  </a:srgbClr>
                </a:solidFill>
                <a:latin typeface="Courier New" pitchFamily="34" charset="0"/>
                <a:ea typeface="Courier New" pitchFamily="34" charset="-122"/>
                <a:cs typeface="Courier New" pitchFamily="34" charset="-120"/>
              </a:rPr>
              <a:t>: </a:t>
            </a:r>
            <a:pPr algn="l" indent="0" marL="0">
              <a:lnSpc>
                <a:spcPct val="142857"/>
              </a:lnSpc>
              <a:buNone/>
            </a:pPr>
            <a:r>
              <a:rPr lang="en-US" sz="1875" dirty="0">
                <a:solidFill>
                  <a:srgbClr val="E6C07B">
                    <a:alpha val="98000"/>
                  </a:srgbClr>
                </a:solidFill>
                <a:latin typeface="Courier New" pitchFamily="34" charset="0"/>
                <a:ea typeface="Courier New" pitchFamily="34" charset="-122"/>
                <a:cs typeface="Courier New" pitchFamily="34" charset="-120"/>
              </a:rPr>
              <a:t>21 </a:t>
            </a:r>
            <a:pPr algn="l" indent="0" marL="0">
              <a:lnSpc>
                <a:spcPct val="142857"/>
              </a:lnSpc>
              <a:buNone/>
            </a:pPr>
            <a:r>
              <a:rPr lang="en-US" sz="1875" dirty="0">
                <a:solidFill>
                  <a:srgbClr val="CDD7E3">
                    <a:alpha val="98000"/>
                  </a:srgbClr>
                </a:solidFill>
                <a:latin typeface="Courier New" pitchFamily="34" charset="0"/>
                <a:ea typeface="Courier New" pitchFamily="34" charset="-122"/>
                <a:cs typeface="Courier New" pitchFamily="34" charset="-120"/>
              </a:rPr>
              <a:t>,</a:t>
            </a:r>
            <a:endParaRPr lang="en-US" sz="1875" dirty="0"/>
          </a:p>
          <a:p>
            <a:pPr algn="l" indent="0" marL="0">
              <a:lnSpc>
                <a:spcPct val="142857"/>
              </a:lnSpc>
              <a:buNone/>
            </a:pPr>
            <a:r>
              <a:rPr lang="en-US" sz="1875" dirty="0">
                <a:solidFill>
                  <a:srgbClr val="CDD7E3">
                    <a:alpha val="98000"/>
                  </a:srgbClr>
                </a:solidFill>
                <a:latin typeface="Courier New" pitchFamily="34" charset="0"/>
                <a:ea typeface="Courier New" pitchFamily="34" charset="-122"/>
                <a:cs typeface="Courier New" pitchFamily="34" charset="-120"/>
              </a:rPr>
              <a:t>     </a:t>
            </a:r>
            <a:endParaRPr lang="en-US" sz="1875" dirty="0"/>
          </a:p>
          <a:p>
            <a:pPr algn="l" indent="0" marL="0">
              <a:lnSpc>
                <a:spcPct val="142857"/>
              </a:lnSpc>
              <a:buNone/>
            </a:pPr>
            <a:r>
              <a:rPr lang="en-US" sz="1875" dirty="0">
                <a:solidFill>
                  <a:srgbClr val="B897F0">
                    <a:alpha val="98000"/>
                  </a:srgbClr>
                </a:solidFill>
                <a:latin typeface="Courier New" pitchFamily="34" charset="0"/>
                <a:ea typeface="Courier New" pitchFamily="34" charset="-122"/>
                <a:cs typeface="Courier New" pitchFamily="34" charset="-120"/>
              </a:rPr>
              <a:t>"city"</a:t>
            </a:r>
            <a:pPr algn="l" indent="0" marL="0">
              <a:lnSpc>
                <a:spcPct val="142857"/>
              </a:lnSpc>
              <a:buNone/>
            </a:pPr>
            <a:r>
              <a:rPr lang="en-US" sz="1875" dirty="0">
                <a:solidFill>
                  <a:srgbClr val="CDD7E3">
                    <a:alpha val="98000"/>
                  </a:srgbClr>
                </a:solidFill>
                <a:latin typeface="Courier New" pitchFamily="34" charset="0"/>
                <a:ea typeface="Courier New" pitchFamily="34" charset="-122"/>
                <a:cs typeface="Courier New" pitchFamily="34" charset="-120"/>
              </a:rPr>
              <a:t>: </a:t>
            </a:r>
            <a:pPr algn="l" indent="0" marL="0">
              <a:lnSpc>
                <a:spcPct val="142857"/>
              </a:lnSpc>
              <a:buNone/>
            </a:pPr>
            <a:r>
              <a:rPr lang="en-US" sz="1875" dirty="0">
                <a:solidFill>
                  <a:srgbClr val="FFB46E">
                    <a:alpha val="98000"/>
                  </a:srgbClr>
                </a:solidFill>
                <a:latin typeface="Courier New" pitchFamily="34" charset="0"/>
                <a:ea typeface="Courier New" pitchFamily="34" charset="-122"/>
                <a:cs typeface="Courier New" pitchFamily="34" charset="-120"/>
              </a:rPr>
              <a:t>"Dakar" </a:t>
            </a:r>
            <a:pPr algn="l" indent="0" marL="0">
              <a:lnSpc>
                <a:spcPct val="142857"/>
              </a:lnSpc>
              <a:buNone/>
            </a:pPr>
            <a:r>
              <a:rPr lang="en-US" sz="1875" dirty="0">
                <a:solidFill>
                  <a:srgbClr val="CDD7E3">
                    <a:alpha val="98000"/>
                  </a:srgbClr>
                </a:solidFill>
                <a:latin typeface="Courier New" pitchFamily="34" charset="0"/>
                <a:ea typeface="Courier New" pitchFamily="34" charset="-122"/>
                <a:cs typeface="Courier New" pitchFamily="34" charset="-120"/>
              </a:rPr>
              <a:t>  },</a:t>
            </a:r>
            <a:endParaRPr lang="en-US" sz="1875" dirty="0"/>
          </a:p>
          <a:p>
            <a:pPr algn="l" indent="0" marL="0">
              <a:lnSpc>
                <a:spcPct val="142857"/>
              </a:lnSpc>
              <a:buNone/>
            </a:pPr>
            <a:r>
              <a:rPr lang="en-US" sz="1875" dirty="0">
                <a:solidFill>
                  <a:srgbClr val="CDD7E3">
                    <a:alpha val="98000"/>
                  </a:srgbClr>
                </a:solidFill>
                <a:latin typeface="Courier New" pitchFamily="34" charset="0"/>
                <a:ea typeface="Courier New" pitchFamily="34" charset="-122"/>
                <a:cs typeface="Courier New" pitchFamily="34" charset="-120"/>
              </a:rPr>
              <a:t>  {</a:t>
            </a:r>
            <a:endParaRPr lang="en-US" sz="1875" dirty="0"/>
          </a:p>
          <a:p>
            <a:pPr algn="l" indent="0" marL="0">
              <a:lnSpc>
                <a:spcPct val="142857"/>
              </a:lnSpc>
              <a:buNone/>
            </a:pPr>
            <a:r>
              <a:rPr lang="en-US" sz="1875" dirty="0">
                <a:solidFill>
                  <a:srgbClr val="CDD7E3">
                    <a:alpha val="98000"/>
                  </a:srgbClr>
                </a:solidFill>
                <a:latin typeface="Courier New" pitchFamily="34" charset="0"/>
                <a:ea typeface="Courier New" pitchFamily="34" charset="-122"/>
                <a:cs typeface="Courier New" pitchFamily="34" charset="-120"/>
              </a:rPr>
              <a:t>    </a:t>
            </a:r>
            <a:endParaRPr lang="en-US" sz="1875" dirty="0"/>
          </a:p>
          <a:p>
            <a:pPr algn="l" indent="0" marL="0">
              <a:lnSpc>
                <a:spcPct val="142857"/>
              </a:lnSpc>
              <a:buNone/>
            </a:pPr>
            <a:r>
              <a:rPr lang="en-US" sz="1875" dirty="0">
                <a:solidFill>
                  <a:srgbClr val="B897F0">
                    <a:alpha val="98000"/>
                  </a:srgbClr>
                </a:solidFill>
                <a:latin typeface="Courier New" pitchFamily="34" charset="0"/>
                <a:ea typeface="Courier New" pitchFamily="34" charset="-122"/>
                <a:cs typeface="Courier New" pitchFamily="34" charset="-120"/>
              </a:rPr>
              <a:t>"name"</a:t>
            </a:r>
            <a:pPr algn="l" indent="0" marL="0">
              <a:lnSpc>
                <a:spcPct val="142857"/>
              </a:lnSpc>
              <a:buNone/>
            </a:pPr>
            <a:r>
              <a:rPr lang="en-US" sz="1875" dirty="0">
                <a:solidFill>
                  <a:srgbClr val="CDD7E3">
                    <a:alpha val="98000"/>
                  </a:srgbClr>
                </a:solidFill>
                <a:latin typeface="Courier New" pitchFamily="34" charset="0"/>
                <a:ea typeface="Courier New" pitchFamily="34" charset="-122"/>
                <a:cs typeface="Courier New" pitchFamily="34" charset="-120"/>
              </a:rPr>
              <a:t>: </a:t>
            </a:r>
            <a:pPr algn="l" indent="0" marL="0">
              <a:lnSpc>
                <a:spcPct val="142857"/>
              </a:lnSpc>
              <a:buNone/>
            </a:pPr>
            <a:r>
              <a:rPr lang="en-US" sz="1875" dirty="0">
                <a:solidFill>
                  <a:srgbClr val="FFB46E">
                    <a:alpha val="98000"/>
                  </a:srgbClr>
                </a:solidFill>
                <a:latin typeface="Courier New" pitchFamily="34" charset="0"/>
                <a:ea typeface="Courier New" pitchFamily="34" charset="-122"/>
                <a:cs typeface="Courier New" pitchFamily="34" charset="-120"/>
              </a:rPr>
              <a:t>"Malick" </a:t>
            </a:r>
            <a:pPr algn="l" indent="0" marL="0">
              <a:lnSpc>
                <a:spcPct val="142857"/>
              </a:lnSpc>
              <a:buNone/>
            </a:pPr>
            <a:r>
              <a:rPr lang="en-US" sz="1875" dirty="0">
                <a:solidFill>
                  <a:srgbClr val="CDD7E3">
                    <a:alpha val="98000"/>
                  </a:srgbClr>
                </a:solidFill>
                <a:latin typeface="Courier New" pitchFamily="34" charset="0"/>
                <a:ea typeface="Courier New" pitchFamily="34" charset="-122"/>
                <a:cs typeface="Courier New" pitchFamily="34" charset="-120"/>
              </a:rPr>
              <a:t>,</a:t>
            </a:r>
            <a:endParaRPr lang="en-US" sz="1875" dirty="0"/>
          </a:p>
          <a:p>
            <a:pPr algn="l" indent="0" marL="0">
              <a:lnSpc>
                <a:spcPct val="142857"/>
              </a:lnSpc>
              <a:buNone/>
            </a:pPr>
            <a:r>
              <a:rPr lang="en-US" sz="1875" dirty="0">
                <a:solidFill>
                  <a:srgbClr val="CDD7E3">
                    <a:alpha val="98000"/>
                  </a:srgbClr>
                </a:solidFill>
                <a:latin typeface="Courier New" pitchFamily="34" charset="0"/>
                <a:ea typeface="Courier New" pitchFamily="34" charset="-122"/>
                <a:cs typeface="Courier New" pitchFamily="34" charset="-120"/>
              </a:rPr>
              <a:t>     </a:t>
            </a:r>
            <a:endParaRPr lang="en-US" sz="1875" dirty="0"/>
          </a:p>
          <a:p>
            <a:pPr algn="l" indent="0" marL="0">
              <a:lnSpc>
                <a:spcPct val="142857"/>
              </a:lnSpc>
              <a:buNone/>
            </a:pPr>
            <a:r>
              <a:rPr lang="en-US" sz="1875" dirty="0">
                <a:solidFill>
                  <a:srgbClr val="B897F0">
                    <a:alpha val="98000"/>
                  </a:srgbClr>
                </a:solidFill>
                <a:latin typeface="Courier New" pitchFamily="34" charset="0"/>
                <a:ea typeface="Courier New" pitchFamily="34" charset="-122"/>
                <a:cs typeface="Courier New" pitchFamily="34" charset="-120"/>
              </a:rPr>
              <a:t>"age"</a:t>
            </a:r>
            <a:pPr algn="l" indent="0" marL="0">
              <a:lnSpc>
                <a:spcPct val="142857"/>
              </a:lnSpc>
              <a:buNone/>
            </a:pPr>
            <a:r>
              <a:rPr lang="en-US" sz="1875" dirty="0">
                <a:solidFill>
                  <a:srgbClr val="CDD7E3">
                    <a:alpha val="98000"/>
                  </a:srgbClr>
                </a:solidFill>
                <a:latin typeface="Courier New" pitchFamily="34" charset="0"/>
                <a:ea typeface="Courier New" pitchFamily="34" charset="-122"/>
                <a:cs typeface="Courier New" pitchFamily="34" charset="-120"/>
              </a:rPr>
              <a:t>: </a:t>
            </a:r>
            <a:pPr algn="l" indent="0" marL="0">
              <a:lnSpc>
                <a:spcPct val="142857"/>
              </a:lnSpc>
              <a:buNone/>
            </a:pPr>
            <a:r>
              <a:rPr lang="en-US" sz="1875" dirty="0">
                <a:solidFill>
                  <a:srgbClr val="E6C07B">
                    <a:alpha val="98000"/>
                  </a:srgbClr>
                </a:solidFill>
                <a:latin typeface="Courier New" pitchFamily="34" charset="0"/>
                <a:ea typeface="Courier New" pitchFamily="34" charset="-122"/>
                <a:cs typeface="Courier New" pitchFamily="34" charset="-120"/>
              </a:rPr>
              <a:t>23 </a:t>
            </a:r>
            <a:pPr algn="l" indent="0" marL="0">
              <a:lnSpc>
                <a:spcPct val="142857"/>
              </a:lnSpc>
              <a:buNone/>
            </a:pPr>
            <a:r>
              <a:rPr lang="en-US" sz="1875" dirty="0">
                <a:solidFill>
                  <a:srgbClr val="CDD7E3">
                    <a:alpha val="98000"/>
                  </a:srgbClr>
                </a:solidFill>
                <a:latin typeface="Courier New" pitchFamily="34" charset="0"/>
                <a:ea typeface="Courier New" pitchFamily="34" charset="-122"/>
                <a:cs typeface="Courier New" pitchFamily="34" charset="-120"/>
              </a:rPr>
              <a:t>,</a:t>
            </a:r>
            <a:endParaRPr lang="en-US" sz="1875" dirty="0"/>
          </a:p>
          <a:p>
            <a:pPr algn="l" indent="0" marL="0">
              <a:lnSpc>
                <a:spcPct val="142857"/>
              </a:lnSpc>
              <a:buNone/>
            </a:pPr>
            <a:r>
              <a:rPr lang="en-US" sz="1875" dirty="0">
                <a:solidFill>
                  <a:srgbClr val="CDD7E3">
                    <a:alpha val="98000"/>
                  </a:srgbClr>
                </a:solidFill>
                <a:latin typeface="Courier New" pitchFamily="34" charset="0"/>
                <a:ea typeface="Courier New" pitchFamily="34" charset="-122"/>
                <a:cs typeface="Courier New" pitchFamily="34" charset="-120"/>
              </a:rPr>
              <a:t>     </a:t>
            </a:r>
            <a:endParaRPr lang="en-US" sz="1875" dirty="0"/>
          </a:p>
          <a:p>
            <a:pPr algn="l" indent="0" marL="0">
              <a:lnSpc>
                <a:spcPct val="142857"/>
              </a:lnSpc>
              <a:buNone/>
            </a:pPr>
            <a:r>
              <a:rPr lang="en-US" sz="1875" dirty="0">
                <a:solidFill>
                  <a:srgbClr val="B897F0">
                    <a:alpha val="98000"/>
                  </a:srgbClr>
                </a:solidFill>
                <a:latin typeface="Courier New" pitchFamily="34" charset="0"/>
                <a:ea typeface="Courier New" pitchFamily="34" charset="-122"/>
                <a:cs typeface="Courier New" pitchFamily="34" charset="-120"/>
              </a:rPr>
              <a:t>"city"</a:t>
            </a:r>
            <a:pPr algn="l" indent="0" marL="0">
              <a:lnSpc>
                <a:spcPct val="142857"/>
              </a:lnSpc>
              <a:buNone/>
            </a:pPr>
            <a:r>
              <a:rPr lang="en-US" sz="1875" dirty="0">
                <a:solidFill>
                  <a:srgbClr val="CDD7E3">
                    <a:alpha val="98000"/>
                  </a:srgbClr>
                </a:solidFill>
                <a:latin typeface="Courier New" pitchFamily="34" charset="0"/>
                <a:ea typeface="Courier New" pitchFamily="34" charset="-122"/>
                <a:cs typeface="Courier New" pitchFamily="34" charset="-120"/>
              </a:rPr>
              <a:t>: </a:t>
            </a:r>
            <a:pPr algn="l" indent="0" marL="0">
              <a:lnSpc>
                <a:spcPct val="142857"/>
              </a:lnSpc>
              <a:buNone/>
            </a:pPr>
            <a:r>
              <a:rPr lang="en-US" sz="1875" dirty="0">
                <a:solidFill>
                  <a:srgbClr val="FFB46E">
                    <a:alpha val="98000"/>
                  </a:srgbClr>
                </a:solidFill>
                <a:latin typeface="Courier New" pitchFamily="34" charset="0"/>
                <a:ea typeface="Courier New" pitchFamily="34" charset="-122"/>
                <a:cs typeface="Courier New" pitchFamily="34" charset="-120"/>
              </a:rPr>
              <a:t>"Thiès" </a:t>
            </a:r>
            <a:pPr algn="l" indent="0" marL="0">
              <a:lnSpc>
                <a:spcPct val="142857"/>
              </a:lnSpc>
              <a:buNone/>
            </a:pPr>
            <a:r>
              <a:rPr lang="en-US" sz="1875" dirty="0">
                <a:solidFill>
                  <a:srgbClr val="CDD7E3">
                    <a:alpha val="98000"/>
                  </a:srgbClr>
                </a:solidFill>
                <a:latin typeface="Courier New" pitchFamily="34" charset="0"/>
                <a:ea typeface="Courier New" pitchFamily="34" charset="-122"/>
                <a:cs typeface="Courier New" pitchFamily="34" charset="-120"/>
              </a:rPr>
              <a:t>  }</a:t>
            </a:r>
            <a:endParaRPr lang="en-US" sz="1875" dirty="0"/>
          </a:p>
          <a:p>
            <a:pPr algn="l" indent="0" marL="0">
              <a:lnSpc>
                <a:spcPct val="142857"/>
              </a:lnSpc>
              <a:buNone/>
            </a:pPr>
            <a:r>
              <a:rPr lang="en-US" sz="1875" dirty="0">
                <a:solidFill>
                  <a:srgbClr val="CDD7E3">
                    <a:alpha val="98000"/>
                  </a:srgbClr>
                </a:solidFill>
                <a:latin typeface="Courier New" pitchFamily="34" charset="0"/>
                <a:ea typeface="Courier New" pitchFamily="34" charset="-122"/>
                <a:cs typeface="Courier New" pitchFamily="34" charset="-120"/>
              </a:rPr>
              <a:t>]</a:t>
            </a:r>
            <a:endParaRPr lang="en-US" sz="1875"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0E15"/>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B897F0">
                    <a:alpha val="97000"/>
                  </a:srgbClr>
                </a:solidFill>
                <a:latin typeface="Courier New" pitchFamily="34" charset="0"/>
                <a:ea typeface="Courier New" pitchFamily="34" charset="-122"/>
                <a:cs typeface="Courier New" pitchFamily="34" charset="-120"/>
              </a:rPr>
              <a:t>ATELIER 02 · COUNTRIES.JSON</a:t>
            </a:r>
            <a:endParaRPr lang="en-US" sz="1800" dirty="0"/>
          </a:p>
        </p:txBody>
      </p:sp>
      <p:sp>
        <p:nvSpPr>
          <p:cNvPr id="3" name="Text 1"/>
          <p:cNvSpPr/>
          <p:nvPr/>
        </p:nvSpPr>
        <p:spPr>
          <a:xfrm>
            <a:off x="1066800" y="1314451"/>
            <a:ext cx="8950404"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Un document JSON imbriqué</a:t>
            </a:r>
            <a:endParaRPr lang="en-US" sz="4800" dirty="0"/>
          </a:p>
        </p:txBody>
      </p:sp>
      <p:sp>
        <p:nvSpPr>
          <p:cNvPr id="4" name="Shape 2"/>
          <p:cNvSpPr/>
          <p:nvPr/>
        </p:nvSpPr>
        <p:spPr>
          <a:xfrm>
            <a:off x="1066800" y="2329360"/>
            <a:ext cx="9503371" cy="7138492"/>
          </a:xfrm>
          <a:prstGeom prst="roundRect">
            <a:avLst>
              <a:gd name="adj" fmla="val 2135"/>
            </a:avLst>
          </a:prstGeom>
          <a:solidFill>
            <a:srgbClr val="06090E"/>
          </a:solidFill>
          <a:ln w="6350">
            <a:solidFill>
              <a:srgbClr val="FFFFFF">
                <a:alpha val="10000"/>
              </a:srgbClr>
            </a:solidFill>
            <a:prstDash val="solid"/>
          </a:ln>
        </p:spPr>
      </p:sp>
      <p:sp>
        <p:nvSpPr>
          <p:cNvPr id="5" name="Shape 3"/>
          <p:cNvSpPr/>
          <p:nvPr/>
        </p:nvSpPr>
        <p:spPr>
          <a:xfrm>
            <a:off x="1073150" y="2945310"/>
            <a:ext cx="9490671" cy="9525"/>
          </a:xfrm>
          <a:prstGeom prst="rect">
            <a:avLst/>
          </a:prstGeom>
          <a:solidFill>
            <a:srgbClr val="FFFFFF">
              <a:alpha val="6000"/>
            </a:srgbClr>
          </a:solidFill>
          <a:ln/>
        </p:spPr>
      </p:sp>
      <p:sp>
        <p:nvSpPr>
          <p:cNvPr id="6" name="Shape 4"/>
          <p:cNvSpPr/>
          <p:nvPr/>
        </p:nvSpPr>
        <p:spPr>
          <a:xfrm>
            <a:off x="1282700" y="2578597"/>
            <a:ext cx="123825" cy="123825"/>
          </a:xfrm>
          <a:prstGeom prst="ellipse">
            <a:avLst/>
          </a:prstGeom>
          <a:solidFill>
            <a:srgbClr val="FF5F57"/>
          </a:solidFill>
          <a:ln/>
        </p:spPr>
      </p:sp>
      <p:sp>
        <p:nvSpPr>
          <p:cNvPr id="7" name="Shape 5"/>
          <p:cNvSpPr/>
          <p:nvPr/>
        </p:nvSpPr>
        <p:spPr>
          <a:xfrm>
            <a:off x="1501775" y="2578597"/>
            <a:ext cx="123825" cy="123825"/>
          </a:xfrm>
          <a:prstGeom prst="ellipse">
            <a:avLst/>
          </a:prstGeom>
          <a:solidFill>
            <a:srgbClr val="FEBC2E"/>
          </a:solidFill>
          <a:ln/>
        </p:spPr>
      </p:sp>
      <p:sp>
        <p:nvSpPr>
          <p:cNvPr id="8" name="Shape 6"/>
          <p:cNvSpPr/>
          <p:nvPr/>
        </p:nvSpPr>
        <p:spPr>
          <a:xfrm>
            <a:off x="1720850" y="2578597"/>
            <a:ext cx="123825" cy="123825"/>
          </a:xfrm>
          <a:prstGeom prst="ellipse">
            <a:avLst/>
          </a:prstGeom>
          <a:solidFill>
            <a:srgbClr val="28C840"/>
          </a:solidFill>
          <a:ln/>
        </p:spPr>
      </p:sp>
      <p:sp>
        <p:nvSpPr>
          <p:cNvPr id="9" name="Text 7"/>
          <p:cNvSpPr/>
          <p:nvPr/>
        </p:nvSpPr>
        <p:spPr>
          <a:xfrm>
            <a:off x="2054225" y="2488110"/>
            <a:ext cx="37719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solidFill>
                <a:latin typeface="Courier New" pitchFamily="34" charset="0"/>
                <a:ea typeface="Courier New" pitchFamily="34" charset="-122"/>
                <a:cs typeface="Courier New" pitchFamily="34" charset="-120"/>
              </a:rPr>
              <a:t>geodb.countries — Senegal</a:t>
            </a:r>
            <a:endParaRPr lang="en-US" sz="1800" dirty="0"/>
          </a:p>
        </p:txBody>
      </p:sp>
      <p:sp>
        <p:nvSpPr>
          <p:cNvPr id="10" name="Text 8"/>
          <p:cNvSpPr/>
          <p:nvPr/>
        </p:nvSpPr>
        <p:spPr>
          <a:xfrm>
            <a:off x="1358900" y="3199310"/>
            <a:ext cx="9203891" cy="5145882"/>
          </a:xfrm>
          <a:prstGeom prst="rect">
            <a:avLst/>
          </a:prstGeom>
          <a:noFill/>
          <a:ln/>
        </p:spPr>
        <p:txBody>
          <a:bodyPr wrap="none" lIns="25400" tIns="25400" rIns="25400" bIns="25400" rtlCol="0" anchor="t">
            <a:normAutofit/>
          </a:bodyPr>
          <a:lstStyle/>
          <a:p>
            <a:pPr algn="l" indent="0" marL="0">
              <a:lnSpc>
                <a:spcPct val="147321"/>
              </a:lnSpc>
              <a:buNone/>
            </a:pPr>
            <a:r>
              <a:rPr lang="en-US" sz="1875" dirty="0">
                <a:solidFill>
                  <a:srgbClr val="CDD7E3"/>
                </a:solidFill>
                <a:latin typeface="Courier New" pitchFamily="34" charset="0"/>
                <a:ea typeface="Courier New" pitchFamily="34" charset="-122"/>
                <a:cs typeface="Courier New" pitchFamily="34" charset="-120"/>
              </a:rPr>
              <a:t>{</a:t>
            </a:r>
            <a:endParaRPr lang="en-US" sz="1875" dirty="0"/>
          </a:p>
          <a:p>
            <a:pPr algn="l" indent="0" marL="0">
              <a:lnSpc>
                <a:spcPct val="147321"/>
              </a:lnSpc>
              <a:buNone/>
            </a:pPr>
            <a:r>
              <a:rPr lang="en-US" sz="1875" dirty="0">
                <a:solidFill>
                  <a:srgbClr val="CDD7E3"/>
                </a:solidFill>
                <a:latin typeface="Courier New" pitchFamily="34" charset="0"/>
                <a:ea typeface="Courier New" pitchFamily="34" charset="-122"/>
                <a:cs typeface="Courier New" pitchFamily="34" charset="-120"/>
              </a:rPr>
              <a:t>  </a:t>
            </a:r>
            <a:endParaRPr lang="en-US" sz="1875" dirty="0"/>
          </a:p>
          <a:p>
            <a:pPr algn="l" indent="0" marL="0">
              <a:lnSpc>
                <a:spcPct val="147321"/>
              </a:lnSpc>
              <a:buNone/>
            </a:pPr>
            <a:r>
              <a:rPr lang="en-US" sz="1875" dirty="0">
                <a:solidFill>
                  <a:srgbClr val="B897F0"/>
                </a:solidFill>
                <a:latin typeface="Courier New" pitchFamily="34" charset="0"/>
                <a:ea typeface="Courier New" pitchFamily="34" charset="-122"/>
                <a:cs typeface="Courier New" pitchFamily="34" charset="-120"/>
              </a:rPr>
              <a:t>"name"</a:t>
            </a:r>
            <a:pPr algn="l" indent="0" marL="0">
              <a:lnSpc>
                <a:spcPct val="147321"/>
              </a:lnSpc>
              <a:buNone/>
            </a:pPr>
            <a:r>
              <a:rPr lang="en-US" sz="1875" dirty="0">
                <a:solidFill>
                  <a:srgbClr val="CDD7E3"/>
                </a:solidFill>
                <a:latin typeface="Courier New" pitchFamily="34" charset="0"/>
                <a:ea typeface="Courier New" pitchFamily="34" charset="-122"/>
                <a:cs typeface="Courier New" pitchFamily="34" charset="-120"/>
              </a:rPr>
              <a:t>: </a:t>
            </a:r>
            <a:pPr algn="l" indent="0" marL="0">
              <a:lnSpc>
                <a:spcPct val="147321"/>
              </a:lnSpc>
              <a:buNone/>
            </a:pPr>
            <a:r>
              <a:rPr lang="en-US" sz="1875" dirty="0">
                <a:solidFill>
                  <a:srgbClr val="FFB46E"/>
                </a:solidFill>
                <a:latin typeface="Courier New" pitchFamily="34" charset="0"/>
                <a:ea typeface="Courier New" pitchFamily="34" charset="-122"/>
                <a:cs typeface="Courier New" pitchFamily="34" charset="-120"/>
              </a:rPr>
              <a:t>"Senegal" </a:t>
            </a:r>
            <a:pPr algn="l" indent="0" marL="0">
              <a:lnSpc>
                <a:spcPct val="147321"/>
              </a:lnSpc>
              <a:buNone/>
            </a:pPr>
            <a:r>
              <a:rPr lang="en-US" sz="1875" dirty="0">
                <a:solidFill>
                  <a:srgbClr val="CDD7E3"/>
                </a:solidFill>
                <a:latin typeface="Courier New" pitchFamily="34" charset="0"/>
                <a:ea typeface="Courier New" pitchFamily="34" charset="-122"/>
                <a:cs typeface="Courier New" pitchFamily="34" charset="-120"/>
              </a:rPr>
              <a:t>,</a:t>
            </a:r>
            <a:endParaRPr lang="en-US" sz="1875" dirty="0"/>
          </a:p>
          <a:p>
            <a:pPr algn="l" indent="0" marL="0">
              <a:lnSpc>
                <a:spcPct val="147321"/>
              </a:lnSpc>
              <a:buNone/>
            </a:pPr>
            <a:r>
              <a:rPr lang="en-US" sz="1875" dirty="0">
                <a:solidFill>
                  <a:srgbClr val="CDD7E3"/>
                </a:solidFill>
                <a:latin typeface="Courier New" pitchFamily="34" charset="0"/>
                <a:ea typeface="Courier New" pitchFamily="34" charset="-122"/>
                <a:cs typeface="Courier New" pitchFamily="34" charset="-120"/>
              </a:rPr>
              <a:t>   </a:t>
            </a:r>
            <a:endParaRPr lang="en-US" sz="1875" dirty="0"/>
          </a:p>
          <a:p>
            <a:pPr algn="l" indent="0" marL="0">
              <a:lnSpc>
                <a:spcPct val="147321"/>
              </a:lnSpc>
              <a:buNone/>
            </a:pPr>
            <a:r>
              <a:rPr lang="en-US" sz="1875" dirty="0">
                <a:solidFill>
                  <a:srgbClr val="B897F0"/>
                </a:solidFill>
                <a:latin typeface="Courier New" pitchFamily="34" charset="0"/>
                <a:ea typeface="Courier New" pitchFamily="34" charset="-122"/>
                <a:cs typeface="Courier New" pitchFamily="34" charset="-120"/>
              </a:rPr>
              <a:t>"capital"</a:t>
            </a:r>
            <a:pPr algn="l" indent="0" marL="0">
              <a:lnSpc>
                <a:spcPct val="147321"/>
              </a:lnSpc>
              <a:buNone/>
            </a:pPr>
            <a:r>
              <a:rPr lang="en-US" sz="1875" dirty="0">
                <a:solidFill>
                  <a:srgbClr val="CDD7E3"/>
                </a:solidFill>
                <a:latin typeface="Courier New" pitchFamily="34" charset="0"/>
                <a:ea typeface="Courier New" pitchFamily="34" charset="-122"/>
                <a:cs typeface="Courier New" pitchFamily="34" charset="-120"/>
              </a:rPr>
              <a:t>: </a:t>
            </a:r>
            <a:pPr algn="l" indent="0" marL="0">
              <a:lnSpc>
                <a:spcPct val="147321"/>
              </a:lnSpc>
              <a:buNone/>
            </a:pPr>
            <a:r>
              <a:rPr lang="en-US" sz="1875" dirty="0">
                <a:solidFill>
                  <a:srgbClr val="FFB46E"/>
                </a:solidFill>
                <a:latin typeface="Courier New" pitchFamily="34" charset="0"/>
                <a:ea typeface="Courier New" pitchFamily="34" charset="-122"/>
                <a:cs typeface="Courier New" pitchFamily="34" charset="-120"/>
              </a:rPr>
              <a:t>"Dakar" </a:t>
            </a:r>
            <a:pPr algn="l" indent="0" marL="0">
              <a:lnSpc>
                <a:spcPct val="147321"/>
              </a:lnSpc>
              <a:buNone/>
            </a:pPr>
            <a:r>
              <a:rPr lang="en-US" sz="1875" dirty="0">
                <a:solidFill>
                  <a:srgbClr val="CDD7E3"/>
                </a:solidFill>
                <a:latin typeface="Courier New" pitchFamily="34" charset="0"/>
                <a:ea typeface="Courier New" pitchFamily="34" charset="-122"/>
                <a:cs typeface="Courier New" pitchFamily="34" charset="-120"/>
              </a:rPr>
              <a:t>,</a:t>
            </a:r>
            <a:endParaRPr lang="en-US" sz="1875" dirty="0"/>
          </a:p>
          <a:p>
            <a:pPr algn="l" indent="0" marL="0">
              <a:lnSpc>
                <a:spcPct val="147321"/>
              </a:lnSpc>
              <a:buNone/>
            </a:pPr>
            <a:r>
              <a:rPr lang="en-US" sz="1875" dirty="0">
                <a:solidFill>
                  <a:srgbClr val="CDD7E3"/>
                </a:solidFill>
                <a:latin typeface="Courier New" pitchFamily="34" charset="0"/>
                <a:ea typeface="Courier New" pitchFamily="34" charset="-122"/>
                <a:cs typeface="Courier New" pitchFamily="34" charset="-120"/>
              </a:rPr>
              <a:t>   </a:t>
            </a:r>
            <a:endParaRPr lang="en-US" sz="1875" dirty="0"/>
          </a:p>
          <a:p>
            <a:pPr algn="l" indent="0" marL="0">
              <a:lnSpc>
                <a:spcPct val="147321"/>
              </a:lnSpc>
              <a:buNone/>
            </a:pPr>
            <a:r>
              <a:rPr lang="en-US" sz="1875" dirty="0">
                <a:solidFill>
                  <a:srgbClr val="B897F0"/>
                </a:solidFill>
                <a:latin typeface="Courier New" pitchFamily="34" charset="0"/>
                <a:ea typeface="Courier New" pitchFamily="34" charset="-122"/>
                <a:cs typeface="Courier New" pitchFamily="34" charset="-120"/>
              </a:rPr>
              <a:t>"region"</a:t>
            </a:r>
            <a:pPr algn="l" indent="0" marL="0">
              <a:lnSpc>
                <a:spcPct val="147321"/>
              </a:lnSpc>
              <a:buNone/>
            </a:pPr>
            <a:r>
              <a:rPr lang="en-US" sz="1875" dirty="0">
                <a:solidFill>
                  <a:srgbClr val="CDD7E3"/>
                </a:solidFill>
                <a:latin typeface="Courier New" pitchFamily="34" charset="0"/>
                <a:ea typeface="Courier New" pitchFamily="34" charset="-122"/>
                <a:cs typeface="Courier New" pitchFamily="34" charset="-120"/>
              </a:rPr>
              <a:t>: </a:t>
            </a:r>
            <a:pPr algn="l" indent="0" marL="0">
              <a:lnSpc>
                <a:spcPct val="147321"/>
              </a:lnSpc>
              <a:buNone/>
            </a:pPr>
            <a:r>
              <a:rPr lang="en-US" sz="1875" dirty="0">
                <a:solidFill>
                  <a:srgbClr val="FFB46E"/>
                </a:solidFill>
                <a:latin typeface="Courier New" pitchFamily="34" charset="0"/>
                <a:ea typeface="Courier New" pitchFamily="34" charset="-122"/>
                <a:cs typeface="Courier New" pitchFamily="34" charset="-120"/>
              </a:rPr>
              <a:t>"Africa" </a:t>
            </a:r>
            <a:pPr algn="l" indent="0" marL="0">
              <a:lnSpc>
                <a:spcPct val="147321"/>
              </a:lnSpc>
              <a:buNone/>
            </a:pPr>
            <a:r>
              <a:rPr lang="en-US" sz="1875" dirty="0">
                <a:solidFill>
                  <a:srgbClr val="CDD7E3"/>
                </a:solidFill>
                <a:latin typeface="Courier New" pitchFamily="34" charset="0"/>
                <a:ea typeface="Courier New" pitchFamily="34" charset="-122"/>
                <a:cs typeface="Courier New" pitchFamily="34" charset="-120"/>
              </a:rPr>
              <a:t>,</a:t>
            </a:r>
            <a:endParaRPr lang="en-US" sz="1875" dirty="0"/>
          </a:p>
          <a:p>
            <a:pPr algn="l" indent="0" marL="0">
              <a:lnSpc>
                <a:spcPct val="147321"/>
              </a:lnSpc>
              <a:buNone/>
            </a:pPr>
            <a:r>
              <a:rPr lang="en-US" sz="1875" dirty="0">
                <a:solidFill>
                  <a:srgbClr val="CDD7E3"/>
                </a:solidFill>
                <a:latin typeface="Courier New" pitchFamily="34" charset="0"/>
                <a:ea typeface="Courier New" pitchFamily="34" charset="-122"/>
                <a:cs typeface="Courier New" pitchFamily="34" charset="-120"/>
              </a:rPr>
              <a:t>   </a:t>
            </a:r>
            <a:endParaRPr lang="en-US" sz="1875" dirty="0"/>
          </a:p>
          <a:p>
            <a:pPr algn="l" indent="0" marL="0">
              <a:lnSpc>
                <a:spcPct val="147321"/>
              </a:lnSpc>
              <a:buNone/>
            </a:pPr>
            <a:r>
              <a:rPr lang="en-US" sz="1875" dirty="0">
                <a:solidFill>
                  <a:srgbClr val="B897F0"/>
                </a:solidFill>
                <a:latin typeface="Courier New" pitchFamily="34" charset="0"/>
                <a:ea typeface="Courier New" pitchFamily="34" charset="-122"/>
                <a:cs typeface="Courier New" pitchFamily="34" charset="-120"/>
              </a:rPr>
              <a:t>"subregion"</a:t>
            </a:r>
            <a:pPr algn="l" indent="0" marL="0">
              <a:lnSpc>
                <a:spcPct val="147321"/>
              </a:lnSpc>
              <a:buNone/>
            </a:pPr>
            <a:r>
              <a:rPr lang="en-US" sz="1875" dirty="0">
                <a:solidFill>
                  <a:srgbClr val="CDD7E3"/>
                </a:solidFill>
                <a:latin typeface="Courier New" pitchFamily="34" charset="0"/>
                <a:ea typeface="Courier New" pitchFamily="34" charset="-122"/>
                <a:cs typeface="Courier New" pitchFamily="34" charset="-120"/>
              </a:rPr>
              <a:t>: </a:t>
            </a:r>
            <a:pPr algn="l" indent="0" marL="0">
              <a:lnSpc>
                <a:spcPct val="147321"/>
              </a:lnSpc>
              <a:buNone/>
            </a:pPr>
            <a:r>
              <a:rPr lang="en-US" sz="1875" dirty="0">
                <a:solidFill>
                  <a:srgbClr val="FFB46E"/>
                </a:solidFill>
                <a:latin typeface="Courier New" pitchFamily="34" charset="0"/>
                <a:ea typeface="Courier New" pitchFamily="34" charset="-122"/>
                <a:cs typeface="Courier New" pitchFamily="34" charset="-120"/>
              </a:rPr>
              <a:t>"Western Africa" </a:t>
            </a:r>
            <a:pPr algn="l" indent="0" marL="0">
              <a:lnSpc>
                <a:spcPct val="147321"/>
              </a:lnSpc>
              <a:buNone/>
            </a:pPr>
            <a:r>
              <a:rPr lang="en-US" sz="1875" dirty="0">
                <a:solidFill>
                  <a:srgbClr val="CDD7E3"/>
                </a:solidFill>
                <a:latin typeface="Courier New" pitchFamily="34" charset="0"/>
                <a:ea typeface="Courier New" pitchFamily="34" charset="-122"/>
                <a:cs typeface="Courier New" pitchFamily="34" charset="-120"/>
              </a:rPr>
              <a:t>,</a:t>
            </a:r>
            <a:endParaRPr lang="en-US" sz="1875" dirty="0"/>
          </a:p>
          <a:p>
            <a:pPr algn="l" indent="0" marL="0">
              <a:lnSpc>
                <a:spcPct val="147321"/>
              </a:lnSpc>
              <a:buNone/>
            </a:pPr>
            <a:r>
              <a:rPr lang="en-US" sz="1875" dirty="0">
                <a:solidFill>
                  <a:srgbClr val="CDD7E3"/>
                </a:solidFill>
                <a:latin typeface="Courier New" pitchFamily="34" charset="0"/>
                <a:ea typeface="Courier New" pitchFamily="34" charset="-122"/>
                <a:cs typeface="Courier New" pitchFamily="34" charset="-120"/>
              </a:rPr>
              <a:t>   </a:t>
            </a:r>
            <a:endParaRPr lang="en-US" sz="1875" dirty="0"/>
          </a:p>
          <a:p>
            <a:pPr algn="l" indent="0" marL="0">
              <a:lnSpc>
                <a:spcPct val="147321"/>
              </a:lnSpc>
              <a:buNone/>
            </a:pPr>
            <a:r>
              <a:rPr lang="en-US" sz="1875" dirty="0">
                <a:solidFill>
                  <a:srgbClr val="B897F0"/>
                </a:solidFill>
                <a:latin typeface="Courier New" pitchFamily="34" charset="0"/>
                <a:ea typeface="Courier New" pitchFamily="34" charset="-122"/>
                <a:cs typeface="Courier New" pitchFamily="34" charset="-120"/>
              </a:rPr>
              <a:t>"population"</a:t>
            </a:r>
            <a:pPr algn="l" indent="0" marL="0">
              <a:lnSpc>
                <a:spcPct val="147321"/>
              </a:lnSpc>
              <a:buNone/>
            </a:pPr>
            <a:r>
              <a:rPr lang="en-US" sz="1875" dirty="0">
                <a:solidFill>
                  <a:srgbClr val="CDD7E3"/>
                </a:solidFill>
                <a:latin typeface="Courier New" pitchFamily="34" charset="0"/>
                <a:ea typeface="Courier New" pitchFamily="34" charset="-122"/>
                <a:cs typeface="Courier New" pitchFamily="34" charset="-120"/>
              </a:rPr>
              <a:t>: </a:t>
            </a:r>
            <a:pPr algn="l" indent="0" marL="0">
              <a:lnSpc>
                <a:spcPct val="147321"/>
              </a:lnSpc>
              <a:buNone/>
            </a:pPr>
            <a:r>
              <a:rPr lang="en-US" sz="1875" dirty="0">
                <a:solidFill>
                  <a:srgbClr val="E6C07B"/>
                </a:solidFill>
                <a:latin typeface="Courier New" pitchFamily="34" charset="0"/>
                <a:ea typeface="Courier New" pitchFamily="34" charset="-122"/>
                <a:cs typeface="Courier New" pitchFamily="34" charset="-120"/>
              </a:rPr>
              <a:t>14799859 </a:t>
            </a:r>
            <a:pPr algn="l" indent="0" marL="0">
              <a:lnSpc>
                <a:spcPct val="147321"/>
              </a:lnSpc>
              <a:buNone/>
            </a:pPr>
            <a:r>
              <a:rPr lang="en-US" sz="1875" dirty="0">
                <a:solidFill>
                  <a:srgbClr val="CDD7E3"/>
                </a:solidFill>
                <a:latin typeface="Courier New" pitchFamily="34" charset="0"/>
                <a:ea typeface="Courier New" pitchFamily="34" charset="-122"/>
                <a:cs typeface="Courier New" pitchFamily="34" charset="-120"/>
              </a:rPr>
              <a:t>,</a:t>
            </a:r>
            <a:endParaRPr lang="en-US" sz="1875" dirty="0"/>
          </a:p>
          <a:p>
            <a:pPr algn="l" indent="0" marL="0">
              <a:lnSpc>
                <a:spcPct val="147321"/>
              </a:lnSpc>
              <a:buNone/>
            </a:pPr>
            <a:r>
              <a:rPr lang="en-US" sz="1875" dirty="0">
                <a:solidFill>
                  <a:srgbClr val="CDD7E3"/>
                </a:solidFill>
                <a:latin typeface="Courier New" pitchFamily="34" charset="0"/>
                <a:ea typeface="Courier New" pitchFamily="34" charset="-122"/>
                <a:cs typeface="Courier New" pitchFamily="34" charset="-120"/>
              </a:rPr>
              <a:t>   </a:t>
            </a:r>
            <a:endParaRPr lang="en-US" sz="1875" dirty="0"/>
          </a:p>
          <a:p>
            <a:pPr algn="l" indent="0" marL="0">
              <a:lnSpc>
                <a:spcPct val="147321"/>
              </a:lnSpc>
              <a:buNone/>
            </a:pPr>
            <a:r>
              <a:rPr lang="en-US" sz="1875" dirty="0">
                <a:solidFill>
                  <a:srgbClr val="B897F0"/>
                </a:solidFill>
                <a:latin typeface="Courier New" pitchFamily="34" charset="0"/>
                <a:ea typeface="Courier New" pitchFamily="34" charset="-122"/>
                <a:cs typeface="Courier New" pitchFamily="34" charset="-120"/>
              </a:rPr>
              <a:t>"currencies" </a:t>
            </a:r>
            <a:pPr algn="l" indent="0" marL="0">
              <a:lnSpc>
                <a:spcPct val="147321"/>
              </a:lnSpc>
              <a:buNone/>
            </a:pPr>
            <a:r>
              <a:rPr lang="en-US" sz="1875" dirty="0">
                <a:solidFill>
                  <a:srgbClr val="CDD7E3"/>
                </a:solidFill>
                <a:latin typeface="Courier New" pitchFamily="34" charset="0"/>
                <a:ea typeface="Courier New" pitchFamily="34" charset="-122"/>
                <a:cs typeface="Courier New" pitchFamily="34" charset="-120"/>
              </a:rPr>
              <a:t>: [</a:t>
            </a:r>
            <a:endParaRPr lang="en-US" sz="1875" dirty="0"/>
          </a:p>
          <a:p>
            <a:pPr algn="l" indent="0" marL="0">
              <a:lnSpc>
                <a:spcPct val="147321"/>
              </a:lnSpc>
              <a:buNone/>
            </a:pPr>
            <a:r>
              <a:rPr lang="en-US" sz="1875" dirty="0">
                <a:solidFill>
                  <a:srgbClr val="CDD7E3"/>
                </a:solidFill>
                <a:latin typeface="Courier New" pitchFamily="34" charset="0"/>
                <a:ea typeface="Courier New" pitchFamily="34" charset="-122"/>
                <a:cs typeface="Courier New" pitchFamily="34" charset="-120"/>
              </a:rPr>
              <a:t>    {  </a:t>
            </a:r>
            <a:endParaRPr lang="en-US" sz="1875" dirty="0"/>
          </a:p>
          <a:p>
            <a:pPr algn="l" indent="0" marL="0">
              <a:lnSpc>
                <a:spcPct val="147321"/>
              </a:lnSpc>
              <a:buNone/>
            </a:pPr>
            <a:r>
              <a:rPr lang="en-US" sz="1875" dirty="0">
                <a:solidFill>
                  <a:srgbClr val="B897F0"/>
                </a:solidFill>
                <a:latin typeface="Courier New" pitchFamily="34" charset="0"/>
                <a:ea typeface="Courier New" pitchFamily="34" charset="-122"/>
                <a:cs typeface="Courier New" pitchFamily="34" charset="-120"/>
              </a:rPr>
              <a:t>"code"</a:t>
            </a:r>
            <a:pPr algn="l" indent="0" marL="0">
              <a:lnSpc>
                <a:spcPct val="147321"/>
              </a:lnSpc>
              <a:buNone/>
            </a:pPr>
            <a:r>
              <a:rPr lang="en-US" sz="1875" dirty="0">
                <a:solidFill>
                  <a:srgbClr val="CDD7E3"/>
                </a:solidFill>
                <a:latin typeface="Courier New" pitchFamily="34" charset="0"/>
                <a:ea typeface="Courier New" pitchFamily="34" charset="-122"/>
                <a:cs typeface="Courier New" pitchFamily="34" charset="-120"/>
              </a:rPr>
              <a:t>: </a:t>
            </a:r>
            <a:pPr algn="l" indent="0" marL="0">
              <a:lnSpc>
                <a:spcPct val="147321"/>
              </a:lnSpc>
              <a:buNone/>
            </a:pPr>
            <a:r>
              <a:rPr lang="en-US" sz="1875" dirty="0">
                <a:solidFill>
                  <a:srgbClr val="FFB46E"/>
                </a:solidFill>
                <a:latin typeface="Courier New" pitchFamily="34" charset="0"/>
                <a:ea typeface="Courier New" pitchFamily="34" charset="-122"/>
                <a:cs typeface="Courier New" pitchFamily="34" charset="-120"/>
              </a:rPr>
              <a:t>"XOF"</a:t>
            </a:r>
            <a:pPr algn="l" indent="0" marL="0">
              <a:lnSpc>
                <a:spcPct val="147321"/>
              </a:lnSpc>
              <a:buNone/>
            </a:pPr>
            <a:r>
              <a:rPr lang="en-US" sz="1875" dirty="0">
                <a:solidFill>
                  <a:srgbClr val="CDD7E3"/>
                </a:solidFill>
                <a:latin typeface="Courier New" pitchFamily="34" charset="0"/>
                <a:ea typeface="Courier New" pitchFamily="34" charset="-122"/>
                <a:cs typeface="Courier New" pitchFamily="34" charset="-120"/>
              </a:rPr>
              <a:t>, </a:t>
            </a:r>
            <a:pPr algn="l" indent="0" marL="0">
              <a:lnSpc>
                <a:spcPct val="147321"/>
              </a:lnSpc>
              <a:buNone/>
            </a:pPr>
            <a:r>
              <a:rPr lang="en-US" sz="1875" dirty="0">
                <a:solidFill>
                  <a:srgbClr val="B897F0"/>
                </a:solidFill>
                <a:latin typeface="Courier New" pitchFamily="34" charset="0"/>
                <a:ea typeface="Courier New" pitchFamily="34" charset="-122"/>
                <a:cs typeface="Courier New" pitchFamily="34" charset="-120"/>
              </a:rPr>
              <a:t>"name"</a:t>
            </a:r>
            <a:pPr algn="l" indent="0" marL="0">
              <a:lnSpc>
                <a:spcPct val="147321"/>
              </a:lnSpc>
              <a:buNone/>
            </a:pPr>
            <a:r>
              <a:rPr lang="en-US" sz="1875" dirty="0">
                <a:solidFill>
                  <a:srgbClr val="CDD7E3"/>
                </a:solidFill>
                <a:latin typeface="Courier New" pitchFamily="34" charset="0"/>
                <a:ea typeface="Courier New" pitchFamily="34" charset="-122"/>
                <a:cs typeface="Courier New" pitchFamily="34" charset="-120"/>
              </a:rPr>
              <a:t>: </a:t>
            </a:r>
            <a:pPr algn="l" indent="0" marL="0">
              <a:lnSpc>
                <a:spcPct val="147321"/>
              </a:lnSpc>
              <a:buNone/>
            </a:pPr>
            <a:r>
              <a:rPr lang="en-US" sz="1875" dirty="0">
                <a:solidFill>
                  <a:srgbClr val="FFB46E"/>
                </a:solidFill>
                <a:latin typeface="Courier New" pitchFamily="34" charset="0"/>
                <a:ea typeface="Courier New" pitchFamily="34" charset="-122"/>
                <a:cs typeface="Courier New" pitchFamily="34" charset="-120"/>
              </a:rPr>
              <a:t>"West African CFA franc" </a:t>
            </a:r>
            <a:pPr algn="l" indent="0" marL="0">
              <a:lnSpc>
                <a:spcPct val="147321"/>
              </a:lnSpc>
              <a:buNone/>
            </a:pPr>
            <a:r>
              <a:rPr lang="en-US" sz="1875" dirty="0">
                <a:solidFill>
                  <a:srgbClr val="CDD7E3"/>
                </a:solidFill>
                <a:latin typeface="Courier New" pitchFamily="34" charset="0"/>
                <a:ea typeface="Courier New" pitchFamily="34" charset="-122"/>
                <a:cs typeface="Courier New" pitchFamily="34" charset="-120"/>
              </a:rPr>
              <a:t> }</a:t>
            </a:r>
            <a:endParaRPr lang="en-US" sz="1875" dirty="0"/>
          </a:p>
          <a:p>
            <a:pPr algn="l" indent="0" marL="0">
              <a:lnSpc>
                <a:spcPct val="147321"/>
              </a:lnSpc>
              <a:buNone/>
            </a:pPr>
            <a:r>
              <a:rPr lang="en-US" sz="1875" dirty="0">
                <a:solidFill>
                  <a:srgbClr val="CDD7E3"/>
                </a:solidFill>
                <a:latin typeface="Courier New" pitchFamily="34" charset="0"/>
                <a:ea typeface="Courier New" pitchFamily="34" charset="-122"/>
                <a:cs typeface="Courier New" pitchFamily="34" charset="-120"/>
              </a:rPr>
              <a:t>  ],</a:t>
            </a:r>
            <a:endParaRPr lang="en-US" sz="1875" dirty="0"/>
          </a:p>
          <a:p>
            <a:pPr algn="l" indent="0" marL="0">
              <a:lnSpc>
                <a:spcPct val="147321"/>
              </a:lnSpc>
              <a:buNone/>
            </a:pPr>
            <a:r>
              <a:rPr lang="en-US" sz="1875" dirty="0">
                <a:solidFill>
                  <a:srgbClr val="CDD7E3"/>
                </a:solidFill>
                <a:latin typeface="Courier New" pitchFamily="34" charset="0"/>
                <a:ea typeface="Courier New" pitchFamily="34" charset="-122"/>
                <a:cs typeface="Courier New" pitchFamily="34" charset="-120"/>
              </a:rPr>
              <a:t>   </a:t>
            </a:r>
            <a:endParaRPr lang="en-US" sz="1875" dirty="0"/>
          </a:p>
          <a:p>
            <a:pPr algn="l" indent="0" marL="0">
              <a:lnSpc>
                <a:spcPct val="147321"/>
              </a:lnSpc>
              <a:buNone/>
            </a:pPr>
            <a:r>
              <a:rPr lang="en-US" sz="1875" dirty="0">
                <a:solidFill>
                  <a:srgbClr val="B897F0"/>
                </a:solidFill>
                <a:latin typeface="Courier New" pitchFamily="34" charset="0"/>
                <a:ea typeface="Courier New" pitchFamily="34" charset="-122"/>
                <a:cs typeface="Courier New" pitchFamily="34" charset="-120"/>
              </a:rPr>
              <a:t>"languages" </a:t>
            </a:r>
            <a:pPr algn="l" indent="0" marL="0">
              <a:lnSpc>
                <a:spcPct val="147321"/>
              </a:lnSpc>
              <a:buNone/>
            </a:pPr>
            <a:r>
              <a:rPr lang="en-US" sz="1875" dirty="0">
                <a:solidFill>
                  <a:srgbClr val="CDD7E3"/>
                </a:solidFill>
                <a:latin typeface="Courier New" pitchFamily="34" charset="0"/>
                <a:ea typeface="Courier New" pitchFamily="34" charset="-122"/>
                <a:cs typeface="Courier New" pitchFamily="34" charset="-120"/>
              </a:rPr>
              <a:t>: [</a:t>
            </a:r>
            <a:endParaRPr lang="en-US" sz="1875" dirty="0"/>
          </a:p>
          <a:p>
            <a:pPr algn="l" indent="0" marL="0">
              <a:lnSpc>
                <a:spcPct val="147321"/>
              </a:lnSpc>
              <a:buNone/>
            </a:pPr>
            <a:r>
              <a:rPr lang="en-US" sz="1875" dirty="0">
                <a:solidFill>
                  <a:srgbClr val="CDD7E3"/>
                </a:solidFill>
                <a:latin typeface="Courier New" pitchFamily="34" charset="0"/>
                <a:ea typeface="Courier New" pitchFamily="34" charset="-122"/>
                <a:cs typeface="Courier New" pitchFamily="34" charset="-120"/>
              </a:rPr>
              <a:t>    {  </a:t>
            </a:r>
            <a:endParaRPr lang="en-US" sz="1875" dirty="0"/>
          </a:p>
          <a:p>
            <a:pPr algn="l" indent="0" marL="0">
              <a:lnSpc>
                <a:spcPct val="147321"/>
              </a:lnSpc>
              <a:buNone/>
            </a:pPr>
            <a:r>
              <a:rPr lang="en-US" sz="1875" dirty="0">
                <a:solidFill>
                  <a:srgbClr val="B897F0"/>
                </a:solidFill>
                <a:latin typeface="Courier New" pitchFamily="34" charset="0"/>
                <a:ea typeface="Courier New" pitchFamily="34" charset="-122"/>
                <a:cs typeface="Courier New" pitchFamily="34" charset="-120"/>
              </a:rPr>
              <a:t>"iso639_1"</a:t>
            </a:r>
            <a:pPr algn="l" indent="0" marL="0">
              <a:lnSpc>
                <a:spcPct val="147321"/>
              </a:lnSpc>
              <a:buNone/>
            </a:pPr>
            <a:r>
              <a:rPr lang="en-US" sz="1875" dirty="0">
                <a:solidFill>
                  <a:srgbClr val="CDD7E3"/>
                </a:solidFill>
                <a:latin typeface="Courier New" pitchFamily="34" charset="0"/>
                <a:ea typeface="Courier New" pitchFamily="34" charset="-122"/>
                <a:cs typeface="Courier New" pitchFamily="34" charset="-120"/>
              </a:rPr>
              <a:t>: </a:t>
            </a:r>
            <a:pPr algn="l" indent="0" marL="0">
              <a:lnSpc>
                <a:spcPct val="147321"/>
              </a:lnSpc>
              <a:buNone/>
            </a:pPr>
            <a:r>
              <a:rPr lang="en-US" sz="1875" dirty="0">
                <a:solidFill>
                  <a:srgbClr val="FFB46E"/>
                </a:solidFill>
                <a:latin typeface="Courier New" pitchFamily="34" charset="0"/>
                <a:ea typeface="Courier New" pitchFamily="34" charset="-122"/>
                <a:cs typeface="Courier New" pitchFamily="34" charset="-120"/>
              </a:rPr>
              <a:t>"fr"</a:t>
            </a:r>
            <a:pPr algn="l" indent="0" marL="0">
              <a:lnSpc>
                <a:spcPct val="147321"/>
              </a:lnSpc>
              <a:buNone/>
            </a:pPr>
            <a:r>
              <a:rPr lang="en-US" sz="1875" dirty="0">
                <a:solidFill>
                  <a:srgbClr val="CDD7E3"/>
                </a:solidFill>
                <a:latin typeface="Courier New" pitchFamily="34" charset="0"/>
                <a:ea typeface="Courier New" pitchFamily="34" charset="-122"/>
                <a:cs typeface="Courier New" pitchFamily="34" charset="-120"/>
              </a:rPr>
              <a:t>, </a:t>
            </a:r>
            <a:pPr algn="l" indent="0" marL="0">
              <a:lnSpc>
                <a:spcPct val="147321"/>
              </a:lnSpc>
              <a:buNone/>
            </a:pPr>
            <a:r>
              <a:rPr lang="en-US" sz="1875" dirty="0">
                <a:solidFill>
                  <a:srgbClr val="B897F0"/>
                </a:solidFill>
                <a:latin typeface="Courier New" pitchFamily="34" charset="0"/>
                <a:ea typeface="Courier New" pitchFamily="34" charset="-122"/>
                <a:cs typeface="Courier New" pitchFamily="34" charset="-120"/>
              </a:rPr>
              <a:t>"name"</a:t>
            </a:r>
            <a:pPr algn="l" indent="0" marL="0">
              <a:lnSpc>
                <a:spcPct val="147321"/>
              </a:lnSpc>
              <a:buNone/>
            </a:pPr>
            <a:r>
              <a:rPr lang="en-US" sz="1875" dirty="0">
                <a:solidFill>
                  <a:srgbClr val="CDD7E3"/>
                </a:solidFill>
                <a:latin typeface="Courier New" pitchFamily="34" charset="0"/>
                <a:ea typeface="Courier New" pitchFamily="34" charset="-122"/>
                <a:cs typeface="Courier New" pitchFamily="34" charset="-120"/>
              </a:rPr>
              <a:t>: </a:t>
            </a:r>
            <a:pPr algn="l" indent="0" marL="0">
              <a:lnSpc>
                <a:spcPct val="147321"/>
              </a:lnSpc>
              <a:buNone/>
            </a:pPr>
            <a:r>
              <a:rPr lang="en-US" sz="1875" dirty="0">
                <a:solidFill>
                  <a:srgbClr val="FFB46E"/>
                </a:solidFill>
                <a:latin typeface="Courier New" pitchFamily="34" charset="0"/>
                <a:ea typeface="Courier New" pitchFamily="34" charset="-122"/>
                <a:cs typeface="Courier New" pitchFamily="34" charset="-120"/>
              </a:rPr>
              <a:t>"French" </a:t>
            </a:r>
            <a:pPr algn="l" indent="0" marL="0">
              <a:lnSpc>
                <a:spcPct val="147321"/>
              </a:lnSpc>
              <a:buNone/>
            </a:pPr>
            <a:r>
              <a:rPr lang="en-US" sz="1875" dirty="0">
                <a:solidFill>
                  <a:srgbClr val="CDD7E3"/>
                </a:solidFill>
                <a:latin typeface="Courier New" pitchFamily="34" charset="0"/>
                <a:ea typeface="Courier New" pitchFamily="34" charset="-122"/>
                <a:cs typeface="Courier New" pitchFamily="34" charset="-120"/>
              </a:rPr>
              <a:t> }</a:t>
            </a:r>
            <a:endParaRPr lang="en-US" sz="1875" dirty="0"/>
          </a:p>
          <a:p>
            <a:pPr algn="l" indent="0" marL="0">
              <a:lnSpc>
                <a:spcPct val="147321"/>
              </a:lnSpc>
              <a:buNone/>
            </a:pPr>
            <a:r>
              <a:rPr lang="en-US" sz="1875" dirty="0">
                <a:solidFill>
                  <a:srgbClr val="CDD7E3"/>
                </a:solidFill>
                <a:latin typeface="Courier New" pitchFamily="34" charset="0"/>
                <a:ea typeface="Courier New" pitchFamily="34" charset="-122"/>
                <a:cs typeface="Courier New" pitchFamily="34" charset="-120"/>
              </a:rPr>
              <a:t>  ]</a:t>
            </a:r>
            <a:endParaRPr lang="en-US" sz="1875" dirty="0"/>
          </a:p>
          <a:p>
            <a:pPr algn="l" indent="0" marL="0">
              <a:lnSpc>
                <a:spcPct val="147321"/>
              </a:lnSpc>
              <a:buNone/>
            </a:pPr>
            <a:r>
              <a:rPr lang="en-US" sz="1875" dirty="0">
                <a:solidFill>
                  <a:srgbClr val="CDD7E3"/>
                </a:solidFill>
                <a:latin typeface="Courier New" pitchFamily="34" charset="0"/>
                <a:ea typeface="Courier New" pitchFamily="34" charset="-122"/>
                <a:cs typeface="Courier New" pitchFamily="34" charset="-120"/>
              </a:rPr>
              <a:t>}</a:t>
            </a:r>
            <a:endParaRPr lang="en-US" sz="1875" dirty="0"/>
          </a:p>
        </p:txBody>
      </p:sp>
      <p:sp>
        <p:nvSpPr>
          <p:cNvPr id="11" name="Text 9"/>
          <p:cNvSpPr/>
          <p:nvPr/>
        </p:nvSpPr>
        <p:spPr>
          <a:xfrm>
            <a:off x="10894021" y="4364137"/>
            <a:ext cx="6516995" cy="782836"/>
          </a:xfrm>
          <a:prstGeom prst="rect">
            <a:avLst/>
          </a:prstGeom>
          <a:noFill/>
          <a:ln/>
        </p:spPr>
        <p:txBody>
          <a:bodyPr wrap="square" lIns="25400" tIns="25400" rIns="25400" bIns="25400" rtlCol="0" anchor="t">
            <a:normAutofit/>
          </a:bodyPr>
          <a:lstStyle/>
          <a:p>
            <a:pPr algn="l" indent="0" marL="0">
              <a:lnSpc>
                <a:spcPct val="99407"/>
              </a:lnSpc>
              <a:buNone/>
            </a:pPr>
            <a:r>
              <a:rPr lang="en-US" sz="2550" b="1" dirty="0">
                <a:solidFill>
                  <a:srgbClr val="EEF3F9">
                    <a:alpha val="82000"/>
                  </a:srgbClr>
                </a:solidFill>
                <a:latin typeface="Arial" pitchFamily="34" charset="0"/>
                <a:ea typeface="Arial" pitchFamily="34" charset="-122"/>
                <a:cs typeface="Arial" pitchFamily="34" charset="-120"/>
              </a:rPr>
              <a:t>Structure hiérarchique d’un document BSON</a:t>
            </a:r>
            <a:endParaRPr lang="en-US" sz="2550" dirty="0"/>
          </a:p>
        </p:txBody>
      </p:sp>
      <p:sp>
        <p:nvSpPr>
          <p:cNvPr id="12" name="Text 10"/>
          <p:cNvSpPr/>
          <p:nvPr/>
        </p:nvSpPr>
        <p:spPr>
          <a:xfrm>
            <a:off x="10894021" y="5356523"/>
            <a:ext cx="6516995" cy="952500"/>
          </a:xfrm>
          <a:prstGeom prst="rect">
            <a:avLst/>
          </a:prstGeom>
          <a:noFill/>
          <a:ln/>
        </p:spPr>
        <p:txBody>
          <a:bodyPr wrap="square" lIns="25400" tIns="25400" rIns="25400" bIns="25400" rtlCol="0" anchor="t">
            <a:normAutofit/>
          </a:bodyPr>
          <a:lstStyle/>
          <a:p>
            <a:pPr algn="l" indent="0" marL="0">
              <a:lnSpc>
                <a:spcPct val="130909"/>
              </a:lnSpc>
              <a:buNone/>
            </a:pPr>
            <a:r>
              <a:rPr lang="en-US" sz="2400" dirty="0">
                <a:solidFill>
                  <a:srgbClr val="8EA0B5">
                    <a:alpha val="82000"/>
                  </a:srgbClr>
                </a:solidFill>
                <a:latin typeface="Arial" pitchFamily="34" charset="0"/>
                <a:ea typeface="Arial" pitchFamily="34" charset="-122"/>
                <a:cs typeface="Arial" pitchFamily="34" charset="-120"/>
              </a:rPr>
              <a:t>Les champs </a:t>
            </a:r>
            <a:pPr algn="l" indent="0" marL="0">
              <a:lnSpc>
                <a:spcPct val="130909"/>
              </a:lnSpc>
              <a:buNone/>
            </a:pPr>
            <a:r>
              <a:rPr lang="en-US" sz="2400" dirty="0">
                <a:solidFill>
                  <a:srgbClr val="EEF3F9">
                    <a:alpha val="82000"/>
                  </a:srgbClr>
                </a:solidFill>
                <a:latin typeface="Arial" pitchFamily="34" charset="0"/>
                <a:ea typeface="Arial" pitchFamily="34" charset="-122"/>
                <a:cs typeface="Arial" pitchFamily="34" charset="-120"/>
              </a:rPr>
              <a:t>currencies </a:t>
            </a:r>
            <a:pPr algn="l" indent="0" marL="0">
              <a:lnSpc>
                <a:spcPct val="130909"/>
              </a:lnSpc>
              <a:buNone/>
            </a:pPr>
            <a:r>
              <a:rPr lang="en-US" sz="2400" dirty="0">
                <a:solidFill>
                  <a:srgbClr val="8EA0B5">
                    <a:alpha val="82000"/>
                  </a:srgbClr>
                </a:solidFill>
                <a:latin typeface="Arial" pitchFamily="34" charset="0"/>
                <a:ea typeface="Arial" pitchFamily="34" charset="-122"/>
                <a:cs typeface="Arial" pitchFamily="34" charset="-120"/>
              </a:rPr>
              <a:t>et </a:t>
            </a:r>
            <a:pPr algn="l" indent="0" marL="0">
              <a:lnSpc>
                <a:spcPct val="130909"/>
              </a:lnSpc>
              <a:buNone/>
            </a:pPr>
            <a:r>
              <a:rPr lang="en-US" sz="2400" dirty="0">
                <a:solidFill>
                  <a:srgbClr val="EEF3F9">
                    <a:alpha val="82000"/>
                  </a:srgbClr>
                </a:solidFill>
                <a:latin typeface="Arial" pitchFamily="34" charset="0"/>
                <a:ea typeface="Arial" pitchFamily="34" charset="-122"/>
                <a:cs typeface="Arial" pitchFamily="34" charset="-120"/>
              </a:rPr>
              <a:t>languages </a:t>
            </a:r>
            <a:pPr algn="l" indent="0" marL="0">
              <a:lnSpc>
                <a:spcPct val="130909"/>
              </a:lnSpc>
              <a:buNone/>
            </a:pPr>
            <a:r>
              <a:rPr lang="en-US" sz="2400" dirty="0">
                <a:solidFill>
                  <a:srgbClr val="8EA0B5">
                    <a:alpha val="82000"/>
                  </a:srgbClr>
                </a:solidFill>
                <a:latin typeface="Arial" pitchFamily="34" charset="0"/>
                <a:ea typeface="Arial" pitchFamily="34" charset="-122"/>
                <a:cs typeface="Arial" pitchFamily="34" charset="-120"/>
              </a:rPr>
              <a:t>sont des tableaux d'objets embarqués.</a:t>
            </a:r>
            <a:endParaRPr lang="en-US" sz="2400" dirty="0"/>
          </a:p>
        </p:txBody>
      </p:sp>
      <p:sp>
        <p:nvSpPr>
          <p:cNvPr id="13" name="Text 11"/>
          <p:cNvSpPr/>
          <p:nvPr/>
        </p:nvSpPr>
        <p:spPr>
          <a:xfrm>
            <a:off x="10894021" y="6518573"/>
            <a:ext cx="6516995" cy="952500"/>
          </a:xfrm>
          <a:prstGeom prst="rect">
            <a:avLst/>
          </a:prstGeom>
          <a:noFill/>
          <a:ln/>
        </p:spPr>
        <p:txBody>
          <a:bodyPr wrap="square" lIns="25400" tIns="25400" rIns="25400" bIns="25400" rtlCol="0" anchor="t">
            <a:normAutofit/>
          </a:bodyPr>
          <a:lstStyle/>
          <a:p>
            <a:pPr algn="l" indent="0" marL="0">
              <a:lnSpc>
                <a:spcPct val="130909"/>
              </a:lnSpc>
              <a:buNone/>
            </a:pPr>
            <a:r>
              <a:rPr lang="en-US" sz="2400" dirty="0">
                <a:solidFill>
                  <a:srgbClr val="8EA0B5">
                    <a:alpha val="82000"/>
                  </a:srgbClr>
                </a:solidFill>
                <a:latin typeface="Arial" pitchFamily="34" charset="0"/>
                <a:ea typeface="Arial" pitchFamily="34" charset="-122"/>
                <a:cs typeface="Arial" pitchFamily="34" charset="-120"/>
              </a:rPr>
              <a:t>On filtre directement sur un champ imbriqué — </a:t>
            </a:r>
            <a:pPr algn="l" indent="0" marL="0">
              <a:lnSpc>
                <a:spcPct val="130909"/>
              </a:lnSpc>
              <a:buNone/>
            </a:pPr>
            <a:r>
              <a:rPr lang="en-US" sz="1950" dirty="0">
                <a:solidFill>
                  <a:srgbClr val="B897F0">
                    <a:alpha val="82000"/>
                  </a:srgbClr>
                </a:solidFill>
                <a:latin typeface="Courier New" pitchFamily="34" charset="0"/>
                <a:ea typeface="Courier New" pitchFamily="34" charset="-122"/>
                <a:cs typeface="Courier New" pitchFamily="34" charset="-120"/>
              </a:rPr>
              <a:t>"currencies.name" </a:t>
            </a:r>
            <a:pPr algn="l" indent="0" marL="0">
              <a:lnSpc>
                <a:spcPct val="130909"/>
              </a:lnSpc>
              <a:buNone/>
            </a:pPr>
            <a:r>
              <a:rPr lang="en-US" sz="2400" dirty="0">
                <a:solidFill>
                  <a:srgbClr val="8EA0B5">
                    <a:alpha val="82000"/>
                  </a:srgbClr>
                </a:solidFill>
                <a:latin typeface="Arial" pitchFamily="34" charset="0"/>
                <a:ea typeface="Arial" pitchFamily="34" charset="-122"/>
                <a:cs typeface="Arial" pitchFamily="34" charset="-120"/>
              </a:rPr>
              <a:t>— sans aucune jointure.</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0E15"/>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B897F0">
                    <a:alpha val="97000"/>
                  </a:srgbClr>
                </a:solidFill>
                <a:latin typeface="Courier New" pitchFamily="34" charset="0"/>
                <a:ea typeface="Courier New" pitchFamily="34" charset="-122"/>
                <a:cs typeface="Courier New" pitchFamily="34" charset="-120"/>
              </a:rPr>
              <a:t>ATELIER 02 · MQL</a:t>
            </a:r>
            <a:endParaRPr lang="en-US" sz="1800" dirty="0"/>
          </a:p>
        </p:txBody>
      </p:sp>
      <p:sp>
        <p:nvSpPr>
          <p:cNvPr id="3" name="Text 1"/>
          <p:cNvSpPr/>
          <p:nvPr/>
        </p:nvSpPr>
        <p:spPr>
          <a:xfrm>
            <a:off x="1066800" y="1314451"/>
            <a:ext cx="11188005"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Le MongoDB Query Language (MQL)</a:t>
            </a:r>
            <a:endParaRPr lang="en-US" sz="4800" dirty="0"/>
          </a:p>
        </p:txBody>
      </p:sp>
      <p:sp>
        <p:nvSpPr>
          <p:cNvPr id="4" name="Text 2"/>
          <p:cNvSpPr/>
          <p:nvPr/>
        </p:nvSpPr>
        <p:spPr>
          <a:xfrm>
            <a:off x="1066800" y="2119809"/>
            <a:ext cx="15691039" cy="464741"/>
          </a:xfrm>
          <a:prstGeom prst="rect">
            <a:avLst/>
          </a:prstGeom>
          <a:noFill/>
          <a:ln/>
        </p:spPr>
        <p:txBody>
          <a:bodyPr wrap="square" lIns="25400" tIns="25400" rIns="25400" bIns="25400" rtlCol="0" anchor="t">
            <a:normAutofit/>
          </a:bodyPr>
          <a:lstStyle/>
          <a:p>
            <a:pPr algn="l" indent="0" marL="0">
              <a:lnSpc>
                <a:spcPct val="122182"/>
              </a:lnSpc>
              <a:buNone/>
            </a:pPr>
            <a:r>
              <a:rPr lang="en-US" sz="2400" dirty="0">
                <a:solidFill>
                  <a:srgbClr val="8EA0B5">
                    <a:alpha val="91000"/>
                  </a:srgbClr>
                </a:solidFill>
                <a:latin typeface="Arial" pitchFamily="34" charset="0"/>
                <a:ea typeface="Arial" pitchFamily="34" charset="-122"/>
                <a:cs typeface="Arial" pitchFamily="34" charset="-120"/>
              </a:rPr>
              <a:t>L'équivalent de SQL dans l'écosystème MongoDB, adapté au modèle orienté documents.</a:t>
            </a:r>
            <a:endParaRPr lang="en-US" sz="2400" dirty="0"/>
          </a:p>
        </p:txBody>
      </p:sp>
      <p:sp>
        <p:nvSpPr>
          <p:cNvPr id="5" name="Shape 3"/>
          <p:cNvSpPr/>
          <p:nvPr/>
        </p:nvSpPr>
        <p:spPr>
          <a:xfrm>
            <a:off x="1066800" y="2851251"/>
            <a:ext cx="8640663" cy="6616601"/>
          </a:xfrm>
          <a:prstGeom prst="roundRect">
            <a:avLst>
              <a:gd name="adj" fmla="val 2303"/>
            </a:avLst>
          </a:prstGeom>
          <a:solidFill>
            <a:srgbClr val="06090E"/>
          </a:solidFill>
          <a:ln w="6350">
            <a:solidFill>
              <a:srgbClr val="FFFFFF">
                <a:alpha val="10000"/>
              </a:srgbClr>
            </a:solidFill>
            <a:prstDash val="solid"/>
          </a:ln>
        </p:spPr>
      </p:sp>
      <p:sp>
        <p:nvSpPr>
          <p:cNvPr id="6" name="Shape 4"/>
          <p:cNvSpPr/>
          <p:nvPr/>
        </p:nvSpPr>
        <p:spPr>
          <a:xfrm>
            <a:off x="1073150" y="3467201"/>
            <a:ext cx="8627963" cy="9525"/>
          </a:xfrm>
          <a:prstGeom prst="rect">
            <a:avLst/>
          </a:prstGeom>
          <a:solidFill>
            <a:srgbClr val="FFFFFF">
              <a:alpha val="6000"/>
            </a:srgbClr>
          </a:solidFill>
          <a:ln/>
        </p:spPr>
      </p:sp>
      <p:sp>
        <p:nvSpPr>
          <p:cNvPr id="7" name="Text 5"/>
          <p:cNvSpPr/>
          <p:nvPr/>
        </p:nvSpPr>
        <p:spPr>
          <a:xfrm>
            <a:off x="1301750" y="3010001"/>
            <a:ext cx="8429602"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solidFill>
                <a:latin typeface="Courier New" pitchFamily="34" charset="0"/>
                <a:ea typeface="Courier New" pitchFamily="34" charset="-122"/>
                <a:cs typeface="Courier New" pitchFamily="34" charset="-120"/>
              </a:rPr>
              <a:t>structure générale d'une requête</a:t>
            </a:r>
            <a:endParaRPr lang="en-US" sz="1800" dirty="0"/>
          </a:p>
        </p:txBody>
      </p:sp>
      <p:sp>
        <p:nvSpPr>
          <p:cNvPr id="8" name="Text 6"/>
          <p:cNvSpPr/>
          <p:nvPr/>
        </p:nvSpPr>
        <p:spPr>
          <a:xfrm>
            <a:off x="1358900" y="3721201"/>
            <a:ext cx="8298157" cy="490538"/>
          </a:xfrm>
          <a:prstGeom prst="rect">
            <a:avLst/>
          </a:prstGeom>
          <a:noFill/>
          <a:ln/>
        </p:spPr>
        <p:txBody>
          <a:bodyPr wrap="square" lIns="25400" tIns="25400" rIns="25400" bIns="25400" rtlCol="0" anchor="t">
            <a:normAutofit/>
          </a:bodyPr>
          <a:lstStyle/>
          <a:p>
            <a:pPr algn="l" indent="0" marL="0">
              <a:lnSpc>
                <a:spcPct val="169643"/>
              </a:lnSpc>
              <a:buNone/>
            </a:pPr>
            <a:r>
              <a:rPr lang="en-US" sz="1875" dirty="0">
                <a:solidFill>
                  <a:srgbClr val="8EA0B5"/>
                </a:solidFill>
                <a:latin typeface="Courier New" pitchFamily="34" charset="0"/>
                <a:ea typeface="Courier New" pitchFamily="34" charset="-122"/>
                <a:cs typeface="Courier New" pitchFamily="34" charset="-120"/>
              </a:rPr>
              <a:t>db.</a:t>
            </a:r>
            <a:pPr algn="l" indent="0" marL="0">
              <a:lnSpc>
                <a:spcPct val="169643"/>
              </a:lnSpc>
              <a:buNone/>
            </a:pPr>
            <a:r>
              <a:rPr lang="en-US" sz="1875" dirty="0">
                <a:solidFill>
                  <a:srgbClr val="B897F0"/>
                </a:solidFill>
                <a:latin typeface="Courier New" pitchFamily="34" charset="0"/>
                <a:ea typeface="Courier New" pitchFamily="34" charset="-122"/>
                <a:cs typeface="Courier New" pitchFamily="34" charset="-120"/>
              </a:rPr>
              <a:t>collection</a:t>
            </a:r>
            <a:pPr algn="l" indent="0" marL="0">
              <a:lnSpc>
                <a:spcPct val="169643"/>
              </a:lnSpc>
              <a:buNone/>
            </a:pPr>
            <a:r>
              <a:rPr lang="en-US" sz="1875" dirty="0">
                <a:solidFill>
                  <a:srgbClr val="8EA0B5"/>
                </a:solidFill>
                <a:latin typeface="Courier New" pitchFamily="34" charset="0"/>
                <a:ea typeface="Courier New" pitchFamily="34" charset="-122"/>
                <a:cs typeface="Courier New" pitchFamily="34" charset="-120"/>
              </a:rPr>
              <a:t>.</a:t>
            </a:r>
            <a:pPr algn="l" indent="0" marL="0">
              <a:lnSpc>
                <a:spcPct val="169643"/>
              </a:lnSpc>
              <a:buNone/>
            </a:pPr>
            <a:r>
              <a:rPr lang="en-US" sz="1875" dirty="0">
                <a:solidFill>
                  <a:srgbClr val="56DBDB"/>
                </a:solidFill>
                <a:latin typeface="Courier New" pitchFamily="34" charset="0"/>
                <a:ea typeface="Courier New" pitchFamily="34" charset="-122"/>
                <a:cs typeface="Courier New" pitchFamily="34" charset="-120"/>
              </a:rPr>
              <a:t>méthode</a:t>
            </a:r>
            <a:pPr algn="l" indent="0" marL="0">
              <a:lnSpc>
                <a:spcPct val="169643"/>
              </a:lnSpc>
              <a:buNone/>
            </a:pPr>
            <a:r>
              <a:rPr lang="en-US" sz="1875" dirty="0">
                <a:solidFill>
                  <a:srgbClr val="CDD7E3"/>
                </a:solidFill>
                <a:latin typeface="Courier New" pitchFamily="34" charset="0"/>
                <a:ea typeface="Courier New" pitchFamily="34" charset="-122"/>
                <a:cs typeface="Courier New" pitchFamily="34" charset="-120"/>
              </a:rPr>
              <a:t>(</a:t>
            </a:r>
            <a:endParaRPr lang="en-US" sz="1875" dirty="0"/>
          </a:p>
        </p:txBody>
      </p:sp>
      <p:sp>
        <p:nvSpPr>
          <p:cNvPr id="9" name="Text 7"/>
          <p:cNvSpPr/>
          <p:nvPr/>
        </p:nvSpPr>
        <p:spPr>
          <a:xfrm>
            <a:off x="1644650" y="4173638"/>
            <a:ext cx="8012407" cy="490538"/>
          </a:xfrm>
          <a:prstGeom prst="rect">
            <a:avLst/>
          </a:prstGeom>
          <a:noFill/>
          <a:ln/>
        </p:spPr>
        <p:txBody>
          <a:bodyPr wrap="square" lIns="25400" tIns="25400" rIns="25400" bIns="25400" rtlCol="0" anchor="t">
            <a:normAutofit/>
          </a:bodyPr>
          <a:lstStyle/>
          <a:p>
            <a:pPr algn="l" indent="0" marL="0">
              <a:lnSpc>
                <a:spcPct val="169643"/>
              </a:lnSpc>
              <a:buNone/>
            </a:pPr>
            <a:r>
              <a:rPr lang="en-US" sz="1875" dirty="0">
                <a:solidFill>
                  <a:srgbClr val="E6C07B"/>
                </a:solidFill>
                <a:latin typeface="Courier New" pitchFamily="34" charset="0"/>
                <a:ea typeface="Courier New" pitchFamily="34" charset="-122"/>
                <a:cs typeface="Courier New" pitchFamily="34" charset="-120"/>
              </a:rPr>
              <a:t>{ filtre }</a:t>
            </a:r>
            <a:pPr algn="l" indent="0" marL="0">
              <a:lnSpc>
                <a:spcPct val="169643"/>
              </a:lnSpc>
              <a:buNone/>
            </a:pPr>
            <a:r>
              <a:rPr lang="en-US" sz="1875" dirty="0">
                <a:solidFill>
                  <a:srgbClr val="8EA0B5"/>
                </a:solidFill>
                <a:latin typeface="Courier New" pitchFamily="34" charset="0"/>
                <a:ea typeface="Courier New" pitchFamily="34" charset="-122"/>
                <a:cs typeface="Courier New" pitchFamily="34" charset="-120"/>
              </a:rPr>
              <a:t>, // sélection</a:t>
            </a:r>
            <a:endParaRPr lang="en-US" sz="1875" dirty="0"/>
          </a:p>
        </p:txBody>
      </p:sp>
      <p:sp>
        <p:nvSpPr>
          <p:cNvPr id="10" name="Text 8"/>
          <p:cNvSpPr/>
          <p:nvPr/>
        </p:nvSpPr>
        <p:spPr>
          <a:xfrm>
            <a:off x="1644650" y="4626076"/>
            <a:ext cx="8012407" cy="490538"/>
          </a:xfrm>
          <a:prstGeom prst="rect">
            <a:avLst/>
          </a:prstGeom>
          <a:noFill/>
          <a:ln/>
        </p:spPr>
        <p:txBody>
          <a:bodyPr wrap="square" lIns="25400" tIns="25400" rIns="25400" bIns="25400" rtlCol="0" anchor="t">
            <a:normAutofit/>
          </a:bodyPr>
          <a:lstStyle/>
          <a:p>
            <a:pPr algn="l" indent="0" marL="0">
              <a:lnSpc>
                <a:spcPct val="169643"/>
              </a:lnSpc>
              <a:buNone/>
            </a:pPr>
            <a:r>
              <a:rPr lang="en-US" sz="1875" dirty="0">
                <a:solidFill>
                  <a:srgbClr val="E6C07B"/>
                </a:solidFill>
                <a:latin typeface="Courier New" pitchFamily="34" charset="0"/>
                <a:ea typeface="Courier New" pitchFamily="34" charset="-122"/>
                <a:cs typeface="Courier New" pitchFamily="34" charset="-120"/>
              </a:rPr>
              <a:t>{ projection }</a:t>
            </a:r>
            <a:pPr algn="l" indent="0" marL="0">
              <a:lnSpc>
                <a:spcPct val="169643"/>
              </a:lnSpc>
              <a:buNone/>
            </a:pPr>
            <a:r>
              <a:rPr lang="en-US" sz="1875" dirty="0">
                <a:solidFill>
                  <a:srgbClr val="8EA0B5"/>
                </a:solidFill>
                <a:latin typeface="Courier New" pitchFamily="34" charset="0"/>
                <a:ea typeface="Courier New" pitchFamily="34" charset="-122"/>
                <a:cs typeface="Courier New" pitchFamily="34" charset="-120"/>
              </a:rPr>
              <a:t>// champs</a:t>
            </a:r>
            <a:endParaRPr lang="en-US" sz="1875" dirty="0"/>
          </a:p>
        </p:txBody>
      </p:sp>
      <p:sp>
        <p:nvSpPr>
          <p:cNvPr id="11" name="Text 9"/>
          <p:cNvSpPr/>
          <p:nvPr/>
        </p:nvSpPr>
        <p:spPr>
          <a:xfrm>
            <a:off x="1358900" y="5078513"/>
            <a:ext cx="8298157" cy="490538"/>
          </a:xfrm>
          <a:prstGeom prst="rect">
            <a:avLst/>
          </a:prstGeom>
          <a:noFill/>
          <a:ln/>
        </p:spPr>
        <p:txBody>
          <a:bodyPr wrap="square" lIns="25400" tIns="25400" rIns="25400" bIns="25400" rtlCol="0" anchor="t">
            <a:normAutofit/>
          </a:bodyPr>
          <a:lstStyle/>
          <a:p>
            <a:pPr algn="l" indent="0" marL="0">
              <a:lnSpc>
                <a:spcPct val="169643"/>
              </a:lnSpc>
              <a:buNone/>
            </a:pPr>
            <a:r>
              <a:rPr lang="en-US" sz="1875" dirty="0">
                <a:solidFill>
                  <a:srgbClr val="CDD7E3"/>
                </a:solidFill>
                <a:latin typeface="Courier New" pitchFamily="34" charset="0"/>
                <a:ea typeface="Courier New" pitchFamily="34" charset="-122"/>
                <a:cs typeface="Courier New" pitchFamily="34" charset="-120"/>
              </a:rPr>
              <a:t>)</a:t>
            </a:r>
            <a:pPr algn="l" indent="0" marL="0">
              <a:lnSpc>
                <a:spcPct val="169643"/>
              </a:lnSpc>
              <a:buNone/>
            </a:pPr>
            <a:r>
              <a:rPr lang="en-US" sz="1875" dirty="0">
                <a:solidFill>
                  <a:srgbClr val="8EA0B5"/>
                </a:solidFill>
                <a:latin typeface="Courier New" pitchFamily="34" charset="0"/>
                <a:ea typeface="Courier New" pitchFamily="34" charset="-122"/>
                <a:cs typeface="Courier New" pitchFamily="34" charset="-120"/>
              </a:rPr>
              <a:t>.</a:t>
            </a:r>
            <a:pPr algn="l" indent="0" marL="0">
              <a:lnSpc>
                <a:spcPct val="169643"/>
              </a:lnSpc>
              <a:buNone/>
            </a:pPr>
            <a:r>
              <a:rPr lang="en-US" sz="1875" dirty="0">
                <a:solidFill>
                  <a:srgbClr val="56DBDB"/>
                </a:solidFill>
                <a:latin typeface="Courier New" pitchFamily="34" charset="0"/>
                <a:ea typeface="Courier New" pitchFamily="34" charset="-122"/>
                <a:cs typeface="Courier New" pitchFamily="34" charset="-120"/>
              </a:rPr>
              <a:t>sort</a:t>
            </a:r>
            <a:pPr algn="l" indent="0" marL="0">
              <a:lnSpc>
                <a:spcPct val="169643"/>
              </a:lnSpc>
              <a:buNone/>
            </a:pPr>
            <a:r>
              <a:rPr lang="en-US" sz="1875" dirty="0">
                <a:solidFill>
                  <a:srgbClr val="CDD7E3"/>
                </a:solidFill>
                <a:latin typeface="Courier New" pitchFamily="34" charset="0"/>
                <a:ea typeface="Courier New" pitchFamily="34" charset="-122"/>
                <a:cs typeface="Courier New" pitchFamily="34" charset="-120"/>
              </a:rPr>
              <a:t>(…)</a:t>
            </a:r>
            <a:pPr algn="l" indent="0" marL="0">
              <a:lnSpc>
                <a:spcPct val="169643"/>
              </a:lnSpc>
              <a:buNone/>
            </a:pPr>
            <a:r>
              <a:rPr lang="en-US" sz="1875" dirty="0">
                <a:solidFill>
                  <a:srgbClr val="8EA0B5"/>
                </a:solidFill>
                <a:latin typeface="Courier New" pitchFamily="34" charset="0"/>
                <a:ea typeface="Courier New" pitchFamily="34" charset="-122"/>
                <a:cs typeface="Courier New" pitchFamily="34" charset="-120"/>
              </a:rPr>
              <a:t>.</a:t>
            </a:r>
            <a:pPr algn="l" indent="0" marL="0">
              <a:lnSpc>
                <a:spcPct val="169643"/>
              </a:lnSpc>
              <a:buNone/>
            </a:pPr>
            <a:r>
              <a:rPr lang="en-US" sz="1875" dirty="0">
                <a:solidFill>
                  <a:srgbClr val="56DBDB"/>
                </a:solidFill>
                <a:latin typeface="Courier New" pitchFamily="34" charset="0"/>
                <a:ea typeface="Courier New" pitchFamily="34" charset="-122"/>
                <a:cs typeface="Courier New" pitchFamily="34" charset="-120"/>
              </a:rPr>
              <a:t>limit</a:t>
            </a:r>
            <a:pPr algn="l" indent="0" marL="0">
              <a:lnSpc>
                <a:spcPct val="169643"/>
              </a:lnSpc>
              <a:buNone/>
            </a:pPr>
            <a:r>
              <a:rPr lang="en-US" sz="1875" dirty="0">
                <a:solidFill>
                  <a:srgbClr val="CDD7E3"/>
                </a:solidFill>
                <a:latin typeface="Courier New" pitchFamily="34" charset="0"/>
                <a:ea typeface="Courier New" pitchFamily="34" charset="-122"/>
                <a:cs typeface="Courier New" pitchFamily="34" charset="-120"/>
              </a:rPr>
              <a:t>(…)</a:t>
            </a:r>
            <a:endParaRPr lang="en-US" sz="1875" dirty="0"/>
          </a:p>
        </p:txBody>
      </p:sp>
      <p:sp>
        <p:nvSpPr>
          <p:cNvPr id="12" name="Text 10"/>
          <p:cNvSpPr/>
          <p:nvPr/>
        </p:nvSpPr>
        <p:spPr>
          <a:xfrm>
            <a:off x="1358900" y="5778601"/>
            <a:ext cx="8315302" cy="7239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8EA0B5"/>
                </a:solidFill>
                <a:latin typeface="Arial" pitchFamily="34" charset="0"/>
                <a:ea typeface="Arial" pitchFamily="34" charset="-122"/>
                <a:cs typeface="Arial" pitchFamily="34" charset="-120"/>
              </a:rPr>
              <a:t>Cible : </a:t>
            </a:r>
            <a:pPr algn="l" indent="0" marL="0">
              <a:lnSpc>
                <a:spcPct val="128571"/>
              </a:lnSpc>
              <a:buNone/>
            </a:pPr>
            <a:r>
              <a:rPr lang="en-US" sz="1800" dirty="0">
                <a:solidFill>
                  <a:srgbClr val="EEF3F9"/>
                </a:solidFill>
                <a:latin typeface="Arial" pitchFamily="34" charset="0"/>
                <a:ea typeface="Arial" pitchFamily="34" charset="-122"/>
                <a:cs typeface="Arial" pitchFamily="34" charset="-120"/>
              </a:rPr>
              <a:t>base → collection → documents </a:t>
            </a:r>
            <a:pPr algn="l" indent="0" marL="0">
              <a:lnSpc>
                <a:spcPct val="128571"/>
              </a:lnSpc>
              <a:buNone/>
            </a:pPr>
            <a:r>
              <a:rPr lang="en-US" sz="1800" dirty="0">
                <a:solidFill>
                  <a:srgbClr val="8EA0B5"/>
                </a:solidFill>
                <a:latin typeface="Arial" pitchFamily="34" charset="0"/>
                <a:ea typeface="Arial" pitchFamily="34" charset="-122"/>
                <a:cs typeface="Arial" pitchFamily="34" charset="-120"/>
              </a:rPr>
              <a:t>. Filtre, projection, tri et limite affinent le résultat.</a:t>
            </a:r>
            <a:endParaRPr lang="en-US" sz="1800" dirty="0"/>
          </a:p>
        </p:txBody>
      </p:sp>
      <p:sp>
        <p:nvSpPr>
          <p:cNvPr id="13" name="Shape 11"/>
          <p:cNvSpPr/>
          <p:nvPr/>
        </p:nvSpPr>
        <p:spPr>
          <a:xfrm>
            <a:off x="10031313" y="4619451"/>
            <a:ext cx="7189887" cy="628650"/>
          </a:xfrm>
          <a:prstGeom prst="roundRect">
            <a:avLst>
              <a:gd name="adj" fmla="val 18182"/>
            </a:avLst>
          </a:prstGeom>
          <a:solidFill>
            <a:srgbClr val="FFFFFF">
              <a:alpha val="3000"/>
            </a:srgbClr>
          </a:solidFill>
          <a:ln w="6350">
            <a:solidFill>
              <a:srgbClr val="FFFFFF">
                <a:alpha val="10000"/>
              </a:srgbClr>
            </a:solidFill>
            <a:prstDash val="solid"/>
          </a:ln>
        </p:spPr>
      </p:sp>
      <p:sp>
        <p:nvSpPr>
          <p:cNvPr id="14" name="Text 12"/>
          <p:cNvSpPr/>
          <p:nvPr/>
        </p:nvSpPr>
        <p:spPr>
          <a:xfrm>
            <a:off x="10266263" y="4778201"/>
            <a:ext cx="6935683" cy="349250"/>
          </a:xfrm>
          <a:prstGeom prst="rect">
            <a:avLst/>
          </a:prstGeom>
          <a:noFill/>
          <a:ln/>
        </p:spPr>
        <p:txBody>
          <a:bodyPr wrap="square" lIns="25400" tIns="25400" rIns="25400" bIns="25400" rtlCol="0" anchor="t">
            <a:normAutofit/>
          </a:bodyPr>
          <a:lstStyle/>
          <a:p>
            <a:pPr algn="l" indent="0" marL="0">
              <a:buNone/>
            </a:pPr>
            <a:r>
              <a:rPr lang="en-US" sz="1875" dirty="0">
                <a:solidFill>
                  <a:srgbClr val="EEF3F9">
                    <a:alpha val="99000"/>
                  </a:srgbClr>
                </a:solidFill>
                <a:highlight>
                  <a:srgbClr val="FCFCFD"/>
                </a:highlight>
                <a:latin typeface="Courier New" pitchFamily="34" charset="0"/>
                <a:ea typeface="Courier New" pitchFamily="34" charset="-122"/>
                <a:cs typeface="Courier New" pitchFamily="34" charset="-120"/>
              </a:rPr>
              <a:t>Collection </a:t>
            </a:r>
            <a:pPr algn="l" indent="0" marL="0">
              <a:buNone/>
            </a:pPr>
            <a:r>
              <a:rPr lang="en-US" sz="1875" dirty="0">
                <a:solidFill>
                  <a:srgbClr val="8EA0B5">
                    <a:alpha val="99000"/>
                  </a:srgbClr>
                </a:solidFill>
                <a:latin typeface="Courier New" pitchFamily="34" charset="0"/>
                <a:ea typeface="Courier New" pitchFamily="34" charset="-122"/>
                <a:cs typeface="Courier New" pitchFamily="34" charset="-120"/>
              </a:rPr>
              <a:t>· tous les documents</a:t>
            </a:r>
            <a:endParaRPr lang="en-US" sz="1875" dirty="0"/>
          </a:p>
        </p:txBody>
      </p:sp>
      <p:sp>
        <p:nvSpPr>
          <p:cNvPr id="15" name="Shape 13"/>
          <p:cNvSpPr/>
          <p:nvPr/>
        </p:nvSpPr>
        <p:spPr>
          <a:xfrm>
            <a:off x="10355163" y="5248101"/>
            <a:ext cx="19050" cy="190500"/>
          </a:xfrm>
          <a:prstGeom prst="rect">
            <a:avLst/>
          </a:prstGeom>
          <a:solidFill>
            <a:srgbClr val="B897F0">
              <a:alpha val="68000"/>
            </a:srgbClr>
          </a:solidFill>
          <a:ln/>
        </p:spPr>
      </p:sp>
      <p:sp>
        <p:nvSpPr>
          <p:cNvPr id="16" name="Shape 14"/>
          <p:cNvSpPr/>
          <p:nvPr/>
        </p:nvSpPr>
        <p:spPr>
          <a:xfrm>
            <a:off x="10031097" y="5438601"/>
            <a:ext cx="7189886" cy="628650"/>
          </a:xfrm>
          <a:prstGeom prst="roundRect">
            <a:avLst>
              <a:gd name="adj" fmla="val 18182"/>
            </a:avLst>
          </a:prstGeom>
          <a:solidFill>
            <a:srgbClr val="FFFFFF">
              <a:alpha val="3000"/>
            </a:srgbClr>
          </a:solidFill>
          <a:ln w="6350">
            <a:solidFill>
              <a:srgbClr val="FFFFFF">
                <a:alpha val="10000"/>
              </a:srgbClr>
            </a:solidFill>
            <a:prstDash val="solid"/>
          </a:ln>
        </p:spPr>
      </p:sp>
      <p:sp>
        <p:nvSpPr>
          <p:cNvPr id="17" name="Text 15"/>
          <p:cNvSpPr/>
          <p:nvPr/>
        </p:nvSpPr>
        <p:spPr>
          <a:xfrm>
            <a:off x="10266047" y="5597351"/>
            <a:ext cx="6935683" cy="349250"/>
          </a:xfrm>
          <a:prstGeom prst="rect">
            <a:avLst/>
          </a:prstGeom>
          <a:noFill/>
          <a:ln/>
        </p:spPr>
        <p:txBody>
          <a:bodyPr wrap="square" lIns="25400" tIns="25400" rIns="25400" bIns="25400" rtlCol="0" anchor="t">
            <a:normAutofit/>
          </a:bodyPr>
          <a:lstStyle/>
          <a:p>
            <a:pPr algn="l" indent="0" marL="0">
              <a:buNone/>
            </a:pPr>
            <a:r>
              <a:rPr lang="en-US" sz="1875" dirty="0">
                <a:solidFill>
                  <a:srgbClr val="B897F0">
                    <a:alpha val="99000"/>
                  </a:srgbClr>
                </a:solidFill>
                <a:highlight>
                  <a:srgbClr val="FCFCFC"/>
                </a:highlight>
                <a:latin typeface="Courier New" pitchFamily="34" charset="0"/>
                <a:ea typeface="Courier New" pitchFamily="34" charset="-122"/>
                <a:cs typeface="Courier New" pitchFamily="34" charset="-120"/>
              </a:rPr>
              <a:t>$ filtre </a:t>
            </a:r>
            <a:pPr algn="l" indent="0" marL="0">
              <a:buNone/>
            </a:pPr>
            <a:r>
              <a:rPr lang="en-US" sz="1875" dirty="0">
                <a:solidFill>
                  <a:srgbClr val="8EA0B5">
                    <a:alpha val="99000"/>
                  </a:srgbClr>
                </a:solidFill>
                <a:latin typeface="Courier New" pitchFamily="34" charset="0"/>
                <a:ea typeface="Courier New" pitchFamily="34" charset="-122"/>
                <a:cs typeface="Courier New" pitchFamily="34" charset="-120"/>
              </a:rPr>
              <a:t>· sélection</a:t>
            </a:r>
            <a:endParaRPr lang="en-US" sz="1875" dirty="0"/>
          </a:p>
        </p:txBody>
      </p:sp>
      <p:sp>
        <p:nvSpPr>
          <p:cNvPr id="18" name="Shape 16"/>
          <p:cNvSpPr/>
          <p:nvPr/>
        </p:nvSpPr>
        <p:spPr>
          <a:xfrm>
            <a:off x="10355163" y="6067251"/>
            <a:ext cx="19050" cy="190500"/>
          </a:xfrm>
          <a:prstGeom prst="rect">
            <a:avLst/>
          </a:prstGeom>
          <a:solidFill>
            <a:srgbClr val="B897F0">
              <a:alpha val="68000"/>
            </a:srgbClr>
          </a:solidFill>
          <a:ln/>
        </p:spPr>
      </p:sp>
      <p:sp>
        <p:nvSpPr>
          <p:cNvPr id="19" name="Shape 17"/>
          <p:cNvSpPr/>
          <p:nvPr/>
        </p:nvSpPr>
        <p:spPr>
          <a:xfrm>
            <a:off x="10029959" y="6257751"/>
            <a:ext cx="7189887" cy="628650"/>
          </a:xfrm>
          <a:prstGeom prst="roundRect">
            <a:avLst>
              <a:gd name="adj" fmla="val 18182"/>
            </a:avLst>
          </a:prstGeom>
          <a:solidFill>
            <a:srgbClr val="FFFFFF">
              <a:alpha val="3000"/>
            </a:srgbClr>
          </a:solidFill>
          <a:ln w="6350">
            <a:solidFill>
              <a:srgbClr val="FFFFFF">
                <a:alpha val="10000"/>
              </a:srgbClr>
            </a:solidFill>
            <a:prstDash val="solid"/>
          </a:ln>
        </p:spPr>
      </p:sp>
      <p:sp>
        <p:nvSpPr>
          <p:cNvPr id="20" name="Text 18"/>
          <p:cNvSpPr/>
          <p:nvPr/>
        </p:nvSpPr>
        <p:spPr>
          <a:xfrm>
            <a:off x="10264909" y="6416501"/>
            <a:ext cx="6935683" cy="349250"/>
          </a:xfrm>
          <a:prstGeom prst="rect">
            <a:avLst/>
          </a:prstGeom>
          <a:noFill/>
          <a:ln/>
        </p:spPr>
        <p:txBody>
          <a:bodyPr wrap="square" lIns="25400" tIns="25400" rIns="25400" bIns="25400" rtlCol="0" anchor="t">
            <a:normAutofit/>
          </a:bodyPr>
          <a:lstStyle/>
          <a:p>
            <a:pPr algn="l" indent="0" marL="0">
              <a:buNone/>
            </a:pPr>
            <a:r>
              <a:rPr lang="en-US" sz="1875" dirty="0">
                <a:solidFill>
                  <a:srgbClr val="EEF3F9">
                    <a:alpha val="98000"/>
                  </a:srgbClr>
                </a:solidFill>
                <a:latin typeface="Courier New" pitchFamily="34" charset="0"/>
                <a:ea typeface="Courier New" pitchFamily="34" charset="-122"/>
                <a:cs typeface="Courier New" pitchFamily="34" charset="-120"/>
              </a:rPr>
              <a:t>projection · sort · limit</a:t>
            </a:r>
            <a:endParaRPr lang="en-US" sz="1875" dirty="0"/>
          </a:p>
        </p:txBody>
      </p:sp>
      <p:sp>
        <p:nvSpPr>
          <p:cNvPr id="21" name="Shape 19"/>
          <p:cNvSpPr/>
          <p:nvPr/>
        </p:nvSpPr>
        <p:spPr>
          <a:xfrm>
            <a:off x="10355163" y="6886402"/>
            <a:ext cx="19050" cy="190500"/>
          </a:xfrm>
          <a:prstGeom prst="rect">
            <a:avLst/>
          </a:prstGeom>
          <a:solidFill>
            <a:srgbClr val="FFB46E">
              <a:alpha val="68000"/>
            </a:srgbClr>
          </a:solidFill>
          <a:ln/>
        </p:spPr>
      </p:sp>
      <p:sp>
        <p:nvSpPr>
          <p:cNvPr id="22" name="Shape 20"/>
          <p:cNvSpPr/>
          <p:nvPr/>
        </p:nvSpPr>
        <p:spPr>
          <a:xfrm>
            <a:off x="10027534" y="7076902"/>
            <a:ext cx="7189886" cy="628650"/>
          </a:xfrm>
          <a:prstGeom prst="roundRect">
            <a:avLst>
              <a:gd name="adj" fmla="val 18182"/>
            </a:avLst>
          </a:prstGeom>
          <a:gradFill rotWithShape="1">
            <a:gsLst>
              <a:gs pos="0">
                <a:srgbClr val="FFB16F">
                  <a:alpha val="18000"/>
                </a:srgbClr>
              </a:gs>
              <a:gs pos="100000">
                <a:srgbClr val="FFFFFF">
                  <a:alpha val="3000"/>
                </a:srgbClr>
              </a:gs>
            </a:gsLst>
            <a:lin ang="4200000" scaled="0"/>
          </a:gradFill>
          <a:ln w="6350">
            <a:solidFill>
              <a:srgbClr val="FFC48B">
                <a:alpha val="38000"/>
              </a:srgbClr>
            </a:solidFill>
            <a:prstDash val="solid"/>
          </a:ln>
        </p:spPr>
      </p:sp>
      <p:sp>
        <p:nvSpPr>
          <p:cNvPr id="23" name="Text 21"/>
          <p:cNvSpPr/>
          <p:nvPr/>
        </p:nvSpPr>
        <p:spPr>
          <a:xfrm>
            <a:off x="10262484" y="7235652"/>
            <a:ext cx="6935683" cy="349250"/>
          </a:xfrm>
          <a:prstGeom prst="rect">
            <a:avLst/>
          </a:prstGeom>
          <a:noFill/>
          <a:ln/>
        </p:spPr>
        <p:txBody>
          <a:bodyPr wrap="square" lIns="25400" tIns="25400" rIns="25400" bIns="25400" rtlCol="0" anchor="t">
            <a:normAutofit/>
          </a:bodyPr>
          <a:lstStyle/>
          <a:p>
            <a:pPr algn="l" indent="0" marL="0">
              <a:buNone/>
            </a:pPr>
            <a:r>
              <a:rPr lang="en-US" sz="1875" dirty="0">
                <a:solidFill>
                  <a:srgbClr val="FFB46E">
                    <a:alpha val="97000"/>
                  </a:srgbClr>
                </a:solidFill>
                <a:latin typeface="Courier New" pitchFamily="34" charset="0"/>
                <a:ea typeface="Courier New" pitchFamily="34" charset="-122"/>
                <a:cs typeface="Courier New" pitchFamily="34" charset="-120"/>
              </a:rPr>
              <a:t>Documents retournés</a:t>
            </a:r>
            <a:endParaRPr lang="en-US" sz="1875"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C121C"/>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B897F0">
                    <a:alpha val="96000"/>
                  </a:srgbClr>
                </a:solidFill>
                <a:latin typeface="Courier New" pitchFamily="34" charset="0"/>
                <a:ea typeface="Courier New" pitchFamily="34" charset="-122"/>
                <a:cs typeface="Courier New" pitchFamily="34" charset="-120"/>
              </a:rPr>
              <a:t>ATELIER 02 · MQL</a:t>
            </a:r>
            <a:endParaRPr lang="en-US" sz="1800" dirty="0"/>
          </a:p>
        </p:txBody>
      </p:sp>
      <p:sp>
        <p:nvSpPr>
          <p:cNvPr id="3" name="Text 1"/>
          <p:cNvSpPr/>
          <p:nvPr/>
        </p:nvSpPr>
        <p:spPr>
          <a:xfrm>
            <a:off x="1066800" y="1314499"/>
            <a:ext cx="17769840"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Les opérateurs de filtrage MQL</a:t>
            </a:r>
            <a:endParaRPr lang="en-US" sz="4800" dirty="0"/>
          </a:p>
        </p:txBody>
      </p:sp>
      <p:sp>
        <p:nvSpPr>
          <p:cNvPr id="4" name="Shape 2"/>
          <p:cNvSpPr/>
          <p:nvPr/>
        </p:nvSpPr>
        <p:spPr>
          <a:xfrm>
            <a:off x="1066800" y="2329407"/>
            <a:ext cx="3784302" cy="7138492"/>
          </a:xfrm>
          <a:prstGeom prst="roundRect">
            <a:avLst>
              <a:gd name="adj" fmla="val 4027"/>
            </a:avLst>
          </a:prstGeom>
          <a:solidFill>
            <a:srgbClr val="FFFFFF">
              <a:alpha val="3000"/>
            </a:srgbClr>
          </a:solidFill>
          <a:ln w="6350">
            <a:solidFill>
              <a:srgbClr val="FFFFFF">
                <a:alpha val="10000"/>
              </a:srgbClr>
            </a:solidFill>
            <a:prstDash val="solid"/>
          </a:ln>
        </p:spPr>
      </p:sp>
      <p:sp>
        <p:nvSpPr>
          <p:cNvPr id="5" name="Text 3"/>
          <p:cNvSpPr/>
          <p:nvPr/>
        </p:nvSpPr>
        <p:spPr>
          <a:xfrm>
            <a:off x="1358900" y="2621507"/>
            <a:ext cx="3520113" cy="349250"/>
          </a:xfrm>
          <a:prstGeom prst="rect">
            <a:avLst/>
          </a:prstGeom>
          <a:noFill/>
          <a:ln/>
        </p:spPr>
        <p:txBody>
          <a:bodyPr wrap="square" lIns="25400" tIns="25400" rIns="25400" bIns="25400" rtlCol="0" anchor="t">
            <a:normAutofit/>
          </a:bodyPr>
          <a:lstStyle/>
          <a:p>
            <a:pPr algn="l" indent="0" marL="0">
              <a:buNone/>
            </a:pPr>
            <a:r>
              <a:rPr lang="en-US" sz="2175" b="1" dirty="0">
                <a:solidFill>
                  <a:srgbClr val="B897F0"/>
                </a:solidFill>
                <a:latin typeface="Arial" pitchFamily="34" charset="0"/>
                <a:ea typeface="Arial" pitchFamily="34" charset="-122"/>
                <a:cs typeface="Arial" pitchFamily="34" charset="-120"/>
              </a:rPr>
              <a:t>Comparaison</a:t>
            </a:r>
            <a:endParaRPr lang="en-US" sz="2175" dirty="0"/>
          </a:p>
        </p:txBody>
      </p:sp>
      <p:sp>
        <p:nvSpPr>
          <p:cNvPr id="6" name="Text 4"/>
          <p:cNvSpPr/>
          <p:nvPr/>
        </p:nvSpPr>
        <p:spPr>
          <a:xfrm>
            <a:off x="1358900" y="3104107"/>
            <a:ext cx="3296105" cy="1895475"/>
          </a:xfrm>
          <a:prstGeom prst="rect">
            <a:avLst/>
          </a:prstGeom>
          <a:noFill/>
          <a:ln/>
        </p:spPr>
        <p:txBody>
          <a:bodyPr wrap="square" lIns="25400" tIns="25400" rIns="25400" bIns="25400" rtlCol="0" anchor="t">
            <a:normAutofit/>
          </a:bodyPr>
          <a:lstStyle/>
          <a:p>
            <a:pPr algn="l" indent="0" marL="0">
              <a:lnSpc>
                <a:spcPct val="174107"/>
              </a:lnSpc>
              <a:buNone/>
            </a:pPr>
            <a:r>
              <a:rPr lang="en-US" sz="1875" dirty="0">
                <a:solidFill>
                  <a:srgbClr val="EEF3F9"/>
                </a:solidFill>
                <a:latin typeface="Courier New" pitchFamily="34" charset="0"/>
                <a:ea typeface="Courier New" pitchFamily="34" charset="-122"/>
                <a:cs typeface="Courier New" pitchFamily="34" charset="-120"/>
              </a:rPr>
              <a:t>$eq · $ne $gt · $gte $lt · $lte $in · $nin</a:t>
            </a:r>
            <a:endParaRPr lang="en-US" sz="1875" dirty="0"/>
          </a:p>
        </p:txBody>
      </p:sp>
      <p:sp>
        <p:nvSpPr>
          <p:cNvPr id="7" name="Text 5"/>
          <p:cNvSpPr/>
          <p:nvPr/>
        </p:nvSpPr>
        <p:spPr>
          <a:xfrm>
            <a:off x="1358900" y="8535837"/>
            <a:ext cx="3296105" cy="678062"/>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8EA0B5"/>
                </a:solidFill>
                <a:latin typeface="Arial" pitchFamily="34" charset="0"/>
                <a:ea typeface="Arial" pitchFamily="34" charset="-122"/>
                <a:cs typeface="Arial" pitchFamily="34" charset="-120"/>
              </a:rPr>
              <a:t>égalité, intervalles, appartenance à une liste</a:t>
            </a:r>
            <a:endParaRPr lang="en-US" sz="1800" dirty="0"/>
          </a:p>
        </p:txBody>
      </p:sp>
      <p:sp>
        <p:nvSpPr>
          <p:cNvPr id="8" name="Shape 6"/>
          <p:cNvSpPr/>
          <p:nvPr/>
        </p:nvSpPr>
        <p:spPr>
          <a:xfrm>
            <a:off x="5060653" y="2331381"/>
            <a:ext cx="3784302" cy="7138492"/>
          </a:xfrm>
          <a:prstGeom prst="roundRect">
            <a:avLst>
              <a:gd name="adj" fmla="val 4027"/>
            </a:avLst>
          </a:prstGeom>
          <a:solidFill>
            <a:srgbClr val="FFFFFF">
              <a:alpha val="3000"/>
            </a:srgbClr>
          </a:solidFill>
          <a:ln w="6350">
            <a:solidFill>
              <a:srgbClr val="FFFFFF">
                <a:alpha val="10000"/>
              </a:srgbClr>
            </a:solidFill>
            <a:prstDash val="solid"/>
          </a:ln>
        </p:spPr>
      </p:sp>
      <p:sp>
        <p:nvSpPr>
          <p:cNvPr id="9" name="Text 7"/>
          <p:cNvSpPr/>
          <p:nvPr/>
        </p:nvSpPr>
        <p:spPr>
          <a:xfrm>
            <a:off x="5352752" y="2623481"/>
            <a:ext cx="3520113" cy="349250"/>
          </a:xfrm>
          <a:prstGeom prst="rect">
            <a:avLst/>
          </a:prstGeom>
          <a:noFill/>
          <a:ln/>
        </p:spPr>
        <p:txBody>
          <a:bodyPr wrap="square" lIns="25400" tIns="25400" rIns="25400" bIns="25400" rtlCol="0" anchor="t">
            <a:normAutofit/>
          </a:bodyPr>
          <a:lstStyle/>
          <a:p>
            <a:pPr algn="l" indent="0" marL="0">
              <a:buNone/>
            </a:pPr>
            <a:r>
              <a:rPr lang="en-US" sz="2175" b="1" dirty="0">
                <a:solidFill>
                  <a:srgbClr val="B897F0">
                    <a:alpha val="99000"/>
                  </a:srgbClr>
                </a:solidFill>
                <a:latin typeface="Arial" pitchFamily="34" charset="0"/>
                <a:ea typeface="Arial" pitchFamily="34" charset="-122"/>
                <a:cs typeface="Arial" pitchFamily="34" charset="-120"/>
              </a:rPr>
              <a:t>Logiques</a:t>
            </a:r>
            <a:endParaRPr lang="en-US" sz="2175" dirty="0"/>
          </a:p>
        </p:txBody>
      </p:sp>
      <p:sp>
        <p:nvSpPr>
          <p:cNvPr id="10" name="Text 8"/>
          <p:cNvSpPr/>
          <p:nvPr/>
        </p:nvSpPr>
        <p:spPr>
          <a:xfrm>
            <a:off x="5352752" y="3106081"/>
            <a:ext cx="3296105" cy="1431131"/>
          </a:xfrm>
          <a:prstGeom prst="rect">
            <a:avLst/>
          </a:prstGeom>
          <a:noFill/>
          <a:ln/>
        </p:spPr>
        <p:txBody>
          <a:bodyPr wrap="square" lIns="25400" tIns="25400" rIns="25400" bIns="25400" rtlCol="0" anchor="t">
            <a:normAutofit/>
          </a:bodyPr>
          <a:lstStyle/>
          <a:p>
            <a:pPr algn="l" indent="0" marL="0">
              <a:lnSpc>
                <a:spcPct val="174107"/>
              </a:lnSpc>
              <a:buNone/>
            </a:pPr>
            <a:r>
              <a:rPr lang="en-US" sz="1875" dirty="0">
                <a:solidFill>
                  <a:srgbClr val="EEF3F9">
                    <a:alpha val="99000"/>
                  </a:srgbClr>
                </a:solidFill>
                <a:latin typeface="Courier New" pitchFamily="34" charset="0"/>
                <a:ea typeface="Courier New" pitchFamily="34" charset="-122"/>
                <a:cs typeface="Courier New" pitchFamily="34" charset="-120"/>
              </a:rPr>
              <a:t>$and $or $not</a:t>
            </a:r>
            <a:endParaRPr lang="en-US" sz="1875" dirty="0"/>
          </a:p>
        </p:txBody>
      </p:sp>
      <p:sp>
        <p:nvSpPr>
          <p:cNvPr id="11" name="Text 9"/>
          <p:cNvSpPr/>
          <p:nvPr/>
        </p:nvSpPr>
        <p:spPr>
          <a:xfrm>
            <a:off x="5352752" y="8537811"/>
            <a:ext cx="3296105" cy="678061"/>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8EA0B5">
                    <a:alpha val="99000"/>
                  </a:srgbClr>
                </a:solidFill>
                <a:latin typeface="Arial" pitchFamily="34" charset="0"/>
                <a:ea typeface="Arial" pitchFamily="34" charset="-122"/>
                <a:cs typeface="Arial" pitchFamily="34" charset="-120"/>
              </a:rPr>
              <a:t>combiner plusieurs conditions dans un même filtre</a:t>
            </a:r>
            <a:endParaRPr lang="en-US" sz="1800" dirty="0"/>
          </a:p>
        </p:txBody>
      </p:sp>
      <p:sp>
        <p:nvSpPr>
          <p:cNvPr id="12" name="Shape 10"/>
          <p:cNvSpPr/>
          <p:nvPr/>
        </p:nvSpPr>
        <p:spPr>
          <a:xfrm>
            <a:off x="9054505" y="2337569"/>
            <a:ext cx="3784302" cy="7138492"/>
          </a:xfrm>
          <a:prstGeom prst="roundRect">
            <a:avLst>
              <a:gd name="adj" fmla="val 4027"/>
            </a:avLst>
          </a:prstGeom>
          <a:solidFill>
            <a:srgbClr val="FFFFFF">
              <a:alpha val="3000"/>
            </a:srgbClr>
          </a:solidFill>
          <a:ln w="6350">
            <a:solidFill>
              <a:srgbClr val="FFFFFF">
                <a:alpha val="10000"/>
              </a:srgbClr>
            </a:solidFill>
            <a:prstDash val="solid"/>
          </a:ln>
        </p:spPr>
      </p:sp>
      <p:sp>
        <p:nvSpPr>
          <p:cNvPr id="13" name="Text 11"/>
          <p:cNvSpPr/>
          <p:nvPr/>
        </p:nvSpPr>
        <p:spPr>
          <a:xfrm>
            <a:off x="9346605" y="2629669"/>
            <a:ext cx="3520113" cy="349250"/>
          </a:xfrm>
          <a:prstGeom prst="rect">
            <a:avLst/>
          </a:prstGeom>
          <a:noFill/>
          <a:ln/>
        </p:spPr>
        <p:txBody>
          <a:bodyPr wrap="square" lIns="25400" tIns="25400" rIns="25400" bIns="25400" rtlCol="0" anchor="t">
            <a:normAutofit/>
          </a:bodyPr>
          <a:lstStyle/>
          <a:p>
            <a:pPr algn="l" indent="0" marL="0">
              <a:buNone/>
            </a:pPr>
            <a:r>
              <a:rPr lang="en-US" sz="2175" b="1" dirty="0">
                <a:solidFill>
                  <a:srgbClr val="B897F0">
                    <a:alpha val="97000"/>
                  </a:srgbClr>
                </a:solidFill>
                <a:latin typeface="Arial" pitchFamily="34" charset="0"/>
                <a:ea typeface="Arial" pitchFamily="34" charset="-122"/>
                <a:cs typeface="Arial" pitchFamily="34" charset="-120"/>
              </a:rPr>
              <a:t>Tableaux</a:t>
            </a:r>
            <a:endParaRPr lang="en-US" sz="2175" dirty="0"/>
          </a:p>
        </p:txBody>
      </p:sp>
      <p:sp>
        <p:nvSpPr>
          <p:cNvPr id="14" name="Text 12"/>
          <p:cNvSpPr/>
          <p:nvPr/>
        </p:nvSpPr>
        <p:spPr>
          <a:xfrm>
            <a:off x="9346605" y="3112269"/>
            <a:ext cx="3296105" cy="1431132"/>
          </a:xfrm>
          <a:prstGeom prst="rect">
            <a:avLst/>
          </a:prstGeom>
          <a:noFill/>
          <a:ln/>
        </p:spPr>
        <p:txBody>
          <a:bodyPr wrap="square" lIns="25400" tIns="25400" rIns="25400" bIns="25400" rtlCol="0" anchor="t">
            <a:normAutofit/>
          </a:bodyPr>
          <a:lstStyle/>
          <a:p>
            <a:pPr algn="l" indent="0" marL="0">
              <a:lnSpc>
                <a:spcPct val="174107"/>
              </a:lnSpc>
              <a:buNone/>
            </a:pPr>
            <a:r>
              <a:rPr lang="en-US" sz="1875" dirty="0">
                <a:solidFill>
                  <a:srgbClr val="EEF3F9">
                    <a:alpha val="97000"/>
                  </a:srgbClr>
                </a:solidFill>
                <a:latin typeface="Courier New" pitchFamily="34" charset="0"/>
                <a:ea typeface="Courier New" pitchFamily="34" charset="-122"/>
                <a:cs typeface="Courier New" pitchFamily="34" charset="-120"/>
              </a:rPr>
              <a:t>$elemMatch $size $all</a:t>
            </a:r>
            <a:endParaRPr lang="en-US" sz="1875" dirty="0"/>
          </a:p>
        </p:txBody>
      </p:sp>
      <p:sp>
        <p:nvSpPr>
          <p:cNvPr id="15" name="Text 13"/>
          <p:cNvSpPr/>
          <p:nvPr/>
        </p:nvSpPr>
        <p:spPr>
          <a:xfrm>
            <a:off x="9346605" y="8543999"/>
            <a:ext cx="3296105" cy="678061"/>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8EA0B5">
                    <a:alpha val="97000"/>
                  </a:srgbClr>
                </a:solidFill>
                <a:latin typeface="Arial" pitchFamily="34" charset="0"/>
                <a:ea typeface="Arial" pitchFamily="34" charset="-122"/>
                <a:cs typeface="Arial" pitchFamily="34" charset="-120"/>
              </a:rPr>
              <a:t>interroger les champs de type tableau</a:t>
            </a:r>
            <a:endParaRPr lang="en-US" sz="1800" dirty="0"/>
          </a:p>
        </p:txBody>
      </p:sp>
      <p:sp>
        <p:nvSpPr>
          <p:cNvPr id="16" name="Shape 14"/>
          <p:cNvSpPr/>
          <p:nvPr/>
        </p:nvSpPr>
        <p:spPr>
          <a:xfrm>
            <a:off x="13048357" y="2351413"/>
            <a:ext cx="4172843" cy="7138492"/>
          </a:xfrm>
          <a:prstGeom prst="roundRect">
            <a:avLst>
              <a:gd name="adj" fmla="val 3652"/>
            </a:avLst>
          </a:prstGeom>
          <a:solidFill>
            <a:srgbClr val="06090E">
              <a:alpha val="92000"/>
            </a:srgbClr>
          </a:solidFill>
          <a:ln w="6350">
            <a:solidFill>
              <a:srgbClr val="FFFFFF">
                <a:alpha val="9000"/>
              </a:srgbClr>
            </a:solidFill>
            <a:prstDash val="solid"/>
          </a:ln>
        </p:spPr>
      </p:sp>
      <p:sp>
        <p:nvSpPr>
          <p:cNvPr id="17" name="Shape 15"/>
          <p:cNvSpPr/>
          <p:nvPr/>
        </p:nvSpPr>
        <p:spPr>
          <a:xfrm>
            <a:off x="13054708" y="2967363"/>
            <a:ext cx="4160143" cy="9525"/>
          </a:xfrm>
          <a:prstGeom prst="rect">
            <a:avLst/>
          </a:prstGeom>
          <a:solidFill>
            <a:srgbClr val="FFFFFF">
              <a:alpha val="6000"/>
            </a:srgbClr>
          </a:solidFill>
          <a:ln/>
        </p:spPr>
      </p:sp>
      <p:sp>
        <p:nvSpPr>
          <p:cNvPr id="18" name="Text 16"/>
          <p:cNvSpPr/>
          <p:nvPr/>
        </p:nvSpPr>
        <p:spPr>
          <a:xfrm>
            <a:off x="13264258" y="2510163"/>
            <a:ext cx="3865847"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alpha val="92000"/>
                  </a:srgbClr>
                </a:solidFill>
                <a:latin typeface="Courier New" pitchFamily="34" charset="0"/>
                <a:ea typeface="Courier New" pitchFamily="34" charset="-122"/>
                <a:cs typeface="Courier New" pitchFamily="34" charset="-120"/>
              </a:rPr>
              <a:t>exemple combiné</a:t>
            </a:r>
            <a:endParaRPr lang="en-US" sz="1800" dirty="0"/>
          </a:p>
        </p:txBody>
      </p:sp>
      <p:sp>
        <p:nvSpPr>
          <p:cNvPr id="19" name="Text 17"/>
          <p:cNvSpPr/>
          <p:nvPr/>
        </p:nvSpPr>
        <p:spPr>
          <a:xfrm>
            <a:off x="13302358" y="3183263"/>
            <a:ext cx="3789647" cy="2963863"/>
          </a:xfrm>
          <a:prstGeom prst="rect">
            <a:avLst/>
          </a:prstGeom>
          <a:noFill/>
          <a:ln/>
        </p:spPr>
        <p:txBody>
          <a:bodyPr wrap="none" lIns="25400" tIns="25400" rIns="25400" bIns="25400" rtlCol="0" anchor="t">
            <a:normAutofit/>
          </a:bodyPr>
          <a:lstStyle/>
          <a:p>
            <a:pPr algn="l" indent="0" marL="0">
              <a:lnSpc>
                <a:spcPct val="140488"/>
              </a:lnSpc>
              <a:buNone/>
            </a:pPr>
            <a:r>
              <a:rPr lang="en-US" sz="1800" dirty="0">
                <a:solidFill>
                  <a:srgbClr val="CDD7E3">
                    <a:alpha val="92000"/>
                  </a:srgbClr>
                </a:solidFill>
                <a:latin typeface="Courier New" pitchFamily="34" charset="0"/>
                <a:ea typeface="Courier New" pitchFamily="34" charset="-122"/>
                <a:cs typeface="Courier New" pitchFamily="34" charset="-120"/>
              </a:rPr>
              <a:t>db.countries.</a:t>
            </a:r>
            <a:pPr algn="l" indent="0" marL="0">
              <a:lnSpc>
                <a:spcPct val="140488"/>
              </a:lnSpc>
              <a:buNone/>
            </a:pPr>
            <a:r>
              <a:rPr lang="en-US" sz="1800" dirty="0">
                <a:solidFill>
                  <a:srgbClr val="56DBDB">
                    <a:alpha val="92000"/>
                  </a:srgbClr>
                </a:solidFill>
                <a:latin typeface="Courier New" pitchFamily="34" charset="0"/>
                <a:ea typeface="Courier New" pitchFamily="34" charset="-122"/>
                <a:cs typeface="Courier New" pitchFamily="34" charset="-120"/>
              </a:rPr>
              <a:t>find </a:t>
            </a:r>
            <a:pPr algn="l" indent="0" marL="0">
              <a:lnSpc>
                <a:spcPct val="140488"/>
              </a:lnSpc>
              <a:buNone/>
            </a:pPr>
            <a:r>
              <a:rPr lang="en-US" sz="1800" dirty="0">
                <a:solidFill>
                  <a:srgbClr val="CDD7E3">
                    <a:alpha val="92000"/>
                  </a:srgbClr>
                </a:solidFill>
                <a:latin typeface="Courier New" pitchFamily="34" charset="0"/>
                <a:ea typeface="Courier New" pitchFamily="34" charset="-122"/>
                <a:cs typeface="Courier New" pitchFamily="34" charset="-120"/>
              </a:rPr>
              <a:t>({</a:t>
            </a:r>
            <a:endParaRPr lang="en-US" sz="1800" dirty="0"/>
          </a:p>
          <a:p>
            <a:pPr algn="l" indent="0" marL="0">
              <a:lnSpc>
                <a:spcPct val="140488"/>
              </a:lnSpc>
              <a:buNone/>
            </a:pPr>
            <a:r>
              <a:rPr lang="en-US" sz="1800" dirty="0">
                <a:solidFill>
                  <a:srgbClr val="CDD7E3">
                    <a:alpha val="92000"/>
                  </a:srgbClr>
                </a:solidFill>
                <a:latin typeface="Courier New" pitchFamily="34" charset="0"/>
                <a:ea typeface="Courier New" pitchFamily="34" charset="-122"/>
                <a:cs typeface="Courier New" pitchFamily="34" charset="-120"/>
              </a:rPr>
              <a:t>   </a:t>
            </a:r>
            <a:endParaRPr lang="en-US" sz="1800" dirty="0"/>
          </a:p>
          <a:p>
            <a:pPr algn="l" indent="0" marL="0">
              <a:lnSpc>
                <a:spcPct val="140488"/>
              </a:lnSpc>
              <a:buNone/>
            </a:pPr>
            <a:r>
              <a:rPr lang="en-US" sz="1800" dirty="0">
                <a:solidFill>
                  <a:srgbClr val="B897F0">
                    <a:alpha val="92000"/>
                  </a:srgbClr>
                </a:solidFill>
                <a:latin typeface="Courier New" pitchFamily="34" charset="0"/>
                <a:ea typeface="Courier New" pitchFamily="34" charset="-122"/>
                <a:cs typeface="Courier New" pitchFamily="34" charset="-120"/>
              </a:rPr>
              <a:t>$and </a:t>
            </a:r>
            <a:pPr algn="l" indent="0" marL="0">
              <a:lnSpc>
                <a:spcPct val="140488"/>
              </a:lnSpc>
              <a:buNone/>
            </a:pPr>
            <a:r>
              <a:rPr lang="en-US" sz="1800" dirty="0">
                <a:solidFill>
                  <a:srgbClr val="CDD7E3">
                    <a:alpha val="92000"/>
                  </a:srgbClr>
                </a:solidFill>
                <a:latin typeface="Courier New" pitchFamily="34" charset="0"/>
                <a:ea typeface="Courier New" pitchFamily="34" charset="-122"/>
                <a:cs typeface="Courier New" pitchFamily="34" charset="-120"/>
              </a:rPr>
              <a:t>: [</a:t>
            </a:r>
            <a:endParaRPr lang="en-US" sz="1800" dirty="0"/>
          </a:p>
          <a:p>
            <a:pPr algn="l" indent="0" marL="0">
              <a:lnSpc>
                <a:spcPct val="140488"/>
              </a:lnSpc>
              <a:buNone/>
            </a:pPr>
            <a:r>
              <a:rPr lang="en-US" sz="1800" dirty="0">
                <a:solidFill>
                  <a:srgbClr val="CDD7E3">
                    <a:alpha val="92000"/>
                  </a:srgbClr>
                </a:solidFill>
                <a:latin typeface="Courier New" pitchFamily="34" charset="0"/>
                <a:ea typeface="Courier New" pitchFamily="34" charset="-122"/>
                <a:cs typeface="Courier New" pitchFamily="34" charset="-120"/>
              </a:rPr>
              <a:t>    { region: </a:t>
            </a:r>
            <a:endParaRPr lang="en-US" sz="1800" dirty="0"/>
          </a:p>
          <a:p>
            <a:pPr algn="l" indent="0" marL="0">
              <a:lnSpc>
                <a:spcPct val="140488"/>
              </a:lnSpc>
              <a:buNone/>
            </a:pPr>
            <a:r>
              <a:rPr lang="en-US" sz="1800" dirty="0">
                <a:solidFill>
                  <a:srgbClr val="FFB46E">
                    <a:alpha val="92000"/>
                  </a:srgbClr>
                </a:solidFill>
                <a:latin typeface="Courier New" pitchFamily="34" charset="0"/>
                <a:ea typeface="Courier New" pitchFamily="34" charset="-122"/>
                <a:cs typeface="Courier New" pitchFamily="34" charset="-120"/>
              </a:rPr>
              <a:t>"Africa" </a:t>
            </a:r>
            <a:pPr algn="l" indent="0" marL="0">
              <a:lnSpc>
                <a:spcPct val="140488"/>
              </a:lnSpc>
              <a:buNone/>
            </a:pPr>
            <a:r>
              <a:rPr lang="en-US" sz="1800" dirty="0">
                <a:solidFill>
                  <a:srgbClr val="CDD7E3">
                    <a:alpha val="92000"/>
                  </a:srgbClr>
                </a:solidFill>
                <a:latin typeface="Courier New" pitchFamily="34" charset="0"/>
                <a:ea typeface="Courier New" pitchFamily="34" charset="-122"/>
                <a:cs typeface="Courier New" pitchFamily="34" charset="-120"/>
              </a:rPr>
              <a:t> },</a:t>
            </a:r>
            <a:endParaRPr lang="en-US" sz="1800" dirty="0"/>
          </a:p>
          <a:p>
            <a:pPr algn="l" indent="0" marL="0">
              <a:lnSpc>
                <a:spcPct val="140488"/>
              </a:lnSpc>
              <a:buNone/>
            </a:pPr>
            <a:r>
              <a:rPr lang="en-US" sz="1800" dirty="0">
                <a:solidFill>
                  <a:srgbClr val="CDD7E3">
                    <a:alpha val="92000"/>
                  </a:srgbClr>
                </a:solidFill>
                <a:latin typeface="Courier New" pitchFamily="34" charset="0"/>
                <a:ea typeface="Courier New" pitchFamily="34" charset="-122"/>
                <a:cs typeface="Courier New" pitchFamily="34" charset="-120"/>
              </a:rPr>
              <a:t>    { population:</a:t>
            </a:r>
            <a:endParaRPr lang="en-US" sz="1800" dirty="0"/>
          </a:p>
          <a:p>
            <a:pPr algn="l" indent="0" marL="0">
              <a:lnSpc>
                <a:spcPct val="140488"/>
              </a:lnSpc>
              <a:buNone/>
            </a:pPr>
            <a:r>
              <a:rPr lang="en-US" sz="1800" dirty="0">
                <a:solidFill>
                  <a:srgbClr val="CDD7E3">
                    <a:alpha val="92000"/>
                  </a:srgbClr>
                </a:solidFill>
                <a:latin typeface="Courier New" pitchFamily="34" charset="0"/>
                <a:ea typeface="Courier New" pitchFamily="34" charset="-122"/>
                <a:cs typeface="Courier New" pitchFamily="34" charset="-120"/>
              </a:rPr>
              <a:t>      {  </a:t>
            </a:r>
            <a:endParaRPr lang="en-US" sz="1800" dirty="0"/>
          </a:p>
          <a:p>
            <a:pPr algn="l" indent="0" marL="0">
              <a:lnSpc>
                <a:spcPct val="140488"/>
              </a:lnSpc>
              <a:buNone/>
            </a:pPr>
            <a:r>
              <a:rPr lang="en-US" sz="1800" dirty="0">
                <a:solidFill>
                  <a:srgbClr val="B897F0">
                    <a:alpha val="92000"/>
                  </a:srgbClr>
                </a:solidFill>
                <a:latin typeface="Courier New" pitchFamily="34" charset="0"/>
                <a:ea typeface="Courier New" pitchFamily="34" charset="-122"/>
                <a:cs typeface="Courier New" pitchFamily="34" charset="-120"/>
              </a:rPr>
              <a:t>$gte</a:t>
            </a:r>
            <a:pPr algn="l" indent="0" marL="0">
              <a:lnSpc>
                <a:spcPct val="140488"/>
              </a:lnSpc>
              <a:buNone/>
            </a:pPr>
            <a:r>
              <a:rPr lang="en-US" sz="1800" dirty="0">
                <a:solidFill>
                  <a:srgbClr val="CDD7E3">
                    <a:alpha val="92000"/>
                  </a:srgbClr>
                </a:solidFill>
                <a:latin typeface="Courier New" pitchFamily="34" charset="0"/>
                <a:ea typeface="Courier New" pitchFamily="34" charset="-122"/>
                <a:cs typeface="Courier New" pitchFamily="34" charset="-120"/>
              </a:rPr>
              <a:t>: </a:t>
            </a:r>
            <a:pPr algn="l" indent="0" marL="0">
              <a:lnSpc>
                <a:spcPct val="140488"/>
              </a:lnSpc>
              <a:buNone/>
            </a:pPr>
            <a:r>
              <a:rPr lang="en-US" sz="1800" dirty="0">
                <a:solidFill>
                  <a:srgbClr val="E6C07B">
                    <a:alpha val="92000"/>
                  </a:srgbClr>
                </a:solidFill>
                <a:latin typeface="Courier New" pitchFamily="34" charset="0"/>
                <a:ea typeface="Courier New" pitchFamily="34" charset="-122"/>
                <a:cs typeface="Courier New" pitchFamily="34" charset="-120"/>
              </a:rPr>
              <a:t>1e6 </a:t>
            </a:r>
            <a:pPr algn="l" indent="0" marL="0">
              <a:lnSpc>
                <a:spcPct val="140488"/>
              </a:lnSpc>
              <a:buNone/>
            </a:pPr>
            <a:r>
              <a:rPr lang="en-US" sz="1800" dirty="0">
                <a:solidFill>
                  <a:srgbClr val="CDD7E3">
                    <a:alpha val="92000"/>
                  </a:srgbClr>
                </a:solidFill>
                <a:latin typeface="Courier New" pitchFamily="34" charset="0"/>
                <a:ea typeface="Courier New" pitchFamily="34" charset="-122"/>
                <a:cs typeface="Courier New" pitchFamily="34" charset="-120"/>
              </a:rPr>
              <a:t>,</a:t>
            </a:r>
            <a:endParaRPr lang="en-US" sz="1800" dirty="0"/>
          </a:p>
          <a:p>
            <a:pPr algn="l" indent="0" marL="0">
              <a:lnSpc>
                <a:spcPct val="140488"/>
              </a:lnSpc>
              <a:buNone/>
            </a:pPr>
            <a:r>
              <a:rPr lang="en-US" sz="1800" dirty="0">
                <a:solidFill>
                  <a:srgbClr val="CDD7E3">
                    <a:alpha val="92000"/>
                  </a:srgbClr>
                </a:solidFill>
                <a:latin typeface="Courier New" pitchFamily="34" charset="0"/>
                <a:ea typeface="Courier New" pitchFamily="34" charset="-122"/>
                <a:cs typeface="Courier New" pitchFamily="34" charset="-120"/>
              </a:rPr>
              <a:t>         </a:t>
            </a:r>
            <a:endParaRPr lang="en-US" sz="1800" dirty="0"/>
          </a:p>
          <a:p>
            <a:pPr algn="l" indent="0" marL="0">
              <a:lnSpc>
                <a:spcPct val="140488"/>
              </a:lnSpc>
              <a:buNone/>
            </a:pPr>
            <a:r>
              <a:rPr lang="en-US" sz="1800" dirty="0">
                <a:solidFill>
                  <a:srgbClr val="B897F0">
                    <a:alpha val="92000"/>
                  </a:srgbClr>
                </a:solidFill>
                <a:latin typeface="Courier New" pitchFamily="34" charset="0"/>
                <a:ea typeface="Courier New" pitchFamily="34" charset="-122"/>
                <a:cs typeface="Courier New" pitchFamily="34" charset="-120"/>
              </a:rPr>
              <a:t>$lt</a:t>
            </a:r>
            <a:pPr algn="l" indent="0" marL="0">
              <a:lnSpc>
                <a:spcPct val="140488"/>
              </a:lnSpc>
              <a:buNone/>
            </a:pPr>
            <a:r>
              <a:rPr lang="en-US" sz="1800" dirty="0">
                <a:solidFill>
                  <a:srgbClr val="CDD7E3">
                    <a:alpha val="92000"/>
                  </a:srgbClr>
                </a:solidFill>
                <a:latin typeface="Courier New" pitchFamily="34" charset="0"/>
                <a:ea typeface="Courier New" pitchFamily="34" charset="-122"/>
                <a:cs typeface="Courier New" pitchFamily="34" charset="-120"/>
              </a:rPr>
              <a:t>: </a:t>
            </a:r>
            <a:pPr algn="l" indent="0" marL="0">
              <a:lnSpc>
                <a:spcPct val="140488"/>
              </a:lnSpc>
              <a:buNone/>
            </a:pPr>
            <a:r>
              <a:rPr lang="en-US" sz="1800" dirty="0">
                <a:solidFill>
                  <a:srgbClr val="E6C07B">
                    <a:alpha val="92000"/>
                  </a:srgbClr>
                </a:solidFill>
                <a:latin typeface="Courier New" pitchFamily="34" charset="0"/>
                <a:ea typeface="Courier New" pitchFamily="34" charset="-122"/>
                <a:cs typeface="Courier New" pitchFamily="34" charset="-120"/>
              </a:rPr>
              <a:t>2e7 </a:t>
            </a:r>
            <a:pPr algn="l" indent="0" marL="0">
              <a:lnSpc>
                <a:spcPct val="140488"/>
              </a:lnSpc>
              <a:buNone/>
            </a:pPr>
            <a:r>
              <a:rPr lang="en-US" sz="1800" dirty="0">
                <a:solidFill>
                  <a:srgbClr val="CDD7E3">
                    <a:alpha val="92000"/>
                  </a:srgbClr>
                </a:solidFill>
                <a:latin typeface="Courier New" pitchFamily="34" charset="0"/>
                <a:ea typeface="Courier New" pitchFamily="34" charset="-122"/>
                <a:cs typeface="Courier New" pitchFamily="34" charset="-120"/>
              </a:rPr>
              <a:t> } }</a:t>
            </a:r>
            <a:endParaRPr lang="en-US" sz="1800" dirty="0"/>
          </a:p>
          <a:p>
            <a:pPr algn="l" indent="0" marL="0">
              <a:lnSpc>
                <a:spcPct val="140488"/>
              </a:lnSpc>
              <a:buNone/>
            </a:pPr>
            <a:r>
              <a:rPr lang="en-US" sz="1800" dirty="0">
                <a:solidFill>
                  <a:srgbClr val="CDD7E3">
                    <a:alpha val="92000"/>
                  </a:srgbClr>
                </a:solidFill>
                <a:latin typeface="Courier New" pitchFamily="34" charset="0"/>
                <a:ea typeface="Courier New" pitchFamily="34" charset="-122"/>
                <a:cs typeface="Courier New" pitchFamily="34" charset="-120"/>
              </a:rPr>
              <a:t>  ]</a:t>
            </a:r>
            <a:endParaRPr lang="en-US" sz="1800" dirty="0"/>
          </a:p>
          <a:p>
            <a:pPr algn="l" indent="0" marL="0">
              <a:lnSpc>
                <a:spcPct val="140488"/>
              </a:lnSpc>
              <a:buNone/>
            </a:pPr>
            <a:r>
              <a:rPr lang="en-US" sz="1800" dirty="0">
                <a:solidFill>
                  <a:srgbClr val="CDD7E3">
                    <a:alpha val="92000"/>
                  </a:srgbClr>
                </a:solidFill>
                <a:latin typeface="Courier New" pitchFamily="34" charset="0"/>
                <a:ea typeface="Courier New" pitchFamily="34" charset="-122"/>
                <a:cs typeface="Courier New" pitchFamily="34" charset="-120"/>
              </a:rPr>
              <a:t>})</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C121C"/>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B897F0">
                    <a:alpha val="96000"/>
                  </a:srgbClr>
                </a:solidFill>
                <a:latin typeface="Courier New" pitchFamily="34" charset="0"/>
                <a:ea typeface="Courier New" pitchFamily="34" charset="-122"/>
                <a:cs typeface="Courier New" pitchFamily="34" charset="-120"/>
              </a:rPr>
              <a:t>ATELIER 02 · PRATIQUE</a:t>
            </a:r>
            <a:endParaRPr lang="en-US" sz="1800" dirty="0"/>
          </a:p>
        </p:txBody>
      </p:sp>
      <p:sp>
        <p:nvSpPr>
          <p:cNvPr id="3" name="Text 1"/>
          <p:cNvSpPr/>
          <p:nvPr/>
        </p:nvSpPr>
        <p:spPr>
          <a:xfrm>
            <a:off x="1066800" y="1314498"/>
            <a:ext cx="10476041" cy="1326753"/>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Interroger MongoDB : </a:t>
            </a:r>
            <a:pPr algn="l" indent="0" marL="0">
              <a:lnSpc>
                <a:spcPct val="90764"/>
              </a:lnSpc>
              <a:buNone/>
            </a:pPr>
            <a:r>
              <a:rPr lang="en-US" sz="3900" b="1" spc="-96" kern="0" dirty="0">
                <a:solidFill>
                  <a:srgbClr val="B897F0"/>
                </a:solidFill>
                <a:latin typeface="Courier New" pitchFamily="34" charset="0"/>
                <a:ea typeface="Courier New" pitchFamily="34" charset="-122"/>
                <a:cs typeface="Courier New" pitchFamily="34" charset="-120"/>
              </a:rPr>
              <a:t>find </a:t>
            </a:r>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et </a:t>
            </a:r>
            <a:pPr algn="l" indent="0" marL="0">
              <a:lnSpc>
                <a:spcPct val="90764"/>
              </a:lnSpc>
              <a:buNone/>
            </a:pPr>
            <a:r>
              <a:rPr lang="en-US" sz="3900" b="1" spc="-96" kern="0" dirty="0">
                <a:solidFill>
                  <a:srgbClr val="B897F0"/>
                </a:solidFill>
                <a:latin typeface="Courier New" pitchFamily="34" charset="0"/>
                <a:ea typeface="Courier New" pitchFamily="34" charset="-122"/>
                <a:cs typeface="Courier New" pitchFamily="34" charset="-120"/>
              </a:rPr>
              <a:t>aggregate</a:t>
            </a:r>
            <a:endParaRPr lang="en-US" sz="4800" dirty="0"/>
          </a:p>
        </p:txBody>
      </p:sp>
      <p:sp>
        <p:nvSpPr>
          <p:cNvPr id="4" name="Shape 2"/>
          <p:cNvSpPr/>
          <p:nvPr/>
        </p:nvSpPr>
        <p:spPr>
          <a:xfrm>
            <a:off x="1066800" y="2965101"/>
            <a:ext cx="7934325" cy="5236666"/>
          </a:xfrm>
          <a:prstGeom prst="roundRect">
            <a:avLst>
              <a:gd name="adj" fmla="val 2910"/>
            </a:avLst>
          </a:prstGeom>
          <a:solidFill>
            <a:srgbClr val="06090E"/>
          </a:solidFill>
          <a:ln w="6350">
            <a:solidFill>
              <a:srgbClr val="FFFFFF">
                <a:alpha val="10000"/>
              </a:srgbClr>
            </a:solidFill>
            <a:prstDash val="solid"/>
          </a:ln>
        </p:spPr>
      </p:sp>
      <p:sp>
        <p:nvSpPr>
          <p:cNvPr id="5" name="Shape 3"/>
          <p:cNvSpPr/>
          <p:nvPr/>
        </p:nvSpPr>
        <p:spPr>
          <a:xfrm>
            <a:off x="1073150" y="3581051"/>
            <a:ext cx="7921625" cy="9525"/>
          </a:xfrm>
          <a:prstGeom prst="rect">
            <a:avLst/>
          </a:prstGeom>
          <a:solidFill>
            <a:srgbClr val="FFFFFF">
              <a:alpha val="6000"/>
            </a:srgbClr>
          </a:solidFill>
          <a:ln/>
        </p:spPr>
      </p:sp>
      <p:sp>
        <p:nvSpPr>
          <p:cNvPr id="6" name="Text 4"/>
          <p:cNvSpPr/>
          <p:nvPr/>
        </p:nvSpPr>
        <p:spPr>
          <a:xfrm>
            <a:off x="1301750" y="3123851"/>
            <a:ext cx="7702074"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solidFill>
                <a:latin typeface="Courier New" pitchFamily="34" charset="0"/>
                <a:ea typeface="Courier New" pitchFamily="34" charset="-122"/>
                <a:cs typeface="Courier New" pitchFamily="34" charset="-120"/>
              </a:rPr>
              <a:t>find · filtre + projection</a:t>
            </a:r>
            <a:endParaRPr lang="en-US" sz="1800" dirty="0"/>
          </a:p>
        </p:txBody>
      </p:sp>
      <p:sp>
        <p:nvSpPr>
          <p:cNvPr id="7" name="Text 5"/>
          <p:cNvSpPr/>
          <p:nvPr/>
        </p:nvSpPr>
        <p:spPr>
          <a:xfrm>
            <a:off x="1339850" y="3835051"/>
            <a:ext cx="7625874" cy="1980803"/>
          </a:xfrm>
          <a:prstGeom prst="rect">
            <a:avLst/>
          </a:prstGeom>
          <a:noFill/>
          <a:ln/>
        </p:spPr>
        <p:txBody>
          <a:bodyPr wrap="none" lIns="25400" tIns="25400" rIns="25400" bIns="25400" rtlCol="0" anchor="t">
            <a:normAutofit/>
          </a:bodyPr>
          <a:lstStyle/>
          <a:p>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db.countries.</a:t>
            </a:r>
            <a:pPr algn="l" indent="0" marL="0">
              <a:lnSpc>
                <a:spcPct val="149268"/>
              </a:lnSpc>
              <a:buNone/>
            </a:pPr>
            <a:r>
              <a:rPr lang="en-US" sz="1800" dirty="0">
                <a:solidFill>
                  <a:srgbClr val="56DBDB"/>
                </a:solidFill>
                <a:latin typeface="Courier New" pitchFamily="34" charset="0"/>
                <a:ea typeface="Courier New" pitchFamily="34" charset="-122"/>
                <a:cs typeface="Courier New" pitchFamily="34" charset="-120"/>
              </a:rPr>
              <a:t>find </a:t>
            </a:r>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a:t>
            </a:r>
            <a:endParaRPr lang="en-US" sz="1800" dirty="0"/>
          </a:p>
          <a:p>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  { region:  </a:t>
            </a:r>
            <a:endParaRPr lang="en-US" sz="1800" dirty="0"/>
          </a:p>
          <a:p>
            <a:pPr algn="l" indent="0" marL="0">
              <a:lnSpc>
                <a:spcPct val="149268"/>
              </a:lnSpc>
              <a:buNone/>
            </a:pPr>
            <a:r>
              <a:rPr lang="en-US" sz="1800" dirty="0">
                <a:solidFill>
                  <a:srgbClr val="FFB46E"/>
                </a:solidFill>
                <a:latin typeface="Courier New" pitchFamily="34" charset="0"/>
                <a:ea typeface="Courier New" pitchFamily="34" charset="-122"/>
                <a:cs typeface="Courier New" pitchFamily="34" charset="-120"/>
              </a:rPr>
              <a:t>"Africa" </a:t>
            </a:r>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a:t>
            </a:r>
            <a:endParaRPr lang="en-US" sz="1800" dirty="0"/>
          </a:p>
          <a:p>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    population: {  </a:t>
            </a:r>
            <a:endParaRPr lang="en-US" sz="1800" dirty="0"/>
          </a:p>
          <a:p>
            <a:pPr algn="l" indent="0" marL="0">
              <a:lnSpc>
                <a:spcPct val="149268"/>
              </a:lnSpc>
              <a:buNone/>
            </a:pPr>
            <a:r>
              <a:rPr lang="en-US" sz="1800" dirty="0">
                <a:solidFill>
                  <a:srgbClr val="B897F0"/>
                </a:solidFill>
                <a:latin typeface="Courier New" pitchFamily="34" charset="0"/>
                <a:ea typeface="Courier New" pitchFamily="34" charset="-122"/>
                <a:cs typeface="Courier New" pitchFamily="34" charset="-120"/>
              </a:rPr>
              <a:t>$lt</a:t>
            </a:r>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 </a:t>
            </a:r>
            <a:pPr algn="l" indent="0" marL="0">
              <a:lnSpc>
                <a:spcPct val="149268"/>
              </a:lnSpc>
              <a:buNone/>
            </a:pPr>
            <a:r>
              <a:rPr lang="en-US" sz="1800" dirty="0">
                <a:solidFill>
                  <a:srgbClr val="E6C07B"/>
                </a:solidFill>
                <a:latin typeface="Courier New" pitchFamily="34" charset="0"/>
                <a:ea typeface="Courier New" pitchFamily="34" charset="-122"/>
                <a:cs typeface="Courier New" pitchFamily="34" charset="-120"/>
              </a:rPr>
              <a:t>8000000 </a:t>
            </a:r>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 } },</a:t>
            </a:r>
            <a:endParaRPr lang="en-US" sz="1800" dirty="0"/>
          </a:p>
          <a:p>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  { name:  </a:t>
            </a:r>
            <a:endParaRPr lang="en-US" sz="1800" dirty="0"/>
          </a:p>
          <a:p>
            <a:pPr algn="l" indent="0" marL="0">
              <a:lnSpc>
                <a:spcPct val="149268"/>
              </a:lnSpc>
              <a:buNone/>
            </a:pPr>
            <a:r>
              <a:rPr lang="en-US" sz="1800" dirty="0">
                <a:solidFill>
                  <a:srgbClr val="E6C07B"/>
                </a:solidFill>
                <a:latin typeface="Courier New" pitchFamily="34" charset="0"/>
                <a:ea typeface="Courier New" pitchFamily="34" charset="-122"/>
                <a:cs typeface="Courier New" pitchFamily="34" charset="-120"/>
              </a:rPr>
              <a:t>1</a:t>
            </a:r>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 capital: </a:t>
            </a:r>
            <a:pPr algn="l" indent="0" marL="0">
              <a:lnSpc>
                <a:spcPct val="149268"/>
              </a:lnSpc>
              <a:buNone/>
            </a:pPr>
            <a:r>
              <a:rPr lang="en-US" sz="1800" dirty="0">
                <a:solidFill>
                  <a:srgbClr val="E6C07B"/>
                </a:solidFill>
                <a:latin typeface="Courier New" pitchFamily="34" charset="0"/>
                <a:ea typeface="Courier New" pitchFamily="34" charset="-122"/>
                <a:cs typeface="Courier New" pitchFamily="34" charset="-120"/>
              </a:rPr>
              <a:t>1</a:t>
            </a:r>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 _id: </a:t>
            </a:r>
            <a:pPr algn="l" indent="0" marL="0">
              <a:lnSpc>
                <a:spcPct val="149268"/>
              </a:lnSpc>
              <a:buNone/>
            </a:pPr>
            <a:r>
              <a:rPr lang="en-US" sz="1800" dirty="0">
                <a:solidFill>
                  <a:srgbClr val="E6C07B"/>
                </a:solidFill>
                <a:latin typeface="Courier New" pitchFamily="34" charset="0"/>
                <a:ea typeface="Courier New" pitchFamily="34" charset="-122"/>
                <a:cs typeface="Courier New" pitchFamily="34" charset="-120"/>
              </a:rPr>
              <a:t>0 </a:t>
            </a:r>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 }</a:t>
            </a:r>
            <a:endParaRPr lang="en-US" sz="1800" dirty="0"/>
          </a:p>
          <a:p>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a:t>
            </a:r>
            <a:endParaRPr lang="en-US" sz="1800" dirty="0"/>
          </a:p>
        </p:txBody>
      </p:sp>
      <p:sp>
        <p:nvSpPr>
          <p:cNvPr id="8" name="Shape 6"/>
          <p:cNvSpPr/>
          <p:nvPr/>
        </p:nvSpPr>
        <p:spPr>
          <a:xfrm>
            <a:off x="9286875" y="2967898"/>
            <a:ext cx="7934325" cy="5236666"/>
          </a:xfrm>
          <a:prstGeom prst="roundRect">
            <a:avLst>
              <a:gd name="adj" fmla="val 2910"/>
            </a:avLst>
          </a:prstGeom>
          <a:solidFill>
            <a:srgbClr val="06090E">
              <a:alpha val="99000"/>
            </a:srgbClr>
          </a:solidFill>
          <a:ln w="6350">
            <a:solidFill>
              <a:srgbClr val="FFFFFF">
                <a:alpha val="10000"/>
              </a:srgbClr>
            </a:solidFill>
            <a:prstDash val="solid"/>
          </a:ln>
        </p:spPr>
      </p:sp>
      <p:sp>
        <p:nvSpPr>
          <p:cNvPr id="9" name="Shape 7"/>
          <p:cNvSpPr/>
          <p:nvPr/>
        </p:nvSpPr>
        <p:spPr>
          <a:xfrm>
            <a:off x="9293225" y="3583848"/>
            <a:ext cx="7921625" cy="9525"/>
          </a:xfrm>
          <a:prstGeom prst="rect">
            <a:avLst/>
          </a:prstGeom>
          <a:solidFill>
            <a:srgbClr val="FFFFFF">
              <a:alpha val="6000"/>
            </a:srgbClr>
          </a:solidFill>
          <a:ln/>
        </p:spPr>
      </p:sp>
      <p:sp>
        <p:nvSpPr>
          <p:cNvPr id="10" name="Text 8"/>
          <p:cNvSpPr/>
          <p:nvPr/>
        </p:nvSpPr>
        <p:spPr>
          <a:xfrm>
            <a:off x="9521825" y="3126648"/>
            <a:ext cx="7702074"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alpha val="99000"/>
                  </a:srgbClr>
                </a:solidFill>
                <a:latin typeface="Courier New" pitchFamily="34" charset="0"/>
                <a:ea typeface="Courier New" pitchFamily="34" charset="-122"/>
                <a:cs typeface="Courier New" pitchFamily="34" charset="-120"/>
              </a:rPr>
              <a:t>aggregate · population par région</a:t>
            </a:r>
            <a:endParaRPr lang="en-US" sz="1800" dirty="0"/>
          </a:p>
        </p:txBody>
      </p:sp>
      <p:sp>
        <p:nvSpPr>
          <p:cNvPr id="11" name="Text 9"/>
          <p:cNvSpPr/>
          <p:nvPr/>
        </p:nvSpPr>
        <p:spPr>
          <a:xfrm>
            <a:off x="9559925" y="3837848"/>
            <a:ext cx="7625874" cy="1980803"/>
          </a:xfrm>
          <a:prstGeom prst="rect">
            <a:avLst/>
          </a:prstGeom>
          <a:noFill/>
          <a:ln/>
        </p:spPr>
        <p:txBody>
          <a:bodyPr wrap="none" lIns="25400" tIns="25400" rIns="25400" bIns="25400" rtlCol="0" anchor="t">
            <a:normAutofit/>
          </a:bodyPr>
          <a:lstStyle/>
          <a:p>
            <a:pPr algn="l" indent="0" marL="0">
              <a:lnSpc>
                <a:spcPct val="149268"/>
              </a:lnSpc>
              <a:buNone/>
            </a:pPr>
            <a:r>
              <a:rPr lang="en-US" sz="1800" dirty="0">
                <a:solidFill>
                  <a:srgbClr val="CDD7E3">
                    <a:alpha val="99000"/>
                  </a:srgbClr>
                </a:solidFill>
                <a:latin typeface="Courier New" pitchFamily="34" charset="0"/>
                <a:ea typeface="Courier New" pitchFamily="34" charset="-122"/>
                <a:cs typeface="Courier New" pitchFamily="34" charset="-120"/>
              </a:rPr>
              <a:t>db.countries.</a:t>
            </a:r>
            <a:pPr algn="l" indent="0" marL="0">
              <a:lnSpc>
                <a:spcPct val="149268"/>
              </a:lnSpc>
              <a:buNone/>
            </a:pPr>
            <a:r>
              <a:rPr lang="en-US" sz="1800" dirty="0">
                <a:solidFill>
                  <a:srgbClr val="56DBDB">
                    <a:alpha val="99000"/>
                  </a:srgbClr>
                </a:solidFill>
                <a:latin typeface="Courier New" pitchFamily="34" charset="0"/>
                <a:ea typeface="Courier New" pitchFamily="34" charset="-122"/>
                <a:cs typeface="Courier New" pitchFamily="34" charset="-120"/>
              </a:rPr>
              <a:t>aggregate </a:t>
            </a:r>
            <a:pPr algn="l" indent="0" marL="0">
              <a:lnSpc>
                <a:spcPct val="149268"/>
              </a:lnSpc>
              <a:buNone/>
            </a:pPr>
            <a:r>
              <a:rPr lang="en-US" sz="1800" dirty="0">
                <a:solidFill>
                  <a:srgbClr val="CDD7E3">
                    <a:alpha val="99000"/>
                  </a:srgbClr>
                </a:solidFill>
                <a:latin typeface="Courier New" pitchFamily="34" charset="0"/>
                <a:ea typeface="Courier New" pitchFamily="34" charset="-122"/>
                <a:cs typeface="Courier New" pitchFamily="34" charset="-120"/>
              </a:rPr>
              <a:t>([</a:t>
            </a:r>
            <a:endParaRPr lang="en-US" sz="1800" dirty="0"/>
          </a:p>
          <a:p>
            <a:pPr algn="l" indent="0" marL="0">
              <a:lnSpc>
                <a:spcPct val="149268"/>
              </a:lnSpc>
              <a:buNone/>
            </a:pPr>
            <a:r>
              <a:rPr lang="en-US" sz="1800" dirty="0">
                <a:solidFill>
                  <a:srgbClr val="CDD7E3">
                    <a:alpha val="99000"/>
                  </a:srgbClr>
                </a:solidFill>
                <a:latin typeface="Courier New" pitchFamily="34" charset="0"/>
                <a:ea typeface="Courier New" pitchFamily="34" charset="-122"/>
                <a:cs typeface="Courier New" pitchFamily="34" charset="-120"/>
              </a:rPr>
              <a:t>  {  </a:t>
            </a:r>
            <a:endParaRPr lang="en-US" sz="1800" dirty="0"/>
          </a:p>
          <a:p>
            <a:pPr algn="l" indent="0" marL="0">
              <a:lnSpc>
                <a:spcPct val="149268"/>
              </a:lnSpc>
              <a:buNone/>
            </a:pPr>
            <a:r>
              <a:rPr lang="en-US" sz="1800" dirty="0">
                <a:solidFill>
                  <a:srgbClr val="B897F0">
                    <a:alpha val="99000"/>
                  </a:srgbClr>
                </a:solidFill>
                <a:latin typeface="Courier New" pitchFamily="34" charset="0"/>
                <a:ea typeface="Courier New" pitchFamily="34" charset="-122"/>
                <a:cs typeface="Courier New" pitchFamily="34" charset="-120"/>
              </a:rPr>
              <a:t>$group</a:t>
            </a:r>
            <a:pPr algn="l" indent="0" marL="0">
              <a:lnSpc>
                <a:spcPct val="149268"/>
              </a:lnSpc>
              <a:buNone/>
            </a:pPr>
            <a:r>
              <a:rPr lang="en-US" sz="1800" dirty="0">
                <a:solidFill>
                  <a:srgbClr val="CDD7E3">
                    <a:alpha val="99000"/>
                  </a:srgbClr>
                </a:solidFill>
                <a:latin typeface="Courier New" pitchFamily="34" charset="0"/>
                <a:ea typeface="Courier New" pitchFamily="34" charset="-122"/>
                <a:cs typeface="Courier New" pitchFamily="34" charset="-120"/>
              </a:rPr>
              <a:t>: { _id: </a:t>
            </a:r>
            <a:pPr algn="l" indent="0" marL="0">
              <a:lnSpc>
                <a:spcPct val="149268"/>
              </a:lnSpc>
              <a:buNone/>
            </a:pPr>
            <a:r>
              <a:rPr lang="en-US" sz="1800" dirty="0">
                <a:solidFill>
                  <a:srgbClr val="FFB46E">
                    <a:alpha val="99000"/>
                  </a:srgbClr>
                </a:solidFill>
                <a:latin typeface="Courier New" pitchFamily="34" charset="0"/>
                <a:ea typeface="Courier New" pitchFamily="34" charset="-122"/>
                <a:cs typeface="Courier New" pitchFamily="34" charset="-120"/>
              </a:rPr>
              <a:t>"$region" </a:t>
            </a:r>
            <a:pPr algn="l" indent="0" marL="0">
              <a:lnSpc>
                <a:spcPct val="149268"/>
              </a:lnSpc>
              <a:buNone/>
            </a:pPr>
            <a:r>
              <a:rPr lang="en-US" sz="1800" dirty="0">
                <a:solidFill>
                  <a:srgbClr val="CDD7E3">
                    <a:alpha val="99000"/>
                  </a:srgbClr>
                </a:solidFill>
                <a:latin typeface="Courier New" pitchFamily="34" charset="0"/>
                <a:ea typeface="Courier New" pitchFamily="34" charset="-122"/>
                <a:cs typeface="Courier New" pitchFamily="34" charset="-120"/>
              </a:rPr>
              <a:t>,</a:t>
            </a:r>
            <a:endParaRPr lang="en-US" sz="1800" dirty="0"/>
          </a:p>
          <a:p>
            <a:pPr algn="l" indent="0" marL="0">
              <a:lnSpc>
                <a:spcPct val="149268"/>
              </a:lnSpc>
              <a:buNone/>
            </a:pPr>
            <a:r>
              <a:rPr lang="en-US" sz="1800" dirty="0">
                <a:solidFill>
                  <a:srgbClr val="CDD7E3">
                    <a:alpha val="99000"/>
                  </a:srgbClr>
                </a:solidFill>
                <a:latin typeface="Courier New" pitchFamily="34" charset="0"/>
                <a:ea typeface="Courier New" pitchFamily="34" charset="-122"/>
                <a:cs typeface="Courier New" pitchFamily="34" charset="-120"/>
              </a:rPr>
              <a:t>    total: {  </a:t>
            </a:r>
            <a:endParaRPr lang="en-US" sz="1800" dirty="0"/>
          </a:p>
          <a:p>
            <a:pPr algn="l" indent="0" marL="0">
              <a:lnSpc>
                <a:spcPct val="149268"/>
              </a:lnSpc>
              <a:buNone/>
            </a:pPr>
            <a:r>
              <a:rPr lang="en-US" sz="1800" dirty="0">
                <a:solidFill>
                  <a:srgbClr val="B897F0">
                    <a:alpha val="99000"/>
                  </a:srgbClr>
                </a:solidFill>
                <a:latin typeface="Courier New" pitchFamily="34" charset="0"/>
                <a:ea typeface="Courier New" pitchFamily="34" charset="-122"/>
                <a:cs typeface="Courier New" pitchFamily="34" charset="-120"/>
              </a:rPr>
              <a:t>$sum</a:t>
            </a:r>
            <a:pPr algn="l" indent="0" marL="0">
              <a:lnSpc>
                <a:spcPct val="149268"/>
              </a:lnSpc>
              <a:buNone/>
            </a:pPr>
            <a:r>
              <a:rPr lang="en-US" sz="1800" dirty="0">
                <a:solidFill>
                  <a:srgbClr val="CDD7E3">
                    <a:alpha val="99000"/>
                  </a:srgbClr>
                </a:solidFill>
                <a:latin typeface="Courier New" pitchFamily="34" charset="0"/>
                <a:ea typeface="Courier New" pitchFamily="34" charset="-122"/>
                <a:cs typeface="Courier New" pitchFamily="34" charset="-120"/>
              </a:rPr>
              <a:t>: </a:t>
            </a:r>
            <a:pPr algn="l" indent="0" marL="0">
              <a:lnSpc>
                <a:spcPct val="149268"/>
              </a:lnSpc>
              <a:buNone/>
            </a:pPr>
            <a:r>
              <a:rPr lang="en-US" sz="1800" dirty="0">
                <a:solidFill>
                  <a:srgbClr val="FFB46E">
                    <a:alpha val="99000"/>
                  </a:srgbClr>
                </a:solidFill>
                <a:latin typeface="Courier New" pitchFamily="34" charset="0"/>
                <a:ea typeface="Courier New" pitchFamily="34" charset="-122"/>
                <a:cs typeface="Courier New" pitchFamily="34" charset="-120"/>
              </a:rPr>
              <a:t>"$population" </a:t>
            </a:r>
            <a:pPr algn="l" indent="0" marL="0">
              <a:lnSpc>
                <a:spcPct val="149268"/>
              </a:lnSpc>
              <a:buNone/>
            </a:pPr>
            <a:r>
              <a:rPr lang="en-US" sz="1800" dirty="0">
                <a:solidFill>
                  <a:srgbClr val="CDD7E3">
                    <a:alpha val="99000"/>
                  </a:srgbClr>
                </a:solidFill>
                <a:latin typeface="Courier New" pitchFamily="34" charset="0"/>
                <a:ea typeface="Courier New" pitchFamily="34" charset="-122"/>
                <a:cs typeface="Courier New" pitchFamily="34" charset="-120"/>
              </a:rPr>
              <a:t> } } },</a:t>
            </a:r>
            <a:endParaRPr lang="en-US" sz="1800" dirty="0"/>
          </a:p>
          <a:p>
            <a:pPr algn="l" indent="0" marL="0">
              <a:lnSpc>
                <a:spcPct val="149268"/>
              </a:lnSpc>
              <a:buNone/>
            </a:pPr>
            <a:r>
              <a:rPr lang="en-US" sz="1800" dirty="0">
                <a:solidFill>
                  <a:srgbClr val="CDD7E3">
                    <a:alpha val="99000"/>
                  </a:srgbClr>
                </a:solidFill>
                <a:latin typeface="Courier New" pitchFamily="34" charset="0"/>
                <a:ea typeface="Courier New" pitchFamily="34" charset="-122"/>
                <a:cs typeface="Courier New" pitchFamily="34" charset="-120"/>
              </a:rPr>
              <a:t>  {  </a:t>
            </a:r>
            <a:endParaRPr lang="en-US" sz="1800" dirty="0"/>
          </a:p>
          <a:p>
            <a:pPr algn="l" indent="0" marL="0">
              <a:lnSpc>
                <a:spcPct val="149268"/>
              </a:lnSpc>
              <a:buNone/>
            </a:pPr>
            <a:r>
              <a:rPr lang="en-US" sz="1800" dirty="0">
                <a:solidFill>
                  <a:srgbClr val="B897F0">
                    <a:alpha val="99000"/>
                  </a:srgbClr>
                </a:solidFill>
                <a:latin typeface="Courier New" pitchFamily="34" charset="0"/>
                <a:ea typeface="Courier New" pitchFamily="34" charset="-122"/>
                <a:cs typeface="Courier New" pitchFamily="34" charset="-120"/>
              </a:rPr>
              <a:t>$sort</a:t>
            </a:r>
            <a:pPr algn="l" indent="0" marL="0">
              <a:lnSpc>
                <a:spcPct val="149268"/>
              </a:lnSpc>
              <a:buNone/>
            </a:pPr>
            <a:r>
              <a:rPr lang="en-US" sz="1800" dirty="0">
                <a:solidFill>
                  <a:srgbClr val="CDD7E3">
                    <a:alpha val="99000"/>
                  </a:srgbClr>
                </a:solidFill>
                <a:latin typeface="Courier New" pitchFamily="34" charset="0"/>
                <a:ea typeface="Courier New" pitchFamily="34" charset="-122"/>
                <a:cs typeface="Courier New" pitchFamily="34" charset="-120"/>
              </a:rPr>
              <a:t>: { total: </a:t>
            </a:r>
            <a:pPr algn="l" indent="0" marL="0">
              <a:lnSpc>
                <a:spcPct val="149268"/>
              </a:lnSpc>
              <a:buNone/>
            </a:pPr>
            <a:r>
              <a:rPr lang="en-US" sz="1800" dirty="0">
                <a:solidFill>
                  <a:srgbClr val="E6C07B">
                    <a:alpha val="99000"/>
                  </a:srgbClr>
                </a:solidFill>
                <a:latin typeface="Courier New" pitchFamily="34" charset="0"/>
                <a:ea typeface="Courier New" pitchFamily="34" charset="-122"/>
                <a:cs typeface="Courier New" pitchFamily="34" charset="-120"/>
              </a:rPr>
              <a:t>-1 </a:t>
            </a:r>
            <a:pPr algn="l" indent="0" marL="0">
              <a:lnSpc>
                <a:spcPct val="149268"/>
              </a:lnSpc>
              <a:buNone/>
            </a:pPr>
            <a:r>
              <a:rPr lang="en-US" sz="1800" dirty="0">
                <a:solidFill>
                  <a:srgbClr val="CDD7E3">
                    <a:alpha val="99000"/>
                  </a:srgbClr>
                </a:solidFill>
                <a:latin typeface="Courier New" pitchFamily="34" charset="0"/>
                <a:ea typeface="Courier New" pitchFamily="34" charset="-122"/>
                <a:cs typeface="Courier New" pitchFamily="34" charset="-120"/>
              </a:rPr>
              <a:t> } }</a:t>
            </a:r>
            <a:endParaRPr lang="en-US" sz="1800" dirty="0"/>
          </a:p>
          <a:p>
            <a:pPr algn="l" indent="0" marL="0">
              <a:lnSpc>
                <a:spcPct val="149268"/>
              </a:lnSpc>
              <a:buNone/>
            </a:pPr>
            <a:r>
              <a:rPr lang="en-US" sz="1800" dirty="0">
                <a:solidFill>
                  <a:srgbClr val="CDD7E3">
                    <a:alpha val="99000"/>
                  </a:srgbClr>
                </a:solidFill>
                <a:latin typeface="Courier New" pitchFamily="34" charset="0"/>
                <a:ea typeface="Courier New" pitchFamily="34" charset="-122"/>
                <a:cs typeface="Courier New" pitchFamily="34" charset="-120"/>
              </a:rPr>
              <a:t>])</a:t>
            </a:r>
            <a:endParaRPr lang="en-US" sz="1800" dirty="0"/>
          </a:p>
        </p:txBody>
      </p:sp>
      <p:sp>
        <p:nvSpPr>
          <p:cNvPr id="12" name="Text 10"/>
          <p:cNvSpPr/>
          <p:nvPr/>
        </p:nvSpPr>
        <p:spPr>
          <a:xfrm>
            <a:off x="1066800" y="8589070"/>
            <a:ext cx="150876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alpha val="65000"/>
                  </a:srgbClr>
                </a:solidFill>
                <a:latin typeface="Courier New" pitchFamily="34" charset="0"/>
                <a:ea typeface="Courier New" pitchFamily="34" charset="-122"/>
                <a:cs typeface="Courier New" pitchFamily="34" charset="-120"/>
              </a:rPr>
              <a:t>Pipeline :</a:t>
            </a:r>
            <a:endParaRPr lang="en-US" sz="1800" dirty="0"/>
          </a:p>
        </p:txBody>
      </p:sp>
      <p:sp>
        <p:nvSpPr>
          <p:cNvPr id="13" name="Shape 11"/>
          <p:cNvSpPr/>
          <p:nvPr/>
        </p:nvSpPr>
        <p:spPr>
          <a:xfrm>
            <a:off x="2552700" y="8506520"/>
            <a:ext cx="2237780" cy="469900"/>
          </a:xfrm>
          <a:prstGeom prst="roundRect">
            <a:avLst>
              <a:gd name="adj" fmla="val 16216"/>
            </a:avLst>
          </a:prstGeom>
          <a:solidFill>
            <a:srgbClr val="FFFFFF">
              <a:alpha val="4000"/>
            </a:srgbClr>
          </a:solidFill>
          <a:ln w="6350">
            <a:solidFill>
              <a:srgbClr val="FFFFFF">
                <a:alpha val="6000"/>
              </a:srgbClr>
            </a:solidFill>
            <a:prstDash val="solid"/>
          </a:ln>
        </p:spPr>
      </p:sp>
      <p:sp>
        <p:nvSpPr>
          <p:cNvPr id="14" name="Text 12"/>
          <p:cNvSpPr/>
          <p:nvPr/>
        </p:nvSpPr>
        <p:spPr>
          <a:xfrm>
            <a:off x="2711450" y="8589070"/>
            <a:ext cx="199648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EEF3F9">
                    <a:alpha val="65000"/>
                  </a:srgbClr>
                </a:solidFill>
                <a:highlight>
                  <a:srgbClr val="A9ABAE"/>
                </a:highlight>
                <a:latin typeface="Courier New" pitchFamily="34" charset="0"/>
                <a:ea typeface="Courier New" pitchFamily="34" charset="-122"/>
                <a:cs typeface="Courier New" pitchFamily="34" charset="-120"/>
              </a:rPr>
              <a:t>$match </a:t>
            </a:r>
            <a:pPr algn="l" indent="0" marL="0">
              <a:buNone/>
            </a:pPr>
            <a:r>
              <a:rPr lang="en-US" sz="1800" dirty="0">
                <a:solidFill>
                  <a:srgbClr val="8EA0B5">
                    <a:alpha val="65000"/>
                  </a:srgbClr>
                </a:solidFill>
                <a:latin typeface="Courier New" pitchFamily="34" charset="0"/>
                <a:ea typeface="Courier New" pitchFamily="34" charset="-122"/>
                <a:cs typeface="Courier New" pitchFamily="34" charset="-120"/>
              </a:rPr>
              <a:t>= WHERE</a:t>
            </a:r>
            <a:endParaRPr lang="en-US" sz="1800" dirty="0"/>
          </a:p>
        </p:txBody>
      </p:sp>
      <p:sp>
        <p:nvSpPr>
          <p:cNvPr id="15" name="Text 13"/>
          <p:cNvSpPr/>
          <p:nvPr/>
        </p:nvSpPr>
        <p:spPr>
          <a:xfrm>
            <a:off x="4904780" y="8579545"/>
            <a:ext cx="323850" cy="361950"/>
          </a:xfrm>
          <a:prstGeom prst="rect">
            <a:avLst/>
          </a:prstGeom>
          <a:noFill/>
          <a:ln/>
        </p:spPr>
        <p:txBody>
          <a:bodyPr wrap="square" lIns="25400" tIns="25400" rIns="25400" bIns="25400" rtlCol="0" anchor="t">
            <a:normAutofit/>
          </a:bodyPr>
          <a:lstStyle/>
          <a:p>
            <a:pPr algn="l" indent="0" marL="0">
              <a:buNone/>
            </a:pPr>
            <a:r>
              <a:rPr lang="en-US" sz="1950" dirty="0">
                <a:solidFill>
                  <a:srgbClr val="B897F0">
                    <a:alpha val="65000"/>
                  </a:srgbClr>
                </a:solidFill>
                <a:latin typeface="Arial" pitchFamily="34" charset="0"/>
                <a:ea typeface="Arial" pitchFamily="34" charset="-122"/>
                <a:cs typeface="Arial" pitchFamily="34" charset="-120"/>
              </a:rPr>
              <a:t>→</a:t>
            </a:r>
            <a:endParaRPr lang="en-US" sz="1950" dirty="0"/>
          </a:p>
        </p:txBody>
      </p:sp>
      <p:sp>
        <p:nvSpPr>
          <p:cNvPr id="16" name="Shape 14"/>
          <p:cNvSpPr/>
          <p:nvPr/>
        </p:nvSpPr>
        <p:spPr>
          <a:xfrm>
            <a:off x="5266730" y="8506520"/>
            <a:ext cx="2649240" cy="469900"/>
          </a:xfrm>
          <a:prstGeom prst="roundRect">
            <a:avLst>
              <a:gd name="adj" fmla="val 16216"/>
            </a:avLst>
          </a:prstGeom>
          <a:solidFill>
            <a:srgbClr val="FFFFFF">
              <a:alpha val="4000"/>
            </a:srgbClr>
          </a:solidFill>
          <a:ln w="6350">
            <a:solidFill>
              <a:srgbClr val="FFFFFF">
                <a:alpha val="6000"/>
              </a:srgbClr>
            </a:solidFill>
            <a:prstDash val="solid"/>
          </a:ln>
        </p:spPr>
      </p:sp>
      <p:sp>
        <p:nvSpPr>
          <p:cNvPr id="17" name="Text 15"/>
          <p:cNvSpPr/>
          <p:nvPr/>
        </p:nvSpPr>
        <p:spPr>
          <a:xfrm>
            <a:off x="5425480" y="8589070"/>
            <a:ext cx="2411217" cy="342900"/>
          </a:xfrm>
          <a:prstGeom prst="rect">
            <a:avLst/>
          </a:prstGeom>
          <a:noFill/>
          <a:ln/>
        </p:spPr>
        <p:txBody>
          <a:bodyPr wrap="square" lIns="25400" tIns="25400" rIns="25400" bIns="25400" rtlCol="0" anchor="t">
            <a:normAutofit/>
          </a:bodyPr>
          <a:lstStyle/>
          <a:p>
            <a:pPr algn="l" indent="0" marL="0">
              <a:buNone/>
            </a:pPr>
            <a:r>
              <a:rPr lang="en-US" sz="1800" dirty="0">
                <a:solidFill>
                  <a:srgbClr val="EEF3F9">
                    <a:alpha val="65000"/>
                  </a:srgbClr>
                </a:solidFill>
                <a:highlight>
                  <a:srgbClr val="A9ABAE"/>
                </a:highlight>
                <a:latin typeface="Courier New" pitchFamily="34" charset="0"/>
                <a:ea typeface="Courier New" pitchFamily="34" charset="-122"/>
                <a:cs typeface="Courier New" pitchFamily="34" charset="-120"/>
              </a:rPr>
              <a:t>$group </a:t>
            </a:r>
            <a:pPr algn="l" indent="0" marL="0">
              <a:buNone/>
            </a:pPr>
            <a:r>
              <a:rPr lang="en-US" sz="1800" dirty="0">
                <a:solidFill>
                  <a:srgbClr val="8EA0B5">
                    <a:alpha val="65000"/>
                  </a:srgbClr>
                </a:solidFill>
                <a:latin typeface="Courier New" pitchFamily="34" charset="0"/>
                <a:ea typeface="Courier New" pitchFamily="34" charset="-122"/>
                <a:cs typeface="Courier New" pitchFamily="34" charset="-120"/>
              </a:rPr>
              <a:t>= GROUP BY</a:t>
            </a:r>
            <a:endParaRPr lang="en-US" sz="1800" dirty="0"/>
          </a:p>
        </p:txBody>
      </p:sp>
      <p:sp>
        <p:nvSpPr>
          <p:cNvPr id="18" name="Text 16"/>
          <p:cNvSpPr/>
          <p:nvPr/>
        </p:nvSpPr>
        <p:spPr>
          <a:xfrm>
            <a:off x="8030270" y="8579545"/>
            <a:ext cx="323850" cy="361950"/>
          </a:xfrm>
          <a:prstGeom prst="rect">
            <a:avLst/>
          </a:prstGeom>
          <a:noFill/>
          <a:ln/>
        </p:spPr>
        <p:txBody>
          <a:bodyPr wrap="square" lIns="25400" tIns="25400" rIns="25400" bIns="25400" rtlCol="0" anchor="t">
            <a:normAutofit/>
          </a:bodyPr>
          <a:lstStyle/>
          <a:p>
            <a:pPr algn="l" indent="0" marL="0">
              <a:buNone/>
            </a:pPr>
            <a:r>
              <a:rPr lang="en-US" sz="1950" dirty="0">
                <a:solidFill>
                  <a:srgbClr val="B897F0">
                    <a:alpha val="65000"/>
                  </a:srgbClr>
                </a:solidFill>
                <a:latin typeface="Arial" pitchFamily="34" charset="0"/>
                <a:ea typeface="Arial" pitchFamily="34" charset="-122"/>
                <a:cs typeface="Arial" pitchFamily="34" charset="-120"/>
              </a:rPr>
              <a:t>→</a:t>
            </a:r>
            <a:endParaRPr lang="en-US" sz="1950" dirty="0"/>
          </a:p>
        </p:txBody>
      </p:sp>
      <p:sp>
        <p:nvSpPr>
          <p:cNvPr id="19" name="Shape 17"/>
          <p:cNvSpPr/>
          <p:nvPr/>
        </p:nvSpPr>
        <p:spPr>
          <a:xfrm>
            <a:off x="8392220" y="8506520"/>
            <a:ext cx="2649339" cy="469900"/>
          </a:xfrm>
          <a:prstGeom prst="roundRect">
            <a:avLst>
              <a:gd name="adj" fmla="val 16216"/>
            </a:avLst>
          </a:prstGeom>
          <a:solidFill>
            <a:srgbClr val="FFFFFF">
              <a:alpha val="4000"/>
            </a:srgbClr>
          </a:solidFill>
          <a:ln w="6350">
            <a:solidFill>
              <a:srgbClr val="FFFFFF">
                <a:alpha val="6000"/>
              </a:srgbClr>
            </a:solidFill>
            <a:prstDash val="solid"/>
          </a:ln>
        </p:spPr>
      </p:sp>
      <p:sp>
        <p:nvSpPr>
          <p:cNvPr id="20" name="Text 18"/>
          <p:cNvSpPr/>
          <p:nvPr/>
        </p:nvSpPr>
        <p:spPr>
          <a:xfrm>
            <a:off x="8550970" y="8589070"/>
            <a:ext cx="241131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EEF3F9">
                    <a:alpha val="65000"/>
                  </a:srgbClr>
                </a:solidFill>
                <a:highlight>
                  <a:srgbClr val="A9ABAE"/>
                </a:highlight>
                <a:latin typeface="Courier New" pitchFamily="34" charset="0"/>
                <a:ea typeface="Courier New" pitchFamily="34" charset="-122"/>
                <a:cs typeface="Courier New" pitchFamily="34" charset="-120"/>
              </a:rPr>
              <a:t>$project </a:t>
            </a:r>
            <a:pPr algn="l" indent="0" marL="0">
              <a:buNone/>
            </a:pPr>
            <a:r>
              <a:rPr lang="en-US" sz="1800" dirty="0">
                <a:solidFill>
                  <a:srgbClr val="8EA0B5">
                    <a:alpha val="65000"/>
                  </a:srgbClr>
                </a:solidFill>
                <a:latin typeface="Courier New" pitchFamily="34" charset="0"/>
                <a:ea typeface="Courier New" pitchFamily="34" charset="-122"/>
                <a:cs typeface="Courier New" pitchFamily="34" charset="-120"/>
              </a:rPr>
              <a:t>= SELECT</a:t>
            </a:r>
            <a:endParaRPr lang="en-US" sz="1800" dirty="0"/>
          </a:p>
        </p:txBody>
      </p:sp>
      <p:sp>
        <p:nvSpPr>
          <p:cNvPr id="21" name="Text 19"/>
          <p:cNvSpPr/>
          <p:nvPr/>
        </p:nvSpPr>
        <p:spPr>
          <a:xfrm>
            <a:off x="11155859" y="8579545"/>
            <a:ext cx="323850" cy="361950"/>
          </a:xfrm>
          <a:prstGeom prst="rect">
            <a:avLst/>
          </a:prstGeom>
          <a:noFill/>
          <a:ln/>
        </p:spPr>
        <p:txBody>
          <a:bodyPr wrap="square" lIns="25400" tIns="25400" rIns="25400" bIns="25400" rtlCol="0" anchor="t">
            <a:normAutofit/>
          </a:bodyPr>
          <a:lstStyle/>
          <a:p>
            <a:pPr algn="l" indent="0" marL="0">
              <a:buNone/>
            </a:pPr>
            <a:r>
              <a:rPr lang="en-US" sz="1950" dirty="0">
                <a:solidFill>
                  <a:srgbClr val="B897F0">
                    <a:alpha val="65000"/>
                  </a:srgbClr>
                </a:solidFill>
                <a:latin typeface="Arial" pitchFamily="34" charset="0"/>
                <a:ea typeface="Arial" pitchFamily="34" charset="-122"/>
                <a:cs typeface="Arial" pitchFamily="34" charset="-120"/>
              </a:rPr>
              <a:t>→</a:t>
            </a:r>
            <a:endParaRPr lang="en-US" sz="1950" dirty="0"/>
          </a:p>
        </p:txBody>
      </p:sp>
      <p:sp>
        <p:nvSpPr>
          <p:cNvPr id="22" name="Shape 20"/>
          <p:cNvSpPr/>
          <p:nvPr/>
        </p:nvSpPr>
        <p:spPr>
          <a:xfrm>
            <a:off x="11517809" y="8506520"/>
            <a:ext cx="2512120" cy="469900"/>
          </a:xfrm>
          <a:prstGeom prst="roundRect">
            <a:avLst>
              <a:gd name="adj" fmla="val 16216"/>
            </a:avLst>
          </a:prstGeom>
          <a:solidFill>
            <a:srgbClr val="FFFFFF">
              <a:alpha val="4000"/>
            </a:srgbClr>
          </a:solidFill>
          <a:ln w="6350">
            <a:solidFill>
              <a:srgbClr val="FFFFFF">
                <a:alpha val="6000"/>
              </a:srgbClr>
            </a:solidFill>
            <a:prstDash val="solid"/>
          </a:ln>
        </p:spPr>
      </p:sp>
      <p:sp>
        <p:nvSpPr>
          <p:cNvPr id="23" name="Text 21"/>
          <p:cNvSpPr/>
          <p:nvPr/>
        </p:nvSpPr>
        <p:spPr>
          <a:xfrm>
            <a:off x="11676559" y="8589070"/>
            <a:ext cx="22708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EEF3F9">
                    <a:alpha val="65000"/>
                  </a:srgbClr>
                </a:solidFill>
                <a:highlight>
                  <a:srgbClr val="A9ABAE"/>
                </a:highlight>
                <a:latin typeface="Courier New" pitchFamily="34" charset="0"/>
                <a:ea typeface="Courier New" pitchFamily="34" charset="-122"/>
                <a:cs typeface="Courier New" pitchFamily="34" charset="-120"/>
              </a:rPr>
              <a:t>$sort </a:t>
            </a:r>
            <a:pPr algn="l" indent="0" marL="0">
              <a:buNone/>
            </a:pPr>
            <a:r>
              <a:rPr lang="en-US" sz="1800" dirty="0">
                <a:solidFill>
                  <a:srgbClr val="8EA0B5">
                    <a:alpha val="65000"/>
                  </a:srgbClr>
                </a:solidFill>
                <a:latin typeface="Courier New" pitchFamily="34" charset="0"/>
                <a:ea typeface="Courier New" pitchFamily="34" charset="-122"/>
                <a:cs typeface="Courier New" pitchFamily="34" charset="-120"/>
              </a:rPr>
              <a:t>= ORDER BY</a:t>
            </a:r>
            <a:endParaRPr lang="en-US" sz="1800" dirty="0"/>
          </a:p>
        </p:txBody>
      </p:sp>
      <p:sp>
        <p:nvSpPr>
          <p:cNvPr id="24" name="Text 22"/>
          <p:cNvSpPr/>
          <p:nvPr/>
        </p:nvSpPr>
        <p:spPr>
          <a:xfrm>
            <a:off x="14144229" y="8579545"/>
            <a:ext cx="323850" cy="361950"/>
          </a:xfrm>
          <a:prstGeom prst="rect">
            <a:avLst/>
          </a:prstGeom>
          <a:noFill/>
          <a:ln/>
        </p:spPr>
        <p:txBody>
          <a:bodyPr wrap="square" lIns="25400" tIns="25400" rIns="25400" bIns="25400" rtlCol="0" anchor="t">
            <a:normAutofit/>
          </a:bodyPr>
          <a:lstStyle/>
          <a:p>
            <a:pPr algn="l" indent="0" marL="0">
              <a:buNone/>
            </a:pPr>
            <a:r>
              <a:rPr lang="en-US" sz="1950" dirty="0">
                <a:solidFill>
                  <a:srgbClr val="B897F0">
                    <a:alpha val="65000"/>
                  </a:srgbClr>
                </a:solidFill>
                <a:latin typeface="Arial" pitchFamily="34" charset="0"/>
                <a:ea typeface="Arial" pitchFamily="34" charset="-122"/>
                <a:cs typeface="Arial" pitchFamily="34" charset="-120"/>
              </a:rPr>
              <a:t>→</a:t>
            </a:r>
            <a:endParaRPr lang="en-US" sz="1950" dirty="0"/>
          </a:p>
        </p:txBody>
      </p:sp>
      <p:sp>
        <p:nvSpPr>
          <p:cNvPr id="25" name="Shape 23"/>
          <p:cNvSpPr/>
          <p:nvPr/>
        </p:nvSpPr>
        <p:spPr>
          <a:xfrm>
            <a:off x="14506179" y="8506520"/>
            <a:ext cx="2237780" cy="469900"/>
          </a:xfrm>
          <a:prstGeom prst="roundRect">
            <a:avLst>
              <a:gd name="adj" fmla="val 16216"/>
            </a:avLst>
          </a:prstGeom>
          <a:solidFill>
            <a:srgbClr val="FFFFFF">
              <a:alpha val="4000"/>
            </a:srgbClr>
          </a:solidFill>
          <a:ln w="6350">
            <a:solidFill>
              <a:srgbClr val="FFFFFF">
                <a:alpha val="6000"/>
              </a:srgbClr>
            </a:solidFill>
            <a:prstDash val="solid"/>
          </a:ln>
        </p:spPr>
      </p:sp>
      <p:sp>
        <p:nvSpPr>
          <p:cNvPr id="26" name="Text 24"/>
          <p:cNvSpPr/>
          <p:nvPr/>
        </p:nvSpPr>
        <p:spPr>
          <a:xfrm>
            <a:off x="14664929" y="8589070"/>
            <a:ext cx="199648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EEF3F9">
                    <a:alpha val="65000"/>
                  </a:srgbClr>
                </a:solidFill>
                <a:highlight>
                  <a:srgbClr val="A9ABAE"/>
                </a:highlight>
                <a:latin typeface="Courier New" pitchFamily="34" charset="0"/>
                <a:ea typeface="Courier New" pitchFamily="34" charset="-122"/>
                <a:cs typeface="Courier New" pitchFamily="34" charset="-120"/>
              </a:rPr>
              <a:t>$limit </a:t>
            </a:r>
            <a:pPr algn="l" indent="0" marL="0">
              <a:buNone/>
            </a:pPr>
            <a:r>
              <a:rPr lang="en-US" sz="1800" dirty="0">
                <a:solidFill>
                  <a:srgbClr val="8EA0B5">
                    <a:alpha val="65000"/>
                  </a:srgbClr>
                </a:solidFill>
                <a:latin typeface="Courier New" pitchFamily="34" charset="0"/>
                <a:ea typeface="Courier New" pitchFamily="34" charset="-122"/>
                <a:cs typeface="Courier New" pitchFamily="34" charset="-120"/>
              </a:rPr>
              <a:t>= LIMIT</a:t>
            </a:r>
            <a:endParaRPr lang="en-US" sz="1800" dirty="0"/>
          </a:p>
        </p:txBody>
      </p:sp>
      <p:sp>
        <p:nvSpPr>
          <p:cNvPr id="27" name="Text 25"/>
          <p:cNvSpPr/>
          <p:nvPr/>
        </p:nvSpPr>
        <p:spPr>
          <a:xfrm>
            <a:off x="1066800" y="9147870"/>
            <a:ext cx="17769840" cy="35808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8EA0B5">
                    <a:alpha val="41000"/>
                  </a:srgbClr>
                </a:solidFill>
                <a:latin typeface="Arial" pitchFamily="34" charset="0"/>
                <a:ea typeface="Arial" pitchFamily="34" charset="-122"/>
                <a:cs typeface="Arial" pitchFamily="34" charset="-120"/>
              </a:rPr>
              <a:t>Chaque étage reçoit en entrée le résultat du précédent — une succession de transformations.</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C121C"/>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B897F0">
                    <a:alpha val="97000"/>
                  </a:srgbClr>
                </a:solidFill>
                <a:latin typeface="Courier New" pitchFamily="34" charset="0"/>
                <a:ea typeface="Courier New" pitchFamily="34" charset="-122"/>
                <a:cs typeface="Courier New" pitchFamily="34" charset="-120"/>
              </a:rPr>
              <a:t>ATELIER 02 · CRUD</a:t>
            </a:r>
            <a:endParaRPr lang="en-US" sz="1800" dirty="0"/>
          </a:p>
        </p:txBody>
      </p:sp>
      <p:sp>
        <p:nvSpPr>
          <p:cNvPr id="3" name="Text 1"/>
          <p:cNvSpPr/>
          <p:nvPr/>
        </p:nvSpPr>
        <p:spPr>
          <a:xfrm>
            <a:off x="1066800" y="1314451"/>
            <a:ext cx="10476041" cy="1305917"/>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Les opérations CRUD sur une collection</a:t>
            </a:r>
            <a:endParaRPr lang="en-US" sz="4800" dirty="0"/>
          </a:p>
        </p:txBody>
      </p:sp>
      <p:sp>
        <p:nvSpPr>
          <p:cNvPr id="4" name="Text 2"/>
          <p:cNvSpPr/>
          <p:nvPr/>
        </p:nvSpPr>
        <p:spPr>
          <a:xfrm>
            <a:off x="1066800" y="2772767"/>
            <a:ext cx="14886346" cy="480020"/>
          </a:xfrm>
          <a:prstGeom prst="rect">
            <a:avLst/>
          </a:prstGeom>
          <a:noFill/>
          <a:ln/>
        </p:spPr>
        <p:txBody>
          <a:bodyPr wrap="square" lIns="25400" tIns="25400" rIns="25400" bIns="25400" rtlCol="0" anchor="t">
            <a:normAutofit/>
          </a:bodyPr>
          <a:lstStyle/>
          <a:p>
            <a:pPr algn="l" indent="0" marL="0">
              <a:lnSpc>
                <a:spcPct val="126545"/>
              </a:lnSpc>
              <a:buNone/>
            </a:pPr>
            <a:r>
              <a:rPr lang="en-US" sz="2400" dirty="0">
                <a:solidFill>
                  <a:srgbClr val="8EA0B5">
                    <a:alpha val="91000"/>
                  </a:srgbClr>
                </a:solidFill>
                <a:latin typeface="Arial" pitchFamily="34" charset="0"/>
                <a:ea typeface="Arial" pitchFamily="34" charset="-122"/>
                <a:cs typeface="Arial" pitchFamily="34" charset="-120"/>
              </a:rPr>
              <a:t>Les quatre familles d'opérations agissent toutes sur les </a:t>
            </a:r>
            <a:pPr algn="l" indent="0" marL="0">
              <a:lnSpc>
                <a:spcPct val="126545"/>
              </a:lnSpc>
              <a:buNone/>
            </a:pPr>
            <a:r>
              <a:rPr lang="en-US" sz="2400" dirty="0">
                <a:solidFill>
                  <a:srgbClr val="EEF3F9">
                    <a:alpha val="91000"/>
                  </a:srgbClr>
                </a:solidFill>
                <a:latin typeface="Arial" pitchFamily="34" charset="0"/>
                <a:ea typeface="Arial" pitchFamily="34" charset="-122"/>
                <a:cs typeface="Arial" pitchFamily="34" charset="-120"/>
              </a:rPr>
              <a:t>documents </a:t>
            </a:r>
            <a:pPr algn="l" indent="0" marL="0">
              <a:lnSpc>
                <a:spcPct val="126545"/>
              </a:lnSpc>
              <a:buNone/>
            </a:pPr>
            <a:r>
              <a:rPr lang="en-US" sz="2400" dirty="0">
                <a:solidFill>
                  <a:srgbClr val="8EA0B5">
                    <a:alpha val="91000"/>
                  </a:srgbClr>
                </a:solidFill>
                <a:latin typeface="Arial" pitchFamily="34" charset="0"/>
                <a:ea typeface="Arial" pitchFamily="34" charset="-122"/>
                <a:cs typeface="Arial" pitchFamily="34" charset="-120"/>
              </a:rPr>
              <a:t>d'une même collection.</a:t>
            </a:r>
            <a:endParaRPr lang="en-US" sz="2400" dirty="0"/>
          </a:p>
        </p:txBody>
      </p:sp>
      <p:sp>
        <p:nvSpPr>
          <p:cNvPr id="5" name="Shape 3"/>
          <p:cNvSpPr/>
          <p:nvPr/>
        </p:nvSpPr>
        <p:spPr>
          <a:xfrm>
            <a:off x="1066800" y="3557588"/>
            <a:ext cx="3895725" cy="5910263"/>
          </a:xfrm>
          <a:prstGeom prst="roundRect">
            <a:avLst>
              <a:gd name="adj" fmla="val 3423"/>
            </a:avLst>
          </a:prstGeom>
          <a:solidFill>
            <a:srgbClr val="FFFFFF">
              <a:alpha val="3000"/>
            </a:srgbClr>
          </a:solidFill>
          <a:ln/>
        </p:spPr>
      </p:sp>
      <p:sp>
        <p:nvSpPr>
          <p:cNvPr id="6" name="Shape 4"/>
          <p:cNvSpPr/>
          <p:nvPr/>
        </p:nvSpPr>
        <p:spPr>
          <a:xfrm>
            <a:off x="1066800" y="9461500"/>
            <a:ext cx="3895725" cy="9525"/>
          </a:xfrm>
          <a:prstGeom prst="rect">
            <a:avLst/>
          </a:prstGeom>
          <a:solidFill>
            <a:srgbClr val="FFFFFF">
              <a:alpha val="10000"/>
            </a:srgbClr>
          </a:solidFill>
          <a:ln/>
        </p:spPr>
      </p:sp>
      <p:sp>
        <p:nvSpPr>
          <p:cNvPr id="7" name="Shape 5"/>
          <p:cNvSpPr/>
          <p:nvPr/>
        </p:nvSpPr>
        <p:spPr>
          <a:xfrm>
            <a:off x="1066800" y="3557588"/>
            <a:ext cx="3895725" cy="25400"/>
          </a:xfrm>
          <a:prstGeom prst="rect">
            <a:avLst/>
          </a:prstGeom>
          <a:solidFill>
            <a:srgbClr val="56DBDB"/>
          </a:solidFill>
          <a:ln/>
        </p:spPr>
      </p:sp>
      <p:sp>
        <p:nvSpPr>
          <p:cNvPr id="8" name="Shape 6"/>
          <p:cNvSpPr/>
          <p:nvPr/>
        </p:nvSpPr>
        <p:spPr>
          <a:xfrm>
            <a:off x="1066800" y="3557588"/>
            <a:ext cx="9525" cy="5910263"/>
          </a:xfrm>
          <a:prstGeom prst="rect">
            <a:avLst/>
          </a:prstGeom>
          <a:solidFill>
            <a:srgbClr val="FFFFFF">
              <a:alpha val="10000"/>
            </a:srgbClr>
          </a:solidFill>
          <a:ln/>
        </p:spPr>
      </p:sp>
      <p:sp>
        <p:nvSpPr>
          <p:cNvPr id="9" name="Shape 7"/>
          <p:cNvSpPr/>
          <p:nvPr/>
        </p:nvSpPr>
        <p:spPr>
          <a:xfrm>
            <a:off x="4956175" y="3557588"/>
            <a:ext cx="9525" cy="5910263"/>
          </a:xfrm>
          <a:prstGeom prst="rect">
            <a:avLst/>
          </a:prstGeom>
          <a:solidFill>
            <a:srgbClr val="FFFFFF">
              <a:alpha val="10000"/>
            </a:srgbClr>
          </a:solidFill>
          <a:ln/>
        </p:spPr>
      </p:sp>
      <p:sp>
        <p:nvSpPr>
          <p:cNvPr id="10" name="Text 8"/>
          <p:cNvSpPr/>
          <p:nvPr/>
        </p:nvSpPr>
        <p:spPr>
          <a:xfrm>
            <a:off x="1320800" y="3849688"/>
            <a:ext cx="3726498" cy="368300"/>
          </a:xfrm>
          <a:prstGeom prst="rect">
            <a:avLst/>
          </a:prstGeom>
          <a:noFill/>
          <a:ln/>
        </p:spPr>
        <p:txBody>
          <a:bodyPr wrap="square" lIns="25400" tIns="25400" rIns="25400" bIns="25400" rtlCol="0" anchor="t">
            <a:normAutofit/>
          </a:bodyPr>
          <a:lstStyle/>
          <a:p>
            <a:pPr algn="l" indent="0" marL="0">
              <a:buNone/>
            </a:pPr>
            <a:r>
              <a:rPr lang="en-US" sz="2250" b="1" dirty="0">
                <a:solidFill>
                  <a:srgbClr val="56DBDB"/>
                </a:solidFill>
                <a:latin typeface="Arial" pitchFamily="34" charset="0"/>
                <a:ea typeface="Arial" pitchFamily="34" charset="-122"/>
                <a:cs typeface="Arial" pitchFamily="34" charset="-120"/>
              </a:rPr>
              <a:t>Create</a:t>
            </a:r>
            <a:endParaRPr lang="en-US" sz="2250" dirty="0"/>
          </a:p>
        </p:txBody>
      </p:sp>
      <p:sp>
        <p:nvSpPr>
          <p:cNvPr id="11" name="Text 9"/>
          <p:cNvSpPr/>
          <p:nvPr/>
        </p:nvSpPr>
        <p:spPr>
          <a:xfrm>
            <a:off x="1320800" y="4332288"/>
            <a:ext cx="3489357" cy="815181"/>
          </a:xfrm>
          <a:prstGeom prst="rect">
            <a:avLst/>
          </a:prstGeom>
          <a:noFill/>
          <a:ln/>
        </p:spPr>
        <p:txBody>
          <a:bodyPr wrap="square" lIns="25400" tIns="25400" rIns="25400" bIns="25400" rtlCol="0" anchor="t">
            <a:normAutofit/>
          </a:bodyPr>
          <a:lstStyle/>
          <a:p>
            <a:pPr algn="l" indent="0" marL="0">
              <a:lnSpc>
                <a:spcPct val="149268"/>
              </a:lnSpc>
              <a:buNone/>
            </a:pPr>
            <a:r>
              <a:rPr lang="en-US" sz="1800" dirty="0">
                <a:solidFill>
                  <a:srgbClr val="EEF3F9"/>
                </a:solidFill>
                <a:latin typeface="Courier New" pitchFamily="34" charset="0"/>
                <a:ea typeface="Courier New" pitchFamily="34" charset="-122"/>
                <a:cs typeface="Courier New" pitchFamily="34" charset="-120"/>
              </a:rPr>
              <a:t>insertOne() insertMany()</a:t>
            </a:r>
            <a:endParaRPr lang="en-US" sz="1800" dirty="0"/>
          </a:p>
        </p:txBody>
      </p:sp>
      <p:sp>
        <p:nvSpPr>
          <p:cNvPr id="12" name="Text 10"/>
          <p:cNvSpPr/>
          <p:nvPr/>
        </p:nvSpPr>
        <p:spPr>
          <a:xfrm>
            <a:off x="1320800" y="8874820"/>
            <a:ext cx="3489357" cy="35808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8EA0B5"/>
                </a:solidFill>
                <a:latin typeface="Arial" pitchFamily="34" charset="0"/>
                <a:ea typeface="Arial" pitchFamily="34" charset="-122"/>
                <a:cs typeface="Arial" pitchFamily="34" charset="-120"/>
              </a:rPr>
              <a:t>Ajoute des documents</a:t>
            </a:r>
            <a:endParaRPr lang="en-US" sz="1800" dirty="0"/>
          </a:p>
        </p:txBody>
      </p:sp>
      <p:sp>
        <p:nvSpPr>
          <p:cNvPr id="13" name="Shape 11"/>
          <p:cNvSpPr/>
          <p:nvPr/>
        </p:nvSpPr>
        <p:spPr>
          <a:xfrm>
            <a:off x="5150106" y="3553158"/>
            <a:ext cx="3901564" cy="5919121"/>
          </a:xfrm>
          <a:prstGeom prst="roundRect">
            <a:avLst>
              <a:gd name="adj" fmla="val 3423"/>
            </a:avLst>
          </a:prstGeom>
          <a:solidFill>
            <a:srgbClr val="FFFFFF">
              <a:alpha val="3000"/>
            </a:srgbClr>
          </a:solidFill>
          <a:ln/>
        </p:spPr>
      </p:sp>
      <p:sp>
        <p:nvSpPr>
          <p:cNvPr id="14" name="Shape 12"/>
          <p:cNvSpPr/>
          <p:nvPr/>
        </p:nvSpPr>
        <p:spPr>
          <a:xfrm>
            <a:off x="5150106" y="9465920"/>
            <a:ext cx="3901564" cy="9525"/>
          </a:xfrm>
          <a:prstGeom prst="rect">
            <a:avLst/>
          </a:prstGeom>
          <a:solidFill>
            <a:srgbClr val="FFFFFF">
              <a:alpha val="10000"/>
            </a:srgbClr>
          </a:solidFill>
          <a:ln/>
        </p:spPr>
      </p:sp>
      <p:sp>
        <p:nvSpPr>
          <p:cNvPr id="15" name="Shape 13"/>
          <p:cNvSpPr/>
          <p:nvPr/>
        </p:nvSpPr>
        <p:spPr>
          <a:xfrm>
            <a:off x="5150106" y="3553158"/>
            <a:ext cx="3901564" cy="25438"/>
          </a:xfrm>
          <a:prstGeom prst="rect">
            <a:avLst/>
          </a:prstGeom>
          <a:solidFill>
            <a:srgbClr val="B897F0"/>
          </a:solidFill>
          <a:ln/>
        </p:spPr>
      </p:sp>
      <p:sp>
        <p:nvSpPr>
          <p:cNvPr id="16" name="Shape 14"/>
          <p:cNvSpPr/>
          <p:nvPr/>
        </p:nvSpPr>
        <p:spPr>
          <a:xfrm>
            <a:off x="5150106" y="3553158"/>
            <a:ext cx="9525" cy="5919121"/>
          </a:xfrm>
          <a:prstGeom prst="rect">
            <a:avLst/>
          </a:prstGeom>
          <a:solidFill>
            <a:srgbClr val="FFFFFF">
              <a:alpha val="10000"/>
            </a:srgbClr>
          </a:solidFill>
          <a:ln/>
        </p:spPr>
      </p:sp>
      <p:sp>
        <p:nvSpPr>
          <p:cNvPr id="17" name="Shape 15"/>
          <p:cNvSpPr/>
          <p:nvPr/>
        </p:nvSpPr>
        <p:spPr>
          <a:xfrm>
            <a:off x="9045310" y="3553158"/>
            <a:ext cx="9525" cy="5919121"/>
          </a:xfrm>
          <a:prstGeom prst="rect">
            <a:avLst/>
          </a:prstGeom>
          <a:solidFill>
            <a:srgbClr val="FFFFFF">
              <a:alpha val="10000"/>
            </a:srgbClr>
          </a:solidFill>
          <a:ln/>
        </p:spPr>
      </p:sp>
      <p:sp>
        <p:nvSpPr>
          <p:cNvPr id="18" name="Text 16"/>
          <p:cNvSpPr/>
          <p:nvPr/>
        </p:nvSpPr>
        <p:spPr>
          <a:xfrm>
            <a:off x="5404486" y="3845696"/>
            <a:ext cx="3732083" cy="368795"/>
          </a:xfrm>
          <a:prstGeom prst="rect">
            <a:avLst/>
          </a:prstGeom>
          <a:noFill/>
          <a:ln/>
        </p:spPr>
        <p:txBody>
          <a:bodyPr wrap="square" lIns="25400" tIns="25400" rIns="25400" bIns="25400" rtlCol="0" anchor="t">
            <a:normAutofit/>
          </a:bodyPr>
          <a:lstStyle/>
          <a:p>
            <a:pPr algn="l" indent="0" marL="0">
              <a:buNone/>
            </a:pPr>
            <a:r>
              <a:rPr lang="en-US" sz="2253" b="1" dirty="0">
                <a:solidFill>
                  <a:srgbClr val="B897F0"/>
                </a:solidFill>
                <a:latin typeface="Arial" pitchFamily="34" charset="0"/>
                <a:ea typeface="Arial" pitchFamily="34" charset="-122"/>
                <a:cs typeface="Arial" pitchFamily="34" charset="-120"/>
              </a:rPr>
              <a:t>Read</a:t>
            </a:r>
            <a:endParaRPr lang="en-US" sz="2253" dirty="0"/>
          </a:p>
        </p:txBody>
      </p:sp>
      <p:sp>
        <p:nvSpPr>
          <p:cNvPr id="19" name="Text 17"/>
          <p:cNvSpPr/>
          <p:nvPr/>
        </p:nvSpPr>
        <p:spPr>
          <a:xfrm>
            <a:off x="5404486" y="4329019"/>
            <a:ext cx="3494587" cy="1205469"/>
          </a:xfrm>
          <a:prstGeom prst="rect">
            <a:avLst/>
          </a:prstGeom>
          <a:noFill/>
          <a:ln/>
        </p:spPr>
        <p:txBody>
          <a:bodyPr wrap="square" lIns="25400" tIns="25400" rIns="25400" bIns="25400" rtlCol="0" anchor="t">
            <a:normAutofit/>
          </a:bodyPr>
          <a:lstStyle/>
          <a:p>
            <a:pPr algn="l" indent="0" marL="0">
              <a:lnSpc>
                <a:spcPct val="149268"/>
              </a:lnSpc>
              <a:buNone/>
            </a:pPr>
            <a:r>
              <a:rPr lang="en-US" sz="1803" dirty="0">
                <a:solidFill>
                  <a:srgbClr val="EEF3F9"/>
                </a:solidFill>
                <a:latin typeface="Courier New" pitchFamily="34" charset="0"/>
                <a:ea typeface="Courier New" pitchFamily="34" charset="-122"/>
                <a:cs typeface="Courier New" pitchFamily="34" charset="-120"/>
              </a:rPr>
              <a:t>find() · findOne() projection · sort() limit()</a:t>
            </a:r>
            <a:endParaRPr lang="en-US" sz="1803" dirty="0"/>
          </a:p>
        </p:txBody>
      </p:sp>
      <p:sp>
        <p:nvSpPr>
          <p:cNvPr id="20" name="Text 18"/>
          <p:cNvSpPr/>
          <p:nvPr/>
        </p:nvSpPr>
        <p:spPr>
          <a:xfrm>
            <a:off x="5404486" y="8878360"/>
            <a:ext cx="3494587" cy="358560"/>
          </a:xfrm>
          <a:prstGeom prst="rect">
            <a:avLst/>
          </a:prstGeom>
          <a:noFill/>
          <a:ln/>
        </p:spPr>
        <p:txBody>
          <a:bodyPr wrap="square" lIns="25400" tIns="25400" rIns="25400" bIns="25400" rtlCol="0" anchor="t">
            <a:normAutofit/>
          </a:bodyPr>
          <a:lstStyle/>
          <a:p>
            <a:pPr algn="l" indent="0" marL="0">
              <a:lnSpc>
                <a:spcPct val="120000"/>
              </a:lnSpc>
              <a:buNone/>
            </a:pPr>
            <a:r>
              <a:rPr lang="en-US" sz="1803" dirty="0">
                <a:solidFill>
                  <a:srgbClr val="8EA0B5"/>
                </a:solidFill>
                <a:latin typeface="Arial" pitchFamily="34" charset="0"/>
                <a:ea typeface="Arial" pitchFamily="34" charset="-122"/>
                <a:cs typeface="Arial" pitchFamily="34" charset="-120"/>
              </a:rPr>
              <a:t>Interroge les documents</a:t>
            </a:r>
            <a:endParaRPr lang="en-US" sz="1803" dirty="0"/>
          </a:p>
        </p:txBody>
      </p:sp>
      <p:sp>
        <p:nvSpPr>
          <p:cNvPr id="21" name="Shape 19"/>
          <p:cNvSpPr/>
          <p:nvPr/>
        </p:nvSpPr>
        <p:spPr>
          <a:xfrm>
            <a:off x="9221882" y="3531239"/>
            <a:ext cx="3930461" cy="5962960"/>
          </a:xfrm>
          <a:prstGeom prst="roundRect">
            <a:avLst>
              <a:gd name="adj" fmla="val 3423"/>
            </a:avLst>
          </a:prstGeom>
          <a:solidFill>
            <a:srgbClr val="FFFFFF">
              <a:alpha val="3000"/>
            </a:srgbClr>
          </a:solidFill>
          <a:ln/>
        </p:spPr>
      </p:sp>
      <p:sp>
        <p:nvSpPr>
          <p:cNvPr id="22" name="Shape 20"/>
          <p:cNvSpPr/>
          <p:nvPr/>
        </p:nvSpPr>
        <p:spPr>
          <a:xfrm>
            <a:off x="9221882" y="9487793"/>
            <a:ext cx="3930461" cy="9525"/>
          </a:xfrm>
          <a:prstGeom prst="rect">
            <a:avLst/>
          </a:prstGeom>
          <a:solidFill>
            <a:srgbClr val="FFFFFF">
              <a:alpha val="10000"/>
            </a:srgbClr>
          </a:solidFill>
          <a:ln/>
        </p:spPr>
      </p:sp>
      <p:sp>
        <p:nvSpPr>
          <p:cNvPr id="23" name="Shape 21"/>
          <p:cNvSpPr/>
          <p:nvPr/>
        </p:nvSpPr>
        <p:spPr>
          <a:xfrm>
            <a:off x="9221882" y="3531239"/>
            <a:ext cx="3930461" cy="25627"/>
          </a:xfrm>
          <a:prstGeom prst="rect">
            <a:avLst/>
          </a:prstGeom>
          <a:solidFill>
            <a:srgbClr val="FFB46E"/>
          </a:solidFill>
          <a:ln/>
        </p:spPr>
      </p:sp>
      <p:sp>
        <p:nvSpPr>
          <p:cNvPr id="24" name="Shape 22"/>
          <p:cNvSpPr/>
          <p:nvPr/>
        </p:nvSpPr>
        <p:spPr>
          <a:xfrm>
            <a:off x="9221882" y="3531239"/>
            <a:ext cx="9525" cy="5962960"/>
          </a:xfrm>
          <a:prstGeom prst="rect">
            <a:avLst/>
          </a:prstGeom>
          <a:solidFill>
            <a:srgbClr val="FFFFFF">
              <a:alpha val="10000"/>
            </a:srgbClr>
          </a:solidFill>
          <a:ln/>
        </p:spPr>
      </p:sp>
      <p:sp>
        <p:nvSpPr>
          <p:cNvPr id="25" name="Shape 23"/>
          <p:cNvSpPr/>
          <p:nvPr/>
        </p:nvSpPr>
        <p:spPr>
          <a:xfrm>
            <a:off x="13145937" y="3531239"/>
            <a:ext cx="9525" cy="5962960"/>
          </a:xfrm>
          <a:prstGeom prst="rect">
            <a:avLst/>
          </a:prstGeom>
          <a:solidFill>
            <a:srgbClr val="FFFFFF">
              <a:alpha val="10000"/>
            </a:srgbClr>
          </a:solidFill>
          <a:ln/>
        </p:spPr>
      </p:sp>
      <p:sp>
        <p:nvSpPr>
          <p:cNvPr id="26" name="Text 24"/>
          <p:cNvSpPr/>
          <p:nvPr/>
        </p:nvSpPr>
        <p:spPr>
          <a:xfrm>
            <a:off x="9478147" y="3825943"/>
            <a:ext cx="3759724" cy="371244"/>
          </a:xfrm>
          <a:prstGeom prst="rect">
            <a:avLst/>
          </a:prstGeom>
          <a:noFill/>
          <a:ln/>
        </p:spPr>
        <p:txBody>
          <a:bodyPr wrap="square" lIns="25400" tIns="25400" rIns="25400" bIns="25400" rtlCol="0" anchor="t">
            <a:normAutofit/>
          </a:bodyPr>
          <a:lstStyle/>
          <a:p>
            <a:pPr algn="l" indent="0" marL="0">
              <a:buNone/>
            </a:pPr>
            <a:r>
              <a:rPr lang="en-US" sz="2270" b="1" dirty="0">
                <a:solidFill>
                  <a:srgbClr val="FFB46E"/>
                </a:solidFill>
                <a:latin typeface="Arial" pitchFamily="34" charset="0"/>
                <a:ea typeface="Arial" pitchFamily="34" charset="-122"/>
                <a:cs typeface="Arial" pitchFamily="34" charset="-120"/>
              </a:rPr>
              <a:t>Update</a:t>
            </a:r>
            <a:endParaRPr lang="en-US" sz="2270" dirty="0"/>
          </a:p>
        </p:txBody>
      </p:sp>
      <p:sp>
        <p:nvSpPr>
          <p:cNvPr id="27" name="Text 25"/>
          <p:cNvSpPr/>
          <p:nvPr/>
        </p:nvSpPr>
        <p:spPr>
          <a:xfrm>
            <a:off x="9478147" y="4312846"/>
            <a:ext cx="3520469" cy="1214115"/>
          </a:xfrm>
          <a:prstGeom prst="rect">
            <a:avLst/>
          </a:prstGeom>
          <a:noFill/>
          <a:ln/>
        </p:spPr>
        <p:txBody>
          <a:bodyPr wrap="square" lIns="25400" tIns="25400" rIns="25400" bIns="25400" rtlCol="0" anchor="t">
            <a:normAutofit/>
          </a:bodyPr>
          <a:lstStyle/>
          <a:p>
            <a:pPr algn="l" indent="0" marL="0">
              <a:lnSpc>
                <a:spcPct val="149268"/>
              </a:lnSpc>
              <a:buNone/>
            </a:pPr>
            <a:r>
              <a:rPr lang="en-US" sz="1816" dirty="0">
                <a:solidFill>
                  <a:srgbClr val="EEF3F9"/>
                </a:solidFill>
                <a:latin typeface="Courier New" pitchFamily="34" charset="0"/>
                <a:ea typeface="Courier New" pitchFamily="34" charset="-122"/>
                <a:cs typeface="Courier New" pitchFamily="34" charset="-120"/>
              </a:rPr>
              <a:t>updateOne() updateMany() replaceOne()</a:t>
            </a:r>
            <a:endParaRPr lang="en-US" sz="1816" dirty="0"/>
          </a:p>
        </p:txBody>
      </p:sp>
      <p:sp>
        <p:nvSpPr>
          <p:cNvPr id="28" name="Text 26"/>
          <p:cNvSpPr/>
          <p:nvPr/>
        </p:nvSpPr>
        <p:spPr>
          <a:xfrm>
            <a:off x="9478147" y="8895882"/>
            <a:ext cx="3520469" cy="360933"/>
          </a:xfrm>
          <a:prstGeom prst="rect">
            <a:avLst/>
          </a:prstGeom>
          <a:noFill/>
          <a:ln/>
        </p:spPr>
        <p:txBody>
          <a:bodyPr wrap="square" lIns="25400" tIns="25400" rIns="25400" bIns="25400" rtlCol="0" anchor="t">
            <a:normAutofit/>
          </a:bodyPr>
          <a:lstStyle/>
          <a:p>
            <a:pPr algn="l" indent="0" marL="0">
              <a:lnSpc>
                <a:spcPct val="120000"/>
              </a:lnSpc>
              <a:buNone/>
            </a:pPr>
            <a:r>
              <a:rPr lang="en-US" sz="1816" dirty="0">
                <a:solidFill>
                  <a:srgbClr val="8EA0B5"/>
                </a:solidFill>
                <a:latin typeface="Arial" pitchFamily="34" charset="0"/>
                <a:ea typeface="Arial" pitchFamily="34" charset="-122"/>
                <a:cs typeface="Arial" pitchFamily="34" charset="-120"/>
              </a:rPr>
              <a:t>Modifie les documents</a:t>
            </a:r>
            <a:endParaRPr lang="en-US" sz="1816" dirty="0"/>
          </a:p>
        </p:txBody>
      </p:sp>
      <p:sp>
        <p:nvSpPr>
          <p:cNvPr id="29" name="Shape 27"/>
          <p:cNvSpPr/>
          <p:nvPr/>
        </p:nvSpPr>
        <p:spPr>
          <a:xfrm>
            <a:off x="13301364" y="3521007"/>
            <a:ext cx="3943949" cy="5983424"/>
          </a:xfrm>
          <a:prstGeom prst="roundRect">
            <a:avLst>
              <a:gd name="adj" fmla="val 3423"/>
            </a:avLst>
          </a:prstGeom>
          <a:solidFill>
            <a:srgbClr val="FFFFFF">
              <a:alpha val="3000"/>
            </a:srgbClr>
          </a:solidFill>
          <a:ln/>
        </p:spPr>
      </p:sp>
      <p:sp>
        <p:nvSpPr>
          <p:cNvPr id="30" name="Shape 28"/>
          <p:cNvSpPr/>
          <p:nvPr/>
        </p:nvSpPr>
        <p:spPr>
          <a:xfrm>
            <a:off x="13301364" y="9498002"/>
            <a:ext cx="3943949" cy="9525"/>
          </a:xfrm>
          <a:prstGeom prst="rect">
            <a:avLst/>
          </a:prstGeom>
          <a:solidFill>
            <a:srgbClr val="FFFFFF">
              <a:alpha val="10000"/>
            </a:srgbClr>
          </a:solidFill>
          <a:ln/>
        </p:spPr>
      </p:sp>
      <p:sp>
        <p:nvSpPr>
          <p:cNvPr id="31" name="Shape 29"/>
          <p:cNvSpPr/>
          <p:nvPr/>
        </p:nvSpPr>
        <p:spPr>
          <a:xfrm>
            <a:off x="13301364" y="3521007"/>
            <a:ext cx="3943949" cy="25714"/>
          </a:xfrm>
          <a:prstGeom prst="rect">
            <a:avLst/>
          </a:prstGeom>
          <a:solidFill>
            <a:srgbClr val="8EA0B5"/>
          </a:solidFill>
          <a:ln/>
        </p:spPr>
      </p:sp>
      <p:sp>
        <p:nvSpPr>
          <p:cNvPr id="32" name="Shape 30"/>
          <p:cNvSpPr/>
          <p:nvPr/>
        </p:nvSpPr>
        <p:spPr>
          <a:xfrm>
            <a:off x="13301364" y="3521007"/>
            <a:ext cx="9525" cy="5983424"/>
          </a:xfrm>
          <a:prstGeom prst="rect">
            <a:avLst/>
          </a:prstGeom>
          <a:solidFill>
            <a:srgbClr val="FFFFFF">
              <a:alpha val="10000"/>
            </a:srgbClr>
          </a:solidFill>
          <a:ln/>
        </p:spPr>
      </p:sp>
      <p:sp>
        <p:nvSpPr>
          <p:cNvPr id="33" name="Shape 31"/>
          <p:cNvSpPr/>
          <p:nvPr/>
        </p:nvSpPr>
        <p:spPr>
          <a:xfrm>
            <a:off x="17238884" y="3521007"/>
            <a:ext cx="9525" cy="5983424"/>
          </a:xfrm>
          <a:prstGeom prst="rect">
            <a:avLst/>
          </a:prstGeom>
          <a:solidFill>
            <a:srgbClr val="FFFFFF">
              <a:alpha val="10000"/>
            </a:srgbClr>
          </a:solidFill>
          <a:ln/>
        </p:spPr>
      </p:sp>
      <p:sp>
        <p:nvSpPr>
          <p:cNvPr id="34" name="Text 32"/>
          <p:cNvSpPr/>
          <p:nvPr/>
        </p:nvSpPr>
        <p:spPr>
          <a:xfrm>
            <a:off x="13558507" y="3816723"/>
            <a:ext cx="3772626" cy="372387"/>
          </a:xfrm>
          <a:prstGeom prst="rect">
            <a:avLst/>
          </a:prstGeom>
          <a:noFill/>
          <a:ln/>
        </p:spPr>
        <p:txBody>
          <a:bodyPr wrap="square" lIns="25400" tIns="25400" rIns="25400" bIns="25400" rtlCol="0" anchor="t">
            <a:normAutofit/>
          </a:bodyPr>
          <a:lstStyle/>
          <a:p>
            <a:pPr algn="l" indent="0" marL="0">
              <a:buNone/>
            </a:pPr>
            <a:r>
              <a:rPr lang="en-US" sz="2278" b="1" dirty="0">
                <a:solidFill>
                  <a:srgbClr val="EEF3F9"/>
                </a:solidFill>
                <a:latin typeface="Arial" pitchFamily="34" charset="0"/>
                <a:ea typeface="Arial" pitchFamily="34" charset="-122"/>
                <a:cs typeface="Arial" pitchFamily="34" charset="-120"/>
              </a:rPr>
              <a:t>Delete</a:t>
            </a:r>
            <a:endParaRPr lang="en-US" sz="2278" dirty="0"/>
          </a:p>
        </p:txBody>
      </p:sp>
      <p:sp>
        <p:nvSpPr>
          <p:cNvPr id="35" name="Text 33"/>
          <p:cNvSpPr/>
          <p:nvPr/>
        </p:nvSpPr>
        <p:spPr>
          <a:xfrm>
            <a:off x="13558507" y="4305297"/>
            <a:ext cx="3532550" cy="824800"/>
          </a:xfrm>
          <a:prstGeom prst="rect">
            <a:avLst/>
          </a:prstGeom>
          <a:noFill/>
          <a:ln/>
        </p:spPr>
        <p:txBody>
          <a:bodyPr wrap="square" lIns="25400" tIns="25400" rIns="25400" bIns="25400" rtlCol="0" anchor="t">
            <a:normAutofit/>
          </a:bodyPr>
          <a:lstStyle/>
          <a:p>
            <a:pPr algn="l" indent="0" marL="0">
              <a:lnSpc>
                <a:spcPct val="149268"/>
              </a:lnSpc>
              <a:buNone/>
            </a:pPr>
            <a:r>
              <a:rPr lang="en-US" sz="1822" dirty="0">
                <a:solidFill>
                  <a:srgbClr val="EEF3F9"/>
                </a:solidFill>
                <a:latin typeface="Courier New" pitchFamily="34" charset="0"/>
                <a:ea typeface="Courier New" pitchFamily="34" charset="-122"/>
                <a:cs typeface="Courier New" pitchFamily="34" charset="-120"/>
              </a:rPr>
              <a:t>deleteOne() deleteMany()</a:t>
            </a:r>
            <a:endParaRPr lang="en-US" sz="1822" dirty="0"/>
          </a:p>
        </p:txBody>
      </p:sp>
      <p:sp>
        <p:nvSpPr>
          <p:cNvPr id="36" name="Text 34"/>
          <p:cNvSpPr/>
          <p:nvPr/>
        </p:nvSpPr>
        <p:spPr>
          <a:xfrm>
            <a:off x="13558507" y="8904060"/>
            <a:ext cx="3532550" cy="362041"/>
          </a:xfrm>
          <a:prstGeom prst="rect">
            <a:avLst/>
          </a:prstGeom>
          <a:noFill/>
          <a:ln/>
        </p:spPr>
        <p:txBody>
          <a:bodyPr wrap="square" lIns="25400" tIns="25400" rIns="25400" bIns="25400" rtlCol="0" anchor="t">
            <a:normAutofit/>
          </a:bodyPr>
          <a:lstStyle/>
          <a:p>
            <a:pPr algn="l" indent="0" marL="0">
              <a:lnSpc>
                <a:spcPct val="120000"/>
              </a:lnSpc>
              <a:buNone/>
            </a:pPr>
            <a:r>
              <a:rPr lang="en-US" sz="1822" dirty="0">
                <a:solidFill>
                  <a:srgbClr val="8EA0B5"/>
                </a:solidFill>
                <a:latin typeface="Arial" pitchFamily="34" charset="0"/>
                <a:ea typeface="Arial" pitchFamily="34" charset="-122"/>
                <a:cs typeface="Arial" pitchFamily="34" charset="-120"/>
              </a:rPr>
              <a:t>Supprime des documents</a:t>
            </a:r>
            <a:endParaRPr lang="en-US" sz="1822"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0E15"/>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B897F0">
                    <a:alpha val="97000"/>
                  </a:srgbClr>
                </a:solidFill>
                <a:latin typeface="Courier New" pitchFamily="34" charset="0"/>
                <a:ea typeface="Courier New" pitchFamily="34" charset="-122"/>
                <a:cs typeface="Courier New" pitchFamily="34" charset="-120"/>
              </a:rPr>
              <a:t>ATELIER 02 · CRUD · PRATIQUE</a:t>
            </a:r>
            <a:endParaRPr lang="en-US" sz="1800" dirty="0"/>
          </a:p>
        </p:txBody>
      </p:sp>
      <p:sp>
        <p:nvSpPr>
          <p:cNvPr id="3" name="Text 1"/>
          <p:cNvSpPr/>
          <p:nvPr/>
        </p:nvSpPr>
        <p:spPr>
          <a:xfrm>
            <a:off x="1066800" y="1314451"/>
            <a:ext cx="17769840"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56DBDB"/>
                </a:solidFill>
                <a:latin typeface="Arial" pitchFamily="34" charset="0"/>
                <a:ea typeface="Arial" pitchFamily="34" charset="-122"/>
                <a:cs typeface="Arial" pitchFamily="34" charset="-120"/>
              </a:rPr>
              <a:t>Create </a:t>
            </a:r>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&amp; </a:t>
            </a:r>
            <a:pPr algn="l" indent="0" marL="0">
              <a:lnSpc>
                <a:spcPct val="90764"/>
              </a:lnSpc>
              <a:buNone/>
            </a:pPr>
            <a:r>
              <a:rPr lang="en-US" sz="4800" b="1" spc="-96" kern="0" dirty="0">
                <a:solidFill>
                  <a:srgbClr val="B897F0"/>
                </a:solidFill>
                <a:latin typeface="Arial" pitchFamily="34" charset="0"/>
                <a:ea typeface="Arial" pitchFamily="34" charset="-122"/>
                <a:cs typeface="Arial" pitchFamily="34" charset="-120"/>
              </a:rPr>
              <a:t>Read</a:t>
            </a:r>
            <a:endParaRPr lang="en-US" sz="4800" dirty="0"/>
          </a:p>
        </p:txBody>
      </p:sp>
      <p:sp>
        <p:nvSpPr>
          <p:cNvPr id="4" name="Shape 2"/>
          <p:cNvSpPr/>
          <p:nvPr/>
        </p:nvSpPr>
        <p:spPr>
          <a:xfrm>
            <a:off x="1066800" y="2272210"/>
            <a:ext cx="7934325" cy="6516192"/>
          </a:xfrm>
          <a:prstGeom prst="roundRect">
            <a:avLst>
              <a:gd name="adj" fmla="val 2339"/>
            </a:avLst>
          </a:prstGeom>
          <a:solidFill>
            <a:srgbClr val="06090E"/>
          </a:solidFill>
          <a:ln w="6350">
            <a:solidFill>
              <a:srgbClr val="FFFFFF">
                <a:alpha val="10000"/>
              </a:srgbClr>
            </a:solidFill>
            <a:prstDash val="solid"/>
          </a:ln>
        </p:spPr>
      </p:sp>
      <p:sp>
        <p:nvSpPr>
          <p:cNvPr id="5" name="Shape 3"/>
          <p:cNvSpPr/>
          <p:nvPr/>
        </p:nvSpPr>
        <p:spPr>
          <a:xfrm>
            <a:off x="1073150" y="2888160"/>
            <a:ext cx="7921625" cy="9525"/>
          </a:xfrm>
          <a:prstGeom prst="rect">
            <a:avLst/>
          </a:prstGeom>
          <a:solidFill>
            <a:srgbClr val="FFFFFF">
              <a:alpha val="6000"/>
            </a:srgbClr>
          </a:solidFill>
          <a:ln/>
        </p:spPr>
      </p:sp>
      <p:sp>
        <p:nvSpPr>
          <p:cNvPr id="6" name="Text 4"/>
          <p:cNvSpPr/>
          <p:nvPr/>
        </p:nvSpPr>
        <p:spPr>
          <a:xfrm>
            <a:off x="1301750" y="2430960"/>
            <a:ext cx="7702074"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6DBDB"/>
                </a:solidFill>
                <a:latin typeface="Courier New" pitchFamily="34" charset="0"/>
                <a:ea typeface="Courier New" pitchFamily="34" charset="-122"/>
                <a:cs typeface="Courier New" pitchFamily="34" charset="-120"/>
              </a:rPr>
              <a:t>Create</a:t>
            </a:r>
            <a:endParaRPr lang="en-US" sz="1800" dirty="0"/>
          </a:p>
        </p:txBody>
      </p:sp>
      <p:sp>
        <p:nvSpPr>
          <p:cNvPr id="7" name="Text 5"/>
          <p:cNvSpPr/>
          <p:nvPr/>
        </p:nvSpPr>
        <p:spPr>
          <a:xfrm>
            <a:off x="1339850" y="3123110"/>
            <a:ext cx="7625874" cy="2963863"/>
          </a:xfrm>
          <a:prstGeom prst="rect">
            <a:avLst/>
          </a:prstGeom>
          <a:noFill/>
          <a:ln/>
        </p:spPr>
        <p:txBody>
          <a:bodyPr wrap="none" lIns="25400" tIns="25400" rIns="25400" bIns="25400" rtlCol="0" anchor="t">
            <a:normAutofit/>
          </a:bodyPr>
          <a:lstStyle/>
          <a:p>
            <a:pPr algn="l" indent="0" marL="0">
              <a:lnSpc>
                <a:spcPct val="140488"/>
              </a:lnSpc>
              <a:buNone/>
            </a:pPr>
            <a:r>
              <a:rPr lang="en-US" sz="1800" dirty="0">
                <a:solidFill>
                  <a:srgbClr val="CDD7E3"/>
                </a:solidFill>
                <a:latin typeface="Courier New" pitchFamily="34" charset="0"/>
                <a:ea typeface="Courier New" pitchFamily="34" charset="-122"/>
                <a:cs typeface="Courier New" pitchFamily="34" charset="-120"/>
              </a:rPr>
              <a:t>db.students.</a:t>
            </a:r>
            <a:pPr algn="l" indent="0" marL="0">
              <a:lnSpc>
                <a:spcPct val="140488"/>
              </a:lnSpc>
              <a:buNone/>
            </a:pPr>
            <a:r>
              <a:rPr lang="en-US" sz="1800" dirty="0">
                <a:solidFill>
                  <a:srgbClr val="56DBDB"/>
                </a:solidFill>
                <a:latin typeface="Courier New" pitchFamily="34" charset="0"/>
                <a:ea typeface="Courier New" pitchFamily="34" charset="-122"/>
                <a:cs typeface="Courier New" pitchFamily="34" charset="-120"/>
              </a:rPr>
              <a:t>insertOne </a:t>
            </a:r>
            <a:pPr algn="l" indent="0" marL="0">
              <a:lnSpc>
                <a:spcPct val="140488"/>
              </a:lnSpc>
              <a:buNone/>
            </a:pPr>
            <a:r>
              <a:rPr lang="en-US" sz="1800" dirty="0">
                <a:solidFill>
                  <a:srgbClr val="CDD7E3"/>
                </a:solidFill>
                <a:latin typeface="Courier New" pitchFamily="34" charset="0"/>
                <a:ea typeface="Courier New" pitchFamily="34" charset="-122"/>
                <a:cs typeface="Courier New" pitchFamily="34" charset="-120"/>
              </a:rPr>
              <a:t>(</a:t>
            </a:r>
            <a:endParaRPr lang="en-US" sz="1800" dirty="0"/>
          </a:p>
          <a:p>
            <a:pPr algn="l" indent="0" marL="0">
              <a:lnSpc>
                <a:spcPct val="140488"/>
              </a:lnSpc>
              <a:buNone/>
            </a:pPr>
            <a:r>
              <a:rPr lang="en-US" sz="1800" dirty="0">
                <a:solidFill>
                  <a:srgbClr val="CDD7E3"/>
                </a:solidFill>
                <a:latin typeface="Courier New" pitchFamily="34" charset="0"/>
                <a:ea typeface="Courier New" pitchFamily="34" charset="-122"/>
                <a:cs typeface="Courier New" pitchFamily="34" charset="-120"/>
              </a:rPr>
              <a:t>  { name:  </a:t>
            </a:r>
            <a:endParaRPr lang="en-US" sz="1800" dirty="0"/>
          </a:p>
          <a:p>
            <a:pPr algn="l" indent="0" marL="0">
              <a:lnSpc>
                <a:spcPct val="140488"/>
              </a:lnSpc>
              <a:buNone/>
            </a:pPr>
            <a:r>
              <a:rPr lang="en-US" sz="1800" dirty="0">
                <a:solidFill>
                  <a:srgbClr val="FFB46E"/>
                </a:solidFill>
                <a:latin typeface="Courier New" pitchFamily="34" charset="0"/>
                <a:ea typeface="Courier New" pitchFamily="34" charset="-122"/>
                <a:cs typeface="Courier New" pitchFamily="34" charset="-120"/>
              </a:rPr>
              <a:t>"Awa"</a:t>
            </a:r>
            <a:pPr algn="l" indent="0" marL="0">
              <a:lnSpc>
                <a:spcPct val="140488"/>
              </a:lnSpc>
              <a:buNone/>
            </a:pPr>
            <a:r>
              <a:rPr lang="en-US" sz="1800" dirty="0">
                <a:solidFill>
                  <a:srgbClr val="CDD7E3"/>
                </a:solidFill>
                <a:latin typeface="Courier New" pitchFamily="34" charset="0"/>
                <a:ea typeface="Courier New" pitchFamily="34" charset="-122"/>
                <a:cs typeface="Courier New" pitchFamily="34" charset="-120"/>
              </a:rPr>
              <a:t>, age: </a:t>
            </a:r>
            <a:pPr algn="l" indent="0" marL="0">
              <a:lnSpc>
                <a:spcPct val="140488"/>
              </a:lnSpc>
              <a:buNone/>
            </a:pPr>
            <a:r>
              <a:rPr lang="en-US" sz="1800" dirty="0">
                <a:solidFill>
                  <a:srgbClr val="E6C07B"/>
                </a:solidFill>
                <a:latin typeface="Courier New" pitchFamily="34" charset="0"/>
                <a:ea typeface="Courier New" pitchFamily="34" charset="-122"/>
                <a:cs typeface="Courier New" pitchFamily="34" charset="-120"/>
              </a:rPr>
              <a:t>21</a:t>
            </a:r>
            <a:pPr algn="l" indent="0" marL="0">
              <a:lnSpc>
                <a:spcPct val="140488"/>
              </a:lnSpc>
              <a:buNone/>
            </a:pPr>
            <a:r>
              <a:rPr lang="en-US" sz="1800" dirty="0">
                <a:solidFill>
                  <a:srgbClr val="CDD7E3"/>
                </a:solidFill>
                <a:latin typeface="Courier New" pitchFamily="34" charset="0"/>
                <a:ea typeface="Courier New" pitchFamily="34" charset="-122"/>
                <a:cs typeface="Courier New" pitchFamily="34" charset="-120"/>
              </a:rPr>
              <a:t>, city: </a:t>
            </a:r>
            <a:pPr algn="l" indent="0" marL="0">
              <a:lnSpc>
                <a:spcPct val="140488"/>
              </a:lnSpc>
              <a:buNone/>
            </a:pPr>
            <a:r>
              <a:rPr lang="en-US" sz="1800" dirty="0">
                <a:solidFill>
                  <a:srgbClr val="FFB46E"/>
                </a:solidFill>
                <a:latin typeface="Courier New" pitchFamily="34" charset="0"/>
                <a:ea typeface="Courier New" pitchFamily="34" charset="-122"/>
                <a:cs typeface="Courier New" pitchFamily="34" charset="-120"/>
              </a:rPr>
              <a:t>"Dakar" </a:t>
            </a:r>
            <a:pPr algn="l" indent="0" marL="0">
              <a:lnSpc>
                <a:spcPct val="140488"/>
              </a:lnSpc>
              <a:buNone/>
            </a:pPr>
            <a:r>
              <a:rPr lang="en-US" sz="1800" dirty="0">
                <a:solidFill>
                  <a:srgbClr val="CDD7E3"/>
                </a:solidFill>
                <a:latin typeface="Courier New" pitchFamily="34" charset="0"/>
                <a:ea typeface="Courier New" pitchFamily="34" charset="-122"/>
                <a:cs typeface="Courier New" pitchFamily="34" charset="-120"/>
              </a:rPr>
              <a:t> }</a:t>
            </a:r>
            <a:endParaRPr lang="en-US" sz="1800" dirty="0"/>
          </a:p>
          <a:p>
            <a:pPr algn="l" indent="0" marL="0">
              <a:lnSpc>
                <a:spcPct val="140488"/>
              </a:lnSpc>
              <a:buNone/>
            </a:pPr>
            <a:r>
              <a:rPr lang="en-US" sz="1800" dirty="0">
                <a:solidFill>
                  <a:srgbClr val="CDD7E3"/>
                </a:solidFill>
                <a:latin typeface="Courier New" pitchFamily="34" charset="0"/>
                <a:ea typeface="Courier New" pitchFamily="34" charset="-122"/>
                <a:cs typeface="Courier New" pitchFamily="34" charset="-120"/>
              </a:rPr>
              <a:t>)</a:t>
            </a:r>
            <a:endParaRPr lang="en-US" sz="1800" dirty="0"/>
          </a:p>
          <a:p>
            <a:pPr algn="l" indent="0" marL="0">
              <a:lnSpc>
                <a:spcPct val="140488"/>
              </a:lnSpc>
              <a:buNone/>
            </a:pPr>
            <a:endParaRPr lang="en-US" sz="1800" dirty="0"/>
          </a:p>
          <a:p>
            <a:pPr algn="l" indent="0" marL="0">
              <a:lnSpc>
                <a:spcPct val="140488"/>
              </a:lnSpc>
              <a:buNone/>
            </a:pPr>
            <a:r>
              <a:rPr lang="en-US" sz="1800" dirty="0">
                <a:solidFill>
                  <a:srgbClr val="CDD7E3"/>
                </a:solidFill>
                <a:latin typeface="Courier New" pitchFamily="34" charset="0"/>
                <a:ea typeface="Courier New" pitchFamily="34" charset="-122"/>
                <a:cs typeface="Courier New" pitchFamily="34" charset="-120"/>
              </a:rPr>
              <a:t>db.students. </a:t>
            </a:r>
            <a:endParaRPr lang="en-US" sz="1800" dirty="0"/>
          </a:p>
          <a:p>
            <a:pPr algn="l" indent="0" marL="0">
              <a:lnSpc>
                <a:spcPct val="140488"/>
              </a:lnSpc>
              <a:buNone/>
            </a:pPr>
            <a:r>
              <a:rPr lang="en-US" sz="1800" dirty="0">
                <a:solidFill>
                  <a:srgbClr val="56DBDB"/>
                </a:solidFill>
                <a:latin typeface="Courier New" pitchFamily="34" charset="0"/>
                <a:ea typeface="Courier New" pitchFamily="34" charset="-122"/>
                <a:cs typeface="Courier New" pitchFamily="34" charset="-120"/>
              </a:rPr>
              <a:t>insertMany </a:t>
            </a:r>
            <a:pPr algn="l" indent="0" marL="0">
              <a:lnSpc>
                <a:spcPct val="140488"/>
              </a:lnSpc>
              <a:buNone/>
            </a:pPr>
            <a:r>
              <a:rPr lang="en-US" sz="1800" dirty="0">
                <a:solidFill>
                  <a:srgbClr val="CDD7E3"/>
                </a:solidFill>
                <a:latin typeface="Courier New" pitchFamily="34" charset="0"/>
                <a:ea typeface="Courier New" pitchFamily="34" charset="-122"/>
                <a:cs typeface="Courier New" pitchFamily="34" charset="-120"/>
              </a:rPr>
              <a:t>([</a:t>
            </a:r>
            <a:endParaRPr lang="en-US" sz="1800" dirty="0"/>
          </a:p>
          <a:p>
            <a:pPr algn="l" indent="0" marL="0">
              <a:lnSpc>
                <a:spcPct val="140488"/>
              </a:lnSpc>
              <a:buNone/>
            </a:pPr>
            <a:r>
              <a:rPr lang="en-US" sz="1800" dirty="0">
                <a:solidFill>
                  <a:srgbClr val="CDD7E3"/>
                </a:solidFill>
                <a:latin typeface="Courier New" pitchFamily="34" charset="0"/>
                <a:ea typeface="Courier New" pitchFamily="34" charset="-122"/>
                <a:cs typeface="Courier New" pitchFamily="34" charset="-120"/>
              </a:rPr>
              <a:t>  { name:  </a:t>
            </a:r>
            <a:endParaRPr lang="en-US" sz="1800" dirty="0"/>
          </a:p>
          <a:p>
            <a:pPr algn="l" indent="0" marL="0">
              <a:lnSpc>
                <a:spcPct val="140488"/>
              </a:lnSpc>
              <a:buNone/>
            </a:pPr>
            <a:r>
              <a:rPr lang="en-US" sz="1800" dirty="0">
                <a:solidFill>
                  <a:srgbClr val="FFB46E"/>
                </a:solidFill>
                <a:latin typeface="Courier New" pitchFamily="34" charset="0"/>
                <a:ea typeface="Courier New" pitchFamily="34" charset="-122"/>
                <a:cs typeface="Courier New" pitchFamily="34" charset="-120"/>
              </a:rPr>
              <a:t>"Malick"</a:t>
            </a:r>
            <a:pPr algn="l" indent="0" marL="0">
              <a:lnSpc>
                <a:spcPct val="140488"/>
              </a:lnSpc>
              <a:buNone/>
            </a:pPr>
            <a:r>
              <a:rPr lang="en-US" sz="1800" dirty="0">
                <a:solidFill>
                  <a:srgbClr val="CDD7E3"/>
                </a:solidFill>
                <a:latin typeface="Courier New" pitchFamily="34" charset="0"/>
                <a:ea typeface="Courier New" pitchFamily="34" charset="-122"/>
                <a:cs typeface="Courier New" pitchFamily="34" charset="-120"/>
              </a:rPr>
              <a:t>, age: </a:t>
            </a:r>
            <a:pPr algn="l" indent="0" marL="0">
              <a:lnSpc>
                <a:spcPct val="140488"/>
              </a:lnSpc>
              <a:buNone/>
            </a:pPr>
            <a:r>
              <a:rPr lang="en-US" sz="1800" dirty="0">
                <a:solidFill>
                  <a:srgbClr val="E6C07B"/>
                </a:solidFill>
                <a:latin typeface="Courier New" pitchFamily="34" charset="0"/>
                <a:ea typeface="Courier New" pitchFamily="34" charset="-122"/>
                <a:cs typeface="Courier New" pitchFamily="34" charset="-120"/>
              </a:rPr>
              <a:t>23 </a:t>
            </a:r>
            <a:pPr algn="l" indent="0" marL="0">
              <a:lnSpc>
                <a:spcPct val="140488"/>
              </a:lnSpc>
              <a:buNone/>
            </a:pPr>
            <a:r>
              <a:rPr lang="en-US" sz="1800" dirty="0">
                <a:solidFill>
                  <a:srgbClr val="CDD7E3"/>
                </a:solidFill>
                <a:latin typeface="Courier New" pitchFamily="34" charset="0"/>
                <a:ea typeface="Courier New" pitchFamily="34" charset="-122"/>
                <a:cs typeface="Courier New" pitchFamily="34" charset="-120"/>
              </a:rPr>
              <a:t> },</a:t>
            </a:r>
            <a:endParaRPr lang="en-US" sz="1800" dirty="0"/>
          </a:p>
          <a:p>
            <a:pPr algn="l" indent="0" marL="0">
              <a:lnSpc>
                <a:spcPct val="140488"/>
              </a:lnSpc>
              <a:buNone/>
            </a:pPr>
            <a:r>
              <a:rPr lang="en-US" sz="1800" dirty="0">
                <a:solidFill>
                  <a:srgbClr val="CDD7E3"/>
                </a:solidFill>
                <a:latin typeface="Courier New" pitchFamily="34" charset="0"/>
                <a:ea typeface="Courier New" pitchFamily="34" charset="-122"/>
                <a:cs typeface="Courier New" pitchFamily="34" charset="-120"/>
              </a:rPr>
              <a:t>  { name:  </a:t>
            </a:r>
            <a:endParaRPr lang="en-US" sz="1800" dirty="0"/>
          </a:p>
          <a:p>
            <a:pPr algn="l" indent="0" marL="0">
              <a:lnSpc>
                <a:spcPct val="140488"/>
              </a:lnSpc>
              <a:buNone/>
            </a:pPr>
            <a:r>
              <a:rPr lang="en-US" sz="1800" dirty="0">
                <a:solidFill>
                  <a:srgbClr val="FFB46E"/>
                </a:solidFill>
                <a:latin typeface="Courier New" pitchFamily="34" charset="0"/>
                <a:ea typeface="Courier New" pitchFamily="34" charset="-122"/>
                <a:cs typeface="Courier New" pitchFamily="34" charset="-120"/>
              </a:rPr>
              <a:t>"Fatou"</a:t>
            </a:r>
            <a:pPr algn="l" indent="0" marL="0">
              <a:lnSpc>
                <a:spcPct val="140488"/>
              </a:lnSpc>
              <a:buNone/>
            </a:pPr>
            <a:r>
              <a:rPr lang="en-US" sz="1800" dirty="0">
                <a:solidFill>
                  <a:srgbClr val="CDD7E3"/>
                </a:solidFill>
                <a:latin typeface="Courier New" pitchFamily="34" charset="0"/>
                <a:ea typeface="Courier New" pitchFamily="34" charset="-122"/>
                <a:cs typeface="Courier New" pitchFamily="34" charset="-120"/>
              </a:rPr>
              <a:t>, age: </a:t>
            </a:r>
            <a:pPr algn="l" indent="0" marL="0">
              <a:lnSpc>
                <a:spcPct val="140488"/>
              </a:lnSpc>
              <a:buNone/>
            </a:pPr>
            <a:r>
              <a:rPr lang="en-US" sz="1800" dirty="0">
                <a:solidFill>
                  <a:srgbClr val="E6C07B"/>
                </a:solidFill>
                <a:latin typeface="Courier New" pitchFamily="34" charset="0"/>
                <a:ea typeface="Courier New" pitchFamily="34" charset="-122"/>
                <a:cs typeface="Courier New" pitchFamily="34" charset="-120"/>
              </a:rPr>
              <a:t>20 </a:t>
            </a:r>
            <a:pPr algn="l" indent="0" marL="0">
              <a:lnSpc>
                <a:spcPct val="140488"/>
              </a:lnSpc>
              <a:buNone/>
            </a:pPr>
            <a:r>
              <a:rPr lang="en-US" sz="1800" dirty="0">
                <a:solidFill>
                  <a:srgbClr val="CDD7E3"/>
                </a:solidFill>
                <a:latin typeface="Courier New" pitchFamily="34" charset="0"/>
                <a:ea typeface="Courier New" pitchFamily="34" charset="-122"/>
                <a:cs typeface="Courier New" pitchFamily="34" charset="-120"/>
              </a:rPr>
              <a:t> }</a:t>
            </a:r>
            <a:endParaRPr lang="en-US" sz="1800" dirty="0"/>
          </a:p>
          <a:p>
            <a:pPr algn="l" indent="0" marL="0">
              <a:lnSpc>
                <a:spcPct val="140488"/>
              </a:lnSpc>
              <a:buNone/>
            </a:pPr>
            <a:r>
              <a:rPr lang="en-US" sz="1800" dirty="0">
                <a:solidFill>
                  <a:srgbClr val="CDD7E3"/>
                </a:solidFill>
                <a:latin typeface="Courier New" pitchFamily="34" charset="0"/>
                <a:ea typeface="Courier New" pitchFamily="34" charset="-122"/>
                <a:cs typeface="Courier New" pitchFamily="34" charset="-120"/>
              </a:rPr>
              <a:t>])</a:t>
            </a:r>
            <a:endParaRPr lang="en-US" sz="1800" dirty="0"/>
          </a:p>
        </p:txBody>
      </p:sp>
      <p:sp>
        <p:nvSpPr>
          <p:cNvPr id="8" name="Shape 6"/>
          <p:cNvSpPr/>
          <p:nvPr/>
        </p:nvSpPr>
        <p:spPr>
          <a:xfrm>
            <a:off x="9286875" y="2274358"/>
            <a:ext cx="7934325" cy="6516192"/>
          </a:xfrm>
          <a:prstGeom prst="roundRect">
            <a:avLst>
              <a:gd name="adj" fmla="val 2339"/>
            </a:avLst>
          </a:prstGeom>
          <a:solidFill>
            <a:srgbClr val="06090E">
              <a:alpha val="99000"/>
            </a:srgbClr>
          </a:solidFill>
          <a:ln w="6350">
            <a:solidFill>
              <a:srgbClr val="FFFFFF">
                <a:alpha val="10000"/>
              </a:srgbClr>
            </a:solidFill>
            <a:prstDash val="solid"/>
          </a:ln>
        </p:spPr>
      </p:sp>
      <p:sp>
        <p:nvSpPr>
          <p:cNvPr id="9" name="Shape 7"/>
          <p:cNvSpPr/>
          <p:nvPr/>
        </p:nvSpPr>
        <p:spPr>
          <a:xfrm>
            <a:off x="9293225" y="2890308"/>
            <a:ext cx="7921625" cy="9525"/>
          </a:xfrm>
          <a:prstGeom prst="rect">
            <a:avLst/>
          </a:prstGeom>
          <a:solidFill>
            <a:srgbClr val="FFFFFF">
              <a:alpha val="6000"/>
            </a:srgbClr>
          </a:solidFill>
          <a:ln/>
        </p:spPr>
      </p:sp>
      <p:sp>
        <p:nvSpPr>
          <p:cNvPr id="10" name="Text 8"/>
          <p:cNvSpPr/>
          <p:nvPr/>
        </p:nvSpPr>
        <p:spPr>
          <a:xfrm>
            <a:off x="9521825" y="2433108"/>
            <a:ext cx="7702074" cy="342900"/>
          </a:xfrm>
          <a:prstGeom prst="rect">
            <a:avLst/>
          </a:prstGeom>
          <a:noFill/>
          <a:ln/>
        </p:spPr>
        <p:txBody>
          <a:bodyPr wrap="square" lIns="25400" tIns="25400" rIns="25400" bIns="25400" rtlCol="0" anchor="t">
            <a:normAutofit/>
          </a:bodyPr>
          <a:lstStyle/>
          <a:p>
            <a:pPr algn="l" indent="0" marL="0">
              <a:buNone/>
            </a:pPr>
            <a:r>
              <a:rPr lang="en-US" sz="1800" dirty="0">
                <a:solidFill>
                  <a:srgbClr val="B897F0">
                    <a:alpha val="99000"/>
                  </a:srgbClr>
                </a:solidFill>
                <a:latin typeface="Courier New" pitchFamily="34" charset="0"/>
                <a:ea typeface="Courier New" pitchFamily="34" charset="-122"/>
                <a:cs typeface="Courier New" pitchFamily="34" charset="-120"/>
              </a:rPr>
              <a:t>Read · projection · sort · limit · skip</a:t>
            </a:r>
            <a:endParaRPr lang="en-US" sz="1800" dirty="0"/>
          </a:p>
        </p:txBody>
      </p:sp>
      <p:sp>
        <p:nvSpPr>
          <p:cNvPr id="11" name="Text 9"/>
          <p:cNvSpPr/>
          <p:nvPr/>
        </p:nvSpPr>
        <p:spPr>
          <a:xfrm>
            <a:off x="9559925" y="3125258"/>
            <a:ext cx="7625874" cy="2518271"/>
          </a:xfrm>
          <a:prstGeom prst="rect">
            <a:avLst/>
          </a:prstGeom>
          <a:noFill/>
          <a:ln/>
        </p:spPr>
        <p:txBody>
          <a:bodyPr wrap="none" lIns="25400" tIns="25400" rIns="25400" bIns="25400" rtlCol="0" anchor="t">
            <a:normAutofit/>
          </a:bodyPr>
          <a:lstStyle/>
          <a:p>
            <a:pPr algn="l" indent="0" marL="0">
              <a:lnSpc>
                <a:spcPct val="136098"/>
              </a:lnSpc>
              <a:buNone/>
            </a:pPr>
            <a:r>
              <a:rPr lang="en-US" sz="1800" dirty="0">
                <a:solidFill>
                  <a:srgbClr val="CDD7E3">
                    <a:alpha val="99000"/>
                  </a:srgbClr>
                </a:solidFill>
                <a:latin typeface="Courier New" pitchFamily="34" charset="0"/>
                <a:ea typeface="Courier New" pitchFamily="34" charset="-122"/>
                <a:cs typeface="Courier New" pitchFamily="34" charset="-120"/>
              </a:rPr>
              <a:t>db.students.</a:t>
            </a:r>
            <a:pPr algn="l" indent="0" marL="0">
              <a:lnSpc>
                <a:spcPct val="136098"/>
              </a:lnSpc>
              <a:buNone/>
            </a:pPr>
            <a:r>
              <a:rPr lang="en-US" sz="1800" dirty="0">
                <a:solidFill>
                  <a:srgbClr val="56DBDB">
                    <a:alpha val="99000"/>
                  </a:srgbClr>
                </a:solidFill>
                <a:latin typeface="Courier New" pitchFamily="34" charset="0"/>
                <a:ea typeface="Courier New" pitchFamily="34" charset="-122"/>
                <a:cs typeface="Courier New" pitchFamily="34" charset="-120"/>
              </a:rPr>
              <a:t>find </a:t>
            </a:r>
            <a:pPr algn="l" indent="0" marL="0">
              <a:lnSpc>
                <a:spcPct val="136098"/>
              </a:lnSpc>
              <a:buNone/>
            </a:pPr>
            <a:r>
              <a:rPr lang="en-US" sz="1800" dirty="0">
                <a:solidFill>
                  <a:srgbClr val="CDD7E3">
                    <a:alpha val="99000"/>
                  </a:srgbClr>
                </a:solidFill>
                <a:latin typeface="Courier New" pitchFamily="34" charset="0"/>
                <a:ea typeface="Courier New" pitchFamily="34" charset="-122"/>
                <a:cs typeface="Courier New" pitchFamily="34" charset="-120"/>
              </a:rPr>
              <a:t>(</a:t>
            </a:r>
            <a:endParaRPr lang="en-US" sz="1800" dirty="0"/>
          </a:p>
          <a:p>
            <a:pPr algn="l" indent="0" marL="0">
              <a:lnSpc>
                <a:spcPct val="136098"/>
              </a:lnSpc>
              <a:buNone/>
            </a:pPr>
            <a:r>
              <a:rPr lang="en-US" sz="1800" dirty="0">
                <a:solidFill>
                  <a:srgbClr val="CDD7E3">
                    <a:alpha val="99000"/>
                  </a:srgbClr>
                </a:solidFill>
                <a:latin typeface="Courier New" pitchFamily="34" charset="0"/>
                <a:ea typeface="Courier New" pitchFamily="34" charset="-122"/>
                <a:cs typeface="Courier New" pitchFamily="34" charset="-120"/>
              </a:rPr>
              <a:t>  { city:  </a:t>
            </a:r>
            <a:endParaRPr lang="en-US" sz="1800" dirty="0"/>
          </a:p>
          <a:p>
            <a:pPr algn="l" indent="0" marL="0">
              <a:lnSpc>
                <a:spcPct val="136098"/>
              </a:lnSpc>
              <a:buNone/>
            </a:pPr>
            <a:r>
              <a:rPr lang="en-US" sz="1800" dirty="0">
                <a:solidFill>
                  <a:srgbClr val="FFB46E">
                    <a:alpha val="99000"/>
                  </a:srgbClr>
                </a:solidFill>
                <a:latin typeface="Courier New" pitchFamily="34" charset="0"/>
                <a:ea typeface="Courier New" pitchFamily="34" charset="-122"/>
                <a:cs typeface="Courier New" pitchFamily="34" charset="-120"/>
              </a:rPr>
              <a:t>"Dakar" </a:t>
            </a:r>
            <a:pPr algn="l" indent="0" marL="0">
              <a:lnSpc>
                <a:spcPct val="136098"/>
              </a:lnSpc>
              <a:buNone/>
            </a:pPr>
            <a:r>
              <a:rPr lang="en-US" sz="1800" dirty="0">
                <a:solidFill>
                  <a:srgbClr val="CDD7E3">
                    <a:alpha val="99000"/>
                  </a:srgbClr>
                </a:solidFill>
                <a:latin typeface="Courier New" pitchFamily="34" charset="0"/>
                <a:ea typeface="Courier New" pitchFamily="34" charset="-122"/>
                <a:cs typeface="Courier New" pitchFamily="34" charset="-120"/>
              </a:rPr>
              <a:t> },</a:t>
            </a:r>
            <a:endParaRPr lang="en-US" sz="1800" dirty="0"/>
          </a:p>
          <a:p>
            <a:pPr algn="l" indent="0" marL="0">
              <a:lnSpc>
                <a:spcPct val="136098"/>
              </a:lnSpc>
              <a:buNone/>
            </a:pPr>
            <a:r>
              <a:rPr lang="en-US" sz="1800" dirty="0">
                <a:solidFill>
                  <a:srgbClr val="CDD7E3">
                    <a:alpha val="99000"/>
                  </a:srgbClr>
                </a:solidFill>
                <a:latin typeface="Courier New" pitchFamily="34" charset="0"/>
                <a:ea typeface="Courier New" pitchFamily="34" charset="-122"/>
                <a:cs typeface="Courier New" pitchFamily="34" charset="-120"/>
              </a:rPr>
              <a:t>  { name:  </a:t>
            </a:r>
            <a:endParaRPr lang="en-US" sz="1800" dirty="0"/>
          </a:p>
          <a:p>
            <a:pPr algn="l" indent="0" marL="0">
              <a:lnSpc>
                <a:spcPct val="136098"/>
              </a:lnSpc>
              <a:buNone/>
            </a:pPr>
            <a:r>
              <a:rPr lang="en-US" sz="1800" dirty="0">
                <a:solidFill>
                  <a:srgbClr val="E6C07B">
                    <a:alpha val="99000"/>
                  </a:srgbClr>
                </a:solidFill>
                <a:latin typeface="Courier New" pitchFamily="34" charset="0"/>
                <a:ea typeface="Courier New" pitchFamily="34" charset="-122"/>
                <a:cs typeface="Courier New" pitchFamily="34" charset="-120"/>
              </a:rPr>
              <a:t>1</a:t>
            </a:r>
            <a:pPr algn="l" indent="0" marL="0">
              <a:lnSpc>
                <a:spcPct val="136098"/>
              </a:lnSpc>
              <a:buNone/>
            </a:pPr>
            <a:r>
              <a:rPr lang="en-US" sz="1800" dirty="0">
                <a:solidFill>
                  <a:srgbClr val="CDD7E3">
                    <a:alpha val="99000"/>
                  </a:srgbClr>
                </a:solidFill>
                <a:latin typeface="Courier New" pitchFamily="34" charset="0"/>
                <a:ea typeface="Courier New" pitchFamily="34" charset="-122"/>
                <a:cs typeface="Courier New" pitchFamily="34" charset="-120"/>
              </a:rPr>
              <a:t>, age: </a:t>
            </a:r>
            <a:pPr algn="l" indent="0" marL="0">
              <a:lnSpc>
                <a:spcPct val="136098"/>
              </a:lnSpc>
              <a:buNone/>
            </a:pPr>
            <a:r>
              <a:rPr lang="en-US" sz="1800" dirty="0">
                <a:solidFill>
                  <a:srgbClr val="E6C07B">
                    <a:alpha val="99000"/>
                  </a:srgbClr>
                </a:solidFill>
                <a:latin typeface="Courier New" pitchFamily="34" charset="0"/>
                <a:ea typeface="Courier New" pitchFamily="34" charset="-122"/>
                <a:cs typeface="Courier New" pitchFamily="34" charset="-120"/>
              </a:rPr>
              <a:t>1</a:t>
            </a:r>
            <a:pPr algn="l" indent="0" marL="0">
              <a:lnSpc>
                <a:spcPct val="136098"/>
              </a:lnSpc>
              <a:buNone/>
            </a:pPr>
            <a:r>
              <a:rPr lang="en-US" sz="1800" dirty="0">
                <a:solidFill>
                  <a:srgbClr val="CDD7E3">
                    <a:alpha val="99000"/>
                  </a:srgbClr>
                </a:solidFill>
                <a:latin typeface="Courier New" pitchFamily="34" charset="0"/>
                <a:ea typeface="Courier New" pitchFamily="34" charset="-122"/>
                <a:cs typeface="Courier New" pitchFamily="34" charset="-120"/>
              </a:rPr>
              <a:t>, _id: </a:t>
            </a:r>
            <a:pPr algn="l" indent="0" marL="0">
              <a:lnSpc>
                <a:spcPct val="136098"/>
              </a:lnSpc>
              <a:buNone/>
            </a:pPr>
            <a:r>
              <a:rPr lang="en-US" sz="1800" dirty="0">
                <a:solidFill>
                  <a:srgbClr val="E6C07B">
                    <a:alpha val="99000"/>
                  </a:srgbClr>
                </a:solidFill>
                <a:latin typeface="Courier New" pitchFamily="34" charset="0"/>
                <a:ea typeface="Courier New" pitchFamily="34" charset="-122"/>
                <a:cs typeface="Courier New" pitchFamily="34" charset="-120"/>
              </a:rPr>
              <a:t>0 </a:t>
            </a:r>
            <a:pPr algn="l" indent="0" marL="0">
              <a:lnSpc>
                <a:spcPct val="136098"/>
              </a:lnSpc>
              <a:buNone/>
            </a:pPr>
            <a:r>
              <a:rPr lang="en-US" sz="1800" dirty="0">
                <a:solidFill>
                  <a:srgbClr val="CDD7E3">
                    <a:alpha val="99000"/>
                  </a:srgbClr>
                </a:solidFill>
                <a:latin typeface="Courier New" pitchFamily="34" charset="0"/>
                <a:ea typeface="Courier New" pitchFamily="34" charset="-122"/>
                <a:cs typeface="Courier New" pitchFamily="34" charset="-120"/>
              </a:rPr>
              <a:t> }</a:t>
            </a:r>
            <a:endParaRPr lang="en-US" sz="1800" dirty="0"/>
          </a:p>
          <a:p>
            <a:pPr algn="l" indent="0" marL="0">
              <a:lnSpc>
                <a:spcPct val="136098"/>
              </a:lnSpc>
              <a:buNone/>
            </a:pPr>
            <a:r>
              <a:rPr lang="en-US" sz="1800" dirty="0">
                <a:solidFill>
                  <a:srgbClr val="CDD7E3">
                    <a:alpha val="99000"/>
                  </a:srgbClr>
                </a:solidFill>
                <a:latin typeface="Courier New" pitchFamily="34" charset="0"/>
                <a:ea typeface="Courier New" pitchFamily="34" charset="-122"/>
                <a:cs typeface="Courier New" pitchFamily="34" charset="-120"/>
              </a:rPr>
              <a:t>). </a:t>
            </a:r>
            <a:endParaRPr lang="en-US" sz="1800" dirty="0"/>
          </a:p>
          <a:p>
            <a:pPr algn="l" indent="0" marL="0">
              <a:lnSpc>
                <a:spcPct val="136098"/>
              </a:lnSpc>
              <a:buNone/>
            </a:pPr>
            <a:r>
              <a:rPr lang="en-US" sz="1800" dirty="0">
                <a:solidFill>
                  <a:srgbClr val="56DBDB">
                    <a:alpha val="99000"/>
                  </a:srgbClr>
                </a:solidFill>
                <a:latin typeface="Courier New" pitchFamily="34" charset="0"/>
                <a:ea typeface="Courier New" pitchFamily="34" charset="-122"/>
                <a:cs typeface="Courier New" pitchFamily="34" charset="-120"/>
              </a:rPr>
              <a:t>sort</a:t>
            </a:r>
            <a:pPr algn="l" indent="0" marL="0">
              <a:lnSpc>
                <a:spcPct val="136098"/>
              </a:lnSpc>
              <a:buNone/>
            </a:pPr>
            <a:r>
              <a:rPr lang="en-US" sz="1800" dirty="0">
                <a:solidFill>
                  <a:srgbClr val="CDD7E3">
                    <a:alpha val="99000"/>
                  </a:srgbClr>
                </a:solidFill>
                <a:latin typeface="Courier New" pitchFamily="34" charset="0"/>
                <a:ea typeface="Courier New" pitchFamily="34" charset="-122"/>
                <a:cs typeface="Courier New" pitchFamily="34" charset="-120"/>
              </a:rPr>
              <a:t>({ age: </a:t>
            </a:r>
            <a:pPr algn="l" indent="0" marL="0">
              <a:lnSpc>
                <a:spcPct val="136098"/>
              </a:lnSpc>
              <a:buNone/>
            </a:pPr>
            <a:r>
              <a:rPr lang="en-US" sz="1800" dirty="0">
                <a:solidFill>
                  <a:srgbClr val="E6C07B">
                    <a:alpha val="99000"/>
                  </a:srgbClr>
                </a:solidFill>
                <a:latin typeface="Courier New" pitchFamily="34" charset="0"/>
                <a:ea typeface="Courier New" pitchFamily="34" charset="-122"/>
                <a:cs typeface="Courier New" pitchFamily="34" charset="-120"/>
              </a:rPr>
              <a:t>1</a:t>
            </a:r>
            <a:pPr algn="l" indent="0" marL="0">
              <a:lnSpc>
                <a:spcPct val="136098"/>
              </a:lnSpc>
              <a:buNone/>
            </a:pPr>
            <a:r>
              <a:rPr lang="en-US" sz="1800" dirty="0">
                <a:solidFill>
                  <a:srgbClr val="CDD7E3">
                    <a:alpha val="99000"/>
                  </a:srgbClr>
                </a:solidFill>
                <a:latin typeface="Courier New" pitchFamily="34" charset="0"/>
                <a:ea typeface="Courier New" pitchFamily="34" charset="-122"/>
                <a:cs typeface="Courier New" pitchFamily="34" charset="-120"/>
              </a:rPr>
              <a:t> }).</a:t>
            </a:r>
            <a:pPr algn="l" indent="0" marL="0">
              <a:lnSpc>
                <a:spcPct val="136098"/>
              </a:lnSpc>
              <a:buNone/>
            </a:pPr>
            <a:r>
              <a:rPr lang="en-US" sz="1800" dirty="0">
                <a:solidFill>
                  <a:srgbClr val="56DBDB">
                    <a:alpha val="99000"/>
                  </a:srgbClr>
                </a:solidFill>
                <a:latin typeface="Courier New" pitchFamily="34" charset="0"/>
                <a:ea typeface="Courier New" pitchFamily="34" charset="-122"/>
                <a:cs typeface="Courier New" pitchFamily="34" charset="-120"/>
              </a:rPr>
              <a:t>skip</a:t>
            </a:r>
            <a:pPr algn="l" indent="0" marL="0">
              <a:lnSpc>
                <a:spcPct val="136098"/>
              </a:lnSpc>
              <a:buNone/>
            </a:pPr>
            <a:r>
              <a:rPr lang="en-US" sz="1800" dirty="0">
                <a:solidFill>
                  <a:srgbClr val="CDD7E3">
                    <a:alpha val="99000"/>
                  </a:srgbClr>
                </a:solidFill>
                <a:latin typeface="Courier New" pitchFamily="34" charset="0"/>
                <a:ea typeface="Courier New" pitchFamily="34" charset="-122"/>
                <a:cs typeface="Courier New" pitchFamily="34" charset="-120"/>
              </a:rPr>
              <a:t>(</a:t>
            </a:r>
            <a:pPr algn="l" indent="0" marL="0">
              <a:lnSpc>
                <a:spcPct val="136098"/>
              </a:lnSpc>
              <a:buNone/>
            </a:pPr>
            <a:r>
              <a:rPr lang="en-US" sz="1800" dirty="0">
                <a:solidFill>
                  <a:srgbClr val="E6C07B">
                    <a:alpha val="99000"/>
                  </a:srgbClr>
                </a:solidFill>
                <a:latin typeface="Courier New" pitchFamily="34" charset="0"/>
                <a:ea typeface="Courier New" pitchFamily="34" charset="-122"/>
                <a:cs typeface="Courier New" pitchFamily="34" charset="-120"/>
              </a:rPr>
              <a:t>10</a:t>
            </a:r>
            <a:pPr algn="l" indent="0" marL="0">
              <a:lnSpc>
                <a:spcPct val="136098"/>
              </a:lnSpc>
              <a:buNone/>
            </a:pPr>
            <a:r>
              <a:rPr lang="en-US" sz="1800" dirty="0">
                <a:solidFill>
                  <a:srgbClr val="CDD7E3">
                    <a:alpha val="99000"/>
                  </a:srgbClr>
                </a:solidFill>
                <a:latin typeface="Courier New" pitchFamily="34" charset="0"/>
                <a:ea typeface="Courier New" pitchFamily="34" charset="-122"/>
                <a:cs typeface="Courier New" pitchFamily="34" charset="-120"/>
              </a:rPr>
              <a:t>).</a:t>
            </a:r>
            <a:pPr algn="l" indent="0" marL="0">
              <a:lnSpc>
                <a:spcPct val="136098"/>
              </a:lnSpc>
              <a:buNone/>
            </a:pPr>
            <a:r>
              <a:rPr lang="en-US" sz="1800" dirty="0">
                <a:solidFill>
                  <a:srgbClr val="56DBDB">
                    <a:alpha val="99000"/>
                  </a:srgbClr>
                </a:solidFill>
                <a:latin typeface="Courier New" pitchFamily="34" charset="0"/>
                <a:ea typeface="Courier New" pitchFamily="34" charset="-122"/>
                <a:cs typeface="Courier New" pitchFamily="34" charset="-120"/>
              </a:rPr>
              <a:t>limit</a:t>
            </a:r>
            <a:pPr algn="l" indent="0" marL="0">
              <a:lnSpc>
                <a:spcPct val="136098"/>
              </a:lnSpc>
              <a:buNone/>
            </a:pPr>
            <a:r>
              <a:rPr lang="en-US" sz="1800" dirty="0">
                <a:solidFill>
                  <a:srgbClr val="CDD7E3">
                    <a:alpha val="99000"/>
                  </a:srgbClr>
                </a:solidFill>
                <a:latin typeface="Courier New" pitchFamily="34" charset="0"/>
                <a:ea typeface="Courier New" pitchFamily="34" charset="-122"/>
                <a:cs typeface="Courier New" pitchFamily="34" charset="-120"/>
              </a:rPr>
              <a:t>(</a:t>
            </a:r>
            <a:pPr algn="l" indent="0" marL="0">
              <a:lnSpc>
                <a:spcPct val="136098"/>
              </a:lnSpc>
              <a:buNone/>
            </a:pPr>
            <a:r>
              <a:rPr lang="en-US" sz="1800" dirty="0">
                <a:solidFill>
                  <a:srgbClr val="E6C07B">
                    <a:alpha val="99000"/>
                  </a:srgbClr>
                </a:solidFill>
                <a:latin typeface="Courier New" pitchFamily="34" charset="0"/>
                <a:ea typeface="Courier New" pitchFamily="34" charset="-122"/>
                <a:cs typeface="Courier New" pitchFamily="34" charset="-120"/>
              </a:rPr>
              <a:t>5 </a:t>
            </a:r>
            <a:pPr algn="l" indent="0" marL="0">
              <a:lnSpc>
                <a:spcPct val="136098"/>
              </a:lnSpc>
              <a:buNone/>
            </a:pPr>
            <a:r>
              <a:rPr lang="en-US" sz="1800" dirty="0">
                <a:solidFill>
                  <a:srgbClr val="CDD7E3">
                    <a:alpha val="99000"/>
                  </a:srgbClr>
                </a:solidFill>
                <a:latin typeface="Courier New" pitchFamily="34" charset="0"/>
                <a:ea typeface="Courier New" pitchFamily="34" charset="-122"/>
                <a:cs typeface="Courier New" pitchFamily="34" charset="-120"/>
              </a:rPr>
              <a:t>)</a:t>
            </a:r>
            <a:endParaRPr lang="en-US" sz="1800" dirty="0"/>
          </a:p>
          <a:p>
            <a:pPr algn="l" indent="0" marL="0">
              <a:lnSpc>
                <a:spcPct val="136098"/>
              </a:lnSpc>
              <a:buNone/>
            </a:pPr>
            <a:endParaRPr lang="en-US" sz="1800" dirty="0"/>
          </a:p>
          <a:p>
            <a:pPr algn="l" indent="0" marL="0">
              <a:lnSpc>
                <a:spcPct val="136098"/>
              </a:lnSpc>
              <a:buNone/>
            </a:pPr>
            <a:r>
              <a:rPr lang="en-US" sz="1800" dirty="0">
                <a:solidFill>
                  <a:srgbClr val="CDD7E3">
                    <a:alpha val="99000"/>
                  </a:srgbClr>
                </a:solidFill>
                <a:latin typeface="Courier New" pitchFamily="34" charset="0"/>
                <a:ea typeface="Courier New" pitchFamily="34" charset="-122"/>
                <a:cs typeface="Courier New" pitchFamily="34" charset="-120"/>
              </a:rPr>
              <a:t>db.students. </a:t>
            </a:r>
            <a:endParaRPr lang="en-US" sz="1800" dirty="0"/>
          </a:p>
          <a:p>
            <a:pPr algn="l" indent="0" marL="0">
              <a:lnSpc>
                <a:spcPct val="136098"/>
              </a:lnSpc>
              <a:buNone/>
            </a:pPr>
            <a:r>
              <a:rPr lang="en-US" sz="1800" dirty="0">
                <a:solidFill>
                  <a:srgbClr val="56DBDB">
                    <a:alpha val="99000"/>
                  </a:srgbClr>
                </a:solidFill>
                <a:latin typeface="Courier New" pitchFamily="34" charset="0"/>
                <a:ea typeface="Courier New" pitchFamily="34" charset="-122"/>
                <a:cs typeface="Courier New" pitchFamily="34" charset="-120"/>
              </a:rPr>
              <a:t>findOne</a:t>
            </a:r>
            <a:pPr algn="l" indent="0" marL="0">
              <a:lnSpc>
                <a:spcPct val="136098"/>
              </a:lnSpc>
              <a:buNone/>
            </a:pPr>
            <a:r>
              <a:rPr lang="en-US" sz="1800" dirty="0">
                <a:solidFill>
                  <a:srgbClr val="CDD7E3">
                    <a:alpha val="99000"/>
                  </a:srgbClr>
                </a:solidFill>
                <a:latin typeface="Courier New" pitchFamily="34" charset="0"/>
                <a:ea typeface="Courier New" pitchFamily="34" charset="-122"/>
                <a:cs typeface="Courier New" pitchFamily="34" charset="-120"/>
              </a:rPr>
              <a:t>({ name: </a:t>
            </a:r>
            <a:pPr algn="l" indent="0" marL="0">
              <a:lnSpc>
                <a:spcPct val="136098"/>
              </a:lnSpc>
              <a:buNone/>
            </a:pPr>
            <a:r>
              <a:rPr lang="en-US" sz="1800" dirty="0">
                <a:solidFill>
                  <a:srgbClr val="FFB46E">
                    <a:alpha val="99000"/>
                  </a:srgbClr>
                </a:solidFill>
                <a:latin typeface="Courier New" pitchFamily="34" charset="0"/>
                <a:ea typeface="Courier New" pitchFamily="34" charset="-122"/>
                <a:cs typeface="Courier New" pitchFamily="34" charset="-120"/>
              </a:rPr>
              <a:t>"Awa" </a:t>
            </a:r>
            <a:pPr algn="l" indent="0" marL="0">
              <a:lnSpc>
                <a:spcPct val="136098"/>
              </a:lnSpc>
              <a:buNone/>
            </a:pPr>
            <a:r>
              <a:rPr lang="en-US" sz="1800" dirty="0">
                <a:solidFill>
                  <a:srgbClr val="CDD7E3">
                    <a:alpha val="99000"/>
                  </a:srgbClr>
                </a:solidFill>
                <a:latin typeface="Courier New" pitchFamily="34" charset="0"/>
                <a:ea typeface="Courier New" pitchFamily="34" charset="-122"/>
                <a:cs typeface="Courier New" pitchFamily="34" charset="-120"/>
              </a:rPr>
              <a:t> })</a:t>
            </a:r>
            <a:endParaRPr lang="en-US" sz="1800" dirty="0"/>
          </a:p>
          <a:p>
            <a:pPr algn="l" indent="0" marL="0">
              <a:lnSpc>
                <a:spcPct val="136098"/>
              </a:lnSpc>
              <a:buNone/>
            </a:pPr>
            <a:r>
              <a:rPr lang="en-US" sz="1800" dirty="0">
                <a:solidFill>
                  <a:srgbClr val="CDD7E3">
                    <a:alpha val="99000"/>
                  </a:srgbClr>
                </a:solidFill>
                <a:latin typeface="Courier New" pitchFamily="34" charset="0"/>
                <a:ea typeface="Courier New" pitchFamily="34" charset="-122"/>
                <a:cs typeface="Courier New" pitchFamily="34" charset="-120"/>
              </a:rPr>
              <a:t>db.students. </a:t>
            </a:r>
            <a:endParaRPr lang="en-US" sz="1800" dirty="0"/>
          </a:p>
          <a:p>
            <a:pPr algn="l" indent="0" marL="0">
              <a:lnSpc>
                <a:spcPct val="136098"/>
              </a:lnSpc>
              <a:buNone/>
            </a:pPr>
            <a:r>
              <a:rPr lang="en-US" sz="1800" dirty="0">
                <a:solidFill>
                  <a:srgbClr val="56DBDB">
                    <a:alpha val="99000"/>
                  </a:srgbClr>
                </a:solidFill>
                <a:latin typeface="Courier New" pitchFamily="34" charset="0"/>
                <a:ea typeface="Courier New" pitchFamily="34" charset="-122"/>
                <a:cs typeface="Courier New" pitchFamily="34" charset="-120"/>
              </a:rPr>
              <a:t>countDocuments</a:t>
            </a:r>
            <a:pPr algn="l" indent="0" marL="0">
              <a:lnSpc>
                <a:spcPct val="136098"/>
              </a:lnSpc>
              <a:buNone/>
            </a:pPr>
            <a:r>
              <a:rPr lang="en-US" sz="1800" dirty="0">
                <a:solidFill>
                  <a:srgbClr val="CDD7E3">
                    <a:alpha val="99000"/>
                  </a:srgbClr>
                </a:solidFill>
                <a:latin typeface="Courier New" pitchFamily="34" charset="0"/>
                <a:ea typeface="Courier New" pitchFamily="34" charset="-122"/>
                <a:cs typeface="Courier New" pitchFamily="34" charset="-120"/>
              </a:rPr>
              <a:t>({ city: </a:t>
            </a:r>
            <a:pPr algn="l" indent="0" marL="0">
              <a:lnSpc>
                <a:spcPct val="136098"/>
              </a:lnSpc>
              <a:buNone/>
            </a:pPr>
            <a:r>
              <a:rPr lang="en-US" sz="1800" dirty="0">
                <a:solidFill>
                  <a:srgbClr val="FFB46E">
                    <a:alpha val="99000"/>
                  </a:srgbClr>
                </a:solidFill>
                <a:latin typeface="Courier New" pitchFamily="34" charset="0"/>
                <a:ea typeface="Courier New" pitchFamily="34" charset="-122"/>
                <a:cs typeface="Courier New" pitchFamily="34" charset="-120"/>
              </a:rPr>
              <a:t>"Dakar"</a:t>
            </a:r>
            <a:pPr algn="l" indent="0" marL="0">
              <a:lnSpc>
                <a:spcPct val="136098"/>
              </a:lnSpc>
              <a:buNone/>
            </a:pPr>
            <a:r>
              <a:rPr lang="en-US" sz="1800" dirty="0">
                <a:solidFill>
                  <a:srgbClr val="CDD7E3">
                    <a:alpha val="99000"/>
                  </a:srgbClr>
                </a:solidFill>
                <a:latin typeface="Courier New" pitchFamily="34" charset="0"/>
                <a:ea typeface="Courier New" pitchFamily="34" charset="-122"/>
                <a:cs typeface="Courier New" pitchFamily="34" charset="-120"/>
              </a:rPr>
              <a:t> })</a:t>
            </a:r>
            <a:endParaRPr lang="en-US" sz="1800" dirty="0"/>
          </a:p>
        </p:txBody>
      </p:sp>
      <p:sp>
        <p:nvSpPr>
          <p:cNvPr id="12" name="Shape 10"/>
          <p:cNvSpPr/>
          <p:nvPr/>
        </p:nvSpPr>
        <p:spPr>
          <a:xfrm>
            <a:off x="1066800" y="8997950"/>
            <a:ext cx="5392539" cy="469900"/>
          </a:xfrm>
          <a:prstGeom prst="roundRect">
            <a:avLst>
              <a:gd name="adj" fmla="val 16216"/>
            </a:avLst>
          </a:prstGeom>
          <a:solidFill>
            <a:srgbClr val="FFFFFF">
              <a:alpha val="4000"/>
            </a:srgbClr>
          </a:solidFill>
          <a:ln w="6350">
            <a:solidFill>
              <a:srgbClr val="FFFFFF">
                <a:alpha val="7000"/>
              </a:srgbClr>
            </a:solidFill>
            <a:prstDash val="solid"/>
          </a:ln>
        </p:spPr>
      </p:sp>
      <p:sp>
        <p:nvSpPr>
          <p:cNvPr id="13" name="Text 11"/>
          <p:cNvSpPr/>
          <p:nvPr/>
        </p:nvSpPr>
        <p:spPr>
          <a:xfrm>
            <a:off x="1225550" y="9080500"/>
            <a:ext cx="5236816" cy="342900"/>
          </a:xfrm>
          <a:prstGeom prst="rect">
            <a:avLst/>
          </a:prstGeom>
          <a:noFill/>
          <a:ln/>
        </p:spPr>
        <p:txBody>
          <a:bodyPr wrap="square" lIns="25400" tIns="25400" rIns="25400" bIns="25400" rtlCol="0" anchor="t">
            <a:normAutofit/>
          </a:bodyPr>
          <a:lstStyle/>
          <a:p>
            <a:pPr algn="l" indent="0" marL="0">
              <a:buNone/>
            </a:pPr>
            <a:r>
              <a:rPr lang="en-US" sz="1800" dirty="0">
                <a:solidFill>
                  <a:srgbClr val="B897F0">
                    <a:alpha val="68000"/>
                  </a:srgbClr>
                </a:solidFill>
                <a:latin typeface="Courier New" pitchFamily="34" charset="0"/>
                <a:ea typeface="Courier New" pitchFamily="34" charset="-122"/>
                <a:cs typeface="Courier New" pitchFamily="34" charset="-120"/>
              </a:rPr>
              <a:t>sort </a:t>
            </a:r>
            <a:pPr algn="l" indent="0" marL="0">
              <a:buNone/>
            </a:pPr>
            <a:r>
              <a:rPr lang="en-US" sz="1800" dirty="0">
                <a:solidFill>
                  <a:srgbClr val="EEF3F9">
                    <a:alpha val="68000"/>
                  </a:srgbClr>
                </a:solidFill>
                <a:highlight>
                  <a:srgbClr val="B0B1B3"/>
                </a:highlight>
                <a:latin typeface="Courier New" pitchFamily="34" charset="0"/>
                <a:ea typeface="Courier New" pitchFamily="34" charset="-122"/>
                <a:cs typeface="Courier New" pitchFamily="34" charset="-120"/>
              </a:rPr>
              <a:t>1 = croissant · -1 = décroissant</a:t>
            </a:r>
            <a:endParaRPr lang="en-US" sz="1800" dirty="0"/>
          </a:p>
        </p:txBody>
      </p:sp>
      <p:sp>
        <p:nvSpPr>
          <p:cNvPr id="14" name="Shape 12"/>
          <p:cNvSpPr/>
          <p:nvPr/>
        </p:nvSpPr>
        <p:spPr>
          <a:xfrm>
            <a:off x="6573639" y="8997950"/>
            <a:ext cx="2649339" cy="469900"/>
          </a:xfrm>
          <a:prstGeom prst="roundRect">
            <a:avLst>
              <a:gd name="adj" fmla="val 16216"/>
            </a:avLst>
          </a:prstGeom>
          <a:solidFill>
            <a:srgbClr val="FFFFFF">
              <a:alpha val="4000"/>
            </a:srgbClr>
          </a:solidFill>
          <a:ln w="6350">
            <a:solidFill>
              <a:srgbClr val="FFFFFF">
                <a:alpha val="7000"/>
              </a:srgbClr>
            </a:solidFill>
            <a:prstDash val="solid"/>
          </a:ln>
        </p:spPr>
      </p:sp>
      <p:sp>
        <p:nvSpPr>
          <p:cNvPr id="15" name="Text 13"/>
          <p:cNvSpPr/>
          <p:nvPr/>
        </p:nvSpPr>
        <p:spPr>
          <a:xfrm>
            <a:off x="6732389" y="9080500"/>
            <a:ext cx="241131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B897F0">
                    <a:alpha val="68000"/>
                  </a:srgbClr>
                </a:solidFill>
                <a:latin typeface="Courier New" pitchFamily="34" charset="0"/>
                <a:ea typeface="Courier New" pitchFamily="34" charset="-122"/>
                <a:cs typeface="Courier New" pitchFamily="34" charset="-120"/>
              </a:rPr>
              <a:t>skip </a:t>
            </a:r>
            <a:pPr algn="l" indent="0" marL="0">
              <a:buNone/>
            </a:pPr>
            <a:r>
              <a:rPr lang="en-US" sz="1800" dirty="0">
                <a:solidFill>
                  <a:srgbClr val="EEF3F9">
                    <a:alpha val="68000"/>
                  </a:srgbClr>
                </a:solidFill>
                <a:highlight>
                  <a:srgbClr val="B0B1B3"/>
                </a:highlight>
                <a:latin typeface="Courier New" pitchFamily="34" charset="0"/>
                <a:ea typeface="Courier New" pitchFamily="34" charset="-122"/>
                <a:cs typeface="Courier New" pitchFamily="34" charset="-120"/>
              </a:rPr>
              <a:t>= pagination</a:t>
            </a:r>
            <a:endParaRPr lang="en-US" sz="1800" dirty="0"/>
          </a:p>
        </p:txBody>
      </p:sp>
      <p:sp>
        <p:nvSpPr>
          <p:cNvPr id="16" name="Shape 14"/>
          <p:cNvSpPr/>
          <p:nvPr/>
        </p:nvSpPr>
        <p:spPr>
          <a:xfrm>
            <a:off x="9337278" y="8997950"/>
            <a:ext cx="3746599" cy="469900"/>
          </a:xfrm>
          <a:prstGeom prst="roundRect">
            <a:avLst>
              <a:gd name="adj" fmla="val 16216"/>
            </a:avLst>
          </a:prstGeom>
          <a:solidFill>
            <a:srgbClr val="FFFFFF">
              <a:alpha val="4000"/>
            </a:srgbClr>
          </a:solidFill>
          <a:ln w="6350">
            <a:solidFill>
              <a:srgbClr val="FFFFFF">
                <a:alpha val="7000"/>
              </a:srgbClr>
            </a:solidFill>
            <a:prstDash val="solid"/>
          </a:ln>
        </p:spPr>
      </p:sp>
      <p:sp>
        <p:nvSpPr>
          <p:cNvPr id="17" name="Text 15"/>
          <p:cNvSpPr/>
          <p:nvPr/>
        </p:nvSpPr>
        <p:spPr>
          <a:xfrm>
            <a:off x="9496028" y="9080500"/>
            <a:ext cx="3541497" cy="342900"/>
          </a:xfrm>
          <a:prstGeom prst="rect">
            <a:avLst/>
          </a:prstGeom>
          <a:noFill/>
          <a:ln/>
        </p:spPr>
        <p:txBody>
          <a:bodyPr wrap="square" lIns="25400" tIns="25400" rIns="25400" bIns="25400" rtlCol="0" anchor="t">
            <a:normAutofit/>
          </a:bodyPr>
          <a:lstStyle/>
          <a:p>
            <a:pPr algn="l" indent="0" marL="0">
              <a:buNone/>
            </a:pPr>
            <a:r>
              <a:rPr lang="en-US" sz="1800" dirty="0">
                <a:solidFill>
                  <a:srgbClr val="B897F0">
                    <a:alpha val="68000"/>
                  </a:srgbClr>
                </a:solidFill>
                <a:latin typeface="Courier New" pitchFamily="34" charset="0"/>
                <a:ea typeface="Courier New" pitchFamily="34" charset="-122"/>
                <a:cs typeface="Courier New" pitchFamily="34" charset="-120"/>
              </a:rPr>
              <a:t>countDocuments </a:t>
            </a:r>
            <a:pPr algn="l" indent="0" marL="0">
              <a:buNone/>
            </a:pPr>
            <a:r>
              <a:rPr lang="en-US" sz="1800" dirty="0">
                <a:solidFill>
                  <a:srgbClr val="EEF3F9">
                    <a:alpha val="68000"/>
                  </a:srgbClr>
                </a:solidFill>
                <a:highlight>
                  <a:srgbClr val="B0B1B3"/>
                </a:highlight>
                <a:latin typeface="Courier New" pitchFamily="34" charset="0"/>
                <a:ea typeface="Courier New" pitchFamily="34" charset="-122"/>
                <a:cs typeface="Courier New" pitchFamily="34" charset="-120"/>
              </a:rPr>
              <a:t>= comptage</a:t>
            </a:r>
            <a:endParaRPr lang="en-US"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C121C"/>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B897F0">
                    <a:alpha val="97000"/>
                  </a:srgbClr>
                </a:solidFill>
                <a:latin typeface="Courier New" pitchFamily="34" charset="0"/>
                <a:ea typeface="Courier New" pitchFamily="34" charset="-122"/>
                <a:cs typeface="Courier New" pitchFamily="34" charset="-120"/>
              </a:rPr>
              <a:t>ATELIER 02 · CRUD · PRATIQUE</a:t>
            </a:r>
            <a:endParaRPr lang="en-US" sz="1800" dirty="0"/>
          </a:p>
        </p:txBody>
      </p:sp>
      <p:sp>
        <p:nvSpPr>
          <p:cNvPr id="3" name="Text 1"/>
          <p:cNvSpPr/>
          <p:nvPr/>
        </p:nvSpPr>
        <p:spPr>
          <a:xfrm>
            <a:off x="1066800" y="1314451"/>
            <a:ext cx="17769840"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FFB46E"/>
                </a:solidFill>
                <a:latin typeface="Arial" pitchFamily="34" charset="0"/>
                <a:ea typeface="Arial" pitchFamily="34" charset="-122"/>
                <a:cs typeface="Arial" pitchFamily="34" charset="-120"/>
              </a:rPr>
              <a:t>Update </a:t>
            </a:r>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&amp; </a:t>
            </a:r>
            <a:pPr algn="l" indent="0" marL="0">
              <a:lnSpc>
                <a:spcPct val="90764"/>
              </a:lnSpc>
              <a:buNone/>
            </a:pPr>
            <a:r>
              <a:rPr lang="en-US" sz="4800" b="1" spc="-96" kern="0" dirty="0">
                <a:solidFill>
                  <a:srgbClr val="8EA0B5"/>
                </a:solidFill>
                <a:latin typeface="Arial" pitchFamily="34" charset="0"/>
                <a:ea typeface="Arial" pitchFamily="34" charset="-122"/>
                <a:cs typeface="Arial" pitchFamily="34" charset="-120"/>
              </a:rPr>
              <a:t>Delete</a:t>
            </a:r>
            <a:endParaRPr lang="en-US" sz="4800" dirty="0"/>
          </a:p>
        </p:txBody>
      </p:sp>
      <p:sp>
        <p:nvSpPr>
          <p:cNvPr id="4" name="Shape 2"/>
          <p:cNvSpPr/>
          <p:nvPr/>
        </p:nvSpPr>
        <p:spPr>
          <a:xfrm>
            <a:off x="1066800" y="2272210"/>
            <a:ext cx="8661400" cy="7195642"/>
          </a:xfrm>
          <a:prstGeom prst="roundRect">
            <a:avLst>
              <a:gd name="adj" fmla="val 2118"/>
            </a:avLst>
          </a:prstGeom>
          <a:solidFill>
            <a:srgbClr val="06090E"/>
          </a:solidFill>
          <a:ln w="6350">
            <a:solidFill>
              <a:srgbClr val="FFFFFF">
                <a:alpha val="10000"/>
              </a:srgbClr>
            </a:solidFill>
            <a:prstDash val="solid"/>
          </a:ln>
        </p:spPr>
      </p:sp>
      <p:sp>
        <p:nvSpPr>
          <p:cNvPr id="5" name="Shape 3"/>
          <p:cNvSpPr/>
          <p:nvPr/>
        </p:nvSpPr>
        <p:spPr>
          <a:xfrm>
            <a:off x="1073150" y="2888160"/>
            <a:ext cx="8648700" cy="9525"/>
          </a:xfrm>
          <a:prstGeom prst="rect">
            <a:avLst/>
          </a:prstGeom>
          <a:solidFill>
            <a:srgbClr val="FFFFFF">
              <a:alpha val="6000"/>
            </a:srgbClr>
          </a:solidFill>
          <a:ln/>
        </p:spPr>
      </p:sp>
      <p:sp>
        <p:nvSpPr>
          <p:cNvPr id="6" name="Text 4"/>
          <p:cNvSpPr/>
          <p:nvPr/>
        </p:nvSpPr>
        <p:spPr>
          <a:xfrm>
            <a:off x="1301750" y="2430960"/>
            <a:ext cx="845096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FB46E"/>
                </a:solidFill>
                <a:latin typeface="Courier New" pitchFamily="34" charset="0"/>
                <a:ea typeface="Courier New" pitchFamily="34" charset="-122"/>
                <a:cs typeface="Courier New" pitchFamily="34" charset="-120"/>
              </a:rPr>
              <a:t>Update · opérateurs</a:t>
            </a:r>
            <a:endParaRPr lang="en-US" sz="1800" dirty="0"/>
          </a:p>
        </p:txBody>
      </p:sp>
      <p:sp>
        <p:nvSpPr>
          <p:cNvPr id="7" name="Text 5"/>
          <p:cNvSpPr/>
          <p:nvPr/>
        </p:nvSpPr>
        <p:spPr>
          <a:xfrm>
            <a:off x="1339850" y="3123110"/>
            <a:ext cx="8374761" cy="4644132"/>
          </a:xfrm>
          <a:prstGeom prst="rect">
            <a:avLst/>
          </a:prstGeom>
          <a:noFill/>
          <a:ln/>
        </p:spPr>
        <p:txBody>
          <a:bodyPr wrap="none" lIns="25400" tIns="25400" rIns="25400" bIns="25400" rtlCol="0" anchor="t">
            <a:normAutofit/>
          </a:bodyPr>
          <a:lstStyle/>
          <a:p>
            <a:pPr algn="l" indent="0" marL="0">
              <a:lnSpc>
                <a:spcPct val="136098"/>
              </a:lnSpc>
              <a:buNone/>
            </a:pPr>
            <a:r>
              <a:rPr lang="en-US" sz="1800" dirty="0">
                <a:solidFill>
                  <a:srgbClr val="CDD7E3"/>
                </a:solidFill>
                <a:latin typeface="Courier New" pitchFamily="34" charset="0"/>
                <a:ea typeface="Courier New" pitchFamily="34" charset="-122"/>
                <a:cs typeface="Courier New" pitchFamily="34" charset="-120"/>
              </a:rPr>
              <a:t>db.students.</a:t>
            </a:r>
            <a:pPr algn="l" indent="0" marL="0">
              <a:lnSpc>
                <a:spcPct val="136098"/>
              </a:lnSpc>
              <a:buNone/>
            </a:pPr>
            <a:r>
              <a:rPr lang="en-US" sz="1800" dirty="0">
                <a:solidFill>
                  <a:srgbClr val="56DBDB"/>
                </a:solidFill>
                <a:latin typeface="Courier New" pitchFamily="34" charset="0"/>
                <a:ea typeface="Courier New" pitchFamily="34" charset="-122"/>
                <a:cs typeface="Courier New" pitchFamily="34" charset="-120"/>
              </a:rPr>
              <a:t>updateOne </a:t>
            </a:r>
            <a:pPr algn="l" indent="0" marL="0">
              <a:lnSpc>
                <a:spcPct val="136098"/>
              </a:lnSpc>
              <a:buNone/>
            </a:pPr>
            <a:r>
              <a:rPr lang="en-US" sz="1800" dirty="0">
                <a:solidFill>
                  <a:srgbClr val="CDD7E3"/>
                </a:solidFill>
                <a:latin typeface="Courier New" pitchFamily="34" charset="0"/>
                <a:ea typeface="Courier New" pitchFamily="34" charset="-122"/>
                <a:cs typeface="Courier New" pitchFamily="34" charset="-120"/>
              </a:rPr>
              <a:t>(</a:t>
            </a:r>
            <a:endParaRPr lang="en-US" sz="1800" dirty="0"/>
          </a:p>
          <a:p>
            <a:pPr algn="l" indent="0" marL="0">
              <a:lnSpc>
                <a:spcPct val="136098"/>
              </a:lnSpc>
              <a:buNone/>
            </a:pPr>
            <a:r>
              <a:rPr lang="en-US" sz="1800" dirty="0">
                <a:solidFill>
                  <a:srgbClr val="CDD7E3"/>
                </a:solidFill>
                <a:latin typeface="Courier New" pitchFamily="34" charset="0"/>
                <a:ea typeface="Courier New" pitchFamily="34" charset="-122"/>
                <a:cs typeface="Courier New" pitchFamily="34" charset="-120"/>
              </a:rPr>
              <a:t>  { name:  </a:t>
            </a:r>
            <a:endParaRPr lang="en-US" sz="1800" dirty="0"/>
          </a:p>
          <a:p>
            <a:pPr algn="l" indent="0" marL="0">
              <a:lnSpc>
                <a:spcPct val="136098"/>
              </a:lnSpc>
              <a:buNone/>
            </a:pPr>
            <a:r>
              <a:rPr lang="en-US" sz="1800" dirty="0">
                <a:solidFill>
                  <a:srgbClr val="FFB46E"/>
                </a:solidFill>
                <a:latin typeface="Courier New" pitchFamily="34" charset="0"/>
                <a:ea typeface="Courier New" pitchFamily="34" charset="-122"/>
                <a:cs typeface="Courier New" pitchFamily="34" charset="-120"/>
              </a:rPr>
              <a:t>"Awa" </a:t>
            </a:r>
            <a:pPr algn="l" indent="0" marL="0">
              <a:lnSpc>
                <a:spcPct val="136098"/>
              </a:lnSpc>
              <a:buNone/>
            </a:pPr>
            <a:r>
              <a:rPr lang="en-US" sz="1800" dirty="0">
                <a:solidFill>
                  <a:srgbClr val="CDD7E3"/>
                </a:solidFill>
                <a:latin typeface="Courier New" pitchFamily="34" charset="0"/>
                <a:ea typeface="Courier New" pitchFamily="34" charset="-122"/>
                <a:cs typeface="Courier New" pitchFamily="34" charset="-120"/>
              </a:rPr>
              <a:t> },</a:t>
            </a:r>
            <a:endParaRPr lang="en-US" sz="1800" dirty="0"/>
          </a:p>
          <a:p>
            <a:pPr algn="l" indent="0" marL="0">
              <a:lnSpc>
                <a:spcPct val="136098"/>
              </a:lnSpc>
              <a:buNone/>
            </a:pPr>
            <a:r>
              <a:rPr lang="en-US" sz="1800" dirty="0">
                <a:solidFill>
                  <a:srgbClr val="CDD7E3"/>
                </a:solidFill>
                <a:latin typeface="Courier New" pitchFamily="34" charset="0"/>
                <a:ea typeface="Courier New" pitchFamily="34" charset="-122"/>
                <a:cs typeface="Courier New" pitchFamily="34" charset="-120"/>
              </a:rPr>
              <a:t>  {  </a:t>
            </a:r>
            <a:endParaRPr lang="en-US" sz="1800" dirty="0"/>
          </a:p>
          <a:p>
            <a:pPr algn="l" indent="0" marL="0">
              <a:lnSpc>
                <a:spcPct val="136098"/>
              </a:lnSpc>
              <a:buNone/>
            </a:pPr>
            <a:r>
              <a:rPr lang="en-US" sz="1800" dirty="0">
                <a:solidFill>
                  <a:srgbClr val="B897F0"/>
                </a:solidFill>
                <a:latin typeface="Courier New" pitchFamily="34" charset="0"/>
                <a:ea typeface="Courier New" pitchFamily="34" charset="-122"/>
                <a:cs typeface="Courier New" pitchFamily="34" charset="-120"/>
              </a:rPr>
              <a:t>$set</a:t>
            </a:r>
            <a:pPr algn="l" indent="0" marL="0">
              <a:lnSpc>
                <a:spcPct val="136098"/>
              </a:lnSpc>
              <a:buNone/>
            </a:pPr>
            <a:r>
              <a:rPr lang="en-US" sz="1800" dirty="0">
                <a:solidFill>
                  <a:srgbClr val="CDD7E3"/>
                </a:solidFill>
                <a:latin typeface="Courier New" pitchFamily="34" charset="0"/>
                <a:ea typeface="Courier New" pitchFamily="34" charset="-122"/>
                <a:cs typeface="Courier New" pitchFamily="34" charset="-120"/>
              </a:rPr>
              <a:t>: { city: </a:t>
            </a:r>
            <a:pPr algn="l" indent="0" marL="0">
              <a:lnSpc>
                <a:spcPct val="136098"/>
              </a:lnSpc>
              <a:buNone/>
            </a:pPr>
            <a:r>
              <a:rPr lang="en-US" sz="1800" dirty="0">
                <a:solidFill>
                  <a:srgbClr val="FFB46E"/>
                </a:solidFill>
                <a:latin typeface="Courier New" pitchFamily="34" charset="0"/>
                <a:ea typeface="Courier New" pitchFamily="34" charset="-122"/>
                <a:cs typeface="Courier New" pitchFamily="34" charset="-120"/>
              </a:rPr>
              <a:t>"Saint-Louis" </a:t>
            </a:r>
            <a:pPr algn="l" indent="0" marL="0">
              <a:lnSpc>
                <a:spcPct val="136098"/>
              </a:lnSpc>
              <a:buNone/>
            </a:pPr>
            <a:r>
              <a:rPr lang="en-US" sz="1800" dirty="0">
                <a:solidFill>
                  <a:srgbClr val="CDD7E3"/>
                </a:solidFill>
                <a:latin typeface="Courier New" pitchFamily="34" charset="0"/>
                <a:ea typeface="Courier New" pitchFamily="34" charset="-122"/>
                <a:cs typeface="Courier New" pitchFamily="34" charset="-120"/>
              </a:rPr>
              <a:t> },</a:t>
            </a:r>
            <a:endParaRPr lang="en-US" sz="1800" dirty="0"/>
          </a:p>
          <a:p>
            <a:pPr algn="l" indent="0" marL="0">
              <a:lnSpc>
                <a:spcPct val="136098"/>
              </a:lnSpc>
              <a:buNone/>
            </a:pPr>
            <a:r>
              <a:rPr lang="en-US" sz="1800" dirty="0">
                <a:solidFill>
                  <a:srgbClr val="CDD7E3"/>
                </a:solidFill>
                <a:latin typeface="Courier New" pitchFamily="34" charset="0"/>
                <a:ea typeface="Courier New" pitchFamily="34" charset="-122"/>
                <a:cs typeface="Courier New" pitchFamily="34" charset="-120"/>
              </a:rPr>
              <a:t>     </a:t>
            </a:r>
            <a:endParaRPr lang="en-US" sz="1800" dirty="0"/>
          </a:p>
          <a:p>
            <a:pPr algn="l" indent="0" marL="0">
              <a:lnSpc>
                <a:spcPct val="136098"/>
              </a:lnSpc>
              <a:buNone/>
            </a:pPr>
            <a:r>
              <a:rPr lang="en-US" sz="1800" dirty="0">
                <a:solidFill>
                  <a:srgbClr val="B897F0"/>
                </a:solidFill>
                <a:latin typeface="Courier New" pitchFamily="34" charset="0"/>
                <a:ea typeface="Courier New" pitchFamily="34" charset="-122"/>
                <a:cs typeface="Courier New" pitchFamily="34" charset="-120"/>
              </a:rPr>
              <a:t>$inc</a:t>
            </a:r>
            <a:pPr algn="l" indent="0" marL="0">
              <a:lnSpc>
                <a:spcPct val="136098"/>
              </a:lnSpc>
              <a:buNone/>
            </a:pPr>
            <a:r>
              <a:rPr lang="en-US" sz="1800" dirty="0">
                <a:solidFill>
                  <a:srgbClr val="CDD7E3"/>
                </a:solidFill>
                <a:latin typeface="Courier New" pitchFamily="34" charset="0"/>
                <a:ea typeface="Courier New" pitchFamily="34" charset="-122"/>
                <a:cs typeface="Courier New" pitchFamily="34" charset="-120"/>
              </a:rPr>
              <a:t>: { age: </a:t>
            </a:r>
            <a:pPr algn="l" indent="0" marL="0">
              <a:lnSpc>
                <a:spcPct val="136098"/>
              </a:lnSpc>
              <a:buNone/>
            </a:pPr>
            <a:r>
              <a:rPr lang="en-US" sz="1800" dirty="0">
                <a:solidFill>
                  <a:srgbClr val="E6C07B"/>
                </a:solidFill>
                <a:latin typeface="Courier New" pitchFamily="34" charset="0"/>
                <a:ea typeface="Courier New" pitchFamily="34" charset="-122"/>
                <a:cs typeface="Courier New" pitchFamily="34" charset="-120"/>
              </a:rPr>
              <a:t>1 </a:t>
            </a:r>
            <a:pPr algn="l" indent="0" marL="0">
              <a:lnSpc>
                <a:spcPct val="136098"/>
              </a:lnSpc>
              <a:buNone/>
            </a:pPr>
            <a:r>
              <a:rPr lang="en-US" sz="1800" dirty="0">
                <a:solidFill>
                  <a:srgbClr val="CDD7E3"/>
                </a:solidFill>
                <a:latin typeface="Courier New" pitchFamily="34" charset="0"/>
                <a:ea typeface="Courier New" pitchFamily="34" charset="-122"/>
                <a:cs typeface="Courier New" pitchFamily="34" charset="-120"/>
              </a:rPr>
              <a:t> },</a:t>
            </a:r>
            <a:endParaRPr lang="en-US" sz="1800" dirty="0"/>
          </a:p>
          <a:p>
            <a:pPr algn="l" indent="0" marL="0">
              <a:lnSpc>
                <a:spcPct val="136098"/>
              </a:lnSpc>
              <a:buNone/>
            </a:pPr>
            <a:r>
              <a:rPr lang="en-US" sz="1800" dirty="0">
                <a:solidFill>
                  <a:srgbClr val="CDD7E3"/>
                </a:solidFill>
                <a:latin typeface="Courier New" pitchFamily="34" charset="0"/>
                <a:ea typeface="Courier New" pitchFamily="34" charset="-122"/>
                <a:cs typeface="Courier New" pitchFamily="34" charset="-120"/>
              </a:rPr>
              <a:t>     </a:t>
            </a:r>
            <a:endParaRPr lang="en-US" sz="1800" dirty="0"/>
          </a:p>
          <a:p>
            <a:pPr algn="l" indent="0" marL="0">
              <a:lnSpc>
                <a:spcPct val="136098"/>
              </a:lnSpc>
              <a:buNone/>
            </a:pPr>
            <a:r>
              <a:rPr lang="en-US" sz="1800" dirty="0">
                <a:solidFill>
                  <a:srgbClr val="B897F0"/>
                </a:solidFill>
                <a:latin typeface="Courier New" pitchFamily="34" charset="0"/>
                <a:ea typeface="Courier New" pitchFamily="34" charset="-122"/>
                <a:cs typeface="Courier New" pitchFamily="34" charset="-120"/>
              </a:rPr>
              <a:t>$push</a:t>
            </a:r>
            <a:pPr algn="l" indent="0" marL="0">
              <a:lnSpc>
                <a:spcPct val="136098"/>
              </a:lnSpc>
              <a:buNone/>
            </a:pPr>
            <a:r>
              <a:rPr lang="en-US" sz="1800" dirty="0">
                <a:solidFill>
                  <a:srgbClr val="CDD7E3"/>
                </a:solidFill>
                <a:latin typeface="Courier New" pitchFamily="34" charset="0"/>
                <a:ea typeface="Courier New" pitchFamily="34" charset="-122"/>
                <a:cs typeface="Courier New" pitchFamily="34" charset="-120"/>
              </a:rPr>
              <a:t>: { cours: </a:t>
            </a:r>
            <a:pPr algn="l" indent="0" marL="0">
              <a:lnSpc>
                <a:spcPct val="136098"/>
              </a:lnSpc>
              <a:buNone/>
            </a:pPr>
            <a:r>
              <a:rPr lang="en-US" sz="1800" dirty="0">
                <a:solidFill>
                  <a:srgbClr val="FFB46E"/>
                </a:solidFill>
                <a:latin typeface="Courier New" pitchFamily="34" charset="0"/>
                <a:ea typeface="Courier New" pitchFamily="34" charset="-122"/>
                <a:cs typeface="Courier New" pitchFamily="34" charset="-120"/>
              </a:rPr>
              <a:t>"NoSQL" </a:t>
            </a:r>
            <a:pPr algn="l" indent="0" marL="0">
              <a:lnSpc>
                <a:spcPct val="136098"/>
              </a:lnSpc>
              <a:buNone/>
            </a:pPr>
            <a:r>
              <a:rPr lang="en-US" sz="1800" dirty="0">
                <a:solidFill>
                  <a:srgbClr val="CDD7E3"/>
                </a:solidFill>
                <a:latin typeface="Courier New" pitchFamily="34" charset="0"/>
                <a:ea typeface="Courier New" pitchFamily="34" charset="-122"/>
                <a:cs typeface="Courier New" pitchFamily="34" charset="-120"/>
              </a:rPr>
              <a:t> },</a:t>
            </a:r>
            <a:endParaRPr lang="en-US" sz="1800" dirty="0"/>
          </a:p>
          <a:p>
            <a:pPr algn="l" indent="0" marL="0">
              <a:lnSpc>
                <a:spcPct val="136098"/>
              </a:lnSpc>
              <a:buNone/>
            </a:pPr>
            <a:r>
              <a:rPr lang="en-US" sz="1800" dirty="0">
                <a:solidFill>
                  <a:srgbClr val="CDD7E3"/>
                </a:solidFill>
                <a:latin typeface="Courier New" pitchFamily="34" charset="0"/>
                <a:ea typeface="Courier New" pitchFamily="34" charset="-122"/>
                <a:cs typeface="Courier New" pitchFamily="34" charset="-120"/>
              </a:rPr>
              <a:t>     </a:t>
            </a:r>
            <a:endParaRPr lang="en-US" sz="1800" dirty="0"/>
          </a:p>
          <a:p>
            <a:pPr algn="l" indent="0" marL="0">
              <a:lnSpc>
                <a:spcPct val="136098"/>
              </a:lnSpc>
              <a:buNone/>
            </a:pPr>
            <a:r>
              <a:rPr lang="en-US" sz="1800" dirty="0">
                <a:solidFill>
                  <a:srgbClr val="B897F0"/>
                </a:solidFill>
                <a:latin typeface="Courier New" pitchFamily="34" charset="0"/>
                <a:ea typeface="Courier New" pitchFamily="34" charset="-122"/>
                <a:cs typeface="Courier New" pitchFamily="34" charset="-120"/>
              </a:rPr>
              <a:t>$rename</a:t>
            </a:r>
            <a:pPr algn="l" indent="0" marL="0">
              <a:lnSpc>
                <a:spcPct val="136098"/>
              </a:lnSpc>
              <a:buNone/>
            </a:pPr>
            <a:r>
              <a:rPr lang="en-US" sz="1800" dirty="0">
                <a:solidFill>
                  <a:srgbClr val="CDD7E3"/>
                </a:solidFill>
                <a:latin typeface="Courier New" pitchFamily="34" charset="0"/>
                <a:ea typeface="Courier New" pitchFamily="34" charset="-122"/>
                <a:cs typeface="Courier New" pitchFamily="34" charset="-120"/>
              </a:rPr>
              <a:t>: { ville: </a:t>
            </a:r>
            <a:pPr algn="l" indent="0" marL="0">
              <a:lnSpc>
                <a:spcPct val="136098"/>
              </a:lnSpc>
              <a:buNone/>
            </a:pPr>
            <a:r>
              <a:rPr lang="en-US" sz="1800" dirty="0">
                <a:solidFill>
                  <a:srgbClr val="FFB46E"/>
                </a:solidFill>
                <a:latin typeface="Courier New" pitchFamily="34" charset="0"/>
                <a:ea typeface="Courier New" pitchFamily="34" charset="-122"/>
                <a:cs typeface="Courier New" pitchFamily="34" charset="-120"/>
              </a:rPr>
              <a:t>"city" </a:t>
            </a:r>
            <a:pPr algn="l" indent="0" marL="0">
              <a:lnSpc>
                <a:spcPct val="136098"/>
              </a:lnSpc>
              <a:buNone/>
            </a:pPr>
            <a:r>
              <a:rPr lang="en-US" sz="1800" dirty="0">
                <a:solidFill>
                  <a:srgbClr val="CDD7E3"/>
                </a:solidFill>
                <a:latin typeface="Courier New" pitchFamily="34" charset="0"/>
                <a:ea typeface="Courier New" pitchFamily="34" charset="-122"/>
                <a:cs typeface="Courier New" pitchFamily="34" charset="-120"/>
              </a:rPr>
              <a:t> } },</a:t>
            </a:r>
            <a:endParaRPr lang="en-US" sz="1800" dirty="0"/>
          </a:p>
          <a:p>
            <a:pPr algn="l" indent="0" marL="0">
              <a:lnSpc>
                <a:spcPct val="136098"/>
              </a:lnSpc>
              <a:buNone/>
            </a:pPr>
            <a:r>
              <a:rPr lang="en-US" sz="1800" dirty="0">
                <a:solidFill>
                  <a:srgbClr val="CDD7E3"/>
                </a:solidFill>
                <a:latin typeface="Courier New" pitchFamily="34" charset="0"/>
                <a:ea typeface="Courier New" pitchFamily="34" charset="-122"/>
                <a:cs typeface="Courier New" pitchFamily="34" charset="-120"/>
              </a:rPr>
              <a:t>  {  </a:t>
            </a:r>
            <a:endParaRPr lang="en-US" sz="1800" dirty="0"/>
          </a:p>
          <a:p>
            <a:pPr algn="l" indent="0" marL="0">
              <a:lnSpc>
                <a:spcPct val="136098"/>
              </a:lnSpc>
              <a:buNone/>
            </a:pPr>
            <a:r>
              <a:rPr lang="en-US" sz="1800" dirty="0">
                <a:solidFill>
                  <a:srgbClr val="B897F0"/>
                </a:solidFill>
                <a:latin typeface="Courier New" pitchFamily="34" charset="0"/>
                <a:ea typeface="Courier New" pitchFamily="34" charset="-122"/>
                <a:cs typeface="Courier New" pitchFamily="34" charset="-120"/>
              </a:rPr>
              <a:t>upsert</a:t>
            </a:r>
            <a:pPr algn="l" indent="0" marL="0">
              <a:lnSpc>
                <a:spcPct val="136098"/>
              </a:lnSpc>
              <a:buNone/>
            </a:pPr>
            <a:r>
              <a:rPr lang="en-US" sz="1800" dirty="0">
                <a:solidFill>
                  <a:srgbClr val="CDD7E3"/>
                </a:solidFill>
                <a:latin typeface="Courier New" pitchFamily="34" charset="0"/>
                <a:ea typeface="Courier New" pitchFamily="34" charset="-122"/>
                <a:cs typeface="Courier New" pitchFamily="34" charset="-120"/>
              </a:rPr>
              <a:t>: </a:t>
            </a:r>
            <a:pPr algn="l" indent="0" marL="0">
              <a:lnSpc>
                <a:spcPct val="136098"/>
              </a:lnSpc>
              <a:buNone/>
            </a:pPr>
            <a:r>
              <a:rPr lang="en-US" sz="1800" dirty="0">
                <a:solidFill>
                  <a:srgbClr val="E6C07B"/>
                </a:solidFill>
                <a:latin typeface="Courier New" pitchFamily="34" charset="0"/>
                <a:ea typeface="Courier New" pitchFamily="34" charset="-122"/>
                <a:cs typeface="Courier New" pitchFamily="34" charset="-120"/>
              </a:rPr>
              <a:t>true </a:t>
            </a:r>
            <a:pPr algn="l" indent="0" marL="0">
              <a:lnSpc>
                <a:spcPct val="136098"/>
              </a:lnSpc>
              <a:buNone/>
            </a:pPr>
            <a:r>
              <a:rPr lang="en-US" sz="1800" dirty="0">
                <a:solidFill>
                  <a:srgbClr val="CDD7E3"/>
                </a:solidFill>
                <a:latin typeface="Courier New" pitchFamily="34" charset="0"/>
                <a:ea typeface="Courier New" pitchFamily="34" charset="-122"/>
                <a:cs typeface="Courier New" pitchFamily="34" charset="-120"/>
              </a:rPr>
              <a:t> }</a:t>
            </a:r>
            <a:endParaRPr lang="en-US" sz="1800" dirty="0"/>
          </a:p>
          <a:p>
            <a:pPr algn="l" indent="0" marL="0">
              <a:lnSpc>
                <a:spcPct val="136098"/>
              </a:lnSpc>
              <a:buNone/>
            </a:pPr>
            <a:r>
              <a:rPr lang="en-US" sz="1800" dirty="0">
                <a:solidFill>
                  <a:srgbClr val="CDD7E3"/>
                </a:solidFill>
                <a:latin typeface="Courier New" pitchFamily="34" charset="0"/>
                <a:ea typeface="Courier New" pitchFamily="34" charset="-122"/>
                <a:cs typeface="Courier New" pitchFamily="34" charset="-120"/>
              </a:rPr>
              <a:t>)</a:t>
            </a:r>
            <a:endParaRPr lang="en-US" sz="1800" dirty="0"/>
          </a:p>
          <a:p>
            <a:pPr algn="l" indent="0" marL="0">
              <a:lnSpc>
                <a:spcPct val="136098"/>
              </a:lnSpc>
              <a:buNone/>
            </a:pPr>
            <a:endParaRPr lang="en-US" sz="1800" dirty="0"/>
          </a:p>
          <a:p>
            <a:pPr algn="l" indent="0" marL="0">
              <a:lnSpc>
                <a:spcPct val="136098"/>
              </a:lnSpc>
              <a:buNone/>
            </a:pPr>
            <a:r>
              <a:rPr lang="en-US" sz="1800" dirty="0">
                <a:solidFill>
                  <a:srgbClr val="CDD7E3"/>
                </a:solidFill>
                <a:latin typeface="Courier New" pitchFamily="34" charset="0"/>
                <a:ea typeface="Courier New" pitchFamily="34" charset="-122"/>
                <a:cs typeface="Courier New" pitchFamily="34" charset="-120"/>
              </a:rPr>
              <a:t>db.students. </a:t>
            </a:r>
            <a:endParaRPr lang="en-US" sz="1800" dirty="0"/>
          </a:p>
          <a:p>
            <a:pPr algn="l" indent="0" marL="0">
              <a:lnSpc>
                <a:spcPct val="136098"/>
              </a:lnSpc>
              <a:buNone/>
            </a:pPr>
            <a:r>
              <a:rPr lang="en-US" sz="1800" dirty="0">
                <a:solidFill>
                  <a:srgbClr val="56DBDB"/>
                </a:solidFill>
                <a:latin typeface="Courier New" pitchFamily="34" charset="0"/>
                <a:ea typeface="Courier New" pitchFamily="34" charset="-122"/>
                <a:cs typeface="Courier New" pitchFamily="34" charset="-120"/>
              </a:rPr>
              <a:t>updateMany </a:t>
            </a:r>
            <a:pPr algn="l" indent="0" marL="0">
              <a:lnSpc>
                <a:spcPct val="136098"/>
              </a:lnSpc>
              <a:buNone/>
            </a:pPr>
            <a:r>
              <a:rPr lang="en-US" sz="1800" dirty="0">
                <a:solidFill>
                  <a:srgbClr val="CDD7E3"/>
                </a:solidFill>
                <a:latin typeface="Courier New" pitchFamily="34" charset="0"/>
                <a:ea typeface="Courier New" pitchFamily="34" charset="-122"/>
                <a:cs typeface="Courier New" pitchFamily="34" charset="-120"/>
              </a:rPr>
              <a:t>(</a:t>
            </a:r>
            <a:endParaRPr lang="en-US" sz="1800" dirty="0"/>
          </a:p>
          <a:p>
            <a:pPr algn="l" indent="0" marL="0">
              <a:lnSpc>
                <a:spcPct val="136098"/>
              </a:lnSpc>
              <a:buNone/>
            </a:pPr>
            <a:r>
              <a:rPr lang="en-US" sz="1800" dirty="0">
                <a:solidFill>
                  <a:srgbClr val="CDD7E3"/>
                </a:solidFill>
                <a:latin typeface="Courier New" pitchFamily="34" charset="0"/>
                <a:ea typeface="Courier New" pitchFamily="34" charset="-122"/>
                <a:cs typeface="Courier New" pitchFamily="34" charset="-120"/>
              </a:rPr>
              <a:t>  { city:  </a:t>
            </a:r>
            <a:endParaRPr lang="en-US" sz="1800" dirty="0"/>
          </a:p>
          <a:p>
            <a:pPr algn="l" indent="0" marL="0">
              <a:lnSpc>
                <a:spcPct val="136098"/>
              </a:lnSpc>
              <a:buNone/>
            </a:pPr>
            <a:r>
              <a:rPr lang="en-US" sz="1800" dirty="0">
                <a:solidFill>
                  <a:srgbClr val="FFB46E"/>
                </a:solidFill>
                <a:latin typeface="Courier New" pitchFamily="34" charset="0"/>
                <a:ea typeface="Courier New" pitchFamily="34" charset="-122"/>
                <a:cs typeface="Courier New" pitchFamily="34" charset="-120"/>
              </a:rPr>
              <a:t>"Thiès" </a:t>
            </a:r>
            <a:pPr algn="l" indent="0" marL="0">
              <a:lnSpc>
                <a:spcPct val="136098"/>
              </a:lnSpc>
              <a:buNone/>
            </a:pPr>
            <a:r>
              <a:rPr lang="en-US" sz="1800" dirty="0">
                <a:solidFill>
                  <a:srgbClr val="CDD7E3"/>
                </a:solidFill>
                <a:latin typeface="Courier New" pitchFamily="34" charset="0"/>
                <a:ea typeface="Courier New" pitchFamily="34" charset="-122"/>
                <a:cs typeface="Courier New" pitchFamily="34" charset="-120"/>
              </a:rPr>
              <a:t> },</a:t>
            </a:r>
            <a:endParaRPr lang="en-US" sz="1800" dirty="0"/>
          </a:p>
          <a:p>
            <a:pPr algn="l" indent="0" marL="0">
              <a:lnSpc>
                <a:spcPct val="136098"/>
              </a:lnSpc>
              <a:buNone/>
            </a:pPr>
            <a:r>
              <a:rPr lang="en-US" sz="1800" dirty="0">
                <a:solidFill>
                  <a:srgbClr val="CDD7E3"/>
                </a:solidFill>
                <a:latin typeface="Courier New" pitchFamily="34" charset="0"/>
                <a:ea typeface="Courier New" pitchFamily="34" charset="-122"/>
                <a:cs typeface="Courier New" pitchFamily="34" charset="-120"/>
              </a:rPr>
              <a:t>  {  </a:t>
            </a:r>
            <a:endParaRPr lang="en-US" sz="1800" dirty="0"/>
          </a:p>
          <a:p>
            <a:pPr algn="l" indent="0" marL="0">
              <a:lnSpc>
                <a:spcPct val="136098"/>
              </a:lnSpc>
              <a:buNone/>
            </a:pPr>
            <a:r>
              <a:rPr lang="en-US" sz="1800" dirty="0">
                <a:solidFill>
                  <a:srgbClr val="B897F0"/>
                </a:solidFill>
                <a:latin typeface="Courier New" pitchFamily="34" charset="0"/>
                <a:ea typeface="Courier New" pitchFamily="34" charset="-122"/>
                <a:cs typeface="Courier New" pitchFamily="34" charset="-120"/>
              </a:rPr>
              <a:t>$pull</a:t>
            </a:r>
            <a:pPr algn="l" indent="0" marL="0">
              <a:lnSpc>
                <a:spcPct val="136098"/>
              </a:lnSpc>
              <a:buNone/>
            </a:pPr>
            <a:r>
              <a:rPr lang="en-US" sz="1800" dirty="0">
                <a:solidFill>
                  <a:srgbClr val="CDD7E3"/>
                </a:solidFill>
                <a:latin typeface="Courier New" pitchFamily="34" charset="0"/>
                <a:ea typeface="Courier New" pitchFamily="34" charset="-122"/>
                <a:cs typeface="Courier New" pitchFamily="34" charset="-120"/>
              </a:rPr>
              <a:t>: { cours: </a:t>
            </a:r>
            <a:pPr algn="l" indent="0" marL="0">
              <a:lnSpc>
                <a:spcPct val="136098"/>
              </a:lnSpc>
              <a:buNone/>
            </a:pPr>
            <a:r>
              <a:rPr lang="en-US" sz="1800" dirty="0">
                <a:solidFill>
                  <a:srgbClr val="FFB46E"/>
                </a:solidFill>
                <a:latin typeface="Courier New" pitchFamily="34" charset="0"/>
                <a:ea typeface="Courier New" pitchFamily="34" charset="-122"/>
                <a:cs typeface="Courier New" pitchFamily="34" charset="-120"/>
              </a:rPr>
              <a:t>"SQL" </a:t>
            </a:r>
            <a:pPr algn="l" indent="0" marL="0">
              <a:lnSpc>
                <a:spcPct val="136098"/>
              </a:lnSpc>
              <a:buNone/>
            </a:pPr>
            <a:r>
              <a:rPr lang="en-US" sz="1800" dirty="0">
                <a:solidFill>
                  <a:srgbClr val="CDD7E3"/>
                </a:solidFill>
                <a:latin typeface="Courier New" pitchFamily="34" charset="0"/>
                <a:ea typeface="Courier New" pitchFamily="34" charset="-122"/>
                <a:cs typeface="Courier New" pitchFamily="34" charset="-120"/>
              </a:rPr>
              <a:t> } }</a:t>
            </a:r>
            <a:endParaRPr lang="en-US" sz="1800" dirty="0"/>
          </a:p>
          <a:p>
            <a:pPr algn="l" indent="0" marL="0">
              <a:lnSpc>
                <a:spcPct val="136098"/>
              </a:lnSpc>
              <a:buNone/>
            </a:pPr>
            <a:r>
              <a:rPr lang="en-US" sz="1800" dirty="0">
                <a:solidFill>
                  <a:srgbClr val="CDD7E3"/>
                </a:solidFill>
                <a:latin typeface="Courier New" pitchFamily="34" charset="0"/>
                <a:ea typeface="Courier New" pitchFamily="34" charset="-122"/>
                <a:cs typeface="Courier New" pitchFamily="34" charset="-120"/>
              </a:rPr>
              <a:t>)</a:t>
            </a:r>
            <a:endParaRPr lang="en-US" sz="1800" dirty="0"/>
          </a:p>
        </p:txBody>
      </p:sp>
      <p:sp>
        <p:nvSpPr>
          <p:cNvPr id="8" name="Shape 6"/>
          <p:cNvSpPr/>
          <p:nvPr/>
        </p:nvSpPr>
        <p:spPr>
          <a:xfrm>
            <a:off x="10013950" y="2274359"/>
            <a:ext cx="7207250" cy="3280172"/>
          </a:xfrm>
          <a:prstGeom prst="roundRect">
            <a:avLst>
              <a:gd name="adj" fmla="val 4646"/>
            </a:avLst>
          </a:prstGeom>
          <a:solidFill>
            <a:srgbClr val="06090E">
              <a:alpha val="99000"/>
            </a:srgbClr>
          </a:solidFill>
          <a:ln w="6350">
            <a:solidFill>
              <a:srgbClr val="FFFFFF">
                <a:alpha val="10000"/>
              </a:srgbClr>
            </a:solidFill>
            <a:prstDash val="solid"/>
          </a:ln>
        </p:spPr>
      </p:sp>
      <p:sp>
        <p:nvSpPr>
          <p:cNvPr id="9" name="Shape 7"/>
          <p:cNvSpPr/>
          <p:nvPr/>
        </p:nvSpPr>
        <p:spPr>
          <a:xfrm>
            <a:off x="10020300" y="2890309"/>
            <a:ext cx="7194550" cy="9525"/>
          </a:xfrm>
          <a:prstGeom prst="rect">
            <a:avLst/>
          </a:prstGeom>
          <a:solidFill>
            <a:srgbClr val="FFFFFF">
              <a:alpha val="6000"/>
            </a:srgbClr>
          </a:solidFill>
          <a:ln/>
        </p:spPr>
      </p:sp>
      <p:sp>
        <p:nvSpPr>
          <p:cNvPr id="10" name="Text 8"/>
          <p:cNvSpPr/>
          <p:nvPr/>
        </p:nvSpPr>
        <p:spPr>
          <a:xfrm>
            <a:off x="10248900" y="2433109"/>
            <a:ext cx="6953187"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alpha val="99000"/>
                  </a:srgbClr>
                </a:solidFill>
                <a:latin typeface="Courier New" pitchFamily="34" charset="0"/>
                <a:ea typeface="Courier New" pitchFamily="34" charset="-122"/>
                <a:cs typeface="Courier New" pitchFamily="34" charset="-120"/>
              </a:rPr>
              <a:t>Delete</a:t>
            </a:r>
            <a:endParaRPr lang="en-US" sz="1800" dirty="0"/>
          </a:p>
        </p:txBody>
      </p:sp>
      <p:sp>
        <p:nvSpPr>
          <p:cNvPr id="11" name="Text 9"/>
          <p:cNvSpPr/>
          <p:nvPr/>
        </p:nvSpPr>
        <p:spPr>
          <a:xfrm>
            <a:off x="10287000" y="3125259"/>
            <a:ext cx="6876987" cy="2232422"/>
          </a:xfrm>
          <a:prstGeom prst="rect">
            <a:avLst/>
          </a:prstGeom>
          <a:noFill/>
          <a:ln/>
        </p:spPr>
        <p:txBody>
          <a:bodyPr wrap="none" lIns="25400" tIns="25400" rIns="25400" bIns="25400" rtlCol="0" anchor="t">
            <a:normAutofit/>
          </a:bodyPr>
          <a:lstStyle/>
          <a:p>
            <a:pPr algn="l" indent="0" marL="0">
              <a:lnSpc>
                <a:spcPct val="140488"/>
              </a:lnSpc>
              <a:buNone/>
            </a:pPr>
            <a:r>
              <a:rPr lang="en-US" sz="1800" dirty="0">
                <a:solidFill>
                  <a:srgbClr val="CDD7E3">
                    <a:alpha val="99000"/>
                  </a:srgbClr>
                </a:solidFill>
                <a:latin typeface="Courier New" pitchFamily="34" charset="0"/>
                <a:ea typeface="Courier New" pitchFamily="34" charset="-122"/>
                <a:cs typeface="Courier New" pitchFamily="34" charset="-120"/>
              </a:rPr>
              <a:t>db.students.</a:t>
            </a:r>
            <a:pPr algn="l" indent="0" marL="0">
              <a:lnSpc>
                <a:spcPct val="140488"/>
              </a:lnSpc>
              <a:buNone/>
            </a:pPr>
            <a:r>
              <a:rPr lang="en-US" sz="1800" dirty="0">
                <a:solidFill>
                  <a:srgbClr val="56DBDB">
                    <a:alpha val="99000"/>
                  </a:srgbClr>
                </a:solidFill>
                <a:latin typeface="Courier New" pitchFamily="34" charset="0"/>
                <a:ea typeface="Courier New" pitchFamily="34" charset="-122"/>
                <a:cs typeface="Courier New" pitchFamily="34" charset="-120"/>
              </a:rPr>
              <a:t>deleteOne </a:t>
            </a:r>
            <a:pPr algn="l" indent="0" marL="0">
              <a:lnSpc>
                <a:spcPct val="140488"/>
              </a:lnSpc>
              <a:buNone/>
            </a:pPr>
            <a:r>
              <a:rPr lang="en-US" sz="1800" dirty="0">
                <a:solidFill>
                  <a:srgbClr val="CDD7E3">
                    <a:alpha val="99000"/>
                  </a:srgbClr>
                </a:solidFill>
                <a:latin typeface="Courier New" pitchFamily="34" charset="0"/>
                <a:ea typeface="Courier New" pitchFamily="34" charset="-122"/>
                <a:cs typeface="Courier New" pitchFamily="34" charset="-120"/>
              </a:rPr>
              <a:t>(</a:t>
            </a:r>
            <a:endParaRPr lang="en-US" sz="1800" dirty="0"/>
          </a:p>
          <a:p>
            <a:pPr algn="l" indent="0" marL="0">
              <a:lnSpc>
                <a:spcPct val="140488"/>
              </a:lnSpc>
              <a:buNone/>
            </a:pPr>
            <a:r>
              <a:rPr lang="en-US" sz="1800" dirty="0">
                <a:solidFill>
                  <a:srgbClr val="CDD7E3">
                    <a:alpha val="99000"/>
                  </a:srgbClr>
                </a:solidFill>
                <a:latin typeface="Courier New" pitchFamily="34" charset="0"/>
                <a:ea typeface="Courier New" pitchFamily="34" charset="-122"/>
                <a:cs typeface="Courier New" pitchFamily="34" charset="-120"/>
              </a:rPr>
              <a:t>  { name:  </a:t>
            </a:r>
            <a:endParaRPr lang="en-US" sz="1800" dirty="0"/>
          </a:p>
          <a:p>
            <a:pPr algn="l" indent="0" marL="0">
              <a:lnSpc>
                <a:spcPct val="140488"/>
              </a:lnSpc>
              <a:buNone/>
            </a:pPr>
            <a:r>
              <a:rPr lang="en-US" sz="1800" dirty="0">
                <a:solidFill>
                  <a:srgbClr val="FFB46E">
                    <a:alpha val="99000"/>
                  </a:srgbClr>
                </a:solidFill>
                <a:latin typeface="Courier New" pitchFamily="34" charset="0"/>
                <a:ea typeface="Courier New" pitchFamily="34" charset="-122"/>
                <a:cs typeface="Courier New" pitchFamily="34" charset="-120"/>
              </a:rPr>
              <a:t>"Fatou" </a:t>
            </a:r>
            <a:pPr algn="l" indent="0" marL="0">
              <a:lnSpc>
                <a:spcPct val="140488"/>
              </a:lnSpc>
              <a:buNone/>
            </a:pPr>
            <a:r>
              <a:rPr lang="en-US" sz="1800" dirty="0">
                <a:solidFill>
                  <a:srgbClr val="CDD7E3">
                    <a:alpha val="99000"/>
                  </a:srgbClr>
                </a:solidFill>
                <a:latin typeface="Courier New" pitchFamily="34" charset="0"/>
                <a:ea typeface="Courier New" pitchFamily="34" charset="-122"/>
                <a:cs typeface="Courier New" pitchFamily="34" charset="-120"/>
              </a:rPr>
              <a:t> }</a:t>
            </a:r>
            <a:endParaRPr lang="en-US" sz="1800" dirty="0"/>
          </a:p>
          <a:p>
            <a:pPr algn="l" indent="0" marL="0">
              <a:lnSpc>
                <a:spcPct val="140488"/>
              </a:lnSpc>
              <a:buNone/>
            </a:pPr>
            <a:r>
              <a:rPr lang="en-US" sz="1800" dirty="0">
                <a:solidFill>
                  <a:srgbClr val="CDD7E3">
                    <a:alpha val="99000"/>
                  </a:srgbClr>
                </a:solidFill>
                <a:latin typeface="Courier New" pitchFamily="34" charset="0"/>
                <a:ea typeface="Courier New" pitchFamily="34" charset="-122"/>
                <a:cs typeface="Courier New" pitchFamily="34" charset="-120"/>
              </a:rPr>
              <a:t>)</a:t>
            </a:r>
            <a:endParaRPr lang="en-US" sz="1800" dirty="0"/>
          </a:p>
          <a:p>
            <a:pPr algn="l" indent="0" marL="0">
              <a:lnSpc>
                <a:spcPct val="140488"/>
              </a:lnSpc>
              <a:buNone/>
            </a:pPr>
            <a:r>
              <a:rPr lang="en-US" sz="1800" dirty="0">
                <a:solidFill>
                  <a:srgbClr val="CDD7E3">
                    <a:alpha val="99000"/>
                  </a:srgbClr>
                </a:solidFill>
                <a:latin typeface="Courier New" pitchFamily="34" charset="0"/>
                <a:ea typeface="Courier New" pitchFamily="34" charset="-122"/>
                <a:cs typeface="Courier New" pitchFamily="34" charset="-120"/>
              </a:rPr>
              <a:t>db.students. </a:t>
            </a:r>
            <a:endParaRPr lang="en-US" sz="1800" dirty="0"/>
          </a:p>
          <a:p>
            <a:pPr algn="l" indent="0" marL="0">
              <a:lnSpc>
                <a:spcPct val="140488"/>
              </a:lnSpc>
              <a:buNone/>
            </a:pPr>
            <a:r>
              <a:rPr lang="en-US" sz="1800" dirty="0">
                <a:solidFill>
                  <a:srgbClr val="56DBDB">
                    <a:alpha val="99000"/>
                  </a:srgbClr>
                </a:solidFill>
                <a:latin typeface="Courier New" pitchFamily="34" charset="0"/>
                <a:ea typeface="Courier New" pitchFamily="34" charset="-122"/>
                <a:cs typeface="Courier New" pitchFamily="34" charset="-120"/>
              </a:rPr>
              <a:t>deleteMany </a:t>
            </a:r>
            <a:pPr algn="l" indent="0" marL="0">
              <a:lnSpc>
                <a:spcPct val="140488"/>
              </a:lnSpc>
              <a:buNone/>
            </a:pPr>
            <a:r>
              <a:rPr lang="en-US" sz="1800" dirty="0">
                <a:solidFill>
                  <a:srgbClr val="CDD7E3">
                    <a:alpha val="99000"/>
                  </a:srgbClr>
                </a:solidFill>
                <a:latin typeface="Courier New" pitchFamily="34" charset="0"/>
                <a:ea typeface="Courier New" pitchFamily="34" charset="-122"/>
                <a:cs typeface="Courier New" pitchFamily="34" charset="-120"/>
              </a:rPr>
              <a:t>(</a:t>
            </a:r>
            <a:endParaRPr lang="en-US" sz="1800" dirty="0"/>
          </a:p>
          <a:p>
            <a:pPr algn="l" indent="0" marL="0">
              <a:lnSpc>
                <a:spcPct val="140488"/>
              </a:lnSpc>
              <a:buNone/>
            </a:pPr>
            <a:r>
              <a:rPr lang="en-US" sz="1800" dirty="0">
                <a:solidFill>
                  <a:srgbClr val="CDD7E3">
                    <a:alpha val="99000"/>
                  </a:srgbClr>
                </a:solidFill>
                <a:latin typeface="Courier New" pitchFamily="34" charset="0"/>
                <a:ea typeface="Courier New" pitchFamily="34" charset="-122"/>
                <a:cs typeface="Courier New" pitchFamily="34" charset="-120"/>
              </a:rPr>
              <a:t>  { city: {  </a:t>
            </a:r>
            <a:endParaRPr lang="en-US" sz="1800" dirty="0"/>
          </a:p>
          <a:p>
            <a:pPr algn="l" indent="0" marL="0">
              <a:lnSpc>
                <a:spcPct val="140488"/>
              </a:lnSpc>
              <a:buNone/>
            </a:pPr>
            <a:r>
              <a:rPr lang="en-US" sz="1800" dirty="0">
                <a:solidFill>
                  <a:srgbClr val="B897F0">
                    <a:alpha val="99000"/>
                  </a:srgbClr>
                </a:solidFill>
                <a:latin typeface="Courier New" pitchFamily="34" charset="0"/>
                <a:ea typeface="Courier New" pitchFamily="34" charset="-122"/>
                <a:cs typeface="Courier New" pitchFamily="34" charset="-120"/>
              </a:rPr>
              <a:t>$exists</a:t>
            </a:r>
            <a:pPr algn="l" indent="0" marL="0">
              <a:lnSpc>
                <a:spcPct val="140488"/>
              </a:lnSpc>
              <a:buNone/>
            </a:pPr>
            <a:r>
              <a:rPr lang="en-US" sz="1800" dirty="0">
                <a:solidFill>
                  <a:srgbClr val="CDD7E3">
                    <a:alpha val="99000"/>
                  </a:srgbClr>
                </a:solidFill>
                <a:latin typeface="Courier New" pitchFamily="34" charset="0"/>
                <a:ea typeface="Courier New" pitchFamily="34" charset="-122"/>
                <a:cs typeface="Courier New" pitchFamily="34" charset="-120"/>
              </a:rPr>
              <a:t>: </a:t>
            </a:r>
            <a:pPr algn="l" indent="0" marL="0">
              <a:lnSpc>
                <a:spcPct val="140488"/>
              </a:lnSpc>
              <a:buNone/>
            </a:pPr>
            <a:r>
              <a:rPr lang="en-US" sz="1800" dirty="0">
                <a:solidFill>
                  <a:srgbClr val="E6C07B">
                    <a:alpha val="99000"/>
                  </a:srgbClr>
                </a:solidFill>
                <a:latin typeface="Courier New" pitchFamily="34" charset="0"/>
                <a:ea typeface="Courier New" pitchFamily="34" charset="-122"/>
                <a:cs typeface="Courier New" pitchFamily="34" charset="-120"/>
              </a:rPr>
              <a:t>false </a:t>
            </a:r>
            <a:pPr algn="l" indent="0" marL="0">
              <a:lnSpc>
                <a:spcPct val="140488"/>
              </a:lnSpc>
              <a:buNone/>
            </a:pPr>
            <a:r>
              <a:rPr lang="en-US" sz="1800" dirty="0">
                <a:solidFill>
                  <a:srgbClr val="CDD7E3">
                    <a:alpha val="99000"/>
                  </a:srgbClr>
                </a:solidFill>
                <a:latin typeface="Courier New" pitchFamily="34" charset="0"/>
                <a:ea typeface="Courier New" pitchFamily="34" charset="-122"/>
                <a:cs typeface="Courier New" pitchFamily="34" charset="-120"/>
              </a:rPr>
              <a:t> } }</a:t>
            </a:r>
            <a:endParaRPr lang="en-US" sz="1800" dirty="0"/>
          </a:p>
          <a:p>
            <a:pPr algn="l" indent="0" marL="0">
              <a:lnSpc>
                <a:spcPct val="140488"/>
              </a:lnSpc>
              <a:buNone/>
            </a:pPr>
            <a:r>
              <a:rPr lang="en-US" sz="1800" dirty="0">
                <a:solidFill>
                  <a:srgbClr val="CDD7E3">
                    <a:alpha val="99000"/>
                  </a:srgbClr>
                </a:solidFill>
                <a:latin typeface="Courier New" pitchFamily="34" charset="0"/>
                <a:ea typeface="Courier New" pitchFamily="34" charset="-122"/>
                <a:cs typeface="Courier New" pitchFamily="34" charset="-120"/>
              </a:rPr>
              <a:t>)</a:t>
            </a:r>
            <a:endParaRPr lang="en-US" sz="1800" dirty="0"/>
          </a:p>
        </p:txBody>
      </p:sp>
      <p:sp>
        <p:nvSpPr>
          <p:cNvPr id="12" name="Shape 10"/>
          <p:cNvSpPr/>
          <p:nvPr/>
        </p:nvSpPr>
        <p:spPr>
          <a:xfrm>
            <a:off x="10013950" y="5745031"/>
            <a:ext cx="1963539" cy="469900"/>
          </a:xfrm>
          <a:prstGeom prst="roundRect">
            <a:avLst>
              <a:gd name="adj" fmla="val 16216"/>
            </a:avLst>
          </a:prstGeom>
          <a:solidFill>
            <a:srgbClr val="FFFFFF">
              <a:alpha val="6000"/>
            </a:srgbClr>
          </a:solidFill>
          <a:ln w="6350">
            <a:solidFill>
              <a:srgbClr val="FFFFFF">
                <a:alpha val="10000"/>
              </a:srgbClr>
            </a:solidFill>
            <a:prstDash val="solid"/>
          </a:ln>
        </p:spPr>
      </p:sp>
      <p:sp>
        <p:nvSpPr>
          <p:cNvPr id="13" name="Text 11"/>
          <p:cNvSpPr/>
          <p:nvPr/>
        </p:nvSpPr>
        <p:spPr>
          <a:xfrm>
            <a:off x="10172700" y="5827581"/>
            <a:ext cx="172223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B897F0">
                    <a:alpha val="99000"/>
                  </a:srgbClr>
                </a:solidFill>
                <a:latin typeface="Courier New" pitchFamily="34" charset="0"/>
                <a:ea typeface="Courier New" pitchFamily="34" charset="-122"/>
                <a:cs typeface="Courier New" pitchFamily="34" charset="-120"/>
              </a:rPr>
              <a:t>$set </a:t>
            </a:r>
            <a:pPr algn="l" indent="0" marL="0">
              <a:buNone/>
            </a:pPr>
            <a:r>
              <a:rPr lang="en-US" sz="1800" dirty="0">
                <a:solidFill>
                  <a:srgbClr val="EEF3F9">
                    <a:alpha val="99000"/>
                  </a:srgbClr>
                </a:solidFill>
                <a:highlight>
                  <a:srgbClr val="FDFDFD"/>
                </a:highlight>
                <a:latin typeface="Courier New" pitchFamily="34" charset="0"/>
                <a:ea typeface="Courier New" pitchFamily="34" charset="-122"/>
                <a:cs typeface="Courier New" pitchFamily="34" charset="-120"/>
              </a:rPr>
              <a:t>modifie</a:t>
            </a:r>
            <a:endParaRPr lang="en-US" sz="1800" dirty="0"/>
          </a:p>
        </p:txBody>
      </p:sp>
      <p:sp>
        <p:nvSpPr>
          <p:cNvPr id="14" name="Shape 12"/>
          <p:cNvSpPr/>
          <p:nvPr/>
        </p:nvSpPr>
        <p:spPr>
          <a:xfrm>
            <a:off x="12091790" y="5745031"/>
            <a:ext cx="2374999" cy="469900"/>
          </a:xfrm>
          <a:prstGeom prst="roundRect">
            <a:avLst>
              <a:gd name="adj" fmla="val 16216"/>
            </a:avLst>
          </a:prstGeom>
          <a:solidFill>
            <a:srgbClr val="FFFFFF">
              <a:alpha val="6000"/>
            </a:srgbClr>
          </a:solidFill>
          <a:ln w="6350">
            <a:solidFill>
              <a:srgbClr val="FFFFFF">
                <a:alpha val="10000"/>
              </a:srgbClr>
            </a:solidFill>
            <a:prstDash val="solid"/>
          </a:ln>
        </p:spPr>
      </p:sp>
      <p:sp>
        <p:nvSpPr>
          <p:cNvPr id="15" name="Text 13"/>
          <p:cNvSpPr/>
          <p:nvPr/>
        </p:nvSpPr>
        <p:spPr>
          <a:xfrm>
            <a:off x="12250540" y="5827581"/>
            <a:ext cx="213369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B897F0">
                    <a:alpha val="99000"/>
                  </a:srgbClr>
                </a:solidFill>
                <a:latin typeface="Courier New" pitchFamily="34" charset="0"/>
                <a:ea typeface="Courier New" pitchFamily="34" charset="-122"/>
                <a:cs typeface="Courier New" pitchFamily="34" charset="-120"/>
              </a:rPr>
              <a:t>$inc </a:t>
            </a:r>
            <a:pPr algn="l" indent="0" marL="0">
              <a:buNone/>
            </a:pPr>
            <a:r>
              <a:rPr lang="en-US" sz="1800" dirty="0">
                <a:solidFill>
                  <a:srgbClr val="EEF3F9">
                    <a:alpha val="99000"/>
                  </a:srgbClr>
                </a:solidFill>
                <a:highlight>
                  <a:srgbClr val="FDFDFD"/>
                </a:highlight>
                <a:latin typeface="Courier New" pitchFamily="34" charset="0"/>
                <a:ea typeface="Courier New" pitchFamily="34" charset="-122"/>
                <a:cs typeface="Courier New" pitchFamily="34" charset="-120"/>
              </a:rPr>
              <a:t>incrémente</a:t>
            </a:r>
            <a:endParaRPr lang="en-US" sz="1800" dirty="0"/>
          </a:p>
        </p:txBody>
      </p:sp>
      <p:sp>
        <p:nvSpPr>
          <p:cNvPr id="16" name="Shape 14"/>
          <p:cNvSpPr/>
          <p:nvPr/>
        </p:nvSpPr>
        <p:spPr>
          <a:xfrm>
            <a:off x="14581089" y="5745031"/>
            <a:ext cx="1963440" cy="469900"/>
          </a:xfrm>
          <a:prstGeom prst="roundRect">
            <a:avLst>
              <a:gd name="adj" fmla="val 16216"/>
            </a:avLst>
          </a:prstGeom>
          <a:solidFill>
            <a:srgbClr val="FFFFFF">
              <a:alpha val="6000"/>
            </a:srgbClr>
          </a:solidFill>
          <a:ln w="6350">
            <a:solidFill>
              <a:srgbClr val="FFFFFF">
                <a:alpha val="10000"/>
              </a:srgbClr>
            </a:solidFill>
            <a:prstDash val="solid"/>
          </a:ln>
        </p:spPr>
      </p:sp>
      <p:sp>
        <p:nvSpPr>
          <p:cNvPr id="17" name="Text 15"/>
          <p:cNvSpPr/>
          <p:nvPr/>
        </p:nvSpPr>
        <p:spPr>
          <a:xfrm>
            <a:off x="14739839" y="5827581"/>
            <a:ext cx="172214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B897F0">
                    <a:alpha val="99000"/>
                  </a:srgbClr>
                </a:solidFill>
                <a:latin typeface="Courier New" pitchFamily="34" charset="0"/>
                <a:ea typeface="Courier New" pitchFamily="34" charset="-122"/>
                <a:cs typeface="Courier New" pitchFamily="34" charset="-120"/>
              </a:rPr>
              <a:t>$push </a:t>
            </a:r>
            <a:pPr algn="l" indent="0" marL="0">
              <a:buNone/>
            </a:pPr>
            <a:r>
              <a:rPr lang="en-US" sz="1800" dirty="0">
                <a:solidFill>
                  <a:srgbClr val="EEF3F9">
                    <a:alpha val="99000"/>
                  </a:srgbClr>
                </a:solidFill>
                <a:highlight>
                  <a:srgbClr val="FDFDFD"/>
                </a:highlight>
                <a:latin typeface="Courier New" pitchFamily="34" charset="0"/>
                <a:ea typeface="Courier New" pitchFamily="34" charset="-122"/>
                <a:cs typeface="Courier New" pitchFamily="34" charset="-120"/>
              </a:rPr>
              <a:t>ajoute</a:t>
            </a:r>
            <a:endParaRPr lang="en-US" sz="1800" dirty="0"/>
          </a:p>
        </p:txBody>
      </p:sp>
      <p:sp>
        <p:nvSpPr>
          <p:cNvPr id="18" name="Shape 16"/>
          <p:cNvSpPr/>
          <p:nvPr/>
        </p:nvSpPr>
        <p:spPr>
          <a:xfrm>
            <a:off x="10013950" y="6329231"/>
            <a:ext cx="1963440" cy="469900"/>
          </a:xfrm>
          <a:prstGeom prst="roundRect">
            <a:avLst>
              <a:gd name="adj" fmla="val 16216"/>
            </a:avLst>
          </a:prstGeom>
          <a:solidFill>
            <a:srgbClr val="FFFFFF">
              <a:alpha val="6000"/>
            </a:srgbClr>
          </a:solidFill>
          <a:ln w="6350">
            <a:solidFill>
              <a:srgbClr val="FFFFFF">
                <a:alpha val="10000"/>
              </a:srgbClr>
            </a:solidFill>
            <a:prstDash val="solid"/>
          </a:ln>
        </p:spPr>
      </p:sp>
      <p:sp>
        <p:nvSpPr>
          <p:cNvPr id="19" name="Text 17"/>
          <p:cNvSpPr/>
          <p:nvPr/>
        </p:nvSpPr>
        <p:spPr>
          <a:xfrm>
            <a:off x="10172700" y="6411781"/>
            <a:ext cx="172214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B897F0">
                    <a:alpha val="99000"/>
                  </a:srgbClr>
                </a:solidFill>
                <a:latin typeface="Courier New" pitchFamily="34" charset="0"/>
                <a:ea typeface="Courier New" pitchFamily="34" charset="-122"/>
                <a:cs typeface="Courier New" pitchFamily="34" charset="-120"/>
              </a:rPr>
              <a:t>$pull </a:t>
            </a:r>
            <a:pPr algn="l" indent="0" marL="0">
              <a:buNone/>
            </a:pPr>
            <a:r>
              <a:rPr lang="en-US" sz="1800" dirty="0">
                <a:solidFill>
                  <a:srgbClr val="EEF3F9">
                    <a:alpha val="99000"/>
                  </a:srgbClr>
                </a:solidFill>
                <a:highlight>
                  <a:srgbClr val="FDFDFD"/>
                </a:highlight>
                <a:latin typeface="Courier New" pitchFamily="34" charset="0"/>
                <a:ea typeface="Courier New" pitchFamily="34" charset="-122"/>
                <a:cs typeface="Courier New" pitchFamily="34" charset="-120"/>
              </a:rPr>
              <a:t>retire</a:t>
            </a:r>
            <a:endParaRPr lang="en-US" sz="1800" dirty="0"/>
          </a:p>
        </p:txBody>
      </p:sp>
      <p:sp>
        <p:nvSpPr>
          <p:cNvPr id="20" name="Shape 18"/>
          <p:cNvSpPr/>
          <p:nvPr/>
        </p:nvSpPr>
        <p:spPr>
          <a:xfrm>
            <a:off x="12091690" y="6329231"/>
            <a:ext cx="2374999" cy="469900"/>
          </a:xfrm>
          <a:prstGeom prst="roundRect">
            <a:avLst>
              <a:gd name="adj" fmla="val 16216"/>
            </a:avLst>
          </a:prstGeom>
          <a:solidFill>
            <a:srgbClr val="FFFFFF">
              <a:alpha val="6000"/>
            </a:srgbClr>
          </a:solidFill>
          <a:ln w="6350">
            <a:solidFill>
              <a:srgbClr val="FFFFFF">
                <a:alpha val="10000"/>
              </a:srgbClr>
            </a:solidFill>
            <a:prstDash val="solid"/>
          </a:ln>
        </p:spPr>
      </p:sp>
      <p:sp>
        <p:nvSpPr>
          <p:cNvPr id="21" name="Text 19"/>
          <p:cNvSpPr/>
          <p:nvPr/>
        </p:nvSpPr>
        <p:spPr>
          <a:xfrm>
            <a:off x="12250440" y="6411781"/>
            <a:ext cx="213369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B897F0">
                    <a:alpha val="99000"/>
                  </a:srgbClr>
                </a:solidFill>
                <a:latin typeface="Courier New" pitchFamily="34" charset="0"/>
                <a:ea typeface="Courier New" pitchFamily="34" charset="-122"/>
                <a:cs typeface="Courier New" pitchFamily="34" charset="-120"/>
              </a:rPr>
              <a:t>$unset </a:t>
            </a:r>
            <a:pPr algn="l" indent="0" marL="0">
              <a:buNone/>
            </a:pPr>
            <a:r>
              <a:rPr lang="en-US" sz="1800" dirty="0">
                <a:solidFill>
                  <a:srgbClr val="EEF3F9">
                    <a:alpha val="99000"/>
                  </a:srgbClr>
                </a:solidFill>
                <a:highlight>
                  <a:srgbClr val="FDFDFD"/>
                </a:highlight>
                <a:latin typeface="Courier New" pitchFamily="34" charset="0"/>
                <a:ea typeface="Courier New" pitchFamily="34" charset="-122"/>
                <a:cs typeface="Courier New" pitchFamily="34" charset="-120"/>
              </a:rPr>
              <a:t>supprime</a:t>
            </a:r>
            <a:endParaRPr lang="en-US" sz="1800" dirty="0"/>
          </a:p>
        </p:txBody>
      </p:sp>
      <p:sp>
        <p:nvSpPr>
          <p:cNvPr id="22" name="Shape 20"/>
          <p:cNvSpPr/>
          <p:nvPr/>
        </p:nvSpPr>
        <p:spPr>
          <a:xfrm>
            <a:off x="14580989" y="6329231"/>
            <a:ext cx="2374999" cy="469900"/>
          </a:xfrm>
          <a:prstGeom prst="roundRect">
            <a:avLst>
              <a:gd name="adj" fmla="val 16216"/>
            </a:avLst>
          </a:prstGeom>
          <a:solidFill>
            <a:srgbClr val="FFFFFF">
              <a:alpha val="6000"/>
            </a:srgbClr>
          </a:solidFill>
          <a:ln w="6350">
            <a:solidFill>
              <a:srgbClr val="FFFFFF">
                <a:alpha val="10000"/>
              </a:srgbClr>
            </a:solidFill>
            <a:prstDash val="solid"/>
          </a:ln>
        </p:spPr>
      </p:sp>
      <p:sp>
        <p:nvSpPr>
          <p:cNvPr id="23" name="Text 21"/>
          <p:cNvSpPr/>
          <p:nvPr/>
        </p:nvSpPr>
        <p:spPr>
          <a:xfrm>
            <a:off x="14739739" y="6411781"/>
            <a:ext cx="213369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B897F0">
                    <a:alpha val="99000"/>
                  </a:srgbClr>
                </a:solidFill>
                <a:latin typeface="Courier New" pitchFamily="34" charset="0"/>
                <a:ea typeface="Courier New" pitchFamily="34" charset="-122"/>
                <a:cs typeface="Courier New" pitchFamily="34" charset="-120"/>
              </a:rPr>
              <a:t>$rename </a:t>
            </a:r>
            <a:pPr algn="l" indent="0" marL="0">
              <a:buNone/>
            </a:pPr>
            <a:r>
              <a:rPr lang="en-US" sz="1800" dirty="0">
                <a:solidFill>
                  <a:srgbClr val="EEF3F9">
                    <a:alpha val="99000"/>
                  </a:srgbClr>
                </a:solidFill>
                <a:highlight>
                  <a:srgbClr val="FDFDFD"/>
                </a:highlight>
                <a:latin typeface="Courier New" pitchFamily="34" charset="0"/>
                <a:ea typeface="Courier New" pitchFamily="34" charset="-122"/>
                <a:cs typeface="Courier New" pitchFamily="34" charset="-120"/>
              </a:rPr>
              <a:t>renomme</a:t>
            </a:r>
            <a:endParaRPr lang="en-US" sz="1800" dirty="0"/>
          </a:p>
        </p:txBody>
      </p:sp>
      <p:sp>
        <p:nvSpPr>
          <p:cNvPr id="24" name="Shape 22"/>
          <p:cNvSpPr/>
          <p:nvPr/>
        </p:nvSpPr>
        <p:spPr>
          <a:xfrm>
            <a:off x="10013950" y="6913431"/>
            <a:ext cx="3197920" cy="469900"/>
          </a:xfrm>
          <a:prstGeom prst="roundRect">
            <a:avLst>
              <a:gd name="adj" fmla="val 16216"/>
            </a:avLst>
          </a:prstGeom>
          <a:solidFill>
            <a:srgbClr val="FFFFFF">
              <a:alpha val="6000"/>
            </a:srgbClr>
          </a:solidFill>
          <a:ln w="6350">
            <a:solidFill>
              <a:srgbClr val="FFFFFF">
                <a:alpha val="10000"/>
              </a:srgbClr>
            </a:solidFill>
            <a:prstDash val="solid"/>
          </a:ln>
        </p:spPr>
      </p:sp>
      <p:sp>
        <p:nvSpPr>
          <p:cNvPr id="25" name="Text 23"/>
          <p:cNvSpPr/>
          <p:nvPr/>
        </p:nvSpPr>
        <p:spPr>
          <a:xfrm>
            <a:off x="10172700" y="6995981"/>
            <a:ext cx="2976357"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FB46E">
                    <a:alpha val="99000"/>
                  </a:srgbClr>
                </a:solidFill>
                <a:latin typeface="Courier New" pitchFamily="34" charset="0"/>
                <a:ea typeface="Courier New" pitchFamily="34" charset="-122"/>
                <a:cs typeface="Courier New" pitchFamily="34" charset="-120"/>
              </a:rPr>
              <a:t>upsert </a:t>
            </a:r>
            <a:pPr algn="l" indent="0" marL="0">
              <a:buNone/>
            </a:pPr>
            <a:r>
              <a:rPr lang="en-US" sz="1800" dirty="0">
                <a:solidFill>
                  <a:srgbClr val="EEF3F9">
                    <a:alpha val="99000"/>
                  </a:srgbClr>
                </a:solidFill>
                <a:highlight>
                  <a:srgbClr val="FDFDFD"/>
                </a:highlight>
                <a:latin typeface="Courier New" pitchFamily="34" charset="0"/>
                <a:ea typeface="Courier New" pitchFamily="34" charset="-122"/>
                <a:cs typeface="Courier New" pitchFamily="34" charset="-120"/>
              </a:rPr>
              <a:t>crée si absent</a:t>
            </a:r>
            <a:endParaRPr lang="en-US" sz="1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0E15"/>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BB95F3">
                  <a:alpha val="16000"/>
                </a:srgbClr>
              </a:gs>
              <a:gs pos="60000">
                <a:srgbClr val="BB95F3">
                  <a:alpha val="0"/>
                </a:srgbClr>
              </a:gs>
            </a:gsLst>
            <a:path path="circle">
              <a:fillToRect l="80000" t="8000" r="20000" b="92000"/>
            </a:path>
          </a:gradFill>
          <a:ln/>
        </p:spPr>
      </p:sp>
      <p:sp>
        <p:nvSpPr>
          <p:cNvPr id="3" name="Shape 1"/>
          <p:cNvSpPr/>
          <p:nvPr/>
        </p:nvSpPr>
        <p:spPr>
          <a:xfrm>
            <a:off x="1066800" y="819150"/>
            <a:ext cx="419100" cy="419100"/>
          </a:xfrm>
          <a:prstGeom prst="roundRect">
            <a:avLst>
              <a:gd name="adj" fmla="val 27273"/>
            </a:avLst>
          </a:prstGeom>
          <a:ln w="19050">
            <a:solidFill>
              <a:srgbClr val="B897F0">
                <a:alpha val="97000"/>
              </a:srgbClr>
            </a:solidFill>
            <a:prstDash val="solid"/>
          </a:ln>
        </p:spPr>
      </p:sp>
      <p:sp>
        <p:nvSpPr>
          <p:cNvPr id="4" name="Text 2"/>
          <p:cNvSpPr/>
          <p:nvPr/>
        </p:nvSpPr>
        <p:spPr>
          <a:xfrm>
            <a:off x="1047750" y="838200"/>
            <a:ext cx="457200" cy="419100"/>
          </a:xfrm>
          <a:prstGeom prst="rect">
            <a:avLst/>
          </a:prstGeom>
          <a:noFill/>
          <a:ln/>
        </p:spPr>
        <p:txBody>
          <a:bodyPr wrap="square" lIns="25400" tIns="25400" rIns="25400" bIns="25400" rtlCol="0" anchor="ctr">
            <a:normAutofit/>
          </a:bodyPr>
          <a:lstStyle/>
          <a:p>
            <a:pPr algn="ctr" indent="0" marL="0">
              <a:buNone/>
            </a:pPr>
            <a:r>
              <a:rPr lang="en-US" sz="1950" spc="432" kern="0" dirty="0">
                <a:solidFill>
                  <a:srgbClr val="B897F0">
                    <a:alpha val="97000"/>
                  </a:srgbClr>
                </a:solidFill>
                <a:latin typeface="Courier New" pitchFamily="34" charset="0"/>
                <a:ea typeface="Courier New" pitchFamily="34" charset="-122"/>
                <a:cs typeface="Courier New" pitchFamily="34" charset="-120"/>
              </a:rPr>
              <a:t>?</a:t>
            </a:r>
            <a:endParaRPr lang="en-US" sz="1950" dirty="0"/>
          </a:p>
        </p:txBody>
      </p:sp>
      <p:sp>
        <p:nvSpPr>
          <p:cNvPr id="5" name="Text 3"/>
          <p:cNvSpPr/>
          <p:nvPr/>
        </p:nvSpPr>
        <p:spPr>
          <a:xfrm>
            <a:off x="1638300" y="876300"/>
            <a:ext cx="3362430" cy="342900"/>
          </a:xfrm>
          <a:prstGeom prst="rect">
            <a:avLst/>
          </a:prstGeom>
          <a:noFill/>
          <a:ln/>
        </p:spPr>
        <p:txBody>
          <a:bodyPr wrap="square" lIns="0" tIns="0" rIns="0" bIns="0" rtlCol="0" anchor="t">
            <a:normAutofit/>
          </a:bodyPr>
          <a:lstStyle/>
          <a:p>
            <a:pPr algn="l" indent="0" marL="0">
              <a:buNone/>
            </a:pPr>
            <a:r>
              <a:rPr lang="en-US" sz="1800" spc="432" kern="0" dirty="0">
                <a:solidFill>
                  <a:srgbClr val="B897F0">
                    <a:alpha val="97000"/>
                  </a:srgbClr>
                </a:solidFill>
                <a:latin typeface="Courier New" pitchFamily="34" charset="0"/>
                <a:ea typeface="Courier New" pitchFamily="34" charset="-122"/>
                <a:cs typeface="Courier New" pitchFamily="34" charset="-120"/>
              </a:rPr>
              <a:t>QUIZ · ATELIER 02</a:t>
            </a:r>
            <a:endParaRPr lang="en-US" sz="1800" dirty="0"/>
          </a:p>
        </p:txBody>
      </p:sp>
      <p:sp>
        <p:nvSpPr>
          <p:cNvPr id="6" name="Text 4"/>
          <p:cNvSpPr/>
          <p:nvPr/>
        </p:nvSpPr>
        <p:spPr>
          <a:xfrm>
            <a:off x="1066800" y="1428751"/>
            <a:ext cx="17769840"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NoSQL &amp; MongoDB</a:t>
            </a:r>
            <a:endParaRPr lang="en-US" sz="4800" dirty="0"/>
          </a:p>
        </p:txBody>
      </p:sp>
      <p:sp>
        <p:nvSpPr>
          <p:cNvPr id="7" name="Text 5"/>
          <p:cNvSpPr/>
          <p:nvPr/>
        </p:nvSpPr>
        <p:spPr>
          <a:xfrm>
            <a:off x="1066800" y="2481760"/>
            <a:ext cx="8654415" cy="369491"/>
          </a:xfrm>
          <a:prstGeom prst="rect">
            <a:avLst/>
          </a:prstGeom>
          <a:noFill/>
          <a:ln/>
        </p:spPr>
        <p:txBody>
          <a:bodyPr wrap="square" lIns="25400" tIns="25400" rIns="25400" bIns="25400" rtlCol="0" anchor="t">
            <a:normAutofit/>
          </a:bodyPr>
          <a:lstStyle/>
          <a:p>
            <a:pPr algn="l" indent="0" marL="0">
              <a:lnSpc>
                <a:spcPct val="106531"/>
              </a:lnSpc>
              <a:buNone/>
            </a:pPr>
            <a:r>
              <a:rPr lang="en-US" sz="2175" b="1" dirty="0">
                <a:solidFill>
                  <a:srgbClr val="EEF3F9"/>
                </a:solidFill>
                <a:latin typeface="Arial" pitchFamily="34" charset="0"/>
                <a:ea typeface="Arial" pitchFamily="34" charset="-122"/>
                <a:cs typeface="Arial" pitchFamily="34" charset="-120"/>
              </a:rPr>
              <a:t>Pourquoi MongoDB pour stocker des documents JSON ?</a:t>
            </a:r>
            <a:endParaRPr lang="en-US" sz="2175" dirty="0"/>
          </a:p>
        </p:txBody>
      </p:sp>
      <p:sp>
        <p:nvSpPr>
          <p:cNvPr id="8" name="Shape 6"/>
          <p:cNvSpPr/>
          <p:nvPr/>
        </p:nvSpPr>
        <p:spPr>
          <a:xfrm>
            <a:off x="1066800" y="3022701"/>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9" name="Shape 7"/>
          <p:cNvSpPr/>
          <p:nvPr/>
        </p:nvSpPr>
        <p:spPr>
          <a:xfrm>
            <a:off x="1282700" y="3200501"/>
            <a:ext cx="323850" cy="323850"/>
          </a:xfrm>
          <a:prstGeom prst="roundRect">
            <a:avLst>
              <a:gd name="adj" fmla="val 23529"/>
            </a:avLst>
          </a:prstGeom>
          <a:solidFill>
            <a:srgbClr val="FFFFFF">
              <a:alpha val="6000"/>
            </a:srgbClr>
          </a:solidFill>
          <a:ln/>
        </p:spPr>
      </p:sp>
      <p:sp>
        <p:nvSpPr>
          <p:cNvPr id="10" name="Text 8"/>
          <p:cNvSpPr/>
          <p:nvPr/>
        </p:nvSpPr>
        <p:spPr>
          <a:xfrm>
            <a:off x="1244600" y="3200501"/>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solidFill>
                <a:latin typeface="Arial" pitchFamily="34" charset="0"/>
                <a:ea typeface="Arial" pitchFamily="34" charset="-122"/>
                <a:cs typeface="Arial" pitchFamily="34" charset="-120"/>
              </a:rPr>
              <a:t>A</a:t>
            </a:r>
            <a:endParaRPr lang="en-US" sz="1875" dirty="0"/>
          </a:p>
        </p:txBody>
      </p:sp>
      <p:sp>
        <p:nvSpPr>
          <p:cNvPr id="11" name="Text 9"/>
          <p:cNvSpPr/>
          <p:nvPr/>
        </p:nvSpPr>
        <p:spPr>
          <a:xfrm>
            <a:off x="1758950" y="3210026"/>
            <a:ext cx="4041696"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solidFill>
                <a:latin typeface="Arial" pitchFamily="34" charset="0"/>
                <a:ea typeface="Arial" pitchFamily="34" charset="-122"/>
                <a:cs typeface="Arial" pitchFamily="34" charset="-120"/>
              </a:rPr>
              <a:t>Il est plus rapide dans tous les cas</a:t>
            </a:r>
            <a:endParaRPr lang="en-US" sz="1875" dirty="0"/>
          </a:p>
        </p:txBody>
      </p:sp>
      <p:sp>
        <p:nvSpPr>
          <p:cNvPr id="12" name="Shape 10"/>
          <p:cNvSpPr/>
          <p:nvPr/>
        </p:nvSpPr>
        <p:spPr>
          <a:xfrm>
            <a:off x="1066800" y="3835501"/>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13" name="Shape 11"/>
          <p:cNvSpPr/>
          <p:nvPr/>
        </p:nvSpPr>
        <p:spPr>
          <a:xfrm>
            <a:off x="1282700" y="4013301"/>
            <a:ext cx="323850" cy="323850"/>
          </a:xfrm>
          <a:prstGeom prst="roundRect">
            <a:avLst>
              <a:gd name="adj" fmla="val 23529"/>
            </a:avLst>
          </a:prstGeom>
          <a:solidFill>
            <a:srgbClr val="FFFFFF">
              <a:alpha val="6000"/>
            </a:srgbClr>
          </a:solidFill>
          <a:ln/>
        </p:spPr>
      </p:sp>
      <p:sp>
        <p:nvSpPr>
          <p:cNvPr id="14" name="Text 12"/>
          <p:cNvSpPr/>
          <p:nvPr/>
        </p:nvSpPr>
        <p:spPr>
          <a:xfrm>
            <a:off x="1244600" y="4013301"/>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solidFill>
                <a:latin typeface="Arial" pitchFamily="34" charset="0"/>
                <a:ea typeface="Arial" pitchFamily="34" charset="-122"/>
                <a:cs typeface="Arial" pitchFamily="34" charset="-120"/>
              </a:rPr>
              <a:t>B</a:t>
            </a:r>
            <a:endParaRPr lang="en-US" sz="1875" dirty="0"/>
          </a:p>
        </p:txBody>
      </p:sp>
      <p:sp>
        <p:nvSpPr>
          <p:cNvPr id="15" name="Text 13"/>
          <p:cNvSpPr/>
          <p:nvPr/>
        </p:nvSpPr>
        <p:spPr>
          <a:xfrm>
            <a:off x="1758950" y="4022826"/>
            <a:ext cx="5984508"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solidFill>
                <a:latin typeface="Arial" pitchFamily="34" charset="0"/>
                <a:ea typeface="Arial" pitchFamily="34" charset="-122"/>
                <a:cs typeface="Arial" pitchFamily="34" charset="-120"/>
              </a:rPr>
              <a:t>Il accepte naturellement des structures différentes</a:t>
            </a:r>
            <a:endParaRPr lang="en-US" sz="1875" dirty="0"/>
          </a:p>
        </p:txBody>
      </p:sp>
      <p:sp>
        <p:nvSpPr>
          <p:cNvPr id="16" name="Shape 14"/>
          <p:cNvSpPr/>
          <p:nvPr/>
        </p:nvSpPr>
        <p:spPr>
          <a:xfrm>
            <a:off x="1066800" y="4648301"/>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17" name="Shape 15"/>
          <p:cNvSpPr/>
          <p:nvPr/>
        </p:nvSpPr>
        <p:spPr>
          <a:xfrm>
            <a:off x="1282700" y="4826101"/>
            <a:ext cx="323850" cy="323850"/>
          </a:xfrm>
          <a:prstGeom prst="roundRect">
            <a:avLst>
              <a:gd name="adj" fmla="val 23529"/>
            </a:avLst>
          </a:prstGeom>
          <a:solidFill>
            <a:srgbClr val="FFFFFF">
              <a:alpha val="6000"/>
            </a:srgbClr>
          </a:solidFill>
          <a:ln/>
        </p:spPr>
      </p:sp>
      <p:sp>
        <p:nvSpPr>
          <p:cNvPr id="18" name="Text 16"/>
          <p:cNvSpPr/>
          <p:nvPr/>
        </p:nvSpPr>
        <p:spPr>
          <a:xfrm>
            <a:off x="1244600" y="4826101"/>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solidFill>
                <a:latin typeface="Arial" pitchFamily="34" charset="0"/>
                <a:ea typeface="Arial" pitchFamily="34" charset="-122"/>
                <a:cs typeface="Arial" pitchFamily="34" charset="-120"/>
              </a:rPr>
              <a:t>C</a:t>
            </a:r>
            <a:endParaRPr lang="en-US" sz="1875" dirty="0"/>
          </a:p>
        </p:txBody>
      </p:sp>
      <p:sp>
        <p:nvSpPr>
          <p:cNvPr id="19" name="Text 17"/>
          <p:cNvSpPr/>
          <p:nvPr/>
        </p:nvSpPr>
        <p:spPr>
          <a:xfrm>
            <a:off x="1758950" y="4835626"/>
            <a:ext cx="3456811"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solidFill>
                <a:latin typeface="Arial" pitchFamily="34" charset="0"/>
                <a:ea typeface="Arial" pitchFamily="34" charset="-122"/>
                <a:cs typeface="Arial" pitchFamily="34" charset="-120"/>
              </a:rPr>
              <a:t>SQL est interdit dans le Cloud</a:t>
            </a:r>
            <a:endParaRPr lang="en-US" sz="1875" dirty="0"/>
          </a:p>
        </p:txBody>
      </p:sp>
      <p:sp>
        <p:nvSpPr>
          <p:cNvPr id="20" name="Shape 18"/>
          <p:cNvSpPr/>
          <p:nvPr/>
        </p:nvSpPr>
        <p:spPr>
          <a:xfrm>
            <a:off x="1066800" y="5461101"/>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21" name="Shape 19"/>
          <p:cNvSpPr/>
          <p:nvPr/>
        </p:nvSpPr>
        <p:spPr>
          <a:xfrm>
            <a:off x="1282700" y="5638901"/>
            <a:ext cx="323850" cy="323850"/>
          </a:xfrm>
          <a:prstGeom prst="roundRect">
            <a:avLst>
              <a:gd name="adj" fmla="val 23529"/>
            </a:avLst>
          </a:prstGeom>
          <a:solidFill>
            <a:srgbClr val="FFFFFF">
              <a:alpha val="6000"/>
            </a:srgbClr>
          </a:solidFill>
          <a:ln/>
        </p:spPr>
      </p:sp>
      <p:sp>
        <p:nvSpPr>
          <p:cNvPr id="22" name="Text 20"/>
          <p:cNvSpPr/>
          <p:nvPr/>
        </p:nvSpPr>
        <p:spPr>
          <a:xfrm>
            <a:off x="1244600" y="5638901"/>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solidFill>
                <a:latin typeface="Arial" pitchFamily="34" charset="0"/>
                <a:ea typeface="Arial" pitchFamily="34" charset="-122"/>
                <a:cs typeface="Arial" pitchFamily="34" charset="-120"/>
              </a:rPr>
              <a:t>D</a:t>
            </a:r>
            <a:endParaRPr lang="en-US" sz="1875" dirty="0"/>
          </a:p>
        </p:txBody>
      </p:sp>
      <p:sp>
        <p:nvSpPr>
          <p:cNvPr id="23" name="Text 21"/>
          <p:cNvSpPr/>
          <p:nvPr/>
        </p:nvSpPr>
        <p:spPr>
          <a:xfrm>
            <a:off x="1758950" y="5648426"/>
            <a:ext cx="2394982"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solidFill>
                <a:latin typeface="Arial" pitchFamily="34" charset="0"/>
                <a:ea typeface="Arial" pitchFamily="34" charset="-122"/>
                <a:cs typeface="Arial" pitchFamily="34" charset="-120"/>
              </a:rPr>
              <a:t>MongoDB est gratuit</a:t>
            </a:r>
            <a:endParaRPr lang="en-US" sz="1875" dirty="0"/>
          </a:p>
        </p:txBody>
      </p:sp>
      <p:sp>
        <p:nvSpPr>
          <p:cNvPr id="24" name="Text 22"/>
          <p:cNvSpPr/>
          <p:nvPr/>
        </p:nvSpPr>
        <p:spPr>
          <a:xfrm>
            <a:off x="9353550" y="2483904"/>
            <a:ext cx="8654415" cy="369491"/>
          </a:xfrm>
          <a:prstGeom prst="rect">
            <a:avLst/>
          </a:prstGeom>
          <a:noFill/>
          <a:ln/>
        </p:spPr>
        <p:txBody>
          <a:bodyPr wrap="square" lIns="25400" tIns="25400" rIns="25400" bIns="25400" rtlCol="0" anchor="t">
            <a:normAutofit/>
          </a:bodyPr>
          <a:lstStyle/>
          <a:p>
            <a:pPr algn="l" indent="0" marL="0">
              <a:lnSpc>
                <a:spcPct val="106531"/>
              </a:lnSpc>
              <a:buNone/>
            </a:pPr>
            <a:r>
              <a:rPr lang="en-US" sz="2175" b="1" dirty="0">
                <a:solidFill>
                  <a:srgbClr val="EEF3F9">
                    <a:alpha val="99000"/>
                  </a:srgbClr>
                </a:solidFill>
                <a:latin typeface="Arial" pitchFamily="34" charset="0"/>
                <a:ea typeface="Arial" pitchFamily="34" charset="-122"/>
                <a:cs typeface="Arial" pitchFamily="34" charset="-120"/>
              </a:rPr>
              <a:t>Quel type de données convient le mieux à MongoDB ?</a:t>
            </a:r>
            <a:endParaRPr lang="en-US" sz="2175" dirty="0"/>
          </a:p>
        </p:txBody>
      </p:sp>
      <p:sp>
        <p:nvSpPr>
          <p:cNvPr id="25" name="Shape 23"/>
          <p:cNvSpPr/>
          <p:nvPr/>
        </p:nvSpPr>
        <p:spPr>
          <a:xfrm>
            <a:off x="9353550" y="3024845"/>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26" name="Shape 24"/>
          <p:cNvSpPr/>
          <p:nvPr/>
        </p:nvSpPr>
        <p:spPr>
          <a:xfrm>
            <a:off x="9569450" y="3202645"/>
            <a:ext cx="323850" cy="323850"/>
          </a:xfrm>
          <a:prstGeom prst="roundRect">
            <a:avLst>
              <a:gd name="adj" fmla="val 23529"/>
            </a:avLst>
          </a:prstGeom>
          <a:solidFill>
            <a:srgbClr val="FFFFFF">
              <a:alpha val="6000"/>
            </a:srgbClr>
          </a:solidFill>
          <a:ln/>
        </p:spPr>
      </p:sp>
      <p:sp>
        <p:nvSpPr>
          <p:cNvPr id="27" name="Text 25"/>
          <p:cNvSpPr/>
          <p:nvPr/>
        </p:nvSpPr>
        <p:spPr>
          <a:xfrm>
            <a:off x="9531350" y="3202645"/>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alpha val="99000"/>
                  </a:srgbClr>
                </a:solidFill>
                <a:latin typeface="Arial" pitchFamily="34" charset="0"/>
                <a:ea typeface="Arial" pitchFamily="34" charset="-122"/>
                <a:cs typeface="Arial" pitchFamily="34" charset="-120"/>
              </a:rPr>
              <a:t>A</a:t>
            </a:r>
            <a:endParaRPr lang="en-US" sz="1875" dirty="0"/>
          </a:p>
        </p:txBody>
      </p:sp>
      <p:sp>
        <p:nvSpPr>
          <p:cNvPr id="28" name="Text 26"/>
          <p:cNvSpPr/>
          <p:nvPr/>
        </p:nvSpPr>
        <p:spPr>
          <a:xfrm>
            <a:off x="10045701" y="3212170"/>
            <a:ext cx="5791766"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alpha val="99000"/>
                  </a:srgbClr>
                </a:solidFill>
                <a:latin typeface="Arial" pitchFamily="34" charset="0"/>
                <a:ea typeface="Arial" pitchFamily="34" charset="-122"/>
                <a:cs typeface="Arial" pitchFamily="34" charset="-120"/>
              </a:rPr>
              <a:t>Comptabilité bancaire fortement transactionnelle</a:t>
            </a:r>
            <a:endParaRPr lang="en-US" sz="1875" dirty="0"/>
          </a:p>
        </p:txBody>
      </p:sp>
      <p:sp>
        <p:nvSpPr>
          <p:cNvPr id="29" name="Shape 27"/>
          <p:cNvSpPr/>
          <p:nvPr/>
        </p:nvSpPr>
        <p:spPr>
          <a:xfrm>
            <a:off x="9353550" y="3837645"/>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30" name="Shape 28"/>
          <p:cNvSpPr/>
          <p:nvPr/>
        </p:nvSpPr>
        <p:spPr>
          <a:xfrm>
            <a:off x="9569450" y="4015445"/>
            <a:ext cx="323850" cy="323850"/>
          </a:xfrm>
          <a:prstGeom prst="roundRect">
            <a:avLst>
              <a:gd name="adj" fmla="val 23529"/>
            </a:avLst>
          </a:prstGeom>
          <a:solidFill>
            <a:srgbClr val="FFFFFF">
              <a:alpha val="6000"/>
            </a:srgbClr>
          </a:solidFill>
          <a:ln/>
        </p:spPr>
      </p:sp>
      <p:sp>
        <p:nvSpPr>
          <p:cNvPr id="31" name="Text 29"/>
          <p:cNvSpPr/>
          <p:nvPr/>
        </p:nvSpPr>
        <p:spPr>
          <a:xfrm>
            <a:off x="9531350" y="4015445"/>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alpha val="99000"/>
                  </a:srgbClr>
                </a:solidFill>
                <a:latin typeface="Arial" pitchFamily="34" charset="0"/>
                <a:ea typeface="Arial" pitchFamily="34" charset="-122"/>
                <a:cs typeface="Arial" pitchFamily="34" charset="-120"/>
              </a:rPr>
              <a:t>B</a:t>
            </a:r>
            <a:endParaRPr lang="en-US" sz="1875" dirty="0"/>
          </a:p>
        </p:txBody>
      </p:sp>
      <p:sp>
        <p:nvSpPr>
          <p:cNvPr id="32" name="Text 30"/>
          <p:cNvSpPr/>
          <p:nvPr/>
        </p:nvSpPr>
        <p:spPr>
          <a:xfrm>
            <a:off x="10045701" y="4024970"/>
            <a:ext cx="2061994"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alpha val="99000"/>
                  </a:srgbClr>
                </a:solidFill>
                <a:latin typeface="Arial" pitchFamily="34" charset="0"/>
                <a:ea typeface="Arial" pitchFamily="34" charset="-122"/>
                <a:cs typeface="Arial" pitchFamily="34" charset="-120"/>
              </a:rPr>
              <a:t>Documents JSON</a:t>
            </a:r>
            <a:endParaRPr lang="en-US" sz="1875" dirty="0"/>
          </a:p>
        </p:txBody>
      </p:sp>
      <p:sp>
        <p:nvSpPr>
          <p:cNvPr id="33" name="Shape 31"/>
          <p:cNvSpPr/>
          <p:nvPr/>
        </p:nvSpPr>
        <p:spPr>
          <a:xfrm>
            <a:off x="9353550" y="4650445"/>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34" name="Shape 32"/>
          <p:cNvSpPr/>
          <p:nvPr/>
        </p:nvSpPr>
        <p:spPr>
          <a:xfrm>
            <a:off x="9569450" y="4828245"/>
            <a:ext cx="323850" cy="323850"/>
          </a:xfrm>
          <a:prstGeom prst="roundRect">
            <a:avLst>
              <a:gd name="adj" fmla="val 23529"/>
            </a:avLst>
          </a:prstGeom>
          <a:solidFill>
            <a:srgbClr val="FFFFFF">
              <a:alpha val="6000"/>
            </a:srgbClr>
          </a:solidFill>
          <a:ln/>
        </p:spPr>
      </p:sp>
      <p:sp>
        <p:nvSpPr>
          <p:cNvPr id="35" name="Text 33"/>
          <p:cNvSpPr/>
          <p:nvPr/>
        </p:nvSpPr>
        <p:spPr>
          <a:xfrm>
            <a:off x="9531350" y="4828245"/>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alpha val="99000"/>
                  </a:srgbClr>
                </a:solidFill>
                <a:latin typeface="Arial" pitchFamily="34" charset="0"/>
                <a:ea typeface="Arial" pitchFamily="34" charset="-122"/>
                <a:cs typeface="Arial" pitchFamily="34" charset="-120"/>
              </a:rPr>
              <a:t>C</a:t>
            </a:r>
            <a:endParaRPr lang="en-US" sz="1875" dirty="0"/>
          </a:p>
        </p:txBody>
      </p:sp>
      <p:sp>
        <p:nvSpPr>
          <p:cNvPr id="36" name="Text 34"/>
          <p:cNvSpPr/>
          <p:nvPr/>
        </p:nvSpPr>
        <p:spPr>
          <a:xfrm>
            <a:off x="10045701" y="4837770"/>
            <a:ext cx="2363986"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alpha val="99000"/>
                  </a:srgbClr>
                </a:solidFill>
                <a:latin typeface="Arial" pitchFamily="34" charset="0"/>
                <a:ea typeface="Arial" pitchFamily="34" charset="-122"/>
                <a:cs typeface="Arial" pitchFamily="34" charset="-120"/>
              </a:rPr>
              <a:t>Images uniquement</a:t>
            </a:r>
            <a:endParaRPr lang="en-US" sz="1875" dirty="0"/>
          </a:p>
        </p:txBody>
      </p:sp>
      <p:sp>
        <p:nvSpPr>
          <p:cNvPr id="37" name="Shape 35"/>
          <p:cNvSpPr/>
          <p:nvPr/>
        </p:nvSpPr>
        <p:spPr>
          <a:xfrm>
            <a:off x="9353550" y="5463245"/>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38" name="Shape 36"/>
          <p:cNvSpPr/>
          <p:nvPr/>
        </p:nvSpPr>
        <p:spPr>
          <a:xfrm>
            <a:off x="9569450" y="5641045"/>
            <a:ext cx="323850" cy="323850"/>
          </a:xfrm>
          <a:prstGeom prst="roundRect">
            <a:avLst>
              <a:gd name="adj" fmla="val 23529"/>
            </a:avLst>
          </a:prstGeom>
          <a:solidFill>
            <a:srgbClr val="FFFFFF">
              <a:alpha val="6000"/>
            </a:srgbClr>
          </a:solidFill>
          <a:ln/>
        </p:spPr>
      </p:sp>
      <p:sp>
        <p:nvSpPr>
          <p:cNvPr id="39" name="Text 37"/>
          <p:cNvSpPr/>
          <p:nvPr/>
        </p:nvSpPr>
        <p:spPr>
          <a:xfrm>
            <a:off x="9531350" y="5641045"/>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alpha val="99000"/>
                  </a:srgbClr>
                </a:solidFill>
                <a:latin typeface="Arial" pitchFamily="34" charset="0"/>
                <a:ea typeface="Arial" pitchFamily="34" charset="-122"/>
                <a:cs typeface="Arial" pitchFamily="34" charset="-120"/>
              </a:rPr>
              <a:t>D</a:t>
            </a:r>
            <a:endParaRPr lang="en-US" sz="1875" dirty="0"/>
          </a:p>
        </p:txBody>
      </p:sp>
      <p:sp>
        <p:nvSpPr>
          <p:cNvPr id="40" name="Text 38"/>
          <p:cNvSpPr/>
          <p:nvPr/>
        </p:nvSpPr>
        <p:spPr>
          <a:xfrm>
            <a:off x="10045701" y="5650570"/>
            <a:ext cx="2277547"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alpha val="99000"/>
                  </a:srgbClr>
                </a:solidFill>
                <a:latin typeface="Arial" pitchFamily="34" charset="0"/>
                <a:ea typeface="Arial" pitchFamily="34" charset="-122"/>
                <a:cs typeface="Arial" pitchFamily="34" charset="-120"/>
              </a:rPr>
              <a:t>Vidéos uniquement</a:t>
            </a:r>
            <a:endParaRPr lang="en-US" sz="1875"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0E15"/>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BB95F3">
                  <a:alpha val="16000"/>
                </a:srgbClr>
              </a:gs>
              <a:gs pos="60000">
                <a:srgbClr val="BB95F3">
                  <a:alpha val="0"/>
                </a:srgbClr>
              </a:gs>
            </a:gsLst>
            <a:path path="circle">
              <a:fillToRect l="80000" t="8000" r="20000" b="92000"/>
            </a:path>
          </a:gradFill>
          <a:ln/>
        </p:spPr>
      </p:sp>
      <p:sp>
        <p:nvSpPr>
          <p:cNvPr id="3" name="Shape 1"/>
          <p:cNvSpPr/>
          <p:nvPr/>
        </p:nvSpPr>
        <p:spPr>
          <a:xfrm>
            <a:off x="1066800" y="819150"/>
            <a:ext cx="419100" cy="419100"/>
          </a:xfrm>
          <a:prstGeom prst="roundRect">
            <a:avLst>
              <a:gd name="adj" fmla="val 27273"/>
            </a:avLst>
          </a:prstGeom>
          <a:ln w="19050">
            <a:solidFill>
              <a:srgbClr val="B897F0">
                <a:alpha val="97000"/>
              </a:srgbClr>
            </a:solidFill>
            <a:prstDash val="solid"/>
          </a:ln>
        </p:spPr>
      </p:sp>
      <p:sp>
        <p:nvSpPr>
          <p:cNvPr id="4" name="Text 2"/>
          <p:cNvSpPr/>
          <p:nvPr/>
        </p:nvSpPr>
        <p:spPr>
          <a:xfrm>
            <a:off x="1047750" y="838200"/>
            <a:ext cx="457200" cy="419100"/>
          </a:xfrm>
          <a:prstGeom prst="rect">
            <a:avLst/>
          </a:prstGeom>
          <a:noFill/>
          <a:ln/>
        </p:spPr>
        <p:txBody>
          <a:bodyPr wrap="square" lIns="25400" tIns="25400" rIns="25400" bIns="25400" rtlCol="0" anchor="ctr">
            <a:normAutofit/>
          </a:bodyPr>
          <a:lstStyle/>
          <a:p>
            <a:pPr algn="ctr" indent="0" marL="0">
              <a:buNone/>
            </a:pPr>
            <a:r>
              <a:rPr lang="en-US" sz="1950" spc="432" kern="0" dirty="0">
                <a:solidFill>
                  <a:srgbClr val="B897F0">
                    <a:alpha val="97000"/>
                  </a:srgbClr>
                </a:solidFill>
                <a:latin typeface="Courier New" pitchFamily="34" charset="0"/>
                <a:ea typeface="Courier New" pitchFamily="34" charset="-122"/>
                <a:cs typeface="Courier New" pitchFamily="34" charset="-120"/>
              </a:rPr>
              <a:t>?</a:t>
            </a:r>
            <a:endParaRPr lang="en-US" sz="1950" dirty="0"/>
          </a:p>
        </p:txBody>
      </p:sp>
      <p:sp>
        <p:nvSpPr>
          <p:cNvPr id="5" name="Text 3"/>
          <p:cNvSpPr/>
          <p:nvPr/>
        </p:nvSpPr>
        <p:spPr>
          <a:xfrm>
            <a:off x="1638300" y="876300"/>
            <a:ext cx="4549122" cy="342900"/>
          </a:xfrm>
          <a:prstGeom prst="rect">
            <a:avLst/>
          </a:prstGeom>
          <a:noFill/>
          <a:ln/>
        </p:spPr>
        <p:txBody>
          <a:bodyPr wrap="square" lIns="0" tIns="0" rIns="0" bIns="0" rtlCol="0" anchor="t">
            <a:normAutofit/>
          </a:bodyPr>
          <a:lstStyle/>
          <a:p>
            <a:pPr algn="l" indent="0" marL="0">
              <a:buNone/>
            </a:pPr>
            <a:r>
              <a:rPr lang="en-US" sz="1800" spc="432" kern="0" dirty="0">
                <a:solidFill>
                  <a:srgbClr val="B897F0">
                    <a:alpha val="97000"/>
                  </a:srgbClr>
                </a:solidFill>
                <a:latin typeface="Courier New" pitchFamily="34" charset="0"/>
                <a:ea typeface="Courier New" pitchFamily="34" charset="-122"/>
                <a:cs typeface="Courier New" pitchFamily="34" charset="-120"/>
              </a:rPr>
              <a:t>CORRECTION · ATELIER 02</a:t>
            </a:r>
            <a:endParaRPr lang="en-US" sz="1800" dirty="0"/>
          </a:p>
        </p:txBody>
      </p:sp>
      <p:sp>
        <p:nvSpPr>
          <p:cNvPr id="6" name="Text 4"/>
          <p:cNvSpPr/>
          <p:nvPr/>
        </p:nvSpPr>
        <p:spPr>
          <a:xfrm>
            <a:off x="1066800" y="1428751"/>
            <a:ext cx="17769840"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NoSQL &amp; MongoDB</a:t>
            </a:r>
            <a:endParaRPr lang="en-US" sz="4800" dirty="0"/>
          </a:p>
        </p:txBody>
      </p:sp>
      <p:sp>
        <p:nvSpPr>
          <p:cNvPr id="7" name="Text 5"/>
          <p:cNvSpPr/>
          <p:nvPr/>
        </p:nvSpPr>
        <p:spPr>
          <a:xfrm>
            <a:off x="1066800" y="2481760"/>
            <a:ext cx="8654415" cy="369491"/>
          </a:xfrm>
          <a:prstGeom prst="rect">
            <a:avLst/>
          </a:prstGeom>
          <a:noFill/>
          <a:ln/>
        </p:spPr>
        <p:txBody>
          <a:bodyPr wrap="square" lIns="25400" tIns="25400" rIns="25400" bIns="25400" rtlCol="0" anchor="t">
            <a:normAutofit/>
          </a:bodyPr>
          <a:lstStyle/>
          <a:p>
            <a:pPr algn="l" indent="0" marL="0">
              <a:lnSpc>
                <a:spcPct val="106531"/>
              </a:lnSpc>
              <a:buNone/>
            </a:pPr>
            <a:r>
              <a:rPr lang="en-US" sz="2175" b="1" dirty="0">
                <a:solidFill>
                  <a:srgbClr val="EEF3F9"/>
                </a:solidFill>
                <a:latin typeface="Arial" pitchFamily="34" charset="0"/>
                <a:ea typeface="Arial" pitchFamily="34" charset="-122"/>
                <a:cs typeface="Arial" pitchFamily="34" charset="-120"/>
              </a:rPr>
              <a:t>Pourquoi MongoDB pour stocker des documents JSON ?</a:t>
            </a:r>
            <a:endParaRPr lang="en-US" sz="2175" dirty="0"/>
          </a:p>
        </p:txBody>
      </p:sp>
      <p:sp>
        <p:nvSpPr>
          <p:cNvPr id="8" name="Shape 6"/>
          <p:cNvSpPr/>
          <p:nvPr/>
        </p:nvSpPr>
        <p:spPr>
          <a:xfrm>
            <a:off x="1066800" y="3022701"/>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9" name="Shape 7"/>
          <p:cNvSpPr/>
          <p:nvPr/>
        </p:nvSpPr>
        <p:spPr>
          <a:xfrm>
            <a:off x="1282700" y="3200501"/>
            <a:ext cx="323850" cy="323850"/>
          </a:xfrm>
          <a:prstGeom prst="roundRect">
            <a:avLst>
              <a:gd name="adj" fmla="val 23529"/>
            </a:avLst>
          </a:prstGeom>
          <a:solidFill>
            <a:srgbClr val="FFFFFF">
              <a:alpha val="6000"/>
            </a:srgbClr>
          </a:solidFill>
          <a:ln/>
        </p:spPr>
      </p:sp>
      <p:sp>
        <p:nvSpPr>
          <p:cNvPr id="10" name="Text 8"/>
          <p:cNvSpPr/>
          <p:nvPr/>
        </p:nvSpPr>
        <p:spPr>
          <a:xfrm>
            <a:off x="1244600" y="3200501"/>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solidFill>
                <a:latin typeface="Arial" pitchFamily="34" charset="0"/>
                <a:ea typeface="Arial" pitchFamily="34" charset="-122"/>
                <a:cs typeface="Arial" pitchFamily="34" charset="-120"/>
              </a:rPr>
              <a:t>A</a:t>
            </a:r>
            <a:endParaRPr lang="en-US" sz="1875" dirty="0"/>
          </a:p>
        </p:txBody>
      </p:sp>
      <p:sp>
        <p:nvSpPr>
          <p:cNvPr id="11" name="Text 9"/>
          <p:cNvSpPr/>
          <p:nvPr/>
        </p:nvSpPr>
        <p:spPr>
          <a:xfrm>
            <a:off x="1758950" y="3210026"/>
            <a:ext cx="4041696"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solidFill>
                <a:latin typeface="Arial" pitchFamily="34" charset="0"/>
                <a:ea typeface="Arial" pitchFamily="34" charset="-122"/>
                <a:cs typeface="Arial" pitchFamily="34" charset="-120"/>
              </a:rPr>
              <a:t>Il est plus rapide dans tous les cas</a:t>
            </a:r>
            <a:endParaRPr lang="en-US" sz="1875" dirty="0"/>
          </a:p>
        </p:txBody>
      </p:sp>
      <p:sp>
        <p:nvSpPr>
          <p:cNvPr id="12" name="Shape 10"/>
          <p:cNvSpPr/>
          <p:nvPr/>
        </p:nvSpPr>
        <p:spPr>
          <a:xfrm>
            <a:off x="1066800" y="3835501"/>
            <a:ext cx="7867650" cy="692150"/>
          </a:xfrm>
          <a:prstGeom prst="roundRect">
            <a:avLst>
              <a:gd name="adj" fmla="val 16514"/>
            </a:avLst>
          </a:prstGeom>
          <a:gradFill rotWithShape="1">
            <a:gsLst>
              <a:gs pos="0">
                <a:srgbClr val="B996F0">
                  <a:alpha val="20000"/>
                </a:srgbClr>
              </a:gs>
              <a:gs pos="100000">
                <a:srgbClr val="FFFFFF">
                  <a:alpha val="3000"/>
                </a:srgbClr>
              </a:gs>
            </a:gsLst>
            <a:lin ang="4200000" scaled="0"/>
          </a:gradFill>
          <a:ln w="6350">
            <a:solidFill>
              <a:srgbClr val="C0A3F2">
                <a:alpha val="48000"/>
              </a:srgbClr>
            </a:solidFill>
            <a:prstDash val="solid"/>
          </a:ln>
        </p:spPr>
      </p:sp>
      <p:sp>
        <p:nvSpPr>
          <p:cNvPr id="13" name="Shape 11"/>
          <p:cNvSpPr/>
          <p:nvPr/>
        </p:nvSpPr>
        <p:spPr>
          <a:xfrm>
            <a:off x="1282700" y="4019651"/>
            <a:ext cx="323850" cy="323850"/>
          </a:xfrm>
          <a:prstGeom prst="roundRect">
            <a:avLst>
              <a:gd name="adj" fmla="val 23529"/>
            </a:avLst>
          </a:prstGeom>
          <a:solidFill>
            <a:srgbClr val="B897F0"/>
          </a:solidFill>
          <a:ln/>
        </p:spPr>
      </p:sp>
      <p:sp>
        <p:nvSpPr>
          <p:cNvPr id="14" name="Text 12"/>
          <p:cNvSpPr/>
          <p:nvPr/>
        </p:nvSpPr>
        <p:spPr>
          <a:xfrm>
            <a:off x="1244600" y="4019651"/>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04070C"/>
                </a:solidFill>
                <a:latin typeface="Arial" pitchFamily="34" charset="0"/>
                <a:ea typeface="Arial" pitchFamily="34" charset="-122"/>
                <a:cs typeface="Arial" pitchFamily="34" charset="-120"/>
              </a:rPr>
              <a:t>B</a:t>
            </a:r>
            <a:endParaRPr lang="en-US" sz="1875" dirty="0"/>
          </a:p>
        </p:txBody>
      </p:sp>
      <p:sp>
        <p:nvSpPr>
          <p:cNvPr id="15" name="Text 13"/>
          <p:cNvSpPr/>
          <p:nvPr/>
        </p:nvSpPr>
        <p:spPr>
          <a:xfrm>
            <a:off x="1758950" y="4029176"/>
            <a:ext cx="5984508" cy="342900"/>
          </a:xfrm>
          <a:prstGeom prst="rect">
            <a:avLst/>
          </a:prstGeom>
          <a:noFill/>
          <a:ln/>
        </p:spPr>
        <p:txBody>
          <a:bodyPr wrap="square" lIns="25400" tIns="25400" rIns="25400" bIns="25400" rtlCol="0" anchor="t">
            <a:normAutofit/>
          </a:bodyPr>
          <a:lstStyle/>
          <a:p>
            <a:pPr algn="l" indent="0" marL="0">
              <a:buNone/>
            </a:pPr>
            <a:r>
              <a:rPr lang="en-US" sz="1875" dirty="0">
                <a:solidFill>
                  <a:srgbClr val="EEF3F9"/>
                </a:solidFill>
                <a:latin typeface="Arial" pitchFamily="34" charset="0"/>
                <a:ea typeface="Arial" pitchFamily="34" charset="-122"/>
                <a:cs typeface="Arial" pitchFamily="34" charset="-120"/>
              </a:rPr>
              <a:t>Il accepte naturellement des structures différentes</a:t>
            </a:r>
            <a:endParaRPr lang="en-US" sz="1875" dirty="0"/>
          </a:p>
        </p:txBody>
      </p:sp>
      <p:sp>
        <p:nvSpPr>
          <p:cNvPr id="16" name="Text 14"/>
          <p:cNvSpPr/>
          <p:nvPr/>
        </p:nvSpPr>
        <p:spPr>
          <a:xfrm>
            <a:off x="8533011" y="4013301"/>
            <a:ext cx="261739" cy="374650"/>
          </a:xfrm>
          <a:prstGeom prst="rect">
            <a:avLst/>
          </a:prstGeom>
          <a:noFill/>
          <a:ln/>
        </p:spPr>
        <p:txBody>
          <a:bodyPr wrap="square" lIns="25400" tIns="25400" rIns="25400" bIns="25400" rtlCol="0" anchor="t">
            <a:normAutofit/>
          </a:bodyPr>
          <a:lstStyle/>
          <a:p>
            <a:pPr algn="l" indent="0" marL="0">
              <a:buNone/>
            </a:pPr>
            <a:r>
              <a:rPr lang="en-US" sz="1950" dirty="0">
                <a:solidFill>
                  <a:srgbClr val="B897F0"/>
                </a:solidFill>
                <a:latin typeface="Arial" pitchFamily="34" charset="0"/>
                <a:ea typeface="Arial" pitchFamily="34" charset="-122"/>
                <a:cs typeface="Arial" pitchFamily="34" charset="-120"/>
              </a:rPr>
              <a:t>✓</a:t>
            </a:r>
            <a:endParaRPr lang="en-US" sz="1950" dirty="0"/>
          </a:p>
        </p:txBody>
      </p:sp>
      <p:sp>
        <p:nvSpPr>
          <p:cNvPr id="17" name="Shape 15"/>
          <p:cNvSpPr/>
          <p:nvPr/>
        </p:nvSpPr>
        <p:spPr>
          <a:xfrm>
            <a:off x="1066800" y="4661001"/>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18" name="Shape 16"/>
          <p:cNvSpPr/>
          <p:nvPr/>
        </p:nvSpPr>
        <p:spPr>
          <a:xfrm>
            <a:off x="1282700" y="4838801"/>
            <a:ext cx="323850" cy="323850"/>
          </a:xfrm>
          <a:prstGeom prst="roundRect">
            <a:avLst>
              <a:gd name="adj" fmla="val 23529"/>
            </a:avLst>
          </a:prstGeom>
          <a:solidFill>
            <a:srgbClr val="FFFFFF">
              <a:alpha val="6000"/>
            </a:srgbClr>
          </a:solidFill>
          <a:ln/>
        </p:spPr>
      </p:sp>
      <p:sp>
        <p:nvSpPr>
          <p:cNvPr id="19" name="Text 17"/>
          <p:cNvSpPr/>
          <p:nvPr/>
        </p:nvSpPr>
        <p:spPr>
          <a:xfrm>
            <a:off x="1244600" y="4838801"/>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solidFill>
                <a:latin typeface="Arial" pitchFamily="34" charset="0"/>
                <a:ea typeface="Arial" pitchFamily="34" charset="-122"/>
                <a:cs typeface="Arial" pitchFamily="34" charset="-120"/>
              </a:rPr>
              <a:t>C</a:t>
            </a:r>
            <a:endParaRPr lang="en-US" sz="1875" dirty="0"/>
          </a:p>
        </p:txBody>
      </p:sp>
      <p:sp>
        <p:nvSpPr>
          <p:cNvPr id="20" name="Text 18"/>
          <p:cNvSpPr/>
          <p:nvPr/>
        </p:nvSpPr>
        <p:spPr>
          <a:xfrm>
            <a:off x="1758950" y="4848326"/>
            <a:ext cx="3456811"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solidFill>
                <a:latin typeface="Arial" pitchFamily="34" charset="0"/>
                <a:ea typeface="Arial" pitchFamily="34" charset="-122"/>
                <a:cs typeface="Arial" pitchFamily="34" charset="-120"/>
              </a:rPr>
              <a:t>SQL est interdit dans le Cloud</a:t>
            </a:r>
            <a:endParaRPr lang="en-US" sz="1875" dirty="0"/>
          </a:p>
        </p:txBody>
      </p:sp>
      <p:sp>
        <p:nvSpPr>
          <p:cNvPr id="21" name="Shape 19"/>
          <p:cNvSpPr/>
          <p:nvPr/>
        </p:nvSpPr>
        <p:spPr>
          <a:xfrm>
            <a:off x="1066800" y="5473801"/>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22" name="Shape 20"/>
          <p:cNvSpPr/>
          <p:nvPr/>
        </p:nvSpPr>
        <p:spPr>
          <a:xfrm>
            <a:off x="1282700" y="5651601"/>
            <a:ext cx="323850" cy="323850"/>
          </a:xfrm>
          <a:prstGeom prst="roundRect">
            <a:avLst>
              <a:gd name="adj" fmla="val 23529"/>
            </a:avLst>
          </a:prstGeom>
          <a:solidFill>
            <a:srgbClr val="FFFFFF">
              <a:alpha val="6000"/>
            </a:srgbClr>
          </a:solidFill>
          <a:ln/>
        </p:spPr>
      </p:sp>
      <p:sp>
        <p:nvSpPr>
          <p:cNvPr id="23" name="Text 21"/>
          <p:cNvSpPr/>
          <p:nvPr/>
        </p:nvSpPr>
        <p:spPr>
          <a:xfrm>
            <a:off x="1244600" y="5651601"/>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solidFill>
                <a:latin typeface="Arial" pitchFamily="34" charset="0"/>
                <a:ea typeface="Arial" pitchFamily="34" charset="-122"/>
                <a:cs typeface="Arial" pitchFamily="34" charset="-120"/>
              </a:rPr>
              <a:t>D</a:t>
            </a:r>
            <a:endParaRPr lang="en-US" sz="1875" dirty="0"/>
          </a:p>
        </p:txBody>
      </p:sp>
      <p:sp>
        <p:nvSpPr>
          <p:cNvPr id="24" name="Text 22"/>
          <p:cNvSpPr/>
          <p:nvPr/>
        </p:nvSpPr>
        <p:spPr>
          <a:xfrm>
            <a:off x="1758950" y="5661126"/>
            <a:ext cx="2394982"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solidFill>
                <a:latin typeface="Arial" pitchFamily="34" charset="0"/>
                <a:ea typeface="Arial" pitchFamily="34" charset="-122"/>
                <a:cs typeface="Arial" pitchFamily="34" charset="-120"/>
              </a:rPr>
              <a:t>MongoDB est gratuit</a:t>
            </a:r>
            <a:endParaRPr lang="en-US" sz="1875" dirty="0"/>
          </a:p>
        </p:txBody>
      </p:sp>
      <p:sp>
        <p:nvSpPr>
          <p:cNvPr id="25" name="Text 23"/>
          <p:cNvSpPr/>
          <p:nvPr/>
        </p:nvSpPr>
        <p:spPr>
          <a:xfrm>
            <a:off x="9353550" y="2483905"/>
            <a:ext cx="8654415" cy="369491"/>
          </a:xfrm>
          <a:prstGeom prst="rect">
            <a:avLst/>
          </a:prstGeom>
          <a:noFill/>
          <a:ln/>
        </p:spPr>
        <p:txBody>
          <a:bodyPr wrap="square" lIns="25400" tIns="25400" rIns="25400" bIns="25400" rtlCol="0" anchor="t">
            <a:normAutofit/>
          </a:bodyPr>
          <a:lstStyle/>
          <a:p>
            <a:pPr algn="l" indent="0" marL="0">
              <a:lnSpc>
                <a:spcPct val="106531"/>
              </a:lnSpc>
              <a:buNone/>
            </a:pPr>
            <a:r>
              <a:rPr lang="en-US" sz="2175" b="1" dirty="0">
                <a:solidFill>
                  <a:srgbClr val="EEF3F9">
                    <a:alpha val="99000"/>
                  </a:srgbClr>
                </a:solidFill>
                <a:latin typeface="Arial" pitchFamily="34" charset="0"/>
                <a:ea typeface="Arial" pitchFamily="34" charset="-122"/>
                <a:cs typeface="Arial" pitchFamily="34" charset="-120"/>
              </a:rPr>
              <a:t>Quel type de données convient le mieux à MongoDB ?</a:t>
            </a:r>
            <a:endParaRPr lang="en-US" sz="2175" dirty="0"/>
          </a:p>
        </p:txBody>
      </p:sp>
      <p:sp>
        <p:nvSpPr>
          <p:cNvPr id="26" name="Shape 24"/>
          <p:cNvSpPr/>
          <p:nvPr/>
        </p:nvSpPr>
        <p:spPr>
          <a:xfrm>
            <a:off x="9353550" y="3024846"/>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27" name="Shape 25"/>
          <p:cNvSpPr/>
          <p:nvPr/>
        </p:nvSpPr>
        <p:spPr>
          <a:xfrm>
            <a:off x="9569450" y="3202646"/>
            <a:ext cx="323850" cy="323850"/>
          </a:xfrm>
          <a:prstGeom prst="roundRect">
            <a:avLst>
              <a:gd name="adj" fmla="val 23529"/>
            </a:avLst>
          </a:prstGeom>
          <a:solidFill>
            <a:srgbClr val="FFFFFF">
              <a:alpha val="6000"/>
            </a:srgbClr>
          </a:solidFill>
          <a:ln/>
        </p:spPr>
      </p:sp>
      <p:sp>
        <p:nvSpPr>
          <p:cNvPr id="28" name="Text 26"/>
          <p:cNvSpPr/>
          <p:nvPr/>
        </p:nvSpPr>
        <p:spPr>
          <a:xfrm>
            <a:off x="9531350" y="3202646"/>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alpha val="99000"/>
                  </a:srgbClr>
                </a:solidFill>
                <a:latin typeface="Arial" pitchFamily="34" charset="0"/>
                <a:ea typeface="Arial" pitchFamily="34" charset="-122"/>
                <a:cs typeface="Arial" pitchFamily="34" charset="-120"/>
              </a:rPr>
              <a:t>A</a:t>
            </a:r>
            <a:endParaRPr lang="en-US" sz="1875" dirty="0"/>
          </a:p>
        </p:txBody>
      </p:sp>
      <p:sp>
        <p:nvSpPr>
          <p:cNvPr id="29" name="Text 27"/>
          <p:cNvSpPr/>
          <p:nvPr/>
        </p:nvSpPr>
        <p:spPr>
          <a:xfrm>
            <a:off x="10045701" y="3212171"/>
            <a:ext cx="5791766"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alpha val="99000"/>
                  </a:srgbClr>
                </a:solidFill>
                <a:latin typeface="Arial" pitchFamily="34" charset="0"/>
                <a:ea typeface="Arial" pitchFamily="34" charset="-122"/>
                <a:cs typeface="Arial" pitchFamily="34" charset="-120"/>
              </a:rPr>
              <a:t>Comptabilité bancaire fortement transactionnelle</a:t>
            </a:r>
            <a:endParaRPr lang="en-US" sz="1875" dirty="0"/>
          </a:p>
        </p:txBody>
      </p:sp>
      <p:sp>
        <p:nvSpPr>
          <p:cNvPr id="30" name="Shape 28"/>
          <p:cNvSpPr/>
          <p:nvPr/>
        </p:nvSpPr>
        <p:spPr>
          <a:xfrm>
            <a:off x="9353550" y="3837646"/>
            <a:ext cx="7867650" cy="692150"/>
          </a:xfrm>
          <a:prstGeom prst="roundRect">
            <a:avLst>
              <a:gd name="adj" fmla="val 16514"/>
            </a:avLst>
          </a:prstGeom>
          <a:gradFill rotWithShape="1">
            <a:gsLst>
              <a:gs pos="0">
                <a:srgbClr val="B996F0">
                  <a:alpha val="20000"/>
                </a:srgbClr>
              </a:gs>
              <a:gs pos="100000">
                <a:srgbClr val="FFFFFF">
                  <a:alpha val="3000"/>
                </a:srgbClr>
              </a:gs>
            </a:gsLst>
            <a:lin ang="4200000" scaled="0"/>
          </a:gradFill>
          <a:ln w="6350">
            <a:solidFill>
              <a:srgbClr val="C0A3F2">
                <a:alpha val="47000"/>
              </a:srgbClr>
            </a:solidFill>
            <a:prstDash val="solid"/>
          </a:ln>
        </p:spPr>
      </p:sp>
      <p:sp>
        <p:nvSpPr>
          <p:cNvPr id="31" name="Shape 29"/>
          <p:cNvSpPr/>
          <p:nvPr/>
        </p:nvSpPr>
        <p:spPr>
          <a:xfrm>
            <a:off x="9569450" y="4021796"/>
            <a:ext cx="323850" cy="323850"/>
          </a:xfrm>
          <a:prstGeom prst="roundRect">
            <a:avLst>
              <a:gd name="adj" fmla="val 23529"/>
            </a:avLst>
          </a:prstGeom>
          <a:solidFill>
            <a:srgbClr val="B897F0">
              <a:alpha val="99000"/>
            </a:srgbClr>
          </a:solidFill>
          <a:ln/>
        </p:spPr>
      </p:sp>
      <p:sp>
        <p:nvSpPr>
          <p:cNvPr id="32" name="Text 30"/>
          <p:cNvSpPr/>
          <p:nvPr/>
        </p:nvSpPr>
        <p:spPr>
          <a:xfrm>
            <a:off x="9531350" y="4021796"/>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04070C">
                    <a:alpha val="99000"/>
                  </a:srgbClr>
                </a:solidFill>
                <a:latin typeface="Arial" pitchFamily="34" charset="0"/>
                <a:ea typeface="Arial" pitchFamily="34" charset="-122"/>
                <a:cs typeface="Arial" pitchFamily="34" charset="-120"/>
              </a:rPr>
              <a:t>B</a:t>
            </a:r>
            <a:endParaRPr lang="en-US" sz="1875" dirty="0"/>
          </a:p>
        </p:txBody>
      </p:sp>
      <p:sp>
        <p:nvSpPr>
          <p:cNvPr id="33" name="Text 31"/>
          <p:cNvSpPr/>
          <p:nvPr/>
        </p:nvSpPr>
        <p:spPr>
          <a:xfrm>
            <a:off x="10045701" y="4031321"/>
            <a:ext cx="2061994" cy="342900"/>
          </a:xfrm>
          <a:prstGeom prst="rect">
            <a:avLst/>
          </a:prstGeom>
          <a:noFill/>
          <a:ln/>
        </p:spPr>
        <p:txBody>
          <a:bodyPr wrap="square" lIns="25400" tIns="25400" rIns="25400" bIns="25400" rtlCol="0" anchor="t">
            <a:normAutofit/>
          </a:bodyPr>
          <a:lstStyle/>
          <a:p>
            <a:pPr algn="l" indent="0" marL="0">
              <a:buNone/>
            </a:pPr>
            <a:r>
              <a:rPr lang="en-US" sz="1875" dirty="0">
                <a:solidFill>
                  <a:srgbClr val="EEF3F9">
                    <a:alpha val="99000"/>
                  </a:srgbClr>
                </a:solidFill>
                <a:latin typeface="Arial" pitchFamily="34" charset="0"/>
                <a:ea typeface="Arial" pitchFamily="34" charset="-122"/>
                <a:cs typeface="Arial" pitchFamily="34" charset="-120"/>
              </a:rPr>
              <a:t>Documents JSON</a:t>
            </a:r>
            <a:endParaRPr lang="en-US" sz="1875" dirty="0"/>
          </a:p>
        </p:txBody>
      </p:sp>
      <p:sp>
        <p:nvSpPr>
          <p:cNvPr id="34" name="Text 32"/>
          <p:cNvSpPr/>
          <p:nvPr/>
        </p:nvSpPr>
        <p:spPr>
          <a:xfrm>
            <a:off x="16819762" y="4015446"/>
            <a:ext cx="261739" cy="374650"/>
          </a:xfrm>
          <a:prstGeom prst="rect">
            <a:avLst/>
          </a:prstGeom>
          <a:noFill/>
          <a:ln/>
        </p:spPr>
        <p:txBody>
          <a:bodyPr wrap="square" lIns="25400" tIns="25400" rIns="25400" bIns="25400" rtlCol="0" anchor="t">
            <a:normAutofit/>
          </a:bodyPr>
          <a:lstStyle/>
          <a:p>
            <a:pPr algn="l" indent="0" marL="0">
              <a:buNone/>
            </a:pPr>
            <a:r>
              <a:rPr lang="en-US" sz="1950" dirty="0">
                <a:solidFill>
                  <a:srgbClr val="B897F0">
                    <a:alpha val="99000"/>
                  </a:srgbClr>
                </a:solidFill>
                <a:latin typeface="Arial" pitchFamily="34" charset="0"/>
                <a:ea typeface="Arial" pitchFamily="34" charset="-122"/>
                <a:cs typeface="Arial" pitchFamily="34" charset="-120"/>
              </a:rPr>
              <a:t>✓</a:t>
            </a:r>
            <a:endParaRPr lang="en-US" sz="1950" dirty="0"/>
          </a:p>
        </p:txBody>
      </p:sp>
      <p:sp>
        <p:nvSpPr>
          <p:cNvPr id="35" name="Shape 33"/>
          <p:cNvSpPr/>
          <p:nvPr/>
        </p:nvSpPr>
        <p:spPr>
          <a:xfrm>
            <a:off x="9353550" y="4663146"/>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36" name="Shape 34"/>
          <p:cNvSpPr/>
          <p:nvPr/>
        </p:nvSpPr>
        <p:spPr>
          <a:xfrm>
            <a:off x="9569450" y="4840946"/>
            <a:ext cx="323850" cy="323850"/>
          </a:xfrm>
          <a:prstGeom prst="roundRect">
            <a:avLst>
              <a:gd name="adj" fmla="val 23529"/>
            </a:avLst>
          </a:prstGeom>
          <a:solidFill>
            <a:srgbClr val="FFFFFF">
              <a:alpha val="6000"/>
            </a:srgbClr>
          </a:solidFill>
          <a:ln/>
        </p:spPr>
      </p:sp>
      <p:sp>
        <p:nvSpPr>
          <p:cNvPr id="37" name="Text 35"/>
          <p:cNvSpPr/>
          <p:nvPr/>
        </p:nvSpPr>
        <p:spPr>
          <a:xfrm>
            <a:off x="9531350" y="4840946"/>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alpha val="99000"/>
                  </a:srgbClr>
                </a:solidFill>
                <a:latin typeface="Arial" pitchFamily="34" charset="0"/>
                <a:ea typeface="Arial" pitchFamily="34" charset="-122"/>
                <a:cs typeface="Arial" pitchFamily="34" charset="-120"/>
              </a:rPr>
              <a:t>C</a:t>
            </a:r>
            <a:endParaRPr lang="en-US" sz="1875" dirty="0"/>
          </a:p>
        </p:txBody>
      </p:sp>
      <p:sp>
        <p:nvSpPr>
          <p:cNvPr id="38" name="Text 36"/>
          <p:cNvSpPr/>
          <p:nvPr/>
        </p:nvSpPr>
        <p:spPr>
          <a:xfrm>
            <a:off x="10045701" y="4850471"/>
            <a:ext cx="2363986"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alpha val="99000"/>
                  </a:srgbClr>
                </a:solidFill>
                <a:latin typeface="Arial" pitchFamily="34" charset="0"/>
                <a:ea typeface="Arial" pitchFamily="34" charset="-122"/>
                <a:cs typeface="Arial" pitchFamily="34" charset="-120"/>
              </a:rPr>
              <a:t>Images uniquement</a:t>
            </a:r>
            <a:endParaRPr lang="en-US" sz="1875" dirty="0"/>
          </a:p>
        </p:txBody>
      </p:sp>
      <p:sp>
        <p:nvSpPr>
          <p:cNvPr id="39" name="Shape 37"/>
          <p:cNvSpPr/>
          <p:nvPr/>
        </p:nvSpPr>
        <p:spPr>
          <a:xfrm>
            <a:off x="9353550" y="5475946"/>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40" name="Shape 38"/>
          <p:cNvSpPr/>
          <p:nvPr/>
        </p:nvSpPr>
        <p:spPr>
          <a:xfrm>
            <a:off x="9569450" y="5653746"/>
            <a:ext cx="323850" cy="323850"/>
          </a:xfrm>
          <a:prstGeom prst="roundRect">
            <a:avLst>
              <a:gd name="adj" fmla="val 23529"/>
            </a:avLst>
          </a:prstGeom>
          <a:solidFill>
            <a:srgbClr val="FFFFFF">
              <a:alpha val="6000"/>
            </a:srgbClr>
          </a:solidFill>
          <a:ln/>
        </p:spPr>
      </p:sp>
      <p:sp>
        <p:nvSpPr>
          <p:cNvPr id="41" name="Text 39"/>
          <p:cNvSpPr/>
          <p:nvPr/>
        </p:nvSpPr>
        <p:spPr>
          <a:xfrm>
            <a:off x="9531350" y="5653746"/>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alpha val="99000"/>
                  </a:srgbClr>
                </a:solidFill>
                <a:latin typeface="Arial" pitchFamily="34" charset="0"/>
                <a:ea typeface="Arial" pitchFamily="34" charset="-122"/>
                <a:cs typeface="Arial" pitchFamily="34" charset="-120"/>
              </a:rPr>
              <a:t>D</a:t>
            </a:r>
            <a:endParaRPr lang="en-US" sz="1875" dirty="0"/>
          </a:p>
        </p:txBody>
      </p:sp>
      <p:sp>
        <p:nvSpPr>
          <p:cNvPr id="42" name="Text 40"/>
          <p:cNvSpPr/>
          <p:nvPr/>
        </p:nvSpPr>
        <p:spPr>
          <a:xfrm>
            <a:off x="10045701" y="5663271"/>
            <a:ext cx="2277547"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alpha val="99000"/>
                  </a:srgbClr>
                </a:solidFill>
                <a:latin typeface="Arial" pitchFamily="34" charset="0"/>
                <a:ea typeface="Arial" pitchFamily="34" charset="-122"/>
                <a:cs typeface="Arial" pitchFamily="34" charset="-120"/>
              </a:rPr>
              <a:t>Vidéos uniquement</a:t>
            </a:r>
            <a:endParaRPr lang="en-US" sz="1875"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C121C"/>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B66D">
                  <a:alpha val="22000"/>
                </a:srgbClr>
              </a:gs>
              <a:gs pos="60000">
                <a:srgbClr val="FFB66D">
                  <a:alpha val="0"/>
                </a:srgbClr>
              </a:gs>
            </a:gsLst>
            <a:path path="circle">
              <a:fillToRect l="22000" t="34000" r="78000" b="66000"/>
            </a:path>
          </a:gradFill>
          <a:ln/>
        </p:spPr>
      </p:sp>
      <p:sp>
        <p:nvSpPr>
          <p:cNvPr id="3" name="Text 1"/>
          <p:cNvSpPr/>
          <p:nvPr/>
        </p:nvSpPr>
        <p:spPr>
          <a:xfrm>
            <a:off x="1066800" y="2563713"/>
            <a:ext cx="17769840" cy="368300"/>
          </a:xfrm>
          <a:prstGeom prst="rect">
            <a:avLst/>
          </a:prstGeom>
          <a:noFill/>
          <a:ln/>
        </p:spPr>
        <p:txBody>
          <a:bodyPr wrap="square" lIns="25400" tIns="25400" rIns="25400" bIns="25400" rtlCol="0" anchor="t">
            <a:normAutofit/>
          </a:bodyPr>
          <a:lstStyle/>
          <a:p>
            <a:pPr algn="l" indent="0" marL="0">
              <a:buNone/>
            </a:pPr>
            <a:r>
              <a:rPr lang="en-US" sz="1950" spc="546" kern="0" dirty="0">
                <a:solidFill>
                  <a:srgbClr val="FFB46E">
                    <a:alpha val="97000"/>
                  </a:srgbClr>
                </a:solidFill>
                <a:latin typeface="Courier New" pitchFamily="34" charset="0"/>
                <a:ea typeface="Courier New" pitchFamily="34" charset="-122"/>
                <a:cs typeface="Courier New" pitchFamily="34" charset="-120"/>
              </a:rPr>
              <a:t>ATELIER 03 · 2 HEURES</a:t>
            </a:r>
            <a:endParaRPr lang="en-US" sz="1950" dirty="0"/>
          </a:p>
        </p:txBody>
      </p:sp>
      <p:sp>
        <p:nvSpPr>
          <p:cNvPr id="4" name="Text 2"/>
          <p:cNvSpPr/>
          <p:nvPr/>
        </p:nvSpPr>
        <p:spPr>
          <a:xfrm>
            <a:off x="1066800" y="2970115"/>
            <a:ext cx="17769840" cy="1924050"/>
          </a:xfrm>
          <a:prstGeom prst="rect">
            <a:avLst/>
          </a:prstGeom>
          <a:noFill/>
          <a:ln/>
        </p:spPr>
        <p:txBody>
          <a:bodyPr wrap="square" lIns="25400" tIns="25400" rIns="25400" bIns="25400" rtlCol="0" anchor="t">
            <a:normAutofit/>
          </a:bodyPr>
          <a:lstStyle/>
          <a:p>
            <a:pPr algn="l" indent="0" marL="0">
              <a:lnSpc>
                <a:spcPct val="78158"/>
              </a:lnSpc>
              <a:buNone/>
            </a:pPr>
            <a:r>
              <a:rPr lang="en-US" sz="16500" b="1" spc="-660" kern="0" dirty="0">
                <a:solidFill>
                  <a:srgbClr val="FEC695"/>
                </a:solidFill>
                <a:latin typeface="Arial" pitchFamily="34" charset="0"/>
                <a:ea typeface="Arial" pitchFamily="34" charset="-122"/>
                <a:cs typeface="Arial" pitchFamily="34" charset="-120"/>
              </a:rPr>
              <a:t>03</a:t>
            </a:r>
            <a:endParaRPr lang="en-US" sz="16500" dirty="0"/>
          </a:p>
        </p:txBody>
      </p:sp>
      <p:sp>
        <p:nvSpPr>
          <p:cNvPr id="5" name="Text 3"/>
          <p:cNvSpPr/>
          <p:nvPr/>
        </p:nvSpPr>
        <p:spPr>
          <a:xfrm>
            <a:off x="1066800" y="4933724"/>
            <a:ext cx="16639032" cy="1514674"/>
          </a:xfrm>
          <a:prstGeom prst="rect">
            <a:avLst/>
          </a:prstGeom>
          <a:noFill/>
          <a:ln/>
        </p:spPr>
        <p:txBody>
          <a:bodyPr wrap="square" lIns="25400" tIns="25400" rIns="25400" bIns="25400" rtlCol="0" anchor="t">
            <a:normAutofit/>
          </a:bodyPr>
          <a:lstStyle/>
          <a:p>
            <a:pPr algn="l" indent="0" marL="0">
              <a:lnSpc>
                <a:spcPct val="88763"/>
              </a:lnSpc>
              <a:buNone/>
            </a:pPr>
            <a:r>
              <a:rPr lang="en-US" sz="5700" b="1" spc="-114" kern="0" dirty="0">
                <a:solidFill>
                  <a:srgbClr val="EEF3F9">
                    <a:alpha val="99000"/>
                  </a:srgbClr>
                </a:solidFill>
                <a:latin typeface="Arial" pitchFamily="34" charset="0"/>
                <a:ea typeface="Arial" pitchFamily="34" charset="-122"/>
                <a:cs typeface="Arial" pitchFamily="34" charset="-120"/>
              </a:rPr>
              <a:t>Conteneurisation des environnements Big Data avec Docker</a:t>
            </a:r>
            <a:endParaRPr lang="en-US" sz="5700" dirty="0"/>
          </a:p>
        </p:txBody>
      </p:sp>
      <p:sp>
        <p:nvSpPr>
          <p:cNvPr id="6" name="Text 4"/>
          <p:cNvSpPr/>
          <p:nvPr/>
        </p:nvSpPr>
        <p:spPr>
          <a:xfrm>
            <a:off x="1066800" y="6656487"/>
            <a:ext cx="10831068" cy="1104900"/>
          </a:xfrm>
          <a:prstGeom prst="rect">
            <a:avLst/>
          </a:prstGeom>
          <a:noFill/>
          <a:ln/>
        </p:spPr>
        <p:txBody>
          <a:bodyPr wrap="square" lIns="25400" tIns="25400" rIns="25400" bIns="25400" rtlCol="0" anchor="t">
            <a:normAutofit/>
          </a:bodyPr>
          <a:lstStyle/>
          <a:p>
            <a:pPr algn="l" indent="0" marL="0">
              <a:lnSpc>
                <a:spcPct val="121739"/>
              </a:lnSpc>
              <a:buNone/>
            </a:pPr>
            <a:r>
              <a:rPr lang="en-US" sz="3000" dirty="0">
                <a:solidFill>
                  <a:srgbClr val="8EA0B5">
                    <a:alpha val="77000"/>
                  </a:srgbClr>
                </a:solidFill>
                <a:latin typeface="Arial" pitchFamily="34" charset="0"/>
                <a:ea typeface="Arial" pitchFamily="34" charset="-122"/>
                <a:cs typeface="Arial" pitchFamily="34" charset="-120"/>
              </a:rPr>
              <a:t>Le socle technique transversal du module — de MongoDB à Spark, jusqu'à Amazon EMR.</a:t>
            </a:r>
            <a:endParaRPr lang="en-US" sz="3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0E15"/>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FFB46E">
                    <a:alpha val="97000"/>
                  </a:srgbClr>
                </a:solidFill>
                <a:latin typeface="Courier New" pitchFamily="34" charset="0"/>
                <a:ea typeface="Courier New" pitchFamily="34" charset="-122"/>
                <a:cs typeface="Courier New" pitchFamily="34" charset="-120"/>
              </a:rPr>
              <a:t>ATELIER 03 · CONCEPTS</a:t>
            </a:r>
            <a:endParaRPr lang="en-US" sz="1800" dirty="0"/>
          </a:p>
        </p:txBody>
      </p:sp>
      <p:sp>
        <p:nvSpPr>
          <p:cNvPr id="3" name="Text 1"/>
          <p:cNvSpPr/>
          <p:nvPr/>
        </p:nvSpPr>
        <p:spPr>
          <a:xfrm>
            <a:off x="1066800" y="1314450"/>
            <a:ext cx="9696271"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Les enjeux de la conteneurisation</a:t>
            </a:r>
            <a:endParaRPr lang="en-US" sz="4800" dirty="0"/>
          </a:p>
        </p:txBody>
      </p:sp>
      <p:sp>
        <p:nvSpPr>
          <p:cNvPr id="4" name="Text 2"/>
          <p:cNvSpPr/>
          <p:nvPr/>
        </p:nvSpPr>
        <p:spPr>
          <a:xfrm>
            <a:off x="1066800" y="2176959"/>
            <a:ext cx="13939033" cy="1363861"/>
          </a:xfrm>
          <a:prstGeom prst="rect">
            <a:avLst/>
          </a:prstGeom>
          <a:noFill/>
          <a:ln/>
        </p:spPr>
        <p:txBody>
          <a:bodyPr wrap="square" lIns="25400" tIns="25400" rIns="25400" bIns="25400" rtlCol="0" anchor="t">
            <a:normAutofit/>
          </a:bodyPr>
          <a:lstStyle/>
          <a:p>
            <a:pPr algn="l" indent="0" marL="0">
              <a:lnSpc>
                <a:spcPct val="126545"/>
              </a:lnSpc>
              <a:buNone/>
            </a:pPr>
            <a:r>
              <a:rPr lang="en-US" sz="2400" dirty="0">
                <a:solidFill>
                  <a:srgbClr val="8EA0B5">
                    <a:alpha val="92000"/>
                  </a:srgbClr>
                </a:solidFill>
                <a:latin typeface="Arial" pitchFamily="34" charset="0"/>
                <a:ea typeface="Arial" pitchFamily="34" charset="-122"/>
                <a:cs typeface="Arial" pitchFamily="34" charset="-120"/>
              </a:rPr>
              <a:t>Empaqueter une application avec son environnement d’exécution dans une unité portable et reproductible, indépendante de la machine hôte. Cinq notions suffisent à en décrire le fonctionnement.</a:t>
            </a:r>
            <a:endParaRPr lang="en-US" sz="2400" dirty="0"/>
          </a:p>
        </p:txBody>
      </p:sp>
      <p:sp>
        <p:nvSpPr>
          <p:cNvPr id="5" name="Shape 3"/>
          <p:cNvSpPr/>
          <p:nvPr/>
        </p:nvSpPr>
        <p:spPr>
          <a:xfrm>
            <a:off x="1066800" y="3997309"/>
            <a:ext cx="3093641" cy="5470541"/>
          </a:xfrm>
          <a:prstGeom prst="roundRect">
            <a:avLst>
              <a:gd name="adj" fmla="val 4910"/>
            </a:avLst>
          </a:prstGeom>
          <a:solidFill>
            <a:srgbClr val="FFFFFF">
              <a:alpha val="3000"/>
            </a:srgbClr>
          </a:solidFill>
          <a:ln/>
        </p:spPr>
      </p:sp>
      <p:sp>
        <p:nvSpPr>
          <p:cNvPr id="6" name="Shape 4"/>
          <p:cNvSpPr/>
          <p:nvPr/>
        </p:nvSpPr>
        <p:spPr>
          <a:xfrm>
            <a:off x="1066800" y="9461543"/>
            <a:ext cx="3093641" cy="9525"/>
          </a:xfrm>
          <a:prstGeom prst="rect">
            <a:avLst/>
          </a:prstGeom>
          <a:solidFill>
            <a:srgbClr val="FFFFFF">
              <a:alpha val="10000"/>
            </a:srgbClr>
          </a:solidFill>
          <a:ln/>
        </p:spPr>
      </p:sp>
      <p:sp>
        <p:nvSpPr>
          <p:cNvPr id="7" name="Shape 5"/>
          <p:cNvSpPr/>
          <p:nvPr/>
        </p:nvSpPr>
        <p:spPr>
          <a:xfrm>
            <a:off x="1066800" y="3997309"/>
            <a:ext cx="3093641" cy="9525"/>
          </a:xfrm>
          <a:prstGeom prst="rect">
            <a:avLst/>
          </a:prstGeom>
          <a:solidFill>
            <a:srgbClr val="FFFFFF">
              <a:alpha val="10000"/>
            </a:srgbClr>
          </a:solidFill>
          <a:ln/>
        </p:spPr>
      </p:sp>
      <p:sp>
        <p:nvSpPr>
          <p:cNvPr id="8" name="Shape 6"/>
          <p:cNvSpPr/>
          <p:nvPr/>
        </p:nvSpPr>
        <p:spPr>
          <a:xfrm>
            <a:off x="1066800" y="3997309"/>
            <a:ext cx="9525" cy="5470541"/>
          </a:xfrm>
          <a:prstGeom prst="rect">
            <a:avLst/>
          </a:prstGeom>
          <a:solidFill>
            <a:srgbClr val="FFFFFF">
              <a:alpha val="10000"/>
            </a:srgbClr>
          </a:solidFill>
          <a:ln/>
        </p:spPr>
      </p:sp>
      <p:sp>
        <p:nvSpPr>
          <p:cNvPr id="9" name="Shape 7"/>
          <p:cNvSpPr/>
          <p:nvPr/>
        </p:nvSpPr>
        <p:spPr>
          <a:xfrm>
            <a:off x="4154091" y="3997309"/>
            <a:ext cx="9525" cy="5470541"/>
          </a:xfrm>
          <a:prstGeom prst="rect">
            <a:avLst/>
          </a:prstGeom>
          <a:solidFill>
            <a:srgbClr val="FFFFFF">
              <a:alpha val="10000"/>
            </a:srgbClr>
          </a:solidFill>
          <a:ln/>
        </p:spPr>
      </p:sp>
      <p:pic>
        <p:nvPicPr>
          <p:cNvPr id="10"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320800" y="4287427"/>
            <a:ext cx="438150" cy="435176"/>
          </a:xfrm>
          <a:prstGeom prst="rect">
            <a:avLst/>
          </a:prstGeom>
        </p:spPr>
      </p:pic>
      <p:sp>
        <p:nvSpPr>
          <p:cNvPr id="11" name="Text 8"/>
          <p:cNvSpPr/>
          <p:nvPr/>
        </p:nvSpPr>
        <p:spPr>
          <a:xfrm>
            <a:off x="1320800" y="4892889"/>
            <a:ext cx="2844205" cy="366058"/>
          </a:xfrm>
          <a:prstGeom prst="rect">
            <a:avLst/>
          </a:prstGeom>
          <a:noFill/>
          <a:ln/>
        </p:spPr>
        <p:txBody>
          <a:bodyPr wrap="square" lIns="25400" tIns="25400" rIns="25400" bIns="25400" rtlCol="0" anchor="t">
            <a:normAutofit/>
          </a:bodyPr>
          <a:lstStyle/>
          <a:p>
            <a:pPr algn="l" indent="0" marL="0">
              <a:buNone/>
            </a:pPr>
            <a:r>
              <a:rPr lang="en-US" sz="2235" b="1" dirty="0">
                <a:solidFill>
                  <a:srgbClr val="FFB46E"/>
                </a:solidFill>
                <a:latin typeface="Arial" pitchFamily="34" charset="0"/>
                <a:ea typeface="Arial" pitchFamily="34" charset="-122"/>
                <a:cs typeface="Arial" pitchFamily="34" charset="-120"/>
              </a:rPr>
              <a:t>Image</a:t>
            </a:r>
            <a:endParaRPr lang="en-US" sz="2235" dirty="0"/>
          </a:p>
        </p:txBody>
      </p:sp>
      <p:sp>
        <p:nvSpPr>
          <p:cNvPr id="12" name="Text 9"/>
          <p:cNvSpPr/>
          <p:nvPr/>
        </p:nvSpPr>
        <p:spPr>
          <a:xfrm>
            <a:off x="1320800" y="5353292"/>
            <a:ext cx="2663210" cy="1025523"/>
          </a:xfrm>
          <a:prstGeom prst="rect">
            <a:avLst/>
          </a:prstGeom>
          <a:noFill/>
          <a:ln/>
        </p:spPr>
        <p:txBody>
          <a:bodyPr wrap="square" lIns="25400" tIns="25400" rIns="25400" bIns="25400" rtlCol="0" anchor="t">
            <a:normAutofit/>
          </a:bodyPr>
          <a:lstStyle/>
          <a:p>
            <a:pPr algn="l" indent="0" marL="0">
              <a:lnSpc>
                <a:spcPct val="124286"/>
              </a:lnSpc>
              <a:buNone/>
            </a:pPr>
            <a:r>
              <a:rPr lang="en-US" sz="1788" dirty="0">
                <a:solidFill>
                  <a:srgbClr val="8EA0B5"/>
                </a:solidFill>
                <a:latin typeface="Arial" pitchFamily="34" charset="0"/>
                <a:ea typeface="Arial" pitchFamily="34" charset="-122"/>
                <a:cs typeface="Arial" pitchFamily="34" charset="-120"/>
              </a:rPr>
              <a:t>Modèle en lecture seule : code, dépendances, configuration.</a:t>
            </a:r>
            <a:endParaRPr lang="en-US" sz="1788" dirty="0"/>
          </a:p>
        </p:txBody>
      </p:sp>
      <p:sp>
        <p:nvSpPr>
          <p:cNvPr id="13" name="Shape 10"/>
          <p:cNvSpPr/>
          <p:nvPr/>
        </p:nvSpPr>
        <p:spPr>
          <a:xfrm>
            <a:off x="4331891" y="4168187"/>
            <a:ext cx="3093740" cy="5299663"/>
          </a:xfrm>
          <a:prstGeom prst="roundRect">
            <a:avLst>
              <a:gd name="adj" fmla="val 4833"/>
            </a:avLst>
          </a:prstGeom>
          <a:solidFill>
            <a:srgbClr val="FFFFFF">
              <a:alpha val="3000"/>
            </a:srgbClr>
          </a:solidFill>
          <a:ln/>
        </p:spPr>
      </p:sp>
      <p:sp>
        <p:nvSpPr>
          <p:cNvPr id="14" name="Shape 11"/>
          <p:cNvSpPr/>
          <p:nvPr/>
        </p:nvSpPr>
        <p:spPr>
          <a:xfrm>
            <a:off x="4331891" y="9461740"/>
            <a:ext cx="3093740" cy="9525"/>
          </a:xfrm>
          <a:prstGeom prst="rect">
            <a:avLst/>
          </a:prstGeom>
          <a:solidFill>
            <a:srgbClr val="FFFFFF">
              <a:alpha val="10000"/>
            </a:srgbClr>
          </a:solidFill>
          <a:ln/>
        </p:spPr>
      </p:sp>
      <p:sp>
        <p:nvSpPr>
          <p:cNvPr id="15" name="Shape 12"/>
          <p:cNvSpPr/>
          <p:nvPr/>
        </p:nvSpPr>
        <p:spPr>
          <a:xfrm>
            <a:off x="4331891" y="4168187"/>
            <a:ext cx="3093740" cy="9525"/>
          </a:xfrm>
          <a:prstGeom prst="rect">
            <a:avLst/>
          </a:prstGeom>
          <a:solidFill>
            <a:srgbClr val="FFFFFF">
              <a:alpha val="10000"/>
            </a:srgbClr>
          </a:solidFill>
          <a:ln/>
        </p:spPr>
      </p:sp>
      <p:sp>
        <p:nvSpPr>
          <p:cNvPr id="16" name="Shape 13"/>
          <p:cNvSpPr/>
          <p:nvPr/>
        </p:nvSpPr>
        <p:spPr>
          <a:xfrm>
            <a:off x="4331891" y="4168187"/>
            <a:ext cx="9525" cy="5299663"/>
          </a:xfrm>
          <a:prstGeom prst="rect">
            <a:avLst/>
          </a:prstGeom>
          <a:solidFill>
            <a:srgbClr val="FFFFFF">
              <a:alpha val="10000"/>
            </a:srgbClr>
          </a:solidFill>
          <a:ln/>
        </p:spPr>
      </p:sp>
      <p:sp>
        <p:nvSpPr>
          <p:cNvPr id="17" name="Shape 14"/>
          <p:cNvSpPr/>
          <p:nvPr/>
        </p:nvSpPr>
        <p:spPr>
          <a:xfrm>
            <a:off x="7419281" y="4168187"/>
            <a:ext cx="9525" cy="5299663"/>
          </a:xfrm>
          <a:prstGeom prst="rect">
            <a:avLst/>
          </a:prstGeom>
          <a:solidFill>
            <a:srgbClr val="FFFFFF">
              <a:alpha val="10000"/>
            </a:srgbClr>
          </a:solidFill>
          <a:ln/>
        </p:spPr>
      </p:sp>
      <p:pic>
        <p:nvPicPr>
          <p:cNvPr id="1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85891" y="4449242"/>
            <a:ext cx="438150" cy="421583"/>
          </a:xfrm>
          <a:prstGeom prst="rect">
            <a:avLst/>
          </a:prstGeom>
        </p:spPr>
      </p:pic>
      <p:sp>
        <p:nvSpPr>
          <p:cNvPr id="19" name="Text 15"/>
          <p:cNvSpPr/>
          <p:nvPr/>
        </p:nvSpPr>
        <p:spPr>
          <a:xfrm>
            <a:off x="4585891" y="5035792"/>
            <a:ext cx="2844314" cy="355815"/>
          </a:xfrm>
          <a:prstGeom prst="rect">
            <a:avLst/>
          </a:prstGeom>
          <a:noFill/>
          <a:ln/>
        </p:spPr>
        <p:txBody>
          <a:bodyPr wrap="square" lIns="25400" tIns="25400" rIns="25400" bIns="25400" rtlCol="0" anchor="t">
            <a:normAutofit/>
          </a:bodyPr>
          <a:lstStyle/>
          <a:p>
            <a:pPr algn="l" indent="0" marL="0">
              <a:buNone/>
            </a:pPr>
            <a:r>
              <a:rPr lang="en-US" sz="2165" b="1" dirty="0">
                <a:solidFill>
                  <a:srgbClr val="FFB46E"/>
                </a:solidFill>
                <a:latin typeface="Arial" pitchFamily="34" charset="0"/>
                <a:ea typeface="Arial" pitchFamily="34" charset="-122"/>
                <a:cs typeface="Arial" pitchFamily="34" charset="-120"/>
              </a:rPr>
              <a:t>Conteneur</a:t>
            </a:r>
            <a:endParaRPr lang="en-US" sz="2165" dirty="0"/>
          </a:p>
        </p:txBody>
      </p:sp>
      <p:sp>
        <p:nvSpPr>
          <p:cNvPr id="20" name="Text 16"/>
          <p:cNvSpPr/>
          <p:nvPr/>
        </p:nvSpPr>
        <p:spPr>
          <a:xfrm>
            <a:off x="4585891" y="5481814"/>
            <a:ext cx="2663312" cy="994680"/>
          </a:xfrm>
          <a:prstGeom prst="rect">
            <a:avLst/>
          </a:prstGeom>
          <a:noFill/>
          <a:ln/>
        </p:spPr>
        <p:txBody>
          <a:bodyPr wrap="square" lIns="25400" tIns="25400" rIns="25400" bIns="25400" rtlCol="0" anchor="t">
            <a:normAutofit/>
          </a:bodyPr>
          <a:lstStyle/>
          <a:p>
            <a:pPr algn="l" indent="0" marL="0">
              <a:lnSpc>
                <a:spcPct val="124286"/>
              </a:lnSpc>
              <a:buNone/>
            </a:pPr>
            <a:r>
              <a:rPr lang="en-US" sz="1732" dirty="0">
                <a:solidFill>
                  <a:srgbClr val="8EA0B5"/>
                </a:solidFill>
                <a:latin typeface="Arial" pitchFamily="34" charset="0"/>
                <a:ea typeface="Arial" pitchFamily="34" charset="-122"/>
                <a:cs typeface="Arial" pitchFamily="34" charset="-120"/>
              </a:rPr>
              <a:t>Instance en exécution d'une image, isolée et légère.</a:t>
            </a:r>
            <a:endParaRPr lang="en-US" sz="1732" dirty="0"/>
          </a:p>
        </p:txBody>
      </p:sp>
      <p:sp>
        <p:nvSpPr>
          <p:cNvPr id="21" name="Shape 17"/>
          <p:cNvSpPr/>
          <p:nvPr/>
        </p:nvSpPr>
        <p:spPr>
          <a:xfrm>
            <a:off x="7597080" y="4549417"/>
            <a:ext cx="3093740" cy="4918434"/>
          </a:xfrm>
          <a:prstGeom prst="roundRect">
            <a:avLst>
              <a:gd name="adj" fmla="val 4662"/>
            </a:avLst>
          </a:prstGeom>
          <a:solidFill>
            <a:srgbClr val="FFFFFF">
              <a:alpha val="3000"/>
            </a:srgbClr>
          </a:solidFill>
          <a:ln/>
        </p:spPr>
      </p:sp>
      <p:sp>
        <p:nvSpPr>
          <p:cNvPr id="22" name="Shape 18"/>
          <p:cNvSpPr/>
          <p:nvPr/>
        </p:nvSpPr>
        <p:spPr>
          <a:xfrm>
            <a:off x="7597080" y="9462180"/>
            <a:ext cx="3093740" cy="9525"/>
          </a:xfrm>
          <a:prstGeom prst="rect">
            <a:avLst/>
          </a:prstGeom>
          <a:solidFill>
            <a:srgbClr val="FFFFFF">
              <a:alpha val="10000"/>
            </a:srgbClr>
          </a:solidFill>
          <a:ln/>
        </p:spPr>
      </p:sp>
      <p:sp>
        <p:nvSpPr>
          <p:cNvPr id="23" name="Shape 19"/>
          <p:cNvSpPr/>
          <p:nvPr/>
        </p:nvSpPr>
        <p:spPr>
          <a:xfrm>
            <a:off x="7597080" y="4549417"/>
            <a:ext cx="3093740" cy="9525"/>
          </a:xfrm>
          <a:prstGeom prst="rect">
            <a:avLst/>
          </a:prstGeom>
          <a:solidFill>
            <a:srgbClr val="FFFFFF">
              <a:alpha val="10000"/>
            </a:srgbClr>
          </a:solidFill>
          <a:ln/>
        </p:spPr>
      </p:sp>
      <p:sp>
        <p:nvSpPr>
          <p:cNvPr id="24" name="Shape 20"/>
          <p:cNvSpPr/>
          <p:nvPr/>
        </p:nvSpPr>
        <p:spPr>
          <a:xfrm>
            <a:off x="7597080" y="4549417"/>
            <a:ext cx="9525" cy="4918434"/>
          </a:xfrm>
          <a:prstGeom prst="rect">
            <a:avLst/>
          </a:prstGeom>
          <a:solidFill>
            <a:srgbClr val="FFFFFF">
              <a:alpha val="10000"/>
            </a:srgbClr>
          </a:solidFill>
          <a:ln/>
        </p:spPr>
      </p:sp>
      <p:sp>
        <p:nvSpPr>
          <p:cNvPr id="25" name="Shape 21"/>
          <p:cNvSpPr/>
          <p:nvPr/>
        </p:nvSpPr>
        <p:spPr>
          <a:xfrm>
            <a:off x="10684470" y="4549417"/>
            <a:ext cx="9525" cy="4918434"/>
          </a:xfrm>
          <a:prstGeom prst="rect">
            <a:avLst/>
          </a:prstGeom>
          <a:solidFill>
            <a:srgbClr val="FFFFFF">
              <a:alpha val="10000"/>
            </a:srgbClr>
          </a:solidFill>
          <a:ln/>
        </p:spPr>
      </p:sp>
      <p:pic>
        <p:nvPicPr>
          <p:cNvPr id="2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51081" y="4810255"/>
            <a:ext cx="438150" cy="391256"/>
          </a:xfrm>
          <a:prstGeom prst="rect">
            <a:avLst/>
          </a:prstGeom>
        </p:spPr>
      </p:pic>
      <p:sp>
        <p:nvSpPr>
          <p:cNvPr id="27" name="Text 22"/>
          <p:cNvSpPr/>
          <p:nvPr/>
        </p:nvSpPr>
        <p:spPr>
          <a:xfrm>
            <a:off x="7851081" y="5354611"/>
            <a:ext cx="2844314" cy="332960"/>
          </a:xfrm>
          <a:prstGeom prst="rect">
            <a:avLst/>
          </a:prstGeom>
          <a:noFill/>
          <a:ln/>
        </p:spPr>
        <p:txBody>
          <a:bodyPr wrap="square" lIns="25400" tIns="25400" rIns="25400" bIns="25400" rtlCol="0" anchor="t">
            <a:normAutofit/>
          </a:bodyPr>
          <a:lstStyle/>
          <a:p>
            <a:pPr algn="l" indent="0" marL="0">
              <a:buNone/>
            </a:pPr>
            <a:r>
              <a:rPr lang="en-US" sz="2009" b="1" dirty="0">
                <a:solidFill>
                  <a:srgbClr val="FFB46E"/>
                </a:solidFill>
                <a:latin typeface="Arial" pitchFamily="34" charset="0"/>
                <a:ea typeface="Arial" pitchFamily="34" charset="-122"/>
                <a:cs typeface="Arial" pitchFamily="34" charset="-120"/>
              </a:rPr>
              <a:t>Registre</a:t>
            </a:r>
            <a:endParaRPr lang="en-US" sz="2009" dirty="0"/>
          </a:p>
        </p:txBody>
      </p:sp>
      <p:sp>
        <p:nvSpPr>
          <p:cNvPr id="28" name="Text 23"/>
          <p:cNvSpPr/>
          <p:nvPr/>
        </p:nvSpPr>
        <p:spPr>
          <a:xfrm>
            <a:off x="7851081" y="5768548"/>
            <a:ext cx="2663312" cy="629946"/>
          </a:xfrm>
          <a:prstGeom prst="rect">
            <a:avLst/>
          </a:prstGeom>
          <a:noFill/>
          <a:ln/>
        </p:spPr>
        <p:txBody>
          <a:bodyPr wrap="square" lIns="25400" tIns="25400" rIns="25400" bIns="25400" rtlCol="0" anchor="t">
            <a:normAutofit/>
          </a:bodyPr>
          <a:lstStyle/>
          <a:p>
            <a:pPr algn="l" indent="0" marL="0">
              <a:lnSpc>
                <a:spcPct val="124286"/>
              </a:lnSpc>
              <a:buNone/>
            </a:pPr>
            <a:r>
              <a:rPr lang="en-US" sz="1607" dirty="0">
                <a:solidFill>
                  <a:srgbClr val="8EA0B5"/>
                </a:solidFill>
                <a:latin typeface="Arial" pitchFamily="34" charset="0"/>
                <a:ea typeface="Arial" pitchFamily="34" charset="-122"/>
                <a:cs typeface="Arial" pitchFamily="34" charset="-120"/>
              </a:rPr>
              <a:t>Dépôt d'images, public (Docker Hub) ou privé.</a:t>
            </a:r>
            <a:endParaRPr lang="en-US" sz="1607" dirty="0"/>
          </a:p>
        </p:txBody>
      </p:sp>
      <p:sp>
        <p:nvSpPr>
          <p:cNvPr id="29" name="Shape 24"/>
          <p:cNvSpPr/>
          <p:nvPr/>
        </p:nvSpPr>
        <p:spPr>
          <a:xfrm>
            <a:off x="10862271" y="5294809"/>
            <a:ext cx="3093740" cy="4173042"/>
          </a:xfrm>
          <a:prstGeom prst="roundRect">
            <a:avLst>
              <a:gd name="adj" fmla="val 4329"/>
            </a:avLst>
          </a:prstGeom>
          <a:solidFill>
            <a:srgbClr val="FFFFFF">
              <a:alpha val="3000"/>
            </a:srgbClr>
          </a:solidFill>
          <a:ln/>
        </p:spPr>
      </p:sp>
      <p:sp>
        <p:nvSpPr>
          <p:cNvPr id="30" name="Shape 25"/>
          <p:cNvSpPr/>
          <p:nvPr/>
        </p:nvSpPr>
        <p:spPr>
          <a:xfrm>
            <a:off x="10862271" y="9463039"/>
            <a:ext cx="3093740" cy="9525"/>
          </a:xfrm>
          <a:prstGeom prst="rect">
            <a:avLst/>
          </a:prstGeom>
          <a:solidFill>
            <a:srgbClr val="FFFFFF">
              <a:alpha val="10000"/>
            </a:srgbClr>
          </a:solidFill>
          <a:ln/>
        </p:spPr>
      </p:sp>
      <p:sp>
        <p:nvSpPr>
          <p:cNvPr id="31" name="Shape 26"/>
          <p:cNvSpPr/>
          <p:nvPr/>
        </p:nvSpPr>
        <p:spPr>
          <a:xfrm>
            <a:off x="10862271" y="5294809"/>
            <a:ext cx="3093740" cy="9525"/>
          </a:xfrm>
          <a:prstGeom prst="rect">
            <a:avLst/>
          </a:prstGeom>
          <a:solidFill>
            <a:srgbClr val="FFFFFF">
              <a:alpha val="10000"/>
            </a:srgbClr>
          </a:solidFill>
          <a:ln/>
        </p:spPr>
      </p:sp>
      <p:sp>
        <p:nvSpPr>
          <p:cNvPr id="32" name="Shape 27"/>
          <p:cNvSpPr/>
          <p:nvPr/>
        </p:nvSpPr>
        <p:spPr>
          <a:xfrm>
            <a:off x="10862271" y="5294809"/>
            <a:ext cx="9525" cy="4173042"/>
          </a:xfrm>
          <a:prstGeom prst="rect">
            <a:avLst/>
          </a:prstGeom>
          <a:solidFill>
            <a:srgbClr val="FFFFFF">
              <a:alpha val="10000"/>
            </a:srgbClr>
          </a:solidFill>
          <a:ln/>
        </p:spPr>
      </p:sp>
      <p:sp>
        <p:nvSpPr>
          <p:cNvPr id="33" name="Shape 28"/>
          <p:cNvSpPr/>
          <p:nvPr/>
        </p:nvSpPr>
        <p:spPr>
          <a:xfrm>
            <a:off x="13949661" y="5294809"/>
            <a:ext cx="9525" cy="4173042"/>
          </a:xfrm>
          <a:prstGeom prst="rect">
            <a:avLst/>
          </a:prstGeom>
          <a:solidFill>
            <a:srgbClr val="FFFFFF">
              <a:alpha val="10000"/>
            </a:srgbClr>
          </a:solidFill>
          <a:ln/>
        </p:spPr>
      </p:sp>
      <p:pic>
        <p:nvPicPr>
          <p:cNvPr id="34"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116270" y="5516116"/>
            <a:ext cx="438150" cy="331961"/>
          </a:xfrm>
          <a:prstGeom prst="rect">
            <a:avLst/>
          </a:prstGeom>
        </p:spPr>
      </p:pic>
      <p:sp>
        <p:nvSpPr>
          <p:cNvPr id="35" name="Text 29"/>
          <p:cNvSpPr/>
          <p:nvPr/>
        </p:nvSpPr>
        <p:spPr>
          <a:xfrm>
            <a:off x="11116270" y="5977975"/>
            <a:ext cx="2844314" cy="288274"/>
          </a:xfrm>
          <a:prstGeom prst="rect">
            <a:avLst/>
          </a:prstGeom>
          <a:noFill/>
          <a:ln/>
        </p:spPr>
        <p:txBody>
          <a:bodyPr wrap="square" lIns="25400" tIns="25400" rIns="25400" bIns="25400" rtlCol="0" anchor="t">
            <a:normAutofit/>
          </a:bodyPr>
          <a:lstStyle/>
          <a:p>
            <a:pPr algn="l" indent="0" marL="0">
              <a:buNone/>
            </a:pPr>
            <a:r>
              <a:rPr lang="en-US" sz="1705" b="1" dirty="0">
                <a:solidFill>
                  <a:srgbClr val="FFB46E"/>
                </a:solidFill>
                <a:latin typeface="Arial" pitchFamily="34" charset="0"/>
                <a:ea typeface="Arial" pitchFamily="34" charset="-122"/>
                <a:cs typeface="Arial" pitchFamily="34" charset="-120"/>
              </a:rPr>
              <a:t>Volume</a:t>
            </a:r>
            <a:endParaRPr lang="en-US" sz="1705" dirty="0"/>
          </a:p>
        </p:txBody>
      </p:sp>
      <p:sp>
        <p:nvSpPr>
          <p:cNvPr id="36" name="Text 30"/>
          <p:cNvSpPr/>
          <p:nvPr/>
        </p:nvSpPr>
        <p:spPr>
          <a:xfrm>
            <a:off x="11116270" y="6329180"/>
            <a:ext cx="2663312" cy="791327"/>
          </a:xfrm>
          <a:prstGeom prst="rect">
            <a:avLst/>
          </a:prstGeom>
          <a:noFill/>
          <a:ln/>
        </p:spPr>
        <p:txBody>
          <a:bodyPr wrap="square" lIns="25400" tIns="25400" rIns="25400" bIns="25400" rtlCol="0" anchor="t">
            <a:normAutofit/>
          </a:bodyPr>
          <a:lstStyle/>
          <a:p>
            <a:pPr algn="l" indent="0" marL="0">
              <a:lnSpc>
                <a:spcPct val="124286"/>
              </a:lnSpc>
              <a:buNone/>
            </a:pPr>
            <a:r>
              <a:rPr lang="en-US" sz="1364" dirty="0">
                <a:solidFill>
                  <a:srgbClr val="8EA0B5"/>
                </a:solidFill>
                <a:latin typeface="Arial" pitchFamily="34" charset="0"/>
                <a:ea typeface="Arial" pitchFamily="34" charset="-122"/>
                <a:cs typeface="Arial" pitchFamily="34" charset="-120"/>
              </a:rPr>
              <a:t>Persistance des données hors du cycle de vie du conteneur.</a:t>
            </a:r>
            <a:endParaRPr lang="en-US" sz="1364" dirty="0"/>
          </a:p>
        </p:txBody>
      </p:sp>
      <p:sp>
        <p:nvSpPr>
          <p:cNvPr id="37" name="Shape 31"/>
          <p:cNvSpPr/>
          <p:nvPr/>
        </p:nvSpPr>
        <p:spPr>
          <a:xfrm>
            <a:off x="14127461" y="6654895"/>
            <a:ext cx="3093740" cy="2812956"/>
          </a:xfrm>
          <a:prstGeom prst="roundRect">
            <a:avLst>
              <a:gd name="adj" fmla="val 4092"/>
            </a:avLst>
          </a:prstGeom>
          <a:solidFill>
            <a:srgbClr val="FFFFFF">
              <a:alpha val="3000"/>
            </a:srgbClr>
          </a:solidFill>
          <a:ln/>
        </p:spPr>
      </p:sp>
      <p:sp>
        <p:nvSpPr>
          <p:cNvPr id="38" name="Shape 32"/>
          <p:cNvSpPr/>
          <p:nvPr/>
        </p:nvSpPr>
        <p:spPr>
          <a:xfrm>
            <a:off x="14127461" y="9464608"/>
            <a:ext cx="3093740" cy="9525"/>
          </a:xfrm>
          <a:prstGeom prst="rect">
            <a:avLst/>
          </a:prstGeom>
          <a:solidFill>
            <a:srgbClr val="FFFFFF">
              <a:alpha val="10000"/>
            </a:srgbClr>
          </a:solidFill>
          <a:ln/>
        </p:spPr>
      </p:sp>
      <p:sp>
        <p:nvSpPr>
          <p:cNvPr id="39" name="Shape 33"/>
          <p:cNvSpPr/>
          <p:nvPr/>
        </p:nvSpPr>
        <p:spPr>
          <a:xfrm>
            <a:off x="14127461" y="6654895"/>
            <a:ext cx="3093740" cy="9525"/>
          </a:xfrm>
          <a:prstGeom prst="rect">
            <a:avLst/>
          </a:prstGeom>
          <a:solidFill>
            <a:srgbClr val="FFFFFF">
              <a:alpha val="10000"/>
            </a:srgbClr>
          </a:solidFill>
          <a:ln/>
        </p:spPr>
      </p:sp>
      <p:sp>
        <p:nvSpPr>
          <p:cNvPr id="40" name="Shape 34"/>
          <p:cNvSpPr/>
          <p:nvPr/>
        </p:nvSpPr>
        <p:spPr>
          <a:xfrm>
            <a:off x="14127461" y="6654895"/>
            <a:ext cx="9525" cy="2812956"/>
          </a:xfrm>
          <a:prstGeom prst="rect">
            <a:avLst/>
          </a:prstGeom>
          <a:solidFill>
            <a:srgbClr val="FFFFFF">
              <a:alpha val="10000"/>
            </a:srgbClr>
          </a:solidFill>
          <a:ln/>
        </p:spPr>
      </p:sp>
      <p:sp>
        <p:nvSpPr>
          <p:cNvPr id="41" name="Shape 35"/>
          <p:cNvSpPr/>
          <p:nvPr/>
        </p:nvSpPr>
        <p:spPr>
          <a:xfrm>
            <a:off x="17214851" y="6654895"/>
            <a:ext cx="9525" cy="2812956"/>
          </a:xfrm>
          <a:prstGeom prst="rect">
            <a:avLst/>
          </a:prstGeom>
          <a:solidFill>
            <a:srgbClr val="FFFFFF">
              <a:alpha val="10000"/>
            </a:srgbClr>
          </a:solidFill>
          <a:ln/>
        </p:spPr>
      </p:sp>
      <p:pic>
        <p:nvPicPr>
          <p:cNvPr id="42"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4381461" y="6804073"/>
            <a:ext cx="438150" cy="223768"/>
          </a:xfrm>
          <a:prstGeom prst="rect">
            <a:avLst/>
          </a:prstGeom>
        </p:spPr>
      </p:pic>
      <p:sp>
        <p:nvSpPr>
          <p:cNvPr id="43" name="Text 36"/>
          <p:cNvSpPr/>
          <p:nvPr/>
        </p:nvSpPr>
        <p:spPr>
          <a:xfrm>
            <a:off x="14381461" y="7115402"/>
            <a:ext cx="2844314" cy="206736"/>
          </a:xfrm>
          <a:prstGeom prst="rect">
            <a:avLst/>
          </a:prstGeom>
          <a:noFill/>
          <a:ln/>
        </p:spPr>
        <p:txBody>
          <a:bodyPr wrap="square" lIns="25400" tIns="25400" rIns="25400" bIns="25400" rtlCol="0" anchor="t">
            <a:normAutofit/>
          </a:bodyPr>
          <a:lstStyle/>
          <a:p>
            <a:pPr algn="l" indent="0" marL="0">
              <a:buNone/>
            </a:pPr>
            <a:r>
              <a:rPr lang="en-US" sz="1149" b="1" dirty="0">
                <a:solidFill>
                  <a:srgbClr val="FFB46E"/>
                </a:solidFill>
                <a:latin typeface="Arial" pitchFamily="34" charset="0"/>
                <a:ea typeface="Arial" pitchFamily="34" charset="-122"/>
                <a:cs typeface="Arial" pitchFamily="34" charset="-120"/>
              </a:rPr>
              <a:t>Réseau</a:t>
            </a:r>
            <a:endParaRPr lang="en-US" sz="1149" dirty="0"/>
          </a:p>
        </p:txBody>
      </p:sp>
      <p:sp>
        <p:nvSpPr>
          <p:cNvPr id="44" name="Text 37"/>
          <p:cNvSpPr/>
          <p:nvPr/>
        </p:nvSpPr>
        <p:spPr>
          <a:xfrm>
            <a:off x="14381461" y="7352142"/>
            <a:ext cx="2663312" cy="715077"/>
          </a:xfrm>
          <a:prstGeom prst="rect">
            <a:avLst/>
          </a:prstGeom>
          <a:noFill/>
          <a:ln/>
        </p:spPr>
        <p:txBody>
          <a:bodyPr wrap="square" lIns="25400" tIns="25400" rIns="25400" bIns="25400" rtlCol="0" anchor="t">
            <a:normAutofit/>
          </a:bodyPr>
          <a:lstStyle/>
          <a:p>
            <a:pPr algn="l" indent="0" marL="0">
              <a:lnSpc>
                <a:spcPct val="124286"/>
              </a:lnSpc>
              <a:buNone/>
            </a:pPr>
            <a:r>
              <a:rPr lang="en-US" sz="919" dirty="0">
                <a:solidFill>
                  <a:srgbClr val="8EA0B5"/>
                </a:solidFill>
                <a:latin typeface="Arial" pitchFamily="34" charset="0"/>
                <a:ea typeface="Arial" pitchFamily="34" charset="-122"/>
                <a:cs typeface="Arial" pitchFamily="34" charset="-120"/>
              </a:rPr>
              <a:t>Réseaux virtuels : les conteneurs communiquent par leur nom.</a:t>
            </a:r>
            <a:endParaRPr lang="en-US" sz="919"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C121C"/>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FFB46E">
                    <a:alpha val="97000"/>
                  </a:srgbClr>
                </a:solidFill>
                <a:latin typeface="Courier New" pitchFamily="34" charset="0"/>
                <a:ea typeface="Courier New" pitchFamily="34" charset="-122"/>
                <a:cs typeface="Courier New" pitchFamily="34" charset="-120"/>
              </a:rPr>
              <a:t>ATELIER 03 · COMPARAISON</a:t>
            </a:r>
            <a:endParaRPr lang="en-US" sz="1800" dirty="0"/>
          </a:p>
        </p:txBody>
      </p:sp>
      <p:sp>
        <p:nvSpPr>
          <p:cNvPr id="3" name="Text 1"/>
          <p:cNvSpPr/>
          <p:nvPr/>
        </p:nvSpPr>
        <p:spPr>
          <a:xfrm>
            <a:off x="1066800" y="1314451"/>
            <a:ext cx="17769840"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Conteneur ou machine virtuelle ?</a:t>
            </a:r>
            <a:endParaRPr lang="en-US" sz="48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66800" y="2376985"/>
            <a:ext cx="285750" cy="285750"/>
          </a:xfrm>
          <a:prstGeom prst="rect">
            <a:avLst/>
          </a:prstGeom>
        </p:spPr>
      </p:pic>
      <p:sp>
        <p:nvSpPr>
          <p:cNvPr id="5" name="Text 2"/>
          <p:cNvSpPr/>
          <p:nvPr/>
        </p:nvSpPr>
        <p:spPr>
          <a:xfrm>
            <a:off x="1466850" y="2367460"/>
            <a:ext cx="2564914"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solidFill>
                <a:latin typeface="Courier New" pitchFamily="34" charset="0"/>
                <a:ea typeface="Courier New" pitchFamily="34" charset="-122"/>
                <a:cs typeface="Courier New" pitchFamily="34" charset="-120"/>
              </a:rPr>
              <a:t>Machine virtuelle</a:t>
            </a:r>
            <a:endParaRPr lang="en-US" sz="1800" dirty="0"/>
          </a:p>
        </p:txBody>
      </p:sp>
      <p:sp>
        <p:nvSpPr>
          <p:cNvPr id="6" name="Shape 3"/>
          <p:cNvSpPr/>
          <p:nvPr/>
        </p:nvSpPr>
        <p:spPr>
          <a:xfrm>
            <a:off x="1066800" y="2824660"/>
            <a:ext cx="7915275" cy="673100"/>
          </a:xfrm>
          <a:prstGeom prst="roundRect">
            <a:avLst>
              <a:gd name="adj" fmla="val 14151"/>
            </a:avLst>
          </a:prstGeom>
          <a:solidFill>
            <a:srgbClr val="FFBE83">
              <a:alpha val="32000"/>
            </a:srgbClr>
          </a:solidFill>
          <a:ln w="6350">
            <a:solidFill>
              <a:srgbClr val="FFFFFF">
                <a:alpha val="10000"/>
              </a:srgbClr>
            </a:solidFill>
            <a:prstDash val="solid"/>
          </a:ln>
        </p:spPr>
      </p:sp>
      <p:sp>
        <p:nvSpPr>
          <p:cNvPr id="7" name="Text 4"/>
          <p:cNvSpPr/>
          <p:nvPr/>
        </p:nvSpPr>
        <p:spPr>
          <a:xfrm>
            <a:off x="1144921" y="3021510"/>
            <a:ext cx="7759033" cy="317500"/>
          </a:xfrm>
          <a:prstGeom prst="rect">
            <a:avLst/>
          </a:prstGeom>
          <a:noFill/>
          <a:ln/>
        </p:spPr>
        <p:txBody>
          <a:bodyPr wrap="square" lIns="25400" tIns="25400" rIns="25400" bIns="25400" rtlCol="0" anchor="t">
            <a:normAutofit/>
          </a:bodyPr>
          <a:lstStyle/>
          <a:p>
            <a:pPr algn="ctr" indent="0" marL="0">
              <a:buNone/>
            </a:pPr>
            <a:r>
              <a:rPr lang="en-US" sz="1950" b="1" dirty="0">
                <a:solidFill>
                  <a:srgbClr val="EEF3F9"/>
                </a:solidFill>
                <a:latin typeface="Arial" pitchFamily="34" charset="0"/>
                <a:ea typeface="Arial" pitchFamily="34" charset="-122"/>
                <a:cs typeface="Arial" pitchFamily="34" charset="-120"/>
              </a:rPr>
              <a:t>Application</a:t>
            </a:r>
            <a:endParaRPr lang="en-US" sz="1950" dirty="0"/>
          </a:p>
        </p:txBody>
      </p:sp>
      <p:sp>
        <p:nvSpPr>
          <p:cNvPr id="8" name="Shape 5"/>
          <p:cNvSpPr/>
          <p:nvPr/>
        </p:nvSpPr>
        <p:spPr>
          <a:xfrm>
            <a:off x="1066800" y="3593010"/>
            <a:ext cx="7915275" cy="717550"/>
          </a:xfrm>
          <a:prstGeom prst="roundRect">
            <a:avLst>
              <a:gd name="adj" fmla="val 13274"/>
            </a:avLst>
          </a:prstGeom>
          <a:solidFill>
            <a:srgbClr val="FFFFFF">
              <a:alpha val="6000"/>
            </a:srgbClr>
          </a:solidFill>
          <a:ln w="6350">
            <a:solidFill>
              <a:srgbClr val="FFFFFF">
                <a:alpha val="10000"/>
              </a:srgbClr>
            </a:solidFill>
            <a:prstDash val="solid"/>
          </a:ln>
        </p:spPr>
      </p:sp>
      <p:sp>
        <p:nvSpPr>
          <p:cNvPr id="9" name="Text 6"/>
          <p:cNvSpPr/>
          <p:nvPr/>
        </p:nvSpPr>
        <p:spPr>
          <a:xfrm>
            <a:off x="1144921" y="3789860"/>
            <a:ext cx="7759033" cy="361950"/>
          </a:xfrm>
          <a:prstGeom prst="rect">
            <a:avLst/>
          </a:prstGeom>
          <a:noFill/>
          <a:ln/>
        </p:spPr>
        <p:txBody>
          <a:bodyPr wrap="square" lIns="25400" tIns="25400" rIns="25400" bIns="25400" rtlCol="0" anchor="t">
            <a:normAutofit/>
          </a:bodyPr>
          <a:lstStyle/>
          <a:p>
            <a:pPr algn="ctr" indent="0" marL="0">
              <a:buNone/>
            </a:pPr>
            <a:r>
              <a:rPr lang="en-US" sz="1950" dirty="0">
                <a:solidFill>
                  <a:srgbClr val="EEF3F9"/>
                </a:solidFill>
                <a:latin typeface="Arial" pitchFamily="34" charset="0"/>
                <a:ea typeface="Arial" pitchFamily="34" charset="-122"/>
                <a:cs typeface="Arial" pitchFamily="34" charset="-120"/>
              </a:rPr>
              <a:t>OS invité complet</a:t>
            </a:r>
            <a:endParaRPr lang="en-US" sz="1950" dirty="0"/>
          </a:p>
        </p:txBody>
      </p:sp>
      <p:sp>
        <p:nvSpPr>
          <p:cNvPr id="10" name="Shape 7"/>
          <p:cNvSpPr/>
          <p:nvPr/>
        </p:nvSpPr>
        <p:spPr>
          <a:xfrm>
            <a:off x="1066800" y="4405810"/>
            <a:ext cx="7915275" cy="717550"/>
          </a:xfrm>
          <a:prstGeom prst="roundRect">
            <a:avLst>
              <a:gd name="adj" fmla="val 13274"/>
            </a:avLst>
          </a:prstGeom>
          <a:solidFill>
            <a:srgbClr val="FFFFFF">
              <a:alpha val="6000"/>
            </a:srgbClr>
          </a:solidFill>
          <a:ln w="6350">
            <a:solidFill>
              <a:srgbClr val="FFFFFF">
                <a:alpha val="10000"/>
              </a:srgbClr>
            </a:solidFill>
            <a:prstDash val="solid"/>
          </a:ln>
        </p:spPr>
      </p:sp>
      <p:sp>
        <p:nvSpPr>
          <p:cNvPr id="11" name="Text 8"/>
          <p:cNvSpPr/>
          <p:nvPr/>
        </p:nvSpPr>
        <p:spPr>
          <a:xfrm>
            <a:off x="1144921" y="4602660"/>
            <a:ext cx="7759033" cy="361950"/>
          </a:xfrm>
          <a:prstGeom prst="rect">
            <a:avLst/>
          </a:prstGeom>
          <a:noFill/>
          <a:ln/>
        </p:spPr>
        <p:txBody>
          <a:bodyPr wrap="square" lIns="25400" tIns="25400" rIns="25400" bIns="25400" rtlCol="0" anchor="t">
            <a:normAutofit/>
          </a:bodyPr>
          <a:lstStyle/>
          <a:p>
            <a:pPr algn="ctr" indent="0" marL="0">
              <a:buNone/>
            </a:pPr>
            <a:r>
              <a:rPr lang="en-US" sz="1950" dirty="0">
                <a:solidFill>
                  <a:srgbClr val="EEF3F9"/>
                </a:solidFill>
                <a:latin typeface="Arial" pitchFamily="34" charset="0"/>
                <a:ea typeface="Arial" pitchFamily="34" charset="-122"/>
                <a:cs typeface="Arial" pitchFamily="34" charset="-120"/>
              </a:rPr>
              <a:t>Hyperviseur</a:t>
            </a:r>
            <a:endParaRPr lang="en-US" sz="1950" dirty="0"/>
          </a:p>
        </p:txBody>
      </p:sp>
      <p:sp>
        <p:nvSpPr>
          <p:cNvPr id="12" name="Shape 9"/>
          <p:cNvSpPr/>
          <p:nvPr/>
        </p:nvSpPr>
        <p:spPr>
          <a:xfrm>
            <a:off x="1066800" y="5218611"/>
            <a:ext cx="7915275" cy="717550"/>
          </a:xfrm>
          <a:prstGeom prst="roundRect">
            <a:avLst>
              <a:gd name="adj" fmla="val 13274"/>
            </a:avLst>
          </a:prstGeom>
          <a:solidFill>
            <a:srgbClr val="FFFFFF">
              <a:alpha val="6000"/>
            </a:srgbClr>
          </a:solidFill>
          <a:ln w="6350">
            <a:solidFill>
              <a:srgbClr val="FFFFFF">
                <a:alpha val="10000"/>
              </a:srgbClr>
            </a:solidFill>
            <a:prstDash val="solid"/>
          </a:ln>
        </p:spPr>
      </p:sp>
      <p:sp>
        <p:nvSpPr>
          <p:cNvPr id="13" name="Text 10"/>
          <p:cNvSpPr/>
          <p:nvPr/>
        </p:nvSpPr>
        <p:spPr>
          <a:xfrm>
            <a:off x="1144921" y="5415461"/>
            <a:ext cx="7759033" cy="361950"/>
          </a:xfrm>
          <a:prstGeom prst="rect">
            <a:avLst/>
          </a:prstGeom>
          <a:noFill/>
          <a:ln/>
        </p:spPr>
        <p:txBody>
          <a:bodyPr wrap="square" lIns="25400" tIns="25400" rIns="25400" bIns="25400" rtlCol="0" anchor="t">
            <a:normAutofit/>
          </a:bodyPr>
          <a:lstStyle/>
          <a:p>
            <a:pPr algn="ctr" indent="0" marL="0">
              <a:buNone/>
            </a:pPr>
            <a:r>
              <a:rPr lang="en-US" sz="1950" dirty="0">
                <a:solidFill>
                  <a:srgbClr val="EEF3F9"/>
                </a:solidFill>
                <a:latin typeface="Arial" pitchFamily="34" charset="0"/>
                <a:ea typeface="Arial" pitchFamily="34" charset="-122"/>
                <a:cs typeface="Arial" pitchFamily="34" charset="-120"/>
              </a:rPr>
              <a:t>OS hôte</a:t>
            </a:r>
            <a:endParaRPr lang="en-US" sz="1950" dirty="0"/>
          </a:p>
        </p:txBody>
      </p:sp>
      <p:sp>
        <p:nvSpPr>
          <p:cNvPr id="14" name="Text 11"/>
          <p:cNvSpPr/>
          <p:nvPr/>
        </p:nvSpPr>
        <p:spPr>
          <a:xfrm>
            <a:off x="671036" y="6164760"/>
            <a:ext cx="8706803" cy="336550"/>
          </a:xfrm>
          <a:prstGeom prst="rect">
            <a:avLst/>
          </a:prstGeom>
          <a:noFill/>
          <a:ln/>
        </p:spPr>
        <p:txBody>
          <a:bodyPr wrap="square" lIns="25400" tIns="25400" rIns="25400" bIns="25400" rtlCol="0" anchor="t">
            <a:normAutofit/>
          </a:bodyPr>
          <a:lstStyle/>
          <a:p>
            <a:pPr algn="ctr" indent="0" marL="0">
              <a:buNone/>
            </a:pPr>
            <a:r>
              <a:rPr lang="en-US" sz="1800" dirty="0">
                <a:solidFill>
                  <a:srgbClr val="8EA0B5"/>
                </a:solidFill>
                <a:latin typeface="Arial" pitchFamily="34" charset="0"/>
                <a:ea typeface="Arial" pitchFamily="34" charset="-122"/>
                <a:cs typeface="Arial" pitchFamily="34" charset="-120"/>
              </a:rPr>
              <a:t>Démarrage : dizaines de secondes → minutes</a:t>
            </a:r>
            <a:endParaRPr lang="en-US" sz="1800" dirty="0"/>
          </a:p>
        </p:txBody>
      </p:sp>
      <p:pic>
        <p:nvPicPr>
          <p:cNvPr id="15" name="Image 1" descr="preencoded.png">    </p:cNvPr>
          <p:cNvPicPr>
            <a:picLocks noChangeAspect="1"/>
          </p:cNvPicPr>
          <p:nvPr/>
        </p:nvPicPr>
        <p:blipFill>
          <a:blip r:embed="rId3">
            <a:alphaModFix amt="99000"/>
            <a:extLst>
              <a:ext uri="{96DAC541-7B7A-43D3-8B79-37D633B846F1}">
                <asvg:svgBlip xmlns:asvg="http://schemas.microsoft.com/office/drawing/2016/SVG/main" r:embed="rId4"/>
              </a:ext>
            </a:extLst>
          </a:blip>
          <a:stretch>
            <a:fillRect/>
          </a:stretch>
        </p:blipFill>
        <p:spPr>
          <a:xfrm>
            <a:off x="9305925" y="2379981"/>
            <a:ext cx="285750" cy="285750"/>
          </a:xfrm>
          <a:prstGeom prst="rect">
            <a:avLst/>
          </a:prstGeom>
        </p:spPr>
      </p:pic>
      <p:sp>
        <p:nvSpPr>
          <p:cNvPr id="16" name="Text 12"/>
          <p:cNvSpPr/>
          <p:nvPr/>
        </p:nvSpPr>
        <p:spPr>
          <a:xfrm>
            <a:off x="9705975" y="2370456"/>
            <a:ext cx="241408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FB46E">
                    <a:alpha val="99000"/>
                  </a:srgbClr>
                </a:solidFill>
                <a:latin typeface="Courier New" pitchFamily="34" charset="0"/>
                <a:ea typeface="Courier New" pitchFamily="34" charset="-122"/>
                <a:cs typeface="Courier New" pitchFamily="34" charset="-120"/>
              </a:rPr>
              <a:t>Conteneur Docker</a:t>
            </a:r>
            <a:endParaRPr lang="en-US" sz="1800" dirty="0"/>
          </a:p>
        </p:txBody>
      </p:sp>
      <p:sp>
        <p:nvSpPr>
          <p:cNvPr id="17" name="Shape 13"/>
          <p:cNvSpPr/>
          <p:nvPr/>
        </p:nvSpPr>
        <p:spPr>
          <a:xfrm>
            <a:off x="9305925" y="2827655"/>
            <a:ext cx="7915275" cy="673100"/>
          </a:xfrm>
          <a:prstGeom prst="roundRect">
            <a:avLst>
              <a:gd name="adj" fmla="val 14151"/>
            </a:avLst>
          </a:prstGeom>
          <a:solidFill>
            <a:srgbClr val="FFBC80">
              <a:alpha val="36000"/>
            </a:srgbClr>
          </a:solidFill>
          <a:ln w="6350">
            <a:solidFill>
              <a:srgbClr val="FFBE82">
                <a:alpha val="46000"/>
              </a:srgbClr>
            </a:solidFill>
            <a:prstDash val="solid"/>
          </a:ln>
        </p:spPr>
      </p:sp>
      <p:sp>
        <p:nvSpPr>
          <p:cNvPr id="18" name="Text 14"/>
          <p:cNvSpPr/>
          <p:nvPr/>
        </p:nvSpPr>
        <p:spPr>
          <a:xfrm>
            <a:off x="9384046" y="3024505"/>
            <a:ext cx="7759033" cy="317500"/>
          </a:xfrm>
          <a:prstGeom prst="rect">
            <a:avLst/>
          </a:prstGeom>
          <a:noFill/>
          <a:ln/>
        </p:spPr>
        <p:txBody>
          <a:bodyPr wrap="square" lIns="25400" tIns="25400" rIns="25400" bIns="25400" rtlCol="0" anchor="t">
            <a:normAutofit/>
          </a:bodyPr>
          <a:lstStyle/>
          <a:p>
            <a:pPr algn="ctr" indent="0" marL="0">
              <a:buNone/>
            </a:pPr>
            <a:r>
              <a:rPr lang="en-US" sz="1950" b="1" dirty="0">
                <a:solidFill>
                  <a:srgbClr val="EEF3F9">
                    <a:alpha val="99000"/>
                  </a:srgbClr>
                </a:solidFill>
                <a:latin typeface="Arial" pitchFamily="34" charset="0"/>
                <a:ea typeface="Arial" pitchFamily="34" charset="-122"/>
                <a:cs typeface="Arial" pitchFamily="34" charset="-120"/>
              </a:rPr>
              <a:t>Application</a:t>
            </a:r>
            <a:endParaRPr lang="en-US" sz="1950" dirty="0"/>
          </a:p>
        </p:txBody>
      </p:sp>
      <p:sp>
        <p:nvSpPr>
          <p:cNvPr id="19" name="Shape 15"/>
          <p:cNvSpPr/>
          <p:nvPr/>
        </p:nvSpPr>
        <p:spPr>
          <a:xfrm>
            <a:off x="9305925" y="3596006"/>
            <a:ext cx="7915275" cy="717550"/>
          </a:xfrm>
          <a:prstGeom prst="roundRect">
            <a:avLst>
              <a:gd name="adj" fmla="val 13274"/>
            </a:avLst>
          </a:prstGeom>
          <a:solidFill>
            <a:srgbClr val="FFFFFF">
              <a:alpha val="6000"/>
            </a:srgbClr>
          </a:solidFill>
          <a:ln w="6350">
            <a:solidFill>
              <a:srgbClr val="FFFFFF">
                <a:alpha val="10000"/>
              </a:srgbClr>
            </a:solidFill>
            <a:prstDash val="solid"/>
          </a:ln>
        </p:spPr>
      </p:sp>
      <p:sp>
        <p:nvSpPr>
          <p:cNvPr id="20" name="Text 16"/>
          <p:cNvSpPr/>
          <p:nvPr/>
        </p:nvSpPr>
        <p:spPr>
          <a:xfrm>
            <a:off x="9384046" y="3792856"/>
            <a:ext cx="7759033" cy="361950"/>
          </a:xfrm>
          <a:prstGeom prst="rect">
            <a:avLst/>
          </a:prstGeom>
          <a:noFill/>
          <a:ln/>
        </p:spPr>
        <p:txBody>
          <a:bodyPr wrap="square" lIns="25400" tIns="25400" rIns="25400" bIns="25400" rtlCol="0" anchor="t">
            <a:normAutofit/>
          </a:bodyPr>
          <a:lstStyle/>
          <a:p>
            <a:pPr algn="ctr" indent="0" marL="0">
              <a:buNone/>
            </a:pPr>
            <a:r>
              <a:rPr lang="en-US" sz="1950" dirty="0">
                <a:solidFill>
                  <a:srgbClr val="EEF3F9">
                    <a:alpha val="99000"/>
                  </a:srgbClr>
                </a:solidFill>
                <a:latin typeface="Arial" pitchFamily="34" charset="0"/>
                <a:ea typeface="Arial" pitchFamily="34" charset="-122"/>
                <a:cs typeface="Arial" pitchFamily="34" charset="-120"/>
              </a:rPr>
              <a:t>Librairies</a:t>
            </a:r>
            <a:endParaRPr lang="en-US" sz="1950" dirty="0"/>
          </a:p>
        </p:txBody>
      </p:sp>
      <p:sp>
        <p:nvSpPr>
          <p:cNvPr id="21" name="Shape 17"/>
          <p:cNvSpPr/>
          <p:nvPr/>
        </p:nvSpPr>
        <p:spPr>
          <a:xfrm>
            <a:off x="9305925" y="4408805"/>
            <a:ext cx="7915275" cy="717550"/>
          </a:xfrm>
          <a:prstGeom prst="roundRect">
            <a:avLst>
              <a:gd name="adj" fmla="val 13274"/>
            </a:avLst>
          </a:prstGeom>
          <a:solidFill>
            <a:srgbClr val="FFFFFF">
              <a:alpha val="6000"/>
            </a:srgbClr>
          </a:solidFill>
          <a:ln w="6350">
            <a:solidFill>
              <a:srgbClr val="FFFFFF">
                <a:alpha val="10000"/>
              </a:srgbClr>
            </a:solidFill>
            <a:prstDash val="solid"/>
          </a:ln>
        </p:spPr>
      </p:sp>
      <p:sp>
        <p:nvSpPr>
          <p:cNvPr id="22" name="Text 18"/>
          <p:cNvSpPr/>
          <p:nvPr/>
        </p:nvSpPr>
        <p:spPr>
          <a:xfrm>
            <a:off x="9384046" y="4605655"/>
            <a:ext cx="7759033" cy="361950"/>
          </a:xfrm>
          <a:prstGeom prst="rect">
            <a:avLst/>
          </a:prstGeom>
          <a:noFill/>
          <a:ln/>
        </p:spPr>
        <p:txBody>
          <a:bodyPr wrap="square" lIns="25400" tIns="25400" rIns="25400" bIns="25400" rtlCol="0" anchor="t">
            <a:normAutofit/>
          </a:bodyPr>
          <a:lstStyle/>
          <a:p>
            <a:pPr algn="ctr" indent="0" marL="0">
              <a:buNone/>
            </a:pPr>
            <a:r>
              <a:rPr lang="en-US" sz="1950" dirty="0">
                <a:solidFill>
                  <a:srgbClr val="EEF3F9">
                    <a:alpha val="99000"/>
                  </a:srgbClr>
                </a:solidFill>
                <a:latin typeface="Arial" pitchFamily="34" charset="0"/>
                <a:ea typeface="Arial" pitchFamily="34" charset="-122"/>
                <a:cs typeface="Arial" pitchFamily="34" charset="-120"/>
              </a:rPr>
              <a:t>Moteur Docker</a:t>
            </a:r>
            <a:endParaRPr lang="en-US" sz="1950" dirty="0"/>
          </a:p>
        </p:txBody>
      </p:sp>
      <p:sp>
        <p:nvSpPr>
          <p:cNvPr id="23" name="Shape 19"/>
          <p:cNvSpPr/>
          <p:nvPr/>
        </p:nvSpPr>
        <p:spPr>
          <a:xfrm>
            <a:off x="9305925" y="5221606"/>
            <a:ext cx="7915275" cy="717550"/>
          </a:xfrm>
          <a:prstGeom prst="roundRect">
            <a:avLst>
              <a:gd name="adj" fmla="val 13274"/>
            </a:avLst>
          </a:prstGeom>
          <a:solidFill>
            <a:srgbClr val="FFFFFF">
              <a:alpha val="6000"/>
            </a:srgbClr>
          </a:solidFill>
          <a:ln w="6350">
            <a:solidFill>
              <a:srgbClr val="FFFFFF">
                <a:alpha val="10000"/>
              </a:srgbClr>
            </a:solidFill>
            <a:prstDash val="solid"/>
          </a:ln>
        </p:spPr>
      </p:sp>
      <p:sp>
        <p:nvSpPr>
          <p:cNvPr id="24" name="Text 20"/>
          <p:cNvSpPr/>
          <p:nvPr/>
        </p:nvSpPr>
        <p:spPr>
          <a:xfrm>
            <a:off x="9384046" y="5418456"/>
            <a:ext cx="7759033" cy="361950"/>
          </a:xfrm>
          <a:prstGeom prst="rect">
            <a:avLst/>
          </a:prstGeom>
          <a:noFill/>
          <a:ln/>
        </p:spPr>
        <p:txBody>
          <a:bodyPr wrap="square" lIns="25400" tIns="25400" rIns="25400" bIns="25400" rtlCol="0" anchor="t">
            <a:normAutofit/>
          </a:bodyPr>
          <a:lstStyle/>
          <a:p>
            <a:pPr algn="ctr" indent="0" marL="0">
              <a:buNone/>
            </a:pPr>
            <a:r>
              <a:rPr lang="en-US" sz="1950" dirty="0">
                <a:solidFill>
                  <a:srgbClr val="EEF3F9">
                    <a:alpha val="99000"/>
                  </a:srgbClr>
                </a:solidFill>
                <a:highlight>
                  <a:srgbClr val="FCFDFD"/>
                </a:highlight>
                <a:latin typeface="Arial" pitchFamily="34" charset="0"/>
                <a:ea typeface="Arial" pitchFamily="34" charset="-122"/>
                <a:cs typeface="Arial" pitchFamily="34" charset="-120"/>
              </a:rPr>
              <a:t>OS hôte </a:t>
            </a:r>
            <a:pPr algn="ctr" indent="0" marL="0">
              <a:buNone/>
            </a:pPr>
            <a:r>
              <a:rPr lang="en-US" sz="1950" dirty="0">
                <a:solidFill>
                  <a:srgbClr val="FFB46E">
                    <a:alpha val="99000"/>
                  </a:srgbClr>
                </a:solidFill>
                <a:latin typeface="Arial" pitchFamily="34" charset="0"/>
                <a:ea typeface="Arial" pitchFamily="34" charset="-122"/>
                <a:cs typeface="Arial" pitchFamily="34" charset="-120"/>
              </a:rPr>
              <a:t>(noyau partagé)</a:t>
            </a:r>
            <a:endParaRPr lang="en-US" sz="1950" dirty="0"/>
          </a:p>
        </p:txBody>
      </p:sp>
      <p:sp>
        <p:nvSpPr>
          <p:cNvPr id="25" name="Text 21"/>
          <p:cNvSpPr/>
          <p:nvPr/>
        </p:nvSpPr>
        <p:spPr>
          <a:xfrm>
            <a:off x="8910161" y="6167756"/>
            <a:ext cx="8706803" cy="336550"/>
          </a:xfrm>
          <a:prstGeom prst="rect">
            <a:avLst/>
          </a:prstGeom>
          <a:noFill/>
          <a:ln/>
        </p:spPr>
        <p:txBody>
          <a:bodyPr wrap="square" lIns="25400" tIns="25400" rIns="25400" bIns="25400" rtlCol="0" anchor="t">
            <a:normAutofit/>
          </a:bodyPr>
          <a:lstStyle/>
          <a:p>
            <a:pPr algn="ctr" indent="0" marL="0">
              <a:buNone/>
            </a:pPr>
            <a:r>
              <a:rPr lang="en-US" sz="1800" dirty="0">
                <a:solidFill>
                  <a:srgbClr val="FFB46E">
                    <a:alpha val="99000"/>
                  </a:srgbClr>
                </a:solidFill>
                <a:latin typeface="Arial" pitchFamily="34" charset="0"/>
                <a:ea typeface="Arial" pitchFamily="34" charset="-122"/>
                <a:cs typeface="Arial" pitchFamily="34" charset="-120"/>
              </a:rPr>
              <a:t>Démarrage : quelques secondes</a:t>
            </a:r>
            <a:endParaRPr lang="en-US" sz="1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C121C"/>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FFB46E">
                    <a:alpha val="96000"/>
                  </a:srgbClr>
                </a:solidFill>
                <a:latin typeface="Courier New" pitchFamily="34" charset="0"/>
                <a:ea typeface="Courier New" pitchFamily="34" charset="-122"/>
                <a:cs typeface="Courier New" pitchFamily="34" charset="-120"/>
              </a:rPr>
              <a:t>ATELIER 03 · IMAGE</a:t>
            </a:r>
            <a:endParaRPr lang="en-US" sz="1800" dirty="0"/>
          </a:p>
        </p:txBody>
      </p:sp>
      <p:sp>
        <p:nvSpPr>
          <p:cNvPr id="3" name="Text 1"/>
          <p:cNvSpPr/>
          <p:nvPr/>
        </p:nvSpPr>
        <p:spPr>
          <a:xfrm>
            <a:off x="1066800" y="1314498"/>
            <a:ext cx="11188005"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Le Dockerfile et ses couches</a:t>
            </a:r>
            <a:endParaRPr lang="en-US" sz="4800" dirty="0"/>
          </a:p>
        </p:txBody>
      </p:sp>
      <p:sp>
        <p:nvSpPr>
          <p:cNvPr id="4" name="Shape 2"/>
          <p:cNvSpPr/>
          <p:nvPr/>
        </p:nvSpPr>
        <p:spPr>
          <a:xfrm>
            <a:off x="1066800" y="2272257"/>
            <a:ext cx="9503371" cy="7195642"/>
          </a:xfrm>
          <a:prstGeom prst="roundRect">
            <a:avLst>
              <a:gd name="adj" fmla="val 2118"/>
            </a:avLst>
          </a:prstGeom>
          <a:solidFill>
            <a:srgbClr val="06090E"/>
          </a:solidFill>
          <a:ln w="6350">
            <a:solidFill>
              <a:srgbClr val="FFFFFF">
                <a:alpha val="10000"/>
              </a:srgbClr>
            </a:solidFill>
            <a:prstDash val="solid"/>
          </a:ln>
        </p:spPr>
      </p:sp>
      <p:sp>
        <p:nvSpPr>
          <p:cNvPr id="5" name="Shape 3"/>
          <p:cNvSpPr/>
          <p:nvPr/>
        </p:nvSpPr>
        <p:spPr>
          <a:xfrm>
            <a:off x="1073150" y="2888207"/>
            <a:ext cx="9490671" cy="9525"/>
          </a:xfrm>
          <a:prstGeom prst="rect">
            <a:avLst/>
          </a:prstGeom>
          <a:solidFill>
            <a:srgbClr val="FFFFFF">
              <a:alpha val="6000"/>
            </a:srgbClr>
          </a:solidFill>
          <a:ln/>
        </p:spPr>
      </p:sp>
      <p:sp>
        <p:nvSpPr>
          <p:cNvPr id="6" name="Shape 4"/>
          <p:cNvSpPr/>
          <p:nvPr/>
        </p:nvSpPr>
        <p:spPr>
          <a:xfrm>
            <a:off x="1282700" y="2521494"/>
            <a:ext cx="123825" cy="123825"/>
          </a:xfrm>
          <a:prstGeom prst="ellipse">
            <a:avLst/>
          </a:prstGeom>
          <a:solidFill>
            <a:srgbClr val="FF5F57"/>
          </a:solidFill>
          <a:ln/>
        </p:spPr>
      </p:sp>
      <p:sp>
        <p:nvSpPr>
          <p:cNvPr id="7" name="Shape 5"/>
          <p:cNvSpPr/>
          <p:nvPr/>
        </p:nvSpPr>
        <p:spPr>
          <a:xfrm>
            <a:off x="1501775" y="2521494"/>
            <a:ext cx="123825" cy="123825"/>
          </a:xfrm>
          <a:prstGeom prst="ellipse">
            <a:avLst/>
          </a:prstGeom>
          <a:solidFill>
            <a:srgbClr val="FEBC2E"/>
          </a:solidFill>
          <a:ln/>
        </p:spPr>
      </p:sp>
      <p:sp>
        <p:nvSpPr>
          <p:cNvPr id="8" name="Shape 6"/>
          <p:cNvSpPr/>
          <p:nvPr/>
        </p:nvSpPr>
        <p:spPr>
          <a:xfrm>
            <a:off x="1720850" y="2521494"/>
            <a:ext cx="123825" cy="123825"/>
          </a:xfrm>
          <a:prstGeom prst="ellipse">
            <a:avLst/>
          </a:prstGeom>
          <a:solidFill>
            <a:srgbClr val="28C840"/>
          </a:solidFill>
          <a:ln/>
        </p:spPr>
      </p:sp>
      <p:sp>
        <p:nvSpPr>
          <p:cNvPr id="9" name="Text 7"/>
          <p:cNvSpPr/>
          <p:nvPr/>
        </p:nvSpPr>
        <p:spPr>
          <a:xfrm>
            <a:off x="2054225" y="2431007"/>
            <a:ext cx="3621068"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solidFill>
                <a:latin typeface="Courier New" pitchFamily="34" charset="0"/>
                <a:ea typeface="Courier New" pitchFamily="34" charset="-122"/>
                <a:cs typeface="Courier New" pitchFamily="34" charset="-120"/>
              </a:rPr>
              <a:t>Dockerfile — API FastAPI</a:t>
            </a:r>
            <a:endParaRPr lang="en-US" sz="1800" dirty="0"/>
          </a:p>
        </p:txBody>
      </p:sp>
      <p:sp>
        <p:nvSpPr>
          <p:cNvPr id="10" name="Text 8"/>
          <p:cNvSpPr/>
          <p:nvPr/>
        </p:nvSpPr>
        <p:spPr>
          <a:xfrm>
            <a:off x="1358900" y="3123157"/>
            <a:ext cx="9186746" cy="426641"/>
          </a:xfrm>
          <a:prstGeom prst="rect">
            <a:avLst/>
          </a:prstGeom>
          <a:noFill/>
          <a:ln/>
        </p:spPr>
        <p:txBody>
          <a:bodyPr wrap="square" lIns="25400" tIns="25400" rIns="25400" bIns="25400" rtlCol="0" anchor="t">
            <a:normAutofit/>
          </a:bodyPr>
          <a:lstStyle/>
          <a:p>
            <a:pPr algn="l" indent="0" marL="0">
              <a:lnSpc>
                <a:spcPct val="149268"/>
              </a:lnSpc>
              <a:buNone/>
            </a:pPr>
            <a:r>
              <a:rPr lang="en-US" sz="1800" dirty="0">
                <a:solidFill>
                  <a:srgbClr val="8EA0B5"/>
                </a:solidFill>
                <a:latin typeface="Courier New" pitchFamily="34" charset="0"/>
                <a:ea typeface="Courier New" pitchFamily="34" charset="-122"/>
                <a:cs typeface="Courier New" pitchFamily="34" charset="-120"/>
              </a:rPr>
              <a:t># image de base</a:t>
            </a:r>
            <a:endParaRPr lang="en-US" sz="1800" dirty="0"/>
          </a:p>
        </p:txBody>
      </p:sp>
      <p:sp>
        <p:nvSpPr>
          <p:cNvPr id="11" name="Text 9"/>
          <p:cNvSpPr/>
          <p:nvPr/>
        </p:nvSpPr>
        <p:spPr>
          <a:xfrm>
            <a:off x="1358900" y="3511697"/>
            <a:ext cx="9186746" cy="426641"/>
          </a:xfrm>
          <a:prstGeom prst="rect">
            <a:avLst/>
          </a:prstGeom>
          <a:noFill/>
          <a:ln/>
        </p:spPr>
        <p:txBody>
          <a:bodyPr wrap="square" lIns="25400" tIns="25400" rIns="25400" bIns="25400" rtlCol="0" anchor="t">
            <a:normAutofit/>
          </a:bodyPr>
          <a:lstStyle/>
          <a:p>
            <a:pPr algn="l" indent="0" marL="0">
              <a:lnSpc>
                <a:spcPct val="149268"/>
              </a:lnSpc>
              <a:buNone/>
            </a:pPr>
            <a:r>
              <a:rPr lang="en-US" sz="1800" dirty="0">
                <a:solidFill>
                  <a:srgbClr val="56DBDB"/>
                </a:solidFill>
                <a:latin typeface="Courier New" pitchFamily="34" charset="0"/>
                <a:ea typeface="Courier New" pitchFamily="34" charset="-122"/>
                <a:cs typeface="Courier New" pitchFamily="34" charset="-120"/>
              </a:rPr>
              <a:t>FROM </a:t>
            </a:r>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python:3.12</a:t>
            </a:r>
            <a:endParaRPr lang="en-US" sz="1800" dirty="0"/>
          </a:p>
        </p:txBody>
      </p:sp>
      <p:sp>
        <p:nvSpPr>
          <p:cNvPr id="12" name="Text 10"/>
          <p:cNvSpPr/>
          <p:nvPr/>
        </p:nvSpPr>
        <p:spPr>
          <a:xfrm>
            <a:off x="1358900" y="3900238"/>
            <a:ext cx="9186746" cy="426641"/>
          </a:xfrm>
          <a:prstGeom prst="rect">
            <a:avLst/>
          </a:prstGeom>
          <a:noFill/>
          <a:ln/>
        </p:spPr>
        <p:txBody>
          <a:bodyPr wrap="square" lIns="25400" tIns="25400" rIns="25400" bIns="25400" rtlCol="0" anchor="t">
            <a:normAutofit/>
          </a:bodyPr>
          <a:lstStyle/>
          <a:p>
            <a:pPr algn="l" indent="0" marL="0">
              <a:lnSpc>
                <a:spcPct val="149268"/>
              </a:lnSpc>
              <a:buNone/>
            </a:pPr>
            <a:r>
              <a:rPr lang="en-US" sz="1800" dirty="0">
                <a:solidFill>
                  <a:srgbClr val="8EA0B5"/>
                </a:solidFill>
                <a:latin typeface="Courier New" pitchFamily="34" charset="0"/>
                <a:ea typeface="Courier New" pitchFamily="34" charset="-122"/>
                <a:cs typeface="Courier New" pitchFamily="34" charset="-120"/>
              </a:rPr>
              <a:t># dossier de travail</a:t>
            </a:r>
            <a:endParaRPr lang="en-US" sz="1800" dirty="0"/>
          </a:p>
        </p:txBody>
      </p:sp>
      <p:sp>
        <p:nvSpPr>
          <p:cNvPr id="13" name="Text 11"/>
          <p:cNvSpPr/>
          <p:nvPr/>
        </p:nvSpPr>
        <p:spPr>
          <a:xfrm>
            <a:off x="1358900" y="4288779"/>
            <a:ext cx="9186746" cy="426641"/>
          </a:xfrm>
          <a:prstGeom prst="rect">
            <a:avLst/>
          </a:prstGeom>
          <a:noFill/>
          <a:ln/>
        </p:spPr>
        <p:txBody>
          <a:bodyPr wrap="square" lIns="25400" tIns="25400" rIns="25400" bIns="25400" rtlCol="0" anchor="t">
            <a:normAutofit/>
          </a:bodyPr>
          <a:lstStyle/>
          <a:p>
            <a:pPr algn="l" indent="0" marL="0">
              <a:lnSpc>
                <a:spcPct val="149268"/>
              </a:lnSpc>
              <a:buNone/>
            </a:pPr>
            <a:r>
              <a:rPr lang="en-US" sz="1800" dirty="0">
                <a:solidFill>
                  <a:srgbClr val="56DBDB"/>
                </a:solidFill>
                <a:latin typeface="Courier New" pitchFamily="34" charset="0"/>
                <a:ea typeface="Courier New" pitchFamily="34" charset="-122"/>
                <a:cs typeface="Courier New" pitchFamily="34" charset="-120"/>
              </a:rPr>
              <a:t>WORKDIR </a:t>
            </a:r>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/app</a:t>
            </a:r>
            <a:endParaRPr lang="en-US" sz="1800" dirty="0"/>
          </a:p>
        </p:txBody>
      </p:sp>
      <p:sp>
        <p:nvSpPr>
          <p:cNvPr id="14" name="Text 12"/>
          <p:cNvSpPr/>
          <p:nvPr/>
        </p:nvSpPr>
        <p:spPr>
          <a:xfrm>
            <a:off x="1358900" y="4677319"/>
            <a:ext cx="9186746" cy="426641"/>
          </a:xfrm>
          <a:prstGeom prst="rect">
            <a:avLst/>
          </a:prstGeom>
          <a:noFill/>
          <a:ln/>
        </p:spPr>
        <p:txBody>
          <a:bodyPr wrap="square" lIns="25400" tIns="25400" rIns="25400" bIns="25400" rtlCol="0" anchor="t">
            <a:normAutofit/>
          </a:bodyPr>
          <a:lstStyle/>
          <a:p>
            <a:pPr algn="l" indent="0" marL="0">
              <a:lnSpc>
                <a:spcPct val="149268"/>
              </a:lnSpc>
              <a:buNone/>
            </a:pPr>
            <a:r>
              <a:rPr lang="en-US" sz="1800" dirty="0">
                <a:solidFill>
                  <a:srgbClr val="8EA0B5"/>
                </a:solidFill>
                <a:latin typeface="Courier New" pitchFamily="34" charset="0"/>
                <a:ea typeface="Courier New" pitchFamily="34" charset="-122"/>
                <a:cs typeface="Courier New" pitchFamily="34" charset="-120"/>
              </a:rPr>
              <a:t># d'abord les dépendances</a:t>
            </a:r>
            <a:endParaRPr lang="en-US" sz="1800" dirty="0"/>
          </a:p>
        </p:txBody>
      </p:sp>
      <p:sp>
        <p:nvSpPr>
          <p:cNvPr id="15" name="Text 13"/>
          <p:cNvSpPr/>
          <p:nvPr/>
        </p:nvSpPr>
        <p:spPr>
          <a:xfrm>
            <a:off x="1358900" y="5065860"/>
            <a:ext cx="9186746" cy="426641"/>
          </a:xfrm>
          <a:prstGeom prst="rect">
            <a:avLst/>
          </a:prstGeom>
          <a:noFill/>
          <a:ln/>
        </p:spPr>
        <p:txBody>
          <a:bodyPr wrap="square" lIns="25400" tIns="25400" rIns="25400" bIns="25400" rtlCol="0" anchor="t">
            <a:normAutofit/>
          </a:bodyPr>
          <a:lstStyle/>
          <a:p>
            <a:pPr algn="l" indent="0" marL="0">
              <a:lnSpc>
                <a:spcPct val="149268"/>
              </a:lnSpc>
              <a:buNone/>
            </a:pPr>
            <a:r>
              <a:rPr lang="en-US" sz="1800" dirty="0">
                <a:solidFill>
                  <a:srgbClr val="56DBDB"/>
                </a:solidFill>
                <a:latin typeface="Courier New" pitchFamily="34" charset="0"/>
                <a:ea typeface="Courier New" pitchFamily="34" charset="-122"/>
                <a:cs typeface="Courier New" pitchFamily="34" charset="-120"/>
              </a:rPr>
              <a:t>COPY </a:t>
            </a:r>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requirements.txt .</a:t>
            </a:r>
            <a:endParaRPr lang="en-US" sz="1800" dirty="0"/>
          </a:p>
        </p:txBody>
      </p:sp>
      <p:sp>
        <p:nvSpPr>
          <p:cNvPr id="16" name="Text 14"/>
          <p:cNvSpPr/>
          <p:nvPr/>
        </p:nvSpPr>
        <p:spPr>
          <a:xfrm>
            <a:off x="1358900" y="5454401"/>
            <a:ext cx="9186746" cy="426641"/>
          </a:xfrm>
          <a:prstGeom prst="rect">
            <a:avLst/>
          </a:prstGeom>
          <a:noFill/>
          <a:ln/>
        </p:spPr>
        <p:txBody>
          <a:bodyPr wrap="square" lIns="25400" tIns="25400" rIns="25400" bIns="25400" rtlCol="0" anchor="t">
            <a:normAutofit/>
          </a:bodyPr>
          <a:lstStyle/>
          <a:p>
            <a:pPr algn="l" indent="0" marL="0">
              <a:lnSpc>
                <a:spcPct val="149268"/>
              </a:lnSpc>
              <a:buNone/>
            </a:pPr>
            <a:r>
              <a:rPr lang="en-US" sz="1800" dirty="0">
                <a:solidFill>
                  <a:srgbClr val="56DBDB"/>
                </a:solidFill>
                <a:latin typeface="Courier New" pitchFamily="34" charset="0"/>
                <a:ea typeface="Courier New" pitchFamily="34" charset="-122"/>
                <a:cs typeface="Courier New" pitchFamily="34" charset="-120"/>
              </a:rPr>
              <a:t>RUN </a:t>
            </a:r>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pip install -r requirements.txt</a:t>
            </a:r>
            <a:endParaRPr lang="en-US" sz="1800" dirty="0"/>
          </a:p>
        </p:txBody>
      </p:sp>
      <p:sp>
        <p:nvSpPr>
          <p:cNvPr id="17" name="Text 15"/>
          <p:cNvSpPr/>
          <p:nvPr/>
        </p:nvSpPr>
        <p:spPr>
          <a:xfrm>
            <a:off x="1358900" y="5842941"/>
            <a:ext cx="9186746" cy="426641"/>
          </a:xfrm>
          <a:prstGeom prst="rect">
            <a:avLst/>
          </a:prstGeom>
          <a:noFill/>
          <a:ln/>
        </p:spPr>
        <p:txBody>
          <a:bodyPr wrap="square" lIns="25400" tIns="25400" rIns="25400" bIns="25400" rtlCol="0" anchor="t">
            <a:normAutofit/>
          </a:bodyPr>
          <a:lstStyle/>
          <a:p>
            <a:pPr algn="l" indent="0" marL="0">
              <a:lnSpc>
                <a:spcPct val="149268"/>
              </a:lnSpc>
              <a:buNone/>
            </a:pPr>
            <a:r>
              <a:rPr lang="en-US" sz="1800" dirty="0">
                <a:solidFill>
                  <a:srgbClr val="8EA0B5"/>
                </a:solidFill>
                <a:latin typeface="Courier New" pitchFamily="34" charset="0"/>
                <a:ea typeface="Courier New" pitchFamily="34" charset="-122"/>
                <a:cs typeface="Courier New" pitchFamily="34" charset="-120"/>
              </a:rPr>
              <a:t># puis le code applicatif</a:t>
            </a:r>
            <a:endParaRPr lang="en-US" sz="1800" dirty="0"/>
          </a:p>
        </p:txBody>
      </p:sp>
      <p:sp>
        <p:nvSpPr>
          <p:cNvPr id="18" name="Text 16"/>
          <p:cNvSpPr/>
          <p:nvPr/>
        </p:nvSpPr>
        <p:spPr>
          <a:xfrm>
            <a:off x="1358900" y="6231482"/>
            <a:ext cx="9186746" cy="426641"/>
          </a:xfrm>
          <a:prstGeom prst="rect">
            <a:avLst/>
          </a:prstGeom>
          <a:noFill/>
          <a:ln/>
        </p:spPr>
        <p:txBody>
          <a:bodyPr wrap="square" lIns="25400" tIns="25400" rIns="25400" bIns="25400" rtlCol="0" anchor="t">
            <a:normAutofit/>
          </a:bodyPr>
          <a:lstStyle/>
          <a:p>
            <a:pPr algn="l" indent="0" marL="0">
              <a:lnSpc>
                <a:spcPct val="149268"/>
              </a:lnSpc>
              <a:buNone/>
            </a:pPr>
            <a:r>
              <a:rPr lang="en-US" sz="1800" dirty="0">
                <a:solidFill>
                  <a:srgbClr val="56DBDB"/>
                </a:solidFill>
                <a:latin typeface="Courier New" pitchFamily="34" charset="0"/>
                <a:ea typeface="Courier New" pitchFamily="34" charset="-122"/>
                <a:cs typeface="Courier New" pitchFamily="34" charset="-120"/>
              </a:rPr>
              <a:t>COPY </a:t>
            </a:r>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 .</a:t>
            </a:r>
            <a:endParaRPr lang="en-US" sz="1800" dirty="0"/>
          </a:p>
        </p:txBody>
      </p:sp>
      <p:sp>
        <p:nvSpPr>
          <p:cNvPr id="19" name="Text 17"/>
          <p:cNvSpPr/>
          <p:nvPr/>
        </p:nvSpPr>
        <p:spPr>
          <a:xfrm>
            <a:off x="1358900" y="6620023"/>
            <a:ext cx="9186746" cy="426641"/>
          </a:xfrm>
          <a:prstGeom prst="rect">
            <a:avLst/>
          </a:prstGeom>
          <a:noFill/>
          <a:ln/>
        </p:spPr>
        <p:txBody>
          <a:bodyPr wrap="square" lIns="25400" tIns="25400" rIns="25400" bIns="25400" rtlCol="0" anchor="t">
            <a:normAutofit/>
          </a:bodyPr>
          <a:lstStyle/>
          <a:p>
            <a:pPr algn="l" indent="0" marL="0">
              <a:lnSpc>
                <a:spcPct val="149268"/>
              </a:lnSpc>
              <a:buNone/>
            </a:pPr>
            <a:r>
              <a:rPr lang="en-US" sz="1800" dirty="0">
                <a:solidFill>
                  <a:srgbClr val="8EA0B5"/>
                </a:solidFill>
                <a:latin typeface="Courier New" pitchFamily="34" charset="0"/>
                <a:ea typeface="Courier New" pitchFamily="34" charset="-122"/>
                <a:cs typeface="Courier New" pitchFamily="34" charset="-120"/>
              </a:rPr>
              <a:t># commande de démarrage</a:t>
            </a:r>
            <a:endParaRPr lang="en-US" sz="1800" dirty="0"/>
          </a:p>
        </p:txBody>
      </p:sp>
      <p:sp>
        <p:nvSpPr>
          <p:cNvPr id="20" name="Text 18"/>
          <p:cNvSpPr/>
          <p:nvPr/>
        </p:nvSpPr>
        <p:spPr>
          <a:xfrm>
            <a:off x="1358900" y="7008563"/>
            <a:ext cx="9186746" cy="426641"/>
          </a:xfrm>
          <a:prstGeom prst="rect">
            <a:avLst/>
          </a:prstGeom>
          <a:noFill/>
          <a:ln/>
        </p:spPr>
        <p:txBody>
          <a:bodyPr wrap="square" lIns="25400" tIns="25400" rIns="25400" bIns="25400" rtlCol="0" anchor="t">
            <a:normAutofit/>
          </a:bodyPr>
          <a:lstStyle/>
          <a:p>
            <a:pPr algn="l" indent="0" marL="0">
              <a:lnSpc>
                <a:spcPct val="149268"/>
              </a:lnSpc>
              <a:buNone/>
            </a:pPr>
            <a:r>
              <a:rPr lang="en-US" sz="1800" dirty="0">
                <a:solidFill>
                  <a:srgbClr val="56DBDB"/>
                </a:solidFill>
                <a:latin typeface="Courier New" pitchFamily="34" charset="0"/>
                <a:ea typeface="Courier New" pitchFamily="34" charset="-122"/>
                <a:cs typeface="Courier New" pitchFamily="34" charset="-120"/>
              </a:rPr>
              <a:t>CMD </a:t>
            </a:r>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a:t>
            </a:r>
            <a:pPr algn="l" indent="0" marL="0">
              <a:lnSpc>
                <a:spcPct val="149268"/>
              </a:lnSpc>
              <a:buNone/>
            </a:pPr>
            <a:r>
              <a:rPr lang="en-US" sz="1800" dirty="0">
                <a:solidFill>
                  <a:srgbClr val="FFB46E"/>
                </a:solidFill>
                <a:latin typeface="Courier New" pitchFamily="34" charset="0"/>
                <a:ea typeface="Courier New" pitchFamily="34" charset="-122"/>
                <a:cs typeface="Courier New" pitchFamily="34" charset="-120"/>
              </a:rPr>
              <a:t>"uvicorn"</a:t>
            </a:r>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 </a:t>
            </a:r>
            <a:pPr algn="l" indent="0" marL="0">
              <a:lnSpc>
                <a:spcPct val="149268"/>
              </a:lnSpc>
              <a:buNone/>
            </a:pPr>
            <a:r>
              <a:rPr lang="en-US" sz="1800" dirty="0">
                <a:solidFill>
                  <a:srgbClr val="FFB46E"/>
                </a:solidFill>
                <a:latin typeface="Courier New" pitchFamily="34" charset="0"/>
                <a:ea typeface="Courier New" pitchFamily="34" charset="-122"/>
                <a:cs typeface="Courier New" pitchFamily="34" charset="-120"/>
              </a:rPr>
              <a:t>"main:app"</a:t>
            </a:r>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a:t>
            </a:r>
            <a:endParaRPr lang="en-US" sz="1800" dirty="0"/>
          </a:p>
        </p:txBody>
      </p:sp>
      <p:sp>
        <p:nvSpPr>
          <p:cNvPr id="21" name="Text 19"/>
          <p:cNvSpPr/>
          <p:nvPr/>
        </p:nvSpPr>
        <p:spPr>
          <a:xfrm>
            <a:off x="2044700" y="7397104"/>
            <a:ext cx="8500946" cy="426641"/>
          </a:xfrm>
          <a:prstGeom prst="rect">
            <a:avLst/>
          </a:prstGeom>
          <a:noFill/>
          <a:ln/>
        </p:spPr>
        <p:txBody>
          <a:bodyPr wrap="square" lIns="25400" tIns="25400" rIns="25400" bIns="25400" rtlCol="0" anchor="t">
            <a:normAutofit/>
          </a:bodyPr>
          <a:lstStyle/>
          <a:p>
            <a:pPr algn="l" indent="0" marL="0">
              <a:lnSpc>
                <a:spcPct val="149268"/>
              </a:lnSpc>
              <a:buNone/>
            </a:pPr>
            <a:r>
              <a:rPr lang="en-US" sz="1800" dirty="0">
                <a:solidFill>
                  <a:srgbClr val="FFB46E"/>
                </a:solidFill>
                <a:latin typeface="Courier New" pitchFamily="34" charset="0"/>
                <a:ea typeface="Courier New" pitchFamily="34" charset="-122"/>
                <a:cs typeface="Courier New" pitchFamily="34" charset="-120"/>
              </a:rPr>
              <a:t>"--host"</a:t>
            </a:r>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 </a:t>
            </a:r>
            <a:pPr algn="l" indent="0" marL="0">
              <a:lnSpc>
                <a:spcPct val="149268"/>
              </a:lnSpc>
              <a:buNone/>
            </a:pPr>
            <a:r>
              <a:rPr lang="en-US" sz="1800" dirty="0">
                <a:solidFill>
                  <a:srgbClr val="FFB46E"/>
                </a:solidFill>
                <a:latin typeface="Courier New" pitchFamily="34" charset="0"/>
                <a:ea typeface="Courier New" pitchFamily="34" charset="-122"/>
                <a:cs typeface="Courier New" pitchFamily="34" charset="-120"/>
              </a:rPr>
              <a:t>"0.0.0.0"</a:t>
            </a:r>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a:t>
            </a:r>
            <a:endParaRPr lang="en-US" sz="1800" dirty="0"/>
          </a:p>
        </p:txBody>
      </p:sp>
      <p:sp>
        <p:nvSpPr>
          <p:cNvPr id="22" name="Text 20"/>
          <p:cNvSpPr/>
          <p:nvPr/>
        </p:nvSpPr>
        <p:spPr>
          <a:xfrm>
            <a:off x="2044700" y="7785645"/>
            <a:ext cx="8500946" cy="426641"/>
          </a:xfrm>
          <a:prstGeom prst="rect">
            <a:avLst/>
          </a:prstGeom>
          <a:noFill/>
          <a:ln/>
        </p:spPr>
        <p:txBody>
          <a:bodyPr wrap="square" lIns="25400" tIns="25400" rIns="25400" bIns="25400" rtlCol="0" anchor="t">
            <a:normAutofit/>
          </a:bodyPr>
          <a:lstStyle/>
          <a:p>
            <a:pPr algn="l" indent="0" marL="0">
              <a:lnSpc>
                <a:spcPct val="149268"/>
              </a:lnSpc>
              <a:buNone/>
            </a:pPr>
            <a:r>
              <a:rPr lang="en-US" sz="1800" dirty="0">
                <a:solidFill>
                  <a:srgbClr val="FFB46E"/>
                </a:solidFill>
                <a:latin typeface="Courier New" pitchFamily="34" charset="0"/>
                <a:ea typeface="Courier New" pitchFamily="34" charset="-122"/>
                <a:cs typeface="Courier New" pitchFamily="34" charset="-120"/>
              </a:rPr>
              <a:t>"--port"</a:t>
            </a:r>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 </a:t>
            </a:r>
            <a:pPr algn="l" indent="0" marL="0">
              <a:lnSpc>
                <a:spcPct val="149268"/>
              </a:lnSpc>
              <a:buNone/>
            </a:pPr>
            <a:r>
              <a:rPr lang="en-US" sz="1800" dirty="0">
                <a:solidFill>
                  <a:srgbClr val="FFB46E"/>
                </a:solidFill>
                <a:latin typeface="Courier New" pitchFamily="34" charset="0"/>
                <a:ea typeface="Courier New" pitchFamily="34" charset="-122"/>
                <a:cs typeface="Courier New" pitchFamily="34" charset="-120"/>
              </a:rPr>
              <a:t>"8000"</a:t>
            </a:r>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a:t>
            </a:r>
            <a:endParaRPr lang="en-US" sz="1800" dirty="0"/>
          </a:p>
        </p:txBody>
      </p:sp>
      <p:sp>
        <p:nvSpPr>
          <p:cNvPr id="23" name="Shape 21"/>
          <p:cNvSpPr/>
          <p:nvPr/>
        </p:nvSpPr>
        <p:spPr>
          <a:xfrm>
            <a:off x="10894021" y="7129250"/>
            <a:ext cx="6327180" cy="584200"/>
          </a:xfrm>
          <a:custGeom>
            <a:avLst/>
            <a:gdLst/>
            <a:ahLst/>
            <a:cxnLst/>
            <a:rect l="l" t="t" r="r" b="b"/>
            <a:pathLst>
              <a:path w="6327180" h="584200">
                <a:moveTo>
                  <a:pt x="95250" y="0"/>
                </a:moveTo>
                <a:lnTo>
                  <a:pt x="6231930" y="0"/>
                </a:lnTo>
                <a:arcTo hR="95250" wR="95250" stAng="16200000" swAng="5400000"/>
                <a:lnTo>
                  <a:pt x="6327180" y="508000"/>
                </a:lnTo>
                <a:arcTo hR="76200" wR="76200" stAng="0" swAng="5400000"/>
                <a:lnTo>
                  <a:pt x="76200" y="584200"/>
                </a:lnTo>
                <a:arcTo hR="76200" wR="76200" stAng="5400000" swAng="5400000"/>
                <a:lnTo>
                  <a:pt x="0" y="95250"/>
                </a:lnTo>
                <a:arcTo hR="95250" wR="95250" stAng="10800000" swAng="5400000"/>
                <a:close/>
              </a:path>
            </a:pathLst>
          </a:custGeom>
          <a:solidFill>
            <a:srgbClr val="FFFFFF">
              <a:alpha val="6000"/>
            </a:srgbClr>
          </a:solidFill>
          <a:ln w="6350">
            <a:solidFill>
              <a:srgbClr val="FFFFFF">
                <a:alpha val="10000"/>
              </a:srgbClr>
            </a:solidFill>
            <a:prstDash val="solid"/>
          </a:ln>
        </p:spPr>
      </p:sp>
      <p:sp>
        <p:nvSpPr>
          <p:cNvPr id="24" name="Text 22"/>
          <p:cNvSpPr/>
          <p:nvPr/>
        </p:nvSpPr>
        <p:spPr>
          <a:xfrm>
            <a:off x="11109921" y="7268950"/>
            <a:ext cx="608519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alpha val="99000"/>
                  </a:srgbClr>
                </a:solidFill>
                <a:latin typeface="Courier New" pitchFamily="34" charset="0"/>
                <a:ea typeface="Courier New" pitchFamily="34" charset="-122"/>
                <a:cs typeface="Courier New" pitchFamily="34" charset="-120"/>
              </a:rPr>
              <a:t>Layer 1 </a:t>
            </a:r>
            <a:pPr algn="l" indent="0" marL="0">
              <a:buNone/>
            </a:pPr>
            <a:r>
              <a:rPr lang="en-US" sz="1800" dirty="0">
                <a:solidFill>
                  <a:srgbClr val="EEF3F9">
                    <a:alpha val="99000"/>
                  </a:srgbClr>
                </a:solidFill>
                <a:highlight>
                  <a:srgbClr val="FCFCFC"/>
                </a:highlight>
                <a:latin typeface="Courier New" pitchFamily="34" charset="0"/>
                <a:ea typeface="Courier New" pitchFamily="34" charset="-122"/>
                <a:cs typeface="Courier New" pitchFamily="34" charset="-120"/>
              </a:rPr>
              <a:t>· Base image </a:t>
            </a:r>
            <a:pPr algn="l" indent="0" marL="0">
              <a:buNone/>
            </a:pPr>
            <a:r>
              <a:rPr lang="en-US" sz="1800" dirty="0">
                <a:solidFill>
                  <a:srgbClr val="8EA0B5">
                    <a:alpha val="99000"/>
                  </a:srgbClr>
                </a:solidFill>
                <a:latin typeface="Courier New" pitchFamily="34" charset="0"/>
                <a:ea typeface="Courier New" pitchFamily="34" charset="-122"/>
                <a:cs typeface="Courier New" pitchFamily="34" charset="-120"/>
              </a:rPr>
              <a:t>python:3.12</a:t>
            </a:r>
            <a:endParaRPr lang="en-US" sz="1800" dirty="0"/>
          </a:p>
        </p:txBody>
      </p:sp>
      <p:sp>
        <p:nvSpPr>
          <p:cNvPr id="25" name="Shape 23"/>
          <p:cNvSpPr/>
          <p:nvPr/>
        </p:nvSpPr>
        <p:spPr>
          <a:xfrm>
            <a:off x="10893596" y="6468850"/>
            <a:ext cx="6327181" cy="584200"/>
          </a:xfrm>
          <a:prstGeom prst="roundRect">
            <a:avLst>
              <a:gd name="adj" fmla="val 13043"/>
            </a:avLst>
          </a:prstGeom>
          <a:solidFill>
            <a:srgbClr val="FFFFFF">
              <a:alpha val="6000"/>
            </a:srgbClr>
          </a:solidFill>
          <a:ln w="6350">
            <a:solidFill>
              <a:srgbClr val="FFFFFF">
                <a:alpha val="10000"/>
              </a:srgbClr>
            </a:solidFill>
            <a:prstDash val="solid"/>
          </a:ln>
        </p:spPr>
      </p:sp>
      <p:sp>
        <p:nvSpPr>
          <p:cNvPr id="26" name="Text 24"/>
          <p:cNvSpPr/>
          <p:nvPr/>
        </p:nvSpPr>
        <p:spPr>
          <a:xfrm>
            <a:off x="11109496" y="6608550"/>
            <a:ext cx="6085196"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alpha val="98000"/>
                  </a:srgbClr>
                </a:solidFill>
                <a:latin typeface="Courier New" pitchFamily="34" charset="0"/>
                <a:ea typeface="Courier New" pitchFamily="34" charset="-122"/>
                <a:cs typeface="Courier New" pitchFamily="34" charset="-120"/>
              </a:rPr>
              <a:t>Layer 2 </a:t>
            </a:r>
            <a:pPr algn="l" indent="0" marL="0">
              <a:buNone/>
            </a:pPr>
            <a:r>
              <a:rPr lang="en-US" sz="1800" dirty="0">
                <a:solidFill>
                  <a:srgbClr val="EEF3F9">
                    <a:alpha val="98000"/>
                  </a:srgbClr>
                </a:solidFill>
                <a:highlight>
                  <a:srgbClr val="FBFBFC"/>
                </a:highlight>
                <a:latin typeface="Courier New" pitchFamily="34" charset="0"/>
                <a:ea typeface="Courier New" pitchFamily="34" charset="-122"/>
                <a:cs typeface="Courier New" pitchFamily="34" charset="-120"/>
              </a:rPr>
              <a:t>· Working directory</a:t>
            </a:r>
            <a:endParaRPr lang="en-US" sz="1800" dirty="0"/>
          </a:p>
        </p:txBody>
      </p:sp>
      <p:sp>
        <p:nvSpPr>
          <p:cNvPr id="27" name="Shape 25"/>
          <p:cNvSpPr/>
          <p:nvPr/>
        </p:nvSpPr>
        <p:spPr>
          <a:xfrm>
            <a:off x="10892139" y="5808450"/>
            <a:ext cx="6327180" cy="584200"/>
          </a:xfrm>
          <a:prstGeom prst="roundRect">
            <a:avLst>
              <a:gd name="adj" fmla="val 13043"/>
            </a:avLst>
          </a:prstGeom>
          <a:solidFill>
            <a:srgbClr val="FFFFFF">
              <a:alpha val="6000"/>
            </a:srgbClr>
          </a:solidFill>
          <a:ln w="6350">
            <a:solidFill>
              <a:srgbClr val="FFFFFF">
                <a:alpha val="10000"/>
              </a:srgbClr>
            </a:solidFill>
            <a:prstDash val="solid"/>
          </a:ln>
        </p:spPr>
      </p:sp>
      <p:sp>
        <p:nvSpPr>
          <p:cNvPr id="28" name="Text 26"/>
          <p:cNvSpPr/>
          <p:nvPr/>
        </p:nvSpPr>
        <p:spPr>
          <a:xfrm>
            <a:off x="11108039" y="5948150"/>
            <a:ext cx="608519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alpha val="98000"/>
                  </a:srgbClr>
                </a:solidFill>
                <a:latin typeface="Courier New" pitchFamily="34" charset="0"/>
                <a:ea typeface="Courier New" pitchFamily="34" charset="-122"/>
                <a:cs typeface="Courier New" pitchFamily="34" charset="-120"/>
              </a:rPr>
              <a:t>Layer 3 </a:t>
            </a:r>
            <a:pPr algn="l" indent="0" marL="0">
              <a:buNone/>
            </a:pPr>
            <a:r>
              <a:rPr lang="en-US" sz="1800" dirty="0">
                <a:solidFill>
                  <a:srgbClr val="EEF3F9">
                    <a:alpha val="98000"/>
                  </a:srgbClr>
                </a:solidFill>
                <a:highlight>
                  <a:srgbClr val="FAFAFA"/>
                </a:highlight>
                <a:latin typeface="Courier New" pitchFamily="34" charset="0"/>
                <a:ea typeface="Courier New" pitchFamily="34" charset="-122"/>
                <a:cs typeface="Courier New" pitchFamily="34" charset="-120"/>
              </a:rPr>
              <a:t>· requirements.txt</a:t>
            </a:r>
            <a:endParaRPr lang="en-US" sz="1800" dirty="0"/>
          </a:p>
        </p:txBody>
      </p:sp>
      <p:sp>
        <p:nvSpPr>
          <p:cNvPr id="29" name="Shape 27"/>
          <p:cNvSpPr/>
          <p:nvPr/>
        </p:nvSpPr>
        <p:spPr>
          <a:xfrm>
            <a:off x="10889277" y="5148050"/>
            <a:ext cx="6327180" cy="584200"/>
          </a:xfrm>
          <a:prstGeom prst="roundRect">
            <a:avLst>
              <a:gd name="adj" fmla="val 13043"/>
            </a:avLst>
          </a:prstGeom>
          <a:solidFill>
            <a:srgbClr val="FFFFFF">
              <a:alpha val="6000"/>
            </a:srgbClr>
          </a:solidFill>
          <a:ln w="6350">
            <a:solidFill>
              <a:srgbClr val="FFFFFF">
                <a:alpha val="10000"/>
              </a:srgbClr>
            </a:solidFill>
            <a:prstDash val="solid"/>
          </a:ln>
        </p:spPr>
      </p:sp>
      <p:sp>
        <p:nvSpPr>
          <p:cNvPr id="30" name="Text 28"/>
          <p:cNvSpPr/>
          <p:nvPr/>
        </p:nvSpPr>
        <p:spPr>
          <a:xfrm>
            <a:off x="11105177" y="5287750"/>
            <a:ext cx="608519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alpha val="97000"/>
                  </a:srgbClr>
                </a:solidFill>
                <a:latin typeface="Courier New" pitchFamily="34" charset="0"/>
                <a:ea typeface="Courier New" pitchFamily="34" charset="-122"/>
                <a:cs typeface="Courier New" pitchFamily="34" charset="-120"/>
              </a:rPr>
              <a:t>Layer 4 </a:t>
            </a:r>
            <a:pPr algn="l" indent="0" marL="0">
              <a:buNone/>
            </a:pPr>
            <a:r>
              <a:rPr lang="en-US" sz="1800" dirty="0">
                <a:solidFill>
                  <a:srgbClr val="EEF3F9">
                    <a:alpha val="97000"/>
                  </a:srgbClr>
                </a:solidFill>
                <a:highlight>
                  <a:srgbClr val="F7F7F8"/>
                </a:highlight>
                <a:latin typeface="Courier New" pitchFamily="34" charset="0"/>
                <a:ea typeface="Courier New" pitchFamily="34" charset="-122"/>
                <a:cs typeface="Courier New" pitchFamily="34" charset="-120"/>
              </a:rPr>
              <a:t>· Dependencies </a:t>
            </a:r>
            <a:pPr algn="l" indent="0" marL="0">
              <a:buNone/>
            </a:pPr>
            <a:r>
              <a:rPr lang="en-US" sz="1800" dirty="0">
                <a:solidFill>
                  <a:srgbClr val="8EA0B5">
                    <a:alpha val="97000"/>
                  </a:srgbClr>
                </a:solidFill>
                <a:latin typeface="Courier New" pitchFamily="34" charset="0"/>
                <a:ea typeface="Courier New" pitchFamily="34" charset="-122"/>
                <a:cs typeface="Courier New" pitchFamily="34" charset="-120"/>
              </a:rPr>
              <a:t>pandas · numpy</a:t>
            </a:r>
            <a:endParaRPr lang="en-US" sz="1800" dirty="0"/>
          </a:p>
        </p:txBody>
      </p:sp>
      <p:sp>
        <p:nvSpPr>
          <p:cNvPr id="31" name="Shape 29"/>
          <p:cNvSpPr/>
          <p:nvPr/>
        </p:nvSpPr>
        <p:spPr>
          <a:xfrm>
            <a:off x="10884418" y="4487650"/>
            <a:ext cx="6327180" cy="584200"/>
          </a:xfrm>
          <a:custGeom>
            <a:avLst/>
            <a:gdLst/>
            <a:ahLst/>
            <a:cxnLst/>
            <a:rect l="l" t="t" r="r" b="b"/>
            <a:pathLst>
              <a:path w="6327180" h="584200">
                <a:moveTo>
                  <a:pt x="76200" y="0"/>
                </a:moveTo>
                <a:lnTo>
                  <a:pt x="6250980" y="0"/>
                </a:lnTo>
                <a:arcTo hR="76200" wR="76200" stAng="16200000" swAng="5400000"/>
                <a:lnTo>
                  <a:pt x="6327180" y="488950"/>
                </a:lnTo>
                <a:arcTo hR="95250" wR="95250" stAng="0" swAng="5400000"/>
                <a:lnTo>
                  <a:pt x="95250" y="584200"/>
                </a:lnTo>
                <a:arcTo hR="95250" wR="95250" stAng="5400000" swAng="5400000"/>
                <a:lnTo>
                  <a:pt x="0" y="76200"/>
                </a:lnTo>
                <a:arcTo hR="76200" wR="76200" stAng="10800000" swAng="5400000"/>
                <a:close/>
              </a:path>
            </a:pathLst>
          </a:custGeom>
          <a:gradFill rotWithShape="1">
            <a:gsLst>
              <a:gs pos="0">
                <a:srgbClr val="FFB46D">
                  <a:alpha val="23000"/>
                </a:srgbClr>
              </a:gs>
              <a:gs pos="100000">
                <a:srgbClr val="FFFFFF">
                  <a:alpha val="6000"/>
                </a:srgbClr>
              </a:gs>
            </a:gsLst>
            <a:lin ang="4200000" scaled="0"/>
          </a:gradFill>
          <a:ln w="6350">
            <a:solidFill>
              <a:srgbClr val="FFBE82">
                <a:alpha val="44000"/>
              </a:srgbClr>
            </a:solidFill>
            <a:prstDash val="solid"/>
          </a:ln>
        </p:spPr>
      </p:sp>
      <p:sp>
        <p:nvSpPr>
          <p:cNvPr id="32" name="Text 30"/>
          <p:cNvSpPr/>
          <p:nvPr/>
        </p:nvSpPr>
        <p:spPr>
          <a:xfrm>
            <a:off x="11100318" y="4627350"/>
            <a:ext cx="608519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FB46E">
                    <a:alpha val="95000"/>
                  </a:srgbClr>
                </a:solidFill>
                <a:latin typeface="Courier New" pitchFamily="34" charset="0"/>
                <a:ea typeface="Courier New" pitchFamily="34" charset="-122"/>
                <a:cs typeface="Courier New" pitchFamily="34" charset="-120"/>
              </a:rPr>
              <a:t>Layer 5 · Application</a:t>
            </a:r>
            <a:endParaRPr lang="en-US" sz="1800" dirty="0"/>
          </a:p>
        </p:txBody>
      </p:sp>
      <p:sp>
        <p:nvSpPr>
          <p:cNvPr id="33" name="Text 31"/>
          <p:cNvSpPr/>
          <p:nvPr/>
        </p:nvSpPr>
        <p:spPr>
          <a:xfrm>
            <a:off x="10577662" y="4034319"/>
            <a:ext cx="6959898" cy="358080"/>
          </a:xfrm>
          <a:prstGeom prst="rect">
            <a:avLst/>
          </a:prstGeom>
          <a:noFill/>
          <a:ln/>
        </p:spPr>
        <p:txBody>
          <a:bodyPr wrap="square" lIns="25400" tIns="25400" rIns="25400" bIns="25400" rtlCol="0" anchor="t">
            <a:normAutofit/>
          </a:bodyPr>
          <a:lstStyle/>
          <a:p>
            <a:pPr algn="ctr" indent="0" marL="0">
              <a:lnSpc>
                <a:spcPct val="120000"/>
              </a:lnSpc>
              <a:buNone/>
            </a:pPr>
            <a:r>
              <a:rPr lang="en-US" sz="1800" dirty="0">
                <a:solidFill>
                  <a:srgbClr val="8EA0B5">
                    <a:alpha val="99000"/>
                  </a:srgbClr>
                </a:solidFill>
                <a:latin typeface="Arial" pitchFamily="34" charset="0"/>
                <a:ea typeface="Arial" pitchFamily="34" charset="-122"/>
                <a:cs typeface="Arial" pitchFamily="34" charset="-120"/>
              </a:rPr>
              <a:t>Docker empile les couches et met en cache celles inchangées</a:t>
            </a:r>
            <a:endParaRPr lang="en-US" sz="1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0E15"/>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FFB46E">
                    <a:alpha val="97000"/>
                  </a:srgbClr>
                </a:solidFill>
                <a:latin typeface="Courier New" pitchFamily="34" charset="0"/>
                <a:ea typeface="Courier New" pitchFamily="34" charset="-122"/>
                <a:cs typeface="Courier New" pitchFamily="34" charset="-120"/>
              </a:rPr>
              <a:t>ATELIER 03 · PRATIQUE</a:t>
            </a:r>
            <a:endParaRPr lang="en-US" sz="1800" dirty="0"/>
          </a:p>
        </p:txBody>
      </p:sp>
      <p:sp>
        <p:nvSpPr>
          <p:cNvPr id="3" name="Text 1"/>
          <p:cNvSpPr/>
          <p:nvPr/>
        </p:nvSpPr>
        <p:spPr>
          <a:xfrm>
            <a:off x="1066800" y="1314450"/>
            <a:ext cx="10476041" cy="1305917"/>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Orchestrer plusieurs services avec Docker Compose</a:t>
            </a:r>
            <a:endParaRPr lang="en-US" sz="4800" dirty="0"/>
          </a:p>
        </p:txBody>
      </p:sp>
      <p:sp>
        <p:nvSpPr>
          <p:cNvPr id="4" name="Shape 2"/>
          <p:cNvSpPr/>
          <p:nvPr/>
        </p:nvSpPr>
        <p:spPr>
          <a:xfrm>
            <a:off x="1066800" y="2944217"/>
            <a:ext cx="9239746" cy="6523633"/>
          </a:xfrm>
          <a:prstGeom prst="roundRect">
            <a:avLst>
              <a:gd name="adj" fmla="val 2336"/>
            </a:avLst>
          </a:prstGeom>
          <a:solidFill>
            <a:srgbClr val="06090E"/>
          </a:solidFill>
          <a:ln w="6350">
            <a:solidFill>
              <a:srgbClr val="FFFFFF">
                <a:alpha val="10000"/>
              </a:srgbClr>
            </a:solidFill>
            <a:prstDash val="solid"/>
          </a:ln>
        </p:spPr>
      </p:sp>
      <p:sp>
        <p:nvSpPr>
          <p:cNvPr id="5" name="Shape 3"/>
          <p:cNvSpPr/>
          <p:nvPr/>
        </p:nvSpPr>
        <p:spPr>
          <a:xfrm>
            <a:off x="1073150" y="3560167"/>
            <a:ext cx="9227046" cy="9525"/>
          </a:xfrm>
          <a:prstGeom prst="rect">
            <a:avLst/>
          </a:prstGeom>
          <a:solidFill>
            <a:srgbClr val="FFFFFF">
              <a:alpha val="6000"/>
            </a:srgbClr>
          </a:solidFill>
          <a:ln/>
        </p:spPr>
      </p:sp>
      <p:sp>
        <p:nvSpPr>
          <p:cNvPr id="6" name="Shape 4"/>
          <p:cNvSpPr/>
          <p:nvPr/>
        </p:nvSpPr>
        <p:spPr>
          <a:xfrm>
            <a:off x="1282700" y="3193455"/>
            <a:ext cx="123825" cy="123825"/>
          </a:xfrm>
          <a:prstGeom prst="ellipse">
            <a:avLst/>
          </a:prstGeom>
          <a:solidFill>
            <a:srgbClr val="FF5F57"/>
          </a:solidFill>
          <a:ln/>
        </p:spPr>
      </p:sp>
      <p:sp>
        <p:nvSpPr>
          <p:cNvPr id="7" name="Shape 5"/>
          <p:cNvSpPr/>
          <p:nvPr/>
        </p:nvSpPr>
        <p:spPr>
          <a:xfrm>
            <a:off x="1501775" y="3193455"/>
            <a:ext cx="123825" cy="123825"/>
          </a:xfrm>
          <a:prstGeom prst="ellipse">
            <a:avLst/>
          </a:prstGeom>
          <a:solidFill>
            <a:srgbClr val="FEBC2E"/>
          </a:solidFill>
          <a:ln/>
        </p:spPr>
      </p:sp>
      <p:sp>
        <p:nvSpPr>
          <p:cNvPr id="8" name="Shape 6"/>
          <p:cNvSpPr/>
          <p:nvPr/>
        </p:nvSpPr>
        <p:spPr>
          <a:xfrm>
            <a:off x="1720850" y="3193455"/>
            <a:ext cx="123825" cy="123825"/>
          </a:xfrm>
          <a:prstGeom prst="ellipse">
            <a:avLst/>
          </a:prstGeom>
          <a:solidFill>
            <a:srgbClr val="28C840"/>
          </a:solidFill>
          <a:ln/>
        </p:spPr>
      </p:sp>
      <p:sp>
        <p:nvSpPr>
          <p:cNvPr id="9" name="Text 7"/>
          <p:cNvSpPr/>
          <p:nvPr/>
        </p:nvSpPr>
        <p:spPr>
          <a:xfrm>
            <a:off x="2054225" y="3102967"/>
            <a:ext cx="271585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solidFill>
                <a:latin typeface="Courier New" pitchFamily="34" charset="0"/>
                <a:ea typeface="Courier New" pitchFamily="34" charset="-122"/>
                <a:cs typeface="Courier New" pitchFamily="34" charset="-120"/>
              </a:rPr>
              <a:t>docker-compose.yml</a:t>
            </a:r>
            <a:endParaRPr lang="en-US" sz="1800" dirty="0"/>
          </a:p>
        </p:txBody>
      </p:sp>
      <p:sp>
        <p:nvSpPr>
          <p:cNvPr id="10" name="Text 8"/>
          <p:cNvSpPr/>
          <p:nvPr/>
        </p:nvSpPr>
        <p:spPr>
          <a:xfrm>
            <a:off x="1358900" y="3795117"/>
            <a:ext cx="8932357" cy="4998443"/>
          </a:xfrm>
          <a:prstGeom prst="rect">
            <a:avLst/>
          </a:prstGeom>
          <a:noFill/>
          <a:ln/>
        </p:spPr>
        <p:txBody>
          <a:bodyPr wrap="none" lIns="25400" tIns="25400" rIns="25400" bIns="25400" rtlCol="0" anchor="t">
            <a:normAutofit/>
          </a:bodyPr>
          <a:lstStyle/>
          <a:p>
            <a:pPr algn="l" indent="0" marL="0">
              <a:lnSpc>
                <a:spcPct val="136098"/>
              </a:lnSpc>
              <a:buNone/>
            </a:pPr>
            <a:r>
              <a:rPr lang="en-US" sz="1800" dirty="0">
                <a:solidFill>
                  <a:srgbClr val="B897F0"/>
                </a:solidFill>
                <a:latin typeface="Courier New" pitchFamily="34" charset="0"/>
                <a:ea typeface="Courier New" pitchFamily="34" charset="-122"/>
                <a:cs typeface="Courier New" pitchFamily="34" charset="-120"/>
              </a:rPr>
              <a:t>services </a:t>
            </a:r>
            <a:pPr algn="l" indent="0" marL="0">
              <a:lnSpc>
                <a:spcPct val="136098"/>
              </a:lnSpc>
              <a:buNone/>
            </a:pPr>
            <a:r>
              <a:rPr lang="en-US" sz="1800" dirty="0">
                <a:solidFill>
                  <a:srgbClr val="CDD7E3"/>
                </a:solidFill>
                <a:latin typeface="Courier New" pitchFamily="34" charset="0"/>
                <a:ea typeface="Courier New" pitchFamily="34" charset="-122"/>
                <a:cs typeface="Courier New" pitchFamily="34" charset="-120"/>
              </a:rPr>
              <a:t>:</a:t>
            </a:r>
            <a:endParaRPr lang="en-US" sz="1800" dirty="0"/>
          </a:p>
          <a:p>
            <a:pPr algn="l" indent="0" marL="0">
              <a:lnSpc>
                <a:spcPct val="136098"/>
              </a:lnSpc>
              <a:buNone/>
            </a:pPr>
            <a:r>
              <a:rPr lang="en-US" sz="1800" dirty="0">
                <a:solidFill>
                  <a:srgbClr val="CDD7E3"/>
                </a:solidFill>
                <a:latin typeface="Courier New" pitchFamily="34" charset="0"/>
                <a:ea typeface="Courier New" pitchFamily="34" charset="-122"/>
                <a:cs typeface="Courier New" pitchFamily="34" charset="-120"/>
              </a:rPr>
              <a:t>   </a:t>
            </a:r>
            <a:endParaRPr lang="en-US" sz="1800" dirty="0"/>
          </a:p>
          <a:p>
            <a:pPr algn="l" indent="0" marL="0">
              <a:lnSpc>
                <a:spcPct val="136098"/>
              </a:lnSpc>
              <a:buNone/>
            </a:pPr>
            <a:r>
              <a:rPr lang="en-US" sz="1800" dirty="0">
                <a:solidFill>
                  <a:srgbClr val="56DBDB"/>
                </a:solidFill>
                <a:latin typeface="Courier New" pitchFamily="34" charset="0"/>
                <a:ea typeface="Courier New" pitchFamily="34" charset="-122"/>
                <a:cs typeface="Courier New" pitchFamily="34" charset="-120"/>
              </a:rPr>
              <a:t>api </a:t>
            </a:r>
            <a:pPr algn="l" indent="0" marL="0">
              <a:lnSpc>
                <a:spcPct val="136098"/>
              </a:lnSpc>
              <a:buNone/>
            </a:pPr>
            <a:r>
              <a:rPr lang="en-US" sz="1800" dirty="0">
                <a:solidFill>
                  <a:srgbClr val="CDD7E3"/>
                </a:solidFill>
                <a:latin typeface="Courier New" pitchFamily="34" charset="0"/>
                <a:ea typeface="Courier New" pitchFamily="34" charset="-122"/>
                <a:cs typeface="Courier New" pitchFamily="34" charset="-120"/>
              </a:rPr>
              <a:t>:</a:t>
            </a:r>
            <a:endParaRPr lang="en-US" sz="1800" dirty="0"/>
          </a:p>
          <a:p>
            <a:pPr algn="l" indent="0" marL="0">
              <a:lnSpc>
                <a:spcPct val="136098"/>
              </a:lnSpc>
              <a:buNone/>
            </a:pPr>
            <a:r>
              <a:rPr lang="en-US" sz="1800" dirty="0">
                <a:solidFill>
                  <a:srgbClr val="CDD7E3"/>
                </a:solidFill>
                <a:latin typeface="Courier New" pitchFamily="34" charset="0"/>
                <a:ea typeface="Courier New" pitchFamily="34" charset="-122"/>
                <a:cs typeface="Courier New" pitchFamily="34" charset="-120"/>
              </a:rPr>
              <a:t>    build: </a:t>
            </a:r>
            <a:endParaRPr lang="en-US" sz="1800" dirty="0"/>
          </a:p>
          <a:p>
            <a:pPr algn="l" indent="0" marL="0">
              <a:lnSpc>
                <a:spcPct val="136098"/>
              </a:lnSpc>
              <a:buNone/>
            </a:pPr>
            <a:r>
              <a:rPr lang="en-US" sz="1800" dirty="0">
                <a:solidFill>
                  <a:srgbClr val="FFB46E"/>
                </a:solidFill>
                <a:latin typeface="Courier New" pitchFamily="34" charset="0"/>
                <a:ea typeface="Courier New" pitchFamily="34" charset="-122"/>
                <a:cs typeface="Courier New" pitchFamily="34" charset="-120"/>
              </a:rPr>
              <a:t>. </a:t>
            </a:r>
            <a:pPr algn="l" indent="0" marL="0">
              <a:lnSpc>
                <a:spcPct val="136098"/>
              </a:lnSpc>
              <a:buNone/>
            </a:pPr>
            <a:r>
              <a:rPr lang="en-US" sz="1800" dirty="0">
                <a:solidFill>
                  <a:srgbClr val="CDD7E3"/>
                </a:solidFill>
                <a:latin typeface="Courier New" pitchFamily="34" charset="0"/>
                <a:ea typeface="Courier New" pitchFamily="34" charset="-122"/>
                <a:cs typeface="Courier New" pitchFamily="34" charset="-120"/>
              </a:rPr>
              <a:t>    ports: [</a:t>
            </a:r>
            <a:pPr algn="l" indent="0" marL="0">
              <a:lnSpc>
                <a:spcPct val="136098"/>
              </a:lnSpc>
              <a:buNone/>
            </a:pPr>
            <a:r>
              <a:rPr lang="en-US" sz="1800" dirty="0">
                <a:solidFill>
                  <a:srgbClr val="FFB46E"/>
                </a:solidFill>
                <a:latin typeface="Courier New" pitchFamily="34" charset="0"/>
                <a:ea typeface="Courier New" pitchFamily="34" charset="-122"/>
                <a:cs typeface="Courier New" pitchFamily="34" charset="-120"/>
              </a:rPr>
              <a:t>"8000:8000" </a:t>
            </a:r>
            <a:pPr algn="l" indent="0" marL="0">
              <a:lnSpc>
                <a:spcPct val="136098"/>
              </a:lnSpc>
              <a:buNone/>
            </a:pPr>
            <a:r>
              <a:rPr lang="en-US" sz="1800" dirty="0">
                <a:solidFill>
                  <a:srgbClr val="CDD7E3"/>
                </a:solidFill>
                <a:latin typeface="Courier New" pitchFamily="34" charset="0"/>
                <a:ea typeface="Courier New" pitchFamily="34" charset="-122"/>
                <a:cs typeface="Courier New" pitchFamily="34" charset="-120"/>
              </a:rPr>
              <a:t>]</a:t>
            </a:r>
            <a:endParaRPr lang="en-US" sz="1800" dirty="0"/>
          </a:p>
          <a:p>
            <a:pPr algn="l" indent="0" marL="0">
              <a:lnSpc>
                <a:spcPct val="136098"/>
              </a:lnSpc>
              <a:buNone/>
            </a:pPr>
            <a:r>
              <a:rPr lang="en-US" sz="1800" dirty="0">
                <a:solidFill>
                  <a:srgbClr val="CDD7E3"/>
                </a:solidFill>
                <a:latin typeface="Courier New" pitchFamily="34" charset="0"/>
                <a:ea typeface="Courier New" pitchFamily="34" charset="-122"/>
                <a:cs typeface="Courier New" pitchFamily="34" charset="-120"/>
              </a:rPr>
              <a:t>    environment:</a:t>
            </a:r>
            <a:endParaRPr lang="en-US" sz="1800" dirty="0"/>
          </a:p>
          <a:p>
            <a:pPr algn="l" indent="0" marL="0">
              <a:lnSpc>
                <a:spcPct val="136098"/>
              </a:lnSpc>
              <a:buNone/>
            </a:pPr>
            <a:r>
              <a:rPr lang="en-US" sz="1800" dirty="0">
                <a:solidFill>
                  <a:srgbClr val="CDD7E3"/>
                </a:solidFill>
                <a:latin typeface="Courier New" pitchFamily="34" charset="0"/>
                <a:ea typeface="Courier New" pitchFamily="34" charset="-122"/>
                <a:cs typeface="Courier New" pitchFamily="34" charset="-120"/>
              </a:rPr>
              <a:t>      -  </a:t>
            </a:r>
            <a:endParaRPr lang="en-US" sz="1800" dirty="0"/>
          </a:p>
          <a:p>
            <a:pPr algn="l" indent="0" marL="0">
              <a:lnSpc>
                <a:spcPct val="136098"/>
              </a:lnSpc>
              <a:buNone/>
            </a:pPr>
            <a:r>
              <a:rPr lang="en-US" sz="1800" dirty="0">
                <a:solidFill>
                  <a:srgbClr val="FFB46E"/>
                </a:solidFill>
                <a:latin typeface="Courier New" pitchFamily="34" charset="0"/>
                <a:ea typeface="Courier New" pitchFamily="34" charset="-122"/>
                <a:cs typeface="Courier New" pitchFamily="34" charset="-120"/>
              </a:rPr>
              <a:t>REDIS_HOST=redis </a:t>
            </a:r>
            <a:pPr algn="l" indent="0" marL="0">
              <a:lnSpc>
                <a:spcPct val="136098"/>
              </a:lnSpc>
              <a:buNone/>
            </a:pPr>
            <a:r>
              <a:rPr lang="en-US" sz="1800" dirty="0">
                <a:solidFill>
                  <a:srgbClr val="CDD7E3"/>
                </a:solidFill>
                <a:latin typeface="Courier New" pitchFamily="34" charset="0"/>
                <a:ea typeface="Courier New" pitchFamily="34" charset="-122"/>
                <a:cs typeface="Courier New" pitchFamily="34" charset="-120"/>
              </a:rPr>
              <a:t>    depends_on: [</a:t>
            </a:r>
            <a:pPr algn="l" indent="0" marL="0">
              <a:lnSpc>
                <a:spcPct val="136098"/>
              </a:lnSpc>
              <a:buNone/>
            </a:pPr>
            <a:r>
              <a:rPr lang="en-US" sz="1800" dirty="0">
                <a:solidFill>
                  <a:srgbClr val="FFB46E"/>
                </a:solidFill>
                <a:latin typeface="Courier New" pitchFamily="34" charset="0"/>
                <a:ea typeface="Courier New" pitchFamily="34" charset="-122"/>
                <a:cs typeface="Courier New" pitchFamily="34" charset="-120"/>
              </a:rPr>
              <a:t>redis </a:t>
            </a:r>
            <a:pPr algn="l" indent="0" marL="0">
              <a:lnSpc>
                <a:spcPct val="136098"/>
              </a:lnSpc>
              <a:buNone/>
            </a:pPr>
            <a:r>
              <a:rPr lang="en-US" sz="1800" dirty="0">
                <a:solidFill>
                  <a:srgbClr val="CDD7E3"/>
                </a:solidFill>
                <a:latin typeface="Courier New" pitchFamily="34" charset="0"/>
                <a:ea typeface="Courier New" pitchFamily="34" charset="-122"/>
                <a:cs typeface="Courier New" pitchFamily="34" charset="-120"/>
              </a:rPr>
              <a:t>]</a:t>
            </a:r>
            <a:endParaRPr lang="en-US" sz="1800" dirty="0"/>
          </a:p>
          <a:p>
            <a:pPr algn="l" indent="0" marL="0">
              <a:lnSpc>
                <a:spcPct val="136098"/>
              </a:lnSpc>
              <a:buNone/>
            </a:pPr>
            <a:r>
              <a:rPr lang="en-US" sz="1800" dirty="0">
                <a:solidFill>
                  <a:srgbClr val="CDD7E3"/>
                </a:solidFill>
                <a:latin typeface="Courier New" pitchFamily="34" charset="0"/>
                <a:ea typeface="Courier New" pitchFamily="34" charset="-122"/>
                <a:cs typeface="Courier New" pitchFamily="34" charset="-120"/>
              </a:rPr>
              <a:t>    networks: [ </a:t>
            </a:r>
            <a:endParaRPr lang="en-US" sz="1800" dirty="0"/>
          </a:p>
          <a:p>
            <a:pPr algn="l" indent="0" marL="0">
              <a:lnSpc>
                <a:spcPct val="136098"/>
              </a:lnSpc>
              <a:buNone/>
            </a:pPr>
            <a:r>
              <a:rPr lang="en-US" sz="1800" dirty="0">
                <a:solidFill>
                  <a:srgbClr val="FFB46E"/>
                </a:solidFill>
                <a:latin typeface="Courier New" pitchFamily="34" charset="0"/>
                <a:ea typeface="Courier New" pitchFamily="34" charset="-122"/>
                <a:cs typeface="Courier New" pitchFamily="34" charset="-120"/>
              </a:rPr>
              <a:t>app_net </a:t>
            </a:r>
            <a:pPr algn="l" indent="0" marL="0">
              <a:lnSpc>
                <a:spcPct val="136098"/>
              </a:lnSpc>
              <a:buNone/>
            </a:pPr>
            <a:r>
              <a:rPr lang="en-US" sz="1800" dirty="0">
                <a:solidFill>
                  <a:srgbClr val="CDD7E3"/>
                </a:solidFill>
                <a:latin typeface="Courier New" pitchFamily="34" charset="0"/>
                <a:ea typeface="Courier New" pitchFamily="34" charset="-122"/>
                <a:cs typeface="Courier New" pitchFamily="34" charset="-120"/>
              </a:rPr>
              <a:t>]</a:t>
            </a:r>
            <a:endParaRPr lang="en-US" sz="1800" dirty="0"/>
          </a:p>
          <a:p>
            <a:pPr algn="l" indent="0" marL="0">
              <a:lnSpc>
                <a:spcPct val="136098"/>
              </a:lnSpc>
              <a:buNone/>
            </a:pPr>
            <a:r>
              <a:rPr lang="en-US" sz="1800" dirty="0">
                <a:solidFill>
                  <a:srgbClr val="CDD7E3"/>
                </a:solidFill>
                <a:latin typeface="Courier New" pitchFamily="34" charset="0"/>
                <a:ea typeface="Courier New" pitchFamily="34" charset="-122"/>
                <a:cs typeface="Courier New" pitchFamily="34" charset="-120"/>
              </a:rPr>
              <a:t>   </a:t>
            </a:r>
            <a:endParaRPr lang="en-US" sz="1800" dirty="0"/>
          </a:p>
          <a:p>
            <a:pPr algn="l" indent="0" marL="0">
              <a:lnSpc>
                <a:spcPct val="136098"/>
              </a:lnSpc>
              <a:buNone/>
            </a:pPr>
            <a:r>
              <a:rPr lang="en-US" sz="1800" dirty="0">
                <a:solidFill>
                  <a:srgbClr val="56DBDB"/>
                </a:solidFill>
                <a:latin typeface="Courier New" pitchFamily="34" charset="0"/>
                <a:ea typeface="Courier New" pitchFamily="34" charset="-122"/>
                <a:cs typeface="Courier New" pitchFamily="34" charset="-120"/>
              </a:rPr>
              <a:t>redis </a:t>
            </a:r>
            <a:pPr algn="l" indent="0" marL="0">
              <a:lnSpc>
                <a:spcPct val="136098"/>
              </a:lnSpc>
              <a:buNone/>
            </a:pPr>
            <a:r>
              <a:rPr lang="en-US" sz="1800" dirty="0">
                <a:solidFill>
                  <a:srgbClr val="CDD7E3"/>
                </a:solidFill>
                <a:latin typeface="Courier New" pitchFamily="34" charset="0"/>
                <a:ea typeface="Courier New" pitchFamily="34" charset="-122"/>
                <a:cs typeface="Courier New" pitchFamily="34" charset="-120"/>
              </a:rPr>
              <a:t>:</a:t>
            </a:r>
            <a:endParaRPr lang="en-US" sz="1800" dirty="0"/>
          </a:p>
          <a:p>
            <a:pPr algn="l" indent="0" marL="0">
              <a:lnSpc>
                <a:spcPct val="136098"/>
              </a:lnSpc>
              <a:buNone/>
            </a:pPr>
            <a:r>
              <a:rPr lang="en-US" sz="1800" dirty="0">
                <a:solidFill>
                  <a:srgbClr val="CDD7E3"/>
                </a:solidFill>
                <a:latin typeface="Courier New" pitchFamily="34" charset="0"/>
                <a:ea typeface="Courier New" pitchFamily="34" charset="-122"/>
                <a:cs typeface="Courier New" pitchFamily="34" charset="-120"/>
              </a:rPr>
              <a:t>    image: </a:t>
            </a:r>
            <a:endParaRPr lang="en-US" sz="1800" dirty="0"/>
          </a:p>
          <a:p>
            <a:pPr algn="l" indent="0" marL="0">
              <a:lnSpc>
                <a:spcPct val="136098"/>
              </a:lnSpc>
              <a:buNone/>
            </a:pPr>
            <a:r>
              <a:rPr lang="en-US" sz="1800" dirty="0">
                <a:solidFill>
                  <a:srgbClr val="FFB46E"/>
                </a:solidFill>
                <a:latin typeface="Courier New" pitchFamily="34" charset="0"/>
                <a:ea typeface="Courier New" pitchFamily="34" charset="-122"/>
                <a:cs typeface="Courier New" pitchFamily="34" charset="-120"/>
              </a:rPr>
              <a:t>redis:7-alpine </a:t>
            </a:r>
            <a:pPr algn="l" indent="0" marL="0">
              <a:lnSpc>
                <a:spcPct val="136098"/>
              </a:lnSpc>
              <a:buNone/>
            </a:pPr>
            <a:r>
              <a:rPr lang="en-US" sz="1800" dirty="0">
                <a:solidFill>
                  <a:srgbClr val="CDD7E3"/>
                </a:solidFill>
                <a:latin typeface="Courier New" pitchFamily="34" charset="0"/>
                <a:ea typeface="Courier New" pitchFamily="34" charset="-122"/>
                <a:cs typeface="Courier New" pitchFamily="34" charset="-120"/>
              </a:rPr>
              <a:t>    ports: [</a:t>
            </a:r>
            <a:pPr algn="l" indent="0" marL="0">
              <a:lnSpc>
                <a:spcPct val="136098"/>
              </a:lnSpc>
              <a:buNone/>
            </a:pPr>
            <a:r>
              <a:rPr lang="en-US" sz="1800" dirty="0">
                <a:solidFill>
                  <a:srgbClr val="FFB46E"/>
                </a:solidFill>
                <a:latin typeface="Courier New" pitchFamily="34" charset="0"/>
                <a:ea typeface="Courier New" pitchFamily="34" charset="-122"/>
                <a:cs typeface="Courier New" pitchFamily="34" charset="-120"/>
              </a:rPr>
              <a:t>"6379:6379" </a:t>
            </a:r>
            <a:pPr algn="l" indent="0" marL="0">
              <a:lnSpc>
                <a:spcPct val="136098"/>
              </a:lnSpc>
              <a:buNone/>
            </a:pPr>
            <a:r>
              <a:rPr lang="en-US" sz="1800" dirty="0">
                <a:solidFill>
                  <a:srgbClr val="CDD7E3"/>
                </a:solidFill>
                <a:latin typeface="Courier New" pitchFamily="34" charset="0"/>
                <a:ea typeface="Courier New" pitchFamily="34" charset="-122"/>
                <a:cs typeface="Courier New" pitchFamily="34" charset="-120"/>
              </a:rPr>
              <a:t>]</a:t>
            </a:r>
            <a:endParaRPr lang="en-US" sz="1800" dirty="0"/>
          </a:p>
          <a:p>
            <a:pPr algn="l" indent="0" marL="0">
              <a:lnSpc>
                <a:spcPct val="136098"/>
              </a:lnSpc>
              <a:buNone/>
            </a:pPr>
            <a:r>
              <a:rPr lang="en-US" sz="1800" dirty="0">
                <a:solidFill>
                  <a:srgbClr val="CDD7E3"/>
                </a:solidFill>
                <a:latin typeface="Courier New" pitchFamily="34" charset="0"/>
                <a:ea typeface="Courier New" pitchFamily="34" charset="-122"/>
                <a:cs typeface="Courier New" pitchFamily="34" charset="-120"/>
              </a:rPr>
              <a:t>    networks: [ </a:t>
            </a:r>
            <a:endParaRPr lang="en-US" sz="1800" dirty="0"/>
          </a:p>
          <a:p>
            <a:pPr algn="l" indent="0" marL="0">
              <a:lnSpc>
                <a:spcPct val="136098"/>
              </a:lnSpc>
              <a:buNone/>
            </a:pPr>
            <a:r>
              <a:rPr lang="en-US" sz="1800" dirty="0">
                <a:solidFill>
                  <a:srgbClr val="FFB46E"/>
                </a:solidFill>
                <a:latin typeface="Courier New" pitchFamily="34" charset="0"/>
                <a:ea typeface="Courier New" pitchFamily="34" charset="-122"/>
                <a:cs typeface="Courier New" pitchFamily="34" charset="-120"/>
              </a:rPr>
              <a:t>app_net</a:t>
            </a:r>
            <a:pPr algn="l" indent="0" marL="0">
              <a:lnSpc>
                <a:spcPct val="136098"/>
              </a:lnSpc>
              <a:buNone/>
            </a:pPr>
            <a:r>
              <a:rPr lang="en-US" sz="1800" dirty="0">
                <a:solidFill>
                  <a:srgbClr val="CDD7E3"/>
                </a:solidFill>
                <a:latin typeface="Courier New" pitchFamily="34" charset="0"/>
                <a:ea typeface="Courier New" pitchFamily="34" charset="-122"/>
                <a:cs typeface="Courier New" pitchFamily="34" charset="-120"/>
              </a:rPr>
              <a:t>] </a:t>
            </a:r>
            <a:pPr algn="l" indent="0" marL="0">
              <a:lnSpc>
                <a:spcPct val="136098"/>
              </a:lnSpc>
              <a:buNone/>
            </a:pPr>
            <a:r>
              <a:rPr lang="en-US" sz="1800" dirty="0">
                <a:solidFill>
                  <a:srgbClr val="B897F0"/>
                </a:solidFill>
                <a:latin typeface="Courier New" pitchFamily="34" charset="0"/>
                <a:ea typeface="Courier New" pitchFamily="34" charset="-122"/>
                <a:cs typeface="Courier New" pitchFamily="34" charset="-120"/>
              </a:rPr>
              <a:t>networks </a:t>
            </a:r>
            <a:pPr algn="l" indent="0" marL="0">
              <a:lnSpc>
                <a:spcPct val="136098"/>
              </a:lnSpc>
              <a:buNone/>
            </a:pPr>
            <a:r>
              <a:rPr lang="en-US" sz="1800" dirty="0">
                <a:solidFill>
                  <a:srgbClr val="CDD7E3"/>
                </a:solidFill>
                <a:latin typeface="Courier New" pitchFamily="34" charset="0"/>
                <a:ea typeface="Courier New" pitchFamily="34" charset="-122"/>
                <a:cs typeface="Courier New" pitchFamily="34" charset="-120"/>
              </a:rPr>
              <a:t>:</a:t>
            </a:r>
            <a:endParaRPr lang="en-US" sz="1800" dirty="0"/>
          </a:p>
          <a:p>
            <a:pPr algn="l" indent="0" marL="0">
              <a:lnSpc>
                <a:spcPct val="136098"/>
              </a:lnSpc>
              <a:buNone/>
            </a:pPr>
            <a:r>
              <a:rPr lang="en-US" sz="1800" dirty="0">
                <a:solidFill>
                  <a:srgbClr val="CDD7E3"/>
                </a:solidFill>
                <a:latin typeface="Courier New" pitchFamily="34" charset="0"/>
                <a:ea typeface="Courier New" pitchFamily="34" charset="-122"/>
                <a:cs typeface="Courier New" pitchFamily="34" charset="-120"/>
              </a:rPr>
              <a:t>   </a:t>
            </a:r>
            <a:endParaRPr lang="en-US" sz="1800" dirty="0"/>
          </a:p>
          <a:p>
            <a:pPr algn="l" indent="0" marL="0">
              <a:lnSpc>
                <a:spcPct val="136098"/>
              </a:lnSpc>
              <a:buNone/>
            </a:pPr>
            <a:r>
              <a:rPr lang="en-US" sz="1800" dirty="0">
                <a:solidFill>
                  <a:srgbClr val="56DBDB"/>
                </a:solidFill>
                <a:latin typeface="Courier New" pitchFamily="34" charset="0"/>
                <a:ea typeface="Courier New" pitchFamily="34" charset="-122"/>
                <a:cs typeface="Courier New" pitchFamily="34" charset="-120"/>
              </a:rPr>
              <a:t>app_net</a:t>
            </a:r>
            <a:pPr algn="l" indent="0" marL="0">
              <a:lnSpc>
                <a:spcPct val="136098"/>
              </a:lnSpc>
              <a:buNone/>
            </a:pPr>
            <a:r>
              <a:rPr lang="en-US" sz="1800" dirty="0">
                <a:solidFill>
                  <a:srgbClr val="CDD7E3"/>
                </a:solidFill>
                <a:latin typeface="Courier New" pitchFamily="34" charset="0"/>
                <a:ea typeface="Courier New" pitchFamily="34" charset="-122"/>
                <a:cs typeface="Courier New" pitchFamily="34" charset="-120"/>
              </a:rPr>
              <a:t>:</a:t>
            </a:r>
            <a:endParaRPr lang="en-US" sz="1800" dirty="0"/>
          </a:p>
        </p:txBody>
      </p:sp>
      <p:sp>
        <p:nvSpPr>
          <p:cNvPr id="11" name="Shape 9"/>
          <p:cNvSpPr/>
          <p:nvPr/>
        </p:nvSpPr>
        <p:spPr>
          <a:xfrm>
            <a:off x="10630396" y="4507409"/>
            <a:ext cx="1212850" cy="514350"/>
          </a:xfrm>
          <a:prstGeom prst="roundRect">
            <a:avLst>
              <a:gd name="adj" fmla="val 14815"/>
            </a:avLst>
          </a:prstGeom>
          <a:ln w="6350">
            <a:solidFill>
              <a:srgbClr val="FFFFFF">
                <a:alpha val="8000"/>
              </a:srgbClr>
            </a:solidFill>
            <a:prstDash val="solid"/>
          </a:ln>
        </p:spPr>
      </p:sp>
      <p:sp>
        <p:nvSpPr>
          <p:cNvPr id="12" name="Text 10"/>
          <p:cNvSpPr/>
          <p:nvPr/>
        </p:nvSpPr>
        <p:spPr>
          <a:xfrm>
            <a:off x="10808196" y="4609009"/>
            <a:ext cx="933450" cy="349250"/>
          </a:xfrm>
          <a:prstGeom prst="rect">
            <a:avLst/>
          </a:prstGeom>
          <a:noFill/>
          <a:ln/>
        </p:spPr>
        <p:txBody>
          <a:bodyPr wrap="square" lIns="25400" tIns="25400" rIns="25400" bIns="25400" rtlCol="0" anchor="t">
            <a:normAutofit/>
          </a:bodyPr>
          <a:lstStyle/>
          <a:p>
            <a:pPr algn="l" indent="0" marL="0">
              <a:buNone/>
            </a:pPr>
            <a:r>
              <a:rPr lang="en-US" sz="1875" dirty="0">
                <a:solidFill>
                  <a:srgbClr val="EEF3F9">
                    <a:alpha val="84000"/>
                  </a:srgbClr>
                </a:solidFill>
                <a:latin typeface="Courier New" pitchFamily="34" charset="0"/>
                <a:ea typeface="Courier New" pitchFamily="34" charset="-122"/>
                <a:cs typeface="Courier New" pitchFamily="34" charset="-120"/>
              </a:rPr>
              <a:t>Client</a:t>
            </a:r>
            <a:endParaRPr lang="en-US" sz="1875" dirty="0"/>
          </a:p>
        </p:txBody>
      </p:sp>
      <p:sp>
        <p:nvSpPr>
          <p:cNvPr id="13" name="Text 11"/>
          <p:cNvSpPr/>
          <p:nvPr/>
        </p:nvSpPr>
        <p:spPr>
          <a:xfrm>
            <a:off x="11976597" y="4609009"/>
            <a:ext cx="207169" cy="349250"/>
          </a:xfrm>
          <a:prstGeom prst="rect">
            <a:avLst/>
          </a:prstGeom>
          <a:noFill/>
          <a:ln/>
        </p:spPr>
        <p:txBody>
          <a:bodyPr wrap="square" lIns="25400" tIns="25400" rIns="25400" bIns="25400" rtlCol="0" anchor="t">
            <a:normAutofit/>
          </a:bodyPr>
          <a:lstStyle/>
          <a:p>
            <a:pPr algn="l" indent="0" marL="0">
              <a:buNone/>
            </a:pPr>
            <a:r>
              <a:rPr lang="en-US" sz="1875" dirty="0">
                <a:solidFill>
                  <a:srgbClr val="FFB46E">
                    <a:alpha val="84000"/>
                  </a:srgbClr>
                </a:solidFill>
                <a:latin typeface="Courier New" pitchFamily="34" charset="0"/>
                <a:ea typeface="Courier New" pitchFamily="34" charset="-122"/>
                <a:cs typeface="Courier New" pitchFamily="34" charset="-120"/>
              </a:rPr>
              <a:t>→</a:t>
            </a:r>
            <a:endParaRPr lang="en-US" sz="1875" dirty="0"/>
          </a:p>
        </p:txBody>
      </p:sp>
      <p:sp>
        <p:nvSpPr>
          <p:cNvPr id="14" name="Shape 12"/>
          <p:cNvSpPr/>
          <p:nvPr/>
        </p:nvSpPr>
        <p:spPr>
          <a:xfrm>
            <a:off x="12240916" y="4507409"/>
            <a:ext cx="1355725" cy="514350"/>
          </a:xfrm>
          <a:prstGeom prst="roundRect">
            <a:avLst>
              <a:gd name="adj" fmla="val 14815"/>
            </a:avLst>
          </a:prstGeom>
          <a:ln w="6350">
            <a:solidFill>
              <a:srgbClr val="FFBE82">
                <a:alpha val="39000"/>
              </a:srgbClr>
            </a:solidFill>
            <a:prstDash val="solid"/>
          </a:ln>
        </p:spPr>
      </p:sp>
      <p:sp>
        <p:nvSpPr>
          <p:cNvPr id="15" name="Text 13"/>
          <p:cNvSpPr/>
          <p:nvPr/>
        </p:nvSpPr>
        <p:spPr>
          <a:xfrm>
            <a:off x="12418716" y="4609009"/>
            <a:ext cx="1076325" cy="349250"/>
          </a:xfrm>
          <a:prstGeom prst="rect">
            <a:avLst/>
          </a:prstGeom>
          <a:noFill/>
          <a:ln/>
        </p:spPr>
        <p:txBody>
          <a:bodyPr wrap="square" lIns="25400" tIns="25400" rIns="25400" bIns="25400" rtlCol="0" anchor="t">
            <a:normAutofit/>
          </a:bodyPr>
          <a:lstStyle/>
          <a:p>
            <a:pPr algn="l" indent="0" marL="0">
              <a:buNone/>
            </a:pPr>
            <a:r>
              <a:rPr lang="en-US" sz="1875" dirty="0">
                <a:solidFill>
                  <a:srgbClr val="FFB46E">
                    <a:alpha val="84000"/>
                  </a:srgbClr>
                </a:solidFill>
                <a:latin typeface="Courier New" pitchFamily="34" charset="0"/>
                <a:ea typeface="Courier New" pitchFamily="34" charset="-122"/>
                <a:cs typeface="Courier New" pitchFamily="34" charset="-120"/>
              </a:rPr>
              <a:t>FastAPI</a:t>
            </a:r>
            <a:endParaRPr lang="en-US" sz="1875" dirty="0"/>
          </a:p>
        </p:txBody>
      </p:sp>
      <p:sp>
        <p:nvSpPr>
          <p:cNvPr id="16" name="Text 14"/>
          <p:cNvSpPr/>
          <p:nvPr/>
        </p:nvSpPr>
        <p:spPr>
          <a:xfrm>
            <a:off x="13729990" y="4609009"/>
            <a:ext cx="207169" cy="349250"/>
          </a:xfrm>
          <a:prstGeom prst="rect">
            <a:avLst/>
          </a:prstGeom>
          <a:noFill/>
          <a:ln/>
        </p:spPr>
        <p:txBody>
          <a:bodyPr wrap="square" lIns="25400" tIns="25400" rIns="25400" bIns="25400" rtlCol="0" anchor="t">
            <a:normAutofit/>
          </a:bodyPr>
          <a:lstStyle/>
          <a:p>
            <a:pPr algn="l" indent="0" marL="0">
              <a:buNone/>
            </a:pPr>
            <a:r>
              <a:rPr lang="en-US" sz="1875" dirty="0">
                <a:solidFill>
                  <a:srgbClr val="FFB46E">
                    <a:alpha val="84000"/>
                  </a:srgbClr>
                </a:solidFill>
                <a:latin typeface="Courier New" pitchFamily="34" charset="0"/>
                <a:ea typeface="Courier New" pitchFamily="34" charset="-122"/>
                <a:cs typeface="Courier New" pitchFamily="34" charset="-120"/>
              </a:rPr>
              <a:t>→</a:t>
            </a:r>
            <a:endParaRPr lang="en-US" sz="1875" dirty="0"/>
          </a:p>
        </p:txBody>
      </p:sp>
      <p:sp>
        <p:nvSpPr>
          <p:cNvPr id="17" name="Shape 15"/>
          <p:cNvSpPr/>
          <p:nvPr/>
        </p:nvSpPr>
        <p:spPr>
          <a:xfrm>
            <a:off x="13994309" y="4507409"/>
            <a:ext cx="1069975" cy="514350"/>
          </a:xfrm>
          <a:prstGeom prst="roundRect">
            <a:avLst>
              <a:gd name="adj" fmla="val 14815"/>
            </a:avLst>
          </a:prstGeom>
          <a:ln w="6350">
            <a:solidFill>
              <a:srgbClr val="FFFFFF">
                <a:alpha val="8000"/>
              </a:srgbClr>
            </a:solidFill>
            <a:prstDash val="solid"/>
          </a:ln>
        </p:spPr>
      </p:sp>
      <p:sp>
        <p:nvSpPr>
          <p:cNvPr id="18" name="Text 16"/>
          <p:cNvSpPr/>
          <p:nvPr/>
        </p:nvSpPr>
        <p:spPr>
          <a:xfrm>
            <a:off x="14172109" y="4609009"/>
            <a:ext cx="790575" cy="349250"/>
          </a:xfrm>
          <a:prstGeom prst="rect">
            <a:avLst/>
          </a:prstGeom>
          <a:noFill/>
          <a:ln/>
        </p:spPr>
        <p:txBody>
          <a:bodyPr wrap="square" lIns="25400" tIns="25400" rIns="25400" bIns="25400" rtlCol="0" anchor="t">
            <a:normAutofit/>
          </a:bodyPr>
          <a:lstStyle/>
          <a:p>
            <a:pPr algn="l" indent="0" marL="0">
              <a:buNone/>
            </a:pPr>
            <a:r>
              <a:rPr lang="en-US" sz="1875" dirty="0">
                <a:solidFill>
                  <a:srgbClr val="EEF3F9">
                    <a:alpha val="84000"/>
                  </a:srgbClr>
                </a:solidFill>
                <a:latin typeface="Courier New" pitchFamily="34" charset="0"/>
                <a:ea typeface="Courier New" pitchFamily="34" charset="-122"/>
                <a:cs typeface="Courier New" pitchFamily="34" charset="-120"/>
              </a:rPr>
              <a:t>Redis</a:t>
            </a:r>
            <a:endParaRPr lang="en-US" sz="1875" dirty="0"/>
          </a:p>
        </p:txBody>
      </p:sp>
      <p:sp>
        <p:nvSpPr>
          <p:cNvPr id="19" name="Shape 17"/>
          <p:cNvSpPr/>
          <p:nvPr/>
        </p:nvSpPr>
        <p:spPr>
          <a:xfrm>
            <a:off x="10630396" y="5231309"/>
            <a:ext cx="6590804" cy="762000"/>
          </a:xfrm>
          <a:prstGeom prst="roundRect">
            <a:avLst>
              <a:gd name="adj" fmla="val 15000"/>
            </a:avLst>
          </a:prstGeom>
          <a:solidFill>
            <a:srgbClr val="06090E">
              <a:alpha val="84000"/>
            </a:srgbClr>
          </a:solidFill>
          <a:ln w="6350">
            <a:solidFill>
              <a:srgbClr val="FFFFFF">
                <a:alpha val="8000"/>
              </a:srgbClr>
            </a:solidFill>
            <a:prstDash val="solid"/>
          </a:ln>
        </p:spPr>
      </p:sp>
      <p:sp>
        <p:nvSpPr>
          <p:cNvPr id="20" name="Text 18"/>
          <p:cNvSpPr/>
          <p:nvPr/>
        </p:nvSpPr>
        <p:spPr>
          <a:xfrm>
            <a:off x="10884396" y="5447209"/>
            <a:ext cx="6280528" cy="368300"/>
          </a:xfrm>
          <a:prstGeom prst="rect">
            <a:avLst/>
          </a:prstGeom>
          <a:noFill/>
          <a:ln/>
        </p:spPr>
        <p:txBody>
          <a:bodyPr wrap="square" lIns="25400" tIns="25400" rIns="25400" bIns="25400" rtlCol="0" anchor="t">
            <a:normAutofit/>
          </a:bodyPr>
          <a:lstStyle/>
          <a:p>
            <a:pPr algn="l" indent="0" marL="0">
              <a:buNone/>
            </a:pPr>
            <a:r>
              <a:rPr lang="en-US" sz="1950" dirty="0">
                <a:solidFill>
                  <a:srgbClr val="56DBDB">
                    <a:alpha val="84000"/>
                  </a:srgbClr>
                </a:solidFill>
                <a:latin typeface="Courier New" pitchFamily="34" charset="0"/>
                <a:ea typeface="Courier New" pitchFamily="34" charset="-122"/>
                <a:cs typeface="Courier New" pitchFamily="34" charset="-120"/>
              </a:rPr>
              <a:t>docker compose </a:t>
            </a:r>
            <a:pPr algn="l" indent="0" marL="0">
              <a:buNone/>
            </a:pPr>
            <a:r>
              <a:rPr lang="en-US" sz="1950" dirty="0">
                <a:solidFill>
                  <a:srgbClr val="EEF3F9">
                    <a:alpha val="84000"/>
                  </a:srgbClr>
                </a:solidFill>
                <a:highlight>
                  <a:srgbClr val="070A0F"/>
                </a:highlight>
                <a:latin typeface="Courier New" pitchFamily="34" charset="0"/>
                <a:ea typeface="Courier New" pitchFamily="34" charset="-122"/>
                <a:cs typeface="Courier New" pitchFamily="34" charset="-120"/>
              </a:rPr>
              <a:t>up -d</a:t>
            </a:r>
            <a:endParaRPr lang="en-US" sz="1950" dirty="0"/>
          </a:p>
        </p:txBody>
      </p:sp>
      <p:sp>
        <p:nvSpPr>
          <p:cNvPr id="21" name="Text 19"/>
          <p:cNvSpPr/>
          <p:nvPr/>
        </p:nvSpPr>
        <p:spPr>
          <a:xfrm>
            <a:off x="10630396" y="6202859"/>
            <a:ext cx="275233" cy="349250"/>
          </a:xfrm>
          <a:prstGeom prst="rect">
            <a:avLst/>
          </a:prstGeom>
          <a:noFill/>
          <a:ln/>
        </p:spPr>
        <p:txBody>
          <a:bodyPr wrap="square" lIns="25400" tIns="25400" rIns="25400" bIns="25400" rtlCol="0" anchor="t">
            <a:normAutofit/>
          </a:bodyPr>
          <a:lstStyle/>
          <a:p>
            <a:pPr algn="l" indent="0" marL="0">
              <a:buNone/>
            </a:pPr>
            <a:r>
              <a:rPr lang="en-US" sz="1875" dirty="0">
                <a:solidFill>
                  <a:srgbClr val="FFB46E">
                    <a:alpha val="84000"/>
                  </a:srgbClr>
                </a:solidFill>
                <a:latin typeface="Arial" pitchFamily="34" charset="0"/>
                <a:ea typeface="Arial" pitchFamily="34" charset="-122"/>
                <a:cs typeface="Arial" pitchFamily="34" charset="-120"/>
              </a:rPr>
              <a:t>▸</a:t>
            </a:r>
            <a:endParaRPr lang="en-US" sz="1875" dirty="0"/>
          </a:p>
        </p:txBody>
      </p:sp>
      <p:sp>
        <p:nvSpPr>
          <p:cNvPr id="22" name="Text 20"/>
          <p:cNvSpPr/>
          <p:nvPr/>
        </p:nvSpPr>
        <p:spPr>
          <a:xfrm>
            <a:off x="10962780" y="6202859"/>
            <a:ext cx="4636621" cy="349250"/>
          </a:xfrm>
          <a:prstGeom prst="rect">
            <a:avLst/>
          </a:prstGeom>
          <a:noFill/>
          <a:ln/>
        </p:spPr>
        <p:txBody>
          <a:bodyPr wrap="square" lIns="25400" tIns="25400" rIns="25400" bIns="25400" rtlCol="0" anchor="t">
            <a:normAutofit/>
          </a:bodyPr>
          <a:lstStyle/>
          <a:p>
            <a:pPr algn="l" indent="0" marL="0">
              <a:buNone/>
            </a:pPr>
            <a:r>
              <a:rPr lang="en-US" sz="1875" dirty="0">
                <a:solidFill>
                  <a:srgbClr val="8EA0B5">
                    <a:alpha val="84000"/>
                  </a:srgbClr>
                </a:solidFill>
                <a:latin typeface="Arial" pitchFamily="34" charset="0"/>
                <a:ea typeface="Arial" pitchFamily="34" charset="-122"/>
                <a:cs typeface="Arial" pitchFamily="34" charset="-120"/>
              </a:rPr>
              <a:t>Deux services : l'API et son cache Redis</a:t>
            </a:r>
            <a:endParaRPr lang="en-US" sz="1875" dirty="0"/>
          </a:p>
        </p:txBody>
      </p:sp>
      <p:sp>
        <p:nvSpPr>
          <p:cNvPr id="23" name="Text 21"/>
          <p:cNvSpPr/>
          <p:nvPr/>
        </p:nvSpPr>
        <p:spPr>
          <a:xfrm>
            <a:off x="10630396" y="6666409"/>
            <a:ext cx="275233" cy="349250"/>
          </a:xfrm>
          <a:prstGeom prst="rect">
            <a:avLst/>
          </a:prstGeom>
          <a:noFill/>
          <a:ln/>
        </p:spPr>
        <p:txBody>
          <a:bodyPr wrap="square" lIns="25400" tIns="25400" rIns="25400" bIns="25400" rtlCol="0" anchor="t">
            <a:normAutofit/>
          </a:bodyPr>
          <a:lstStyle/>
          <a:p>
            <a:pPr algn="l" indent="0" marL="0">
              <a:buNone/>
            </a:pPr>
            <a:r>
              <a:rPr lang="en-US" sz="1875" dirty="0">
                <a:solidFill>
                  <a:srgbClr val="FFB46E">
                    <a:alpha val="84000"/>
                  </a:srgbClr>
                </a:solidFill>
                <a:latin typeface="Arial" pitchFamily="34" charset="0"/>
                <a:ea typeface="Arial" pitchFamily="34" charset="-122"/>
                <a:cs typeface="Arial" pitchFamily="34" charset="-120"/>
              </a:rPr>
              <a:t>▸</a:t>
            </a:r>
            <a:endParaRPr lang="en-US" sz="1875" dirty="0"/>
          </a:p>
        </p:txBody>
      </p:sp>
      <p:sp>
        <p:nvSpPr>
          <p:cNvPr id="24" name="Text 22"/>
          <p:cNvSpPr/>
          <p:nvPr/>
        </p:nvSpPr>
        <p:spPr>
          <a:xfrm>
            <a:off x="10962780" y="6666409"/>
            <a:ext cx="5532120" cy="349250"/>
          </a:xfrm>
          <a:prstGeom prst="rect">
            <a:avLst/>
          </a:prstGeom>
          <a:noFill/>
          <a:ln/>
        </p:spPr>
        <p:txBody>
          <a:bodyPr wrap="square" lIns="25400" tIns="25400" rIns="25400" bIns="25400" rtlCol="0" anchor="t">
            <a:normAutofit/>
          </a:bodyPr>
          <a:lstStyle/>
          <a:p>
            <a:pPr algn="l" indent="0" marL="0">
              <a:buNone/>
            </a:pPr>
            <a:r>
              <a:rPr lang="en-US" sz="1875" dirty="0">
                <a:solidFill>
                  <a:srgbClr val="8EA0B5">
                    <a:alpha val="84000"/>
                  </a:srgbClr>
                </a:solidFill>
                <a:latin typeface="Arial" pitchFamily="34" charset="0"/>
                <a:ea typeface="Arial" pitchFamily="34" charset="-122"/>
                <a:cs typeface="Arial" pitchFamily="34" charset="-120"/>
              </a:rPr>
              <a:t>Réseau partagé : l'API joint </a:t>
            </a:r>
            <a:pPr algn="l" indent="0" marL="0">
              <a:buNone/>
            </a:pPr>
            <a:r>
              <a:rPr lang="en-US" sz="1875" dirty="0">
                <a:solidFill>
                  <a:srgbClr val="EEF3F9">
                    <a:alpha val="84000"/>
                  </a:srgbClr>
                </a:solidFill>
                <a:latin typeface="Courier New" pitchFamily="34" charset="0"/>
                <a:ea typeface="Courier New" pitchFamily="34" charset="-122"/>
                <a:cs typeface="Courier New" pitchFamily="34" charset="-120"/>
              </a:rPr>
              <a:t>redis </a:t>
            </a:r>
            <a:pPr algn="l" indent="0" marL="0">
              <a:buNone/>
            </a:pPr>
            <a:r>
              <a:rPr lang="en-US" sz="1875" dirty="0">
                <a:solidFill>
                  <a:srgbClr val="8EA0B5">
                    <a:alpha val="84000"/>
                  </a:srgbClr>
                </a:solidFill>
                <a:latin typeface="Arial" pitchFamily="34" charset="0"/>
                <a:ea typeface="Arial" pitchFamily="34" charset="-122"/>
                <a:cs typeface="Arial" pitchFamily="34" charset="-120"/>
              </a:rPr>
              <a:t>par son nom</a:t>
            </a:r>
            <a:endParaRPr lang="en-US" sz="1875" dirty="0"/>
          </a:p>
        </p:txBody>
      </p:sp>
      <p:sp>
        <p:nvSpPr>
          <p:cNvPr id="25" name="Text 23"/>
          <p:cNvSpPr/>
          <p:nvPr/>
        </p:nvSpPr>
        <p:spPr>
          <a:xfrm>
            <a:off x="10630396" y="7129959"/>
            <a:ext cx="275233" cy="349250"/>
          </a:xfrm>
          <a:prstGeom prst="rect">
            <a:avLst/>
          </a:prstGeom>
          <a:noFill/>
          <a:ln/>
        </p:spPr>
        <p:txBody>
          <a:bodyPr wrap="square" lIns="25400" tIns="25400" rIns="25400" bIns="25400" rtlCol="0" anchor="t">
            <a:normAutofit/>
          </a:bodyPr>
          <a:lstStyle/>
          <a:p>
            <a:pPr algn="l" indent="0" marL="0">
              <a:buNone/>
            </a:pPr>
            <a:r>
              <a:rPr lang="en-US" sz="1875" dirty="0">
                <a:solidFill>
                  <a:srgbClr val="FFB46E">
                    <a:alpha val="84000"/>
                  </a:srgbClr>
                </a:solidFill>
                <a:latin typeface="Arial" pitchFamily="34" charset="0"/>
                <a:ea typeface="Arial" pitchFamily="34" charset="-122"/>
                <a:cs typeface="Arial" pitchFamily="34" charset="-120"/>
              </a:rPr>
              <a:t>▸</a:t>
            </a:r>
            <a:endParaRPr lang="en-US" sz="1875" dirty="0"/>
          </a:p>
        </p:txBody>
      </p:sp>
      <p:sp>
        <p:nvSpPr>
          <p:cNvPr id="26" name="Text 24"/>
          <p:cNvSpPr/>
          <p:nvPr/>
        </p:nvSpPr>
        <p:spPr>
          <a:xfrm>
            <a:off x="10962780" y="7129959"/>
            <a:ext cx="4670891" cy="349250"/>
          </a:xfrm>
          <a:prstGeom prst="rect">
            <a:avLst/>
          </a:prstGeom>
          <a:noFill/>
          <a:ln/>
        </p:spPr>
        <p:txBody>
          <a:bodyPr wrap="square" lIns="25400" tIns="25400" rIns="25400" bIns="25400" rtlCol="0" anchor="t">
            <a:normAutofit/>
          </a:bodyPr>
          <a:lstStyle/>
          <a:p>
            <a:pPr algn="l" indent="0" marL="0">
              <a:buNone/>
            </a:pPr>
            <a:r>
              <a:rPr lang="en-US" sz="1875" dirty="0">
                <a:solidFill>
                  <a:srgbClr val="EEF3F9">
                    <a:alpha val="84000"/>
                  </a:srgbClr>
                </a:solidFill>
                <a:latin typeface="Courier New" pitchFamily="34" charset="0"/>
                <a:ea typeface="Courier New" pitchFamily="34" charset="-122"/>
                <a:cs typeface="Courier New" pitchFamily="34" charset="-120"/>
              </a:rPr>
              <a:t>depends_on </a:t>
            </a:r>
            <a:pPr algn="l" indent="0" marL="0">
              <a:buNone/>
            </a:pPr>
            <a:r>
              <a:rPr lang="en-US" sz="1875" dirty="0">
                <a:solidFill>
                  <a:srgbClr val="8EA0B5">
                    <a:alpha val="84000"/>
                  </a:srgbClr>
                </a:solidFill>
                <a:latin typeface="Arial" pitchFamily="34" charset="0"/>
                <a:ea typeface="Arial" pitchFamily="34" charset="-122"/>
                <a:cs typeface="Arial" pitchFamily="34" charset="-120"/>
              </a:rPr>
              <a:t>gère l'ordre de démarrage</a:t>
            </a:r>
            <a:endParaRPr lang="en-US" sz="1875" dirty="0"/>
          </a:p>
        </p:txBody>
      </p:sp>
      <p:sp>
        <p:nvSpPr>
          <p:cNvPr id="27" name="Text 25"/>
          <p:cNvSpPr/>
          <p:nvPr/>
        </p:nvSpPr>
        <p:spPr>
          <a:xfrm>
            <a:off x="10630396" y="7593509"/>
            <a:ext cx="275233" cy="349250"/>
          </a:xfrm>
          <a:prstGeom prst="rect">
            <a:avLst/>
          </a:prstGeom>
          <a:noFill/>
          <a:ln/>
        </p:spPr>
        <p:txBody>
          <a:bodyPr wrap="square" lIns="25400" tIns="25400" rIns="25400" bIns="25400" rtlCol="0" anchor="t">
            <a:normAutofit/>
          </a:bodyPr>
          <a:lstStyle/>
          <a:p>
            <a:pPr algn="l" indent="0" marL="0">
              <a:buNone/>
            </a:pPr>
            <a:r>
              <a:rPr lang="en-US" sz="1875" dirty="0">
                <a:solidFill>
                  <a:srgbClr val="FFB46E">
                    <a:alpha val="84000"/>
                  </a:srgbClr>
                </a:solidFill>
                <a:latin typeface="Arial" pitchFamily="34" charset="0"/>
                <a:ea typeface="Arial" pitchFamily="34" charset="-122"/>
                <a:cs typeface="Arial" pitchFamily="34" charset="-120"/>
              </a:rPr>
              <a:t>▸</a:t>
            </a:r>
            <a:endParaRPr lang="en-US" sz="1875" dirty="0"/>
          </a:p>
        </p:txBody>
      </p:sp>
      <p:sp>
        <p:nvSpPr>
          <p:cNvPr id="28" name="Text 26"/>
          <p:cNvSpPr/>
          <p:nvPr/>
        </p:nvSpPr>
        <p:spPr>
          <a:xfrm>
            <a:off x="10962780" y="7593509"/>
            <a:ext cx="5158095" cy="349250"/>
          </a:xfrm>
          <a:prstGeom prst="rect">
            <a:avLst/>
          </a:prstGeom>
          <a:noFill/>
          <a:ln/>
        </p:spPr>
        <p:txBody>
          <a:bodyPr wrap="square" lIns="25400" tIns="25400" rIns="25400" bIns="25400" rtlCol="0" anchor="t">
            <a:normAutofit/>
          </a:bodyPr>
          <a:lstStyle/>
          <a:p>
            <a:pPr algn="l" indent="0" marL="0">
              <a:buNone/>
            </a:pPr>
            <a:r>
              <a:rPr lang="en-US" sz="1875" dirty="0">
                <a:solidFill>
                  <a:srgbClr val="8EA0B5">
                    <a:alpha val="84000"/>
                  </a:srgbClr>
                </a:solidFill>
                <a:latin typeface="Arial" pitchFamily="34" charset="0"/>
                <a:ea typeface="Arial" pitchFamily="34" charset="-122"/>
                <a:cs typeface="Arial" pitchFamily="34" charset="-120"/>
              </a:rPr>
              <a:t>Ports et variables d'environnement déclarés</a:t>
            </a:r>
            <a:endParaRPr lang="en-US" sz="1875"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0E15"/>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B470">
                  <a:alpha val="16000"/>
                </a:srgbClr>
              </a:gs>
              <a:gs pos="60000">
                <a:srgbClr val="FFB470">
                  <a:alpha val="0"/>
                </a:srgbClr>
              </a:gs>
            </a:gsLst>
            <a:path path="circle">
              <a:fillToRect l="80000" t="8000" r="20000" b="92000"/>
            </a:path>
          </a:gradFill>
          <a:ln/>
        </p:spPr>
      </p:sp>
      <p:sp>
        <p:nvSpPr>
          <p:cNvPr id="3" name="Shape 1"/>
          <p:cNvSpPr/>
          <p:nvPr/>
        </p:nvSpPr>
        <p:spPr>
          <a:xfrm>
            <a:off x="1066800" y="819150"/>
            <a:ext cx="419100" cy="419100"/>
          </a:xfrm>
          <a:prstGeom prst="roundRect">
            <a:avLst>
              <a:gd name="adj" fmla="val 27273"/>
            </a:avLst>
          </a:prstGeom>
          <a:ln w="19050">
            <a:solidFill>
              <a:srgbClr val="FFB46E">
                <a:alpha val="97000"/>
              </a:srgbClr>
            </a:solidFill>
            <a:prstDash val="solid"/>
          </a:ln>
        </p:spPr>
      </p:sp>
      <p:sp>
        <p:nvSpPr>
          <p:cNvPr id="4" name="Text 2"/>
          <p:cNvSpPr/>
          <p:nvPr/>
        </p:nvSpPr>
        <p:spPr>
          <a:xfrm>
            <a:off x="1047750" y="838200"/>
            <a:ext cx="457200" cy="419100"/>
          </a:xfrm>
          <a:prstGeom prst="rect">
            <a:avLst/>
          </a:prstGeom>
          <a:noFill/>
          <a:ln/>
        </p:spPr>
        <p:txBody>
          <a:bodyPr wrap="square" lIns="25400" tIns="25400" rIns="25400" bIns="25400" rtlCol="0" anchor="ctr">
            <a:normAutofit/>
          </a:bodyPr>
          <a:lstStyle/>
          <a:p>
            <a:pPr algn="ctr" indent="0" marL="0">
              <a:buNone/>
            </a:pPr>
            <a:r>
              <a:rPr lang="en-US" sz="1950" spc="432" kern="0" dirty="0">
                <a:solidFill>
                  <a:srgbClr val="FFB46E">
                    <a:alpha val="97000"/>
                  </a:srgbClr>
                </a:solidFill>
                <a:latin typeface="Courier New" pitchFamily="34" charset="0"/>
                <a:ea typeface="Courier New" pitchFamily="34" charset="-122"/>
                <a:cs typeface="Courier New" pitchFamily="34" charset="-120"/>
              </a:rPr>
              <a:t>?</a:t>
            </a:r>
            <a:endParaRPr lang="en-US" sz="1950" dirty="0"/>
          </a:p>
        </p:txBody>
      </p:sp>
      <p:sp>
        <p:nvSpPr>
          <p:cNvPr id="5" name="Text 3"/>
          <p:cNvSpPr/>
          <p:nvPr/>
        </p:nvSpPr>
        <p:spPr>
          <a:xfrm>
            <a:off x="1638300" y="876300"/>
            <a:ext cx="3362430" cy="342900"/>
          </a:xfrm>
          <a:prstGeom prst="rect">
            <a:avLst/>
          </a:prstGeom>
          <a:noFill/>
          <a:ln/>
        </p:spPr>
        <p:txBody>
          <a:bodyPr wrap="square" lIns="0" tIns="0" rIns="0" bIns="0" rtlCol="0" anchor="t">
            <a:normAutofit/>
          </a:bodyPr>
          <a:lstStyle/>
          <a:p>
            <a:pPr algn="l" indent="0" marL="0">
              <a:buNone/>
            </a:pPr>
            <a:r>
              <a:rPr lang="en-US" sz="1800" spc="432" kern="0" dirty="0">
                <a:solidFill>
                  <a:srgbClr val="FFB46E">
                    <a:alpha val="97000"/>
                  </a:srgbClr>
                </a:solidFill>
                <a:latin typeface="Courier New" pitchFamily="34" charset="0"/>
                <a:ea typeface="Courier New" pitchFamily="34" charset="-122"/>
                <a:cs typeface="Courier New" pitchFamily="34" charset="-120"/>
              </a:rPr>
              <a:t>QUIZ · ATELIER 03</a:t>
            </a:r>
            <a:endParaRPr lang="en-US" sz="1800" dirty="0"/>
          </a:p>
        </p:txBody>
      </p:sp>
      <p:sp>
        <p:nvSpPr>
          <p:cNvPr id="6" name="Text 4"/>
          <p:cNvSpPr/>
          <p:nvPr/>
        </p:nvSpPr>
        <p:spPr>
          <a:xfrm>
            <a:off x="1066800" y="1428751"/>
            <a:ext cx="17769840"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Docker</a:t>
            </a:r>
            <a:endParaRPr lang="en-US" sz="4800" dirty="0"/>
          </a:p>
        </p:txBody>
      </p:sp>
      <p:sp>
        <p:nvSpPr>
          <p:cNvPr id="7" name="Text 5"/>
          <p:cNvSpPr/>
          <p:nvPr/>
        </p:nvSpPr>
        <p:spPr>
          <a:xfrm>
            <a:off x="1066800" y="2481760"/>
            <a:ext cx="8654415" cy="369490"/>
          </a:xfrm>
          <a:prstGeom prst="rect">
            <a:avLst/>
          </a:prstGeom>
          <a:noFill/>
          <a:ln/>
        </p:spPr>
        <p:txBody>
          <a:bodyPr wrap="square" lIns="25400" tIns="25400" rIns="25400" bIns="25400" rtlCol="0" anchor="t">
            <a:normAutofit/>
          </a:bodyPr>
          <a:lstStyle/>
          <a:p>
            <a:pPr algn="l" indent="0" marL="0">
              <a:lnSpc>
                <a:spcPct val="106531"/>
              </a:lnSpc>
              <a:buNone/>
            </a:pPr>
            <a:r>
              <a:rPr lang="en-US" sz="2175" b="1" dirty="0">
                <a:solidFill>
                  <a:srgbClr val="EEF3F9"/>
                </a:solidFill>
                <a:latin typeface="Arial" pitchFamily="34" charset="0"/>
                <a:ea typeface="Arial" pitchFamily="34" charset="-122"/>
                <a:cs typeface="Arial" pitchFamily="34" charset="-120"/>
              </a:rPr>
              <a:t>Le principal avantage de Docker dans ce cours ?</a:t>
            </a:r>
            <a:endParaRPr lang="en-US" sz="2175" dirty="0"/>
          </a:p>
        </p:txBody>
      </p:sp>
      <p:sp>
        <p:nvSpPr>
          <p:cNvPr id="8" name="Shape 6"/>
          <p:cNvSpPr/>
          <p:nvPr/>
        </p:nvSpPr>
        <p:spPr>
          <a:xfrm>
            <a:off x="1066800" y="3022700"/>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9" name="Shape 7"/>
          <p:cNvSpPr/>
          <p:nvPr/>
        </p:nvSpPr>
        <p:spPr>
          <a:xfrm>
            <a:off x="1282700" y="3200501"/>
            <a:ext cx="323850" cy="323850"/>
          </a:xfrm>
          <a:prstGeom prst="roundRect">
            <a:avLst>
              <a:gd name="adj" fmla="val 23529"/>
            </a:avLst>
          </a:prstGeom>
          <a:solidFill>
            <a:srgbClr val="FFFFFF">
              <a:alpha val="6000"/>
            </a:srgbClr>
          </a:solidFill>
          <a:ln/>
        </p:spPr>
      </p:sp>
      <p:sp>
        <p:nvSpPr>
          <p:cNvPr id="10" name="Text 8"/>
          <p:cNvSpPr/>
          <p:nvPr/>
        </p:nvSpPr>
        <p:spPr>
          <a:xfrm>
            <a:off x="1244600" y="3200501"/>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solidFill>
                <a:latin typeface="Arial" pitchFamily="34" charset="0"/>
                <a:ea typeface="Arial" pitchFamily="34" charset="-122"/>
                <a:cs typeface="Arial" pitchFamily="34" charset="-120"/>
              </a:rPr>
              <a:t>A</a:t>
            </a:r>
            <a:endParaRPr lang="en-US" sz="1875" dirty="0"/>
          </a:p>
        </p:txBody>
      </p:sp>
      <p:sp>
        <p:nvSpPr>
          <p:cNvPr id="11" name="Text 9"/>
          <p:cNvSpPr/>
          <p:nvPr/>
        </p:nvSpPr>
        <p:spPr>
          <a:xfrm>
            <a:off x="1758950" y="3210026"/>
            <a:ext cx="2152690"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solidFill>
                <a:latin typeface="Arial" pitchFamily="34" charset="0"/>
                <a:ea typeface="Arial" pitchFamily="34" charset="-122"/>
                <a:cs typeface="Arial" pitchFamily="34" charset="-120"/>
              </a:rPr>
              <a:t>Accélérer Internet</a:t>
            </a:r>
            <a:endParaRPr lang="en-US" sz="1875" dirty="0"/>
          </a:p>
        </p:txBody>
      </p:sp>
      <p:sp>
        <p:nvSpPr>
          <p:cNvPr id="12" name="Shape 10"/>
          <p:cNvSpPr/>
          <p:nvPr/>
        </p:nvSpPr>
        <p:spPr>
          <a:xfrm>
            <a:off x="1066800" y="3835500"/>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13" name="Shape 11"/>
          <p:cNvSpPr/>
          <p:nvPr/>
        </p:nvSpPr>
        <p:spPr>
          <a:xfrm>
            <a:off x="1282700" y="4013300"/>
            <a:ext cx="323850" cy="323850"/>
          </a:xfrm>
          <a:prstGeom prst="roundRect">
            <a:avLst>
              <a:gd name="adj" fmla="val 23529"/>
            </a:avLst>
          </a:prstGeom>
          <a:solidFill>
            <a:srgbClr val="FFFFFF">
              <a:alpha val="6000"/>
            </a:srgbClr>
          </a:solidFill>
          <a:ln/>
        </p:spPr>
      </p:sp>
      <p:sp>
        <p:nvSpPr>
          <p:cNvPr id="14" name="Text 12"/>
          <p:cNvSpPr/>
          <p:nvPr/>
        </p:nvSpPr>
        <p:spPr>
          <a:xfrm>
            <a:off x="1244600" y="4013300"/>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solidFill>
                <a:latin typeface="Arial" pitchFamily="34" charset="0"/>
                <a:ea typeface="Arial" pitchFamily="34" charset="-122"/>
                <a:cs typeface="Arial" pitchFamily="34" charset="-120"/>
              </a:rPr>
              <a:t>B</a:t>
            </a:r>
            <a:endParaRPr lang="en-US" sz="1875" dirty="0"/>
          </a:p>
        </p:txBody>
      </p:sp>
      <p:sp>
        <p:nvSpPr>
          <p:cNvPr id="15" name="Text 13"/>
          <p:cNvSpPr/>
          <p:nvPr/>
        </p:nvSpPr>
        <p:spPr>
          <a:xfrm>
            <a:off x="1758950" y="4022825"/>
            <a:ext cx="6254849"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solidFill>
                <a:latin typeface="Arial" pitchFamily="34" charset="0"/>
                <a:ea typeface="Arial" pitchFamily="34" charset="-122"/>
                <a:cs typeface="Arial" pitchFamily="34" charset="-120"/>
              </a:rPr>
              <a:t>Installer une plateforme Big Data identique pour tous</a:t>
            </a:r>
            <a:endParaRPr lang="en-US" sz="1875" dirty="0"/>
          </a:p>
        </p:txBody>
      </p:sp>
      <p:sp>
        <p:nvSpPr>
          <p:cNvPr id="16" name="Shape 14"/>
          <p:cNvSpPr/>
          <p:nvPr/>
        </p:nvSpPr>
        <p:spPr>
          <a:xfrm>
            <a:off x="1066800" y="4648301"/>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17" name="Shape 15"/>
          <p:cNvSpPr/>
          <p:nvPr/>
        </p:nvSpPr>
        <p:spPr>
          <a:xfrm>
            <a:off x="1282700" y="4826101"/>
            <a:ext cx="323850" cy="323850"/>
          </a:xfrm>
          <a:prstGeom prst="roundRect">
            <a:avLst>
              <a:gd name="adj" fmla="val 23529"/>
            </a:avLst>
          </a:prstGeom>
          <a:solidFill>
            <a:srgbClr val="FFFFFF">
              <a:alpha val="6000"/>
            </a:srgbClr>
          </a:solidFill>
          <a:ln/>
        </p:spPr>
      </p:sp>
      <p:sp>
        <p:nvSpPr>
          <p:cNvPr id="18" name="Text 16"/>
          <p:cNvSpPr/>
          <p:nvPr/>
        </p:nvSpPr>
        <p:spPr>
          <a:xfrm>
            <a:off x="1244600" y="4826101"/>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solidFill>
                <a:latin typeface="Arial" pitchFamily="34" charset="0"/>
                <a:ea typeface="Arial" pitchFamily="34" charset="-122"/>
                <a:cs typeface="Arial" pitchFamily="34" charset="-120"/>
              </a:rPr>
              <a:t>C</a:t>
            </a:r>
            <a:endParaRPr lang="en-US" sz="1875" dirty="0"/>
          </a:p>
        </p:txBody>
      </p:sp>
      <p:sp>
        <p:nvSpPr>
          <p:cNvPr id="19" name="Text 17"/>
          <p:cNvSpPr/>
          <p:nvPr/>
        </p:nvSpPr>
        <p:spPr>
          <a:xfrm>
            <a:off x="1758950" y="4835626"/>
            <a:ext cx="2710071"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solidFill>
                <a:latin typeface="Arial" pitchFamily="34" charset="0"/>
                <a:ea typeface="Arial" pitchFamily="34" charset="-122"/>
                <a:cs typeface="Arial" pitchFamily="34" charset="-120"/>
              </a:rPr>
              <a:t>Programmer en Python</a:t>
            </a:r>
            <a:endParaRPr lang="en-US" sz="1875" dirty="0"/>
          </a:p>
        </p:txBody>
      </p:sp>
      <p:sp>
        <p:nvSpPr>
          <p:cNvPr id="20" name="Shape 18"/>
          <p:cNvSpPr/>
          <p:nvPr/>
        </p:nvSpPr>
        <p:spPr>
          <a:xfrm>
            <a:off x="1066800" y="5461101"/>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21" name="Shape 19"/>
          <p:cNvSpPr/>
          <p:nvPr/>
        </p:nvSpPr>
        <p:spPr>
          <a:xfrm>
            <a:off x="1282700" y="5638901"/>
            <a:ext cx="323850" cy="323850"/>
          </a:xfrm>
          <a:prstGeom prst="roundRect">
            <a:avLst>
              <a:gd name="adj" fmla="val 23529"/>
            </a:avLst>
          </a:prstGeom>
          <a:solidFill>
            <a:srgbClr val="FFFFFF">
              <a:alpha val="6000"/>
            </a:srgbClr>
          </a:solidFill>
          <a:ln/>
        </p:spPr>
      </p:sp>
      <p:sp>
        <p:nvSpPr>
          <p:cNvPr id="22" name="Text 20"/>
          <p:cNvSpPr/>
          <p:nvPr/>
        </p:nvSpPr>
        <p:spPr>
          <a:xfrm>
            <a:off x="1244600" y="5638901"/>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solidFill>
                <a:latin typeface="Arial" pitchFamily="34" charset="0"/>
                <a:ea typeface="Arial" pitchFamily="34" charset="-122"/>
                <a:cs typeface="Arial" pitchFamily="34" charset="-120"/>
              </a:rPr>
              <a:t>D</a:t>
            </a:r>
            <a:endParaRPr lang="en-US" sz="1875" dirty="0"/>
          </a:p>
        </p:txBody>
      </p:sp>
      <p:sp>
        <p:nvSpPr>
          <p:cNvPr id="23" name="Text 21"/>
          <p:cNvSpPr/>
          <p:nvPr/>
        </p:nvSpPr>
        <p:spPr>
          <a:xfrm>
            <a:off x="1758950" y="5648426"/>
            <a:ext cx="1883658"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solidFill>
                <a:latin typeface="Arial" pitchFamily="34" charset="0"/>
                <a:ea typeface="Arial" pitchFamily="34" charset="-122"/>
                <a:cs typeface="Arial" pitchFamily="34" charset="-120"/>
              </a:rPr>
              <a:t>Remplacer AWS</a:t>
            </a:r>
            <a:endParaRPr lang="en-US" sz="1875" dirty="0"/>
          </a:p>
        </p:txBody>
      </p:sp>
      <p:sp>
        <p:nvSpPr>
          <p:cNvPr id="24" name="Text 22"/>
          <p:cNvSpPr/>
          <p:nvPr/>
        </p:nvSpPr>
        <p:spPr>
          <a:xfrm>
            <a:off x="9353550" y="2483900"/>
            <a:ext cx="8654415" cy="369491"/>
          </a:xfrm>
          <a:prstGeom prst="rect">
            <a:avLst/>
          </a:prstGeom>
          <a:noFill/>
          <a:ln/>
        </p:spPr>
        <p:txBody>
          <a:bodyPr wrap="square" lIns="25400" tIns="25400" rIns="25400" bIns="25400" rtlCol="0" anchor="t">
            <a:normAutofit/>
          </a:bodyPr>
          <a:lstStyle/>
          <a:p>
            <a:pPr algn="l" indent="0" marL="0">
              <a:lnSpc>
                <a:spcPct val="106531"/>
              </a:lnSpc>
              <a:buNone/>
            </a:pPr>
            <a:r>
              <a:rPr lang="en-US" sz="2175" b="1" dirty="0">
                <a:solidFill>
                  <a:srgbClr val="EEF3F9">
                    <a:alpha val="99000"/>
                  </a:srgbClr>
                </a:solidFill>
                <a:latin typeface="Arial" pitchFamily="34" charset="0"/>
                <a:ea typeface="Arial" pitchFamily="34" charset="-122"/>
                <a:cs typeface="Arial" pitchFamily="34" charset="-120"/>
              </a:rPr>
              <a:t>Que contient une image Docker ?</a:t>
            </a:r>
            <a:endParaRPr lang="en-US" sz="2175" dirty="0"/>
          </a:p>
        </p:txBody>
      </p:sp>
      <p:sp>
        <p:nvSpPr>
          <p:cNvPr id="25" name="Shape 23"/>
          <p:cNvSpPr/>
          <p:nvPr/>
        </p:nvSpPr>
        <p:spPr>
          <a:xfrm>
            <a:off x="9353550" y="3024840"/>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26" name="Shape 24"/>
          <p:cNvSpPr/>
          <p:nvPr/>
        </p:nvSpPr>
        <p:spPr>
          <a:xfrm>
            <a:off x="9569450" y="3202641"/>
            <a:ext cx="323850" cy="323850"/>
          </a:xfrm>
          <a:prstGeom prst="roundRect">
            <a:avLst>
              <a:gd name="adj" fmla="val 23529"/>
            </a:avLst>
          </a:prstGeom>
          <a:solidFill>
            <a:srgbClr val="FFFFFF">
              <a:alpha val="6000"/>
            </a:srgbClr>
          </a:solidFill>
          <a:ln/>
        </p:spPr>
      </p:sp>
      <p:sp>
        <p:nvSpPr>
          <p:cNvPr id="27" name="Text 25"/>
          <p:cNvSpPr/>
          <p:nvPr/>
        </p:nvSpPr>
        <p:spPr>
          <a:xfrm>
            <a:off x="9531350" y="3202641"/>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alpha val="99000"/>
                  </a:srgbClr>
                </a:solidFill>
                <a:latin typeface="Arial" pitchFamily="34" charset="0"/>
                <a:ea typeface="Arial" pitchFamily="34" charset="-122"/>
                <a:cs typeface="Arial" pitchFamily="34" charset="-120"/>
              </a:rPr>
              <a:t>A</a:t>
            </a:r>
            <a:endParaRPr lang="en-US" sz="1875" dirty="0"/>
          </a:p>
        </p:txBody>
      </p:sp>
      <p:sp>
        <p:nvSpPr>
          <p:cNvPr id="28" name="Text 26"/>
          <p:cNvSpPr/>
          <p:nvPr/>
        </p:nvSpPr>
        <p:spPr>
          <a:xfrm>
            <a:off x="10045701" y="3212166"/>
            <a:ext cx="3731082"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alpha val="99000"/>
                  </a:srgbClr>
                </a:solidFill>
                <a:latin typeface="Arial" pitchFamily="34" charset="0"/>
                <a:ea typeface="Arial" pitchFamily="34" charset="-122"/>
                <a:cs typeface="Arial" pitchFamily="34" charset="-120"/>
              </a:rPr>
              <a:t>Une machine virtuelle complète</a:t>
            </a:r>
            <a:endParaRPr lang="en-US" sz="1875" dirty="0"/>
          </a:p>
        </p:txBody>
      </p:sp>
      <p:sp>
        <p:nvSpPr>
          <p:cNvPr id="29" name="Shape 27"/>
          <p:cNvSpPr/>
          <p:nvPr/>
        </p:nvSpPr>
        <p:spPr>
          <a:xfrm>
            <a:off x="9353550" y="3837640"/>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30" name="Shape 28"/>
          <p:cNvSpPr/>
          <p:nvPr/>
        </p:nvSpPr>
        <p:spPr>
          <a:xfrm>
            <a:off x="9569450" y="4015440"/>
            <a:ext cx="323850" cy="323850"/>
          </a:xfrm>
          <a:prstGeom prst="roundRect">
            <a:avLst>
              <a:gd name="adj" fmla="val 23529"/>
            </a:avLst>
          </a:prstGeom>
          <a:solidFill>
            <a:srgbClr val="FFFFFF">
              <a:alpha val="6000"/>
            </a:srgbClr>
          </a:solidFill>
          <a:ln/>
        </p:spPr>
      </p:sp>
      <p:sp>
        <p:nvSpPr>
          <p:cNvPr id="31" name="Text 29"/>
          <p:cNvSpPr/>
          <p:nvPr/>
        </p:nvSpPr>
        <p:spPr>
          <a:xfrm>
            <a:off x="9531350" y="4015440"/>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alpha val="99000"/>
                  </a:srgbClr>
                </a:solidFill>
                <a:latin typeface="Arial" pitchFamily="34" charset="0"/>
                <a:ea typeface="Arial" pitchFamily="34" charset="-122"/>
                <a:cs typeface="Arial" pitchFamily="34" charset="-120"/>
              </a:rPr>
              <a:t>B</a:t>
            </a:r>
            <a:endParaRPr lang="en-US" sz="1875" dirty="0"/>
          </a:p>
        </p:txBody>
      </p:sp>
      <p:sp>
        <p:nvSpPr>
          <p:cNvPr id="32" name="Text 30"/>
          <p:cNvSpPr/>
          <p:nvPr/>
        </p:nvSpPr>
        <p:spPr>
          <a:xfrm>
            <a:off x="10045701" y="4024965"/>
            <a:ext cx="5887919"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alpha val="99000"/>
                  </a:srgbClr>
                </a:solidFill>
                <a:latin typeface="Arial" pitchFamily="34" charset="0"/>
                <a:ea typeface="Arial" pitchFamily="34" charset="-122"/>
                <a:cs typeface="Arial" pitchFamily="34" charset="-120"/>
              </a:rPr>
              <a:t>Les instructions permettant de créer un conteneur</a:t>
            </a:r>
            <a:endParaRPr lang="en-US" sz="1875" dirty="0"/>
          </a:p>
        </p:txBody>
      </p:sp>
      <p:sp>
        <p:nvSpPr>
          <p:cNvPr id="33" name="Shape 31"/>
          <p:cNvSpPr/>
          <p:nvPr/>
        </p:nvSpPr>
        <p:spPr>
          <a:xfrm>
            <a:off x="9353550" y="4650440"/>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34" name="Shape 32"/>
          <p:cNvSpPr/>
          <p:nvPr/>
        </p:nvSpPr>
        <p:spPr>
          <a:xfrm>
            <a:off x="9569450" y="4828240"/>
            <a:ext cx="323850" cy="323850"/>
          </a:xfrm>
          <a:prstGeom prst="roundRect">
            <a:avLst>
              <a:gd name="adj" fmla="val 23529"/>
            </a:avLst>
          </a:prstGeom>
          <a:solidFill>
            <a:srgbClr val="FFFFFF">
              <a:alpha val="6000"/>
            </a:srgbClr>
          </a:solidFill>
          <a:ln/>
        </p:spPr>
      </p:sp>
      <p:sp>
        <p:nvSpPr>
          <p:cNvPr id="35" name="Text 33"/>
          <p:cNvSpPr/>
          <p:nvPr/>
        </p:nvSpPr>
        <p:spPr>
          <a:xfrm>
            <a:off x="9531350" y="4828240"/>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alpha val="99000"/>
                  </a:srgbClr>
                </a:solidFill>
                <a:latin typeface="Arial" pitchFamily="34" charset="0"/>
                <a:ea typeface="Arial" pitchFamily="34" charset="-122"/>
                <a:cs typeface="Arial" pitchFamily="34" charset="-120"/>
              </a:rPr>
              <a:t>C</a:t>
            </a:r>
            <a:endParaRPr lang="en-US" sz="1875" dirty="0"/>
          </a:p>
        </p:txBody>
      </p:sp>
      <p:sp>
        <p:nvSpPr>
          <p:cNvPr id="36" name="Text 34"/>
          <p:cNvSpPr/>
          <p:nvPr/>
        </p:nvSpPr>
        <p:spPr>
          <a:xfrm>
            <a:off x="10045701" y="4837765"/>
            <a:ext cx="2525951"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alpha val="99000"/>
                  </a:srgbClr>
                </a:solidFill>
                <a:latin typeface="Arial" pitchFamily="34" charset="0"/>
                <a:ea typeface="Arial" pitchFamily="34" charset="-122"/>
                <a:cs typeface="Arial" pitchFamily="34" charset="-120"/>
              </a:rPr>
              <a:t>Une base de données</a:t>
            </a:r>
            <a:endParaRPr lang="en-US" sz="1875" dirty="0"/>
          </a:p>
        </p:txBody>
      </p:sp>
      <p:sp>
        <p:nvSpPr>
          <p:cNvPr id="37" name="Shape 35"/>
          <p:cNvSpPr/>
          <p:nvPr/>
        </p:nvSpPr>
        <p:spPr>
          <a:xfrm>
            <a:off x="9353550" y="5463240"/>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38" name="Shape 36"/>
          <p:cNvSpPr/>
          <p:nvPr/>
        </p:nvSpPr>
        <p:spPr>
          <a:xfrm>
            <a:off x="9569450" y="5641041"/>
            <a:ext cx="323850" cy="323850"/>
          </a:xfrm>
          <a:prstGeom prst="roundRect">
            <a:avLst>
              <a:gd name="adj" fmla="val 23529"/>
            </a:avLst>
          </a:prstGeom>
          <a:solidFill>
            <a:srgbClr val="FFFFFF">
              <a:alpha val="6000"/>
            </a:srgbClr>
          </a:solidFill>
          <a:ln/>
        </p:spPr>
      </p:sp>
      <p:sp>
        <p:nvSpPr>
          <p:cNvPr id="39" name="Text 37"/>
          <p:cNvSpPr/>
          <p:nvPr/>
        </p:nvSpPr>
        <p:spPr>
          <a:xfrm>
            <a:off x="9531350" y="5641041"/>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alpha val="99000"/>
                  </a:srgbClr>
                </a:solidFill>
                <a:latin typeface="Arial" pitchFamily="34" charset="0"/>
                <a:ea typeface="Arial" pitchFamily="34" charset="-122"/>
                <a:cs typeface="Arial" pitchFamily="34" charset="-120"/>
              </a:rPr>
              <a:t>D</a:t>
            </a:r>
            <a:endParaRPr lang="en-US" sz="1875" dirty="0"/>
          </a:p>
        </p:txBody>
      </p:sp>
      <p:sp>
        <p:nvSpPr>
          <p:cNvPr id="40" name="Text 38"/>
          <p:cNvSpPr/>
          <p:nvPr/>
        </p:nvSpPr>
        <p:spPr>
          <a:xfrm>
            <a:off x="10045701" y="5650566"/>
            <a:ext cx="2401530"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alpha val="99000"/>
                  </a:srgbClr>
                </a:solidFill>
                <a:latin typeface="Arial" pitchFamily="34" charset="0"/>
                <a:ea typeface="Arial" pitchFamily="34" charset="-122"/>
                <a:cs typeface="Arial" pitchFamily="34" charset="-120"/>
              </a:rPr>
              <a:t>Un serveur physique</a:t>
            </a:r>
            <a:endParaRPr lang="en-US" sz="1875"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0E15"/>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B470">
                  <a:alpha val="16000"/>
                </a:srgbClr>
              </a:gs>
              <a:gs pos="60000">
                <a:srgbClr val="FFB470">
                  <a:alpha val="0"/>
                </a:srgbClr>
              </a:gs>
            </a:gsLst>
            <a:path path="circle">
              <a:fillToRect l="80000" t="8000" r="20000" b="92000"/>
            </a:path>
          </a:gradFill>
          <a:ln/>
        </p:spPr>
      </p:sp>
      <p:sp>
        <p:nvSpPr>
          <p:cNvPr id="3" name="Shape 1"/>
          <p:cNvSpPr/>
          <p:nvPr/>
        </p:nvSpPr>
        <p:spPr>
          <a:xfrm>
            <a:off x="1066800" y="819150"/>
            <a:ext cx="419100" cy="419100"/>
          </a:xfrm>
          <a:prstGeom prst="roundRect">
            <a:avLst>
              <a:gd name="adj" fmla="val 27273"/>
            </a:avLst>
          </a:prstGeom>
          <a:ln w="19050">
            <a:solidFill>
              <a:srgbClr val="FFB46E"/>
            </a:solidFill>
            <a:prstDash val="solid"/>
          </a:ln>
        </p:spPr>
      </p:sp>
      <p:sp>
        <p:nvSpPr>
          <p:cNvPr id="4" name="Text 2"/>
          <p:cNvSpPr/>
          <p:nvPr/>
        </p:nvSpPr>
        <p:spPr>
          <a:xfrm>
            <a:off x="1047750" y="838200"/>
            <a:ext cx="457200" cy="419100"/>
          </a:xfrm>
          <a:prstGeom prst="rect">
            <a:avLst/>
          </a:prstGeom>
          <a:noFill/>
          <a:ln/>
        </p:spPr>
        <p:txBody>
          <a:bodyPr wrap="square" lIns="25400" tIns="25400" rIns="25400" bIns="25400" rtlCol="0" anchor="ctr">
            <a:normAutofit/>
          </a:bodyPr>
          <a:lstStyle/>
          <a:p>
            <a:pPr algn="ctr" indent="0" marL="0">
              <a:buNone/>
            </a:pPr>
            <a:r>
              <a:rPr lang="en-US" sz="1950" spc="432" kern="0" dirty="0">
                <a:solidFill>
                  <a:srgbClr val="FFB46E"/>
                </a:solidFill>
                <a:latin typeface="Courier New" pitchFamily="34" charset="0"/>
                <a:ea typeface="Courier New" pitchFamily="34" charset="-122"/>
                <a:cs typeface="Courier New" pitchFamily="34" charset="-120"/>
              </a:rPr>
              <a:t>?</a:t>
            </a:r>
            <a:endParaRPr lang="en-US" sz="1950" dirty="0"/>
          </a:p>
        </p:txBody>
      </p:sp>
      <p:sp>
        <p:nvSpPr>
          <p:cNvPr id="5" name="Text 3"/>
          <p:cNvSpPr/>
          <p:nvPr/>
        </p:nvSpPr>
        <p:spPr>
          <a:xfrm>
            <a:off x="1638300" y="876300"/>
            <a:ext cx="4549122" cy="342900"/>
          </a:xfrm>
          <a:prstGeom prst="rect">
            <a:avLst/>
          </a:prstGeom>
          <a:noFill/>
          <a:ln/>
        </p:spPr>
        <p:txBody>
          <a:bodyPr wrap="square" lIns="0" tIns="0" rIns="0" bIns="0" rtlCol="0" anchor="t">
            <a:normAutofit/>
          </a:bodyPr>
          <a:lstStyle/>
          <a:p>
            <a:pPr algn="l" indent="0" marL="0">
              <a:buNone/>
            </a:pPr>
            <a:r>
              <a:rPr lang="en-US" sz="1800" spc="432" kern="0" dirty="0">
                <a:solidFill>
                  <a:srgbClr val="FFB46E"/>
                </a:solidFill>
                <a:latin typeface="Courier New" pitchFamily="34" charset="0"/>
                <a:ea typeface="Courier New" pitchFamily="34" charset="-122"/>
                <a:cs typeface="Courier New" pitchFamily="34" charset="-120"/>
              </a:rPr>
              <a:t>CORRECTION · ATELIER 03</a:t>
            </a:r>
            <a:endParaRPr lang="en-US" sz="1800" dirty="0"/>
          </a:p>
        </p:txBody>
      </p:sp>
      <p:sp>
        <p:nvSpPr>
          <p:cNvPr id="6" name="Text 4"/>
          <p:cNvSpPr/>
          <p:nvPr/>
        </p:nvSpPr>
        <p:spPr>
          <a:xfrm>
            <a:off x="1066800" y="1428750"/>
            <a:ext cx="17769840"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Docker</a:t>
            </a:r>
            <a:endParaRPr lang="en-US" sz="4800" dirty="0"/>
          </a:p>
        </p:txBody>
      </p:sp>
      <p:sp>
        <p:nvSpPr>
          <p:cNvPr id="7" name="Text 5"/>
          <p:cNvSpPr/>
          <p:nvPr/>
        </p:nvSpPr>
        <p:spPr>
          <a:xfrm>
            <a:off x="1066800" y="2481759"/>
            <a:ext cx="8654415" cy="369491"/>
          </a:xfrm>
          <a:prstGeom prst="rect">
            <a:avLst/>
          </a:prstGeom>
          <a:noFill/>
          <a:ln/>
        </p:spPr>
        <p:txBody>
          <a:bodyPr wrap="square" lIns="25400" tIns="25400" rIns="25400" bIns="25400" rtlCol="0" anchor="t">
            <a:normAutofit/>
          </a:bodyPr>
          <a:lstStyle/>
          <a:p>
            <a:pPr algn="l" indent="0" marL="0">
              <a:lnSpc>
                <a:spcPct val="106531"/>
              </a:lnSpc>
              <a:buNone/>
            </a:pPr>
            <a:r>
              <a:rPr lang="en-US" sz="2175" b="1" dirty="0">
                <a:solidFill>
                  <a:srgbClr val="EEF3F9"/>
                </a:solidFill>
                <a:latin typeface="Arial" pitchFamily="34" charset="0"/>
                <a:ea typeface="Arial" pitchFamily="34" charset="-122"/>
                <a:cs typeface="Arial" pitchFamily="34" charset="-120"/>
              </a:rPr>
              <a:t>Le principal avantage de Docker dans ce cours ?</a:t>
            </a:r>
            <a:endParaRPr lang="en-US" sz="2175" dirty="0"/>
          </a:p>
        </p:txBody>
      </p:sp>
      <p:sp>
        <p:nvSpPr>
          <p:cNvPr id="8" name="Shape 6"/>
          <p:cNvSpPr/>
          <p:nvPr/>
        </p:nvSpPr>
        <p:spPr>
          <a:xfrm>
            <a:off x="1066800" y="3022699"/>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9" name="Shape 7"/>
          <p:cNvSpPr/>
          <p:nvPr/>
        </p:nvSpPr>
        <p:spPr>
          <a:xfrm>
            <a:off x="1282700" y="3200499"/>
            <a:ext cx="323850" cy="323850"/>
          </a:xfrm>
          <a:prstGeom prst="roundRect">
            <a:avLst>
              <a:gd name="adj" fmla="val 23529"/>
            </a:avLst>
          </a:prstGeom>
          <a:solidFill>
            <a:srgbClr val="FFFFFF">
              <a:alpha val="6000"/>
            </a:srgbClr>
          </a:solidFill>
          <a:ln/>
        </p:spPr>
      </p:sp>
      <p:sp>
        <p:nvSpPr>
          <p:cNvPr id="10" name="Text 8"/>
          <p:cNvSpPr/>
          <p:nvPr/>
        </p:nvSpPr>
        <p:spPr>
          <a:xfrm>
            <a:off x="1244600" y="3200499"/>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solidFill>
                <a:latin typeface="Arial" pitchFamily="34" charset="0"/>
                <a:ea typeface="Arial" pitchFamily="34" charset="-122"/>
                <a:cs typeface="Arial" pitchFamily="34" charset="-120"/>
              </a:rPr>
              <a:t>A</a:t>
            </a:r>
            <a:endParaRPr lang="en-US" sz="1875" dirty="0"/>
          </a:p>
        </p:txBody>
      </p:sp>
      <p:sp>
        <p:nvSpPr>
          <p:cNvPr id="11" name="Text 9"/>
          <p:cNvSpPr/>
          <p:nvPr/>
        </p:nvSpPr>
        <p:spPr>
          <a:xfrm>
            <a:off x="1758950" y="3210024"/>
            <a:ext cx="2152690"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solidFill>
                <a:latin typeface="Arial" pitchFamily="34" charset="0"/>
                <a:ea typeface="Arial" pitchFamily="34" charset="-122"/>
                <a:cs typeface="Arial" pitchFamily="34" charset="-120"/>
              </a:rPr>
              <a:t>Accélérer Internet</a:t>
            </a:r>
            <a:endParaRPr lang="en-US" sz="1875" dirty="0"/>
          </a:p>
        </p:txBody>
      </p:sp>
      <p:sp>
        <p:nvSpPr>
          <p:cNvPr id="12" name="Shape 10"/>
          <p:cNvSpPr/>
          <p:nvPr/>
        </p:nvSpPr>
        <p:spPr>
          <a:xfrm>
            <a:off x="1066800" y="3835499"/>
            <a:ext cx="7867650" cy="692150"/>
          </a:xfrm>
          <a:prstGeom prst="roundRect">
            <a:avLst>
              <a:gd name="adj" fmla="val 16514"/>
            </a:avLst>
          </a:prstGeom>
          <a:gradFill rotWithShape="1">
            <a:gsLst>
              <a:gs pos="0">
                <a:srgbClr val="FFB46E">
                  <a:alpha val="20000"/>
                </a:srgbClr>
              </a:gs>
              <a:gs pos="100000">
                <a:srgbClr val="FFFFFF">
                  <a:alpha val="3000"/>
                </a:srgbClr>
              </a:gs>
            </a:gsLst>
            <a:lin ang="4200000" scaled="0"/>
          </a:gradFill>
          <a:ln w="6350">
            <a:solidFill>
              <a:srgbClr val="FFBE82">
                <a:alpha val="48000"/>
              </a:srgbClr>
            </a:solidFill>
            <a:prstDash val="solid"/>
          </a:ln>
        </p:spPr>
      </p:sp>
      <p:sp>
        <p:nvSpPr>
          <p:cNvPr id="13" name="Shape 11"/>
          <p:cNvSpPr/>
          <p:nvPr/>
        </p:nvSpPr>
        <p:spPr>
          <a:xfrm>
            <a:off x="1282700" y="4019649"/>
            <a:ext cx="323850" cy="323850"/>
          </a:xfrm>
          <a:prstGeom prst="roundRect">
            <a:avLst>
              <a:gd name="adj" fmla="val 23529"/>
            </a:avLst>
          </a:prstGeom>
          <a:solidFill>
            <a:srgbClr val="FFB46E"/>
          </a:solidFill>
          <a:ln/>
        </p:spPr>
      </p:sp>
      <p:sp>
        <p:nvSpPr>
          <p:cNvPr id="14" name="Text 12"/>
          <p:cNvSpPr/>
          <p:nvPr/>
        </p:nvSpPr>
        <p:spPr>
          <a:xfrm>
            <a:off x="1244600" y="4019649"/>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04070C"/>
                </a:solidFill>
                <a:latin typeface="Arial" pitchFamily="34" charset="0"/>
                <a:ea typeface="Arial" pitchFamily="34" charset="-122"/>
                <a:cs typeface="Arial" pitchFamily="34" charset="-120"/>
              </a:rPr>
              <a:t>B</a:t>
            </a:r>
            <a:endParaRPr lang="en-US" sz="1875" dirty="0"/>
          </a:p>
        </p:txBody>
      </p:sp>
      <p:sp>
        <p:nvSpPr>
          <p:cNvPr id="15" name="Text 13"/>
          <p:cNvSpPr/>
          <p:nvPr/>
        </p:nvSpPr>
        <p:spPr>
          <a:xfrm>
            <a:off x="1758950" y="4029174"/>
            <a:ext cx="6254849" cy="342900"/>
          </a:xfrm>
          <a:prstGeom prst="rect">
            <a:avLst/>
          </a:prstGeom>
          <a:noFill/>
          <a:ln/>
        </p:spPr>
        <p:txBody>
          <a:bodyPr wrap="square" lIns="25400" tIns="25400" rIns="25400" bIns="25400" rtlCol="0" anchor="t">
            <a:normAutofit/>
          </a:bodyPr>
          <a:lstStyle/>
          <a:p>
            <a:pPr algn="l" indent="0" marL="0">
              <a:buNone/>
            </a:pPr>
            <a:r>
              <a:rPr lang="en-US" sz="1875" dirty="0">
                <a:solidFill>
                  <a:srgbClr val="EEF3F9"/>
                </a:solidFill>
                <a:latin typeface="Arial" pitchFamily="34" charset="0"/>
                <a:ea typeface="Arial" pitchFamily="34" charset="-122"/>
                <a:cs typeface="Arial" pitchFamily="34" charset="-120"/>
              </a:rPr>
              <a:t>Installer une plateforme Big Data identique pour tous</a:t>
            </a:r>
            <a:endParaRPr lang="en-US" sz="1875" dirty="0"/>
          </a:p>
        </p:txBody>
      </p:sp>
      <p:sp>
        <p:nvSpPr>
          <p:cNvPr id="16" name="Text 14"/>
          <p:cNvSpPr/>
          <p:nvPr/>
        </p:nvSpPr>
        <p:spPr>
          <a:xfrm>
            <a:off x="8533011" y="4013299"/>
            <a:ext cx="261739" cy="374650"/>
          </a:xfrm>
          <a:prstGeom prst="rect">
            <a:avLst/>
          </a:prstGeom>
          <a:noFill/>
          <a:ln/>
        </p:spPr>
        <p:txBody>
          <a:bodyPr wrap="square" lIns="25400" tIns="25400" rIns="25400" bIns="25400" rtlCol="0" anchor="t">
            <a:normAutofit/>
          </a:bodyPr>
          <a:lstStyle/>
          <a:p>
            <a:pPr algn="l" indent="0" marL="0">
              <a:buNone/>
            </a:pPr>
            <a:r>
              <a:rPr lang="en-US" sz="1950" dirty="0">
                <a:solidFill>
                  <a:srgbClr val="FFB46E"/>
                </a:solidFill>
                <a:latin typeface="Arial" pitchFamily="34" charset="0"/>
                <a:ea typeface="Arial" pitchFamily="34" charset="-122"/>
                <a:cs typeface="Arial" pitchFamily="34" charset="-120"/>
              </a:rPr>
              <a:t>✓</a:t>
            </a:r>
            <a:endParaRPr lang="en-US" sz="1950" dirty="0"/>
          </a:p>
        </p:txBody>
      </p:sp>
      <p:sp>
        <p:nvSpPr>
          <p:cNvPr id="17" name="Shape 15"/>
          <p:cNvSpPr/>
          <p:nvPr/>
        </p:nvSpPr>
        <p:spPr>
          <a:xfrm>
            <a:off x="1066800" y="4660999"/>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18" name="Shape 16"/>
          <p:cNvSpPr/>
          <p:nvPr/>
        </p:nvSpPr>
        <p:spPr>
          <a:xfrm>
            <a:off x="1282700" y="4838799"/>
            <a:ext cx="323850" cy="323850"/>
          </a:xfrm>
          <a:prstGeom prst="roundRect">
            <a:avLst>
              <a:gd name="adj" fmla="val 23529"/>
            </a:avLst>
          </a:prstGeom>
          <a:solidFill>
            <a:srgbClr val="FFFFFF">
              <a:alpha val="6000"/>
            </a:srgbClr>
          </a:solidFill>
          <a:ln/>
        </p:spPr>
      </p:sp>
      <p:sp>
        <p:nvSpPr>
          <p:cNvPr id="19" name="Text 17"/>
          <p:cNvSpPr/>
          <p:nvPr/>
        </p:nvSpPr>
        <p:spPr>
          <a:xfrm>
            <a:off x="1244600" y="4838799"/>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solidFill>
                <a:latin typeface="Arial" pitchFamily="34" charset="0"/>
                <a:ea typeface="Arial" pitchFamily="34" charset="-122"/>
                <a:cs typeface="Arial" pitchFamily="34" charset="-120"/>
              </a:rPr>
              <a:t>C</a:t>
            </a:r>
            <a:endParaRPr lang="en-US" sz="1875" dirty="0"/>
          </a:p>
        </p:txBody>
      </p:sp>
      <p:sp>
        <p:nvSpPr>
          <p:cNvPr id="20" name="Text 18"/>
          <p:cNvSpPr/>
          <p:nvPr/>
        </p:nvSpPr>
        <p:spPr>
          <a:xfrm>
            <a:off x="1758950" y="4848324"/>
            <a:ext cx="2710071"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solidFill>
                <a:latin typeface="Arial" pitchFamily="34" charset="0"/>
                <a:ea typeface="Arial" pitchFamily="34" charset="-122"/>
                <a:cs typeface="Arial" pitchFamily="34" charset="-120"/>
              </a:rPr>
              <a:t>Programmer en Python</a:t>
            </a:r>
            <a:endParaRPr lang="en-US" sz="1875" dirty="0"/>
          </a:p>
        </p:txBody>
      </p:sp>
      <p:sp>
        <p:nvSpPr>
          <p:cNvPr id="21" name="Shape 19"/>
          <p:cNvSpPr/>
          <p:nvPr/>
        </p:nvSpPr>
        <p:spPr>
          <a:xfrm>
            <a:off x="1066800" y="5473800"/>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22" name="Shape 20"/>
          <p:cNvSpPr/>
          <p:nvPr/>
        </p:nvSpPr>
        <p:spPr>
          <a:xfrm>
            <a:off x="1282700" y="5651599"/>
            <a:ext cx="323850" cy="323850"/>
          </a:xfrm>
          <a:prstGeom prst="roundRect">
            <a:avLst>
              <a:gd name="adj" fmla="val 23529"/>
            </a:avLst>
          </a:prstGeom>
          <a:solidFill>
            <a:srgbClr val="FFFFFF">
              <a:alpha val="6000"/>
            </a:srgbClr>
          </a:solidFill>
          <a:ln/>
        </p:spPr>
      </p:sp>
      <p:sp>
        <p:nvSpPr>
          <p:cNvPr id="23" name="Text 21"/>
          <p:cNvSpPr/>
          <p:nvPr/>
        </p:nvSpPr>
        <p:spPr>
          <a:xfrm>
            <a:off x="1244600" y="5651599"/>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solidFill>
                <a:latin typeface="Arial" pitchFamily="34" charset="0"/>
                <a:ea typeface="Arial" pitchFamily="34" charset="-122"/>
                <a:cs typeface="Arial" pitchFamily="34" charset="-120"/>
              </a:rPr>
              <a:t>D</a:t>
            </a:r>
            <a:endParaRPr lang="en-US" sz="1875" dirty="0"/>
          </a:p>
        </p:txBody>
      </p:sp>
      <p:sp>
        <p:nvSpPr>
          <p:cNvPr id="24" name="Text 22"/>
          <p:cNvSpPr/>
          <p:nvPr/>
        </p:nvSpPr>
        <p:spPr>
          <a:xfrm>
            <a:off x="1758950" y="5661124"/>
            <a:ext cx="1883658"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solidFill>
                <a:latin typeface="Arial" pitchFamily="34" charset="0"/>
                <a:ea typeface="Arial" pitchFamily="34" charset="-122"/>
                <a:cs typeface="Arial" pitchFamily="34" charset="-120"/>
              </a:rPr>
              <a:t>Remplacer AWS</a:t>
            </a:r>
            <a:endParaRPr lang="en-US" sz="1875" dirty="0"/>
          </a:p>
        </p:txBody>
      </p:sp>
      <p:sp>
        <p:nvSpPr>
          <p:cNvPr id="25" name="Text 23"/>
          <p:cNvSpPr/>
          <p:nvPr/>
        </p:nvSpPr>
        <p:spPr>
          <a:xfrm>
            <a:off x="9353550" y="2481759"/>
            <a:ext cx="8654415" cy="369491"/>
          </a:xfrm>
          <a:prstGeom prst="rect">
            <a:avLst/>
          </a:prstGeom>
          <a:noFill/>
          <a:ln/>
        </p:spPr>
        <p:txBody>
          <a:bodyPr wrap="square" lIns="25400" tIns="25400" rIns="25400" bIns="25400" rtlCol="0" anchor="t">
            <a:normAutofit/>
          </a:bodyPr>
          <a:lstStyle/>
          <a:p>
            <a:pPr algn="l" indent="0" marL="0">
              <a:lnSpc>
                <a:spcPct val="106531"/>
              </a:lnSpc>
              <a:buNone/>
            </a:pPr>
            <a:r>
              <a:rPr lang="en-US" sz="2175" b="1" dirty="0">
                <a:solidFill>
                  <a:srgbClr val="EEF3F9"/>
                </a:solidFill>
                <a:latin typeface="Arial" pitchFamily="34" charset="0"/>
                <a:ea typeface="Arial" pitchFamily="34" charset="-122"/>
                <a:cs typeface="Arial" pitchFamily="34" charset="-120"/>
              </a:rPr>
              <a:t>Que contient une image Docker ?</a:t>
            </a:r>
            <a:endParaRPr lang="en-US" sz="2175" dirty="0"/>
          </a:p>
        </p:txBody>
      </p:sp>
      <p:sp>
        <p:nvSpPr>
          <p:cNvPr id="26" name="Shape 24"/>
          <p:cNvSpPr/>
          <p:nvPr/>
        </p:nvSpPr>
        <p:spPr>
          <a:xfrm>
            <a:off x="9353550" y="3022699"/>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27" name="Shape 25"/>
          <p:cNvSpPr/>
          <p:nvPr/>
        </p:nvSpPr>
        <p:spPr>
          <a:xfrm>
            <a:off x="9569450" y="3200499"/>
            <a:ext cx="323850" cy="323850"/>
          </a:xfrm>
          <a:prstGeom prst="roundRect">
            <a:avLst>
              <a:gd name="adj" fmla="val 23529"/>
            </a:avLst>
          </a:prstGeom>
          <a:solidFill>
            <a:srgbClr val="FFFFFF">
              <a:alpha val="6000"/>
            </a:srgbClr>
          </a:solidFill>
          <a:ln/>
        </p:spPr>
      </p:sp>
      <p:sp>
        <p:nvSpPr>
          <p:cNvPr id="28" name="Text 26"/>
          <p:cNvSpPr/>
          <p:nvPr/>
        </p:nvSpPr>
        <p:spPr>
          <a:xfrm>
            <a:off x="9531350" y="3200499"/>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solidFill>
                <a:latin typeface="Arial" pitchFamily="34" charset="0"/>
                <a:ea typeface="Arial" pitchFamily="34" charset="-122"/>
                <a:cs typeface="Arial" pitchFamily="34" charset="-120"/>
              </a:rPr>
              <a:t>A</a:t>
            </a:r>
            <a:endParaRPr lang="en-US" sz="1875" dirty="0"/>
          </a:p>
        </p:txBody>
      </p:sp>
      <p:sp>
        <p:nvSpPr>
          <p:cNvPr id="29" name="Text 27"/>
          <p:cNvSpPr/>
          <p:nvPr/>
        </p:nvSpPr>
        <p:spPr>
          <a:xfrm>
            <a:off x="10045701" y="3210024"/>
            <a:ext cx="3731082"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solidFill>
                <a:latin typeface="Arial" pitchFamily="34" charset="0"/>
                <a:ea typeface="Arial" pitchFamily="34" charset="-122"/>
                <a:cs typeface="Arial" pitchFamily="34" charset="-120"/>
              </a:rPr>
              <a:t>Une machine virtuelle complète</a:t>
            </a:r>
            <a:endParaRPr lang="en-US" sz="1875" dirty="0"/>
          </a:p>
        </p:txBody>
      </p:sp>
      <p:sp>
        <p:nvSpPr>
          <p:cNvPr id="30" name="Shape 28"/>
          <p:cNvSpPr/>
          <p:nvPr/>
        </p:nvSpPr>
        <p:spPr>
          <a:xfrm>
            <a:off x="9353550" y="3835499"/>
            <a:ext cx="7867650" cy="692150"/>
          </a:xfrm>
          <a:prstGeom prst="roundRect">
            <a:avLst>
              <a:gd name="adj" fmla="val 16514"/>
            </a:avLst>
          </a:prstGeom>
          <a:gradFill rotWithShape="1">
            <a:gsLst>
              <a:gs pos="0">
                <a:srgbClr val="FFB46E">
                  <a:alpha val="20000"/>
                </a:srgbClr>
              </a:gs>
              <a:gs pos="100000">
                <a:srgbClr val="FFFFFF">
                  <a:alpha val="3000"/>
                </a:srgbClr>
              </a:gs>
            </a:gsLst>
            <a:lin ang="4200000" scaled="0"/>
          </a:gradFill>
          <a:ln w="6350">
            <a:solidFill>
              <a:srgbClr val="FFBE82">
                <a:alpha val="48000"/>
              </a:srgbClr>
            </a:solidFill>
            <a:prstDash val="solid"/>
          </a:ln>
        </p:spPr>
      </p:sp>
      <p:sp>
        <p:nvSpPr>
          <p:cNvPr id="31" name="Shape 29"/>
          <p:cNvSpPr/>
          <p:nvPr/>
        </p:nvSpPr>
        <p:spPr>
          <a:xfrm>
            <a:off x="9569450" y="4019649"/>
            <a:ext cx="323850" cy="323850"/>
          </a:xfrm>
          <a:prstGeom prst="roundRect">
            <a:avLst>
              <a:gd name="adj" fmla="val 23529"/>
            </a:avLst>
          </a:prstGeom>
          <a:solidFill>
            <a:srgbClr val="FFB46E"/>
          </a:solidFill>
          <a:ln/>
        </p:spPr>
      </p:sp>
      <p:sp>
        <p:nvSpPr>
          <p:cNvPr id="32" name="Text 30"/>
          <p:cNvSpPr/>
          <p:nvPr/>
        </p:nvSpPr>
        <p:spPr>
          <a:xfrm>
            <a:off x="9531350" y="4019649"/>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04070C"/>
                </a:solidFill>
                <a:latin typeface="Arial" pitchFamily="34" charset="0"/>
                <a:ea typeface="Arial" pitchFamily="34" charset="-122"/>
                <a:cs typeface="Arial" pitchFamily="34" charset="-120"/>
              </a:rPr>
              <a:t>B</a:t>
            </a:r>
            <a:endParaRPr lang="en-US" sz="1875" dirty="0"/>
          </a:p>
        </p:txBody>
      </p:sp>
      <p:sp>
        <p:nvSpPr>
          <p:cNvPr id="33" name="Text 31"/>
          <p:cNvSpPr/>
          <p:nvPr/>
        </p:nvSpPr>
        <p:spPr>
          <a:xfrm>
            <a:off x="10045701" y="4029174"/>
            <a:ext cx="5887919" cy="342900"/>
          </a:xfrm>
          <a:prstGeom prst="rect">
            <a:avLst/>
          </a:prstGeom>
          <a:noFill/>
          <a:ln/>
        </p:spPr>
        <p:txBody>
          <a:bodyPr wrap="square" lIns="25400" tIns="25400" rIns="25400" bIns="25400" rtlCol="0" anchor="t">
            <a:normAutofit/>
          </a:bodyPr>
          <a:lstStyle/>
          <a:p>
            <a:pPr algn="l" indent="0" marL="0">
              <a:buNone/>
            </a:pPr>
            <a:r>
              <a:rPr lang="en-US" sz="1875" dirty="0">
                <a:solidFill>
                  <a:srgbClr val="EEF3F9"/>
                </a:solidFill>
                <a:latin typeface="Arial" pitchFamily="34" charset="0"/>
                <a:ea typeface="Arial" pitchFamily="34" charset="-122"/>
                <a:cs typeface="Arial" pitchFamily="34" charset="-120"/>
              </a:rPr>
              <a:t>Les instructions permettant de créer un conteneur</a:t>
            </a:r>
            <a:endParaRPr lang="en-US" sz="1875" dirty="0"/>
          </a:p>
        </p:txBody>
      </p:sp>
      <p:sp>
        <p:nvSpPr>
          <p:cNvPr id="34" name="Text 32"/>
          <p:cNvSpPr/>
          <p:nvPr/>
        </p:nvSpPr>
        <p:spPr>
          <a:xfrm>
            <a:off x="16819762" y="4013299"/>
            <a:ext cx="261739" cy="374650"/>
          </a:xfrm>
          <a:prstGeom prst="rect">
            <a:avLst/>
          </a:prstGeom>
          <a:noFill/>
          <a:ln/>
        </p:spPr>
        <p:txBody>
          <a:bodyPr wrap="square" lIns="25400" tIns="25400" rIns="25400" bIns="25400" rtlCol="0" anchor="t">
            <a:normAutofit/>
          </a:bodyPr>
          <a:lstStyle/>
          <a:p>
            <a:pPr algn="l" indent="0" marL="0">
              <a:buNone/>
            </a:pPr>
            <a:r>
              <a:rPr lang="en-US" sz="1950" dirty="0">
                <a:solidFill>
                  <a:srgbClr val="FFB46E"/>
                </a:solidFill>
                <a:latin typeface="Arial" pitchFamily="34" charset="0"/>
                <a:ea typeface="Arial" pitchFamily="34" charset="-122"/>
                <a:cs typeface="Arial" pitchFamily="34" charset="-120"/>
              </a:rPr>
              <a:t>✓</a:t>
            </a:r>
            <a:endParaRPr lang="en-US" sz="1950" dirty="0"/>
          </a:p>
        </p:txBody>
      </p:sp>
      <p:sp>
        <p:nvSpPr>
          <p:cNvPr id="35" name="Shape 33"/>
          <p:cNvSpPr/>
          <p:nvPr/>
        </p:nvSpPr>
        <p:spPr>
          <a:xfrm>
            <a:off x="9353550" y="4660999"/>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36" name="Shape 34"/>
          <p:cNvSpPr/>
          <p:nvPr/>
        </p:nvSpPr>
        <p:spPr>
          <a:xfrm>
            <a:off x="9569450" y="4838799"/>
            <a:ext cx="323850" cy="323850"/>
          </a:xfrm>
          <a:prstGeom prst="roundRect">
            <a:avLst>
              <a:gd name="adj" fmla="val 23529"/>
            </a:avLst>
          </a:prstGeom>
          <a:solidFill>
            <a:srgbClr val="FFFFFF">
              <a:alpha val="6000"/>
            </a:srgbClr>
          </a:solidFill>
          <a:ln/>
        </p:spPr>
      </p:sp>
      <p:sp>
        <p:nvSpPr>
          <p:cNvPr id="37" name="Text 35"/>
          <p:cNvSpPr/>
          <p:nvPr/>
        </p:nvSpPr>
        <p:spPr>
          <a:xfrm>
            <a:off x="9531350" y="4838799"/>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solidFill>
                <a:latin typeface="Arial" pitchFamily="34" charset="0"/>
                <a:ea typeface="Arial" pitchFamily="34" charset="-122"/>
                <a:cs typeface="Arial" pitchFamily="34" charset="-120"/>
              </a:rPr>
              <a:t>C</a:t>
            </a:r>
            <a:endParaRPr lang="en-US" sz="1875" dirty="0"/>
          </a:p>
        </p:txBody>
      </p:sp>
      <p:sp>
        <p:nvSpPr>
          <p:cNvPr id="38" name="Text 36"/>
          <p:cNvSpPr/>
          <p:nvPr/>
        </p:nvSpPr>
        <p:spPr>
          <a:xfrm>
            <a:off x="10045701" y="4848324"/>
            <a:ext cx="2525951"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solidFill>
                <a:latin typeface="Arial" pitchFamily="34" charset="0"/>
                <a:ea typeface="Arial" pitchFamily="34" charset="-122"/>
                <a:cs typeface="Arial" pitchFamily="34" charset="-120"/>
              </a:rPr>
              <a:t>Une base de données</a:t>
            </a:r>
            <a:endParaRPr lang="en-US" sz="1875" dirty="0"/>
          </a:p>
        </p:txBody>
      </p:sp>
      <p:sp>
        <p:nvSpPr>
          <p:cNvPr id="39" name="Shape 37"/>
          <p:cNvSpPr/>
          <p:nvPr/>
        </p:nvSpPr>
        <p:spPr>
          <a:xfrm>
            <a:off x="9353550" y="5473800"/>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40" name="Shape 38"/>
          <p:cNvSpPr/>
          <p:nvPr/>
        </p:nvSpPr>
        <p:spPr>
          <a:xfrm>
            <a:off x="9569450" y="5651599"/>
            <a:ext cx="323850" cy="323850"/>
          </a:xfrm>
          <a:prstGeom prst="roundRect">
            <a:avLst>
              <a:gd name="adj" fmla="val 23529"/>
            </a:avLst>
          </a:prstGeom>
          <a:solidFill>
            <a:srgbClr val="FFFFFF">
              <a:alpha val="6000"/>
            </a:srgbClr>
          </a:solidFill>
          <a:ln/>
        </p:spPr>
      </p:sp>
      <p:sp>
        <p:nvSpPr>
          <p:cNvPr id="41" name="Text 39"/>
          <p:cNvSpPr/>
          <p:nvPr/>
        </p:nvSpPr>
        <p:spPr>
          <a:xfrm>
            <a:off x="9531350" y="5651599"/>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solidFill>
                <a:latin typeface="Arial" pitchFamily="34" charset="0"/>
                <a:ea typeface="Arial" pitchFamily="34" charset="-122"/>
                <a:cs typeface="Arial" pitchFamily="34" charset="-120"/>
              </a:rPr>
              <a:t>D</a:t>
            </a:r>
            <a:endParaRPr lang="en-US" sz="1875" dirty="0"/>
          </a:p>
        </p:txBody>
      </p:sp>
      <p:sp>
        <p:nvSpPr>
          <p:cNvPr id="42" name="Text 40"/>
          <p:cNvSpPr/>
          <p:nvPr/>
        </p:nvSpPr>
        <p:spPr>
          <a:xfrm>
            <a:off x="10045701" y="5661124"/>
            <a:ext cx="2401530"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solidFill>
                <a:latin typeface="Arial" pitchFamily="34" charset="0"/>
                <a:ea typeface="Arial" pitchFamily="34" charset="-122"/>
                <a:cs typeface="Arial" pitchFamily="34" charset="-120"/>
              </a:rPr>
              <a:t>Un serveur physique</a:t>
            </a:r>
            <a:endParaRPr lang="en-US" sz="1875"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C121C"/>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55DCDC">
                  <a:alpha val="20000"/>
                </a:srgbClr>
              </a:gs>
              <a:gs pos="60000">
                <a:srgbClr val="55DCDC">
                  <a:alpha val="0"/>
                </a:srgbClr>
              </a:gs>
            </a:gsLst>
            <a:path path="circle">
              <a:fillToRect l="22000" t="34000" r="78000" b="66000"/>
            </a:path>
          </a:gradFill>
          <a:ln/>
        </p:spPr>
      </p:sp>
      <p:sp>
        <p:nvSpPr>
          <p:cNvPr id="3" name="Text 1"/>
          <p:cNvSpPr/>
          <p:nvPr/>
        </p:nvSpPr>
        <p:spPr>
          <a:xfrm>
            <a:off x="1066800" y="3037979"/>
            <a:ext cx="17769840" cy="368300"/>
          </a:xfrm>
          <a:prstGeom prst="rect">
            <a:avLst/>
          </a:prstGeom>
          <a:noFill/>
          <a:ln/>
        </p:spPr>
        <p:txBody>
          <a:bodyPr wrap="square" lIns="25400" tIns="25400" rIns="25400" bIns="25400" rtlCol="0" anchor="t">
            <a:normAutofit/>
          </a:bodyPr>
          <a:lstStyle/>
          <a:p>
            <a:pPr algn="l" indent="0" marL="0">
              <a:buNone/>
            </a:pPr>
            <a:r>
              <a:rPr lang="en-US" sz="1950" spc="546" kern="0" dirty="0">
                <a:solidFill>
                  <a:srgbClr val="56DBDB"/>
                </a:solidFill>
                <a:latin typeface="Courier New" pitchFamily="34" charset="0"/>
                <a:ea typeface="Courier New" pitchFamily="34" charset="-122"/>
                <a:cs typeface="Courier New" pitchFamily="34" charset="-120"/>
              </a:rPr>
              <a:t>ATELIER 04.1 · 3 HEURES</a:t>
            </a:r>
            <a:endParaRPr lang="en-US" sz="1950" dirty="0"/>
          </a:p>
        </p:txBody>
      </p:sp>
      <p:sp>
        <p:nvSpPr>
          <p:cNvPr id="4" name="Text 2"/>
          <p:cNvSpPr/>
          <p:nvPr/>
        </p:nvSpPr>
        <p:spPr>
          <a:xfrm>
            <a:off x="1066800" y="3444379"/>
            <a:ext cx="17769840" cy="1752600"/>
          </a:xfrm>
          <a:prstGeom prst="rect">
            <a:avLst/>
          </a:prstGeom>
          <a:noFill/>
          <a:ln/>
        </p:spPr>
        <p:txBody>
          <a:bodyPr wrap="square" lIns="25400" tIns="25400" rIns="25400" bIns="25400" rtlCol="0" anchor="t">
            <a:normAutofit/>
          </a:bodyPr>
          <a:lstStyle/>
          <a:p>
            <a:pPr algn="l" indent="0" marL="0">
              <a:lnSpc>
                <a:spcPct val="78035"/>
              </a:lnSpc>
              <a:buNone/>
            </a:pPr>
            <a:r>
              <a:rPr lang="en-US" sz="15000" b="1" spc="-600" kern="0" dirty="0">
                <a:solidFill>
                  <a:srgbClr val="8EE3E4"/>
                </a:solidFill>
                <a:latin typeface="Arial" pitchFamily="34" charset="0"/>
                <a:ea typeface="Arial" pitchFamily="34" charset="-122"/>
                <a:cs typeface="Arial" pitchFamily="34" charset="-120"/>
              </a:rPr>
              <a:t>4.1</a:t>
            </a:r>
            <a:endParaRPr lang="en-US" sz="15000" dirty="0"/>
          </a:p>
        </p:txBody>
      </p:sp>
      <p:sp>
        <p:nvSpPr>
          <p:cNvPr id="5" name="Text 3"/>
          <p:cNvSpPr/>
          <p:nvPr/>
        </p:nvSpPr>
        <p:spPr>
          <a:xfrm>
            <a:off x="1066800" y="5235079"/>
            <a:ext cx="17769840" cy="737592"/>
          </a:xfrm>
          <a:prstGeom prst="rect">
            <a:avLst/>
          </a:prstGeom>
          <a:noFill/>
          <a:ln/>
        </p:spPr>
        <p:txBody>
          <a:bodyPr wrap="square" lIns="25400" tIns="25400" rIns="25400" bIns="25400" rtlCol="0" anchor="t">
            <a:normAutofit/>
          </a:bodyPr>
          <a:lstStyle/>
          <a:p>
            <a:pPr algn="l" indent="0" marL="0">
              <a:lnSpc>
                <a:spcPct val="88128"/>
              </a:lnSpc>
              <a:buNone/>
            </a:pPr>
            <a:r>
              <a:rPr lang="en-US" sz="5400" b="1" spc="-108" kern="0" dirty="0">
                <a:solidFill>
                  <a:srgbClr val="EEF3F9"/>
                </a:solidFill>
                <a:latin typeface="Arial" pitchFamily="34" charset="0"/>
                <a:ea typeface="Arial" pitchFamily="34" charset="-122"/>
                <a:cs typeface="Arial" pitchFamily="34" charset="-120"/>
              </a:rPr>
              <a:t>L'écosystème Hadoop : HDFS, YARN, Hive</a:t>
            </a:r>
            <a:endParaRPr lang="en-US" sz="5400" dirty="0"/>
          </a:p>
        </p:txBody>
      </p:sp>
      <p:sp>
        <p:nvSpPr>
          <p:cNvPr id="6" name="Text 4"/>
          <p:cNvSpPr/>
          <p:nvPr/>
        </p:nvSpPr>
        <p:spPr>
          <a:xfrm>
            <a:off x="1066800" y="6182221"/>
            <a:ext cx="12243816" cy="1104900"/>
          </a:xfrm>
          <a:prstGeom prst="rect">
            <a:avLst/>
          </a:prstGeom>
          <a:noFill/>
          <a:ln/>
        </p:spPr>
        <p:txBody>
          <a:bodyPr wrap="square" lIns="25400" tIns="25400" rIns="25400" bIns="25400" rtlCol="0" anchor="t">
            <a:normAutofit/>
          </a:bodyPr>
          <a:lstStyle/>
          <a:p>
            <a:pPr algn="l" indent="0" marL="0">
              <a:lnSpc>
                <a:spcPct val="121739"/>
              </a:lnSpc>
              <a:buNone/>
            </a:pPr>
            <a:r>
              <a:rPr lang="en-US" sz="3000" dirty="0">
                <a:solidFill>
                  <a:srgbClr val="8EA0B5"/>
                </a:solidFill>
                <a:latin typeface="Arial" pitchFamily="34" charset="0"/>
                <a:ea typeface="Arial" pitchFamily="34" charset="-122"/>
                <a:cs typeface="Arial" pitchFamily="34" charset="-120"/>
              </a:rPr>
              <a:t>Stockage distribué, gestion des ressources et interrogation SQL — les fondations sur lesquelles Spark s'exécutera.</a:t>
            </a:r>
            <a:endParaRPr lang="en-US" sz="3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0E15"/>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56DBDB">
                    <a:alpha val="96000"/>
                  </a:srgbClr>
                </a:solidFill>
                <a:latin typeface="Courier New" pitchFamily="34" charset="0"/>
                <a:ea typeface="Courier New" pitchFamily="34" charset="-122"/>
                <a:cs typeface="Courier New" pitchFamily="34" charset="-120"/>
              </a:rPr>
              <a:t>ATELIER 4.1 · MOTIVATION</a:t>
            </a:r>
            <a:endParaRPr lang="en-US" sz="1800" dirty="0"/>
          </a:p>
        </p:txBody>
      </p:sp>
      <p:sp>
        <p:nvSpPr>
          <p:cNvPr id="3" name="Text 1"/>
          <p:cNvSpPr/>
          <p:nvPr/>
        </p:nvSpPr>
        <p:spPr>
          <a:xfrm>
            <a:off x="1066800" y="1314498"/>
            <a:ext cx="10442138"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Les limites du stockage classique</a:t>
            </a:r>
            <a:endParaRPr lang="en-US" sz="4800" dirty="0"/>
          </a:p>
        </p:txBody>
      </p:sp>
      <p:sp>
        <p:nvSpPr>
          <p:cNvPr id="4" name="Shape 2"/>
          <p:cNvSpPr/>
          <p:nvPr/>
        </p:nvSpPr>
        <p:spPr>
          <a:xfrm>
            <a:off x="1066800" y="2367507"/>
            <a:ext cx="7934325" cy="7100392"/>
          </a:xfrm>
          <a:prstGeom prst="roundRect">
            <a:avLst>
              <a:gd name="adj" fmla="val 2415"/>
            </a:avLst>
          </a:prstGeom>
          <a:solidFill>
            <a:srgbClr val="FFFFFF">
              <a:alpha val="3000"/>
            </a:srgbClr>
          </a:solidFill>
          <a:ln w="6350">
            <a:solidFill>
              <a:srgbClr val="FFFFFF">
                <a:alpha val="10000"/>
              </a:srgbClr>
            </a:solidFill>
            <a:prstDash val="solid"/>
          </a:ln>
        </p:spPr>
      </p:sp>
      <p:sp>
        <p:nvSpPr>
          <p:cNvPr id="5" name="Text 3"/>
          <p:cNvSpPr/>
          <p:nvPr/>
        </p:nvSpPr>
        <p:spPr>
          <a:xfrm>
            <a:off x="1397000" y="2716757"/>
            <a:ext cx="8001318" cy="368300"/>
          </a:xfrm>
          <a:prstGeom prst="rect">
            <a:avLst/>
          </a:prstGeom>
          <a:noFill/>
          <a:ln/>
        </p:spPr>
        <p:txBody>
          <a:bodyPr wrap="square" lIns="25400" tIns="25400" rIns="25400" bIns="25400" rtlCol="0" anchor="t">
            <a:normAutofit/>
          </a:bodyPr>
          <a:lstStyle/>
          <a:p>
            <a:pPr algn="l" indent="0" marL="0">
              <a:buNone/>
            </a:pPr>
            <a:r>
              <a:rPr lang="en-US" sz="2250" b="1" dirty="0">
                <a:solidFill>
                  <a:srgbClr val="FFB46E"/>
                </a:solidFill>
                <a:latin typeface="Arial" pitchFamily="34" charset="0"/>
                <a:ea typeface="Arial" pitchFamily="34" charset="-122"/>
                <a:cs typeface="Arial" pitchFamily="34" charset="-120"/>
              </a:rPr>
              <a:t>Une seule machine</a:t>
            </a:r>
            <a:endParaRPr lang="en-US" sz="2250" dirty="0"/>
          </a:p>
        </p:txBody>
      </p:sp>
      <p:sp>
        <p:nvSpPr>
          <p:cNvPr id="6" name="Text 4"/>
          <p:cNvSpPr/>
          <p:nvPr/>
        </p:nvSpPr>
        <p:spPr>
          <a:xfrm>
            <a:off x="1397000" y="3218406"/>
            <a:ext cx="278507" cy="374650"/>
          </a:xfrm>
          <a:prstGeom prst="rect">
            <a:avLst/>
          </a:prstGeom>
          <a:noFill/>
          <a:ln/>
        </p:spPr>
        <p:txBody>
          <a:bodyPr wrap="square" lIns="25400" tIns="25400" rIns="25400" bIns="25400" rtlCol="0" anchor="t">
            <a:normAutofit/>
          </a:bodyPr>
          <a:lstStyle/>
          <a:p>
            <a:pPr algn="l" indent="0" marL="0">
              <a:buNone/>
            </a:pPr>
            <a:r>
              <a:rPr lang="en-US" sz="1950" dirty="0">
                <a:solidFill>
                  <a:srgbClr val="FFB46E"/>
                </a:solidFill>
                <a:latin typeface="Arial" pitchFamily="34" charset="0"/>
                <a:ea typeface="Arial" pitchFamily="34" charset="-122"/>
                <a:cs typeface="Arial" pitchFamily="34" charset="-120"/>
              </a:rPr>
              <a:t>✕</a:t>
            </a:r>
            <a:endParaRPr lang="en-US" sz="1950" dirty="0"/>
          </a:p>
        </p:txBody>
      </p:sp>
      <p:sp>
        <p:nvSpPr>
          <p:cNvPr id="7" name="Text 5"/>
          <p:cNvSpPr/>
          <p:nvPr/>
        </p:nvSpPr>
        <p:spPr>
          <a:xfrm>
            <a:off x="1732657" y="3218406"/>
            <a:ext cx="2748816" cy="371475"/>
          </a:xfrm>
          <a:prstGeom prst="rect">
            <a:avLst/>
          </a:prstGeom>
          <a:noFill/>
          <a:ln/>
        </p:spPr>
        <p:txBody>
          <a:bodyPr wrap="square" lIns="25400" tIns="25400" rIns="25400" bIns="25400" rtlCol="0" anchor="t">
            <a:normAutofit/>
          </a:bodyPr>
          <a:lstStyle/>
          <a:p>
            <a:pPr algn="l" indent="0" marL="0">
              <a:lnSpc>
                <a:spcPct val="122093"/>
              </a:lnSpc>
              <a:buNone/>
            </a:pPr>
            <a:r>
              <a:rPr lang="en-US" sz="1875" dirty="0">
                <a:solidFill>
                  <a:srgbClr val="8EA0B5"/>
                </a:solidFill>
                <a:latin typeface="Arial" pitchFamily="34" charset="0"/>
                <a:ea typeface="Arial" pitchFamily="34" charset="-122"/>
                <a:cs typeface="Arial" pitchFamily="34" charset="-120"/>
              </a:rPr>
              <a:t>Capacité disque limitée</a:t>
            </a:r>
            <a:endParaRPr lang="en-US" sz="1875" dirty="0"/>
          </a:p>
        </p:txBody>
      </p:sp>
      <p:sp>
        <p:nvSpPr>
          <p:cNvPr id="8" name="Text 6"/>
          <p:cNvSpPr/>
          <p:nvPr/>
        </p:nvSpPr>
        <p:spPr>
          <a:xfrm>
            <a:off x="1397000" y="3726407"/>
            <a:ext cx="278507" cy="374650"/>
          </a:xfrm>
          <a:prstGeom prst="rect">
            <a:avLst/>
          </a:prstGeom>
          <a:noFill/>
          <a:ln/>
        </p:spPr>
        <p:txBody>
          <a:bodyPr wrap="square" lIns="25400" tIns="25400" rIns="25400" bIns="25400" rtlCol="0" anchor="t">
            <a:normAutofit/>
          </a:bodyPr>
          <a:lstStyle/>
          <a:p>
            <a:pPr algn="l" indent="0" marL="0">
              <a:buNone/>
            </a:pPr>
            <a:r>
              <a:rPr lang="en-US" sz="1950" dirty="0">
                <a:solidFill>
                  <a:srgbClr val="FFB46E"/>
                </a:solidFill>
                <a:latin typeface="Arial" pitchFamily="34" charset="0"/>
                <a:ea typeface="Arial" pitchFamily="34" charset="-122"/>
                <a:cs typeface="Arial" pitchFamily="34" charset="-120"/>
              </a:rPr>
              <a:t>✕</a:t>
            </a:r>
            <a:endParaRPr lang="en-US" sz="1950" dirty="0"/>
          </a:p>
        </p:txBody>
      </p:sp>
      <p:sp>
        <p:nvSpPr>
          <p:cNvPr id="9" name="Text 7"/>
          <p:cNvSpPr/>
          <p:nvPr/>
        </p:nvSpPr>
        <p:spPr>
          <a:xfrm>
            <a:off x="1732657" y="3726407"/>
            <a:ext cx="4567208" cy="371475"/>
          </a:xfrm>
          <a:prstGeom prst="rect">
            <a:avLst/>
          </a:prstGeom>
          <a:noFill/>
          <a:ln/>
        </p:spPr>
        <p:txBody>
          <a:bodyPr wrap="square" lIns="25400" tIns="25400" rIns="25400" bIns="25400" rtlCol="0" anchor="t">
            <a:normAutofit/>
          </a:bodyPr>
          <a:lstStyle/>
          <a:p>
            <a:pPr algn="l" indent="0" marL="0">
              <a:lnSpc>
                <a:spcPct val="122093"/>
              </a:lnSpc>
              <a:buNone/>
            </a:pPr>
            <a:r>
              <a:rPr lang="en-US" sz="1875" dirty="0">
                <a:solidFill>
                  <a:srgbClr val="8EA0B5"/>
                </a:solidFill>
                <a:latin typeface="Arial" pitchFamily="34" charset="0"/>
                <a:ea typeface="Arial" pitchFamily="34" charset="-122"/>
                <a:cs typeface="Arial" pitchFamily="34" charset="-120"/>
              </a:rPr>
              <a:t>Mémoire insuffisante pour tout charger</a:t>
            </a:r>
            <a:endParaRPr lang="en-US" sz="1875" dirty="0"/>
          </a:p>
        </p:txBody>
      </p:sp>
      <p:sp>
        <p:nvSpPr>
          <p:cNvPr id="10" name="Text 8"/>
          <p:cNvSpPr/>
          <p:nvPr/>
        </p:nvSpPr>
        <p:spPr>
          <a:xfrm>
            <a:off x="1397000" y="4234407"/>
            <a:ext cx="278507" cy="374650"/>
          </a:xfrm>
          <a:prstGeom prst="rect">
            <a:avLst/>
          </a:prstGeom>
          <a:noFill/>
          <a:ln/>
        </p:spPr>
        <p:txBody>
          <a:bodyPr wrap="square" lIns="25400" tIns="25400" rIns="25400" bIns="25400" rtlCol="0" anchor="t">
            <a:normAutofit/>
          </a:bodyPr>
          <a:lstStyle/>
          <a:p>
            <a:pPr algn="l" indent="0" marL="0">
              <a:buNone/>
            </a:pPr>
            <a:r>
              <a:rPr lang="en-US" sz="1950" dirty="0">
                <a:solidFill>
                  <a:srgbClr val="FFB46E"/>
                </a:solidFill>
                <a:latin typeface="Arial" pitchFamily="34" charset="0"/>
                <a:ea typeface="Arial" pitchFamily="34" charset="-122"/>
                <a:cs typeface="Arial" pitchFamily="34" charset="-120"/>
              </a:rPr>
              <a:t>✕</a:t>
            </a:r>
            <a:endParaRPr lang="en-US" sz="1950" dirty="0"/>
          </a:p>
        </p:txBody>
      </p:sp>
      <p:sp>
        <p:nvSpPr>
          <p:cNvPr id="11" name="Text 9"/>
          <p:cNvSpPr/>
          <p:nvPr/>
        </p:nvSpPr>
        <p:spPr>
          <a:xfrm>
            <a:off x="1732657" y="4234407"/>
            <a:ext cx="4591546" cy="371475"/>
          </a:xfrm>
          <a:prstGeom prst="rect">
            <a:avLst/>
          </a:prstGeom>
          <a:noFill/>
          <a:ln/>
        </p:spPr>
        <p:txBody>
          <a:bodyPr wrap="square" lIns="25400" tIns="25400" rIns="25400" bIns="25400" rtlCol="0" anchor="t">
            <a:normAutofit/>
          </a:bodyPr>
          <a:lstStyle/>
          <a:p>
            <a:pPr algn="l" indent="0" marL="0">
              <a:lnSpc>
                <a:spcPct val="122093"/>
              </a:lnSpc>
              <a:buNone/>
            </a:pPr>
            <a:r>
              <a:rPr lang="en-US" sz="1875" dirty="0">
                <a:solidFill>
                  <a:srgbClr val="8EA0B5"/>
                </a:solidFill>
                <a:latin typeface="Arial" pitchFamily="34" charset="0"/>
                <a:ea typeface="Arial" pitchFamily="34" charset="-122"/>
                <a:cs typeface="Arial" pitchFamily="34" charset="-120"/>
              </a:rPr>
              <a:t>Aucun parallélisme : un disque, un CPU</a:t>
            </a:r>
            <a:endParaRPr lang="en-US" sz="1875" dirty="0"/>
          </a:p>
        </p:txBody>
      </p:sp>
      <p:sp>
        <p:nvSpPr>
          <p:cNvPr id="12" name="Text 10"/>
          <p:cNvSpPr/>
          <p:nvPr/>
        </p:nvSpPr>
        <p:spPr>
          <a:xfrm>
            <a:off x="1397000" y="4742407"/>
            <a:ext cx="278507" cy="374650"/>
          </a:xfrm>
          <a:prstGeom prst="rect">
            <a:avLst/>
          </a:prstGeom>
          <a:noFill/>
          <a:ln/>
        </p:spPr>
        <p:txBody>
          <a:bodyPr wrap="square" lIns="25400" tIns="25400" rIns="25400" bIns="25400" rtlCol="0" anchor="t">
            <a:normAutofit/>
          </a:bodyPr>
          <a:lstStyle/>
          <a:p>
            <a:pPr algn="l" indent="0" marL="0">
              <a:buNone/>
            </a:pPr>
            <a:r>
              <a:rPr lang="en-US" sz="1950" dirty="0">
                <a:solidFill>
                  <a:srgbClr val="FFB46E"/>
                </a:solidFill>
                <a:latin typeface="Arial" pitchFamily="34" charset="0"/>
                <a:ea typeface="Arial" pitchFamily="34" charset="-122"/>
                <a:cs typeface="Arial" pitchFamily="34" charset="-120"/>
              </a:rPr>
              <a:t>✕</a:t>
            </a:r>
            <a:endParaRPr lang="en-US" sz="1950" dirty="0"/>
          </a:p>
        </p:txBody>
      </p:sp>
      <p:sp>
        <p:nvSpPr>
          <p:cNvPr id="13" name="Text 11"/>
          <p:cNvSpPr/>
          <p:nvPr/>
        </p:nvSpPr>
        <p:spPr>
          <a:xfrm>
            <a:off x="1732657" y="4742407"/>
            <a:ext cx="6963936" cy="371475"/>
          </a:xfrm>
          <a:prstGeom prst="rect">
            <a:avLst/>
          </a:prstGeom>
          <a:noFill/>
          <a:ln/>
        </p:spPr>
        <p:txBody>
          <a:bodyPr wrap="square" lIns="25400" tIns="25400" rIns="25400" bIns="25400" rtlCol="0" anchor="t">
            <a:normAutofit/>
          </a:bodyPr>
          <a:lstStyle/>
          <a:p>
            <a:pPr algn="l" indent="0" marL="0">
              <a:lnSpc>
                <a:spcPct val="122093"/>
              </a:lnSpc>
              <a:buNone/>
            </a:pPr>
            <a:r>
              <a:rPr lang="en-US" sz="1875" dirty="0">
                <a:solidFill>
                  <a:srgbClr val="8EA0B5"/>
                </a:solidFill>
                <a:latin typeface="Arial" pitchFamily="34" charset="0"/>
                <a:ea typeface="Arial" pitchFamily="34" charset="-122"/>
                <a:cs typeface="Arial" pitchFamily="34" charset="-120"/>
              </a:rPr>
              <a:t>Point unique de panne : le disque perdu = données perdues</a:t>
            </a:r>
            <a:endParaRPr lang="en-US" sz="1875" dirty="0"/>
          </a:p>
        </p:txBody>
      </p:sp>
      <p:sp>
        <p:nvSpPr>
          <p:cNvPr id="14" name="Shape 12"/>
          <p:cNvSpPr/>
          <p:nvPr/>
        </p:nvSpPr>
        <p:spPr>
          <a:xfrm>
            <a:off x="9286875" y="2370302"/>
            <a:ext cx="7934325" cy="7100392"/>
          </a:xfrm>
          <a:prstGeom prst="roundRect">
            <a:avLst>
              <a:gd name="adj" fmla="val 2415"/>
            </a:avLst>
          </a:prstGeom>
          <a:gradFill rotWithShape="1">
            <a:gsLst>
              <a:gs pos="0">
                <a:srgbClr val="55DCDC">
                  <a:alpha val="14000"/>
                </a:srgbClr>
              </a:gs>
              <a:gs pos="100000">
                <a:srgbClr val="FFFFFF">
                  <a:alpha val="3000"/>
                </a:srgbClr>
              </a:gs>
            </a:gsLst>
            <a:lin ang="4200000" scaled="0"/>
          </a:gradFill>
          <a:ln w="6350">
            <a:solidFill>
              <a:srgbClr val="82E3E3">
                <a:alpha val="35000"/>
              </a:srgbClr>
            </a:solidFill>
            <a:prstDash val="solid"/>
          </a:ln>
        </p:spPr>
      </p:sp>
      <p:sp>
        <p:nvSpPr>
          <p:cNvPr id="15" name="Text 13"/>
          <p:cNvSpPr/>
          <p:nvPr/>
        </p:nvSpPr>
        <p:spPr>
          <a:xfrm>
            <a:off x="9617075" y="2719552"/>
            <a:ext cx="8001318" cy="368300"/>
          </a:xfrm>
          <a:prstGeom prst="rect">
            <a:avLst/>
          </a:prstGeom>
          <a:noFill/>
          <a:ln/>
        </p:spPr>
        <p:txBody>
          <a:bodyPr wrap="square" lIns="25400" tIns="25400" rIns="25400" bIns="25400" rtlCol="0" anchor="t">
            <a:normAutofit/>
          </a:bodyPr>
          <a:lstStyle/>
          <a:p>
            <a:pPr algn="l" indent="0" marL="0">
              <a:buNone/>
            </a:pPr>
            <a:r>
              <a:rPr lang="en-US" sz="2250" b="1" dirty="0">
                <a:solidFill>
                  <a:srgbClr val="56DBDB">
                    <a:alpha val="99000"/>
                  </a:srgbClr>
                </a:solidFill>
                <a:latin typeface="Arial" pitchFamily="34" charset="0"/>
                <a:ea typeface="Arial" pitchFamily="34" charset="-122"/>
                <a:cs typeface="Arial" pitchFamily="34" charset="-120"/>
              </a:rPr>
              <a:t>Hadoop : le scale-out</a:t>
            </a:r>
            <a:endParaRPr lang="en-US" sz="2250" dirty="0"/>
          </a:p>
        </p:txBody>
      </p:sp>
      <p:sp>
        <p:nvSpPr>
          <p:cNvPr id="16" name="Text 14"/>
          <p:cNvSpPr/>
          <p:nvPr/>
        </p:nvSpPr>
        <p:spPr>
          <a:xfrm>
            <a:off x="9617075" y="3221202"/>
            <a:ext cx="7492143" cy="1073944"/>
          </a:xfrm>
          <a:prstGeom prst="rect">
            <a:avLst/>
          </a:prstGeom>
          <a:noFill/>
          <a:ln/>
        </p:spPr>
        <p:txBody>
          <a:bodyPr wrap="square" lIns="25400" tIns="25400" rIns="25400" bIns="25400" rtlCol="0" anchor="t">
            <a:normAutofit/>
          </a:bodyPr>
          <a:lstStyle/>
          <a:p>
            <a:pPr algn="l" indent="0" marL="0">
              <a:lnSpc>
                <a:spcPct val="126453"/>
              </a:lnSpc>
              <a:buNone/>
            </a:pPr>
            <a:r>
              <a:rPr lang="en-US" sz="1875" dirty="0">
                <a:solidFill>
                  <a:srgbClr val="8EA0B5">
                    <a:alpha val="99000"/>
                  </a:srgbClr>
                </a:solidFill>
                <a:latin typeface="Arial" pitchFamily="34" charset="0"/>
                <a:ea typeface="Arial" pitchFamily="34" charset="-122"/>
                <a:cs typeface="Arial" pitchFamily="34" charset="-120"/>
              </a:rPr>
              <a:t>Plutôt qu'un serveur très puissant (</a:t>
            </a:r>
            <a:pPr algn="l" indent="0" marL="0">
              <a:lnSpc>
                <a:spcPct val="126453"/>
              </a:lnSpc>
              <a:buNone/>
            </a:pPr>
            <a:r>
              <a:rPr lang="en-US" sz="1875" dirty="0">
                <a:solidFill>
                  <a:srgbClr val="EEF3F9">
                    <a:alpha val="99000"/>
                  </a:srgbClr>
                </a:solidFill>
                <a:latin typeface="Arial" pitchFamily="34" charset="0"/>
                <a:ea typeface="Arial" pitchFamily="34" charset="-122"/>
                <a:cs typeface="Arial" pitchFamily="34" charset="-120"/>
              </a:rPr>
              <a:t>scale-up </a:t>
            </a:r>
            <a:pPr algn="l" indent="0" marL="0">
              <a:lnSpc>
                <a:spcPct val="126453"/>
              </a:lnSpc>
              <a:buNone/>
            </a:pPr>
            <a:r>
              <a:rPr lang="en-US" sz="1875" dirty="0">
                <a:solidFill>
                  <a:srgbClr val="8EA0B5">
                    <a:alpha val="99000"/>
                  </a:srgbClr>
                </a:solidFill>
                <a:latin typeface="Arial" pitchFamily="34" charset="0"/>
                <a:ea typeface="Arial" pitchFamily="34" charset="-122"/>
                <a:cs typeface="Arial" pitchFamily="34" charset="-120"/>
              </a:rPr>
              <a:t>), répartir données et calcul sur un grand nombre de serveurs standards peu coûteux ( </a:t>
            </a:r>
            <a:pPr algn="l" indent="0" marL="0">
              <a:lnSpc>
                <a:spcPct val="126453"/>
              </a:lnSpc>
              <a:buNone/>
            </a:pPr>
            <a:r>
              <a:rPr lang="en-US" sz="1875" dirty="0">
                <a:solidFill>
                  <a:srgbClr val="EEF3F9">
                    <a:alpha val="99000"/>
                  </a:srgbClr>
                </a:solidFill>
                <a:latin typeface="Arial" pitchFamily="34" charset="0"/>
                <a:ea typeface="Arial" pitchFamily="34" charset="-122"/>
                <a:cs typeface="Arial" pitchFamily="34" charset="-120"/>
              </a:rPr>
              <a:t>scale-out</a:t>
            </a:r>
            <a:pPr algn="l" indent="0" marL="0">
              <a:lnSpc>
                <a:spcPct val="126453"/>
              </a:lnSpc>
              <a:buNone/>
            </a:pPr>
            <a:r>
              <a:rPr lang="en-US" sz="1875" dirty="0">
                <a:solidFill>
                  <a:srgbClr val="8EA0B5">
                    <a:alpha val="99000"/>
                  </a:srgbClr>
                </a:solidFill>
                <a:latin typeface="Arial" pitchFamily="34" charset="0"/>
                <a:ea typeface="Arial" pitchFamily="34" charset="-122"/>
                <a:cs typeface="Arial" pitchFamily="34" charset="-120"/>
              </a:rPr>
              <a:t>).</a:t>
            </a:r>
            <a:endParaRPr lang="en-US" sz="1875" dirty="0"/>
          </a:p>
        </p:txBody>
      </p:sp>
      <p:sp>
        <p:nvSpPr>
          <p:cNvPr id="17" name="Shape 15"/>
          <p:cNvSpPr/>
          <p:nvPr/>
        </p:nvSpPr>
        <p:spPr>
          <a:xfrm>
            <a:off x="9617075" y="8007713"/>
            <a:ext cx="3570288" cy="622300"/>
          </a:xfrm>
          <a:prstGeom prst="roundRect">
            <a:avLst>
              <a:gd name="adj" fmla="val 15306"/>
            </a:avLst>
          </a:prstGeom>
          <a:solidFill>
            <a:srgbClr val="FFFFFF">
              <a:alpha val="6000"/>
            </a:srgbClr>
          </a:solidFill>
          <a:ln w="6350">
            <a:solidFill>
              <a:srgbClr val="FFFFFF">
                <a:alpha val="10000"/>
              </a:srgbClr>
            </a:solidFill>
            <a:prstDash val="solid"/>
          </a:ln>
        </p:spPr>
      </p:sp>
      <p:sp>
        <p:nvSpPr>
          <p:cNvPr id="18" name="Text 16"/>
          <p:cNvSpPr/>
          <p:nvPr/>
        </p:nvSpPr>
        <p:spPr>
          <a:xfrm>
            <a:off x="9722271" y="8166463"/>
            <a:ext cx="3359896"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56DBDB">
                    <a:alpha val="99000"/>
                  </a:srgbClr>
                </a:solidFill>
                <a:latin typeface="Courier New" pitchFamily="34" charset="0"/>
                <a:ea typeface="Courier New" pitchFamily="34" charset="-122"/>
                <a:cs typeface="Courier New" pitchFamily="34" charset="-120"/>
              </a:rPr>
              <a:t>stocker</a:t>
            </a:r>
            <a:endParaRPr lang="en-US" sz="1800" dirty="0"/>
          </a:p>
        </p:txBody>
      </p:sp>
      <p:sp>
        <p:nvSpPr>
          <p:cNvPr id="19" name="Shape 17"/>
          <p:cNvSpPr/>
          <p:nvPr/>
        </p:nvSpPr>
        <p:spPr>
          <a:xfrm>
            <a:off x="13320713" y="8007713"/>
            <a:ext cx="3570288" cy="622300"/>
          </a:xfrm>
          <a:prstGeom prst="roundRect">
            <a:avLst>
              <a:gd name="adj" fmla="val 15306"/>
            </a:avLst>
          </a:prstGeom>
          <a:solidFill>
            <a:srgbClr val="FFFFFF">
              <a:alpha val="6000"/>
            </a:srgbClr>
          </a:solidFill>
          <a:ln w="6350">
            <a:solidFill>
              <a:srgbClr val="FFFFFF">
                <a:alpha val="10000"/>
              </a:srgbClr>
            </a:solidFill>
            <a:prstDash val="solid"/>
          </a:ln>
        </p:spPr>
      </p:sp>
      <p:sp>
        <p:nvSpPr>
          <p:cNvPr id="20" name="Text 18"/>
          <p:cNvSpPr/>
          <p:nvPr/>
        </p:nvSpPr>
        <p:spPr>
          <a:xfrm>
            <a:off x="13425908" y="8166463"/>
            <a:ext cx="3359896"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56DBDB">
                    <a:alpha val="99000"/>
                  </a:srgbClr>
                </a:solidFill>
                <a:latin typeface="Courier New" pitchFamily="34" charset="0"/>
                <a:ea typeface="Courier New" pitchFamily="34" charset="-122"/>
                <a:cs typeface="Courier New" pitchFamily="34" charset="-120"/>
              </a:rPr>
              <a:t>traiter</a:t>
            </a:r>
            <a:endParaRPr lang="en-US" sz="1800" dirty="0"/>
          </a:p>
        </p:txBody>
      </p:sp>
      <p:sp>
        <p:nvSpPr>
          <p:cNvPr id="21" name="Text 19"/>
          <p:cNvSpPr/>
          <p:nvPr/>
        </p:nvSpPr>
        <p:spPr>
          <a:xfrm>
            <a:off x="9617075" y="8801463"/>
            <a:ext cx="8001318" cy="358081"/>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8EA0B5">
                    <a:alpha val="99000"/>
                  </a:srgbClr>
                </a:solidFill>
                <a:latin typeface="Arial" pitchFamily="34" charset="0"/>
                <a:ea typeface="Arial" pitchFamily="34" charset="-122"/>
                <a:cs typeface="Arial" pitchFamily="34" charset="-120"/>
              </a:rPr>
              <a:t>La même scalabilité horizontale qui sous-tend tout le module.</a:t>
            </a:r>
            <a:endParaRPr lang="en-US" sz="1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C121C"/>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56DBDB">
                    <a:alpha val="97000"/>
                  </a:srgbClr>
                </a:solidFill>
                <a:latin typeface="Courier New" pitchFamily="34" charset="0"/>
                <a:ea typeface="Courier New" pitchFamily="34" charset="-122"/>
                <a:cs typeface="Courier New" pitchFamily="34" charset="-120"/>
              </a:rPr>
              <a:t>ATELIER 4.1 · ARCHITECTURE</a:t>
            </a:r>
            <a:endParaRPr lang="en-US" sz="1800" dirty="0"/>
          </a:p>
        </p:txBody>
      </p:sp>
      <p:sp>
        <p:nvSpPr>
          <p:cNvPr id="3" name="Text 1"/>
          <p:cNvSpPr/>
          <p:nvPr/>
        </p:nvSpPr>
        <p:spPr>
          <a:xfrm>
            <a:off x="1066800" y="1276351"/>
            <a:ext cx="17769840"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Architecture Hadoop 2.x : nœuds de contrôle et de calcul</a:t>
            </a:r>
            <a:endParaRPr lang="en-US" sz="4800" dirty="0"/>
          </a:p>
        </p:txBody>
      </p:sp>
      <p:sp>
        <p:nvSpPr>
          <p:cNvPr id="4" name="Text 2"/>
          <p:cNvSpPr/>
          <p:nvPr/>
        </p:nvSpPr>
        <p:spPr>
          <a:xfrm>
            <a:off x="1066800" y="2157910"/>
            <a:ext cx="7711440" cy="342900"/>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8EA0B5"/>
                </a:solidFill>
                <a:latin typeface="Courier New" pitchFamily="34" charset="0"/>
                <a:ea typeface="Courier New" pitchFamily="34" charset="-122"/>
                <a:cs typeface="Courier New" pitchFamily="34" charset="-120"/>
              </a:rPr>
              <a:t>COUCHES LOGICIELLES</a:t>
            </a:r>
            <a:endParaRPr lang="en-US" sz="1800" dirty="0"/>
          </a:p>
        </p:txBody>
      </p:sp>
      <p:sp>
        <p:nvSpPr>
          <p:cNvPr id="5" name="Shape 3"/>
          <p:cNvSpPr/>
          <p:nvPr/>
        </p:nvSpPr>
        <p:spPr>
          <a:xfrm>
            <a:off x="2870200" y="2548435"/>
            <a:ext cx="3403600" cy="546100"/>
          </a:xfrm>
          <a:prstGeom prst="roundRect">
            <a:avLst>
              <a:gd name="adj" fmla="val 17442"/>
            </a:avLst>
          </a:prstGeom>
          <a:solidFill>
            <a:srgbClr val="FFFFFF">
              <a:alpha val="6000"/>
            </a:srgbClr>
          </a:solidFill>
          <a:ln w="6350">
            <a:solidFill>
              <a:srgbClr val="FFFFFF">
                <a:alpha val="10000"/>
              </a:srgbClr>
            </a:solidFill>
            <a:prstDash val="solid"/>
          </a:ln>
        </p:spPr>
      </p:sp>
      <p:sp>
        <p:nvSpPr>
          <p:cNvPr id="6" name="Text 4"/>
          <p:cNvSpPr/>
          <p:nvPr/>
        </p:nvSpPr>
        <p:spPr>
          <a:xfrm>
            <a:off x="3200400" y="2669085"/>
            <a:ext cx="2845308" cy="342900"/>
          </a:xfrm>
          <a:prstGeom prst="rect">
            <a:avLst/>
          </a:prstGeom>
          <a:noFill/>
          <a:ln/>
        </p:spPr>
        <p:txBody>
          <a:bodyPr wrap="square" lIns="25400" tIns="25400" rIns="25400" bIns="25400" rtlCol="0" anchor="t">
            <a:normAutofit/>
          </a:bodyPr>
          <a:lstStyle/>
          <a:p>
            <a:pPr algn="l" indent="0" marL="0">
              <a:buNone/>
            </a:pPr>
            <a:r>
              <a:rPr lang="en-US" sz="1800" dirty="0">
                <a:solidFill>
                  <a:srgbClr val="EEF3F9"/>
                </a:solidFill>
                <a:latin typeface="Courier New" pitchFamily="34" charset="0"/>
                <a:ea typeface="Courier New" pitchFamily="34" charset="-122"/>
                <a:cs typeface="Courier New" pitchFamily="34" charset="-120"/>
              </a:rPr>
              <a:t>Client / Utilisateur</a:t>
            </a:r>
            <a:endParaRPr lang="en-US" sz="1800" dirty="0"/>
          </a:p>
        </p:txBody>
      </p:sp>
      <p:sp>
        <p:nvSpPr>
          <p:cNvPr id="7" name="Shape 5"/>
          <p:cNvSpPr/>
          <p:nvPr/>
        </p:nvSpPr>
        <p:spPr>
          <a:xfrm>
            <a:off x="4562475" y="3180260"/>
            <a:ext cx="19050" cy="114300"/>
          </a:xfrm>
          <a:prstGeom prst="rect">
            <a:avLst/>
          </a:prstGeom>
          <a:solidFill>
            <a:srgbClr val="56DBDB">
              <a:alpha val="69000"/>
            </a:srgbClr>
          </a:solidFill>
          <a:ln/>
        </p:spPr>
      </p:sp>
      <p:sp>
        <p:nvSpPr>
          <p:cNvPr id="8" name="Shape 6"/>
          <p:cNvSpPr/>
          <p:nvPr/>
        </p:nvSpPr>
        <p:spPr>
          <a:xfrm>
            <a:off x="1066800" y="3380285"/>
            <a:ext cx="3457575" cy="911225"/>
          </a:xfrm>
          <a:prstGeom prst="roundRect">
            <a:avLst>
              <a:gd name="adj" fmla="val 10453"/>
            </a:avLst>
          </a:prstGeom>
          <a:gradFill rotWithShape="1">
            <a:gsLst>
              <a:gs pos="0">
                <a:srgbClr val="FFB66D">
                  <a:alpha val="22000"/>
                </a:srgbClr>
              </a:gs>
              <a:gs pos="100000">
                <a:srgbClr val="FFFFFF">
                  <a:alpha val="6000"/>
                </a:srgbClr>
              </a:gs>
            </a:gsLst>
            <a:lin ang="4200000" scaled="0"/>
          </a:gradFill>
          <a:ln w="6350">
            <a:solidFill>
              <a:srgbClr val="FFBE82">
                <a:alpha val="46000"/>
              </a:srgbClr>
            </a:solidFill>
            <a:prstDash val="solid"/>
          </a:ln>
        </p:spPr>
      </p:sp>
      <p:sp>
        <p:nvSpPr>
          <p:cNvPr id="9" name="Text 7"/>
          <p:cNvSpPr/>
          <p:nvPr/>
        </p:nvSpPr>
        <p:spPr>
          <a:xfrm>
            <a:off x="1047591" y="3519985"/>
            <a:ext cx="3495993"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FFB46E"/>
                </a:solidFill>
                <a:latin typeface="Courier New" pitchFamily="34" charset="0"/>
                <a:ea typeface="Courier New" pitchFamily="34" charset="-122"/>
                <a:cs typeface="Courier New" pitchFamily="34" charset="-120"/>
              </a:rPr>
              <a:t>Hive</a:t>
            </a:r>
            <a:endParaRPr lang="en-US" sz="1800" dirty="0"/>
          </a:p>
        </p:txBody>
      </p:sp>
      <p:sp>
        <p:nvSpPr>
          <p:cNvPr id="10" name="Text 8"/>
          <p:cNvSpPr/>
          <p:nvPr/>
        </p:nvSpPr>
        <p:spPr>
          <a:xfrm>
            <a:off x="1047591" y="3853360"/>
            <a:ext cx="3495993" cy="336550"/>
          </a:xfrm>
          <a:prstGeom prst="rect">
            <a:avLst/>
          </a:prstGeom>
          <a:noFill/>
          <a:ln/>
        </p:spPr>
        <p:txBody>
          <a:bodyPr wrap="square" lIns="25400" tIns="25400" rIns="25400" bIns="25400" rtlCol="0" anchor="t">
            <a:normAutofit/>
          </a:bodyPr>
          <a:lstStyle/>
          <a:p>
            <a:pPr algn="ctr" indent="0" marL="0">
              <a:buNone/>
            </a:pPr>
            <a:r>
              <a:rPr lang="en-US" sz="1800" dirty="0">
                <a:solidFill>
                  <a:srgbClr val="8EA0B5"/>
                </a:solidFill>
                <a:latin typeface="Arial" pitchFamily="34" charset="0"/>
                <a:ea typeface="Arial" pitchFamily="34" charset="-122"/>
                <a:cs typeface="Arial" pitchFamily="34" charset="-120"/>
              </a:rPr>
              <a:t>couche SQL</a:t>
            </a:r>
            <a:endParaRPr lang="en-US" sz="1800" dirty="0"/>
          </a:p>
        </p:txBody>
      </p:sp>
      <p:sp>
        <p:nvSpPr>
          <p:cNvPr id="11" name="Shape 9"/>
          <p:cNvSpPr/>
          <p:nvPr/>
        </p:nvSpPr>
        <p:spPr>
          <a:xfrm>
            <a:off x="4619625" y="3380285"/>
            <a:ext cx="3457575" cy="911225"/>
          </a:xfrm>
          <a:prstGeom prst="roundRect">
            <a:avLst>
              <a:gd name="adj" fmla="val 10453"/>
            </a:avLst>
          </a:prstGeom>
          <a:gradFill rotWithShape="1">
            <a:gsLst>
              <a:gs pos="0">
                <a:srgbClr val="57DBDB">
                  <a:alpha val="22000"/>
                </a:srgbClr>
              </a:gs>
              <a:gs pos="100000">
                <a:srgbClr val="FFFFFF">
                  <a:alpha val="6000"/>
                </a:srgbClr>
              </a:gs>
            </a:gsLst>
            <a:lin ang="4200000" scaled="0"/>
          </a:gradFill>
          <a:ln w="6350">
            <a:solidFill>
              <a:srgbClr val="75E1E1">
                <a:alpha val="46000"/>
              </a:srgbClr>
            </a:solidFill>
            <a:prstDash val="solid"/>
          </a:ln>
        </p:spPr>
      </p:sp>
      <p:sp>
        <p:nvSpPr>
          <p:cNvPr id="12" name="Text 10"/>
          <p:cNvSpPr/>
          <p:nvPr/>
        </p:nvSpPr>
        <p:spPr>
          <a:xfrm>
            <a:off x="4600416" y="3519985"/>
            <a:ext cx="3495993"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56DBDB"/>
                </a:solidFill>
                <a:latin typeface="Courier New" pitchFamily="34" charset="0"/>
                <a:ea typeface="Courier New" pitchFamily="34" charset="-122"/>
                <a:cs typeface="Courier New" pitchFamily="34" charset="-120"/>
              </a:rPr>
              <a:t>Spark</a:t>
            </a:r>
            <a:endParaRPr lang="en-US" sz="1800" dirty="0"/>
          </a:p>
        </p:txBody>
      </p:sp>
      <p:sp>
        <p:nvSpPr>
          <p:cNvPr id="13" name="Text 11"/>
          <p:cNvSpPr/>
          <p:nvPr/>
        </p:nvSpPr>
        <p:spPr>
          <a:xfrm>
            <a:off x="4600416" y="3853360"/>
            <a:ext cx="3495993" cy="336550"/>
          </a:xfrm>
          <a:prstGeom prst="rect">
            <a:avLst/>
          </a:prstGeom>
          <a:noFill/>
          <a:ln/>
        </p:spPr>
        <p:txBody>
          <a:bodyPr wrap="square" lIns="25400" tIns="25400" rIns="25400" bIns="25400" rtlCol="0" anchor="t">
            <a:normAutofit/>
          </a:bodyPr>
          <a:lstStyle/>
          <a:p>
            <a:pPr algn="ctr" indent="0" marL="0">
              <a:buNone/>
            </a:pPr>
            <a:r>
              <a:rPr lang="en-US" sz="1800" dirty="0">
                <a:solidFill>
                  <a:srgbClr val="8EA0B5"/>
                </a:solidFill>
                <a:latin typeface="Arial" pitchFamily="34" charset="0"/>
                <a:ea typeface="Arial" pitchFamily="34" charset="-122"/>
                <a:cs typeface="Arial" pitchFamily="34" charset="-120"/>
              </a:rPr>
              <a:t>moteur de calcul</a:t>
            </a:r>
            <a:endParaRPr lang="en-US" sz="1800" dirty="0"/>
          </a:p>
        </p:txBody>
      </p:sp>
      <p:sp>
        <p:nvSpPr>
          <p:cNvPr id="14" name="Text 12"/>
          <p:cNvSpPr/>
          <p:nvPr/>
        </p:nvSpPr>
        <p:spPr>
          <a:xfrm>
            <a:off x="716280" y="4377235"/>
            <a:ext cx="7711440" cy="336550"/>
          </a:xfrm>
          <a:prstGeom prst="rect">
            <a:avLst/>
          </a:prstGeom>
          <a:noFill/>
          <a:ln/>
        </p:spPr>
        <p:txBody>
          <a:bodyPr wrap="square" lIns="25400" tIns="25400" rIns="25400" bIns="25400" rtlCol="0" anchor="t">
            <a:normAutofit/>
          </a:bodyPr>
          <a:lstStyle/>
          <a:p>
            <a:pPr algn="ctr" indent="0" marL="0">
              <a:buNone/>
            </a:pPr>
            <a:r>
              <a:rPr lang="en-US" sz="1800" dirty="0">
                <a:solidFill>
                  <a:srgbClr val="8EA0B5"/>
                </a:solidFill>
                <a:latin typeface="Arial" pitchFamily="34" charset="0"/>
                <a:ea typeface="Arial" pitchFamily="34" charset="-122"/>
                <a:cs typeface="Arial" pitchFamily="34" charset="-120"/>
              </a:rPr>
              <a:t>applications</a:t>
            </a:r>
            <a:endParaRPr lang="en-US" sz="1800" dirty="0"/>
          </a:p>
        </p:txBody>
      </p:sp>
      <p:sp>
        <p:nvSpPr>
          <p:cNvPr id="15" name="Shape 13"/>
          <p:cNvSpPr/>
          <p:nvPr/>
        </p:nvSpPr>
        <p:spPr>
          <a:xfrm>
            <a:off x="4562475" y="4761410"/>
            <a:ext cx="19050" cy="114300"/>
          </a:xfrm>
          <a:prstGeom prst="rect">
            <a:avLst/>
          </a:prstGeom>
          <a:solidFill>
            <a:srgbClr val="B897F0">
              <a:alpha val="69000"/>
            </a:srgbClr>
          </a:solidFill>
          <a:ln/>
        </p:spPr>
      </p:sp>
      <p:sp>
        <p:nvSpPr>
          <p:cNvPr id="16" name="Shape 14"/>
          <p:cNvSpPr/>
          <p:nvPr/>
        </p:nvSpPr>
        <p:spPr>
          <a:xfrm>
            <a:off x="1047093" y="4959846"/>
            <a:ext cx="7049815" cy="568327"/>
          </a:xfrm>
          <a:prstGeom prst="roundRect">
            <a:avLst>
              <a:gd name="adj" fmla="val 16854"/>
            </a:avLst>
          </a:prstGeom>
          <a:solidFill>
            <a:srgbClr val="FFFFFF">
              <a:alpha val="6000"/>
            </a:srgbClr>
          </a:solidFill>
          <a:ln w="6386">
            <a:solidFill>
              <a:srgbClr val="C4A9F5">
                <a:alpha val="41000"/>
              </a:srgbClr>
            </a:solidFill>
            <a:prstDash val="solid"/>
          </a:ln>
        </p:spPr>
      </p:sp>
      <p:sp>
        <p:nvSpPr>
          <p:cNvPr id="17" name="Text 15"/>
          <p:cNvSpPr/>
          <p:nvPr/>
        </p:nvSpPr>
        <p:spPr>
          <a:xfrm>
            <a:off x="1072252" y="5090753"/>
            <a:ext cx="6999496" cy="344614"/>
          </a:xfrm>
          <a:prstGeom prst="rect">
            <a:avLst/>
          </a:prstGeom>
          <a:noFill/>
          <a:ln/>
        </p:spPr>
        <p:txBody>
          <a:bodyPr wrap="square" lIns="25400" tIns="25400" rIns="25400" bIns="25400" rtlCol="0" anchor="t">
            <a:normAutofit/>
          </a:bodyPr>
          <a:lstStyle/>
          <a:p>
            <a:pPr algn="ctr" indent="0" marL="0">
              <a:buNone/>
            </a:pPr>
            <a:r>
              <a:rPr lang="en-US" sz="1810" dirty="0">
                <a:solidFill>
                  <a:srgbClr val="B897F0"/>
                </a:solidFill>
                <a:highlight>
                  <a:srgbClr val="FFFFFF"/>
                </a:highlight>
                <a:latin typeface="Courier New" pitchFamily="34" charset="0"/>
                <a:ea typeface="Courier New" pitchFamily="34" charset="-122"/>
                <a:cs typeface="Courier New" pitchFamily="34" charset="-120"/>
              </a:rPr>
              <a:t>YARN </a:t>
            </a:r>
            <a:pPr algn="ctr" indent="0" marL="0">
              <a:buNone/>
            </a:pPr>
            <a:r>
              <a:rPr lang="en-US" sz="1810" dirty="0">
                <a:solidFill>
                  <a:srgbClr val="8EA0B5"/>
                </a:solidFill>
                <a:latin typeface="Courier New" pitchFamily="34" charset="0"/>
                <a:ea typeface="Courier New" pitchFamily="34" charset="-122"/>
                <a:cs typeface="Courier New" pitchFamily="34" charset="-120"/>
              </a:rPr>
              <a:t>· gestion des ressources</a:t>
            </a:r>
            <a:endParaRPr lang="en-US" sz="1810" dirty="0"/>
          </a:p>
        </p:txBody>
      </p:sp>
      <p:sp>
        <p:nvSpPr>
          <p:cNvPr id="18" name="Shape 16"/>
          <p:cNvSpPr/>
          <p:nvPr/>
        </p:nvSpPr>
        <p:spPr>
          <a:xfrm>
            <a:off x="4562475" y="5612310"/>
            <a:ext cx="19050" cy="114300"/>
          </a:xfrm>
          <a:prstGeom prst="rect">
            <a:avLst/>
          </a:prstGeom>
          <a:solidFill>
            <a:srgbClr val="56DBDB">
              <a:alpha val="69000"/>
            </a:srgbClr>
          </a:solidFill>
          <a:ln/>
        </p:spPr>
      </p:sp>
      <p:sp>
        <p:nvSpPr>
          <p:cNvPr id="19" name="Shape 17"/>
          <p:cNvSpPr/>
          <p:nvPr/>
        </p:nvSpPr>
        <p:spPr>
          <a:xfrm>
            <a:off x="1030954" y="5809445"/>
            <a:ext cx="7082092" cy="570930"/>
          </a:xfrm>
          <a:prstGeom prst="roundRect">
            <a:avLst>
              <a:gd name="adj" fmla="val 16854"/>
            </a:avLst>
          </a:prstGeom>
          <a:solidFill>
            <a:srgbClr val="FFFFFF">
              <a:alpha val="6000"/>
            </a:srgbClr>
          </a:solidFill>
          <a:ln w="6415">
            <a:solidFill>
              <a:srgbClr val="7BE2E2">
                <a:alpha val="41000"/>
              </a:srgbClr>
            </a:solidFill>
            <a:prstDash val="solid"/>
          </a:ln>
        </p:spPr>
      </p:sp>
      <p:sp>
        <p:nvSpPr>
          <p:cNvPr id="20" name="Text 18"/>
          <p:cNvSpPr/>
          <p:nvPr/>
        </p:nvSpPr>
        <p:spPr>
          <a:xfrm>
            <a:off x="1056229" y="5940952"/>
            <a:ext cx="7031542" cy="346016"/>
          </a:xfrm>
          <a:prstGeom prst="rect">
            <a:avLst/>
          </a:prstGeom>
          <a:noFill/>
          <a:ln/>
        </p:spPr>
        <p:txBody>
          <a:bodyPr wrap="square" lIns="25400" tIns="25400" rIns="25400" bIns="25400" rtlCol="0" anchor="t">
            <a:normAutofit/>
          </a:bodyPr>
          <a:lstStyle/>
          <a:p>
            <a:pPr algn="ctr" indent="0" marL="0">
              <a:buNone/>
            </a:pPr>
            <a:r>
              <a:rPr lang="en-US" sz="1818" dirty="0">
                <a:solidFill>
                  <a:srgbClr val="56DBDB"/>
                </a:solidFill>
                <a:highlight>
                  <a:srgbClr val="FFFFFF"/>
                </a:highlight>
                <a:latin typeface="Courier New" pitchFamily="34" charset="0"/>
                <a:ea typeface="Courier New" pitchFamily="34" charset="-122"/>
                <a:cs typeface="Courier New" pitchFamily="34" charset="-120"/>
              </a:rPr>
              <a:t>HDFS </a:t>
            </a:r>
            <a:pPr algn="ctr" indent="0" marL="0">
              <a:buNone/>
            </a:pPr>
            <a:r>
              <a:rPr lang="en-US" sz="1818" dirty="0">
                <a:solidFill>
                  <a:srgbClr val="8EA0B5"/>
                </a:solidFill>
                <a:latin typeface="Courier New" pitchFamily="34" charset="0"/>
                <a:ea typeface="Courier New" pitchFamily="34" charset="-122"/>
                <a:cs typeface="Courier New" pitchFamily="34" charset="-120"/>
              </a:rPr>
              <a:t>· stockage distribué</a:t>
            </a:r>
            <a:endParaRPr lang="en-US" sz="1818" dirty="0"/>
          </a:p>
        </p:txBody>
      </p:sp>
      <p:sp>
        <p:nvSpPr>
          <p:cNvPr id="21" name="Text 19"/>
          <p:cNvSpPr/>
          <p:nvPr/>
        </p:nvSpPr>
        <p:spPr>
          <a:xfrm>
            <a:off x="8458200" y="2160904"/>
            <a:ext cx="9639300" cy="342900"/>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8EA0B5">
                    <a:alpha val="99000"/>
                  </a:srgbClr>
                </a:solidFill>
                <a:latin typeface="Courier New" pitchFamily="34" charset="0"/>
                <a:ea typeface="Courier New" pitchFamily="34" charset="-122"/>
                <a:cs typeface="Courier New" pitchFamily="34" charset="-120"/>
              </a:rPr>
              <a:t>ARCHITECTURE PHYSIQUE</a:t>
            </a:r>
            <a:endParaRPr lang="en-US" sz="1800" dirty="0"/>
          </a:p>
        </p:txBody>
      </p:sp>
      <p:sp>
        <p:nvSpPr>
          <p:cNvPr id="22" name="Shape 20"/>
          <p:cNvSpPr/>
          <p:nvPr/>
        </p:nvSpPr>
        <p:spPr>
          <a:xfrm>
            <a:off x="8408880" y="2570497"/>
            <a:ext cx="8861642" cy="1708113"/>
          </a:xfrm>
          <a:prstGeom prst="roundRect">
            <a:avLst>
              <a:gd name="adj" fmla="val 7895"/>
            </a:avLst>
          </a:prstGeom>
          <a:gradFill rotWithShape="1">
            <a:gsLst>
              <a:gs pos="0">
                <a:srgbClr val="52DEDE">
                  <a:alpha val="12000"/>
                </a:srgbClr>
              </a:gs>
              <a:gs pos="100000">
                <a:srgbClr val="FFFFFF">
                  <a:alpha val="3000"/>
                </a:srgbClr>
              </a:gs>
            </a:gsLst>
            <a:lin ang="4200000" scaled="0"/>
          </a:gradFill>
          <a:ln w="6422">
            <a:solidFill>
              <a:srgbClr val="81E4E1">
                <a:alpha val="37000"/>
              </a:srgbClr>
            </a:solidFill>
            <a:prstDash val="solid"/>
          </a:ln>
        </p:spPr>
      </p:sp>
      <p:sp>
        <p:nvSpPr>
          <p:cNvPr id="23" name="Text 21"/>
          <p:cNvSpPr/>
          <p:nvPr/>
        </p:nvSpPr>
        <p:spPr>
          <a:xfrm>
            <a:off x="8646475" y="2769563"/>
            <a:ext cx="9225097" cy="333488"/>
          </a:xfrm>
          <a:prstGeom prst="rect">
            <a:avLst/>
          </a:prstGeom>
          <a:noFill/>
          <a:ln/>
        </p:spPr>
        <p:txBody>
          <a:bodyPr wrap="square" lIns="25400" tIns="25400" rIns="25400" bIns="25400" rtlCol="0" anchor="t">
            <a:normAutofit/>
          </a:bodyPr>
          <a:lstStyle/>
          <a:p>
            <a:pPr algn="l" indent="0" marL="0">
              <a:buNone/>
            </a:pPr>
            <a:r>
              <a:rPr lang="en-US" sz="1972" b="1" dirty="0">
                <a:solidFill>
                  <a:srgbClr val="56DBDB">
                    <a:alpha val="99000"/>
                  </a:srgbClr>
                </a:solidFill>
                <a:latin typeface="Arial" pitchFamily="34" charset="0"/>
                <a:ea typeface="Arial" pitchFamily="34" charset="-122"/>
                <a:cs typeface="Arial" pitchFamily="34" charset="-120"/>
              </a:rPr>
              <a:t>Nœud de contrôle </a:t>
            </a:r>
            <a:pPr algn="l" indent="0" marL="0">
              <a:buNone/>
            </a:pPr>
            <a:r>
              <a:rPr lang="en-US" sz="1820" b="1" dirty="0">
                <a:solidFill>
                  <a:srgbClr val="8EA0B5">
                    <a:alpha val="99000"/>
                  </a:srgbClr>
                </a:solidFill>
                <a:latin typeface="Courier New" pitchFamily="34" charset="0"/>
                <a:ea typeface="Courier New" pitchFamily="34" charset="-122"/>
                <a:cs typeface="Courier New" pitchFamily="34" charset="-120"/>
              </a:rPr>
              <a:t>control node</a:t>
            </a:r>
            <a:endParaRPr lang="en-US" sz="1972" dirty="0"/>
          </a:p>
        </p:txBody>
      </p:sp>
      <p:sp>
        <p:nvSpPr>
          <p:cNvPr id="24" name="Shape 22"/>
          <p:cNvSpPr/>
          <p:nvPr/>
        </p:nvSpPr>
        <p:spPr>
          <a:xfrm>
            <a:off x="8646475" y="3199802"/>
            <a:ext cx="2731236" cy="879742"/>
          </a:xfrm>
          <a:prstGeom prst="roundRect">
            <a:avLst>
              <a:gd name="adj" fmla="val 8759"/>
            </a:avLst>
          </a:prstGeom>
          <a:solidFill>
            <a:srgbClr val="FFFFFF">
              <a:alpha val="6000"/>
            </a:srgbClr>
          </a:solidFill>
          <a:ln w="6422">
            <a:solidFill>
              <a:srgbClr val="FFFFFF">
                <a:alpha val="10000"/>
              </a:srgbClr>
            </a:solidFill>
            <a:prstDash val="solid"/>
          </a:ln>
        </p:spPr>
      </p:sp>
      <p:sp>
        <p:nvSpPr>
          <p:cNvPr id="25" name="Text 23"/>
          <p:cNvSpPr/>
          <p:nvPr/>
        </p:nvSpPr>
        <p:spPr>
          <a:xfrm>
            <a:off x="9457187" y="3321810"/>
            <a:ext cx="1185911" cy="346331"/>
          </a:xfrm>
          <a:prstGeom prst="rect">
            <a:avLst/>
          </a:prstGeom>
          <a:noFill/>
          <a:ln/>
        </p:spPr>
        <p:txBody>
          <a:bodyPr wrap="square" lIns="0" tIns="0" rIns="0" bIns="0" rtlCol="0" anchor="t">
            <a:normAutofit/>
          </a:bodyPr>
          <a:lstStyle/>
          <a:p>
            <a:pPr algn="ctr" indent="0" marL="0">
              <a:buNone/>
            </a:pPr>
            <a:r>
              <a:rPr lang="en-US" sz="1820" dirty="0">
                <a:solidFill>
                  <a:srgbClr val="EEF3F9">
                    <a:alpha val="99000"/>
                  </a:srgbClr>
                </a:solidFill>
                <a:latin typeface="Courier New" pitchFamily="34" charset="0"/>
                <a:ea typeface="Courier New" pitchFamily="34" charset="-122"/>
                <a:cs typeface="Courier New" pitchFamily="34" charset="-120"/>
              </a:rPr>
              <a:t>NameNode</a:t>
            </a:r>
            <a:endParaRPr lang="en-US" sz="1820" dirty="0"/>
          </a:p>
        </p:txBody>
      </p:sp>
      <p:sp>
        <p:nvSpPr>
          <p:cNvPr id="26" name="Text 24"/>
          <p:cNvSpPr/>
          <p:nvPr/>
        </p:nvSpPr>
        <p:spPr>
          <a:xfrm>
            <a:off x="8644122" y="3649305"/>
            <a:ext cx="2735942" cy="346331"/>
          </a:xfrm>
          <a:prstGeom prst="rect">
            <a:avLst/>
          </a:prstGeom>
          <a:noFill/>
          <a:ln/>
        </p:spPr>
        <p:txBody>
          <a:bodyPr wrap="square" lIns="25400" tIns="25400" rIns="25400" bIns="25400" rtlCol="0" anchor="t">
            <a:normAutofit/>
          </a:bodyPr>
          <a:lstStyle/>
          <a:p>
            <a:pPr algn="ctr" indent="0" marL="0">
              <a:buNone/>
            </a:pPr>
            <a:r>
              <a:rPr lang="en-US" sz="1820" dirty="0">
                <a:solidFill>
                  <a:srgbClr val="8EA0B5">
                    <a:alpha val="99000"/>
                  </a:srgbClr>
                </a:solidFill>
                <a:latin typeface="Courier New" pitchFamily="34" charset="0"/>
                <a:ea typeface="Courier New" pitchFamily="34" charset="-122"/>
                <a:cs typeface="Courier New" pitchFamily="34" charset="-120"/>
              </a:rPr>
              <a:t>HDFS</a:t>
            </a:r>
            <a:endParaRPr lang="en-US" sz="1820" dirty="0"/>
          </a:p>
        </p:txBody>
      </p:sp>
      <p:sp>
        <p:nvSpPr>
          <p:cNvPr id="27" name="Shape 25"/>
          <p:cNvSpPr/>
          <p:nvPr/>
        </p:nvSpPr>
        <p:spPr>
          <a:xfrm>
            <a:off x="11474032" y="3199802"/>
            <a:ext cx="2731336" cy="879742"/>
          </a:xfrm>
          <a:prstGeom prst="roundRect">
            <a:avLst>
              <a:gd name="adj" fmla="val 8759"/>
            </a:avLst>
          </a:prstGeom>
          <a:solidFill>
            <a:srgbClr val="FFFFFF">
              <a:alpha val="6000"/>
            </a:srgbClr>
          </a:solidFill>
          <a:ln w="6422">
            <a:solidFill>
              <a:srgbClr val="FFFFFF">
                <a:alpha val="10000"/>
              </a:srgbClr>
            </a:solidFill>
            <a:prstDash val="solid"/>
          </a:ln>
        </p:spPr>
      </p:sp>
      <p:sp>
        <p:nvSpPr>
          <p:cNvPr id="28" name="Text 26"/>
          <p:cNvSpPr/>
          <p:nvPr/>
        </p:nvSpPr>
        <p:spPr>
          <a:xfrm>
            <a:off x="12076749" y="3321810"/>
            <a:ext cx="1602002" cy="346331"/>
          </a:xfrm>
          <a:prstGeom prst="rect">
            <a:avLst/>
          </a:prstGeom>
          <a:noFill/>
          <a:ln/>
        </p:spPr>
        <p:txBody>
          <a:bodyPr wrap="square" lIns="0" tIns="0" rIns="0" bIns="0" rtlCol="0" anchor="t">
            <a:normAutofit/>
          </a:bodyPr>
          <a:lstStyle/>
          <a:p>
            <a:pPr algn="ctr" indent="0" marL="0">
              <a:buNone/>
            </a:pPr>
            <a:r>
              <a:rPr lang="en-US" sz="1820" dirty="0">
                <a:solidFill>
                  <a:srgbClr val="EEF3F9">
                    <a:alpha val="99000"/>
                  </a:srgbClr>
                </a:solidFill>
                <a:latin typeface="Courier New" pitchFamily="34" charset="0"/>
                <a:ea typeface="Courier New" pitchFamily="34" charset="-122"/>
                <a:cs typeface="Courier New" pitchFamily="34" charset="-120"/>
              </a:rPr>
              <a:t>ResourceMgr</a:t>
            </a:r>
            <a:endParaRPr lang="en-US" sz="1820" dirty="0"/>
          </a:p>
        </p:txBody>
      </p:sp>
      <p:sp>
        <p:nvSpPr>
          <p:cNvPr id="29" name="Text 27"/>
          <p:cNvSpPr/>
          <p:nvPr/>
        </p:nvSpPr>
        <p:spPr>
          <a:xfrm>
            <a:off x="11471675" y="3649305"/>
            <a:ext cx="2736052" cy="346331"/>
          </a:xfrm>
          <a:prstGeom prst="rect">
            <a:avLst/>
          </a:prstGeom>
          <a:noFill/>
          <a:ln/>
        </p:spPr>
        <p:txBody>
          <a:bodyPr wrap="square" lIns="25400" tIns="25400" rIns="25400" bIns="25400" rtlCol="0" anchor="t">
            <a:normAutofit/>
          </a:bodyPr>
          <a:lstStyle/>
          <a:p>
            <a:pPr algn="ctr" indent="0" marL="0">
              <a:buNone/>
            </a:pPr>
            <a:r>
              <a:rPr lang="en-US" sz="1820" dirty="0">
                <a:solidFill>
                  <a:srgbClr val="8EA0B5">
                    <a:alpha val="99000"/>
                  </a:srgbClr>
                </a:solidFill>
                <a:latin typeface="Courier New" pitchFamily="34" charset="0"/>
                <a:ea typeface="Courier New" pitchFamily="34" charset="-122"/>
                <a:cs typeface="Courier New" pitchFamily="34" charset="-120"/>
              </a:rPr>
              <a:t>YARN</a:t>
            </a:r>
            <a:endParaRPr lang="en-US" sz="1820" dirty="0"/>
          </a:p>
        </p:txBody>
      </p:sp>
      <p:sp>
        <p:nvSpPr>
          <p:cNvPr id="30" name="Shape 28"/>
          <p:cNvSpPr/>
          <p:nvPr/>
        </p:nvSpPr>
        <p:spPr>
          <a:xfrm>
            <a:off x="14301690" y="3199802"/>
            <a:ext cx="2731236" cy="879742"/>
          </a:xfrm>
          <a:prstGeom prst="roundRect">
            <a:avLst>
              <a:gd name="adj" fmla="val 8759"/>
            </a:avLst>
          </a:prstGeom>
          <a:solidFill>
            <a:srgbClr val="FFFFFF">
              <a:alpha val="6000"/>
            </a:srgbClr>
          </a:solidFill>
          <a:ln w="6422">
            <a:solidFill>
              <a:srgbClr val="FFFFFF">
                <a:alpha val="10000"/>
              </a:srgbClr>
            </a:solidFill>
            <a:prstDash val="solid"/>
          </a:ln>
        </p:spPr>
      </p:sp>
      <p:sp>
        <p:nvSpPr>
          <p:cNvPr id="31" name="Text 29"/>
          <p:cNvSpPr/>
          <p:nvPr/>
        </p:nvSpPr>
        <p:spPr>
          <a:xfrm>
            <a:off x="14696310" y="3321810"/>
            <a:ext cx="2018097" cy="346331"/>
          </a:xfrm>
          <a:prstGeom prst="rect">
            <a:avLst/>
          </a:prstGeom>
          <a:noFill/>
          <a:ln/>
        </p:spPr>
        <p:txBody>
          <a:bodyPr wrap="square" lIns="0" tIns="0" rIns="0" bIns="0" rtlCol="0" anchor="t">
            <a:normAutofit/>
          </a:bodyPr>
          <a:lstStyle/>
          <a:p>
            <a:pPr algn="ctr" indent="0" marL="0">
              <a:buNone/>
            </a:pPr>
            <a:r>
              <a:rPr lang="en-US" sz="1820" dirty="0">
                <a:solidFill>
                  <a:srgbClr val="EEF3F9">
                    <a:alpha val="99000"/>
                  </a:srgbClr>
                </a:solidFill>
                <a:latin typeface="Courier New" pitchFamily="34" charset="0"/>
                <a:ea typeface="Courier New" pitchFamily="34" charset="-122"/>
                <a:cs typeface="Courier New" pitchFamily="34" charset="-120"/>
              </a:rPr>
              <a:t>Hive Metastore</a:t>
            </a:r>
            <a:endParaRPr lang="en-US" sz="1820" dirty="0"/>
          </a:p>
        </p:txBody>
      </p:sp>
      <p:sp>
        <p:nvSpPr>
          <p:cNvPr id="32" name="Text 30"/>
          <p:cNvSpPr/>
          <p:nvPr/>
        </p:nvSpPr>
        <p:spPr>
          <a:xfrm>
            <a:off x="14299338" y="3649305"/>
            <a:ext cx="2735942" cy="346331"/>
          </a:xfrm>
          <a:prstGeom prst="rect">
            <a:avLst/>
          </a:prstGeom>
          <a:noFill/>
          <a:ln/>
        </p:spPr>
        <p:txBody>
          <a:bodyPr wrap="square" lIns="25400" tIns="25400" rIns="25400" bIns="25400" rtlCol="0" anchor="t">
            <a:normAutofit/>
          </a:bodyPr>
          <a:lstStyle/>
          <a:p>
            <a:pPr algn="ctr" indent="0" marL="0">
              <a:buNone/>
            </a:pPr>
            <a:r>
              <a:rPr lang="en-US" sz="1820" dirty="0">
                <a:solidFill>
                  <a:srgbClr val="8EA0B5">
                    <a:alpha val="99000"/>
                  </a:srgbClr>
                </a:solidFill>
                <a:latin typeface="Courier New" pitchFamily="34" charset="0"/>
                <a:ea typeface="Courier New" pitchFamily="34" charset="-122"/>
                <a:cs typeface="Courier New" pitchFamily="34" charset="-120"/>
              </a:rPr>
              <a:t>+ HiveServer2</a:t>
            </a:r>
            <a:endParaRPr lang="en-US" sz="1820" dirty="0"/>
          </a:p>
        </p:txBody>
      </p:sp>
      <p:sp>
        <p:nvSpPr>
          <p:cNvPr id="33" name="Shape 31"/>
          <p:cNvSpPr/>
          <p:nvPr/>
        </p:nvSpPr>
        <p:spPr>
          <a:xfrm>
            <a:off x="10210800" y="4383404"/>
            <a:ext cx="5257800" cy="19050"/>
          </a:xfrm>
          <a:prstGeom prst="rect">
            <a:avLst/>
          </a:prstGeom>
          <a:solidFill>
            <a:srgbClr val="FFFFFF">
              <a:alpha val="7000"/>
            </a:srgbClr>
          </a:solidFill>
          <a:ln/>
        </p:spPr>
      </p:sp>
      <p:sp>
        <p:nvSpPr>
          <p:cNvPr id="34" name="Shape 32"/>
          <p:cNvSpPr/>
          <p:nvPr/>
        </p:nvSpPr>
        <p:spPr>
          <a:xfrm>
            <a:off x="8441153" y="4509143"/>
            <a:ext cx="2878894" cy="1285220"/>
          </a:xfrm>
          <a:prstGeom prst="roundRect">
            <a:avLst>
              <a:gd name="adj" fmla="val 9000"/>
            </a:avLst>
          </a:prstGeom>
          <a:solidFill>
            <a:srgbClr val="FFFFFF">
              <a:alpha val="3000"/>
            </a:srgbClr>
          </a:solidFill>
          <a:ln w="6426">
            <a:solidFill>
              <a:srgbClr val="FFFFFF">
                <a:alpha val="10000"/>
              </a:srgbClr>
            </a:solidFill>
            <a:prstDash val="solid"/>
          </a:ln>
        </p:spPr>
      </p:sp>
      <p:sp>
        <p:nvSpPr>
          <p:cNvPr id="35" name="Text 33"/>
          <p:cNvSpPr/>
          <p:nvPr/>
        </p:nvSpPr>
        <p:spPr>
          <a:xfrm>
            <a:off x="8431514" y="4669796"/>
            <a:ext cx="2898173" cy="307997"/>
          </a:xfrm>
          <a:prstGeom prst="rect">
            <a:avLst/>
          </a:prstGeom>
          <a:noFill/>
          <a:ln/>
        </p:spPr>
        <p:txBody>
          <a:bodyPr wrap="square" lIns="25400" tIns="25400" rIns="25400" bIns="25400" rtlCol="0" anchor="t">
            <a:normAutofit/>
          </a:bodyPr>
          <a:lstStyle/>
          <a:p>
            <a:pPr algn="ctr" indent="0" marL="0">
              <a:buNone/>
            </a:pPr>
            <a:r>
              <a:rPr lang="en-US" sz="1822" b="1" dirty="0">
                <a:solidFill>
                  <a:srgbClr val="EEF3F9">
                    <a:alpha val="99000"/>
                  </a:srgbClr>
                </a:solidFill>
                <a:latin typeface="Arial" pitchFamily="34" charset="0"/>
                <a:ea typeface="Arial" pitchFamily="34" charset="-122"/>
                <a:cs typeface="Arial" pitchFamily="34" charset="-120"/>
              </a:rPr>
              <a:t>Nœud de calcul 1</a:t>
            </a:r>
            <a:endParaRPr lang="en-US" sz="1822" dirty="0"/>
          </a:p>
        </p:txBody>
      </p:sp>
      <p:sp>
        <p:nvSpPr>
          <p:cNvPr id="36" name="Text 34"/>
          <p:cNvSpPr/>
          <p:nvPr/>
        </p:nvSpPr>
        <p:spPr>
          <a:xfrm>
            <a:off x="8431514" y="5016805"/>
            <a:ext cx="2898173" cy="346553"/>
          </a:xfrm>
          <a:prstGeom prst="rect">
            <a:avLst/>
          </a:prstGeom>
          <a:noFill/>
          <a:ln/>
        </p:spPr>
        <p:txBody>
          <a:bodyPr wrap="square" lIns="25400" tIns="25400" rIns="25400" bIns="25400" rtlCol="0" anchor="t">
            <a:normAutofit/>
          </a:bodyPr>
          <a:lstStyle/>
          <a:p>
            <a:pPr algn="ctr" indent="0" marL="0">
              <a:buNone/>
            </a:pPr>
            <a:r>
              <a:rPr lang="en-US" sz="1822" dirty="0">
                <a:solidFill>
                  <a:srgbClr val="56DBDB">
                    <a:alpha val="99000"/>
                  </a:srgbClr>
                </a:solidFill>
                <a:latin typeface="Courier New" pitchFamily="34" charset="0"/>
                <a:ea typeface="Courier New" pitchFamily="34" charset="-122"/>
                <a:cs typeface="Courier New" pitchFamily="34" charset="-120"/>
              </a:rPr>
              <a:t>DataNode</a:t>
            </a:r>
            <a:endParaRPr lang="en-US" sz="1822" dirty="0"/>
          </a:p>
        </p:txBody>
      </p:sp>
      <p:sp>
        <p:nvSpPr>
          <p:cNvPr id="37" name="Text 35"/>
          <p:cNvSpPr/>
          <p:nvPr/>
        </p:nvSpPr>
        <p:spPr>
          <a:xfrm>
            <a:off x="8431514" y="5325259"/>
            <a:ext cx="2898173" cy="346553"/>
          </a:xfrm>
          <a:prstGeom prst="rect">
            <a:avLst/>
          </a:prstGeom>
          <a:noFill/>
          <a:ln/>
        </p:spPr>
        <p:txBody>
          <a:bodyPr wrap="square" lIns="25400" tIns="25400" rIns="25400" bIns="25400" rtlCol="0" anchor="t">
            <a:normAutofit/>
          </a:bodyPr>
          <a:lstStyle/>
          <a:p>
            <a:pPr algn="ctr" indent="0" marL="0">
              <a:buNone/>
            </a:pPr>
            <a:r>
              <a:rPr lang="en-US" sz="1822" dirty="0">
                <a:solidFill>
                  <a:srgbClr val="B897F0">
                    <a:alpha val="99000"/>
                  </a:srgbClr>
                </a:solidFill>
                <a:latin typeface="Courier New" pitchFamily="34" charset="0"/>
                <a:ea typeface="Courier New" pitchFamily="34" charset="-122"/>
                <a:cs typeface="Courier New" pitchFamily="34" charset="-120"/>
              </a:rPr>
              <a:t>NodeManager</a:t>
            </a:r>
            <a:endParaRPr lang="en-US" sz="1822" dirty="0"/>
          </a:p>
        </p:txBody>
      </p:sp>
      <p:sp>
        <p:nvSpPr>
          <p:cNvPr id="38" name="Shape 36"/>
          <p:cNvSpPr/>
          <p:nvPr/>
        </p:nvSpPr>
        <p:spPr>
          <a:xfrm>
            <a:off x="11410617" y="4513770"/>
            <a:ext cx="2858167" cy="1275967"/>
          </a:xfrm>
          <a:prstGeom prst="roundRect">
            <a:avLst>
              <a:gd name="adj" fmla="val 9000"/>
            </a:avLst>
          </a:prstGeom>
          <a:solidFill>
            <a:srgbClr val="FFFFFF">
              <a:alpha val="3000"/>
            </a:srgbClr>
          </a:solidFill>
          <a:ln w="6380">
            <a:solidFill>
              <a:srgbClr val="FFFFFF">
                <a:alpha val="10000"/>
              </a:srgbClr>
            </a:solidFill>
            <a:prstDash val="solid"/>
          </a:ln>
        </p:spPr>
      </p:sp>
      <p:sp>
        <p:nvSpPr>
          <p:cNvPr id="39" name="Text 37"/>
          <p:cNvSpPr/>
          <p:nvPr/>
        </p:nvSpPr>
        <p:spPr>
          <a:xfrm>
            <a:off x="11401047" y="4673266"/>
            <a:ext cx="2877308" cy="306053"/>
          </a:xfrm>
          <a:prstGeom prst="rect">
            <a:avLst/>
          </a:prstGeom>
          <a:noFill/>
          <a:ln/>
        </p:spPr>
        <p:txBody>
          <a:bodyPr wrap="square" lIns="25400" tIns="25400" rIns="25400" bIns="25400" rtlCol="0" anchor="t">
            <a:normAutofit/>
          </a:bodyPr>
          <a:lstStyle/>
          <a:p>
            <a:pPr algn="ctr" indent="0" marL="0">
              <a:buNone/>
            </a:pPr>
            <a:r>
              <a:rPr lang="en-US" sz="1808" b="1" dirty="0">
                <a:solidFill>
                  <a:srgbClr val="EEF3F9">
                    <a:alpha val="99000"/>
                  </a:srgbClr>
                </a:solidFill>
                <a:latin typeface="Arial" pitchFamily="34" charset="0"/>
                <a:ea typeface="Arial" pitchFamily="34" charset="-122"/>
                <a:cs typeface="Arial" pitchFamily="34" charset="-120"/>
              </a:rPr>
              <a:t>Nœud de calcul 2</a:t>
            </a:r>
            <a:endParaRPr lang="en-US" sz="1808" dirty="0"/>
          </a:p>
        </p:txBody>
      </p:sp>
      <p:sp>
        <p:nvSpPr>
          <p:cNvPr id="40" name="Text 38"/>
          <p:cNvSpPr/>
          <p:nvPr/>
        </p:nvSpPr>
        <p:spPr>
          <a:xfrm>
            <a:off x="11401047" y="5017777"/>
            <a:ext cx="2877308" cy="344332"/>
          </a:xfrm>
          <a:prstGeom prst="rect">
            <a:avLst/>
          </a:prstGeom>
          <a:noFill/>
          <a:ln/>
        </p:spPr>
        <p:txBody>
          <a:bodyPr wrap="square" lIns="25400" tIns="25400" rIns="25400" bIns="25400" rtlCol="0" anchor="t">
            <a:normAutofit/>
          </a:bodyPr>
          <a:lstStyle/>
          <a:p>
            <a:pPr algn="ctr" indent="0" marL="0">
              <a:buNone/>
            </a:pPr>
            <a:r>
              <a:rPr lang="en-US" sz="1808" dirty="0">
                <a:solidFill>
                  <a:srgbClr val="56DBDB">
                    <a:alpha val="99000"/>
                  </a:srgbClr>
                </a:solidFill>
                <a:latin typeface="Courier New" pitchFamily="34" charset="0"/>
                <a:ea typeface="Courier New" pitchFamily="34" charset="-122"/>
                <a:cs typeface="Courier New" pitchFamily="34" charset="-120"/>
              </a:rPr>
              <a:t>DataNode</a:t>
            </a:r>
            <a:endParaRPr lang="en-US" sz="1808" dirty="0"/>
          </a:p>
        </p:txBody>
      </p:sp>
      <p:sp>
        <p:nvSpPr>
          <p:cNvPr id="41" name="Text 39"/>
          <p:cNvSpPr/>
          <p:nvPr/>
        </p:nvSpPr>
        <p:spPr>
          <a:xfrm>
            <a:off x="11401047" y="5324009"/>
            <a:ext cx="2877308" cy="344332"/>
          </a:xfrm>
          <a:prstGeom prst="rect">
            <a:avLst/>
          </a:prstGeom>
          <a:noFill/>
          <a:ln/>
        </p:spPr>
        <p:txBody>
          <a:bodyPr wrap="square" lIns="25400" tIns="25400" rIns="25400" bIns="25400" rtlCol="0" anchor="t">
            <a:normAutofit/>
          </a:bodyPr>
          <a:lstStyle/>
          <a:p>
            <a:pPr algn="ctr" indent="0" marL="0">
              <a:buNone/>
            </a:pPr>
            <a:r>
              <a:rPr lang="en-US" sz="1808" dirty="0">
                <a:solidFill>
                  <a:srgbClr val="B897F0">
                    <a:alpha val="99000"/>
                  </a:srgbClr>
                </a:solidFill>
                <a:latin typeface="Courier New" pitchFamily="34" charset="0"/>
                <a:ea typeface="Courier New" pitchFamily="34" charset="-122"/>
                <a:cs typeface="Courier New" pitchFamily="34" charset="-120"/>
              </a:rPr>
              <a:t>NodeManager</a:t>
            </a:r>
            <a:endParaRPr lang="en-US" sz="1808" dirty="0"/>
          </a:p>
        </p:txBody>
      </p:sp>
      <p:sp>
        <p:nvSpPr>
          <p:cNvPr id="42" name="Shape 40"/>
          <p:cNvSpPr/>
          <p:nvPr/>
        </p:nvSpPr>
        <p:spPr>
          <a:xfrm>
            <a:off x="14400697" y="4527600"/>
            <a:ext cx="2796206" cy="1248306"/>
          </a:xfrm>
          <a:prstGeom prst="roundRect">
            <a:avLst>
              <a:gd name="adj" fmla="val 9000"/>
            </a:avLst>
          </a:prstGeom>
          <a:solidFill>
            <a:srgbClr val="FFFFFF">
              <a:alpha val="3000"/>
            </a:srgbClr>
          </a:solidFill>
          <a:ln w="6242">
            <a:solidFill>
              <a:srgbClr val="FFFFFF">
                <a:alpha val="9000"/>
              </a:srgbClr>
            </a:solidFill>
            <a:prstDash val="solid"/>
          </a:ln>
        </p:spPr>
      </p:sp>
      <p:sp>
        <p:nvSpPr>
          <p:cNvPr id="43" name="Text 41"/>
          <p:cNvSpPr/>
          <p:nvPr/>
        </p:nvSpPr>
        <p:spPr>
          <a:xfrm>
            <a:off x="14391335" y="4683639"/>
            <a:ext cx="2814930" cy="300244"/>
          </a:xfrm>
          <a:prstGeom prst="rect">
            <a:avLst/>
          </a:prstGeom>
          <a:noFill/>
          <a:ln/>
        </p:spPr>
        <p:txBody>
          <a:bodyPr wrap="square" lIns="25400" tIns="25400" rIns="25400" bIns="25400" rtlCol="0" anchor="t">
            <a:normAutofit/>
          </a:bodyPr>
          <a:lstStyle/>
          <a:p>
            <a:pPr algn="ctr" indent="0" marL="0">
              <a:buNone/>
            </a:pPr>
            <a:r>
              <a:rPr lang="en-US" sz="1769" b="1" dirty="0">
                <a:solidFill>
                  <a:srgbClr val="EEF3F9">
                    <a:alpha val="90000"/>
                  </a:srgbClr>
                </a:solidFill>
                <a:latin typeface="Arial" pitchFamily="34" charset="0"/>
                <a:ea typeface="Arial" pitchFamily="34" charset="-122"/>
                <a:cs typeface="Arial" pitchFamily="34" charset="-120"/>
              </a:rPr>
              <a:t>Nœud de calcul 3</a:t>
            </a:r>
            <a:endParaRPr lang="en-US" sz="1769" dirty="0"/>
          </a:p>
        </p:txBody>
      </p:sp>
      <p:sp>
        <p:nvSpPr>
          <p:cNvPr id="44" name="Text 42"/>
          <p:cNvSpPr/>
          <p:nvPr/>
        </p:nvSpPr>
        <p:spPr>
          <a:xfrm>
            <a:off x="14391335" y="5020681"/>
            <a:ext cx="2814930" cy="337694"/>
          </a:xfrm>
          <a:prstGeom prst="rect">
            <a:avLst/>
          </a:prstGeom>
          <a:noFill/>
          <a:ln/>
        </p:spPr>
        <p:txBody>
          <a:bodyPr wrap="square" lIns="25400" tIns="25400" rIns="25400" bIns="25400" rtlCol="0" anchor="t">
            <a:normAutofit/>
          </a:bodyPr>
          <a:lstStyle/>
          <a:p>
            <a:pPr algn="ctr" indent="0" marL="0">
              <a:buNone/>
            </a:pPr>
            <a:r>
              <a:rPr lang="en-US" sz="1769" dirty="0">
                <a:solidFill>
                  <a:srgbClr val="56DBDB">
                    <a:alpha val="90000"/>
                  </a:srgbClr>
                </a:solidFill>
                <a:latin typeface="Courier New" pitchFamily="34" charset="0"/>
                <a:ea typeface="Courier New" pitchFamily="34" charset="-122"/>
                <a:cs typeface="Courier New" pitchFamily="34" charset="-120"/>
              </a:rPr>
              <a:t>DataNode</a:t>
            </a:r>
            <a:endParaRPr lang="en-US" sz="1769" dirty="0"/>
          </a:p>
        </p:txBody>
      </p:sp>
      <p:sp>
        <p:nvSpPr>
          <p:cNvPr id="45" name="Text 43"/>
          <p:cNvSpPr/>
          <p:nvPr/>
        </p:nvSpPr>
        <p:spPr>
          <a:xfrm>
            <a:off x="14391335" y="5320275"/>
            <a:ext cx="2814930" cy="337693"/>
          </a:xfrm>
          <a:prstGeom prst="rect">
            <a:avLst/>
          </a:prstGeom>
          <a:noFill/>
          <a:ln/>
        </p:spPr>
        <p:txBody>
          <a:bodyPr wrap="square" lIns="25400" tIns="25400" rIns="25400" bIns="25400" rtlCol="0" anchor="t">
            <a:normAutofit/>
          </a:bodyPr>
          <a:lstStyle/>
          <a:p>
            <a:pPr algn="ctr" indent="0" marL="0">
              <a:buNone/>
            </a:pPr>
            <a:r>
              <a:rPr lang="en-US" sz="1769" dirty="0">
                <a:solidFill>
                  <a:srgbClr val="B897F0">
                    <a:alpha val="90000"/>
                  </a:srgbClr>
                </a:solidFill>
                <a:latin typeface="Courier New" pitchFamily="34" charset="0"/>
                <a:ea typeface="Courier New" pitchFamily="34" charset="-122"/>
                <a:cs typeface="Courier New" pitchFamily="34" charset="-120"/>
              </a:rPr>
              <a:t>NodeManager</a:t>
            </a:r>
            <a:endParaRPr lang="en-US" sz="1769" dirty="0"/>
          </a:p>
        </p:txBody>
      </p:sp>
      <p:sp>
        <p:nvSpPr>
          <p:cNvPr id="46" name="Text 44"/>
          <p:cNvSpPr/>
          <p:nvPr/>
        </p:nvSpPr>
        <p:spPr>
          <a:xfrm>
            <a:off x="8458200" y="5901054"/>
            <a:ext cx="9025890" cy="655241"/>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8EA0B5">
                    <a:alpha val="99000"/>
                  </a:srgbClr>
                </a:solidFill>
                <a:latin typeface="Arial" pitchFamily="34" charset="0"/>
                <a:ea typeface="Arial" pitchFamily="34" charset="-122"/>
                <a:cs typeface="Arial" pitchFamily="34" charset="-120"/>
              </a:rPr>
              <a:t>Le nœud </a:t>
            </a:r>
            <a:pPr algn="l" indent="0" marL="0">
              <a:lnSpc>
                <a:spcPct val="115714"/>
              </a:lnSpc>
              <a:buNone/>
            </a:pPr>
            <a:r>
              <a:rPr lang="en-US" sz="1800" dirty="0">
                <a:solidFill>
                  <a:srgbClr val="EEF3F9">
                    <a:alpha val="99000"/>
                  </a:srgbClr>
                </a:solidFill>
                <a:latin typeface="Arial" pitchFamily="34" charset="0"/>
                <a:ea typeface="Arial" pitchFamily="34" charset="-122"/>
                <a:cs typeface="Arial" pitchFamily="34" charset="-120"/>
              </a:rPr>
              <a:t>héberge </a:t>
            </a:r>
            <a:pPr algn="l" indent="0" marL="0">
              <a:lnSpc>
                <a:spcPct val="115714"/>
              </a:lnSpc>
              <a:buNone/>
            </a:pPr>
            <a:r>
              <a:rPr lang="en-US" sz="1800" dirty="0">
                <a:solidFill>
                  <a:srgbClr val="8EA0B5">
                    <a:alpha val="99000"/>
                  </a:srgbClr>
                </a:solidFill>
                <a:latin typeface="Arial" pitchFamily="34" charset="0"/>
                <a:ea typeface="Arial" pitchFamily="34" charset="-122"/>
                <a:cs typeface="Arial" pitchFamily="34" charset="-120"/>
              </a:rPr>
              <a:t>le DataNode (processus HDFS) et le NodeManager (processus YARN) — il n'est pas le processus lui-même.</a:t>
            </a:r>
            <a:endParaRPr lang="en-US" sz="1800" dirty="0"/>
          </a:p>
        </p:txBody>
      </p:sp>
      <p:sp>
        <p:nvSpPr>
          <p:cNvPr id="47" name="Shape 45"/>
          <p:cNvSpPr/>
          <p:nvPr/>
        </p:nvSpPr>
        <p:spPr>
          <a:xfrm>
            <a:off x="1066800" y="8604250"/>
            <a:ext cx="1838524" cy="469900"/>
          </a:xfrm>
          <a:prstGeom prst="roundRect">
            <a:avLst>
              <a:gd name="adj" fmla="val 16216"/>
            </a:avLst>
          </a:prstGeom>
          <a:solidFill>
            <a:srgbClr val="FFFFFF">
              <a:alpha val="1000"/>
            </a:srgbClr>
          </a:solidFill>
          <a:ln w="6350">
            <a:solidFill>
              <a:srgbClr val="FFFFFF">
                <a:alpha val="2000"/>
              </a:srgbClr>
            </a:solidFill>
            <a:prstDash val="solid"/>
          </a:ln>
        </p:spPr>
      </p:sp>
      <p:sp>
        <p:nvSpPr>
          <p:cNvPr id="48" name="Text 46"/>
          <p:cNvSpPr/>
          <p:nvPr/>
        </p:nvSpPr>
        <p:spPr>
          <a:xfrm>
            <a:off x="1225550" y="8686800"/>
            <a:ext cx="1597224"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6DBDB">
                    <a:alpha val="18000"/>
                  </a:srgbClr>
                </a:solidFill>
                <a:latin typeface="Courier New" pitchFamily="34" charset="0"/>
                <a:ea typeface="Courier New" pitchFamily="34" charset="-122"/>
                <a:cs typeface="Courier New" pitchFamily="34" charset="-120"/>
              </a:rPr>
              <a:t>HDFS </a:t>
            </a:r>
            <a:pPr algn="l" indent="0" marL="0">
              <a:buNone/>
            </a:pPr>
            <a:r>
              <a:rPr lang="en-US" sz="1800" dirty="0">
                <a:solidFill>
                  <a:srgbClr val="8EA0B5">
                    <a:alpha val="18000"/>
                  </a:srgbClr>
                </a:solidFill>
                <a:latin typeface="Arial" pitchFamily="34" charset="0"/>
                <a:ea typeface="Arial" pitchFamily="34" charset="-122"/>
                <a:cs typeface="Arial" pitchFamily="34" charset="-120"/>
              </a:rPr>
              <a:t>stockage</a:t>
            </a:r>
            <a:endParaRPr lang="en-US" sz="1800" dirty="0"/>
          </a:p>
        </p:txBody>
      </p:sp>
      <p:sp>
        <p:nvSpPr>
          <p:cNvPr id="49" name="Shape 47"/>
          <p:cNvSpPr/>
          <p:nvPr/>
        </p:nvSpPr>
        <p:spPr>
          <a:xfrm>
            <a:off x="3000574" y="8604250"/>
            <a:ext cx="4906070" cy="469900"/>
          </a:xfrm>
          <a:prstGeom prst="roundRect">
            <a:avLst>
              <a:gd name="adj" fmla="val 16216"/>
            </a:avLst>
          </a:prstGeom>
          <a:solidFill>
            <a:srgbClr val="FFFFFF">
              <a:alpha val="1000"/>
            </a:srgbClr>
          </a:solidFill>
          <a:ln w="6350">
            <a:solidFill>
              <a:srgbClr val="FFFFFF">
                <a:alpha val="2000"/>
              </a:srgbClr>
            </a:solidFill>
            <a:prstDash val="solid"/>
          </a:ln>
        </p:spPr>
      </p:sp>
      <p:sp>
        <p:nvSpPr>
          <p:cNvPr id="50" name="Text 48"/>
          <p:cNvSpPr/>
          <p:nvPr/>
        </p:nvSpPr>
        <p:spPr>
          <a:xfrm>
            <a:off x="3159324" y="8686800"/>
            <a:ext cx="4735752" cy="342900"/>
          </a:xfrm>
          <a:prstGeom prst="rect">
            <a:avLst/>
          </a:prstGeom>
          <a:noFill/>
          <a:ln/>
        </p:spPr>
        <p:txBody>
          <a:bodyPr wrap="square" lIns="25400" tIns="25400" rIns="25400" bIns="25400" rtlCol="0" anchor="t">
            <a:normAutofit/>
          </a:bodyPr>
          <a:lstStyle/>
          <a:p>
            <a:pPr algn="l" indent="0" marL="0">
              <a:buNone/>
            </a:pPr>
            <a:r>
              <a:rPr lang="en-US" sz="1800" dirty="0">
                <a:solidFill>
                  <a:srgbClr val="B897F0">
                    <a:alpha val="18000"/>
                  </a:srgbClr>
                </a:solidFill>
                <a:latin typeface="Courier New" pitchFamily="34" charset="0"/>
                <a:ea typeface="Courier New" pitchFamily="34" charset="-122"/>
                <a:cs typeface="Courier New" pitchFamily="34" charset="-120"/>
              </a:rPr>
              <a:t>YARN </a:t>
            </a:r>
            <a:pPr algn="l" indent="0" marL="0">
              <a:buNone/>
            </a:pPr>
            <a:r>
              <a:rPr lang="en-US" sz="1800" dirty="0">
                <a:solidFill>
                  <a:srgbClr val="8EA0B5">
                    <a:alpha val="18000"/>
                  </a:srgbClr>
                </a:solidFill>
                <a:latin typeface="Arial" pitchFamily="34" charset="0"/>
                <a:ea typeface="Arial" pitchFamily="34" charset="-122"/>
                <a:cs typeface="Arial" pitchFamily="34" charset="-120"/>
              </a:rPr>
              <a:t>ressources (CPU, mémoire, containers)</a:t>
            </a:r>
            <a:endParaRPr lang="en-US" sz="1800" dirty="0"/>
          </a:p>
        </p:txBody>
      </p:sp>
      <p:sp>
        <p:nvSpPr>
          <p:cNvPr id="51" name="Shape 49"/>
          <p:cNvSpPr/>
          <p:nvPr/>
        </p:nvSpPr>
        <p:spPr>
          <a:xfrm>
            <a:off x="8001893" y="8604250"/>
            <a:ext cx="3276600" cy="469900"/>
          </a:xfrm>
          <a:prstGeom prst="roundRect">
            <a:avLst>
              <a:gd name="adj" fmla="val 16216"/>
            </a:avLst>
          </a:prstGeom>
          <a:solidFill>
            <a:srgbClr val="FFFFFF">
              <a:alpha val="1000"/>
            </a:srgbClr>
          </a:solidFill>
          <a:ln w="6350">
            <a:solidFill>
              <a:srgbClr val="FFFFFF">
                <a:alpha val="2000"/>
              </a:srgbClr>
            </a:solidFill>
            <a:prstDash val="solid"/>
          </a:ln>
        </p:spPr>
      </p:sp>
      <p:sp>
        <p:nvSpPr>
          <p:cNvPr id="52" name="Text 50"/>
          <p:cNvSpPr/>
          <p:nvPr/>
        </p:nvSpPr>
        <p:spPr>
          <a:xfrm>
            <a:off x="8160643" y="8686800"/>
            <a:ext cx="3057398"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FB46E">
                    <a:alpha val="18000"/>
                  </a:srgbClr>
                </a:solidFill>
                <a:latin typeface="Courier New" pitchFamily="34" charset="0"/>
                <a:ea typeface="Courier New" pitchFamily="34" charset="-122"/>
                <a:cs typeface="Courier New" pitchFamily="34" charset="-120"/>
              </a:rPr>
              <a:t>Hive </a:t>
            </a:r>
            <a:pPr algn="l" indent="0" marL="0">
              <a:buNone/>
            </a:pPr>
            <a:r>
              <a:rPr lang="en-US" sz="1800" dirty="0">
                <a:solidFill>
                  <a:srgbClr val="8EA0B5">
                    <a:alpha val="18000"/>
                  </a:srgbClr>
                </a:solidFill>
                <a:latin typeface="Arial" pitchFamily="34" charset="0"/>
                <a:ea typeface="Arial" pitchFamily="34" charset="-122"/>
                <a:cs typeface="Arial" pitchFamily="34" charset="-120"/>
              </a:rPr>
              <a:t>entrepôt SQL sur HDFS</a:t>
            </a:r>
            <a:endParaRPr lang="en-US" sz="1800" dirty="0"/>
          </a:p>
        </p:txBody>
      </p:sp>
      <p:sp>
        <p:nvSpPr>
          <p:cNvPr id="53" name="Shape 51"/>
          <p:cNvSpPr/>
          <p:nvPr/>
        </p:nvSpPr>
        <p:spPr>
          <a:xfrm>
            <a:off x="11373743" y="8604250"/>
            <a:ext cx="4028877" cy="469900"/>
          </a:xfrm>
          <a:prstGeom prst="roundRect">
            <a:avLst>
              <a:gd name="adj" fmla="val 16216"/>
            </a:avLst>
          </a:prstGeom>
          <a:solidFill>
            <a:srgbClr val="FFFFFF">
              <a:alpha val="1000"/>
            </a:srgbClr>
          </a:solidFill>
          <a:ln w="6350">
            <a:solidFill>
              <a:srgbClr val="FFFFFF">
                <a:alpha val="2000"/>
              </a:srgbClr>
            </a:solidFill>
            <a:prstDash val="solid"/>
          </a:ln>
        </p:spPr>
      </p:sp>
      <p:sp>
        <p:nvSpPr>
          <p:cNvPr id="54" name="Text 52"/>
          <p:cNvSpPr/>
          <p:nvPr/>
        </p:nvSpPr>
        <p:spPr>
          <a:xfrm>
            <a:off x="11532493" y="8686800"/>
            <a:ext cx="3832243"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6DBDB">
                    <a:alpha val="18000"/>
                  </a:srgbClr>
                </a:solidFill>
                <a:latin typeface="Courier New" pitchFamily="34" charset="0"/>
                <a:ea typeface="Courier New" pitchFamily="34" charset="-122"/>
                <a:cs typeface="Courier New" pitchFamily="34" charset="-120"/>
              </a:rPr>
              <a:t>Spark </a:t>
            </a:r>
            <a:pPr algn="l" indent="0" marL="0">
              <a:buNone/>
            </a:pPr>
            <a:r>
              <a:rPr lang="en-US" sz="1800" dirty="0">
                <a:solidFill>
                  <a:srgbClr val="8EA0B5">
                    <a:alpha val="18000"/>
                  </a:srgbClr>
                </a:solidFill>
                <a:latin typeface="Arial" pitchFamily="34" charset="0"/>
                <a:ea typeface="Arial" pitchFamily="34" charset="-122"/>
                <a:cs typeface="Arial" pitchFamily="34" charset="-120"/>
              </a:rPr>
              <a:t>moteur de calcul (atelier 4.2)</a:t>
            </a:r>
            <a:endParaRPr lang="en-US" sz="1800" dirty="0"/>
          </a:p>
        </p:txBody>
      </p:sp>
      <p:sp>
        <p:nvSpPr>
          <p:cNvPr id="55" name="Text 53"/>
          <p:cNvSpPr/>
          <p:nvPr/>
        </p:nvSpPr>
        <p:spPr>
          <a:xfrm>
            <a:off x="1066800" y="9169400"/>
            <a:ext cx="9029422" cy="336550"/>
          </a:xfrm>
          <a:prstGeom prst="rect">
            <a:avLst/>
          </a:prstGeom>
          <a:noFill/>
          <a:ln/>
        </p:spPr>
        <p:txBody>
          <a:bodyPr wrap="square" lIns="25400" tIns="25400" rIns="25400" bIns="25400" rtlCol="0" anchor="t">
            <a:normAutofit/>
          </a:bodyPr>
          <a:lstStyle/>
          <a:p>
            <a:pPr algn="l" indent="0" marL="0">
              <a:buNone/>
            </a:pPr>
            <a:r>
              <a:rPr lang="en-US" sz="1800" dirty="0">
                <a:solidFill>
                  <a:srgbClr val="8EA0B5">
                    <a:alpha val="18000"/>
                  </a:srgbClr>
                </a:solidFill>
                <a:latin typeface="Arial" pitchFamily="34" charset="0"/>
                <a:ea typeface="Arial" pitchFamily="34" charset="-122"/>
                <a:cs typeface="Arial" pitchFamily="34" charset="-120"/>
              </a:rPr>
              <a:t>— Hive et Spark sont deux applications sur YARN, pas l'une au-dessus de l'autre.</a:t>
            </a:r>
            <a:endParaRPr lang="en-US" sz="1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0E15"/>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56DBDB">
                    <a:alpha val="97000"/>
                  </a:srgbClr>
                </a:solidFill>
                <a:latin typeface="Courier New" pitchFamily="34" charset="0"/>
                <a:ea typeface="Courier New" pitchFamily="34" charset="-122"/>
                <a:cs typeface="Courier New" pitchFamily="34" charset="-120"/>
              </a:rPr>
              <a:t>ATELIER 4.1 · HDFS</a:t>
            </a:r>
            <a:endParaRPr lang="en-US" sz="1800" dirty="0"/>
          </a:p>
        </p:txBody>
      </p:sp>
      <p:sp>
        <p:nvSpPr>
          <p:cNvPr id="3" name="Text 1"/>
          <p:cNvSpPr/>
          <p:nvPr/>
        </p:nvSpPr>
        <p:spPr>
          <a:xfrm>
            <a:off x="1066800" y="1314451"/>
            <a:ext cx="11188005"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Blocs, répartition et réplication</a:t>
            </a:r>
            <a:endParaRPr lang="en-US" sz="4800" dirty="0"/>
          </a:p>
        </p:txBody>
      </p:sp>
      <p:sp>
        <p:nvSpPr>
          <p:cNvPr id="4" name="Text 2"/>
          <p:cNvSpPr/>
          <p:nvPr/>
        </p:nvSpPr>
        <p:spPr>
          <a:xfrm>
            <a:off x="1066800" y="3719315"/>
            <a:ext cx="96393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solidFill>
                <a:latin typeface="Courier New" pitchFamily="34" charset="0"/>
                <a:ea typeface="Courier New" pitchFamily="34" charset="-122"/>
                <a:cs typeface="Courier New" pitchFamily="34" charset="-120"/>
              </a:rPr>
              <a:t>purchases.txt → blocs de 128 Mo</a:t>
            </a:r>
            <a:endParaRPr lang="en-US" sz="1800" dirty="0"/>
          </a:p>
        </p:txBody>
      </p:sp>
      <p:sp>
        <p:nvSpPr>
          <p:cNvPr id="5" name="Shape 3"/>
          <p:cNvSpPr/>
          <p:nvPr/>
        </p:nvSpPr>
        <p:spPr>
          <a:xfrm>
            <a:off x="1066800" y="4138415"/>
            <a:ext cx="1381125" cy="546100"/>
          </a:xfrm>
          <a:prstGeom prst="roundRect">
            <a:avLst>
              <a:gd name="adj" fmla="val 13953"/>
            </a:avLst>
          </a:prstGeom>
          <a:solidFill>
            <a:srgbClr val="77E1E1">
              <a:alpha val="30000"/>
            </a:srgbClr>
          </a:solidFill>
          <a:ln w="6350">
            <a:solidFill>
              <a:srgbClr val="75E1E1">
                <a:alpha val="46000"/>
              </a:srgbClr>
            </a:solidFill>
            <a:prstDash val="solid"/>
          </a:ln>
        </p:spPr>
      </p:sp>
      <p:sp>
        <p:nvSpPr>
          <p:cNvPr id="6" name="Text 4"/>
          <p:cNvSpPr/>
          <p:nvPr/>
        </p:nvSpPr>
        <p:spPr>
          <a:xfrm>
            <a:off x="1149350" y="4259065"/>
            <a:ext cx="1216025"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EEF3F9"/>
                </a:solidFill>
                <a:latin typeface="Courier New" pitchFamily="34" charset="0"/>
                <a:ea typeface="Courier New" pitchFamily="34" charset="-122"/>
                <a:cs typeface="Courier New" pitchFamily="34" charset="-120"/>
              </a:rPr>
              <a:t>A</a:t>
            </a:r>
            <a:endParaRPr lang="en-US" sz="1800" dirty="0"/>
          </a:p>
        </p:txBody>
      </p:sp>
      <p:sp>
        <p:nvSpPr>
          <p:cNvPr id="7" name="Shape 5"/>
          <p:cNvSpPr/>
          <p:nvPr/>
        </p:nvSpPr>
        <p:spPr>
          <a:xfrm>
            <a:off x="2543175" y="4138415"/>
            <a:ext cx="1381125" cy="546100"/>
          </a:xfrm>
          <a:prstGeom prst="roundRect">
            <a:avLst>
              <a:gd name="adj" fmla="val 13953"/>
            </a:avLst>
          </a:prstGeom>
          <a:solidFill>
            <a:srgbClr val="77E1E1">
              <a:alpha val="30000"/>
            </a:srgbClr>
          </a:solidFill>
          <a:ln w="6350">
            <a:solidFill>
              <a:srgbClr val="75E1E1">
                <a:alpha val="46000"/>
              </a:srgbClr>
            </a:solidFill>
            <a:prstDash val="solid"/>
          </a:ln>
        </p:spPr>
      </p:sp>
      <p:sp>
        <p:nvSpPr>
          <p:cNvPr id="8" name="Text 6"/>
          <p:cNvSpPr/>
          <p:nvPr/>
        </p:nvSpPr>
        <p:spPr>
          <a:xfrm>
            <a:off x="2625725" y="4259065"/>
            <a:ext cx="1216025"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EEF3F9"/>
                </a:solidFill>
                <a:latin typeface="Courier New" pitchFamily="34" charset="0"/>
                <a:ea typeface="Courier New" pitchFamily="34" charset="-122"/>
                <a:cs typeface="Courier New" pitchFamily="34" charset="-120"/>
              </a:rPr>
              <a:t>B</a:t>
            </a:r>
            <a:endParaRPr lang="en-US" sz="1800" dirty="0"/>
          </a:p>
        </p:txBody>
      </p:sp>
      <p:sp>
        <p:nvSpPr>
          <p:cNvPr id="9" name="Shape 7"/>
          <p:cNvSpPr/>
          <p:nvPr/>
        </p:nvSpPr>
        <p:spPr>
          <a:xfrm>
            <a:off x="4019550" y="4138415"/>
            <a:ext cx="1381125" cy="546100"/>
          </a:xfrm>
          <a:prstGeom prst="roundRect">
            <a:avLst>
              <a:gd name="adj" fmla="val 13953"/>
            </a:avLst>
          </a:prstGeom>
          <a:solidFill>
            <a:srgbClr val="77E1E1">
              <a:alpha val="30000"/>
            </a:srgbClr>
          </a:solidFill>
          <a:ln w="6350">
            <a:solidFill>
              <a:srgbClr val="75E1E1">
                <a:alpha val="46000"/>
              </a:srgbClr>
            </a:solidFill>
            <a:prstDash val="solid"/>
          </a:ln>
        </p:spPr>
      </p:sp>
      <p:sp>
        <p:nvSpPr>
          <p:cNvPr id="10" name="Text 8"/>
          <p:cNvSpPr/>
          <p:nvPr/>
        </p:nvSpPr>
        <p:spPr>
          <a:xfrm>
            <a:off x="4102100" y="4259065"/>
            <a:ext cx="1216025"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EEF3F9"/>
                </a:solidFill>
                <a:latin typeface="Courier New" pitchFamily="34" charset="0"/>
                <a:ea typeface="Courier New" pitchFamily="34" charset="-122"/>
                <a:cs typeface="Courier New" pitchFamily="34" charset="-120"/>
              </a:rPr>
              <a:t>C</a:t>
            </a:r>
            <a:endParaRPr lang="en-US" sz="1800" dirty="0"/>
          </a:p>
        </p:txBody>
      </p:sp>
      <p:sp>
        <p:nvSpPr>
          <p:cNvPr id="11" name="Shape 9"/>
          <p:cNvSpPr/>
          <p:nvPr/>
        </p:nvSpPr>
        <p:spPr>
          <a:xfrm>
            <a:off x="5495925" y="4138415"/>
            <a:ext cx="1381125" cy="546100"/>
          </a:xfrm>
          <a:prstGeom prst="roundRect">
            <a:avLst>
              <a:gd name="adj" fmla="val 13953"/>
            </a:avLst>
          </a:prstGeom>
          <a:solidFill>
            <a:srgbClr val="77E1E1">
              <a:alpha val="30000"/>
            </a:srgbClr>
          </a:solidFill>
          <a:ln w="6350">
            <a:solidFill>
              <a:srgbClr val="75E1E1">
                <a:alpha val="46000"/>
              </a:srgbClr>
            </a:solidFill>
            <a:prstDash val="solid"/>
          </a:ln>
        </p:spPr>
      </p:sp>
      <p:sp>
        <p:nvSpPr>
          <p:cNvPr id="12" name="Text 10"/>
          <p:cNvSpPr/>
          <p:nvPr/>
        </p:nvSpPr>
        <p:spPr>
          <a:xfrm>
            <a:off x="5578475" y="4259065"/>
            <a:ext cx="1216025"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EEF3F9"/>
                </a:solidFill>
                <a:latin typeface="Courier New" pitchFamily="34" charset="0"/>
                <a:ea typeface="Courier New" pitchFamily="34" charset="-122"/>
                <a:cs typeface="Courier New" pitchFamily="34" charset="-120"/>
              </a:rPr>
              <a:t>D</a:t>
            </a:r>
            <a:endParaRPr lang="en-US" sz="1800" dirty="0"/>
          </a:p>
        </p:txBody>
      </p:sp>
      <p:sp>
        <p:nvSpPr>
          <p:cNvPr id="13" name="Shape 11"/>
          <p:cNvSpPr/>
          <p:nvPr/>
        </p:nvSpPr>
        <p:spPr>
          <a:xfrm>
            <a:off x="6972300" y="4138415"/>
            <a:ext cx="1381125" cy="546100"/>
          </a:xfrm>
          <a:prstGeom prst="roundRect">
            <a:avLst>
              <a:gd name="adj" fmla="val 13953"/>
            </a:avLst>
          </a:prstGeom>
          <a:solidFill>
            <a:srgbClr val="77E1E1">
              <a:alpha val="30000"/>
            </a:srgbClr>
          </a:solidFill>
          <a:ln w="6350">
            <a:solidFill>
              <a:srgbClr val="75E1E1">
                <a:alpha val="46000"/>
              </a:srgbClr>
            </a:solidFill>
            <a:prstDash val="solid"/>
          </a:ln>
        </p:spPr>
      </p:sp>
      <p:sp>
        <p:nvSpPr>
          <p:cNvPr id="14" name="Text 12"/>
          <p:cNvSpPr/>
          <p:nvPr/>
        </p:nvSpPr>
        <p:spPr>
          <a:xfrm>
            <a:off x="7054850" y="4259065"/>
            <a:ext cx="1216025"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EEF3F9"/>
                </a:solidFill>
                <a:latin typeface="Courier New" pitchFamily="34" charset="0"/>
                <a:ea typeface="Courier New" pitchFamily="34" charset="-122"/>
                <a:cs typeface="Courier New" pitchFamily="34" charset="-120"/>
              </a:rPr>
              <a:t>E</a:t>
            </a:r>
            <a:endParaRPr lang="en-US" sz="1800" dirty="0"/>
          </a:p>
        </p:txBody>
      </p:sp>
      <p:sp>
        <p:nvSpPr>
          <p:cNvPr id="15" name="Shape 13"/>
          <p:cNvSpPr/>
          <p:nvPr/>
        </p:nvSpPr>
        <p:spPr>
          <a:xfrm>
            <a:off x="8448675" y="4138415"/>
            <a:ext cx="1381125" cy="546100"/>
          </a:xfrm>
          <a:prstGeom prst="roundRect">
            <a:avLst>
              <a:gd name="adj" fmla="val 13953"/>
            </a:avLst>
          </a:prstGeom>
          <a:solidFill>
            <a:srgbClr val="77E1E1">
              <a:alpha val="30000"/>
            </a:srgbClr>
          </a:solidFill>
          <a:ln w="6350">
            <a:solidFill>
              <a:srgbClr val="75E1E1">
                <a:alpha val="46000"/>
              </a:srgbClr>
            </a:solidFill>
            <a:prstDash val="solid"/>
          </a:ln>
        </p:spPr>
      </p:sp>
      <p:sp>
        <p:nvSpPr>
          <p:cNvPr id="16" name="Text 14"/>
          <p:cNvSpPr/>
          <p:nvPr/>
        </p:nvSpPr>
        <p:spPr>
          <a:xfrm>
            <a:off x="8531225" y="4259065"/>
            <a:ext cx="1216025"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EEF3F9"/>
                </a:solidFill>
                <a:latin typeface="Courier New" pitchFamily="34" charset="0"/>
                <a:ea typeface="Courier New" pitchFamily="34" charset="-122"/>
                <a:cs typeface="Courier New" pitchFamily="34" charset="-120"/>
              </a:rPr>
              <a:t>F</a:t>
            </a:r>
            <a:endParaRPr lang="en-US" sz="1800" dirty="0"/>
          </a:p>
        </p:txBody>
      </p:sp>
      <p:sp>
        <p:nvSpPr>
          <p:cNvPr id="17" name="Shape 15"/>
          <p:cNvSpPr/>
          <p:nvPr/>
        </p:nvSpPr>
        <p:spPr>
          <a:xfrm>
            <a:off x="2878660" y="4797335"/>
            <a:ext cx="5139280" cy="530012"/>
          </a:xfrm>
          <a:prstGeom prst="roundRect">
            <a:avLst>
              <a:gd name="adj" fmla="val 18072"/>
            </a:avLst>
          </a:prstGeom>
          <a:gradFill rotWithShape="1">
            <a:gsLst>
              <a:gs pos="0">
                <a:srgbClr val="55DCDC">
                  <a:alpha val="20000"/>
                </a:srgbClr>
              </a:gs>
              <a:gs pos="100000">
                <a:srgbClr val="FFFFFF">
                  <a:alpha val="6000"/>
                </a:srgbClr>
              </a:gs>
            </a:gsLst>
            <a:lin ang="4200000" scaled="0"/>
          </a:gradFill>
          <a:ln w="6386">
            <a:solidFill>
              <a:srgbClr val="78E2DF">
                <a:alpha val="44000"/>
              </a:srgbClr>
            </a:solidFill>
            <a:prstDash val="solid"/>
          </a:ln>
        </p:spPr>
      </p:sp>
      <p:sp>
        <p:nvSpPr>
          <p:cNvPr id="18" name="Text 16"/>
          <p:cNvSpPr/>
          <p:nvPr/>
        </p:nvSpPr>
        <p:spPr>
          <a:xfrm>
            <a:off x="3172402" y="4909084"/>
            <a:ext cx="4705976" cy="344613"/>
          </a:xfrm>
          <a:prstGeom prst="rect">
            <a:avLst/>
          </a:prstGeom>
          <a:noFill/>
          <a:ln/>
        </p:spPr>
        <p:txBody>
          <a:bodyPr wrap="square" lIns="25400" tIns="25400" rIns="25400" bIns="25400" rtlCol="0" anchor="t">
            <a:normAutofit/>
          </a:bodyPr>
          <a:lstStyle/>
          <a:p>
            <a:pPr algn="l" indent="0" marL="0">
              <a:buNone/>
            </a:pPr>
            <a:r>
              <a:rPr lang="en-US" sz="1810" dirty="0">
                <a:solidFill>
                  <a:srgbClr val="56DBDB"/>
                </a:solidFill>
                <a:latin typeface="Courier New" pitchFamily="34" charset="0"/>
                <a:ea typeface="Courier New" pitchFamily="34" charset="-122"/>
                <a:cs typeface="Courier New" pitchFamily="34" charset="-120"/>
              </a:rPr>
              <a:t>NameNode </a:t>
            </a:r>
            <a:pPr algn="l" indent="0" marL="0">
              <a:buNone/>
            </a:pPr>
            <a:r>
              <a:rPr lang="en-US" sz="1810" dirty="0">
                <a:solidFill>
                  <a:srgbClr val="8EA0B5"/>
                </a:solidFill>
                <a:latin typeface="Courier New" pitchFamily="34" charset="0"/>
                <a:ea typeface="Courier New" pitchFamily="34" charset="-122"/>
                <a:cs typeface="Courier New" pitchFamily="34" charset="-120"/>
              </a:rPr>
              <a:t>· répartit &amp; réplique ×3</a:t>
            </a:r>
            <a:endParaRPr lang="en-US" sz="1810" dirty="0"/>
          </a:p>
        </p:txBody>
      </p:sp>
      <p:sp>
        <p:nvSpPr>
          <p:cNvPr id="19" name="Text 17"/>
          <p:cNvSpPr/>
          <p:nvPr/>
        </p:nvSpPr>
        <p:spPr>
          <a:xfrm>
            <a:off x="628650" y="5440166"/>
            <a:ext cx="9639300" cy="361950"/>
          </a:xfrm>
          <a:prstGeom prst="rect">
            <a:avLst/>
          </a:prstGeom>
          <a:noFill/>
          <a:ln/>
        </p:spPr>
        <p:txBody>
          <a:bodyPr wrap="square" lIns="25400" tIns="25400" rIns="25400" bIns="25400" rtlCol="0" anchor="t">
            <a:normAutofit/>
          </a:bodyPr>
          <a:lstStyle/>
          <a:p>
            <a:pPr algn="ctr" indent="0" marL="0">
              <a:buNone/>
            </a:pPr>
            <a:r>
              <a:rPr lang="en-US" sz="1950" dirty="0">
                <a:solidFill>
                  <a:srgbClr val="56DBDB"/>
                </a:solidFill>
                <a:latin typeface="Arial" pitchFamily="34" charset="0"/>
                <a:ea typeface="Arial" pitchFamily="34" charset="-122"/>
                <a:cs typeface="Arial" pitchFamily="34" charset="-120"/>
              </a:rPr>
              <a:t>↓</a:t>
            </a:r>
            <a:endParaRPr lang="en-US" sz="1950" dirty="0"/>
          </a:p>
        </p:txBody>
      </p:sp>
      <p:sp>
        <p:nvSpPr>
          <p:cNvPr id="20" name="Shape 18"/>
          <p:cNvSpPr/>
          <p:nvPr/>
        </p:nvSpPr>
        <p:spPr>
          <a:xfrm>
            <a:off x="1050719" y="5868917"/>
            <a:ext cx="2889663" cy="1688847"/>
          </a:xfrm>
          <a:prstGeom prst="roundRect">
            <a:avLst>
              <a:gd name="adj" fmla="val 5703"/>
            </a:avLst>
          </a:prstGeom>
          <a:solidFill>
            <a:srgbClr val="FFFFFF">
              <a:alpha val="3000"/>
            </a:srgbClr>
          </a:solidFill>
          <a:ln w="6422">
            <a:solidFill>
              <a:srgbClr val="FFFFFF">
                <a:alpha val="10000"/>
              </a:srgbClr>
            </a:solidFill>
            <a:prstDash val="solid"/>
          </a:ln>
        </p:spPr>
      </p:sp>
      <p:sp>
        <p:nvSpPr>
          <p:cNvPr id="21" name="Text 19"/>
          <p:cNvSpPr/>
          <p:nvPr/>
        </p:nvSpPr>
        <p:spPr>
          <a:xfrm>
            <a:off x="1040445" y="6029453"/>
            <a:ext cx="2910211" cy="307802"/>
          </a:xfrm>
          <a:prstGeom prst="rect">
            <a:avLst/>
          </a:prstGeom>
          <a:noFill/>
          <a:ln/>
        </p:spPr>
        <p:txBody>
          <a:bodyPr wrap="square" lIns="25400" tIns="25400" rIns="25400" bIns="25400" rtlCol="0" anchor="t">
            <a:normAutofit/>
          </a:bodyPr>
          <a:lstStyle/>
          <a:p>
            <a:pPr algn="ctr" indent="0" marL="0">
              <a:buNone/>
            </a:pPr>
            <a:r>
              <a:rPr lang="en-US" sz="1820" b="1" dirty="0">
                <a:solidFill>
                  <a:srgbClr val="EEF3F9"/>
                </a:solidFill>
                <a:latin typeface="Arial" pitchFamily="34" charset="0"/>
                <a:ea typeface="Arial" pitchFamily="34" charset="-122"/>
                <a:cs typeface="Arial" pitchFamily="34" charset="-120"/>
              </a:rPr>
              <a:t>Worker 1</a:t>
            </a:r>
            <a:endParaRPr lang="en-US" sz="1820" dirty="0"/>
          </a:p>
        </p:txBody>
      </p:sp>
      <p:sp>
        <p:nvSpPr>
          <p:cNvPr id="22" name="Text 20"/>
          <p:cNvSpPr/>
          <p:nvPr/>
        </p:nvSpPr>
        <p:spPr>
          <a:xfrm>
            <a:off x="1040445" y="6318420"/>
            <a:ext cx="2910211" cy="346330"/>
          </a:xfrm>
          <a:prstGeom prst="rect">
            <a:avLst/>
          </a:prstGeom>
          <a:noFill/>
          <a:ln/>
        </p:spPr>
        <p:txBody>
          <a:bodyPr wrap="square" lIns="25400" tIns="25400" rIns="25400" bIns="25400" rtlCol="0" anchor="t">
            <a:normAutofit/>
          </a:bodyPr>
          <a:lstStyle/>
          <a:p>
            <a:pPr algn="ctr" indent="0" marL="0">
              <a:buNone/>
            </a:pPr>
            <a:r>
              <a:rPr lang="en-US" sz="1820" dirty="0">
                <a:solidFill>
                  <a:srgbClr val="8EA0B5"/>
                </a:solidFill>
                <a:latin typeface="Courier New" pitchFamily="34" charset="0"/>
                <a:ea typeface="Courier New" pitchFamily="34" charset="-122"/>
                <a:cs typeface="Courier New" pitchFamily="34" charset="-120"/>
              </a:rPr>
              <a:t>DataNode</a:t>
            </a:r>
            <a:endParaRPr lang="en-US" sz="1820" dirty="0"/>
          </a:p>
        </p:txBody>
      </p:sp>
      <p:sp>
        <p:nvSpPr>
          <p:cNvPr id="23" name="Text 21"/>
          <p:cNvSpPr/>
          <p:nvPr/>
        </p:nvSpPr>
        <p:spPr>
          <a:xfrm>
            <a:off x="1133042" y="6703708"/>
            <a:ext cx="2725016" cy="731620"/>
          </a:xfrm>
          <a:prstGeom prst="rect">
            <a:avLst/>
          </a:prstGeom>
          <a:noFill/>
          <a:ln/>
        </p:spPr>
        <p:txBody>
          <a:bodyPr wrap="square" lIns="25400" tIns="25400" rIns="25400" bIns="25400" rtlCol="0" anchor="t">
            <a:normAutofit/>
          </a:bodyPr>
          <a:lstStyle/>
          <a:p>
            <a:pPr algn="ctr" indent="0" marL="0">
              <a:lnSpc>
                <a:spcPct val="131707"/>
              </a:lnSpc>
              <a:buNone/>
            </a:pPr>
            <a:r>
              <a:rPr lang="en-US" sz="1820" dirty="0">
                <a:solidFill>
                  <a:srgbClr val="56DBDB"/>
                </a:solidFill>
                <a:latin typeface="Courier New" pitchFamily="34" charset="0"/>
                <a:ea typeface="Courier New" pitchFamily="34" charset="-122"/>
                <a:cs typeface="Courier New" pitchFamily="34" charset="-120"/>
              </a:rPr>
              <a:t>A · D F · B</a:t>
            </a:r>
            <a:endParaRPr lang="en-US" sz="1820" dirty="0"/>
          </a:p>
        </p:txBody>
      </p:sp>
      <p:sp>
        <p:nvSpPr>
          <p:cNvPr id="24" name="Shape 22"/>
          <p:cNvSpPr/>
          <p:nvPr/>
        </p:nvSpPr>
        <p:spPr>
          <a:xfrm>
            <a:off x="4002425" y="5868307"/>
            <a:ext cx="2891749" cy="1690067"/>
          </a:xfrm>
          <a:prstGeom prst="roundRect">
            <a:avLst>
              <a:gd name="adj" fmla="val 5703"/>
            </a:avLst>
          </a:prstGeom>
          <a:solidFill>
            <a:srgbClr val="FFFFFF">
              <a:alpha val="3000"/>
            </a:srgbClr>
          </a:solidFill>
          <a:ln w="6426">
            <a:solidFill>
              <a:srgbClr val="FFFFFF">
                <a:alpha val="10000"/>
              </a:srgbClr>
            </a:solidFill>
            <a:prstDash val="solid"/>
          </a:ln>
        </p:spPr>
      </p:sp>
      <p:sp>
        <p:nvSpPr>
          <p:cNvPr id="25" name="Text 23"/>
          <p:cNvSpPr/>
          <p:nvPr/>
        </p:nvSpPr>
        <p:spPr>
          <a:xfrm>
            <a:off x="3992143" y="6028960"/>
            <a:ext cx="2912313" cy="307997"/>
          </a:xfrm>
          <a:prstGeom prst="rect">
            <a:avLst/>
          </a:prstGeom>
          <a:noFill/>
          <a:ln/>
        </p:spPr>
        <p:txBody>
          <a:bodyPr wrap="square" lIns="25400" tIns="25400" rIns="25400" bIns="25400" rtlCol="0" anchor="t">
            <a:normAutofit/>
          </a:bodyPr>
          <a:lstStyle/>
          <a:p>
            <a:pPr algn="ctr" indent="0" marL="0">
              <a:buNone/>
            </a:pPr>
            <a:r>
              <a:rPr lang="en-US" sz="1822" b="1" dirty="0">
                <a:solidFill>
                  <a:srgbClr val="EEF3F9"/>
                </a:solidFill>
                <a:latin typeface="Arial" pitchFamily="34" charset="0"/>
                <a:ea typeface="Arial" pitchFamily="34" charset="-122"/>
                <a:cs typeface="Arial" pitchFamily="34" charset="-120"/>
              </a:rPr>
              <a:t>Worker 2</a:t>
            </a:r>
            <a:endParaRPr lang="en-US" sz="1822" dirty="0"/>
          </a:p>
        </p:txBody>
      </p:sp>
      <p:sp>
        <p:nvSpPr>
          <p:cNvPr id="26" name="Text 24"/>
          <p:cNvSpPr/>
          <p:nvPr/>
        </p:nvSpPr>
        <p:spPr>
          <a:xfrm>
            <a:off x="3992143" y="6318135"/>
            <a:ext cx="2912313" cy="346553"/>
          </a:xfrm>
          <a:prstGeom prst="rect">
            <a:avLst/>
          </a:prstGeom>
          <a:noFill/>
          <a:ln/>
        </p:spPr>
        <p:txBody>
          <a:bodyPr wrap="square" lIns="25400" tIns="25400" rIns="25400" bIns="25400" rtlCol="0" anchor="t">
            <a:normAutofit/>
          </a:bodyPr>
          <a:lstStyle/>
          <a:p>
            <a:pPr algn="ctr" indent="0" marL="0">
              <a:buNone/>
            </a:pPr>
            <a:r>
              <a:rPr lang="en-US" sz="1822" dirty="0">
                <a:solidFill>
                  <a:srgbClr val="8EA0B5"/>
                </a:solidFill>
                <a:latin typeface="Courier New" pitchFamily="34" charset="0"/>
                <a:ea typeface="Courier New" pitchFamily="34" charset="-122"/>
                <a:cs typeface="Courier New" pitchFamily="34" charset="-120"/>
              </a:rPr>
              <a:t>DataNode</a:t>
            </a:r>
            <a:endParaRPr lang="en-US" sz="1822" dirty="0"/>
          </a:p>
        </p:txBody>
      </p:sp>
      <p:sp>
        <p:nvSpPr>
          <p:cNvPr id="27" name="Text 25"/>
          <p:cNvSpPr/>
          <p:nvPr/>
        </p:nvSpPr>
        <p:spPr>
          <a:xfrm>
            <a:off x="4084808" y="6703701"/>
            <a:ext cx="2726984" cy="732120"/>
          </a:xfrm>
          <a:prstGeom prst="rect">
            <a:avLst/>
          </a:prstGeom>
          <a:noFill/>
          <a:ln/>
        </p:spPr>
        <p:txBody>
          <a:bodyPr wrap="square" lIns="25400" tIns="25400" rIns="25400" bIns="25400" rtlCol="0" anchor="t">
            <a:normAutofit/>
          </a:bodyPr>
          <a:lstStyle/>
          <a:p>
            <a:pPr algn="ctr" indent="0" marL="0">
              <a:lnSpc>
                <a:spcPct val="131707"/>
              </a:lnSpc>
              <a:buNone/>
            </a:pPr>
            <a:r>
              <a:rPr lang="en-US" sz="1822" dirty="0">
                <a:solidFill>
                  <a:srgbClr val="56DBDB"/>
                </a:solidFill>
                <a:latin typeface="Courier New" pitchFamily="34" charset="0"/>
                <a:ea typeface="Courier New" pitchFamily="34" charset="-122"/>
                <a:cs typeface="Courier New" pitchFamily="34" charset="-120"/>
              </a:rPr>
              <a:t>B · A E · C</a:t>
            </a:r>
            <a:endParaRPr lang="en-US" sz="1822" dirty="0"/>
          </a:p>
        </p:txBody>
      </p:sp>
      <p:sp>
        <p:nvSpPr>
          <p:cNvPr id="28" name="Shape 26"/>
          <p:cNvSpPr/>
          <p:nvPr/>
        </p:nvSpPr>
        <p:spPr>
          <a:xfrm>
            <a:off x="6965581" y="5874389"/>
            <a:ext cx="2870938" cy="1677904"/>
          </a:xfrm>
          <a:prstGeom prst="roundRect">
            <a:avLst>
              <a:gd name="adj" fmla="val 5703"/>
            </a:avLst>
          </a:prstGeom>
          <a:solidFill>
            <a:srgbClr val="FFFFFF">
              <a:alpha val="3000"/>
            </a:srgbClr>
          </a:solidFill>
          <a:ln w="6380">
            <a:solidFill>
              <a:srgbClr val="FFFFFF">
                <a:alpha val="10000"/>
              </a:srgbClr>
            </a:solidFill>
            <a:prstDash val="solid"/>
          </a:ln>
        </p:spPr>
      </p:sp>
      <p:sp>
        <p:nvSpPr>
          <p:cNvPr id="29" name="Text 27"/>
          <p:cNvSpPr/>
          <p:nvPr/>
        </p:nvSpPr>
        <p:spPr>
          <a:xfrm>
            <a:off x="6955374" y="6033885"/>
            <a:ext cx="2891354" cy="306054"/>
          </a:xfrm>
          <a:prstGeom prst="rect">
            <a:avLst/>
          </a:prstGeom>
          <a:noFill/>
          <a:ln/>
        </p:spPr>
        <p:txBody>
          <a:bodyPr wrap="square" lIns="25400" tIns="25400" rIns="25400" bIns="25400" rtlCol="0" anchor="t">
            <a:normAutofit/>
          </a:bodyPr>
          <a:lstStyle/>
          <a:p>
            <a:pPr algn="ctr" indent="0" marL="0">
              <a:buNone/>
            </a:pPr>
            <a:r>
              <a:rPr lang="en-US" sz="1808" b="1" dirty="0">
                <a:solidFill>
                  <a:srgbClr val="EEF3F9"/>
                </a:solidFill>
                <a:latin typeface="Arial" pitchFamily="34" charset="0"/>
                <a:ea typeface="Arial" pitchFamily="34" charset="-122"/>
                <a:cs typeface="Arial" pitchFamily="34" charset="-120"/>
              </a:rPr>
              <a:t>Worker 3</a:t>
            </a:r>
            <a:endParaRPr lang="en-US" sz="1808" dirty="0"/>
          </a:p>
        </p:txBody>
      </p:sp>
      <p:sp>
        <p:nvSpPr>
          <p:cNvPr id="30" name="Text 28"/>
          <p:cNvSpPr/>
          <p:nvPr/>
        </p:nvSpPr>
        <p:spPr>
          <a:xfrm>
            <a:off x="6955374" y="6320979"/>
            <a:ext cx="2891354" cy="344334"/>
          </a:xfrm>
          <a:prstGeom prst="rect">
            <a:avLst/>
          </a:prstGeom>
          <a:noFill/>
          <a:ln/>
        </p:spPr>
        <p:txBody>
          <a:bodyPr wrap="square" lIns="25400" tIns="25400" rIns="25400" bIns="25400" rtlCol="0" anchor="t">
            <a:normAutofit/>
          </a:bodyPr>
          <a:lstStyle/>
          <a:p>
            <a:pPr algn="ctr" indent="0" marL="0">
              <a:buNone/>
            </a:pPr>
            <a:r>
              <a:rPr lang="en-US" sz="1808" dirty="0">
                <a:solidFill>
                  <a:srgbClr val="8EA0B5"/>
                </a:solidFill>
                <a:latin typeface="Courier New" pitchFamily="34" charset="0"/>
                <a:ea typeface="Courier New" pitchFamily="34" charset="-122"/>
                <a:cs typeface="Courier New" pitchFamily="34" charset="-120"/>
              </a:rPr>
              <a:t>DataNode</a:t>
            </a:r>
            <a:endParaRPr lang="en-US" sz="1808" dirty="0"/>
          </a:p>
        </p:txBody>
      </p:sp>
      <p:sp>
        <p:nvSpPr>
          <p:cNvPr id="31" name="Text 29"/>
          <p:cNvSpPr/>
          <p:nvPr/>
        </p:nvSpPr>
        <p:spPr>
          <a:xfrm>
            <a:off x="7047371" y="6703771"/>
            <a:ext cx="2707358" cy="727125"/>
          </a:xfrm>
          <a:prstGeom prst="rect">
            <a:avLst/>
          </a:prstGeom>
          <a:noFill/>
          <a:ln/>
        </p:spPr>
        <p:txBody>
          <a:bodyPr wrap="square" lIns="25400" tIns="25400" rIns="25400" bIns="25400" rtlCol="0" anchor="t">
            <a:normAutofit/>
          </a:bodyPr>
          <a:lstStyle/>
          <a:p>
            <a:pPr algn="ctr" indent="0" marL="0">
              <a:lnSpc>
                <a:spcPct val="131707"/>
              </a:lnSpc>
              <a:buNone/>
            </a:pPr>
            <a:r>
              <a:rPr lang="en-US" sz="1808" dirty="0">
                <a:solidFill>
                  <a:srgbClr val="56DBDB"/>
                </a:solidFill>
                <a:latin typeface="Courier New" pitchFamily="34" charset="0"/>
                <a:ea typeface="Courier New" pitchFamily="34" charset="-122"/>
                <a:cs typeface="Courier New" pitchFamily="34" charset="-120"/>
              </a:rPr>
              <a:t>C · B D · E</a:t>
            </a:r>
            <a:endParaRPr lang="en-US" sz="1808" dirty="0"/>
          </a:p>
        </p:txBody>
      </p:sp>
      <p:sp>
        <p:nvSpPr>
          <p:cNvPr id="32" name="Text 30"/>
          <p:cNvSpPr/>
          <p:nvPr/>
        </p:nvSpPr>
        <p:spPr>
          <a:xfrm>
            <a:off x="628650" y="7662666"/>
            <a:ext cx="9639300" cy="358080"/>
          </a:xfrm>
          <a:prstGeom prst="rect">
            <a:avLst/>
          </a:prstGeom>
          <a:noFill/>
          <a:ln/>
        </p:spPr>
        <p:txBody>
          <a:bodyPr wrap="square" lIns="25400" tIns="25400" rIns="25400" bIns="25400" rtlCol="0" anchor="t">
            <a:normAutofit/>
          </a:bodyPr>
          <a:lstStyle/>
          <a:p>
            <a:pPr algn="ctr" indent="0" marL="0">
              <a:lnSpc>
                <a:spcPct val="120000"/>
              </a:lnSpc>
              <a:buNone/>
            </a:pPr>
            <a:r>
              <a:rPr lang="en-US" sz="1800" dirty="0">
                <a:solidFill>
                  <a:srgbClr val="8EA0B5"/>
                </a:solidFill>
                <a:latin typeface="Arial" pitchFamily="34" charset="0"/>
                <a:ea typeface="Arial" pitchFamily="34" charset="-122"/>
                <a:cs typeface="Arial" pitchFamily="34" charset="-120"/>
              </a:rPr>
              <a:t>Chaque bloc est présent sur </a:t>
            </a:r>
            <a:pPr algn="ctr" indent="0" marL="0">
              <a:lnSpc>
                <a:spcPct val="120000"/>
              </a:lnSpc>
              <a:buNone/>
            </a:pPr>
            <a:r>
              <a:rPr lang="en-US" sz="1800" dirty="0">
                <a:solidFill>
                  <a:srgbClr val="EEF3F9"/>
                </a:solidFill>
                <a:latin typeface="Arial" pitchFamily="34" charset="0"/>
                <a:ea typeface="Arial" pitchFamily="34" charset="-122"/>
                <a:cs typeface="Arial" pitchFamily="34" charset="-120"/>
              </a:rPr>
              <a:t>3 DataNodes </a:t>
            </a:r>
            <a:pPr algn="ctr" indent="0" marL="0">
              <a:lnSpc>
                <a:spcPct val="120000"/>
              </a:lnSpc>
              <a:buNone/>
            </a:pPr>
            <a:r>
              <a:rPr lang="en-US" sz="1800" dirty="0">
                <a:solidFill>
                  <a:srgbClr val="8EA0B5"/>
                </a:solidFill>
                <a:latin typeface="Arial" pitchFamily="34" charset="0"/>
                <a:ea typeface="Arial" pitchFamily="34" charset="-122"/>
                <a:cs typeface="Arial" pitchFamily="34" charset="-120"/>
              </a:rPr>
              <a:t>différents.</a:t>
            </a:r>
            <a:endParaRPr lang="en-US" sz="1800" dirty="0"/>
          </a:p>
        </p:txBody>
      </p:sp>
      <p:sp>
        <p:nvSpPr>
          <p:cNvPr id="33" name="Shape 31"/>
          <p:cNvSpPr/>
          <p:nvPr/>
        </p:nvSpPr>
        <p:spPr>
          <a:xfrm>
            <a:off x="10210800" y="3744119"/>
            <a:ext cx="25400" cy="1014611"/>
          </a:xfrm>
          <a:prstGeom prst="rect">
            <a:avLst/>
          </a:prstGeom>
          <a:solidFill>
            <a:srgbClr val="56DBDB">
              <a:alpha val="86000"/>
            </a:srgbClr>
          </a:solidFill>
          <a:ln/>
        </p:spPr>
      </p:sp>
      <p:sp>
        <p:nvSpPr>
          <p:cNvPr id="34" name="Text 32"/>
          <p:cNvSpPr/>
          <p:nvPr/>
        </p:nvSpPr>
        <p:spPr>
          <a:xfrm>
            <a:off x="10445751" y="3744119"/>
            <a:ext cx="7452995" cy="336550"/>
          </a:xfrm>
          <a:prstGeom prst="rect">
            <a:avLst/>
          </a:prstGeom>
          <a:noFill/>
          <a:ln/>
        </p:spPr>
        <p:txBody>
          <a:bodyPr wrap="square" lIns="25400" tIns="25400" rIns="25400" bIns="25400" rtlCol="0" anchor="t">
            <a:normAutofit/>
          </a:bodyPr>
          <a:lstStyle/>
          <a:p>
            <a:pPr algn="l" indent="0" marL="0">
              <a:buNone/>
            </a:pPr>
            <a:r>
              <a:rPr lang="en-US" sz="2025" b="1" dirty="0">
                <a:solidFill>
                  <a:srgbClr val="EEF3F9">
                    <a:alpha val="86000"/>
                  </a:srgbClr>
                </a:solidFill>
                <a:latin typeface="Arial" pitchFamily="34" charset="0"/>
                <a:ea typeface="Arial" pitchFamily="34" charset="-122"/>
                <a:cs typeface="Arial" pitchFamily="34" charset="-120"/>
              </a:rPr>
              <a:t>Pourquoi découper ?</a:t>
            </a:r>
            <a:endParaRPr lang="en-US" sz="2025" dirty="0"/>
          </a:p>
        </p:txBody>
      </p:sp>
      <p:sp>
        <p:nvSpPr>
          <p:cNvPr id="35" name="Text 33"/>
          <p:cNvSpPr/>
          <p:nvPr/>
        </p:nvSpPr>
        <p:spPr>
          <a:xfrm>
            <a:off x="10445751" y="4118769"/>
            <a:ext cx="6978714" cy="678061"/>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8EA0B5">
                    <a:alpha val="86000"/>
                  </a:srgbClr>
                </a:solidFill>
                <a:latin typeface="Arial" pitchFamily="34" charset="0"/>
                <a:ea typeface="Arial" pitchFamily="34" charset="-122"/>
                <a:cs typeface="Arial" pitchFamily="34" charset="-120"/>
              </a:rPr>
              <a:t>Stocker des fichiers plus gros qu'un disque, lire/écrire en parallèle, répartir la charge.</a:t>
            </a:r>
            <a:endParaRPr lang="en-US" sz="1800" dirty="0"/>
          </a:p>
        </p:txBody>
      </p:sp>
      <p:sp>
        <p:nvSpPr>
          <p:cNvPr id="36" name="Shape 34"/>
          <p:cNvSpPr/>
          <p:nvPr/>
        </p:nvSpPr>
        <p:spPr>
          <a:xfrm>
            <a:off x="10210800" y="4949230"/>
            <a:ext cx="25400" cy="1014611"/>
          </a:xfrm>
          <a:prstGeom prst="rect">
            <a:avLst/>
          </a:prstGeom>
          <a:solidFill>
            <a:srgbClr val="56DBDB">
              <a:alpha val="86000"/>
            </a:srgbClr>
          </a:solidFill>
          <a:ln/>
        </p:spPr>
      </p:sp>
      <p:sp>
        <p:nvSpPr>
          <p:cNvPr id="37" name="Text 35"/>
          <p:cNvSpPr/>
          <p:nvPr/>
        </p:nvSpPr>
        <p:spPr>
          <a:xfrm>
            <a:off x="10445751" y="4949230"/>
            <a:ext cx="7452995" cy="336550"/>
          </a:xfrm>
          <a:prstGeom prst="rect">
            <a:avLst/>
          </a:prstGeom>
          <a:noFill/>
          <a:ln/>
        </p:spPr>
        <p:txBody>
          <a:bodyPr wrap="square" lIns="25400" tIns="25400" rIns="25400" bIns="25400" rtlCol="0" anchor="t">
            <a:normAutofit/>
          </a:bodyPr>
          <a:lstStyle/>
          <a:p>
            <a:pPr algn="l" indent="0" marL="0">
              <a:buNone/>
            </a:pPr>
            <a:r>
              <a:rPr lang="en-US" sz="2025" b="1" dirty="0">
                <a:solidFill>
                  <a:srgbClr val="EEF3F9">
                    <a:alpha val="86000"/>
                  </a:srgbClr>
                </a:solidFill>
                <a:latin typeface="Arial" pitchFamily="34" charset="0"/>
                <a:ea typeface="Arial" pitchFamily="34" charset="-122"/>
                <a:cs typeface="Arial" pitchFamily="34" charset="-120"/>
              </a:rPr>
              <a:t>Pourquoi répliquer ?</a:t>
            </a:r>
            <a:endParaRPr lang="en-US" sz="2025" dirty="0"/>
          </a:p>
        </p:txBody>
      </p:sp>
      <p:sp>
        <p:nvSpPr>
          <p:cNvPr id="38" name="Text 36"/>
          <p:cNvSpPr/>
          <p:nvPr/>
        </p:nvSpPr>
        <p:spPr>
          <a:xfrm>
            <a:off x="10445751" y="5323880"/>
            <a:ext cx="6978714" cy="678061"/>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8EA0B5">
                    <a:alpha val="86000"/>
                  </a:srgbClr>
                </a:solidFill>
                <a:latin typeface="Arial" pitchFamily="34" charset="0"/>
                <a:ea typeface="Arial" pitchFamily="34" charset="-122"/>
                <a:cs typeface="Arial" pitchFamily="34" charset="-120"/>
              </a:rPr>
              <a:t>Facteur 3 par défaut : un bloc reste disponible malgré la panne d'un DataNode ; le NameNode recrée les répliques manquantes.</a:t>
            </a:r>
            <a:endParaRPr lang="en-US" sz="1800" dirty="0"/>
          </a:p>
        </p:txBody>
      </p:sp>
      <p:sp>
        <p:nvSpPr>
          <p:cNvPr id="39" name="Shape 37"/>
          <p:cNvSpPr/>
          <p:nvPr/>
        </p:nvSpPr>
        <p:spPr>
          <a:xfrm>
            <a:off x="10210800" y="6154341"/>
            <a:ext cx="7010400" cy="1803400"/>
          </a:xfrm>
          <a:prstGeom prst="roundRect">
            <a:avLst>
              <a:gd name="adj" fmla="val 7394"/>
            </a:avLst>
          </a:prstGeom>
          <a:gradFill rotWithShape="1">
            <a:gsLst>
              <a:gs pos="0">
                <a:srgbClr val="52DEDE">
                  <a:alpha val="11000"/>
                </a:srgbClr>
              </a:gs>
              <a:gs pos="100000">
                <a:srgbClr val="FFFFFF">
                  <a:alpha val="3000"/>
                </a:srgbClr>
              </a:gs>
            </a:gsLst>
            <a:lin ang="4200000" scaled="0"/>
          </a:gradFill>
          <a:ln w="6350">
            <a:solidFill>
              <a:srgbClr val="85E4E4">
                <a:alpha val="29000"/>
              </a:srgbClr>
            </a:solidFill>
            <a:prstDash val="solid"/>
          </a:ln>
        </p:spPr>
      </p:sp>
      <p:sp>
        <p:nvSpPr>
          <p:cNvPr id="40" name="Text 38"/>
          <p:cNvSpPr/>
          <p:nvPr/>
        </p:nvSpPr>
        <p:spPr>
          <a:xfrm>
            <a:off x="10464800" y="6370241"/>
            <a:ext cx="6712712" cy="14097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8EA0B5">
                    <a:alpha val="86000"/>
                  </a:srgbClr>
                </a:solidFill>
                <a:latin typeface="Arial" pitchFamily="34" charset="0"/>
                <a:ea typeface="Arial" pitchFamily="34" charset="-122"/>
                <a:cs typeface="Arial" pitchFamily="34" charset="-120"/>
              </a:rPr>
              <a:t>Un DataNode ne stocke </a:t>
            </a:r>
            <a:pPr algn="l" indent="0" marL="0">
              <a:lnSpc>
                <a:spcPct val="128571"/>
              </a:lnSpc>
              <a:buNone/>
            </a:pPr>
            <a:r>
              <a:rPr lang="en-US" sz="1800" dirty="0">
                <a:solidFill>
                  <a:srgbClr val="EEF3F9">
                    <a:alpha val="86000"/>
                  </a:srgbClr>
                </a:solidFill>
                <a:latin typeface="Arial" pitchFamily="34" charset="0"/>
                <a:ea typeface="Arial" pitchFamily="34" charset="-122"/>
                <a:cs typeface="Arial" pitchFamily="34" charset="-120"/>
              </a:rPr>
              <a:t>pas un fichier complet </a:t>
            </a:r>
            <a:pPr algn="l" indent="0" marL="0">
              <a:lnSpc>
                <a:spcPct val="128571"/>
              </a:lnSpc>
              <a:buNone/>
            </a:pPr>
            <a:r>
              <a:rPr lang="en-US" sz="1800" dirty="0">
                <a:solidFill>
                  <a:srgbClr val="8EA0B5">
                    <a:alpha val="86000"/>
                  </a:srgbClr>
                </a:solidFill>
                <a:latin typeface="Arial" pitchFamily="34" charset="0"/>
                <a:ea typeface="Arial" pitchFamily="34" charset="-122"/>
                <a:cs typeface="Arial" pitchFamily="34" charset="-120"/>
              </a:rPr>
              <a:t>, mais un grand nombre de </a:t>
            </a:r>
            <a:pPr algn="l" indent="0" marL="0">
              <a:lnSpc>
                <a:spcPct val="128571"/>
              </a:lnSpc>
              <a:buNone/>
            </a:pPr>
            <a:r>
              <a:rPr lang="en-US" sz="1800" dirty="0">
                <a:solidFill>
                  <a:srgbClr val="EEF3F9">
                    <a:alpha val="86000"/>
                  </a:srgbClr>
                </a:solidFill>
                <a:latin typeface="Arial" pitchFamily="34" charset="0"/>
                <a:ea typeface="Arial" pitchFamily="34" charset="-122"/>
                <a:cs typeface="Arial" pitchFamily="34" charset="-120"/>
              </a:rPr>
              <a:t>blocs HDFS </a:t>
            </a:r>
            <a:pPr algn="l" indent="0" marL="0">
              <a:lnSpc>
                <a:spcPct val="128571"/>
              </a:lnSpc>
              <a:buNone/>
            </a:pPr>
            <a:r>
              <a:rPr lang="en-US" sz="1800" dirty="0">
                <a:solidFill>
                  <a:srgbClr val="8EA0B5">
                    <a:alpha val="86000"/>
                  </a:srgbClr>
                </a:solidFill>
                <a:latin typeface="Arial" pitchFamily="34" charset="0"/>
                <a:ea typeface="Arial" pitchFamily="34" charset="-122"/>
                <a:cs typeface="Arial" pitchFamily="34" charset="-120"/>
              </a:rPr>
              <a:t>— chacun répliqué (3 copies par défaut) sur différents DataNodes, pour la disponibilité et la tolérance aux pannes.</a:t>
            </a:r>
            <a:endParaRPr lang="en-US" sz="1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C121C"/>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56DBDB">
                    <a:alpha val="97000"/>
                  </a:srgbClr>
                </a:solidFill>
                <a:latin typeface="Courier New" pitchFamily="34" charset="0"/>
                <a:ea typeface="Courier New" pitchFamily="34" charset="-122"/>
                <a:cs typeface="Courier New" pitchFamily="34" charset="-120"/>
              </a:rPr>
              <a:t>ATELIER 4.1 · HDFS</a:t>
            </a:r>
            <a:endParaRPr lang="en-US" sz="1800" dirty="0"/>
          </a:p>
        </p:txBody>
      </p:sp>
      <p:sp>
        <p:nvSpPr>
          <p:cNvPr id="3" name="Text 1"/>
          <p:cNvSpPr/>
          <p:nvPr/>
        </p:nvSpPr>
        <p:spPr>
          <a:xfrm>
            <a:off x="1066800" y="1314451"/>
            <a:ext cx="11188005"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NameNode et DataNodes</a:t>
            </a:r>
            <a:endParaRPr lang="en-US" sz="4800" dirty="0"/>
          </a:p>
        </p:txBody>
      </p:sp>
      <p:sp>
        <p:nvSpPr>
          <p:cNvPr id="4" name="Shape 2"/>
          <p:cNvSpPr/>
          <p:nvPr/>
        </p:nvSpPr>
        <p:spPr>
          <a:xfrm>
            <a:off x="1066800" y="2329360"/>
            <a:ext cx="7934325" cy="7138492"/>
          </a:xfrm>
          <a:prstGeom prst="roundRect">
            <a:avLst>
              <a:gd name="adj" fmla="val 2402"/>
            </a:avLst>
          </a:prstGeom>
          <a:gradFill rotWithShape="1">
            <a:gsLst>
              <a:gs pos="0">
                <a:srgbClr val="55DCDC">
                  <a:alpha val="14000"/>
                </a:srgbClr>
              </a:gs>
              <a:gs pos="100000">
                <a:srgbClr val="FFFFFF">
                  <a:alpha val="3000"/>
                </a:srgbClr>
              </a:gs>
            </a:gsLst>
            <a:lin ang="4200000" scaled="0"/>
          </a:gradFill>
          <a:ln w="6350">
            <a:solidFill>
              <a:srgbClr val="82E3E3">
                <a:alpha val="35000"/>
              </a:srgbClr>
            </a:solidFill>
            <a:prstDash val="solid"/>
          </a:ln>
        </p:spPr>
      </p:sp>
      <p:sp>
        <p:nvSpPr>
          <p:cNvPr id="5" name="Text 3"/>
          <p:cNvSpPr/>
          <p:nvPr/>
        </p:nvSpPr>
        <p:spPr>
          <a:xfrm>
            <a:off x="1397000" y="2697660"/>
            <a:ext cx="8001318" cy="387350"/>
          </a:xfrm>
          <a:prstGeom prst="rect">
            <a:avLst/>
          </a:prstGeom>
          <a:noFill/>
          <a:ln/>
        </p:spPr>
        <p:txBody>
          <a:bodyPr wrap="square" lIns="25400" tIns="25400" rIns="25400" bIns="25400" rtlCol="0" anchor="t">
            <a:normAutofit/>
          </a:bodyPr>
          <a:lstStyle/>
          <a:p>
            <a:pPr algn="l" indent="0" marL="0">
              <a:buNone/>
            </a:pPr>
            <a:r>
              <a:rPr lang="en-US" sz="2400" b="1" dirty="0">
                <a:solidFill>
                  <a:srgbClr val="56DBDB"/>
                </a:solidFill>
                <a:latin typeface="Arial" pitchFamily="34" charset="0"/>
                <a:ea typeface="Arial" pitchFamily="34" charset="-122"/>
                <a:cs typeface="Arial" pitchFamily="34" charset="-120"/>
              </a:rPr>
              <a:t>NameNode </a:t>
            </a:r>
            <a:pPr algn="l" indent="0" marL="0">
              <a:buNone/>
            </a:pPr>
            <a:r>
              <a:rPr lang="en-US" sz="1800" b="1" dirty="0">
                <a:solidFill>
                  <a:srgbClr val="8EA0B5"/>
                </a:solidFill>
                <a:latin typeface="Arial" pitchFamily="34" charset="0"/>
                <a:ea typeface="Arial" pitchFamily="34" charset="-122"/>
                <a:cs typeface="Arial" pitchFamily="34" charset="-120"/>
              </a:rPr>
              <a:t>· nœud de contrôle</a:t>
            </a:r>
            <a:endParaRPr lang="en-US" sz="2400" dirty="0"/>
          </a:p>
        </p:txBody>
      </p:sp>
      <p:sp>
        <p:nvSpPr>
          <p:cNvPr id="6" name="Text 4"/>
          <p:cNvSpPr/>
          <p:nvPr/>
        </p:nvSpPr>
        <p:spPr>
          <a:xfrm>
            <a:off x="1397000" y="3199310"/>
            <a:ext cx="8001318" cy="371475"/>
          </a:xfrm>
          <a:prstGeom prst="rect">
            <a:avLst/>
          </a:prstGeom>
          <a:noFill/>
          <a:ln/>
        </p:spPr>
        <p:txBody>
          <a:bodyPr wrap="square" lIns="25400" tIns="25400" rIns="25400" bIns="25400" rtlCol="0" anchor="t">
            <a:normAutofit/>
          </a:bodyPr>
          <a:lstStyle/>
          <a:p>
            <a:pPr algn="l" indent="0" marL="0">
              <a:lnSpc>
                <a:spcPct val="122093"/>
              </a:lnSpc>
              <a:buNone/>
            </a:pPr>
            <a:r>
              <a:rPr lang="en-US" sz="1875" dirty="0">
                <a:solidFill>
                  <a:srgbClr val="EEF3F9"/>
                </a:solidFill>
                <a:latin typeface="Arial" pitchFamily="34" charset="0"/>
                <a:ea typeface="Arial" pitchFamily="34" charset="-122"/>
                <a:cs typeface="Arial" pitchFamily="34" charset="-120"/>
              </a:rPr>
              <a:t>Métadonnées uniquement :</a:t>
            </a:r>
            <a:endParaRPr lang="en-US" sz="1875" dirty="0"/>
          </a:p>
        </p:txBody>
      </p:sp>
      <p:sp>
        <p:nvSpPr>
          <p:cNvPr id="7" name="Text 5"/>
          <p:cNvSpPr/>
          <p:nvPr/>
        </p:nvSpPr>
        <p:spPr>
          <a:xfrm>
            <a:off x="1397000" y="3666035"/>
            <a:ext cx="267196"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6DBDB"/>
                </a:solidFill>
                <a:latin typeface="Arial" pitchFamily="34" charset="0"/>
                <a:ea typeface="Arial" pitchFamily="34" charset="-122"/>
                <a:cs typeface="Arial" pitchFamily="34" charset="-120"/>
              </a:rPr>
              <a:t>▸</a:t>
            </a:r>
            <a:endParaRPr lang="en-US" sz="1800" dirty="0"/>
          </a:p>
        </p:txBody>
      </p:sp>
      <p:sp>
        <p:nvSpPr>
          <p:cNvPr id="8" name="Text 6"/>
          <p:cNvSpPr/>
          <p:nvPr/>
        </p:nvSpPr>
        <p:spPr>
          <a:xfrm>
            <a:off x="1702296" y="3666035"/>
            <a:ext cx="3662374" cy="336550"/>
          </a:xfrm>
          <a:prstGeom prst="rect">
            <a:avLst/>
          </a:prstGeom>
          <a:noFill/>
          <a:ln/>
        </p:spPr>
        <p:txBody>
          <a:bodyPr wrap="square" lIns="0" tIns="0" rIns="0" bIns="0" rtlCol="0" anchor="t">
            <a:normAutofit/>
          </a:bodyPr>
          <a:lstStyle/>
          <a:p>
            <a:pPr algn="l" indent="0" marL="0">
              <a:buNone/>
            </a:pPr>
            <a:r>
              <a:rPr lang="en-US" sz="1800" dirty="0">
                <a:solidFill>
                  <a:srgbClr val="8EA0B5"/>
                </a:solidFill>
                <a:latin typeface="Arial" pitchFamily="34" charset="0"/>
                <a:ea typeface="Arial" pitchFamily="34" charset="-122"/>
                <a:cs typeface="Arial" pitchFamily="34" charset="-120"/>
              </a:rPr>
              <a:t>Arborescence fichiers / répertoires</a:t>
            </a:r>
            <a:endParaRPr lang="en-US" sz="1800" dirty="0"/>
          </a:p>
        </p:txBody>
      </p:sp>
      <p:sp>
        <p:nvSpPr>
          <p:cNvPr id="9" name="Text 7"/>
          <p:cNvSpPr/>
          <p:nvPr/>
        </p:nvSpPr>
        <p:spPr>
          <a:xfrm>
            <a:off x="1397000" y="4085135"/>
            <a:ext cx="267196"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6DBDB"/>
                </a:solidFill>
                <a:latin typeface="Arial" pitchFamily="34" charset="0"/>
                <a:ea typeface="Arial" pitchFamily="34" charset="-122"/>
                <a:cs typeface="Arial" pitchFamily="34" charset="-120"/>
              </a:rPr>
              <a:t>▸</a:t>
            </a:r>
            <a:endParaRPr lang="en-US" sz="1800" dirty="0"/>
          </a:p>
        </p:txBody>
      </p:sp>
      <p:sp>
        <p:nvSpPr>
          <p:cNvPr id="10" name="Text 8"/>
          <p:cNvSpPr/>
          <p:nvPr/>
        </p:nvSpPr>
        <p:spPr>
          <a:xfrm>
            <a:off x="1702296" y="4085135"/>
            <a:ext cx="2969387" cy="336550"/>
          </a:xfrm>
          <a:prstGeom prst="rect">
            <a:avLst/>
          </a:prstGeom>
          <a:noFill/>
          <a:ln/>
        </p:spPr>
        <p:txBody>
          <a:bodyPr wrap="square" lIns="0" tIns="0" rIns="0" bIns="0" rtlCol="0" anchor="t">
            <a:normAutofit/>
          </a:bodyPr>
          <a:lstStyle/>
          <a:p>
            <a:pPr algn="l" indent="0" marL="0">
              <a:buNone/>
            </a:pPr>
            <a:r>
              <a:rPr lang="en-US" sz="1800" dirty="0">
                <a:solidFill>
                  <a:srgbClr val="8EA0B5"/>
                </a:solidFill>
                <a:latin typeface="Arial" pitchFamily="34" charset="0"/>
                <a:ea typeface="Arial" pitchFamily="34" charset="-122"/>
                <a:cs typeface="Arial" pitchFamily="34" charset="-120"/>
              </a:rPr>
              <a:t>Permissions et propriétaires</a:t>
            </a:r>
            <a:endParaRPr lang="en-US" sz="1800" dirty="0"/>
          </a:p>
        </p:txBody>
      </p:sp>
      <p:sp>
        <p:nvSpPr>
          <p:cNvPr id="11" name="Text 9"/>
          <p:cNvSpPr/>
          <p:nvPr/>
        </p:nvSpPr>
        <p:spPr>
          <a:xfrm>
            <a:off x="1397000" y="4504235"/>
            <a:ext cx="267196"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6DBDB"/>
                </a:solidFill>
                <a:latin typeface="Arial" pitchFamily="34" charset="0"/>
                <a:ea typeface="Arial" pitchFamily="34" charset="-122"/>
                <a:cs typeface="Arial" pitchFamily="34" charset="-120"/>
              </a:rPr>
              <a:t>▸</a:t>
            </a:r>
            <a:endParaRPr lang="en-US" sz="1800" dirty="0"/>
          </a:p>
        </p:txBody>
      </p:sp>
      <p:sp>
        <p:nvSpPr>
          <p:cNvPr id="12" name="Text 10"/>
          <p:cNvSpPr/>
          <p:nvPr/>
        </p:nvSpPr>
        <p:spPr>
          <a:xfrm>
            <a:off x="1702296" y="4504235"/>
            <a:ext cx="3091613" cy="336550"/>
          </a:xfrm>
          <a:prstGeom prst="rect">
            <a:avLst/>
          </a:prstGeom>
          <a:noFill/>
          <a:ln/>
        </p:spPr>
        <p:txBody>
          <a:bodyPr wrap="square" lIns="0" tIns="0" rIns="0" bIns="0" rtlCol="0" anchor="t">
            <a:normAutofit/>
          </a:bodyPr>
          <a:lstStyle/>
          <a:p>
            <a:pPr algn="l" indent="0" marL="0">
              <a:buNone/>
            </a:pPr>
            <a:r>
              <a:rPr lang="en-US" sz="1800" dirty="0">
                <a:solidFill>
                  <a:srgbClr val="8EA0B5"/>
                </a:solidFill>
                <a:latin typeface="Arial" pitchFamily="34" charset="0"/>
                <a:ea typeface="Arial" pitchFamily="34" charset="-122"/>
                <a:cs typeface="Arial" pitchFamily="34" charset="-120"/>
              </a:rPr>
              <a:t>Liste et localisation des blocs</a:t>
            </a:r>
            <a:endParaRPr lang="en-US" sz="1800" dirty="0"/>
          </a:p>
        </p:txBody>
      </p:sp>
      <p:sp>
        <p:nvSpPr>
          <p:cNvPr id="13" name="Text 11"/>
          <p:cNvSpPr/>
          <p:nvPr/>
        </p:nvSpPr>
        <p:spPr>
          <a:xfrm>
            <a:off x="1397000" y="8779571"/>
            <a:ext cx="7492143" cy="35808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FFB46E"/>
                </a:solidFill>
                <a:latin typeface="Arial" pitchFamily="34" charset="0"/>
                <a:ea typeface="Arial" pitchFamily="34" charset="-122"/>
                <a:cs typeface="Arial" pitchFamily="34" charset="-120"/>
              </a:rPr>
              <a:t>Ne stocke </a:t>
            </a:r>
            <a:pPr algn="l" indent="0" marL="0">
              <a:lnSpc>
                <a:spcPct val="120000"/>
              </a:lnSpc>
              <a:buNone/>
            </a:pPr>
            <a:r>
              <a:rPr lang="en-US" sz="1800" dirty="0">
                <a:solidFill>
                  <a:srgbClr val="EEF3F9"/>
                </a:solidFill>
                <a:latin typeface="Arial" pitchFamily="34" charset="0"/>
                <a:ea typeface="Arial" pitchFamily="34" charset="-122"/>
                <a:cs typeface="Arial" pitchFamily="34" charset="-120"/>
              </a:rPr>
              <a:t>jamais </a:t>
            </a:r>
            <a:pPr algn="l" indent="0" marL="0">
              <a:lnSpc>
                <a:spcPct val="120000"/>
              </a:lnSpc>
              <a:buNone/>
            </a:pPr>
            <a:r>
              <a:rPr lang="en-US" sz="1800" dirty="0">
                <a:solidFill>
                  <a:srgbClr val="FFB46E"/>
                </a:solidFill>
                <a:latin typeface="Arial" pitchFamily="34" charset="0"/>
                <a:ea typeface="Arial" pitchFamily="34" charset="-122"/>
                <a:cs typeface="Arial" pitchFamily="34" charset="-120"/>
              </a:rPr>
              <a:t>le contenu des blocs — léger mais critique.</a:t>
            </a:r>
            <a:endParaRPr lang="en-US" sz="1800" dirty="0"/>
          </a:p>
        </p:txBody>
      </p:sp>
      <p:sp>
        <p:nvSpPr>
          <p:cNvPr id="14" name="Shape 12"/>
          <p:cNvSpPr/>
          <p:nvPr/>
        </p:nvSpPr>
        <p:spPr>
          <a:xfrm>
            <a:off x="9286875" y="2331500"/>
            <a:ext cx="7934325" cy="7138492"/>
          </a:xfrm>
          <a:prstGeom prst="roundRect">
            <a:avLst>
              <a:gd name="adj" fmla="val 2402"/>
            </a:avLst>
          </a:prstGeom>
          <a:solidFill>
            <a:srgbClr val="FFFFFF">
              <a:alpha val="3000"/>
            </a:srgbClr>
          </a:solidFill>
          <a:ln w="6350">
            <a:solidFill>
              <a:srgbClr val="FFFFFF">
                <a:alpha val="10000"/>
              </a:srgbClr>
            </a:solidFill>
            <a:prstDash val="solid"/>
          </a:ln>
        </p:spPr>
      </p:sp>
      <p:sp>
        <p:nvSpPr>
          <p:cNvPr id="15" name="Text 13"/>
          <p:cNvSpPr/>
          <p:nvPr/>
        </p:nvSpPr>
        <p:spPr>
          <a:xfrm>
            <a:off x="9617075" y="2699800"/>
            <a:ext cx="8001318" cy="387350"/>
          </a:xfrm>
          <a:prstGeom prst="rect">
            <a:avLst/>
          </a:prstGeom>
          <a:noFill/>
          <a:ln/>
        </p:spPr>
        <p:txBody>
          <a:bodyPr wrap="square" lIns="25400" tIns="25400" rIns="25400" bIns="25400" rtlCol="0" anchor="t">
            <a:normAutofit/>
          </a:bodyPr>
          <a:lstStyle/>
          <a:p>
            <a:pPr algn="l" indent="0" marL="0">
              <a:buNone/>
            </a:pPr>
            <a:r>
              <a:rPr lang="en-US" sz="2400" b="1" dirty="0">
                <a:solidFill>
                  <a:srgbClr val="EEF3F9">
                    <a:alpha val="99000"/>
                  </a:srgbClr>
                </a:solidFill>
                <a:latin typeface="Arial" pitchFamily="34" charset="0"/>
                <a:ea typeface="Arial" pitchFamily="34" charset="-122"/>
                <a:cs typeface="Arial" pitchFamily="34" charset="-120"/>
              </a:rPr>
              <a:t>DataNodes </a:t>
            </a:r>
            <a:pPr algn="l" indent="0" marL="0">
              <a:buNone/>
            </a:pPr>
            <a:r>
              <a:rPr lang="en-US" sz="1800" b="1" dirty="0">
                <a:solidFill>
                  <a:srgbClr val="8EA0B5">
                    <a:alpha val="99000"/>
                  </a:srgbClr>
                </a:solidFill>
                <a:latin typeface="Arial" pitchFamily="34" charset="0"/>
                <a:ea typeface="Arial" pitchFamily="34" charset="-122"/>
                <a:cs typeface="Arial" pitchFamily="34" charset="-120"/>
              </a:rPr>
              <a:t>· nœuds de calcul</a:t>
            </a:r>
            <a:endParaRPr lang="en-US" sz="2400" dirty="0"/>
          </a:p>
        </p:txBody>
      </p:sp>
      <p:sp>
        <p:nvSpPr>
          <p:cNvPr id="16" name="Text 14"/>
          <p:cNvSpPr/>
          <p:nvPr/>
        </p:nvSpPr>
        <p:spPr>
          <a:xfrm>
            <a:off x="9617075" y="3201451"/>
            <a:ext cx="8001318" cy="371475"/>
          </a:xfrm>
          <a:prstGeom prst="rect">
            <a:avLst/>
          </a:prstGeom>
          <a:noFill/>
          <a:ln/>
        </p:spPr>
        <p:txBody>
          <a:bodyPr wrap="square" lIns="25400" tIns="25400" rIns="25400" bIns="25400" rtlCol="0" anchor="t">
            <a:normAutofit/>
          </a:bodyPr>
          <a:lstStyle/>
          <a:p>
            <a:pPr algn="l" indent="0" marL="0">
              <a:lnSpc>
                <a:spcPct val="122093"/>
              </a:lnSpc>
              <a:buNone/>
            </a:pPr>
            <a:r>
              <a:rPr lang="en-US" sz="1875" dirty="0">
                <a:solidFill>
                  <a:srgbClr val="EEF3F9">
                    <a:alpha val="99000"/>
                  </a:srgbClr>
                </a:solidFill>
                <a:latin typeface="Arial" pitchFamily="34" charset="0"/>
                <a:ea typeface="Arial" pitchFamily="34" charset="-122"/>
                <a:cs typeface="Arial" pitchFamily="34" charset="-120"/>
              </a:rPr>
              <a:t>Les données réelles :</a:t>
            </a:r>
            <a:endParaRPr lang="en-US" sz="1875" dirty="0"/>
          </a:p>
        </p:txBody>
      </p:sp>
      <p:sp>
        <p:nvSpPr>
          <p:cNvPr id="17" name="Text 15"/>
          <p:cNvSpPr/>
          <p:nvPr/>
        </p:nvSpPr>
        <p:spPr>
          <a:xfrm>
            <a:off x="9617075" y="3668176"/>
            <a:ext cx="267196"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6DBDB">
                    <a:alpha val="99000"/>
                  </a:srgbClr>
                </a:solidFill>
                <a:latin typeface="Arial" pitchFamily="34" charset="0"/>
                <a:ea typeface="Arial" pitchFamily="34" charset="-122"/>
                <a:cs typeface="Arial" pitchFamily="34" charset="-120"/>
              </a:rPr>
              <a:t>▸</a:t>
            </a:r>
            <a:endParaRPr lang="en-US" sz="1800" dirty="0"/>
          </a:p>
        </p:txBody>
      </p:sp>
      <p:sp>
        <p:nvSpPr>
          <p:cNvPr id="18" name="Text 16"/>
          <p:cNvSpPr/>
          <p:nvPr/>
        </p:nvSpPr>
        <p:spPr>
          <a:xfrm>
            <a:off x="9922371" y="3668176"/>
            <a:ext cx="3972026" cy="336550"/>
          </a:xfrm>
          <a:prstGeom prst="rect">
            <a:avLst/>
          </a:prstGeom>
          <a:noFill/>
          <a:ln/>
        </p:spPr>
        <p:txBody>
          <a:bodyPr wrap="square" lIns="0" tIns="0" rIns="0" bIns="0" rtlCol="0" anchor="t">
            <a:normAutofit/>
          </a:bodyPr>
          <a:lstStyle/>
          <a:p>
            <a:pPr algn="l" indent="0" marL="0">
              <a:buNone/>
            </a:pPr>
            <a:r>
              <a:rPr lang="en-US" sz="1800" dirty="0">
                <a:solidFill>
                  <a:srgbClr val="8EA0B5">
                    <a:alpha val="99000"/>
                  </a:srgbClr>
                </a:solidFill>
                <a:latin typeface="Arial" pitchFamily="34" charset="0"/>
                <a:ea typeface="Arial" pitchFamily="34" charset="-122"/>
                <a:cs typeface="Arial" pitchFamily="34" charset="-120"/>
              </a:rPr>
              <a:t>Stockent les blocs (et leurs répliques)</a:t>
            </a:r>
            <a:endParaRPr lang="en-US" sz="1800" dirty="0"/>
          </a:p>
        </p:txBody>
      </p:sp>
      <p:sp>
        <p:nvSpPr>
          <p:cNvPr id="19" name="Text 17"/>
          <p:cNvSpPr/>
          <p:nvPr/>
        </p:nvSpPr>
        <p:spPr>
          <a:xfrm>
            <a:off x="9617075" y="4087276"/>
            <a:ext cx="267196"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6DBDB">
                    <a:alpha val="99000"/>
                  </a:srgbClr>
                </a:solidFill>
                <a:latin typeface="Arial" pitchFamily="34" charset="0"/>
                <a:ea typeface="Arial" pitchFamily="34" charset="-122"/>
                <a:cs typeface="Arial" pitchFamily="34" charset="-120"/>
              </a:rPr>
              <a:t>▸</a:t>
            </a:r>
            <a:endParaRPr lang="en-US" sz="1800" dirty="0"/>
          </a:p>
        </p:txBody>
      </p:sp>
      <p:sp>
        <p:nvSpPr>
          <p:cNvPr id="20" name="Text 18"/>
          <p:cNvSpPr/>
          <p:nvPr/>
        </p:nvSpPr>
        <p:spPr>
          <a:xfrm>
            <a:off x="9922371" y="4087276"/>
            <a:ext cx="3237139" cy="336550"/>
          </a:xfrm>
          <a:prstGeom prst="rect">
            <a:avLst/>
          </a:prstGeom>
          <a:noFill/>
          <a:ln/>
        </p:spPr>
        <p:txBody>
          <a:bodyPr wrap="square" lIns="0" tIns="0" rIns="0" bIns="0" rtlCol="0" anchor="t">
            <a:normAutofit/>
          </a:bodyPr>
          <a:lstStyle/>
          <a:p>
            <a:pPr algn="l" indent="0" marL="0">
              <a:buNone/>
            </a:pPr>
            <a:r>
              <a:rPr lang="en-US" sz="1800" dirty="0">
                <a:solidFill>
                  <a:srgbClr val="8EA0B5">
                    <a:alpha val="99000"/>
                  </a:srgbClr>
                </a:solidFill>
                <a:latin typeface="Arial" pitchFamily="34" charset="0"/>
                <a:ea typeface="Arial" pitchFamily="34" charset="-122"/>
                <a:cs typeface="Arial" pitchFamily="34" charset="-120"/>
              </a:rPr>
              <a:t>Exécutent lectures et écritures</a:t>
            </a:r>
            <a:endParaRPr lang="en-US" sz="1800" dirty="0"/>
          </a:p>
        </p:txBody>
      </p:sp>
      <p:sp>
        <p:nvSpPr>
          <p:cNvPr id="21" name="Text 19"/>
          <p:cNvSpPr/>
          <p:nvPr/>
        </p:nvSpPr>
        <p:spPr>
          <a:xfrm>
            <a:off x="9617075" y="4506376"/>
            <a:ext cx="267196"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6DBDB">
                    <a:alpha val="99000"/>
                  </a:srgbClr>
                </a:solidFill>
                <a:latin typeface="Arial" pitchFamily="34" charset="0"/>
                <a:ea typeface="Arial" pitchFamily="34" charset="-122"/>
                <a:cs typeface="Arial" pitchFamily="34" charset="-120"/>
              </a:rPr>
              <a:t>▸</a:t>
            </a:r>
            <a:endParaRPr lang="en-US" sz="1800" dirty="0"/>
          </a:p>
        </p:txBody>
      </p:sp>
      <p:sp>
        <p:nvSpPr>
          <p:cNvPr id="22" name="Text 20"/>
          <p:cNvSpPr/>
          <p:nvPr/>
        </p:nvSpPr>
        <p:spPr>
          <a:xfrm>
            <a:off x="9922371" y="4506376"/>
            <a:ext cx="3841318" cy="336550"/>
          </a:xfrm>
          <a:prstGeom prst="rect">
            <a:avLst/>
          </a:prstGeom>
          <a:noFill/>
          <a:ln/>
        </p:spPr>
        <p:txBody>
          <a:bodyPr wrap="square" lIns="0" tIns="0" rIns="0" bIns="0" rtlCol="0" anchor="t">
            <a:normAutofit/>
          </a:bodyPr>
          <a:lstStyle/>
          <a:p>
            <a:pPr algn="l" indent="0" marL="0">
              <a:buNone/>
            </a:pPr>
            <a:r>
              <a:rPr lang="en-US" sz="1800" dirty="0">
                <a:solidFill>
                  <a:srgbClr val="8EA0B5">
                    <a:alpha val="99000"/>
                  </a:srgbClr>
                </a:solidFill>
                <a:latin typeface="Arial" pitchFamily="34" charset="0"/>
                <a:ea typeface="Arial" pitchFamily="34" charset="-122"/>
                <a:cs typeface="Arial" pitchFamily="34" charset="-120"/>
              </a:rPr>
              <a:t>Recréent les répliques à la demande</a:t>
            </a:r>
            <a:endParaRPr lang="en-US" sz="1800" dirty="0"/>
          </a:p>
        </p:txBody>
      </p:sp>
      <p:sp>
        <p:nvSpPr>
          <p:cNvPr id="23" name="Text 21"/>
          <p:cNvSpPr/>
          <p:nvPr/>
        </p:nvSpPr>
        <p:spPr>
          <a:xfrm>
            <a:off x="9617075" y="8781712"/>
            <a:ext cx="7492143" cy="35808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8EA0B5">
                    <a:alpha val="99000"/>
                  </a:srgbClr>
                </a:solidFill>
                <a:latin typeface="Arial" pitchFamily="34" charset="0"/>
                <a:ea typeface="Arial" pitchFamily="34" charset="-122"/>
                <a:cs typeface="Arial" pitchFamily="34" charset="-120"/>
              </a:rPr>
              <a:t>Le vrai stockage vit ici, réparti sur tout le cluster.</a:t>
            </a:r>
            <a:endParaRPr lang="en-US" sz="1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0E15"/>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56DBDB">
                    <a:alpha val="97000"/>
                  </a:srgbClr>
                </a:solidFill>
                <a:latin typeface="Courier New" pitchFamily="34" charset="0"/>
                <a:ea typeface="Courier New" pitchFamily="34" charset="-122"/>
                <a:cs typeface="Courier New" pitchFamily="34" charset="-120"/>
              </a:rPr>
              <a:t>ATELIER 4.1 · HDFS</a:t>
            </a:r>
            <a:endParaRPr lang="en-US" sz="1800" dirty="0"/>
          </a:p>
        </p:txBody>
      </p:sp>
      <p:sp>
        <p:nvSpPr>
          <p:cNvPr id="3" name="Text 1"/>
          <p:cNvSpPr/>
          <p:nvPr/>
        </p:nvSpPr>
        <p:spPr>
          <a:xfrm>
            <a:off x="1066800" y="1314451"/>
            <a:ext cx="11188005"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Heartbeat et Block Report</a:t>
            </a:r>
            <a:endParaRPr lang="en-US" sz="4800" dirty="0"/>
          </a:p>
        </p:txBody>
      </p:sp>
      <p:sp>
        <p:nvSpPr>
          <p:cNvPr id="4" name="Text 2"/>
          <p:cNvSpPr/>
          <p:nvPr/>
        </p:nvSpPr>
        <p:spPr>
          <a:xfrm>
            <a:off x="1066800" y="2119809"/>
            <a:ext cx="15288747" cy="464741"/>
          </a:xfrm>
          <a:prstGeom prst="rect">
            <a:avLst/>
          </a:prstGeom>
          <a:noFill/>
          <a:ln/>
        </p:spPr>
        <p:txBody>
          <a:bodyPr wrap="square" lIns="25400" tIns="25400" rIns="25400" bIns="25400" rtlCol="0" anchor="t">
            <a:normAutofit/>
          </a:bodyPr>
          <a:lstStyle/>
          <a:p>
            <a:pPr algn="l" indent="0" marL="0">
              <a:lnSpc>
                <a:spcPct val="122182"/>
              </a:lnSpc>
              <a:buNone/>
            </a:pPr>
            <a:r>
              <a:rPr lang="en-US" sz="2400" dirty="0">
                <a:solidFill>
                  <a:srgbClr val="8EA0B5">
                    <a:alpha val="91000"/>
                  </a:srgbClr>
                </a:solidFill>
                <a:latin typeface="Arial" pitchFamily="34" charset="0"/>
                <a:ea typeface="Arial" pitchFamily="34" charset="-122"/>
                <a:cs typeface="Arial" pitchFamily="34" charset="-120"/>
              </a:rPr>
              <a:t>Deux messages distincts circulent du DataNode vers le NameNode — à ne pas confondre.</a:t>
            </a:r>
            <a:endParaRPr lang="en-US" sz="2400" dirty="0"/>
          </a:p>
        </p:txBody>
      </p:sp>
      <p:sp>
        <p:nvSpPr>
          <p:cNvPr id="5" name="Shape 3"/>
          <p:cNvSpPr/>
          <p:nvPr/>
        </p:nvSpPr>
        <p:spPr>
          <a:xfrm>
            <a:off x="1066800" y="2908401"/>
            <a:ext cx="7934325" cy="6559451"/>
          </a:xfrm>
          <a:prstGeom prst="roundRect">
            <a:avLst>
              <a:gd name="adj" fmla="val 2614"/>
            </a:avLst>
          </a:prstGeom>
          <a:solidFill>
            <a:srgbClr val="FFFFFF">
              <a:alpha val="3000"/>
            </a:srgbClr>
          </a:solidFill>
          <a:ln w="6350">
            <a:solidFill>
              <a:srgbClr val="FFFFFF">
                <a:alpha val="10000"/>
              </a:srgbClr>
            </a:solidFill>
            <a:prstDash val="solid"/>
          </a:ln>
        </p:spPr>
      </p:sp>
      <p:sp>
        <p:nvSpPr>
          <p:cNvPr id="6" name="Shape 4"/>
          <p:cNvSpPr/>
          <p:nvPr/>
        </p:nvSpPr>
        <p:spPr>
          <a:xfrm>
            <a:off x="1416050" y="3375126"/>
            <a:ext cx="152400" cy="152400"/>
          </a:xfrm>
          <a:prstGeom prst="ellipse">
            <a:avLst/>
          </a:prstGeom>
          <a:solidFill>
            <a:srgbClr val="56DBDB">
              <a:alpha val="69000"/>
            </a:srgbClr>
          </a:solidFill>
          <a:ln/>
        </p:spPr>
      </p:sp>
      <p:sp>
        <p:nvSpPr>
          <p:cNvPr id="7" name="Text 5"/>
          <p:cNvSpPr/>
          <p:nvPr/>
        </p:nvSpPr>
        <p:spPr>
          <a:xfrm>
            <a:off x="1720850" y="3276701"/>
            <a:ext cx="1472416" cy="387350"/>
          </a:xfrm>
          <a:prstGeom prst="rect">
            <a:avLst/>
          </a:prstGeom>
          <a:noFill/>
          <a:ln/>
        </p:spPr>
        <p:txBody>
          <a:bodyPr wrap="square" lIns="25400" tIns="25400" rIns="25400" bIns="25400" rtlCol="0" anchor="t">
            <a:normAutofit/>
          </a:bodyPr>
          <a:lstStyle/>
          <a:p>
            <a:pPr algn="l" indent="0" marL="0">
              <a:buNone/>
            </a:pPr>
            <a:r>
              <a:rPr lang="en-US" sz="2400" b="1" dirty="0">
                <a:solidFill>
                  <a:srgbClr val="56DBDB"/>
                </a:solidFill>
                <a:latin typeface="Arial" pitchFamily="34" charset="0"/>
                <a:ea typeface="Arial" pitchFamily="34" charset="-122"/>
                <a:cs typeface="Arial" pitchFamily="34" charset="-120"/>
              </a:rPr>
              <a:t>Heartbeat</a:t>
            </a:r>
            <a:endParaRPr lang="en-US" sz="2400" dirty="0"/>
          </a:p>
        </p:txBody>
      </p:sp>
      <p:sp>
        <p:nvSpPr>
          <p:cNvPr id="8" name="Text 6"/>
          <p:cNvSpPr/>
          <p:nvPr/>
        </p:nvSpPr>
        <p:spPr>
          <a:xfrm>
            <a:off x="1416050" y="3721201"/>
            <a:ext cx="7959408"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solidFill>
                <a:latin typeface="Courier New" pitchFamily="34" charset="0"/>
                <a:ea typeface="Courier New" pitchFamily="34" charset="-122"/>
                <a:cs typeface="Courier New" pitchFamily="34" charset="-120"/>
              </a:rPr>
              <a:t>toutes les ~3 s</a:t>
            </a:r>
            <a:endParaRPr lang="en-US" sz="1800" dirty="0"/>
          </a:p>
        </p:txBody>
      </p:sp>
      <p:sp>
        <p:nvSpPr>
          <p:cNvPr id="9" name="Text 7"/>
          <p:cNvSpPr/>
          <p:nvPr/>
        </p:nvSpPr>
        <p:spPr>
          <a:xfrm>
            <a:off x="1416050" y="4235551"/>
            <a:ext cx="7959408" cy="410964"/>
          </a:xfrm>
          <a:prstGeom prst="rect">
            <a:avLst/>
          </a:prstGeom>
          <a:noFill/>
          <a:ln/>
        </p:spPr>
        <p:txBody>
          <a:bodyPr wrap="square" lIns="25400" tIns="25400" rIns="25400" bIns="25400" rtlCol="0" anchor="t">
            <a:normAutofit/>
          </a:bodyPr>
          <a:lstStyle/>
          <a:p>
            <a:pPr algn="l" indent="0" marL="0">
              <a:lnSpc>
                <a:spcPct val="119847"/>
              </a:lnSpc>
              <a:buNone/>
            </a:pPr>
            <a:r>
              <a:rPr lang="en-US" sz="2175" dirty="0">
                <a:solidFill>
                  <a:srgbClr val="EEF3F9"/>
                </a:solidFill>
                <a:latin typeface="Arial" pitchFamily="34" charset="0"/>
                <a:ea typeface="Arial" pitchFamily="34" charset="-122"/>
                <a:cs typeface="Arial" pitchFamily="34" charset="-120"/>
              </a:rPr>
              <a:t>« Je suis vivant. »</a:t>
            </a:r>
            <a:endParaRPr lang="en-US" sz="2175" dirty="0"/>
          </a:p>
        </p:txBody>
      </p:sp>
      <p:sp>
        <p:nvSpPr>
          <p:cNvPr id="10" name="Text 8"/>
          <p:cNvSpPr/>
          <p:nvPr/>
        </p:nvSpPr>
        <p:spPr>
          <a:xfrm>
            <a:off x="1416050" y="4760815"/>
            <a:ext cx="7452900" cy="700881"/>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8EA0B5"/>
                </a:solidFill>
                <a:latin typeface="Arial" pitchFamily="34" charset="0"/>
                <a:ea typeface="Arial" pitchFamily="34" charset="-122"/>
                <a:cs typeface="Arial" pitchFamily="34" charset="-120"/>
              </a:rPr>
              <a:t>Simple signal de disponibilité, sans détail sur les données. Son absence prolongée déclenche la recréation des répliques.</a:t>
            </a:r>
            <a:endParaRPr lang="en-US" sz="1800" dirty="0"/>
          </a:p>
        </p:txBody>
      </p:sp>
      <p:sp>
        <p:nvSpPr>
          <p:cNvPr id="11" name="Shape 9"/>
          <p:cNvSpPr/>
          <p:nvPr/>
        </p:nvSpPr>
        <p:spPr>
          <a:xfrm>
            <a:off x="9286875" y="2910544"/>
            <a:ext cx="7934325" cy="6559451"/>
          </a:xfrm>
          <a:prstGeom prst="roundRect">
            <a:avLst>
              <a:gd name="adj" fmla="val 2614"/>
            </a:avLst>
          </a:prstGeom>
          <a:solidFill>
            <a:srgbClr val="FFFFFF">
              <a:alpha val="3000"/>
            </a:srgbClr>
          </a:solidFill>
          <a:ln w="6350">
            <a:solidFill>
              <a:srgbClr val="FFFFFF">
                <a:alpha val="10000"/>
              </a:srgbClr>
            </a:solidFill>
            <a:prstDash val="solid"/>
          </a:ln>
        </p:spPr>
      </p:sp>
      <p:sp>
        <p:nvSpPr>
          <p:cNvPr id="12" name="Shape 10"/>
          <p:cNvSpPr/>
          <p:nvPr/>
        </p:nvSpPr>
        <p:spPr>
          <a:xfrm>
            <a:off x="9636125" y="3377269"/>
            <a:ext cx="152400" cy="152400"/>
          </a:xfrm>
          <a:prstGeom prst="roundRect">
            <a:avLst>
              <a:gd name="adj" fmla="val 25000"/>
            </a:avLst>
          </a:prstGeom>
          <a:solidFill>
            <a:srgbClr val="B897F0">
              <a:alpha val="99000"/>
            </a:srgbClr>
          </a:solidFill>
          <a:ln/>
        </p:spPr>
      </p:sp>
      <p:sp>
        <p:nvSpPr>
          <p:cNvPr id="13" name="Text 11"/>
          <p:cNvSpPr/>
          <p:nvPr/>
        </p:nvSpPr>
        <p:spPr>
          <a:xfrm>
            <a:off x="9940926" y="3278844"/>
            <a:ext cx="1919347" cy="387350"/>
          </a:xfrm>
          <a:prstGeom prst="rect">
            <a:avLst/>
          </a:prstGeom>
          <a:noFill/>
          <a:ln/>
        </p:spPr>
        <p:txBody>
          <a:bodyPr wrap="square" lIns="25400" tIns="25400" rIns="25400" bIns="25400" rtlCol="0" anchor="t">
            <a:normAutofit/>
          </a:bodyPr>
          <a:lstStyle/>
          <a:p>
            <a:pPr algn="l" indent="0" marL="0">
              <a:buNone/>
            </a:pPr>
            <a:r>
              <a:rPr lang="en-US" sz="2400" b="1" dirty="0">
                <a:solidFill>
                  <a:srgbClr val="B897F0">
                    <a:alpha val="99000"/>
                  </a:srgbClr>
                </a:solidFill>
                <a:latin typeface="Arial" pitchFamily="34" charset="0"/>
                <a:ea typeface="Arial" pitchFamily="34" charset="-122"/>
                <a:cs typeface="Arial" pitchFamily="34" charset="-120"/>
              </a:rPr>
              <a:t>Block Report</a:t>
            </a:r>
            <a:endParaRPr lang="en-US" sz="2400" dirty="0"/>
          </a:p>
        </p:txBody>
      </p:sp>
      <p:sp>
        <p:nvSpPr>
          <p:cNvPr id="14" name="Text 12"/>
          <p:cNvSpPr/>
          <p:nvPr/>
        </p:nvSpPr>
        <p:spPr>
          <a:xfrm>
            <a:off x="9636125" y="3723344"/>
            <a:ext cx="7959408"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alpha val="99000"/>
                  </a:srgbClr>
                </a:solidFill>
                <a:latin typeface="Courier New" pitchFamily="34" charset="0"/>
                <a:ea typeface="Courier New" pitchFamily="34" charset="-122"/>
                <a:cs typeface="Courier New" pitchFamily="34" charset="-120"/>
              </a:rPr>
              <a:t>moins fréquent</a:t>
            </a:r>
            <a:endParaRPr lang="en-US" sz="1800" dirty="0"/>
          </a:p>
        </p:txBody>
      </p:sp>
      <p:sp>
        <p:nvSpPr>
          <p:cNvPr id="15" name="Text 13"/>
          <p:cNvSpPr/>
          <p:nvPr/>
        </p:nvSpPr>
        <p:spPr>
          <a:xfrm>
            <a:off x="9636125" y="4237694"/>
            <a:ext cx="7959408" cy="410964"/>
          </a:xfrm>
          <a:prstGeom prst="rect">
            <a:avLst/>
          </a:prstGeom>
          <a:noFill/>
          <a:ln/>
        </p:spPr>
        <p:txBody>
          <a:bodyPr wrap="square" lIns="25400" tIns="25400" rIns="25400" bIns="25400" rtlCol="0" anchor="t">
            <a:normAutofit/>
          </a:bodyPr>
          <a:lstStyle/>
          <a:p>
            <a:pPr algn="l" indent="0" marL="0">
              <a:lnSpc>
                <a:spcPct val="119847"/>
              </a:lnSpc>
              <a:buNone/>
            </a:pPr>
            <a:r>
              <a:rPr lang="en-US" sz="2175" dirty="0">
                <a:solidFill>
                  <a:srgbClr val="EEF3F9">
                    <a:alpha val="99000"/>
                  </a:srgbClr>
                </a:solidFill>
                <a:latin typeface="Arial" pitchFamily="34" charset="0"/>
                <a:ea typeface="Arial" pitchFamily="34" charset="-122"/>
                <a:cs typeface="Arial" pitchFamily="34" charset="-120"/>
              </a:rPr>
              <a:t>« Voici tous mes blocs. »</a:t>
            </a:r>
            <a:endParaRPr lang="en-US" sz="2175" dirty="0"/>
          </a:p>
        </p:txBody>
      </p:sp>
      <p:sp>
        <p:nvSpPr>
          <p:cNvPr id="16" name="Text 14"/>
          <p:cNvSpPr/>
          <p:nvPr/>
        </p:nvSpPr>
        <p:spPr>
          <a:xfrm>
            <a:off x="9636125" y="4762958"/>
            <a:ext cx="7452900" cy="700881"/>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8EA0B5">
                    <a:alpha val="99000"/>
                  </a:srgbClr>
                </a:solidFill>
                <a:latin typeface="Arial" pitchFamily="34" charset="0"/>
                <a:ea typeface="Arial" pitchFamily="34" charset="-122"/>
                <a:cs typeface="Arial" pitchFamily="34" charset="-120"/>
              </a:rPr>
              <a:t>Liste complète des blocs détenus — le NameNode reconstruit ainsi la localisation de chaque bloc dans le cluster.</a:t>
            </a:r>
            <a:endParaRPr lang="en-US" sz="1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C121C"/>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56DBDB">
                    <a:alpha val="97000"/>
                  </a:srgbClr>
                </a:solidFill>
                <a:latin typeface="Courier New" pitchFamily="34" charset="0"/>
                <a:ea typeface="Courier New" pitchFamily="34" charset="-122"/>
                <a:cs typeface="Courier New" pitchFamily="34" charset="-120"/>
              </a:rPr>
              <a:t>ATELIER 4.1 · HDFS</a:t>
            </a:r>
            <a:endParaRPr lang="en-US" sz="1800" dirty="0"/>
          </a:p>
        </p:txBody>
      </p:sp>
      <p:sp>
        <p:nvSpPr>
          <p:cNvPr id="3" name="Text 1"/>
          <p:cNvSpPr/>
          <p:nvPr/>
        </p:nvSpPr>
        <p:spPr>
          <a:xfrm>
            <a:off x="1066800" y="1314451"/>
            <a:ext cx="17769840"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Lecture et écriture d'un fichier</a:t>
            </a:r>
            <a:endParaRPr lang="en-US" sz="4800" dirty="0"/>
          </a:p>
        </p:txBody>
      </p:sp>
      <p:sp>
        <p:nvSpPr>
          <p:cNvPr id="4" name="Shape 2"/>
          <p:cNvSpPr/>
          <p:nvPr/>
        </p:nvSpPr>
        <p:spPr>
          <a:xfrm>
            <a:off x="1066800" y="2310310"/>
            <a:ext cx="7934325" cy="7157542"/>
          </a:xfrm>
          <a:prstGeom prst="roundRect">
            <a:avLst>
              <a:gd name="adj" fmla="val 2395"/>
            </a:avLst>
          </a:prstGeom>
          <a:solidFill>
            <a:srgbClr val="FFFFFF">
              <a:alpha val="3000"/>
            </a:srgbClr>
          </a:solidFill>
          <a:ln w="6350">
            <a:solidFill>
              <a:srgbClr val="FFFFFF">
                <a:alpha val="10000"/>
              </a:srgbClr>
            </a:solidFill>
            <a:prstDash val="solid"/>
          </a:ln>
        </p:spPr>
      </p:sp>
      <p:sp>
        <p:nvSpPr>
          <p:cNvPr id="5" name="Text 3"/>
          <p:cNvSpPr/>
          <p:nvPr/>
        </p:nvSpPr>
        <p:spPr>
          <a:xfrm>
            <a:off x="1377950" y="2640510"/>
            <a:ext cx="8043228" cy="349250"/>
          </a:xfrm>
          <a:prstGeom prst="rect">
            <a:avLst/>
          </a:prstGeom>
          <a:noFill/>
          <a:ln/>
        </p:spPr>
        <p:txBody>
          <a:bodyPr wrap="square" lIns="25400" tIns="25400" rIns="25400" bIns="25400" rtlCol="0" anchor="t">
            <a:normAutofit/>
          </a:bodyPr>
          <a:lstStyle/>
          <a:p>
            <a:pPr algn="l" indent="0" marL="0">
              <a:buNone/>
            </a:pPr>
            <a:r>
              <a:rPr lang="en-US" sz="2175" b="1" dirty="0">
                <a:solidFill>
                  <a:srgbClr val="56DBDB"/>
                </a:solidFill>
                <a:latin typeface="Arial" pitchFamily="34" charset="0"/>
                <a:ea typeface="Arial" pitchFamily="34" charset="-122"/>
                <a:cs typeface="Arial" pitchFamily="34" charset="-120"/>
              </a:rPr>
              <a:t>Lecture</a:t>
            </a:r>
            <a:endParaRPr lang="en-US" sz="2175" dirty="0"/>
          </a:p>
        </p:txBody>
      </p:sp>
      <p:sp>
        <p:nvSpPr>
          <p:cNvPr id="6" name="Shape 4"/>
          <p:cNvSpPr/>
          <p:nvPr/>
        </p:nvSpPr>
        <p:spPr>
          <a:xfrm>
            <a:off x="4330303" y="3180260"/>
            <a:ext cx="1407220" cy="584200"/>
          </a:xfrm>
          <a:prstGeom prst="roundRect">
            <a:avLst>
              <a:gd name="adj" fmla="val 16304"/>
            </a:avLst>
          </a:prstGeom>
          <a:solidFill>
            <a:srgbClr val="FFFFFF">
              <a:alpha val="6000"/>
            </a:srgbClr>
          </a:solidFill>
          <a:ln w="6350">
            <a:solidFill>
              <a:srgbClr val="FFFFFF">
                <a:alpha val="10000"/>
              </a:srgbClr>
            </a:solidFill>
            <a:prstDash val="solid"/>
          </a:ln>
        </p:spPr>
      </p:sp>
      <p:sp>
        <p:nvSpPr>
          <p:cNvPr id="7" name="Text 5"/>
          <p:cNvSpPr/>
          <p:nvPr/>
        </p:nvSpPr>
        <p:spPr>
          <a:xfrm>
            <a:off x="4622403" y="3319960"/>
            <a:ext cx="8992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EEF3F9"/>
                </a:solidFill>
                <a:latin typeface="Courier New" pitchFamily="34" charset="0"/>
                <a:ea typeface="Courier New" pitchFamily="34" charset="-122"/>
                <a:cs typeface="Courier New" pitchFamily="34" charset="-120"/>
              </a:rPr>
              <a:t>Client</a:t>
            </a:r>
            <a:endParaRPr lang="en-US" sz="1800" dirty="0"/>
          </a:p>
        </p:txBody>
      </p:sp>
      <p:sp>
        <p:nvSpPr>
          <p:cNvPr id="8" name="Text 6"/>
          <p:cNvSpPr/>
          <p:nvPr/>
        </p:nvSpPr>
        <p:spPr>
          <a:xfrm>
            <a:off x="3801864" y="3840660"/>
            <a:ext cx="2710508" cy="336550"/>
          </a:xfrm>
          <a:prstGeom prst="rect">
            <a:avLst/>
          </a:prstGeom>
          <a:noFill/>
          <a:ln/>
        </p:spPr>
        <p:txBody>
          <a:bodyPr wrap="square" lIns="25400" tIns="25400" rIns="25400" bIns="25400" rtlCol="0" anchor="t">
            <a:normAutofit/>
          </a:bodyPr>
          <a:lstStyle/>
          <a:p>
            <a:pPr algn="l" indent="0" marL="0">
              <a:buNone/>
            </a:pPr>
            <a:r>
              <a:rPr lang="en-US" sz="1800" dirty="0">
                <a:solidFill>
                  <a:srgbClr val="8EA0B5"/>
                </a:solidFill>
                <a:latin typeface="Arial" pitchFamily="34" charset="0"/>
                <a:ea typeface="Arial" pitchFamily="34" charset="-122"/>
                <a:cs typeface="Arial" pitchFamily="34" charset="-120"/>
              </a:rPr>
              <a:t>↓ « où sont les blocs ? »</a:t>
            </a:r>
            <a:endParaRPr lang="en-US" sz="1800" dirty="0"/>
          </a:p>
        </p:txBody>
      </p:sp>
      <p:sp>
        <p:nvSpPr>
          <p:cNvPr id="9" name="Shape 7"/>
          <p:cNvSpPr/>
          <p:nvPr/>
        </p:nvSpPr>
        <p:spPr>
          <a:xfrm>
            <a:off x="3650258" y="4215310"/>
            <a:ext cx="2767310" cy="584200"/>
          </a:xfrm>
          <a:prstGeom prst="roundRect">
            <a:avLst>
              <a:gd name="adj" fmla="val 16304"/>
            </a:avLst>
          </a:prstGeom>
          <a:gradFill rotWithShape="1">
            <a:gsLst>
              <a:gs pos="0">
                <a:srgbClr val="57DBDB">
                  <a:alpha val="22000"/>
                </a:srgbClr>
              </a:gs>
              <a:gs pos="100000">
                <a:srgbClr val="FFFFFF">
                  <a:alpha val="6000"/>
                </a:srgbClr>
              </a:gs>
            </a:gsLst>
            <a:lin ang="4200000" scaled="0"/>
          </a:gradFill>
          <a:ln w="6350">
            <a:solidFill>
              <a:srgbClr val="75E1E1">
                <a:alpha val="46000"/>
              </a:srgbClr>
            </a:solidFill>
            <a:prstDash val="solid"/>
          </a:ln>
        </p:spPr>
      </p:sp>
      <p:sp>
        <p:nvSpPr>
          <p:cNvPr id="10" name="Text 8"/>
          <p:cNvSpPr/>
          <p:nvPr/>
        </p:nvSpPr>
        <p:spPr>
          <a:xfrm>
            <a:off x="3942358" y="4355010"/>
            <a:ext cx="226612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6DBDB"/>
                </a:solidFill>
                <a:latin typeface="Courier New" pitchFamily="34" charset="0"/>
                <a:ea typeface="Courier New" pitchFamily="34" charset="-122"/>
                <a:cs typeface="Courier New" pitchFamily="34" charset="-120"/>
              </a:rPr>
              <a:t>NameNode → liste</a:t>
            </a:r>
            <a:endParaRPr lang="en-US" sz="1800" dirty="0"/>
          </a:p>
        </p:txBody>
      </p:sp>
      <p:sp>
        <p:nvSpPr>
          <p:cNvPr id="11" name="Text 9"/>
          <p:cNvSpPr/>
          <p:nvPr/>
        </p:nvSpPr>
        <p:spPr>
          <a:xfrm>
            <a:off x="3508375" y="4875710"/>
            <a:ext cx="3356293" cy="336550"/>
          </a:xfrm>
          <a:prstGeom prst="rect">
            <a:avLst/>
          </a:prstGeom>
          <a:noFill/>
          <a:ln/>
        </p:spPr>
        <p:txBody>
          <a:bodyPr wrap="square" lIns="25400" tIns="25400" rIns="25400" bIns="25400" rtlCol="0" anchor="t">
            <a:normAutofit/>
          </a:bodyPr>
          <a:lstStyle/>
          <a:p>
            <a:pPr algn="l" indent="0" marL="0">
              <a:buNone/>
            </a:pPr>
            <a:r>
              <a:rPr lang="en-US" sz="1800" dirty="0">
                <a:solidFill>
                  <a:srgbClr val="8EA0B5"/>
                </a:solidFill>
                <a:latin typeface="Arial" pitchFamily="34" charset="0"/>
                <a:ea typeface="Arial" pitchFamily="34" charset="-122"/>
                <a:cs typeface="Arial" pitchFamily="34" charset="-120"/>
              </a:rPr>
              <a:t>↓ lecture directe, en parallèle</a:t>
            </a:r>
            <a:endParaRPr lang="en-US" sz="1800" dirty="0"/>
          </a:p>
        </p:txBody>
      </p:sp>
      <p:sp>
        <p:nvSpPr>
          <p:cNvPr id="12" name="Shape 10"/>
          <p:cNvSpPr/>
          <p:nvPr/>
        </p:nvSpPr>
        <p:spPr>
          <a:xfrm>
            <a:off x="3787973" y="5250360"/>
            <a:ext cx="767159" cy="508000"/>
          </a:xfrm>
          <a:prstGeom prst="roundRect">
            <a:avLst>
              <a:gd name="adj" fmla="val 15000"/>
            </a:avLst>
          </a:prstGeom>
          <a:solidFill>
            <a:srgbClr val="FFFFFF">
              <a:alpha val="6000"/>
            </a:srgbClr>
          </a:solidFill>
          <a:ln w="6350">
            <a:solidFill>
              <a:srgbClr val="FFFFFF">
                <a:alpha val="10000"/>
              </a:srgbClr>
            </a:solidFill>
            <a:prstDash val="solid"/>
          </a:ln>
        </p:spPr>
      </p:sp>
      <p:sp>
        <p:nvSpPr>
          <p:cNvPr id="13" name="Text 11"/>
          <p:cNvSpPr/>
          <p:nvPr/>
        </p:nvSpPr>
        <p:spPr>
          <a:xfrm>
            <a:off x="3965773" y="5351960"/>
            <a:ext cx="48775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EEF3F9"/>
                </a:solidFill>
                <a:latin typeface="Courier New" pitchFamily="34" charset="0"/>
                <a:ea typeface="Courier New" pitchFamily="34" charset="-122"/>
                <a:cs typeface="Courier New" pitchFamily="34" charset="-120"/>
              </a:rPr>
              <a:t>DN1</a:t>
            </a:r>
            <a:endParaRPr lang="en-US" sz="1800" dirty="0"/>
          </a:p>
        </p:txBody>
      </p:sp>
      <p:sp>
        <p:nvSpPr>
          <p:cNvPr id="14" name="Shape 12"/>
          <p:cNvSpPr/>
          <p:nvPr/>
        </p:nvSpPr>
        <p:spPr>
          <a:xfrm>
            <a:off x="4650383" y="5250360"/>
            <a:ext cx="767159" cy="508000"/>
          </a:xfrm>
          <a:prstGeom prst="roundRect">
            <a:avLst>
              <a:gd name="adj" fmla="val 15000"/>
            </a:avLst>
          </a:prstGeom>
          <a:solidFill>
            <a:srgbClr val="FFFFFF">
              <a:alpha val="6000"/>
            </a:srgbClr>
          </a:solidFill>
          <a:ln w="6350">
            <a:solidFill>
              <a:srgbClr val="FFFFFF">
                <a:alpha val="10000"/>
              </a:srgbClr>
            </a:solidFill>
            <a:prstDash val="solid"/>
          </a:ln>
        </p:spPr>
      </p:sp>
      <p:sp>
        <p:nvSpPr>
          <p:cNvPr id="15" name="Text 13"/>
          <p:cNvSpPr/>
          <p:nvPr/>
        </p:nvSpPr>
        <p:spPr>
          <a:xfrm>
            <a:off x="4828183" y="5351960"/>
            <a:ext cx="48775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EEF3F9"/>
                </a:solidFill>
                <a:latin typeface="Courier New" pitchFamily="34" charset="0"/>
                <a:ea typeface="Courier New" pitchFamily="34" charset="-122"/>
                <a:cs typeface="Courier New" pitchFamily="34" charset="-120"/>
              </a:rPr>
              <a:t>DN2</a:t>
            </a:r>
            <a:endParaRPr lang="en-US" sz="1800" dirty="0"/>
          </a:p>
        </p:txBody>
      </p:sp>
      <p:sp>
        <p:nvSpPr>
          <p:cNvPr id="16" name="Shape 14"/>
          <p:cNvSpPr/>
          <p:nvPr/>
        </p:nvSpPr>
        <p:spPr>
          <a:xfrm>
            <a:off x="5512793" y="5250360"/>
            <a:ext cx="767159" cy="508000"/>
          </a:xfrm>
          <a:prstGeom prst="roundRect">
            <a:avLst>
              <a:gd name="adj" fmla="val 15000"/>
            </a:avLst>
          </a:prstGeom>
          <a:solidFill>
            <a:srgbClr val="FFFFFF">
              <a:alpha val="6000"/>
            </a:srgbClr>
          </a:solidFill>
          <a:ln w="6350">
            <a:solidFill>
              <a:srgbClr val="FFFFFF">
                <a:alpha val="10000"/>
              </a:srgbClr>
            </a:solidFill>
            <a:prstDash val="solid"/>
          </a:ln>
        </p:spPr>
      </p:sp>
      <p:sp>
        <p:nvSpPr>
          <p:cNvPr id="17" name="Text 15"/>
          <p:cNvSpPr/>
          <p:nvPr/>
        </p:nvSpPr>
        <p:spPr>
          <a:xfrm>
            <a:off x="5690593" y="5351960"/>
            <a:ext cx="48775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EEF3F9"/>
                </a:solidFill>
                <a:latin typeface="Courier New" pitchFamily="34" charset="0"/>
                <a:ea typeface="Courier New" pitchFamily="34" charset="-122"/>
                <a:cs typeface="Courier New" pitchFamily="34" charset="-120"/>
              </a:rPr>
              <a:t>DN3</a:t>
            </a:r>
            <a:endParaRPr lang="en-US" sz="1800" dirty="0"/>
          </a:p>
        </p:txBody>
      </p:sp>
      <p:sp>
        <p:nvSpPr>
          <p:cNvPr id="18" name="Text 16"/>
          <p:cNvSpPr/>
          <p:nvPr/>
        </p:nvSpPr>
        <p:spPr>
          <a:xfrm>
            <a:off x="1377950" y="8817671"/>
            <a:ext cx="7531386" cy="35808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8EA0B5"/>
                </a:solidFill>
                <a:latin typeface="Arial" pitchFamily="34" charset="0"/>
                <a:ea typeface="Arial" pitchFamily="34" charset="-122"/>
                <a:cs typeface="Arial" pitchFamily="34" charset="-120"/>
              </a:rPr>
              <a:t>Le NameNode ne transporte jamais les données.</a:t>
            </a:r>
            <a:endParaRPr lang="en-US" sz="1800" dirty="0"/>
          </a:p>
        </p:txBody>
      </p:sp>
      <p:sp>
        <p:nvSpPr>
          <p:cNvPr id="19" name="Shape 17"/>
          <p:cNvSpPr/>
          <p:nvPr/>
        </p:nvSpPr>
        <p:spPr>
          <a:xfrm>
            <a:off x="9286875" y="2312451"/>
            <a:ext cx="7934325" cy="7157542"/>
          </a:xfrm>
          <a:prstGeom prst="roundRect">
            <a:avLst>
              <a:gd name="adj" fmla="val 2395"/>
            </a:avLst>
          </a:prstGeom>
          <a:solidFill>
            <a:srgbClr val="FFFFFF">
              <a:alpha val="3000"/>
            </a:srgbClr>
          </a:solidFill>
          <a:ln w="6350">
            <a:solidFill>
              <a:srgbClr val="FFFFFF">
                <a:alpha val="10000"/>
              </a:srgbClr>
            </a:solidFill>
            <a:prstDash val="solid"/>
          </a:ln>
        </p:spPr>
      </p:sp>
      <p:sp>
        <p:nvSpPr>
          <p:cNvPr id="20" name="Text 18"/>
          <p:cNvSpPr/>
          <p:nvPr/>
        </p:nvSpPr>
        <p:spPr>
          <a:xfrm>
            <a:off x="9598025" y="2642651"/>
            <a:ext cx="8043228" cy="349250"/>
          </a:xfrm>
          <a:prstGeom prst="rect">
            <a:avLst/>
          </a:prstGeom>
          <a:noFill/>
          <a:ln/>
        </p:spPr>
        <p:txBody>
          <a:bodyPr wrap="square" lIns="25400" tIns="25400" rIns="25400" bIns="25400" rtlCol="0" anchor="t">
            <a:normAutofit/>
          </a:bodyPr>
          <a:lstStyle/>
          <a:p>
            <a:pPr algn="l" indent="0" marL="0">
              <a:buNone/>
            </a:pPr>
            <a:r>
              <a:rPr lang="en-US" sz="2175" b="1" dirty="0">
                <a:solidFill>
                  <a:srgbClr val="B897F0">
                    <a:alpha val="99000"/>
                  </a:srgbClr>
                </a:solidFill>
                <a:latin typeface="Arial" pitchFamily="34" charset="0"/>
                <a:ea typeface="Arial" pitchFamily="34" charset="-122"/>
                <a:cs typeface="Arial" pitchFamily="34" charset="-120"/>
              </a:rPr>
              <a:t>Écriture · pipeline</a:t>
            </a:r>
            <a:endParaRPr lang="en-US" sz="2175" dirty="0"/>
          </a:p>
        </p:txBody>
      </p:sp>
      <p:sp>
        <p:nvSpPr>
          <p:cNvPr id="21" name="Shape 19"/>
          <p:cNvSpPr/>
          <p:nvPr/>
        </p:nvSpPr>
        <p:spPr>
          <a:xfrm>
            <a:off x="10780514" y="5444192"/>
            <a:ext cx="1216720" cy="622300"/>
          </a:xfrm>
          <a:prstGeom prst="roundRect">
            <a:avLst>
              <a:gd name="adj" fmla="val 15306"/>
            </a:avLst>
          </a:prstGeom>
          <a:solidFill>
            <a:srgbClr val="FFFFFF">
              <a:alpha val="6000"/>
            </a:srgbClr>
          </a:solidFill>
          <a:ln w="6350">
            <a:solidFill>
              <a:srgbClr val="FFFFFF">
                <a:alpha val="10000"/>
              </a:srgbClr>
            </a:solidFill>
            <a:prstDash val="solid"/>
          </a:ln>
        </p:spPr>
      </p:sp>
      <p:sp>
        <p:nvSpPr>
          <p:cNvPr id="22" name="Text 20"/>
          <p:cNvSpPr/>
          <p:nvPr/>
        </p:nvSpPr>
        <p:spPr>
          <a:xfrm>
            <a:off x="10977364" y="5602942"/>
            <a:ext cx="8992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EEF3F9">
                    <a:alpha val="99000"/>
                  </a:srgbClr>
                </a:solidFill>
                <a:latin typeface="Courier New" pitchFamily="34" charset="0"/>
                <a:ea typeface="Courier New" pitchFamily="34" charset="-122"/>
                <a:cs typeface="Courier New" pitchFamily="34" charset="-120"/>
              </a:rPr>
              <a:t>Client</a:t>
            </a:r>
            <a:endParaRPr lang="en-US" sz="1800" dirty="0"/>
          </a:p>
        </p:txBody>
      </p:sp>
      <p:sp>
        <p:nvSpPr>
          <p:cNvPr id="23" name="Text 21"/>
          <p:cNvSpPr/>
          <p:nvPr/>
        </p:nvSpPr>
        <p:spPr>
          <a:xfrm>
            <a:off x="12111534" y="5593417"/>
            <a:ext cx="323850" cy="361950"/>
          </a:xfrm>
          <a:prstGeom prst="rect">
            <a:avLst/>
          </a:prstGeom>
          <a:noFill/>
          <a:ln/>
        </p:spPr>
        <p:txBody>
          <a:bodyPr wrap="square" lIns="25400" tIns="25400" rIns="25400" bIns="25400" rtlCol="0" anchor="t">
            <a:normAutofit/>
          </a:bodyPr>
          <a:lstStyle/>
          <a:p>
            <a:pPr algn="l" indent="0" marL="0">
              <a:buNone/>
            </a:pPr>
            <a:r>
              <a:rPr lang="en-US" sz="1950" dirty="0">
                <a:solidFill>
                  <a:srgbClr val="B897F0">
                    <a:alpha val="99000"/>
                  </a:srgbClr>
                </a:solidFill>
                <a:latin typeface="Arial" pitchFamily="34" charset="0"/>
                <a:ea typeface="Arial" pitchFamily="34" charset="-122"/>
                <a:cs typeface="Arial" pitchFamily="34" charset="-120"/>
              </a:rPr>
              <a:t>→</a:t>
            </a:r>
            <a:endParaRPr lang="en-US" sz="1950" dirty="0"/>
          </a:p>
        </p:txBody>
      </p:sp>
      <p:sp>
        <p:nvSpPr>
          <p:cNvPr id="24" name="Shape 22"/>
          <p:cNvSpPr/>
          <p:nvPr/>
        </p:nvSpPr>
        <p:spPr>
          <a:xfrm>
            <a:off x="12473484" y="5444192"/>
            <a:ext cx="767159" cy="622300"/>
          </a:xfrm>
          <a:prstGeom prst="roundRect">
            <a:avLst>
              <a:gd name="adj" fmla="val 15306"/>
            </a:avLst>
          </a:prstGeom>
          <a:solidFill>
            <a:srgbClr val="C3A9F4">
              <a:alpha val="26000"/>
            </a:srgbClr>
          </a:solidFill>
          <a:ln w="6350">
            <a:solidFill>
              <a:srgbClr val="C0A4F2">
                <a:alpha val="46000"/>
              </a:srgbClr>
            </a:solidFill>
            <a:prstDash val="solid"/>
          </a:ln>
        </p:spPr>
      </p:sp>
      <p:sp>
        <p:nvSpPr>
          <p:cNvPr id="25" name="Text 23"/>
          <p:cNvSpPr/>
          <p:nvPr/>
        </p:nvSpPr>
        <p:spPr>
          <a:xfrm>
            <a:off x="12651284" y="5602942"/>
            <a:ext cx="48775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EEF3F9">
                    <a:alpha val="99000"/>
                  </a:srgbClr>
                </a:solidFill>
                <a:latin typeface="Courier New" pitchFamily="34" charset="0"/>
                <a:ea typeface="Courier New" pitchFamily="34" charset="-122"/>
                <a:cs typeface="Courier New" pitchFamily="34" charset="-120"/>
              </a:rPr>
              <a:t>DN1</a:t>
            </a:r>
            <a:endParaRPr lang="en-US" sz="1800" dirty="0"/>
          </a:p>
        </p:txBody>
      </p:sp>
      <p:sp>
        <p:nvSpPr>
          <p:cNvPr id="26" name="Text 24"/>
          <p:cNvSpPr/>
          <p:nvPr/>
        </p:nvSpPr>
        <p:spPr>
          <a:xfrm>
            <a:off x="13354943" y="5593417"/>
            <a:ext cx="323850" cy="361950"/>
          </a:xfrm>
          <a:prstGeom prst="rect">
            <a:avLst/>
          </a:prstGeom>
          <a:noFill/>
          <a:ln/>
        </p:spPr>
        <p:txBody>
          <a:bodyPr wrap="square" lIns="25400" tIns="25400" rIns="25400" bIns="25400" rtlCol="0" anchor="t">
            <a:normAutofit/>
          </a:bodyPr>
          <a:lstStyle/>
          <a:p>
            <a:pPr algn="l" indent="0" marL="0">
              <a:buNone/>
            </a:pPr>
            <a:r>
              <a:rPr lang="en-US" sz="1950" dirty="0">
                <a:solidFill>
                  <a:srgbClr val="B897F0">
                    <a:alpha val="99000"/>
                  </a:srgbClr>
                </a:solidFill>
                <a:latin typeface="Arial" pitchFamily="34" charset="0"/>
                <a:ea typeface="Arial" pitchFamily="34" charset="-122"/>
                <a:cs typeface="Arial" pitchFamily="34" charset="-120"/>
              </a:rPr>
              <a:t>→</a:t>
            </a:r>
            <a:endParaRPr lang="en-US" sz="1950" dirty="0"/>
          </a:p>
        </p:txBody>
      </p:sp>
      <p:sp>
        <p:nvSpPr>
          <p:cNvPr id="27" name="Shape 25"/>
          <p:cNvSpPr/>
          <p:nvPr/>
        </p:nvSpPr>
        <p:spPr>
          <a:xfrm>
            <a:off x="13716893" y="5444192"/>
            <a:ext cx="767159" cy="622300"/>
          </a:xfrm>
          <a:prstGeom prst="roundRect">
            <a:avLst>
              <a:gd name="adj" fmla="val 15306"/>
            </a:avLst>
          </a:prstGeom>
          <a:solidFill>
            <a:srgbClr val="C3A9F4">
              <a:alpha val="26000"/>
            </a:srgbClr>
          </a:solidFill>
          <a:ln w="6350">
            <a:solidFill>
              <a:srgbClr val="C0A4F2">
                <a:alpha val="46000"/>
              </a:srgbClr>
            </a:solidFill>
            <a:prstDash val="solid"/>
          </a:ln>
        </p:spPr>
      </p:sp>
      <p:sp>
        <p:nvSpPr>
          <p:cNvPr id="28" name="Text 26"/>
          <p:cNvSpPr/>
          <p:nvPr/>
        </p:nvSpPr>
        <p:spPr>
          <a:xfrm>
            <a:off x="13894693" y="5602942"/>
            <a:ext cx="48775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EEF3F9">
                    <a:alpha val="99000"/>
                  </a:srgbClr>
                </a:solidFill>
                <a:latin typeface="Courier New" pitchFamily="34" charset="0"/>
                <a:ea typeface="Courier New" pitchFamily="34" charset="-122"/>
                <a:cs typeface="Courier New" pitchFamily="34" charset="-120"/>
              </a:rPr>
              <a:t>DN2</a:t>
            </a:r>
            <a:endParaRPr lang="en-US" sz="1800" dirty="0"/>
          </a:p>
        </p:txBody>
      </p:sp>
      <p:sp>
        <p:nvSpPr>
          <p:cNvPr id="29" name="Text 27"/>
          <p:cNvSpPr/>
          <p:nvPr/>
        </p:nvSpPr>
        <p:spPr>
          <a:xfrm>
            <a:off x="14598353" y="5593417"/>
            <a:ext cx="323850" cy="361950"/>
          </a:xfrm>
          <a:prstGeom prst="rect">
            <a:avLst/>
          </a:prstGeom>
          <a:noFill/>
          <a:ln/>
        </p:spPr>
        <p:txBody>
          <a:bodyPr wrap="square" lIns="25400" tIns="25400" rIns="25400" bIns="25400" rtlCol="0" anchor="t">
            <a:normAutofit/>
          </a:bodyPr>
          <a:lstStyle/>
          <a:p>
            <a:pPr algn="l" indent="0" marL="0">
              <a:buNone/>
            </a:pPr>
            <a:r>
              <a:rPr lang="en-US" sz="1950" dirty="0">
                <a:solidFill>
                  <a:srgbClr val="B897F0">
                    <a:alpha val="99000"/>
                  </a:srgbClr>
                </a:solidFill>
                <a:latin typeface="Arial" pitchFamily="34" charset="0"/>
                <a:ea typeface="Arial" pitchFamily="34" charset="-122"/>
                <a:cs typeface="Arial" pitchFamily="34" charset="-120"/>
              </a:rPr>
              <a:t>→</a:t>
            </a:r>
            <a:endParaRPr lang="en-US" sz="1950" dirty="0"/>
          </a:p>
        </p:txBody>
      </p:sp>
      <p:sp>
        <p:nvSpPr>
          <p:cNvPr id="30" name="Shape 28"/>
          <p:cNvSpPr/>
          <p:nvPr/>
        </p:nvSpPr>
        <p:spPr>
          <a:xfrm>
            <a:off x="14960303" y="5444192"/>
            <a:ext cx="767159" cy="622300"/>
          </a:xfrm>
          <a:prstGeom prst="roundRect">
            <a:avLst>
              <a:gd name="adj" fmla="val 15306"/>
            </a:avLst>
          </a:prstGeom>
          <a:solidFill>
            <a:srgbClr val="C3A9F4">
              <a:alpha val="26000"/>
            </a:srgbClr>
          </a:solidFill>
          <a:ln w="6350">
            <a:solidFill>
              <a:srgbClr val="C0A4F2">
                <a:alpha val="46000"/>
              </a:srgbClr>
            </a:solidFill>
            <a:prstDash val="solid"/>
          </a:ln>
        </p:spPr>
      </p:sp>
      <p:sp>
        <p:nvSpPr>
          <p:cNvPr id="31" name="Text 29"/>
          <p:cNvSpPr/>
          <p:nvPr/>
        </p:nvSpPr>
        <p:spPr>
          <a:xfrm>
            <a:off x="15138103" y="5602942"/>
            <a:ext cx="48775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EEF3F9">
                    <a:alpha val="99000"/>
                  </a:srgbClr>
                </a:solidFill>
                <a:latin typeface="Courier New" pitchFamily="34" charset="0"/>
                <a:ea typeface="Courier New" pitchFamily="34" charset="-122"/>
                <a:cs typeface="Courier New" pitchFamily="34" charset="-120"/>
              </a:rPr>
              <a:t>DN3</a:t>
            </a:r>
            <a:endParaRPr lang="en-US" sz="1800" dirty="0"/>
          </a:p>
        </p:txBody>
      </p:sp>
      <p:sp>
        <p:nvSpPr>
          <p:cNvPr id="32" name="Text 30"/>
          <p:cNvSpPr/>
          <p:nvPr/>
        </p:nvSpPr>
        <p:spPr>
          <a:xfrm>
            <a:off x="9598025" y="8499832"/>
            <a:ext cx="7531386" cy="67806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8EA0B5">
                    <a:alpha val="99000"/>
                  </a:srgbClr>
                </a:solidFill>
                <a:latin typeface="Arial" pitchFamily="34" charset="0"/>
                <a:ea typeface="Arial" pitchFamily="34" charset="-122"/>
                <a:cs typeface="Arial" pitchFamily="34" charset="-120"/>
              </a:rPr>
              <a:t>Chaque DataNode retransmet au suivant — la bande passante du client est économisée.</a:t>
            </a:r>
            <a:endParaRPr lang="en-US" sz="1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0E15"/>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B897F0">
                    <a:alpha val="97000"/>
                  </a:srgbClr>
                </a:solidFill>
                <a:latin typeface="Courier New" pitchFamily="34" charset="0"/>
                <a:ea typeface="Courier New" pitchFamily="34" charset="-122"/>
                <a:cs typeface="Courier New" pitchFamily="34" charset="-120"/>
              </a:rPr>
              <a:t>ATELIER 4.1 · YARN</a:t>
            </a:r>
            <a:endParaRPr lang="en-US" sz="1800" dirty="0"/>
          </a:p>
        </p:txBody>
      </p:sp>
      <p:sp>
        <p:nvSpPr>
          <p:cNvPr id="3" name="Text 1"/>
          <p:cNvSpPr/>
          <p:nvPr/>
        </p:nvSpPr>
        <p:spPr>
          <a:xfrm>
            <a:off x="1066800" y="1276351"/>
            <a:ext cx="12679740"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YARN, le gestionnaire de ressources</a:t>
            </a:r>
            <a:endParaRPr lang="en-US" sz="4800" dirty="0"/>
          </a:p>
        </p:txBody>
      </p:sp>
      <p:sp>
        <p:nvSpPr>
          <p:cNvPr id="4" name="Text 2"/>
          <p:cNvSpPr/>
          <p:nvPr/>
        </p:nvSpPr>
        <p:spPr>
          <a:xfrm>
            <a:off x="1066800" y="2043609"/>
            <a:ext cx="14692518" cy="678061"/>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B897F0">
                    <a:alpha val="94000"/>
                  </a:srgbClr>
                </a:solidFill>
                <a:latin typeface="Courier New" pitchFamily="34" charset="0"/>
                <a:ea typeface="Courier New" pitchFamily="34" charset="-122"/>
                <a:cs typeface="Courier New" pitchFamily="34" charset="-120"/>
              </a:rPr>
              <a:t>Yet Another Resource Negotiator </a:t>
            </a:r>
            <a:pPr algn="l" indent="0" marL="0">
              <a:lnSpc>
                <a:spcPct val="120000"/>
              </a:lnSpc>
              <a:buNone/>
            </a:pPr>
            <a:r>
              <a:rPr lang="en-US" sz="1800" dirty="0">
                <a:solidFill>
                  <a:srgbClr val="8EA0B5">
                    <a:alpha val="94000"/>
                  </a:srgbClr>
                </a:solidFill>
                <a:latin typeface="Arial" pitchFamily="34" charset="0"/>
                <a:ea typeface="Arial" pitchFamily="34" charset="-122"/>
                <a:cs typeface="Arial" pitchFamily="34" charset="-120"/>
              </a:rPr>
              <a:t>— il ne stocke pas les données : il gère les </a:t>
            </a:r>
            <a:pPr algn="l" indent="0" marL="0">
              <a:lnSpc>
                <a:spcPct val="120000"/>
              </a:lnSpc>
              <a:buNone/>
            </a:pPr>
            <a:r>
              <a:rPr lang="en-US" sz="1800" dirty="0">
                <a:solidFill>
                  <a:srgbClr val="EEF3F9">
                    <a:alpha val="94000"/>
                  </a:srgbClr>
                </a:solidFill>
                <a:latin typeface="Arial" pitchFamily="34" charset="0"/>
                <a:ea typeface="Arial" pitchFamily="34" charset="-122"/>
                <a:cs typeface="Arial" pitchFamily="34" charset="-120"/>
              </a:rPr>
              <a:t>ressources matérielles </a:t>
            </a:r>
            <a:pPr algn="l" indent="0" marL="0">
              <a:lnSpc>
                <a:spcPct val="120000"/>
              </a:lnSpc>
              <a:buNone/>
            </a:pPr>
            <a:r>
              <a:rPr lang="en-US" sz="1800" dirty="0">
                <a:solidFill>
                  <a:srgbClr val="8EA0B5">
                    <a:alpha val="94000"/>
                  </a:srgbClr>
                </a:solidFill>
                <a:latin typeface="Arial" pitchFamily="34" charset="0"/>
                <a:ea typeface="Arial" pitchFamily="34" charset="-122"/>
                <a:cs typeface="Arial" pitchFamily="34" charset="-120"/>
              </a:rPr>
              <a:t>du cluster et décide où exécuter les applications.</a:t>
            </a:r>
            <a:endParaRPr lang="en-US" sz="1800" dirty="0"/>
          </a:p>
        </p:txBody>
      </p:sp>
      <p:sp>
        <p:nvSpPr>
          <p:cNvPr id="5" name="Shape 3"/>
          <p:cNvSpPr/>
          <p:nvPr/>
        </p:nvSpPr>
        <p:spPr>
          <a:xfrm>
            <a:off x="1066800" y="2835970"/>
            <a:ext cx="2509242" cy="469900"/>
          </a:xfrm>
          <a:prstGeom prst="roundRect">
            <a:avLst>
              <a:gd name="adj" fmla="val 16216"/>
            </a:avLst>
          </a:prstGeom>
          <a:solidFill>
            <a:srgbClr val="FFFFFF">
              <a:alpha val="5000"/>
            </a:srgbClr>
          </a:solidFill>
          <a:ln w="6350">
            <a:solidFill>
              <a:srgbClr val="FFFFFF">
                <a:alpha val="9000"/>
              </a:srgbClr>
            </a:solidFill>
            <a:prstDash val="solid"/>
          </a:ln>
        </p:spPr>
      </p:sp>
      <p:sp>
        <p:nvSpPr>
          <p:cNvPr id="6" name="Text 4"/>
          <p:cNvSpPr/>
          <p:nvPr/>
        </p:nvSpPr>
        <p:spPr>
          <a:xfrm>
            <a:off x="1225550" y="2918520"/>
            <a:ext cx="2267942" cy="342900"/>
          </a:xfrm>
          <a:prstGeom prst="rect">
            <a:avLst/>
          </a:prstGeom>
          <a:noFill/>
          <a:ln/>
        </p:spPr>
        <p:txBody>
          <a:bodyPr wrap="square" lIns="25400" tIns="25400" rIns="25400" bIns="25400" rtlCol="0" anchor="t">
            <a:normAutofit/>
          </a:bodyPr>
          <a:lstStyle/>
          <a:p>
            <a:pPr algn="l" indent="0" marL="0">
              <a:buNone/>
            </a:pPr>
            <a:r>
              <a:rPr lang="en-US" sz="1800" dirty="0">
                <a:solidFill>
                  <a:srgbClr val="B897F0">
                    <a:alpha val="90000"/>
                  </a:srgbClr>
                </a:solidFill>
                <a:latin typeface="Courier New" pitchFamily="34" charset="0"/>
                <a:ea typeface="Courier New" pitchFamily="34" charset="-122"/>
                <a:cs typeface="Courier New" pitchFamily="34" charset="-120"/>
              </a:rPr>
              <a:t>RAM </a:t>
            </a:r>
            <a:pPr algn="l" indent="0" marL="0">
              <a:buNone/>
            </a:pPr>
            <a:r>
              <a:rPr lang="en-US" sz="1800" dirty="0">
                <a:solidFill>
                  <a:srgbClr val="8EA0B5">
                    <a:alpha val="90000"/>
                  </a:srgbClr>
                </a:solidFill>
                <a:latin typeface="Arial" pitchFamily="34" charset="0"/>
                <a:ea typeface="Arial" pitchFamily="34" charset="-122"/>
                <a:cs typeface="Arial" pitchFamily="34" charset="-120"/>
              </a:rPr>
              <a:t>mémoire allouée</a:t>
            </a:r>
            <a:endParaRPr lang="en-US" sz="1800" dirty="0"/>
          </a:p>
        </p:txBody>
      </p:sp>
      <p:sp>
        <p:nvSpPr>
          <p:cNvPr id="7" name="Shape 5"/>
          <p:cNvSpPr/>
          <p:nvPr/>
        </p:nvSpPr>
        <p:spPr>
          <a:xfrm>
            <a:off x="3671292" y="2835970"/>
            <a:ext cx="2335510" cy="469900"/>
          </a:xfrm>
          <a:prstGeom prst="roundRect">
            <a:avLst>
              <a:gd name="adj" fmla="val 16216"/>
            </a:avLst>
          </a:prstGeom>
          <a:solidFill>
            <a:srgbClr val="FFFFFF">
              <a:alpha val="5000"/>
            </a:srgbClr>
          </a:solidFill>
          <a:ln w="6350">
            <a:solidFill>
              <a:srgbClr val="FFFFFF">
                <a:alpha val="9000"/>
              </a:srgbClr>
            </a:solidFill>
            <a:prstDash val="solid"/>
          </a:ln>
        </p:spPr>
      </p:sp>
      <p:sp>
        <p:nvSpPr>
          <p:cNvPr id="8" name="Text 6"/>
          <p:cNvSpPr/>
          <p:nvPr/>
        </p:nvSpPr>
        <p:spPr>
          <a:xfrm>
            <a:off x="3830042" y="2918520"/>
            <a:ext cx="209421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B897F0">
                    <a:alpha val="90000"/>
                  </a:srgbClr>
                </a:solidFill>
                <a:latin typeface="Courier New" pitchFamily="34" charset="0"/>
                <a:ea typeface="Courier New" pitchFamily="34" charset="-122"/>
                <a:cs typeface="Courier New" pitchFamily="34" charset="-120"/>
              </a:rPr>
              <a:t>vCores </a:t>
            </a:r>
            <a:pPr algn="l" indent="0" marL="0">
              <a:buNone/>
            </a:pPr>
            <a:r>
              <a:rPr lang="en-US" sz="1800" dirty="0">
                <a:solidFill>
                  <a:srgbClr val="8EA0B5">
                    <a:alpha val="90000"/>
                  </a:srgbClr>
                </a:solidFill>
                <a:latin typeface="Arial" pitchFamily="34" charset="0"/>
                <a:ea typeface="Arial" pitchFamily="34" charset="-122"/>
                <a:cs typeface="Arial" pitchFamily="34" charset="-120"/>
              </a:rPr>
              <a:t>cœurs CPU</a:t>
            </a:r>
            <a:endParaRPr lang="en-US" sz="1800" dirty="0"/>
          </a:p>
        </p:txBody>
      </p:sp>
      <p:sp>
        <p:nvSpPr>
          <p:cNvPr id="9" name="Shape 7"/>
          <p:cNvSpPr/>
          <p:nvPr/>
        </p:nvSpPr>
        <p:spPr>
          <a:xfrm>
            <a:off x="6102053" y="2835970"/>
            <a:ext cx="4070549" cy="469900"/>
          </a:xfrm>
          <a:prstGeom prst="roundRect">
            <a:avLst>
              <a:gd name="adj" fmla="val 16216"/>
            </a:avLst>
          </a:prstGeom>
          <a:solidFill>
            <a:srgbClr val="FFFFFF">
              <a:alpha val="5000"/>
            </a:srgbClr>
          </a:solidFill>
          <a:ln w="6350">
            <a:solidFill>
              <a:srgbClr val="FFFFFF">
                <a:alpha val="9000"/>
              </a:srgbClr>
            </a:solidFill>
            <a:prstDash val="solid"/>
          </a:ln>
        </p:spPr>
      </p:sp>
      <p:sp>
        <p:nvSpPr>
          <p:cNvPr id="10" name="Text 8"/>
          <p:cNvSpPr/>
          <p:nvPr/>
        </p:nvSpPr>
        <p:spPr>
          <a:xfrm>
            <a:off x="6260803" y="2918520"/>
            <a:ext cx="387516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B897F0">
                    <a:alpha val="90000"/>
                  </a:srgbClr>
                </a:solidFill>
                <a:latin typeface="Courier New" pitchFamily="34" charset="0"/>
                <a:ea typeface="Courier New" pitchFamily="34" charset="-122"/>
                <a:cs typeface="Courier New" pitchFamily="34" charset="-120"/>
              </a:rPr>
              <a:t>disque local </a:t>
            </a:r>
            <a:pPr algn="l" indent="0" marL="0">
              <a:buNone/>
            </a:pPr>
            <a:r>
              <a:rPr lang="en-US" sz="1800" dirty="0">
                <a:solidFill>
                  <a:srgbClr val="8EA0B5">
                    <a:alpha val="90000"/>
                  </a:srgbClr>
                </a:solidFill>
                <a:latin typeface="Arial" pitchFamily="34" charset="0"/>
                <a:ea typeface="Arial" pitchFamily="34" charset="-122"/>
                <a:cs typeface="Arial" pitchFamily="34" charset="-120"/>
              </a:rPr>
              <a:t>fichiers temporaires</a:t>
            </a:r>
            <a:endParaRPr lang="en-US" sz="1800" dirty="0"/>
          </a:p>
        </p:txBody>
      </p:sp>
      <p:sp>
        <p:nvSpPr>
          <p:cNvPr id="11" name="Shape 9"/>
          <p:cNvSpPr/>
          <p:nvPr/>
        </p:nvSpPr>
        <p:spPr>
          <a:xfrm>
            <a:off x="10267851" y="2835970"/>
            <a:ext cx="2975769" cy="469900"/>
          </a:xfrm>
          <a:prstGeom prst="roundRect">
            <a:avLst>
              <a:gd name="adj" fmla="val 16216"/>
            </a:avLst>
          </a:prstGeom>
          <a:solidFill>
            <a:srgbClr val="FFFFFF">
              <a:alpha val="5000"/>
            </a:srgbClr>
          </a:solidFill>
          <a:ln w="6350">
            <a:solidFill>
              <a:srgbClr val="FFFFFF">
                <a:alpha val="9000"/>
              </a:srgbClr>
            </a:solidFill>
            <a:prstDash val="solid"/>
          </a:ln>
        </p:spPr>
      </p:sp>
      <p:sp>
        <p:nvSpPr>
          <p:cNvPr id="12" name="Text 10"/>
          <p:cNvSpPr/>
          <p:nvPr/>
        </p:nvSpPr>
        <p:spPr>
          <a:xfrm>
            <a:off x="10426601" y="2918520"/>
            <a:ext cx="2747542" cy="342900"/>
          </a:xfrm>
          <a:prstGeom prst="rect">
            <a:avLst/>
          </a:prstGeom>
          <a:noFill/>
          <a:ln/>
        </p:spPr>
        <p:txBody>
          <a:bodyPr wrap="square" lIns="25400" tIns="25400" rIns="25400" bIns="25400" rtlCol="0" anchor="t">
            <a:normAutofit/>
          </a:bodyPr>
          <a:lstStyle/>
          <a:p>
            <a:pPr algn="l" indent="0" marL="0">
              <a:buNone/>
            </a:pPr>
            <a:r>
              <a:rPr lang="en-US" sz="1800" dirty="0">
                <a:solidFill>
                  <a:srgbClr val="B897F0">
                    <a:alpha val="90000"/>
                  </a:srgbClr>
                </a:solidFill>
                <a:latin typeface="Courier New" pitchFamily="34" charset="0"/>
                <a:ea typeface="Courier New" pitchFamily="34" charset="-122"/>
                <a:cs typeface="Courier New" pitchFamily="34" charset="-120"/>
              </a:rPr>
              <a:t>GPU / FPGA </a:t>
            </a:r>
            <a:pPr algn="l" indent="0" marL="0">
              <a:buNone/>
            </a:pPr>
            <a:r>
              <a:rPr lang="en-US" sz="1800" dirty="0">
                <a:solidFill>
                  <a:srgbClr val="8EA0B5">
                    <a:alpha val="90000"/>
                  </a:srgbClr>
                </a:solidFill>
                <a:latin typeface="Arial" pitchFamily="34" charset="0"/>
                <a:ea typeface="Arial" pitchFamily="34" charset="-122"/>
                <a:cs typeface="Arial" pitchFamily="34" charset="-120"/>
              </a:rPr>
              <a:t>selon config</a:t>
            </a:r>
            <a:endParaRPr lang="en-US" sz="1800" dirty="0"/>
          </a:p>
        </p:txBody>
      </p:sp>
      <p:sp>
        <p:nvSpPr>
          <p:cNvPr id="13" name="Shape 11"/>
          <p:cNvSpPr/>
          <p:nvPr/>
        </p:nvSpPr>
        <p:spPr>
          <a:xfrm>
            <a:off x="1066800" y="3496371"/>
            <a:ext cx="8001000" cy="2909491"/>
          </a:xfrm>
          <a:prstGeom prst="roundRect">
            <a:avLst>
              <a:gd name="adj" fmla="val 5238"/>
            </a:avLst>
          </a:prstGeom>
          <a:gradFill rotWithShape="1">
            <a:gsLst>
              <a:gs pos="0">
                <a:srgbClr val="B895F1">
                  <a:alpha val="14000"/>
                </a:srgbClr>
              </a:gs>
              <a:gs pos="100000">
                <a:srgbClr val="FFFFFF">
                  <a:alpha val="3000"/>
                </a:srgbClr>
              </a:gs>
            </a:gsLst>
            <a:lin ang="4200000" scaled="0"/>
          </a:gradFill>
          <a:ln w="6350">
            <a:solidFill>
              <a:srgbClr val="C6ADF4">
                <a:alpha val="35000"/>
              </a:srgbClr>
            </a:solidFill>
            <a:prstDash val="solid"/>
          </a:ln>
        </p:spPr>
      </p:sp>
      <p:sp>
        <p:nvSpPr>
          <p:cNvPr id="14" name="Text 12"/>
          <p:cNvSpPr/>
          <p:nvPr/>
        </p:nvSpPr>
        <p:spPr>
          <a:xfrm>
            <a:off x="1339850" y="3731321"/>
            <a:ext cx="8200390" cy="336550"/>
          </a:xfrm>
          <a:prstGeom prst="rect">
            <a:avLst/>
          </a:prstGeom>
          <a:noFill/>
          <a:ln/>
        </p:spPr>
        <p:txBody>
          <a:bodyPr wrap="square" lIns="25400" tIns="25400" rIns="25400" bIns="25400" rtlCol="0" anchor="t">
            <a:normAutofit/>
          </a:bodyPr>
          <a:lstStyle/>
          <a:p>
            <a:pPr algn="l" indent="0" marL="0">
              <a:buNone/>
            </a:pPr>
            <a:r>
              <a:rPr lang="en-US" sz="2025" b="1" dirty="0">
                <a:solidFill>
                  <a:srgbClr val="B897F0"/>
                </a:solidFill>
                <a:latin typeface="Arial" pitchFamily="34" charset="0"/>
                <a:ea typeface="Arial" pitchFamily="34" charset="-122"/>
                <a:cs typeface="Arial" pitchFamily="34" charset="-120"/>
              </a:rPr>
              <a:t>ResourceManager </a:t>
            </a:r>
            <a:pPr algn="l" indent="0" marL="0">
              <a:buNone/>
            </a:pPr>
            <a:r>
              <a:rPr lang="en-US" sz="1800" b="1" dirty="0">
                <a:solidFill>
                  <a:srgbClr val="8EA0B5"/>
                </a:solidFill>
                <a:latin typeface="Arial" pitchFamily="34" charset="0"/>
                <a:ea typeface="Arial" pitchFamily="34" charset="-122"/>
                <a:cs typeface="Arial" pitchFamily="34" charset="-120"/>
              </a:rPr>
              <a:t>· 1 par cluster</a:t>
            </a:r>
            <a:endParaRPr lang="en-US" sz="2025" dirty="0"/>
          </a:p>
        </p:txBody>
      </p:sp>
      <p:sp>
        <p:nvSpPr>
          <p:cNvPr id="15" name="Text 13"/>
          <p:cNvSpPr/>
          <p:nvPr/>
        </p:nvSpPr>
        <p:spPr>
          <a:xfrm>
            <a:off x="1339850" y="4144071"/>
            <a:ext cx="267196" cy="34667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B897F0"/>
                </a:solidFill>
                <a:latin typeface="Arial" pitchFamily="34" charset="0"/>
                <a:ea typeface="Arial" pitchFamily="34" charset="-122"/>
                <a:cs typeface="Arial" pitchFamily="34" charset="-120"/>
              </a:rPr>
              <a:t>▸</a:t>
            </a:r>
            <a:endParaRPr lang="en-US" sz="1800" dirty="0"/>
          </a:p>
        </p:txBody>
      </p:sp>
      <p:sp>
        <p:nvSpPr>
          <p:cNvPr id="16" name="Text 14"/>
          <p:cNvSpPr/>
          <p:nvPr/>
        </p:nvSpPr>
        <p:spPr>
          <a:xfrm>
            <a:off x="1626096" y="4144071"/>
            <a:ext cx="4150254" cy="336550"/>
          </a:xfrm>
          <a:prstGeom prst="rect">
            <a:avLst/>
          </a:prstGeom>
          <a:noFill/>
          <a:ln/>
        </p:spPr>
        <p:txBody>
          <a:bodyPr wrap="square" lIns="0" tIns="0" rIns="0" bIns="0" rtlCol="0" anchor="t">
            <a:normAutofit/>
          </a:bodyPr>
          <a:lstStyle/>
          <a:p>
            <a:pPr algn="l" indent="0" marL="0">
              <a:lnSpc>
                <a:spcPct val="115714"/>
              </a:lnSpc>
              <a:buNone/>
            </a:pPr>
            <a:r>
              <a:rPr lang="en-US" sz="1800" dirty="0">
                <a:solidFill>
                  <a:srgbClr val="8EA0B5"/>
                </a:solidFill>
                <a:latin typeface="Arial" pitchFamily="34" charset="0"/>
                <a:ea typeface="Arial" pitchFamily="34" charset="-122"/>
                <a:cs typeface="Arial" pitchFamily="34" charset="-120"/>
              </a:rPr>
              <a:t>Vue globale des ressources disponibles</a:t>
            </a:r>
            <a:endParaRPr lang="en-US" sz="1800" dirty="0"/>
          </a:p>
        </p:txBody>
      </p:sp>
      <p:sp>
        <p:nvSpPr>
          <p:cNvPr id="17" name="Text 15"/>
          <p:cNvSpPr/>
          <p:nvPr/>
        </p:nvSpPr>
        <p:spPr>
          <a:xfrm>
            <a:off x="1339850" y="4519316"/>
            <a:ext cx="267196" cy="34667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B897F0"/>
                </a:solidFill>
                <a:latin typeface="Arial" pitchFamily="34" charset="0"/>
                <a:ea typeface="Arial" pitchFamily="34" charset="-122"/>
                <a:cs typeface="Arial" pitchFamily="34" charset="-120"/>
              </a:rPr>
              <a:t>▸</a:t>
            </a:r>
            <a:endParaRPr lang="en-US" sz="1800" dirty="0"/>
          </a:p>
        </p:txBody>
      </p:sp>
      <p:sp>
        <p:nvSpPr>
          <p:cNvPr id="18" name="Text 16"/>
          <p:cNvSpPr/>
          <p:nvPr/>
        </p:nvSpPr>
        <p:spPr>
          <a:xfrm>
            <a:off x="1626096" y="4519316"/>
            <a:ext cx="5210020" cy="336550"/>
          </a:xfrm>
          <a:prstGeom prst="rect">
            <a:avLst/>
          </a:prstGeom>
          <a:noFill/>
          <a:ln/>
        </p:spPr>
        <p:txBody>
          <a:bodyPr wrap="square" lIns="0" tIns="0" rIns="0" bIns="0" rtlCol="0" anchor="t">
            <a:normAutofit/>
          </a:bodyPr>
          <a:lstStyle/>
          <a:p>
            <a:pPr algn="l" indent="0" marL="0">
              <a:lnSpc>
                <a:spcPct val="115714"/>
              </a:lnSpc>
              <a:buNone/>
            </a:pPr>
            <a:r>
              <a:rPr lang="en-US" sz="1800" dirty="0">
                <a:solidFill>
                  <a:srgbClr val="8EA0B5"/>
                </a:solidFill>
                <a:latin typeface="Arial" pitchFamily="34" charset="0"/>
                <a:ea typeface="Arial" pitchFamily="34" charset="-122"/>
                <a:cs typeface="Arial" pitchFamily="34" charset="-120"/>
              </a:rPr>
              <a:t>Alloue selon l'ordonnanceur (FIFO, Capacity, Fair)</a:t>
            </a:r>
            <a:endParaRPr lang="en-US" sz="1800" dirty="0"/>
          </a:p>
        </p:txBody>
      </p:sp>
      <p:sp>
        <p:nvSpPr>
          <p:cNvPr id="19" name="Text 17"/>
          <p:cNvSpPr/>
          <p:nvPr/>
        </p:nvSpPr>
        <p:spPr>
          <a:xfrm>
            <a:off x="1339850" y="4894562"/>
            <a:ext cx="267196" cy="34667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B897F0"/>
                </a:solidFill>
                <a:latin typeface="Arial" pitchFamily="34" charset="0"/>
                <a:ea typeface="Arial" pitchFamily="34" charset="-122"/>
                <a:cs typeface="Arial" pitchFamily="34" charset="-120"/>
              </a:rPr>
              <a:t>▸</a:t>
            </a:r>
            <a:endParaRPr lang="en-US" sz="1800" dirty="0"/>
          </a:p>
        </p:txBody>
      </p:sp>
      <p:sp>
        <p:nvSpPr>
          <p:cNvPr id="20" name="Text 18"/>
          <p:cNvSpPr/>
          <p:nvPr/>
        </p:nvSpPr>
        <p:spPr>
          <a:xfrm>
            <a:off x="1626096" y="4894562"/>
            <a:ext cx="4067782" cy="336550"/>
          </a:xfrm>
          <a:prstGeom prst="rect">
            <a:avLst/>
          </a:prstGeom>
          <a:noFill/>
          <a:ln/>
        </p:spPr>
        <p:txBody>
          <a:bodyPr wrap="square" lIns="0" tIns="0" rIns="0" bIns="0" rtlCol="0" anchor="t">
            <a:normAutofit/>
          </a:bodyPr>
          <a:lstStyle/>
          <a:p>
            <a:pPr algn="l" indent="0" marL="0">
              <a:lnSpc>
                <a:spcPct val="115714"/>
              </a:lnSpc>
              <a:buNone/>
            </a:pPr>
            <a:r>
              <a:rPr lang="en-US" sz="1800" dirty="0">
                <a:solidFill>
                  <a:srgbClr val="8EA0B5"/>
                </a:solidFill>
                <a:latin typeface="Arial" pitchFamily="34" charset="0"/>
                <a:ea typeface="Arial" pitchFamily="34" charset="-122"/>
                <a:cs typeface="Arial" pitchFamily="34" charset="-120"/>
              </a:rPr>
              <a:t>Suit l'état du cluster via les Heartbeats</a:t>
            </a:r>
            <a:endParaRPr lang="en-US" sz="1800" dirty="0"/>
          </a:p>
        </p:txBody>
      </p:sp>
      <p:sp>
        <p:nvSpPr>
          <p:cNvPr id="21" name="Shape 19"/>
          <p:cNvSpPr/>
          <p:nvPr/>
        </p:nvSpPr>
        <p:spPr>
          <a:xfrm>
            <a:off x="9220200" y="3497283"/>
            <a:ext cx="8001000" cy="2909491"/>
          </a:xfrm>
          <a:prstGeom prst="roundRect">
            <a:avLst>
              <a:gd name="adj" fmla="val 5238"/>
            </a:avLst>
          </a:prstGeom>
          <a:solidFill>
            <a:srgbClr val="FFFFFF">
              <a:alpha val="3000"/>
            </a:srgbClr>
          </a:solidFill>
          <a:ln w="6350">
            <a:solidFill>
              <a:srgbClr val="FFFFFF">
                <a:alpha val="10000"/>
              </a:srgbClr>
            </a:solidFill>
            <a:prstDash val="solid"/>
          </a:ln>
        </p:spPr>
      </p:sp>
      <p:sp>
        <p:nvSpPr>
          <p:cNvPr id="22" name="Text 20"/>
          <p:cNvSpPr/>
          <p:nvPr/>
        </p:nvSpPr>
        <p:spPr>
          <a:xfrm>
            <a:off x="9493250" y="3732233"/>
            <a:ext cx="8200390" cy="336550"/>
          </a:xfrm>
          <a:prstGeom prst="rect">
            <a:avLst/>
          </a:prstGeom>
          <a:noFill/>
          <a:ln/>
        </p:spPr>
        <p:txBody>
          <a:bodyPr wrap="square" lIns="25400" tIns="25400" rIns="25400" bIns="25400" rtlCol="0" anchor="t">
            <a:normAutofit/>
          </a:bodyPr>
          <a:lstStyle/>
          <a:p>
            <a:pPr algn="l" indent="0" marL="0">
              <a:buNone/>
            </a:pPr>
            <a:r>
              <a:rPr lang="en-US" sz="2025" b="1" dirty="0">
                <a:solidFill>
                  <a:srgbClr val="EEF3F9"/>
                </a:solidFill>
                <a:latin typeface="Arial" pitchFamily="34" charset="0"/>
                <a:ea typeface="Arial" pitchFamily="34" charset="-122"/>
                <a:cs typeface="Arial" pitchFamily="34" charset="-120"/>
              </a:rPr>
              <a:t>NodeManager </a:t>
            </a:r>
            <a:pPr algn="l" indent="0" marL="0">
              <a:buNone/>
            </a:pPr>
            <a:r>
              <a:rPr lang="en-US" sz="1800" b="1" dirty="0">
                <a:solidFill>
                  <a:srgbClr val="8EA0B5"/>
                </a:solidFill>
                <a:latin typeface="Arial" pitchFamily="34" charset="0"/>
                <a:ea typeface="Arial" pitchFamily="34" charset="-122"/>
                <a:cs typeface="Arial" pitchFamily="34" charset="-120"/>
              </a:rPr>
              <a:t>· 1 par nœud</a:t>
            </a:r>
            <a:endParaRPr lang="en-US" sz="2025" dirty="0"/>
          </a:p>
        </p:txBody>
      </p:sp>
      <p:sp>
        <p:nvSpPr>
          <p:cNvPr id="23" name="Text 21"/>
          <p:cNvSpPr/>
          <p:nvPr/>
        </p:nvSpPr>
        <p:spPr>
          <a:xfrm>
            <a:off x="9493250" y="4144983"/>
            <a:ext cx="267196" cy="34667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56DBDB"/>
                </a:solidFill>
                <a:latin typeface="Arial" pitchFamily="34" charset="0"/>
                <a:ea typeface="Arial" pitchFamily="34" charset="-122"/>
                <a:cs typeface="Arial" pitchFamily="34" charset="-120"/>
              </a:rPr>
              <a:t>▸</a:t>
            </a:r>
            <a:endParaRPr lang="en-US" sz="1800" dirty="0"/>
          </a:p>
        </p:txBody>
      </p:sp>
      <p:sp>
        <p:nvSpPr>
          <p:cNvPr id="24" name="Text 22"/>
          <p:cNvSpPr/>
          <p:nvPr/>
        </p:nvSpPr>
        <p:spPr>
          <a:xfrm>
            <a:off x="9779496" y="4144983"/>
            <a:ext cx="4299255" cy="336550"/>
          </a:xfrm>
          <a:prstGeom prst="rect">
            <a:avLst/>
          </a:prstGeom>
          <a:noFill/>
          <a:ln/>
        </p:spPr>
        <p:txBody>
          <a:bodyPr wrap="square" lIns="0" tIns="0" rIns="0" bIns="0" rtlCol="0" anchor="t">
            <a:normAutofit/>
          </a:bodyPr>
          <a:lstStyle/>
          <a:p>
            <a:pPr algn="l" indent="0" marL="0">
              <a:lnSpc>
                <a:spcPct val="115714"/>
              </a:lnSpc>
              <a:buNone/>
            </a:pPr>
            <a:r>
              <a:rPr lang="en-US" sz="1800" dirty="0">
                <a:solidFill>
                  <a:srgbClr val="8EA0B5"/>
                </a:solidFill>
                <a:latin typeface="Arial" pitchFamily="34" charset="0"/>
                <a:ea typeface="Arial" pitchFamily="34" charset="-122"/>
                <a:cs typeface="Arial" pitchFamily="34" charset="-120"/>
              </a:rPr>
              <a:t>Surveille les ressources locales du nœud</a:t>
            </a:r>
            <a:endParaRPr lang="en-US" sz="1800" dirty="0"/>
          </a:p>
        </p:txBody>
      </p:sp>
      <p:sp>
        <p:nvSpPr>
          <p:cNvPr id="25" name="Text 23"/>
          <p:cNvSpPr/>
          <p:nvPr/>
        </p:nvSpPr>
        <p:spPr>
          <a:xfrm>
            <a:off x="9493250" y="4520228"/>
            <a:ext cx="267196" cy="34667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56DBDB"/>
                </a:solidFill>
                <a:latin typeface="Arial" pitchFamily="34" charset="0"/>
                <a:ea typeface="Arial" pitchFamily="34" charset="-122"/>
                <a:cs typeface="Arial" pitchFamily="34" charset="-120"/>
              </a:rPr>
              <a:t>▸</a:t>
            </a:r>
            <a:endParaRPr lang="en-US" sz="1800" dirty="0"/>
          </a:p>
        </p:txBody>
      </p:sp>
      <p:sp>
        <p:nvSpPr>
          <p:cNvPr id="26" name="Text 24"/>
          <p:cNvSpPr/>
          <p:nvPr/>
        </p:nvSpPr>
        <p:spPr>
          <a:xfrm>
            <a:off x="9779496" y="4520228"/>
            <a:ext cx="4127669" cy="336550"/>
          </a:xfrm>
          <a:prstGeom prst="rect">
            <a:avLst/>
          </a:prstGeom>
          <a:noFill/>
          <a:ln/>
        </p:spPr>
        <p:txBody>
          <a:bodyPr wrap="square" lIns="0" tIns="0" rIns="0" bIns="0" rtlCol="0" anchor="t">
            <a:normAutofit/>
          </a:bodyPr>
          <a:lstStyle/>
          <a:p>
            <a:pPr algn="l" indent="0" marL="0">
              <a:lnSpc>
                <a:spcPct val="115714"/>
              </a:lnSpc>
              <a:buNone/>
            </a:pPr>
            <a:r>
              <a:rPr lang="en-US" sz="1800" dirty="0">
                <a:solidFill>
                  <a:srgbClr val="8EA0B5"/>
                </a:solidFill>
                <a:latin typeface="Arial" pitchFamily="34" charset="0"/>
                <a:ea typeface="Arial" pitchFamily="34" charset="-122"/>
                <a:cs typeface="Arial" pitchFamily="34" charset="-120"/>
              </a:rPr>
              <a:t>Lance, arrête et surveille les containers</a:t>
            </a:r>
            <a:endParaRPr lang="en-US" sz="1800" dirty="0"/>
          </a:p>
        </p:txBody>
      </p:sp>
      <p:sp>
        <p:nvSpPr>
          <p:cNvPr id="27" name="Text 25"/>
          <p:cNvSpPr/>
          <p:nvPr/>
        </p:nvSpPr>
        <p:spPr>
          <a:xfrm>
            <a:off x="9493250" y="4895474"/>
            <a:ext cx="267196" cy="34667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56DBDB"/>
                </a:solidFill>
                <a:latin typeface="Arial" pitchFamily="34" charset="0"/>
                <a:ea typeface="Arial" pitchFamily="34" charset="-122"/>
                <a:cs typeface="Arial" pitchFamily="34" charset="-120"/>
              </a:rPr>
              <a:t>▸</a:t>
            </a:r>
            <a:endParaRPr lang="en-US" sz="1800" dirty="0"/>
          </a:p>
        </p:txBody>
      </p:sp>
      <p:sp>
        <p:nvSpPr>
          <p:cNvPr id="28" name="Text 26"/>
          <p:cNvSpPr/>
          <p:nvPr/>
        </p:nvSpPr>
        <p:spPr>
          <a:xfrm>
            <a:off x="9779496" y="4895474"/>
            <a:ext cx="4626995" cy="336550"/>
          </a:xfrm>
          <a:prstGeom prst="rect">
            <a:avLst/>
          </a:prstGeom>
          <a:noFill/>
          <a:ln/>
        </p:spPr>
        <p:txBody>
          <a:bodyPr wrap="square" lIns="0" tIns="0" rIns="0" bIns="0" rtlCol="0" anchor="t">
            <a:normAutofit/>
          </a:bodyPr>
          <a:lstStyle/>
          <a:p>
            <a:pPr algn="l" indent="0" marL="0">
              <a:lnSpc>
                <a:spcPct val="115714"/>
              </a:lnSpc>
              <a:buNone/>
            </a:pPr>
            <a:r>
              <a:rPr lang="en-US" sz="1800" dirty="0">
                <a:solidFill>
                  <a:srgbClr val="8EA0B5"/>
                </a:solidFill>
                <a:latin typeface="Arial" pitchFamily="34" charset="0"/>
                <a:ea typeface="Arial" pitchFamily="34" charset="-122"/>
                <a:cs typeface="Arial" pitchFamily="34" charset="-120"/>
              </a:rPr>
              <a:t>Envoie ses Heartbeats au ResourceManager</a:t>
            </a:r>
            <a:endParaRPr lang="en-US" sz="1800" dirty="0"/>
          </a:p>
        </p:txBody>
      </p:sp>
      <p:sp>
        <p:nvSpPr>
          <p:cNvPr id="29" name="Shape 27"/>
          <p:cNvSpPr/>
          <p:nvPr/>
        </p:nvSpPr>
        <p:spPr>
          <a:xfrm>
            <a:off x="1066800" y="6562295"/>
            <a:ext cx="8001000" cy="2909590"/>
          </a:xfrm>
          <a:prstGeom prst="roundRect">
            <a:avLst>
              <a:gd name="adj" fmla="val 5238"/>
            </a:avLst>
          </a:prstGeom>
          <a:solidFill>
            <a:srgbClr val="FFFFFF">
              <a:alpha val="3000"/>
            </a:srgbClr>
          </a:solidFill>
          <a:ln w="6350">
            <a:solidFill>
              <a:srgbClr val="FFFFFF">
                <a:alpha val="10000"/>
              </a:srgbClr>
            </a:solidFill>
            <a:prstDash val="solid"/>
          </a:ln>
        </p:spPr>
      </p:sp>
      <p:sp>
        <p:nvSpPr>
          <p:cNvPr id="30" name="Text 28"/>
          <p:cNvSpPr/>
          <p:nvPr/>
        </p:nvSpPr>
        <p:spPr>
          <a:xfrm>
            <a:off x="1339850" y="6797245"/>
            <a:ext cx="8200390" cy="336550"/>
          </a:xfrm>
          <a:prstGeom prst="rect">
            <a:avLst/>
          </a:prstGeom>
          <a:noFill/>
          <a:ln/>
        </p:spPr>
        <p:txBody>
          <a:bodyPr wrap="square" lIns="25400" tIns="25400" rIns="25400" bIns="25400" rtlCol="0" anchor="t">
            <a:normAutofit/>
          </a:bodyPr>
          <a:lstStyle/>
          <a:p>
            <a:pPr algn="l" indent="0" marL="0">
              <a:buNone/>
            </a:pPr>
            <a:r>
              <a:rPr lang="en-US" sz="2025" b="1" dirty="0">
                <a:solidFill>
                  <a:srgbClr val="EEF3F9">
                    <a:alpha val="99000"/>
                  </a:srgbClr>
                </a:solidFill>
                <a:latin typeface="Arial" pitchFamily="34" charset="0"/>
                <a:ea typeface="Arial" pitchFamily="34" charset="-122"/>
                <a:cs typeface="Arial" pitchFamily="34" charset="-120"/>
              </a:rPr>
              <a:t>ApplicationMaster </a:t>
            </a:r>
            <a:pPr algn="l" indent="0" marL="0">
              <a:buNone/>
            </a:pPr>
            <a:r>
              <a:rPr lang="en-US" sz="1800" b="1" dirty="0">
                <a:solidFill>
                  <a:srgbClr val="8EA0B5">
                    <a:alpha val="99000"/>
                  </a:srgbClr>
                </a:solidFill>
                <a:latin typeface="Arial" pitchFamily="34" charset="0"/>
                <a:ea typeface="Arial" pitchFamily="34" charset="-122"/>
                <a:cs typeface="Arial" pitchFamily="34" charset="-120"/>
              </a:rPr>
              <a:t>· 1 par application</a:t>
            </a:r>
            <a:endParaRPr lang="en-US" sz="2025" dirty="0"/>
          </a:p>
        </p:txBody>
      </p:sp>
      <p:sp>
        <p:nvSpPr>
          <p:cNvPr id="31" name="Text 29"/>
          <p:cNvSpPr/>
          <p:nvPr/>
        </p:nvSpPr>
        <p:spPr>
          <a:xfrm>
            <a:off x="1339850" y="7209995"/>
            <a:ext cx="267196" cy="34667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56DBDB">
                    <a:alpha val="99000"/>
                  </a:srgbClr>
                </a:solidFill>
                <a:latin typeface="Arial" pitchFamily="34" charset="0"/>
                <a:ea typeface="Arial" pitchFamily="34" charset="-122"/>
                <a:cs typeface="Arial" pitchFamily="34" charset="-120"/>
              </a:rPr>
              <a:t>▸</a:t>
            </a:r>
            <a:endParaRPr lang="en-US" sz="1800" dirty="0"/>
          </a:p>
        </p:txBody>
      </p:sp>
      <p:sp>
        <p:nvSpPr>
          <p:cNvPr id="32" name="Text 30"/>
          <p:cNvSpPr/>
          <p:nvPr/>
        </p:nvSpPr>
        <p:spPr>
          <a:xfrm>
            <a:off x="1626096" y="7209995"/>
            <a:ext cx="3934520" cy="336550"/>
          </a:xfrm>
          <a:prstGeom prst="rect">
            <a:avLst/>
          </a:prstGeom>
          <a:noFill/>
          <a:ln/>
        </p:spPr>
        <p:txBody>
          <a:bodyPr wrap="square" lIns="0" tIns="0" rIns="0" bIns="0" rtlCol="0" anchor="t">
            <a:normAutofit/>
          </a:bodyPr>
          <a:lstStyle/>
          <a:p>
            <a:pPr algn="l" indent="0" marL="0">
              <a:lnSpc>
                <a:spcPct val="115714"/>
              </a:lnSpc>
              <a:buNone/>
            </a:pPr>
            <a:r>
              <a:rPr lang="en-US" sz="1800" dirty="0">
                <a:solidFill>
                  <a:srgbClr val="8EA0B5">
                    <a:alpha val="99000"/>
                  </a:srgbClr>
                </a:solidFill>
                <a:latin typeface="Arial" pitchFamily="34" charset="0"/>
                <a:ea typeface="Arial" pitchFamily="34" charset="-122"/>
                <a:cs typeface="Arial" pitchFamily="34" charset="-120"/>
              </a:rPr>
              <a:t>Négocie les ressources auprès du RM</a:t>
            </a:r>
            <a:endParaRPr lang="en-US" sz="1800" dirty="0"/>
          </a:p>
        </p:txBody>
      </p:sp>
      <p:sp>
        <p:nvSpPr>
          <p:cNvPr id="33" name="Text 31"/>
          <p:cNvSpPr/>
          <p:nvPr/>
        </p:nvSpPr>
        <p:spPr>
          <a:xfrm>
            <a:off x="1339850" y="7585240"/>
            <a:ext cx="267196" cy="34667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56DBDB">
                    <a:alpha val="99000"/>
                  </a:srgbClr>
                </a:solidFill>
                <a:latin typeface="Arial" pitchFamily="34" charset="0"/>
                <a:ea typeface="Arial" pitchFamily="34" charset="-122"/>
                <a:cs typeface="Arial" pitchFamily="34" charset="-120"/>
              </a:rPr>
              <a:t>▸</a:t>
            </a:r>
            <a:endParaRPr lang="en-US" sz="1800" dirty="0"/>
          </a:p>
        </p:txBody>
      </p:sp>
      <p:sp>
        <p:nvSpPr>
          <p:cNvPr id="34" name="Text 32"/>
          <p:cNvSpPr/>
          <p:nvPr/>
        </p:nvSpPr>
        <p:spPr>
          <a:xfrm>
            <a:off x="1626096" y="7585240"/>
            <a:ext cx="3759153" cy="336550"/>
          </a:xfrm>
          <a:prstGeom prst="rect">
            <a:avLst/>
          </a:prstGeom>
          <a:noFill/>
          <a:ln/>
        </p:spPr>
        <p:txBody>
          <a:bodyPr wrap="square" lIns="0" tIns="0" rIns="0" bIns="0" rtlCol="0" anchor="t">
            <a:normAutofit/>
          </a:bodyPr>
          <a:lstStyle/>
          <a:p>
            <a:pPr algn="l" indent="0" marL="0">
              <a:lnSpc>
                <a:spcPct val="115714"/>
              </a:lnSpc>
              <a:buNone/>
            </a:pPr>
            <a:r>
              <a:rPr lang="en-US" sz="1800" dirty="0">
                <a:solidFill>
                  <a:srgbClr val="8EA0B5">
                    <a:alpha val="99000"/>
                  </a:srgbClr>
                </a:solidFill>
                <a:latin typeface="Arial" pitchFamily="34" charset="0"/>
                <a:ea typeface="Arial" pitchFamily="34" charset="-122"/>
                <a:cs typeface="Arial" pitchFamily="34" charset="-120"/>
              </a:rPr>
              <a:t>Répartit les tâches entre containers</a:t>
            </a:r>
            <a:endParaRPr lang="en-US" sz="1800" dirty="0"/>
          </a:p>
        </p:txBody>
      </p:sp>
      <p:sp>
        <p:nvSpPr>
          <p:cNvPr id="35" name="Text 33"/>
          <p:cNvSpPr/>
          <p:nvPr/>
        </p:nvSpPr>
        <p:spPr>
          <a:xfrm>
            <a:off x="1339850" y="7960486"/>
            <a:ext cx="267196" cy="34667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56DBDB">
                    <a:alpha val="99000"/>
                  </a:srgbClr>
                </a:solidFill>
                <a:latin typeface="Arial" pitchFamily="34" charset="0"/>
                <a:ea typeface="Arial" pitchFamily="34" charset="-122"/>
                <a:cs typeface="Arial" pitchFamily="34" charset="-120"/>
              </a:rPr>
              <a:t>▸</a:t>
            </a:r>
            <a:endParaRPr lang="en-US" sz="1800" dirty="0"/>
          </a:p>
        </p:txBody>
      </p:sp>
      <p:sp>
        <p:nvSpPr>
          <p:cNvPr id="36" name="Text 34"/>
          <p:cNvSpPr/>
          <p:nvPr/>
        </p:nvSpPr>
        <p:spPr>
          <a:xfrm>
            <a:off x="1626096" y="7960486"/>
            <a:ext cx="3438157" cy="336550"/>
          </a:xfrm>
          <a:prstGeom prst="rect">
            <a:avLst/>
          </a:prstGeom>
          <a:noFill/>
          <a:ln/>
        </p:spPr>
        <p:txBody>
          <a:bodyPr wrap="square" lIns="0" tIns="0" rIns="0" bIns="0" rtlCol="0" anchor="t">
            <a:normAutofit/>
          </a:bodyPr>
          <a:lstStyle/>
          <a:p>
            <a:pPr algn="l" indent="0" marL="0">
              <a:lnSpc>
                <a:spcPct val="115714"/>
              </a:lnSpc>
              <a:buNone/>
            </a:pPr>
            <a:r>
              <a:rPr lang="en-US" sz="1800" dirty="0">
                <a:solidFill>
                  <a:srgbClr val="8EA0B5">
                    <a:alpha val="99000"/>
                  </a:srgbClr>
                </a:solidFill>
                <a:latin typeface="Arial" pitchFamily="34" charset="0"/>
                <a:ea typeface="Arial" pitchFamily="34" charset="-122"/>
                <a:cs typeface="Arial" pitchFamily="34" charset="-120"/>
              </a:rPr>
              <a:t>Relance les tâches ayant échoué</a:t>
            </a:r>
            <a:endParaRPr lang="en-US" sz="1800" dirty="0"/>
          </a:p>
        </p:txBody>
      </p:sp>
      <p:sp>
        <p:nvSpPr>
          <p:cNvPr id="37" name="Shape 35"/>
          <p:cNvSpPr/>
          <p:nvPr/>
        </p:nvSpPr>
        <p:spPr>
          <a:xfrm>
            <a:off x="9220200" y="6568801"/>
            <a:ext cx="8001000" cy="2909590"/>
          </a:xfrm>
          <a:prstGeom prst="roundRect">
            <a:avLst>
              <a:gd name="adj" fmla="val 5238"/>
            </a:avLst>
          </a:prstGeom>
          <a:solidFill>
            <a:srgbClr val="FFFFFF">
              <a:alpha val="3000"/>
            </a:srgbClr>
          </a:solidFill>
          <a:ln w="6350">
            <a:solidFill>
              <a:srgbClr val="FFFFFF">
                <a:alpha val="10000"/>
              </a:srgbClr>
            </a:solidFill>
            <a:prstDash val="solid"/>
          </a:ln>
        </p:spPr>
      </p:sp>
      <p:sp>
        <p:nvSpPr>
          <p:cNvPr id="38" name="Text 36"/>
          <p:cNvSpPr/>
          <p:nvPr/>
        </p:nvSpPr>
        <p:spPr>
          <a:xfrm>
            <a:off x="9493250" y="6803751"/>
            <a:ext cx="8200390" cy="336550"/>
          </a:xfrm>
          <a:prstGeom prst="rect">
            <a:avLst/>
          </a:prstGeom>
          <a:noFill/>
          <a:ln/>
        </p:spPr>
        <p:txBody>
          <a:bodyPr wrap="square" lIns="25400" tIns="25400" rIns="25400" bIns="25400" rtlCol="0" anchor="t">
            <a:normAutofit/>
          </a:bodyPr>
          <a:lstStyle/>
          <a:p>
            <a:pPr algn="l" indent="0" marL="0">
              <a:buNone/>
            </a:pPr>
            <a:r>
              <a:rPr lang="en-US" sz="2025" b="1" dirty="0">
                <a:solidFill>
                  <a:srgbClr val="EEF3F9">
                    <a:alpha val="96000"/>
                  </a:srgbClr>
                </a:solidFill>
                <a:latin typeface="Arial" pitchFamily="34" charset="0"/>
                <a:ea typeface="Arial" pitchFamily="34" charset="-122"/>
                <a:cs typeface="Arial" pitchFamily="34" charset="-120"/>
              </a:rPr>
              <a:t>Container </a:t>
            </a:r>
            <a:pPr algn="l" indent="0" marL="0">
              <a:buNone/>
            </a:pPr>
            <a:r>
              <a:rPr lang="en-US" sz="1800" b="1" dirty="0">
                <a:solidFill>
                  <a:srgbClr val="8EA0B5">
                    <a:alpha val="96000"/>
                  </a:srgbClr>
                </a:solidFill>
                <a:latin typeface="Arial" pitchFamily="34" charset="0"/>
                <a:ea typeface="Arial" pitchFamily="34" charset="-122"/>
                <a:cs typeface="Arial" pitchFamily="34" charset="-120"/>
              </a:rPr>
              <a:t>· unité d'allocation</a:t>
            </a:r>
            <a:endParaRPr lang="en-US" sz="2025" dirty="0"/>
          </a:p>
        </p:txBody>
      </p:sp>
      <p:sp>
        <p:nvSpPr>
          <p:cNvPr id="39" name="Text 37"/>
          <p:cNvSpPr/>
          <p:nvPr/>
        </p:nvSpPr>
        <p:spPr>
          <a:xfrm>
            <a:off x="9493250" y="7216501"/>
            <a:ext cx="267196" cy="34667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56DBDB">
                    <a:alpha val="96000"/>
                  </a:srgbClr>
                </a:solidFill>
                <a:latin typeface="Arial" pitchFamily="34" charset="0"/>
                <a:ea typeface="Arial" pitchFamily="34" charset="-122"/>
                <a:cs typeface="Arial" pitchFamily="34" charset="-120"/>
              </a:rPr>
              <a:t>▸</a:t>
            </a:r>
            <a:endParaRPr lang="en-US" sz="1800" dirty="0"/>
          </a:p>
        </p:txBody>
      </p:sp>
      <p:sp>
        <p:nvSpPr>
          <p:cNvPr id="40" name="Text 38"/>
          <p:cNvSpPr/>
          <p:nvPr/>
        </p:nvSpPr>
        <p:spPr>
          <a:xfrm>
            <a:off x="9779496" y="7216501"/>
            <a:ext cx="5380073" cy="336550"/>
          </a:xfrm>
          <a:prstGeom prst="rect">
            <a:avLst/>
          </a:prstGeom>
          <a:noFill/>
          <a:ln/>
        </p:spPr>
        <p:txBody>
          <a:bodyPr wrap="square" lIns="0" tIns="0" rIns="0" bIns="0" rtlCol="0" anchor="t">
            <a:normAutofit/>
          </a:bodyPr>
          <a:lstStyle/>
          <a:p>
            <a:pPr algn="l" indent="0" marL="0">
              <a:lnSpc>
                <a:spcPct val="115714"/>
              </a:lnSpc>
              <a:buNone/>
            </a:pPr>
            <a:r>
              <a:rPr lang="en-US" sz="1800" dirty="0">
                <a:solidFill>
                  <a:srgbClr val="8EA0B5">
                    <a:alpha val="96000"/>
                  </a:srgbClr>
                </a:solidFill>
                <a:latin typeface="Arial" pitchFamily="34" charset="0"/>
                <a:ea typeface="Arial" pitchFamily="34" charset="-122"/>
                <a:cs typeface="Arial" pitchFamily="34" charset="-120"/>
              </a:rPr>
              <a:t>Ressources réservées sur un nœud (RAM + vCores)</a:t>
            </a:r>
            <a:endParaRPr lang="en-US" sz="1800" dirty="0"/>
          </a:p>
        </p:txBody>
      </p:sp>
      <p:sp>
        <p:nvSpPr>
          <p:cNvPr id="41" name="Text 39"/>
          <p:cNvSpPr/>
          <p:nvPr/>
        </p:nvSpPr>
        <p:spPr>
          <a:xfrm>
            <a:off x="9493250" y="7591746"/>
            <a:ext cx="267196" cy="34667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56DBDB">
                    <a:alpha val="96000"/>
                  </a:srgbClr>
                </a:solidFill>
                <a:latin typeface="Arial" pitchFamily="34" charset="0"/>
                <a:ea typeface="Arial" pitchFamily="34" charset="-122"/>
                <a:cs typeface="Arial" pitchFamily="34" charset="-120"/>
              </a:rPr>
              <a:t>▸</a:t>
            </a:r>
            <a:endParaRPr lang="en-US" sz="1800" dirty="0"/>
          </a:p>
        </p:txBody>
      </p:sp>
      <p:sp>
        <p:nvSpPr>
          <p:cNvPr id="42" name="Text 40"/>
          <p:cNvSpPr/>
          <p:nvPr/>
        </p:nvSpPr>
        <p:spPr>
          <a:xfrm>
            <a:off x="9779496" y="7591746"/>
            <a:ext cx="3767124" cy="336550"/>
          </a:xfrm>
          <a:prstGeom prst="rect">
            <a:avLst/>
          </a:prstGeom>
          <a:noFill/>
          <a:ln/>
        </p:spPr>
        <p:txBody>
          <a:bodyPr wrap="square" lIns="0" tIns="0" rIns="0" bIns="0" rtlCol="0" anchor="t">
            <a:normAutofit/>
          </a:bodyPr>
          <a:lstStyle/>
          <a:p>
            <a:pPr algn="l" indent="0" marL="0">
              <a:lnSpc>
                <a:spcPct val="115714"/>
              </a:lnSpc>
              <a:buNone/>
            </a:pPr>
            <a:r>
              <a:rPr lang="en-US" sz="1800" dirty="0">
                <a:solidFill>
                  <a:srgbClr val="8EA0B5">
                    <a:alpha val="96000"/>
                  </a:srgbClr>
                </a:solidFill>
                <a:latin typeface="Arial" pitchFamily="34" charset="0"/>
                <a:ea typeface="Arial" pitchFamily="34" charset="-122"/>
                <a:cs typeface="Arial" pitchFamily="34" charset="-120"/>
              </a:rPr>
              <a:t>+ disque local, éventuellement GPU</a:t>
            </a:r>
            <a:endParaRPr lang="en-US" sz="1800" dirty="0"/>
          </a:p>
        </p:txBody>
      </p:sp>
      <p:sp>
        <p:nvSpPr>
          <p:cNvPr id="43" name="Text 41"/>
          <p:cNvSpPr/>
          <p:nvPr/>
        </p:nvSpPr>
        <p:spPr>
          <a:xfrm>
            <a:off x="9493250" y="7966992"/>
            <a:ext cx="267196" cy="34667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56DBDB">
                    <a:alpha val="96000"/>
                  </a:srgbClr>
                </a:solidFill>
                <a:latin typeface="Arial" pitchFamily="34" charset="0"/>
                <a:ea typeface="Arial" pitchFamily="34" charset="-122"/>
                <a:cs typeface="Arial" pitchFamily="34" charset="-120"/>
              </a:rPr>
              <a:t>▸</a:t>
            </a:r>
            <a:endParaRPr lang="en-US" sz="1800" dirty="0"/>
          </a:p>
        </p:txBody>
      </p:sp>
      <p:sp>
        <p:nvSpPr>
          <p:cNvPr id="44" name="Text 42"/>
          <p:cNvSpPr/>
          <p:nvPr/>
        </p:nvSpPr>
        <p:spPr>
          <a:xfrm>
            <a:off x="9779496" y="7966992"/>
            <a:ext cx="4455103" cy="336550"/>
          </a:xfrm>
          <a:prstGeom prst="rect">
            <a:avLst/>
          </a:prstGeom>
          <a:noFill/>
          <a:ln/>
        </p:spPr>
        <p:txBody>
          <a:bodyPr wrap="square" lIns="0" tIns="0" rIns="0" bIns="0" rtlCol="0" anchor="t">
            <a:normAutofit/>
          </a:bodyPr>
          <a:lstStyle/>
          <a:p>
            <a:pPr algn="l" indent="0" marL="0">
              <a:lnSpc>
                <a:spcPct val="115714"/>
              </a:lnSpc>
              <a:buNone/>
            </a:pPr>
            <a:r>
              <a:rPr lang="en-US" sz="1800" dirty="0">
                <a:solidFill>
                  <a:srgbClr val="8EA0B5">
                    <a:alpha val="96000"/>
                  </a:srgbClr>
                </a:solidFill>
                <a:latin typeface="Arial" pitchFamily="34" charset="0"/>
                <a:ea typeface="Arial" pitchFamily="34" charset="-122"/>
                <a:cs typeface="Arial" pitchFamily="34" charset="-120"/>
              </a:rPr>
              <a:t>Chaque tâche Spark / Tez / MR s'y exécute</a:t>
            </a:r>
            <a:endParaRPr lang="en-US" sz="1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0E15"/>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B897F0">
                    <a:alpha val="97000"/>
                  </a:srgbClr>
                </a:solidFill>
                <a:latin typeface="Courier New" pitchFamily="34" charset="0"/>
                <a:ea typeface="Courier New" pitchFamily="34" charset="-122"/>
                <a:cs typeface="Courier New" pitchFamily="34" charset="-120"/>
              </a:rPr>
              <a:t>ATELIER 4.1 · YARN</a:t>
            </a:r>
            <a:endParaRPr lang="en-US" sz="1800" dirty="0"/>
          </a:p>
        </p:txBody>
      </p:sp>
      <p:sp>
        <p:nvSpPr>
          <p:cNvPr id="3" name="Text 1"/>
          <p:cNvSpPr/>
          <p:nvPr/>
        </p:nvSpPr>
        <p:spPr>
          <a:xfrm>
            <a:off x="1066800" y="1276351"/>
            <a:ext cx="17769840"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L'allocation des ressources en pratique</a:t>
            </a:r>
            <a:endParaRPr lang="en-US" sz="4800" dirty="0"/>
          </a:p>
        </p:txBody>
      </p:sp>
      <p:sp>
        <p:nvSpPr>
          <p:cNvPr id="4" name="Shape 2"/>
          <p:cNvSpPr/>
          <p:nvPr/>
        </p:nvSpPr>
        <p:spPr>
          <a:xfrm>
            <a:off x="3436045" y="2138860"/>
            <a:ext cx="3677940" cy="965200"/>
          </a:xfrm>
          <a:prstGeom prst="roundRect">
            <a:avLst>
              <a:gd name="adj" fmla="val 11842"/>
            </a:avLst>
          </a:prstGeom>
          <a:gradFill rotWithShape="1">
            <a:gsLst>
              <a:gs pos="0">
                <a:srgbClr val="B996F0">
                  <a:alpha val="20000"/>
                </a:srgbClr>
              </a:gs>
              <a:gs pos="100000">
                <a:srgbClr val="FFFFFF">
                  <a:alpha val="6000"/>
                </a:srgbClr>
              </a:gs>
            </a:gsLst>
            <a:lin ang="4200000" scaled="0"/>
          </a:gradFill>
          <a:ln w="6350">
            <a:solidFill>
              <a:srgbClr val="C0A4F2">
                <a:alpha val="46000"/>
              </a:srgbClr>
            </a:solidFill>
            <a:prstDash val="solid"/>
          </a:ln>
        </p:spPr>
      </p:sp>
      <p:sp>
        <p:nvSpPr>
          <p:cNvPr id="5" name="Text 3"/>
          <p:cNvSpPr/>
          <p:nvPr/>
        </p:nvSpPr>
        <p:spPr>
          <a:xfrm>
            <a:off x="4246265" y="2297610"/>
            <a:ext cx="2133600" cy="342900"/>
          </a:xfrm>
          <a:prstGeom prst="rect">
            <a:avLst/>
          </a:prstGeom>
          <a:noFill/>
          <a:ln/>
        </p:spPr>
        <p:txBody>
          <a:bodyPr wrap="square" lIns="0" tIns="0" rIns="0" bIns="0" rtlCol="0" anchor="t">
            <a:normAutofit/>
          </a:bodyPr>
          <a:lstStyle/>
          <a:p>
            <a:pPr algn="ctr" indent="0" marL="0">
              <a:buNone/>
            </a:pPr>
            <a:r>
              <a:rPr lang="en-US" sz="1800" dirty="0">
                <a:solidFill>
                  <a:srgbClr val="B897F0"/>
                </a:solidFill>
                <a:latin typeface="Courier New" pitchFamily="34" charset="0"/>
                <a:ea typeface="Courier New" pitchFamily="34" charset="-122"/>
                <a:cs typeface="Courier New" pitchFamily="34" charset="-120"/>
              </a:rPr>
              <a:t>ResourceManager</a:t>
            </a:r>
            <a:endParaRPr lang="en-US" sz="1800" dirty="0"/>
          </a:p>
        </p:txBody>
      </p:sp>
      <p:sp>
        <p:nvSpPr>
          <p:cNvPr id="6" name="Text 4"/>
          <p:cNvSpPr/>
          <p:nvPr/>
        </p:nvSpPr>
        <p:spPr>
          <a:xfrm>
            <a:off x="3615368" y="2640510"/>
            <a:ext cx="3319294"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8EA0B5"/>
                </a:solidFill>
                <a:latin typeface="Courier New" pitchFamily="34" charset="0"/>
                <a:ea typeface="Courier New" pitchFamily="34" charset="-122"/>
                <a:cs typeface="Courier New" pitchFamily="34" charset="-120"/>
              </a:rPr>
              <a:t>vue globale du cluster</a:t>
            </a:r>
            <a:endParaRPr lang="en-US" sz="1800" dirty="0"/>
          </a:p>
        </p:txBody>
      </p:sp>
      <p:sp>
        <p:nvSpPr>
          <p:cNvPr id="7" name="Shape 5"/>
          <p:cNvSpPr/>
          <p:nvPr/>
        </p:nvSpPr>
        <p:spPr>
          <a:xfrm>
            <a:off x="5265539" y="3104060"/>
            <a:ext cx="19050" cy="190500"/>
          </a:xfrm>
          <a:prstGeom prst="rect">
            <a:avLst/>
          </a:prstGeom>
          <a:solidFill>
            <a:srgbClr val="B897F0">
              <a:alpha val="69000"/>
            </a:srgbClr>
          </a:solidFill>
          <a:ln/>
        </p:spPr>
      </p:sp>
      <p:sp>
        <p:nvSpPr>
          <p:cNvPr id="8" name="Shape 6"/>
          <p:cNvSpPr/>
          <p:nvPr/>
        </p:nvSpPr>
        <p:spPr>
          <a:xfrm>
            <a:off x="1993837" y="3289610"/>
            <a:ext cx="2239890" cy="889374"/>
          </a:xfrm>
          <a:prstGeom prst="roundRect">
            <a:avLst>
              <a:gd name="adj" fmla="val 10830"/>
            </a:avLst>
          </a:prstGeom>
          <a:solidFill>
            <a:srgbClr val="FFFFFF">
              <a:alpha val="3000"/>
            </a:srgbClr>
          </a:solidFill>
          <a:ln w="6422">
            <a:solidFill>
              <a:srgbClr val="FFFFFF">
                <a:alpha val="10000"/>
              </a:srgbClr>
            </a:solidFill>
            <a:prstDash val="solid"/>
          </a:ln>
        </p:spPr>
      </p:sp>
      <p:sp>
        <p:nvSpPr>
          <p:cNvPr id="9" name="Text 7"/>
          <p:cNvSpPr/>
          <p:nvPr/>
        </p:nvSpPr>
        <p:spPr>
          <a:xfrm>
            <a:off x="2212167" y="3411618"/>
            <a:ext cx="1879430" cy="346331"/>
          </a:xfrm>
          <a:prstGeom prst="rect">
            <a:avLst/>
          </a:prstGeom>
          <a:noFill/>
          <a:ln/>
        </p:spPr>
        <p:txBody>
          <a:bodyPr wrap="square" lIns="0" tIns="0" rIns="0" bIns="0" rtlCol="0" anchor="t">
            <a:normAutofit/>
          </a:bodyPr>
          <a:lstStyle/>
          <a:p>
            <a:pPr algn="ctr" indent="0" marL="0">
              <a:buNone/>
            </a:pPr>
            <a:r>
              <a:rPr lang="en-US" sz="1820" dirty="0">
                <a:solidFill>
                  <a:srgbClr val="EEF3F9"/>
                </a:solidFill>
                <a:latin typeface="Courier New" pitchFamily="34" charset="0"/>
                <a:ea typeface="Courier New" pitchFamily="34" charset="-122"/>
                <a:cs typeface="Courier New" pitchFamily="34" charset="-120"/>
              </a:rPr>
              <a:t>Worker Node 1</a:t>
            </a:r>
            <a:endParaRPr lang="en-US" sz="1820" dirty="0"/>
          </a:p>
        </p:txBody>
      </p:sp>
      <p:sp>
        <p:nvSpPr>
          <p:cNvPr id="10" name="Text 8"/>
          <p:cNvSpPr/>
          <p:nvPr/>
        </p:nvSpPr>
        <p:spPr>
          <a:xfrm>
            <a:off x="2122005" y="3748746"/>
            <a:ext cx="1983553" cy="346331"/>
          </a:xfrm>
          <a:prstGeom prst="rect">
            <a:avLst/>
          </a:prstGeom>
          <a:noFill/>
          <a:ln/>
        </p:spPr>
        <p:txBody>
          <a:bodyPr wrap="square" lIns="25400" tIns="25400" rIns="25400" bIns="25400" rtlCol="0" anchor="t">
            <a:normAutofit/>
          </a:bodyPr>
          <a:lstStyle/>
          <a:p>
            <a:pPr algn="ctr" indent="0" marL="0">
              <a:buNone/>
            </a:pPr>
            <a:r>
              <a:rPr lang="en-US" sz="1820" dirty="0">
                <a:solidFill>
                  <a:srgbClr val="56DBDB"/>
                </a:solidFill>
                <a:latin typeface="Courier New" pitchFamily="34" charset="0"/>
                <a:ea typeface="Courier New" pitchFamily="34" charset="-122"/>
                <a:cs typeface="Courier New" pitchFamily="34" charset="-120"/>
              </a:rPr>
              <a:t>NodeManager</a:t>
            </a:r>
            <a:endParaRPr lang="en-US" sz="1820" dirty="0"/>
          </a:p>
        </p:txBody>
      </p:sp>
      <p:sp>
        <p:nvSpPr>
          <p:cNvPr id="11" name="Shape 9"/>
          <p:cNvSpPr/>
          <p:nvPr/>
        </p:nvSpPr>
        <p:spPr>
          <a:xfrm>
            <a:off x="1042266" y="4264186"/>
            <a:ext cx="4143032" cy="861099"/>
          </a:xfrm>
          <a:prstGeom prst="roundRect">
            <a:avLst>
              <a:gd name="adj" fmla="val 8955"/>
            </a:avLst>
          </a:prstGeom>
          <a:solidFill>
            <a:srgbClr val="FFFFFF">
              <a:alpha val="6000"/>
            </a:srgbClr>
          </a:solidFill>
          <a:ln w="6426">
            <a:solidFill>
              <a:srgbClr val="FFFFFF">
                <a:alpha val="10000"/>
              </a:srgbClr>
            </a:solidFill>
            <a:prstDash val="solid"/>
          </a:ln>
        </p:spPr>
      </p:sp>
      <p:sp>
        <p:nvSpPr>
          <p:cNvPr id="12" name="Text 10"/>
          <p:cNvSpPr/>
          <p:nvPr/>
        </p:nvSpPr>
        <p:spPr>
          <a:xfrm>
            <a:off x="1140774" y="4386282"/>
            <a:ext cx="3946016" cy="655005"/>
          </a:xfrm>
          <a:prstGeom prst="rect">
            <a:avLst/>
          </a:prstGeom>
          <a:noFill/>
          <a:ln/>
        </p:spPr>
        <p:txBody>
          <a:bodyPr wrap="square" lIns="25400" tIns="25400" rIns="25400" bIns="25400" rtlCol="0" anchor="t">
            <a:normAutofit/>
          </a:bodyPr>
          <a:lstStyle/>
          <a:p>
            <a:pPr algn="ctr" indent="0" marL="0">
              <a:buNone/>
            </a:pPr>
            <a:r>
              <a:rPr lang="en-US" sz="1822" dirty="0">
                <a:solidFill>
                  <a:srgbClr val="EEF3F9"/>
                </a:solidFill>
                <a:highlight>
                  <a:srgbClr val="FFFFFF"/>
                </a:highlight>
                <a:latin typeface="Courier New" pitchFamily="34" charset="0"/>
                <a:ea typeface="Courier New" pitchFamily="34" charset="-122"/>
                <a:cs typeface="Courier New" pitchFamily="34" charset="-120"/>
              </a:rPr>
              <a:t>Container 1 </a:t>
            </a:r>
            <a:pPr algn="ctr" indent="0" marL="0">
              <a:buNone/>
            </a:pPr>
            <a:r>
              <a:rPr lang="en-US" sz="1822" dirty="0">
                <a:solidFill>
                  <a:srgbClr val="B897F0"/>
                </a:solidFill>
                <a:latin typeface="Courier New" pitchFamily="34" charset="0"/>
                <a:ea typeface="Courier New" pitchFamily="34" charset="-122"/>
                <a:cs typeface="Courier New" pitchFamily="34" charset="-120"/>
              </a:rPr>
              <a:t>4 Go · 2 vCores</a:t>
            </a:r>
            <a:endParaRPr lang="en-US" sz="1822" dirty="0"/>
          </a:p>
        </p:txBody>
      </p:sp>
      <p:sp>
        <p:nvSpPr>
          <p:cNvPr id="13" name="Shape 11"/>
          <p:cNvSpPr/>
          <p:nvPr/>
        </p:nvSpPr>
        <p:spPr>
          <a:xfrm>
            <a:off x="1051366" y="5212227"/>
            <a:ext cx="4124832" cy="857316"/>
          </a:xfrm>
          <a:prstGeom prst="roundRect">
            <a:avLst>
              <a:gd name="adj" fmla="val 8955"/>
            </a:avLst>
          </a:prstGeom>
          <a:solidFill>
            <a:srgbClr val="FFFFFF">
              <a:alpha val="6000"/>
            </a:srgbClr>
          </a:solidFill>
          <a:ln w="6398">
            <a:solidFill>
              <a:srgbClr val="FFFFFF">
                <a:alpha val="10000"/>
              </a:srgbClr>
            </a:solidFill>
            <a:prstDash val="solid"/>
          </a:ln>
        </p:spPr>
      </p:sp>
      <p:sp>
        <p:nvSpPr>
          <p:cNvPr id="14" name="Text 12"/>
          <p:cNvSpPr/>
          <p:nvPr/>
        </p:nvSpPr>
        <p:spPr>
          <a:xfrm>
            <a:off x="1149440" y="5333787"/>
            <a:ext cx="3928683" cy="652297"/>
          </a:xfrm>
          <a:prstGeom prst="rect">
            <a:avLst/>
          </a:prstGeom>
          <a:noFill/>
          <a:ln/>
        </p:spPr>
        <p:txBody>
          <a:bodyPr wrap="square" lIns="25400" tIns="25400" rIns="25400" bIns="25400" rtlCol="0" anchor="t">
            <a:normAutofit/>
          </a:bodyPr>
          <a:lstStyle/>
          <a:p>
            <a:pPr algn="ctr" indent="0" marL="0">
              <a:buNone/>
            </a:pPr>
            <a:r>
              <a:rPr lang="en-US" sz="1814" dirty="0">
                <a:solidFill>
                  <a:srgbClr val="EEF3F9"/>
                </a:solidFill>
                <a:highlight>
                  <a:srgbClr val="FFFFFF"/>
                </a:highlight>
                <a:latin typeface="Courier New" pitchFamily="34" charset="0"/>
                <a:ea typeface="Courier New" pitchFamily="34" charset="-122"/>
                <a:cs typeface="Courier New" pitchFamily="34" charset="-120"/>
              </a:rPr>
              <a:t>Container 2 </a:t>
            </a:r>
            <a:pPr algn="ctr" indent="0" marL="0">
              <a:buNone/>
            </a:pPr>
            <a:r>
              <a:rPr lang="en-US" sz="1814" dirty="0">
                <a:solidFill>
                  <a:srgbClr val="B897F0"/>
                </a:solidFill>
                <a:latin typeface="Courier New" pitchFamily="34" charset="0"/>
                <a:ea typeface="Courier New" pitchFamily="34" charset="-122"/>
                <a:cs typeface="Courier New" pitchFamily="34" charset="-120"/>
              </a:rPr>
              <a:t>8 Go · 4 vCores</a:t>
            </a:r>
            <a:endParaRPr lang="en-US" sz="1814" dirty="0"/>
          </a:p>
        </p:txBody>
      </p:sp>
      <p:sp>
        <p:nvSpPr>
          <p:cNvPr id="15" name="Shape 13"/>
          <p:cNvSpPr/>
          <p:nvPr/>
        </p:nvSpPr>
        <p:spPr>
          <a:xfrm>
            <a:off x="6315156" y="3289116"/>
            <a:ext cx="2242381" cy="890363"/>
          </a:xfrm>
          <a:prstGeom prst="roundRect">
            <a:avLst>
              <a:gd name="adj" fmla="val 10830"/>
            </a:avLst>
          </a:prstGeom>
          <a:solidFill>
            <a:srgbClr val="FFFFFF">
              <a:alpha val="3000"/>
            </a:srgbClr>
          </a:solidFill>
          <a:ln w="6429">
            <a:solidFill>
              <a:srgbClr val="FFFFFF">
                <a:alpha val="10000"/>
              </a:srgbClr>
            </a:solidFill>
            <a:prstDash val="solid"/>
          </a:ln>
        </p:spPr>
      </p:sp>
      <p:sp>
        <p:nvSpPr>
          <p:cNvPr id="16" name="Text 14"/>
          <p:cNvSpPr/>
          <p:nvPr/>
        </p:nvSpPr>
        <p:spPr>
          <a:xfrm>
            <a:off x="6533729" y="3411260"/>
            <a:ext cx="1881436" cy="346673"/>
          </a:xfrm>
          <a:prstGeom prst="rect">
            <a:avLst/>
          </a:prstGeom>
          <a:noFill/>
          <a:ln/>
        </p:spPr>
        <p:txBody>
          <a:bodyPr wrap="square" lIns="0" tIns="0" rIns="0" bIns="0" rtlCol="0" anchor="t">
            <a:normAutofit/>
          </a:bodyPr>
          <a:lstStyle/>
          <a:p>
            <a:pPr algn="ctr" indent="0" marL="0">
              <a:buNone/>
            </a:pPr>
            <a:r>
              <a:rPr lang="en-US" sz="1822" dirty="0">
                <a:solidFill>
                  <a:srgbClr val="EEF3F9"/>
                </a:solidFill>
                <a:latin typeface="Courier New" pitchFamily="34" charset="0"/>
                <a:ea typeface="Courier New" pitchFamily="34" charset="-122"/>
                <a:cs typeface="Courier New" pitchFamily="34" charset="-120"/>
              </a:rPr>
              <a:t>Worker Node 2</a:t>
            </a:r>
            <a:endParaRPr lang="en-US" sz="1822" dirty="0"/>
          </a:p>
        </p:txBody>
      </p:sp>
      <p:sp>
        <p:nvSpPr>
          <p:cNvPr id="17" name="Text 15"/>
          <p:cNvSpPr/>
          <p:nvPr/>
        </p:nvSpPr>
        <p:spPr>
          <a:xfrm>
            <a:off x="6443467" y="3748762"/>
            <a:ext cx="1985759" cy="346673"/>
          </a:xfrm>
          <a:prstGeom prst="rect">
            <a:avLst/>
          </a:prstGeom>
          <a:noFill/>
          <a:ln/>
        </p:spPr>
        <p:txBody>
          <a:bodyPr wrap="square" lIns="25400" tIns="25400" rIns="25400" bIns="25400" rtlCol="0" anchor="t">
            <a:normAutofit/>
          </a:bodyPr>
          <a:lstStyle/>
          <a:p>
            <a:pPr algn="ctr" indent="0" marL="0">
              <a:buNone/>
            </a:pPr>
            <a:r>
              <a:rPr lang="en-US" sz="1822" dirty="0">
                <a:solidFill>
                  <a:srgbClr val="56DBDB"/>
                </a:solidFill>
                <a:latin typeface="Courier New" pitchFamily="34" charset="0"/>
                <a:ea typeface="Courier New" pitchFamily="34" charset="-122"/>
                <a:cs typeface="Courier New" pitchFamily="34" charset="-120"/>
              </a:rPr>
              <a:t>NodeManager</a:t>
            </a:r>
            <a:endParaRPr lang="en-US" sz="1822" dirty="0"/>
          </a:p>
        </p:txBody>
      </p:sp>
      <p:sp>
        <p:nvSpPr>
          <p:cNvPr id="18" name="Shape 16"/>
          <p:cNvSpPr/>
          <p:nvPr/>
        </p:nvSpPr>
        <p:spPr>
          <a:xfrm>
            <a:off x="5369642" y="4265186"/>
            <a:ext cx="4133408" cy="859098"/>
          </a:xfrm>
          <a:prstGeom prst="roundRect">
            <a:avLst>
              <a:gd name="adj" fmla="val 8955"/>
            </a:avLst>
          </a:prstGeom>
          <a:solidFill>
            <a:srgbClr val="FFFFFF">
              <a:alpha val="6000"/>
            </a:srgbClr>
          </a:solidFill>
          <a:ln w="6411">
            <a:solidFill>
              <a:srgbClr val="FFFFFF">
                <a:alpha val="10000"/>
              </a:srgbClr>
            </a:solidFill>
            <a:prstDash val="solid"/>
          </a:ln>
        </p:spPr>
      </p:sp>
      <p:sp>
        <p:nvSpPr>
          <p:cNvPr id="19" name="Text 17"/>
          <p:cNvSpPr/>
          <p:nvPr/>
        </p:nvSpPr>
        <p:spPr>
          <a:xfrm>
            <a:off x="5467920" y="4386997"/>
            <a:ext cx="3936853" cy="653575"/>
          </a:xfrm>
          <a:prstGeom prst="rect">
            <a:avLst/>
          </a:prstGeom>
          <a:noFill/>
          <a:ln/>
        </p:spPr>
        <p:txBody>
          <a:bodyPr wrap="square" lIns="25400" tIns="25400" rIns="25400" bIns="25400" rtlCol="0" anchor="t">
            <a:normAutofit/>
          </a:bodyPr>
          <a:lstStyle/>
          <a:p>
            <a:pPr algn="ctr" indent="0" marL="0">
              <a:buNone/>
            </a:pPr>
            <a:r>
              <a:rPr lang="en-US" sz="1817" dirty="0">
                <a:solidFill>
                  <a:srgbClr val="EEF3F9"/>
                </a:solidFill>
                <a:highlight>
                  <a:srgbClr val="FFFFFF"/>
                </a:highlight>
                <a:latin typeface="Courier New" pitchFamily="34" charset="0"/>
                <a:ea typeface="Courier New" pitchFamily="34" charset="-122"/>
                <a:cs typeface="Courier New" pitchFamily="34" charset="-120"/>
              </a:rPr>
              <a:t>Container 3 </a:t>
            </a:r>
            <a:pPr algn="ctr" indent="0" marL="0">
              <a:buNone/>
            </a:pPr>
            <a:r>
              <a:rPr lang="en-US" sz="1817" dirty="0">
                <a:solidFill>
                  <a:srgbClr val="B897F0"/>
                </a:solidFill>
                <a:latin typeface="Courier New" pitchFamily="34" charset="0"/>
                <a:ea typeface="Courier New" pitchFamily="34" charset="-122"/>
                <a:cs typeface="Courier New" pitchFamily="34" charset="-120"/>
              </a:rPr>
              <a:t>2 Go · 1 vCore</a:t>
            </a:r>
            <a:endParaRPr lang="en-US" sz="1817" dirty="0"/>
          </a:p>
        </p:txBody>
      </p:sp>
      <p:sp>
        <p:nvSpPr>
          <p:cNvPr id="20" name="Shape 18"/>
          <p:cNvSpPr/>
          <p:nvPr/>
        </p:nvSpPr>
        <p:spPr>
          <a:xfrm>
            <a:off x="5387333" y="5215013"/>
            <a:ext cx="4098026" cy="851744"/>
          </a:xfrm>
          <a:prstGeom prst="roundRect">
            <a:avLst>
              <a:gd name="adj" fmla="val 8955"/>
            </a:avLst>
          </a:prstGeom>
          <a:solidFill>
            <a:srgbClr val="FFFFFF">
              <a:alpha val="6000"/>
            </a:srgbClr>
          </a:solidFill>
          <a:ln w="6356">
            <a:solidFill>
              <a:srgbClr val="FFFFFF">
                <a:alpha val="10000"/>
              </a:srgbClr>
            </a:solidFill>
            <a:prstDash val="solid"/>
          </a:ln>
        </p:spPr>
      </p:sp>
      <p:sp>
        <p:nvSpPr>
          <p:cNvPr id="21" name="Text 19"/>
          <p:cNvSpPr/>
          <p:nvPr/>
        </p:nvSpPr>
        <p:spPr>
          <a:xfrm>
            <a:off x="5484770" y="5335783"/>
            <a:ext cx="3903152" cy="648305"/>
          </a:xfrm>
          <a:prstGeom prst="rect">
            <a:avLst/>
          </a:prstGeom>
          <a:noFill/>
          <a:ln/>
        </p:spPr>
        <p:txBody>
          <a:bodyPr wrap="square" lIns="25400" tIns="25400" rIns="25400" bIns="25400" rtlCol="0" anchor="t">
            <a:normAutofit/>
          </a:bodyPr>
          <a:lstStyle/>
          <a:p>
            <a:pPr algn="ctr" indent="0" marL="0">
              <a:buNone/>
            </a:pPr>
            <a:r>
              <a:rPr lang="en-US" sz="1802" dirty="0">
                <a:solidFill>
                  <a:srgbClr val="EEF3F9"/>
                </a:solidFill>
                <a:highlight>
                  <a:srgbClr val="FFFFFF"/>
                </a:highlight>
                <a:latin typeface="Courier New" pitchFamily="34" charset="0"/>
                <a:ea typeface="Courier New" pitchFamily="34" charset="-122"/>
                <a:cs typeface="Courier New" pitchFamily="34" charset="-120"/>
              </a:rPr>
              <a:t>Container 4 </a:t>
            </a:r>
            <a:pPr algn="ctr" indent="0" marL="0">
              <a:buNone/>
            </a:pPr>
            <a:r>
              <a:rPr lang="en-US" sz="1802" dirty="0">
                <a:solidFill>
                  <a:srgbClr val="B897F0"/>
                </a:solidFill>
                <a:latin typeface="Courier New" pitchFamily="34" charset="0"/>
                <a:ea typeface="Courier New" pitchFamily="34" charset="-122"/>
                <a:cs typeface="Courier New" pitchFamily="34" charset="-120"/>
              </a:rPr>
              <a:t>6 Go · 2 vCores</a:t>
            </a:r>
            <a:endParaRPr lang="en-US" sz="1802" dirty="0"/>
          </a:p>
        </p:txBody>
      </p:sp>
      <p:sp>
        <p:nvSpPr>
          <p:cNvPr id="22" name="Text 20"/>
          <p:cNvSpPr/>
          <p:nvPr/>
        </p:nvSpPr>
        <p:spPr>
          <a:xfrm>
            <a:off x="9902428" y="3732522"/>
            <a:ext cx="8050649" cy="317500"/>
          </a:xfrm>
          <a:prstGeom prst="rect">
            <a:avLst/>
          </a:prstGeom>
          <a:noFill/>
          <a:ln/>
        </p:spPr>
        <p:txBody>
          <a:bodyPr wrap="square" lIns="25400" tIns="25400" rIns="25400" bIns="25400" rtlCol="0" anchor="t">
            <a:normAutofit/>
          </a:bodyPr>
          <a:lstStyle/>
          <a:p>
            <a:pPr algn="l" indent="0" marL="0">
              <a:buNone/>
            </a:pPr>
            <a:r>
              <a:rPr lang="en-US" sz="1950" b="1" dirty="0">
                <a:solidFill>
                  <a:srgbClr val="EEF3F9">
                    <a:alpha val="98000"/>
                  </a:srgbClr>
                </a:solidFill>
                <a:latin typeface="Arial" pitchFamily="34" charset="0"/>
                <a:ea typeface="Arial" pitchFamily="34" charset="-122"/>
                <a:cs typeface="Arial" pitchFamily="34" charset="-120"/>
              </a:rPr>
              <a:t>À retenir</a:t>
            </a:r>
            <a:endParaRPr lang="en-US" sz="1950" dirty="0"/>
          </a:p>
        </p:txBody>
      </p:sp>
      <p:sp>
        <p:nvSpPr>
          <p:cNvPr id="23" name="Shape 21"/>
          <p:cNvSpPr/>
          <p:nvPr/>
        </p:nvSpPr>
        <p:spPr>
          <a:xfrm>
            <a:off x="9902428" y="4164322"/>
            <a:ext cx="7318772" cy="637480"/>
          </a:xfrm>
          <a:prstGeom prst="roundRect">
            <a:avLst>
              <a:gd name="adj" fmla="val 17930"/>
            </a:avLst>
          </a:prstGeom>
          <a:solidFill>
            <a:srgbClr val="FFFFFF">
              <a:alpha val="3000"/>
            </a:srgbClr>
          </a:solidFill>
          <a:ln w="6350">
            <a:solidFill>
              <a:srgbClr val="FFFFFF">
                <a:alpha val="10000"/>
              </a:srgbClr>
            </a:solidFill>
            <a:prstDash val="solid"/>
          </a:ln>
        </p:spPr>
      </p:sp>
      <p:sp>
        <p:nvSpPr>
          <p:cNvPr id="24" name="Text 22"/>
          <p:cNvSpPr/>
          <p:nvPr/>
        </p:nvSpPr>
        <p:spPr>
          <a:xfrm>
            <a:off x="10099278" y="4323072"/>
            <a:ext cx="7144635" cy="35808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B897F0">
                    <a:alpha val="98000"/>
                  </a:srgbClr>
                </a:solidFill>
                <a:latin typeface="Courier New" pitchFamily="34" charset="0"/>
                <a:ea typeface="Courier New" pitchFamily="34" charset="-122"/>
                <a:cs typeface="Courier New" pitchFamily="34" charset="-120"/>
              </a:rPr>
              <a:t>ResourceManager </a:t>
            </a:r>
            <a:pPr algn="l" indent="0" marL="0">
              <a:lnSpc>
                <a:spcPct val="120000"/>
              </a:lnSpc>
              <a:buNone/>
            </a:pPr>
            <a:r>
              <a:rPr lang="en-US" sz="1800" dirty="0">
                <a:solidFill>
                  <a:srgbClr val="8EA0B5">
                    <a:alpha val="98000"/>
                  </a:srgbClr>
                </a:solidFill>
                <a:latin typeface="Arial" pitchFamily="34" charset="0"/>
                <a:ea typeface="Arial" pitchFamily="34" charset="-122"/>
                <a:cs typeface="Arial" pitchFamily="34" charset="-120"/>
              </a:rPr>
              <a:t>— décide </a:t>
            </a:r>
            <a:pPr algn="l" indent="0" marL="0">
              <a:lnSpc>
                <a:spcPct val="120000"/>
              </a:lnSpc>
              <a:buNone/>
            </a:pPr>
            <a:r>
              <a:rPr lang="en-US" sz="1800" dirty="0">
                <a:solidFill>
                  <a:srgbClr val="EEF3F9">
                    <a:alpha val="98000"/>
                  </a:srgbClr>
                </a:solidFill>
                <a:latin typeface="Arial" pitchFamily="34" charset="0"/>
                <a:ea typeface="Arial" pitchFamily="34" charset="-122"/>
                <a:cs typeface="Arial" pitchFamily="34" charset="-120"/>
              </a:rPr>
              <a:t>où </a:t>
            </a:r>
            <a:pPr algn="l" indent="0" marL="0">
              <a:lnSpc>
                <a:spcPct val="120000"/>
              </a:lnSpc>
              <a:buNone/>
            </a:pPr>
            <a:r>
              <a:rPr lang="en-US" sz="1800" dirty="0">
                <a:solidFill>
                  <a:srgbClr val="8EA0B5">
                    <a:alpha val="98000"/>
                  </a:srgbClr>
                </a:solidFill>
                <a:latin typeface="Arial" pitchFamily="34" charset="0"/>
                <a:ea typeface="Arial" pitchFamily="34" charset="-122"/>
                <a:cs typeface="Arial" pitchFamily="34" charset="-120"/>
              </a:rPr>
              <a:t>s'exécutent les applications</a:t>
            </a:r>
            <a:endParaRPr lang="en-US" sz="1800" dirty="0"/>
          </a:p>
        </p:txBody>
      </p:sp>
      <p:sp>
        <p:nvSpPr>
          <p:cNvPr id="25" name="Shape 23"/>
          <p:cNvSpPr/>
          <p:nvPr/>
        </p:nvSpPr>
        <p:spPr>
          <a:xfrm>
            <a:off x="9902428" y="4935153"/>
            <a:ext cx="7318772" cy="637480"/>
          </a:xfrm>
          <a:prstGeom prst="roundRect">
            <a:avLst>
              <a:gd name="adj" fmla="val 17930"/>
            </a:avLst>
          </a:prstGeom>
          <a:solidFill>
            <a:srgbClr val="FFFFFF">
              <a:alpha val="3000"/>
            </a:srgbClr>
          </a:solidFill>
          <a:ln w="6350">
            <a:solidFill>
              <a:srgbClr val="FFFFFF">
                <a:alpha val="10000"/>
              </a:srgbClr>
            </a:solidFill>
            <a:prstDash val="solid"/>
          </a:ln>
        </p:spPr>
      </p:sp>
      <p:sp>
        <p:nvSpPr>
          <p:cNvPr id="26" name="Text 24"/>
          <p:cNvSpPr/>
          <p:nvPr/>
        </p:nvSpPr>
        <p:spPr>
          <a:xfrm>
            <a:off x="10099278" y="5093903"/>
            <a:ext cx="7144635" cy="35808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56DBDB">
                    <a:alpha val="98000"/>
                  </a:srgbClr>
                </a:solidFill>
                <a:latin typeface="Courier New" pitchFamily="34" charset="0"/>
                <a:ea typeface="Courier New" pitchFamily="34" charset="-122"/>
                <a:cs typeface="Courier New" pitchFamily="34" charset="-120"/>
              </a:rPr>
              <a:t>NodeManager </a:t>
            </a:r>
            <a:pPr algn="l" indent="0" marL="0">
              <a:lnSpc>
                <a:spcPct val="120000"/>
              </a:lnSpc>
              <a:buNone/>
            </a:pPr>
            <a:r>
              <a:rPr lang="en-US" sz="1800" dirty="0">
                <a:solidFill>
                  <a:srgbClr val="8EA0B5">
                    <a:alpha val="98000"/>
                  </a:srgbClr>
                </a:solidFill>
                <a:latin typeface="Arial" pitchFamily="34" charset="0"/>
                <a:ea typeface="Arial" pitchFamily="34" charset="-122"/>
                <a:cs typeface="Arial" pitchFamily="34" charset="-120"/>
              </a:rPr>
              <a:t>— gère les ressources d'</a:t>
            </a:r>
            <a:pPr algn="l" indent="0" marL="0">
              <a:lnSpc>
                <a:spcPct val="120000"/>
              </a:lnSpc>
              <a:buNone/>
            </a:pPr>
            <a:r>
              <a:rPr lang="en-US" sz="1800" dirty="0">
                <a:solidFill>
                  <a:srgbClr val="EEF3F9">
                    <a:alpha val="98000"/>
                  </a:srgbClr>
                </a:solidFill>
                <a:latin typeface="Arial" pitchFamily="34" charset="0"/>
                <a:ea typeface="Arial" pitchFamily="34" charset="-122"/>
                <a:cs typeface="Arial" pitchFamily="34" charset="-120"/>
              </a:rPr>
              <a:t>un seul nœud</a:t>
            </a:r>
            <a:endParaRPr lang="en-US" sz="1800" dirty="0"/>
          </a:p>
        </p:txBody>
      </p:sp>
      <p:sp>
        <p:nvSpPr>
          <p:cNvPr id="27" name="Shape 25"/>
          <p:cNvSpPr/>
          <p:nvPr/>
        </p:nvSpPr>
        <p:spPr>
          <a:xfrm>
            <a:off x="9902428" y="5705983"/>
            <a:ext cx="7318772" cy="637480"/>
          </a:xfrm>
          <a:prstGeom prst="roundRect">
            <a:avLst>
              <a:gd name="adj" fmla="val 17930"/>
            </a:avLst>
          </a:prstGeom>
          <a:solidFill>
            <a:srgbClr val="FFFFFF">
              <a:alpha val="3000"/>
            </a:srgbClr>
          </a:solidFill>
          <a:ln w="6350">
            <a:solidFill>
              <a:srgbClr val="FFFFFF">
                <a:alpha val="10000"/>
              </a:srgbClr>
            </a:solidFill>
            <a:prstDash val="solid"/>
          </a:ln>
        </p:spPr>
      </p:sp>
      <p:sp>
        <p:nvSpPr>
          <p:cNvPr id="28" name="Text 26"/>
          <p:cNvSpPr/>
          <p:nvPr/>
        </p:nvSpPr>
        <p:spPr>
          <a:xfrm>
            <a:off x="10099278" y="5864733"/>
            <a:ext cx="7144635" cy="35808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56DBDB">
                    <a:alpha val="98000"/>
                  </a:srgbClr>
                </a:solidFill>
                <a:latin typeface="Courier New" pitchFamily="34" charset="0"/>
                <a:ea typeface="Courier New" pitchFamily="34" charset="-122"/>
                <a:cs typeface="Courier New" pitchFamily="34" charset="-120"/>
              </a:rPr>
              <a:t>ApplicationMaster </a:t>
            </a:r>
            <a:pPr algn="l" indent="0" marL="0">
              <a:lnSpc>
                <a:spcPct val="120000"/>
              </a:lnSpc>
              <a:buNone/>
            </a:pPr>
            <a:r>
              <a:rPr lang="en-US" sz="1800" dirty="0">
                <a:solidFill>
                  <a:srgbClr val="8EA0B5">
                    <a:alpha val="98000"/>
                  </a:srgbClr>
                </a:solidFill>
                <a:latin typeface="Arial" pitchFamily="34" charset="0"/>
                <a:ea typeface="Arial" pitchFamily="34" charset="-122"/>
                <a:cs typeface="Arial" pitchFamily="34" charset="-120"/>
              </a:rPr>
              <a:t>— coordonne </a:t>
            </a:r>
            <a:pPr algn="l" indent="0" marL="0">
              <a:lnSpc>
                <a:spcPct val="120000"/>
              </a:lnSpc>
              <a:buNone/>
            </a:pPr>
            <a:r>
              <a:rPr lang="en-US" sz="1800" dirty="0">
                <a:solidFill>
                  <a:srgbClr val="EEF3F9">
                    <a:alpha val="98000"/>
                  </a:srgbClr>
                </a:solidFill>
                <a:latin typeface="Arial" pitchFamily="34" charset="0"/>
                <a:ea typeface="Arial" pitchFamily="34" charset="-122"/>
                <a:cs typeface="Arial" pitchFamily="34" charset="-120"/>
              </a:rPr>
              <a:t>une application</a:t>
            </a:r>
            <a:endParaRPr lang="en-US" sz="1800" dirty="0"/>
          </a:p>
        </p:txBody>
      </p:sp>
      <p:sp>
        <p:nvSpPr>
          <p:cNvPr id="29" name="Shape 27"/>
          <p:cNvSpPr/>
          <p:nvPr/>
        </p:nvSpPr>
        <p:spPr>
          <a:xfrm>
            <a:off x="9902428" y="6476814"/>
            <a:ext cx="7318772" cy="637481"/>
          </a:xfrm>
          <a:prstGeom prst="roundRect">
            <a:avLst>
              <a:gd name="adj" fmla="val 17930"/>
            </a:avLst>
          </a:prstGeom>
          <a:solidFill>
            <a:srgbClr val="FFFFFF">
              <a:alpha val="3000"/>
            </a:srgbClr>
          </a:solidFill>
          <a:ln w="6350">
            <a:solidFill>
              <a:srgbClr val="FFFFFF">
                <a:alpha val="10000"/>
              </a:srgbClr>
            </a:solidFill>
            <a:prstDash val="solid"/>
          </a:ln>
        </p:spPr>
      </p:sp>
      <p:sp>
        <p:nvSpPr>
          <p:cNvPr id="30" name="Text 28"/>
          <p:cNvSpPr/>
          <p:nvPr/>
        </p:nvSpPr>
        <p:spPr>
          <a:xfrm>
            <a:off x="10099278" y="6635564"/>
            <a:ext cx="7144635" cy="358081"/>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56DBDB">
                    <a:alpha val="98000"/>
                  </a:srgbClr>
                </a:solidFill>
                <a:latin typeface="Courier New" pitchFamily="34" charset="0"/>
                <a:ea typeface="Courier New" pitchFamily="34" charset="-122"/>
                <a:cs typeface="Courier New" pitchFamily="34" charset="-120"/>
              </a:rPr>
              <a:t>Container </a:t>
            </a:r>
            <a:pPr algn="l" indent="0" marL="0">
              <a:lnSpc>
                <a:spcPct val="120000"/>
              </a:lnSpc>
              <a:buNone/>
            </a:pPr>
            <a:r>
              <a:rPr lang="en-US" sz="1800" dirty="0">
                <a:solidFill>
                  <a:srgbClr val="8EA0B5">
                    <a:alpha val="98000"/>
                  </a:srgbClr>
                </a:solidFill>
                <a:latin typeface="Arial" pitchFamily="34" charset="0"/>
                <a:ea typeface="Arial" pitchFamily="34" charset="-122"/>
                <a:cs typeface="Arial" pitchFamily="34" charset="-120"/>
              </a:rPr>
              <a:t>— ressources réservées pour </a:t>
            </a:r>
            <a:pPr algn="l" indent="0" marL="0">
              <a:lnSpc>
                <a:spcPct val="120000"/>
              </a:lnSpc>
              <a:buNone/>
            </a:pPr>
            <a:r>
              <a:rPr lang="en-US" sz="1800" dirty="0">
                <a:solidFill>
                  <a:srgbClr val="EEF3F9">
                    <a:alpha val="98000"/>
                  </a:srgbClr>
                </a:solidFill>
                <a:latin typeface="Arial" pitchFamily="34" charset="0"/>
                <a:ea typeface="Arial" pitchFamily="34" charset="-122"/>
                <a:cs typeface="Arial" pitchFamily="34" charset="-120"/>
              </a:rPr>
              <a:t>une tâche</a:t>
            </a:r>
            <a:endParaRPr lang="en-US" sz="1800" dirty="0"/>
          </a:p>
        </p:txBody>
      </p:sp>
      <p:sp>
        <p:nvSpPr>
          <p:cNvPr id="31" name="Shape 29"/>
          <p:cNvSpPr/>
          <p:nvPr/>
        </p:nvSpPr>
        <p:spPr>
          <a:xfrm>
            <a:off x="9902428" y="7247645"/>
            <a:ext cx="25400" cy="639961"/>
          </a:xfrm>
          <a:prstGeom prst="rect">
            <a:avLst/>
          </a:prstGeom>
          <a:solidFill>
            <a:srgbClr val="B897F0">
              <a:alpha val="98000"/>
            </a:srgbClr>
          </a:solidFill>
          <a:ln/>
        </p:spPr>
      </p:sp>
      <p:sp>
        <p:nvSpPr>
          <p:cNvPr id="32" name="Text 30"/>
          <p:cNvSpPr/>
          <p:nvPr/>
        </p:nvSpPr>
        <p:spPr>
          <a:xfrm>
            <a:off x="10099278" y="7247645"/>
            <a:ext cx="7341485" cy="678061"/>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8EA0B5">
                    <a:alpha val="98000"/>
                  </a:srgbClr>
                </a:solidFill>
                <a:latin typeface="Arial" pitchFamily="34" charset="0"/>
                <a:ea typeface="Arial" pitchFamily="34" charset="-122"/>
                <a:cs typeface="Arial" pitchFamily="34" charset="-120"/>
              </a:rPr>
              <a:t>Cette séparation des responsabilités est l'évolution majeure de YARN (Hadoop 2.x) sur Hadoop 1.x.</a:t>
            </a:r>
            <a:endParaRPr lang="en-US" sz="1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C121C"/>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FFB46E">
                    <a:alpha val="97000"/>
                  </a:srgbClr>
                </a:solidFill>
                <a:latin typeface="Courier New" pitchFamily="34" charset="0"/>
                <a:ea typeface="Courier New" pitchFamily="34" charset="-122"/>
                <a:cs typeface="Courier New" pitchFamily="34" charset="-120"/>
              </a:rPr>
              <a:t>ATELIER 4.1 · TRAITEMENT</a:t>
            </a:r>
            <a:endParaRPr lang="en-US" sz="1800" dirty="0"/>
          </a:p>
        </p:txBody>
      </p:sp>
      <p:sp>
        <p:nvSpPr>
          <p:cNvPr id="3" name="Text 1"/>
          <p:cNvSpPr/>
          <p:nvPr/>
        </p:nvSpPr>
        <p:spPr>
          <a:xfrm>
            <a:off x="1066800" y="1314451"/>
            <a:ext cx="10476041" cy="1305917"/>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MapReduce : le calcul près des données</a:t>
            </a:r>
            <a:endParaRPr lang="en-US" sz="4800" dirty="0"/>
          </a:p>
        </p:txBody>
      </p:sp>
      <p:sp>
        <p:nvSpPr>
          <p:cNvPr id="4" name="Shape 2"/>
          <p:cNvSpPr/>
          <p:nvPr/>
        </p:nvSpPr>
        <p:spPr>
          <a:xfrm>
            <a:off x="1066800" y="2988225"/>
            <a:ext cx="3709988" cy="1407121"/>
          </a:xfrm>
          <a:prstGeom prst="roundRect">
            <a:avLst>
              <a:gd name="adj" fmla="val 8123"/>
            </a:avLst>
          </a:prstGeom>
          <a:solidFill>
            <a:srgbClr val="FFFFFF">
              <a:alpha val="3000"/>
            </a:srgbClr>
          </a:solidFill>
          <a:ln w="6350">
            <a:solidFill>
              <a:srgbClr val="FFFFFF">
                <a:alpha val="10000"/>
              </a:srgbClr>
            </a:solidFill>
            <a:prstDash val="solid"/>
          </a:ln>
        </p:spPr>
      </p:sp>
      <p:sp>
        <p:nvSpPr>
          <p:cNvPr id="5" name="Text 3"/>
          <p:cNvSpPr/>
          <p:nvPr/>
        </p:nvSpPr>
        <p:spPr>
          <a:xfrm>
            <a:off x="1055926" y="3204125"/>
            <a:ext cx="3731736"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8EA0B5">
                    <a:alpha val="99000"/>
                  </a:srgbClr>
                </a:solidFill>
                <a:latin typeface="Courier New" pitchFamily="34" charset="0"/>
                <a:ea typeface="Courier New" pitchFamily="34" charset="-122"/>
                <a:cs typeface="Courier New" pitchFamily="34" charset="-120"/>
              </a:rPr>
              <a:t>Input</a:t>
            </a:r>
            <a:endParaRPr lang="en-US" sz="1800" dirty="0"/>
          </a:p>
        </p:txBody>
      </p:sp>
      <p:sp>
        <p:nvSpPr>
          <p:cNvPr id="6" name="Text 4"/>
          <p:cNvSpPr/>
          <p:nvPr/>
        </p:nvSpPr>
        <p:spPr>
          <a:xfrm>
            <a:off x="1174663" y="3585125"/>
            <a:ext cx="3494262" cy="632420"/>
          </a:xfrm>
          <a:prstGeom prst="rect">
            <a:avLst/>
          </a:prstGeom>
          <a:noFill/>
          <a:ln/>
        </p:spPr>
        <p:txBody>
          <a:bodyPr wrap="square" lIns="25400" tIns="25400" rIns="25400" bIns="25400" rtlCol="0" anchor="t">
            <a:normAutofit/>
          </a:bodyPr>
          <a:lstStyle/>
          <a:p>
            <a:pPr algn="ctr" indent="0" marL="0">
              <a:lnSpc>
                <a:spcPct val="111429"/>
              </a:lnSpc>
              <a:buNone/>
            </a:pPr>
            <a:r>
              <a:rPr lang="en-US" sz="1800" dirty="0">
                <a:solidFill>
                  <a:srgbClr val="EEF3F9">
                    <a:alpha val="99000"/>
                  </a:srgbClr>
                </a:solidFill>
                <a:latin typeface="Arial" pitchFamily="34" charset="0"/>
                <a:ea typeface="Arial" pitchFamily="34" charset="-122"/>
                <a:cs typeface="Arial" pitchFamily="34" charset="-120"/>
              </a:rPr>
              <a:t>Bus Car Train Ship Ship Train</a:t>
            </a:r>
            <a:endParaRPr lang="en-US" sz="1800" dirty="0"/>
          </a:p>
        </p:txBody>
      </p:sp>
      <p:sp>
        <p:nvSpPr>
          <p:cNvPr id="7" name="Text 5"/>
          <p:cNvSpPr/>
          <p:nvPr/>
        </p:nvSpPr>
        <p:spPr>
          <a:xfrm>
            <a:off x="4872038" y="3529861"/>
            <a:ext cx="323850" cy="361950"/>
          </a:xfrm>
          <a:prstGeom prst="rect">
            <a:avLst/>
          </a:prstGeom>
          <a:noFill/>
          <a:ln/>
        </p:spPr>
        <p:txBody>
          <a:bodyPr wrap="square" lIns="25400" tIns="25400" rIns="25400" bIns="25400" rtlCol="0" anchor="t">
            <a:normAutofit/>
          </a:bodyPr>
          <a:lstStyle/>
          <a:p>
            <a:pPr algn="l" indent="0" marL="0">
              <a:buNone/>
            </a:pPr>
            <a:r>
              <a:rPr lang="en-US" sz="1950" dirty="0">
                <a:solidFill>
                  <a:srgbClr val="FFB46E">
                    <a:alpha val="99000"/>
                  </a:srgbClr>
                </a:solidFill>
                <a:latin typeface="Arial" pitchFamily="34" charset="0"/>
                <a:ea typeface="Arial" pitchFamily="34" charset="-122"/>
                <a:cs typeface="Arial" pitchFamily="34" charset="-120"/>
              </a:rPr>
              <a:t>→</a:t>
            </a:r>
            <a:endParaRPr lang="en-US" sz="1950" dirty="0"/>
          </a:p>
        </p:txBody>
      </p:sp>
      <p:sp>
        <p:nvSpPr>
          <p:cNvPr id="8" name="Shape 6"/>
          <p:cNvSpPr/>
          <p:nvPr/>
        </p:nvSpPr>
        <p:spPr>
          <a:xfrm>
            <a:off x="5214938" y="2965405"/>
            <a:ext cx="3709988" cy="1452761"/>
          </a:xfrm>
          <a:prstGeom prst="roundRect">
            <a:avLst>
              <a:gd name="adj" fmla="val 7868"/>
            </a:avLst>
          </a:prstGeom>
          <a:solidFill>
            <a:srgbClr val="FFFFFF">
              <a:alpha val="3000"/>
            </a:srgbClr>
          </a:solidFill>
          <a:ln w="6350">
            <a:solidFill>
              <a:srgbClr val="FFFFFF">
                <a:alpha val="10000"/>
              </a:srgbClr>
            </a:solidFill>
            <a:prstDash val="solid"/>
          </a:ln>
        </p:spPr>
      </p:sp>
      <p:sp>
        <p:nvSpPr>
          <p:cNvPr id="9" name="Text 7"/>
          <p:cNvSpPr/>
          <p:nvPr/>
        </p:nvSpPr>
        <p:spPr>
          <a:xfrm>
            <a:off x="5204063" y="3181305"/>
            <a:ext cx="3731736"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FFB46E">
                    <a:alpha val="99000"/>
                  </a:srgbClr>
                </a:solidFill>
                <a:latin typeface="Courier New" pitchFamily="34" charset="0"/>
                <a:ea typeface="Courier New" pitchFamily="34" charset="-122"/>
                <a:cs typeface="Courier New" pitchFamily="34" charset="-120"/>
              </a:rPr>
              <a:t>Map</a:t>
            </a:r>
            <a:endParaRPr lang="en-US" sz="1800" dirty="0"/>
          </a:p>
        </p:txBody>
      </p:sp>
      <p:sp>
        <p:nvSpPr>
          <p:cNvPr id="10" name="Text 8"/>
          <p:cNvSpPr/>
          <p:nvPr/>
        </p:nvSpPr>
        <p:spPr>
          <a:xfrm>
            <a:off x="5322800" y="3562305"/>
            <a:ext cx="3494262" cy="678061"/>
          </a:xfrm>
          <a:prstGeom prst="rect">
            <a:avLst/>
          </a:prstGeom>
          <a:noFill/>
          <a:ln/>
        </p:spPr>
        <p:txBody>
          <a:bodyPr wrap="square" lIns="25400" tIns="25400" rIns="25400" bIns="25400" rtlCol="0" anchor="t">
            <a:normAutofit/>
          </a:bodyPr>
          <a:lstStyle/>
          <a:p>
            <a:pPr algn="ctr" indent="0" marL="0">
              <a:lnSpc>
                <a:spcPct val="122927"/>
              </a:lnSpc>
              <a:buNone/>
            </a:pPr>
            <a:r>
              <a:rPr lang="en-US" sz="1800" dirty="0">
                <a:solidFill>
                  <a:srgbClr val="8EA0B5">
                    <a:alpha val="99000"/>
                  </a:srgbClr>
                </a:solidFill>
                <a:latin typeface="Courier New" pitchFamily="34" charset="0"/>
                <a:ea typeface="Courier New" pitchFamily="34" charset="-122"/>
                <a:cs typeface="Courier New" pitchFamily="34" charset="-120"/>
              </a:rPr>
              <a:t>Bus,1 Car,1 Train,1 …</a:t>
            </a:r>
            <a:endParaRPr lang="en-US" sz="1800" dirty="0"/>
          </a:p>
        </p:txBody>
      </p:sp>
      <p:sp>
        <p:nvSpPr>
          <p:cNvPr id="11" name="Text 9"/>
          <p:cNvSpPr/>
          <p:nvPr/>
        </p:nvSpPr>
        <p:spPr>
          <a:xfrm>
            <a:off x="9020175" y="3529861"/>
            <a:ext cx="323850" cy="361950"/>
          </a:xfrm>
          <a:prstGeom prst="rect">
            <a:avLst/>
          </a:prstGeom>
          <a:noFill/>
          <a:ln/>
        </p:spPr>
        <p:txBody>
          <a:bodyPr wrap="square" lIns="25400" tIns="25400" rIns="25400" bIns="25400" rtlCol="0" anchor="t">
            <a:normAutofit/>
          </a:bodyPr>
          <a:lstStyle/>
          <a:p>
            <a:pPr algn="l" indent="0" marL="0">
              <a:buNone/>
            </a:pPr>
            <a:r>
              <a:rPr lang="en-US" sz="1950" dirty="0">
                <a:solidFill>
                  <a:srgbClr val="FFB46E">
                    <a:alpha val="99000"/>
                  </a:srgbClr>
                </a:solidFill>
                <a:latin typeface="Arial" pitchFamily="34" charset="0"/>
                <a:ea typeface="Arial" pitchFamily="34" charset="-122"/>
                <a:cs typeface="Arial" pitchFamily="34" charset="-120"/>
              </a:rPr>
              <a:t>→</a:t>
            </a:r>
            <a:endParaRPr lang="en-US" sz="1950" dirty="0"/>
          </a:p>
        </p:txBody>
      </p:sp>
      <p:sp>
        <p:nvSpPr>
          <p:cNvPr id="12" name="Shape 10"/>
          <p:cNvSpPr/>
          <p:nvPr/>
        </p:nvSpPr>
        <p:spPr>
          <a:xfrm>
            <a:off x="9363075" y="2965405"/>
            <a:ext cx="3709988" cy="1452761"/>
          </a:xfrm>
          <a:prstGeom prst="roundRect">
            <a:avLst>
              <a:gd name="adj" fmla="val 7868"/>
            </a:avLst>
          </a:prstGeom>
          <a:solidFill>
            <a:srgbClr val="FFFFFF">
              <a:alpha val="3000"/>
            </a:srgbClr>
          </a:solidFill>
          <a:ln w="6350">
            <a:solidFill>
              <a:srgbClr val="FFFFFF">
                <a:alpha val="10000"/>
              </a:srgbClr>
            </a:solidFill>
            <a:prstDash val="solid"/>
          </a:ln>
        </p:spPr>
      </p:sp>
      <p:sp>
        <p:nvSpPr>
          <p:cNvPr id="13" name="Text 11"/>
          <p:cNvSpPr/>
          <p:nvPr/>
        </p:nvSpPr>
        <p:spPr>
          <a:xfrm>
            <a:off x="9352201" y="3181305"/>
            <a:ext cx="3731736"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FFB46E">
                    <a:alpha val="99000"/>
                  </a:srgbClr>
                </a:solidFill>
                <a:latin typeface="Courier New" pitchFamily="34" charset="0"/>
                <a:ea typeface="Courier New" pitchFamily="34" charset="-122"/>
                <a:cs typeface="Courier New" pitchFamily="34" charset="-120"/>
              </a:rPr>
              <a:t>Shuffle &amp; sort</a:t>
            </a:r>
            <a:endParaRPr lang="en-US" sz="1800" dirty="0"/>
          </a:p>
        </p:txBody>
      </p:sp>
      <p:sp>
        <p:nvSpPr>
          <p:cNvPr id="14" name="Text 12"/>
          <p:cNvSpPr/>
          <p:nvPr/>
        </p:nvSpPr>
        <p:spPr>
          <a:xfrm>
            <a:off x="9470938" y="3562305"/>
            <a:ext cx="3494262" cy="678061"/>
          </a:xfrm>
          <a:prstGeom prst="rect">
            <a:avLst/>
          </a:prstGeom>
          <a:noFill/>
          <a:ln/>
        </p:spPr>
        <p:txBody>
          <a:bodyPr wrap="square" lIns="25400" tIns="25400" rIns="25400" bIns="25400" rtlCol="0" anchor="t">
            <a:normAutofit/>
          </a:bodyPr>
          <a:lstStyle/>
          <a:p>
            <a:pPr algn="ctr" indent="0" marL="0">
              <a:lnSpc>
                <a:spcPct val="122927"/>
              </a:lnSpc>
              <a:buNone/>
            </a:pPr>
            <a:r>
              <a:rPr lang="en-US" sz="1800" dirty="0">
                <a:solidFill>
                  <a:srgbClr val="8EA0B5">
                    <a:alpha val="99000"/>
                  </a:srgbClr>
                </a:solidFill>
                <a:latin typeface="Courier New" pitchFamily="34" charset="0"/>
                <a:ea typeface="Courier New" pitchFamily="34" charset="-122"/>
                <a:cs typeface="Courier New" pitchFamily="34" charset="-120"/>
              </a:rPr>
              <a:t>regroupé par clé</a:t>
            </a:r>
            <a:endParaRPr lang="en-US" sz="1800" dirty="0"/>
          </a:p>
        </p:txBody>
      </p:sp>
      <p:sp>
        <p:nvSpPr>
          <p:cNvPr id="15" name="Text 13"/>
          <p:cNvSpPr/>
          <p:nvPr/>
        </p:nvSpPr>
        <p:spPr>
          <a:xfrm>
            <a:off x="13168313" y="3529861"/>
            <a:ext cx="323850" cy="361950"/>
          </a:xfrm>
          <a:prstGeom prst="rect">
            <a:avLst/>
          </a:prstGeom>
          <a:noFill/>
          <a:ln/>
        </p:spPr>
        <p:txBody>
          <a:bodyPr wrap="square" lIns="25400" tIns="25400" rIns="25400" bIns="25400" rtlCol="0" anchor="t">
            <a:normAutofit/>
          </a:bodyPr>
          <a:lstStyle/>
          <a:p>
            <a:pPr algn="l" indent="0" marL="0">
              <a:buNone/>
            </a:pPr>
            <a:r>
              <a:rPr lang="en-US" sz="1950" dirty="0">
                <a:solidFill>
                  <a:srgbClr val="FFB46E">
                    <a:alpha val="99000"/>
                  </a:srgbClr>
                </a:solidFill>
                <a:latin typeface="Arial" pitchFamily="34" charset="0"/>
                <a:ea typeface="Arial" pitchFamily="34" charset="-122"/>
                <a:cs typeface="Arial" pitchFamily="34" charset="-120"/>
              </a:rPr>
              <a:t>→</a:t>
            </a:r>
            <a:endParaRPr lang="en-US" sz="1950" dirty="0"/>
          </a:p>
        </p:txBody>
      </p:sp>
      <p:sp>
        <p:nvSpPr>
          <p:cNvPr id="16" name="Shape 14"/>
          <p:cNvSpPr/>
          <p:nvPr/>
        </p:nvSpPr>
        <p:spPr>
          <a:xfrm>
            <a:off x="13511213" y="2965405"/>
            <a:ext cx="3709988" cy="1452761"/>
          </a:xfrm>
          <a:prstGeom prst="roundRect">
            <a:avLst>
              <a:gd name="adj" fmla="val 7868"/>
            </a:avLst>
          </a:prstGeom>
          <a:gradFill rotWithShape="1">
            <a:gsLst>
              <a:gs pos="0">
                <a:srgbClr val="FFB16F">
                  <a:alpha val="18000"/>
                </a:srgbClr>
              </a:gs>
              <a:gs pos="100000">
                <a:srgbClr val="FFFFFF">
                  <a:alpha val="3000"/>
                </a:srgbClr>
              </a:gs>
            </a:gsLst>
            <a:lin ang="4200000" scaled="0"/>
          </a:gradFill>
          <a:ln w="6350">
            <a:solidFill>
              <a:srgbClr val="FFC48B">
                <a:alpha val="39000"/>
              </a:srgbClr>
            </a:solidFill>
            <a:prstDash val="solid"/>
          </a:ln>
        </p:spPr>
      </p:sp>
      <p:sp>
        <p:nvSpPr>
          <p:cNvPr id="17" name="Text 15"/>
          <p:cNvSpPr/>
          <p:nvPr/>
        </p:nvSpPr>
        <p:spPr>
          <a:xfrm>
            <a:off x="13500339" y="3181305"/>
            <a:ext cx="3731736"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FFB46E">
                    <a:alpha val="99000"/>
                  </a:srgbClr>
                </a:solidFill>
                <a:latin typeface="Courier New" pitchFamily="34" charset="0"/>
                <a:ea typeface="Courier New" pitchFamily="34" charset="-122"/>
                <a:cs typeface="Courier New" pitchFamily="34" charset="-120"/>
              </a:rPr>
              <a:t>Reduce</a:t>
            </a:r>
            <a:endParaRPr lang="en-US" sz="1800" dirty="0"/>
          </a:p>
        </p:txBody>
      </p:sp>
      <p:sp>
        <p:nvSpPr>
          <p:cNvPr id="18" name="Text 16"/>
          <p:cNvSpPr/>
          <p:nvPr/>
        </p:nvSpPr>
        <p:spPr>
          <a:xfrm>
            <a:off x="13619076" y="3562305"/>
            <a:ext cx="3494262" cy="678061"/>
          </a:xfrm>
          <a:prstGeom prst="rect">
            <a:avLst/>
          </a:prstGeom>
          <a:noFill/>
          <a:ln/>
        </p:spPr>
        <p:txBody>
          <a:bodyPr wrap="square" lIns="25400" tIns="25400" rIns="25400" bIns="25400" rtlCol="0" anchor="t">
            <a:normAutofit/>
          </a:bodyPr>
          <a:lstStyle/>
          <a:p>
            <a:pPr algn="ctr" indent="0" marL="0">
              <a:lnSpc>
                <a:spcPct val="122927"/>
              </a:lnSpc>
              <a:buNone/>
            </a:pPr>
            <a:r>
              <a:rPr lang="en-US" sz="1800" dirty="0">
                <a:solidFill>
                  <a:srgbClr val="8EA0B5">
                    <a:alpha val="99000"/>
                  </a:srgbClr>
                </a:solidFill>
                <a:latin typeface="Courier New" pitchFamily="34" charset="0"/>
                <a:ea typeface="Courier New" pitchFamily="34" charset="-122"/>
                <a:cs typeface="Courier New" pitchFamily="34" charset="-120"/>
              </a:rPr>
              <a:t>Bus,2 Car,2 Train,2 …</a:t>
            </a:r>
            <a:endParaRPr lang="en-US" sz="1800" dirty="0"/>
          </a:p>
        </p:txBody>
      </p:sp>
      <p:sp>
        <p:nvSpPr>
          <p:cNvPr id="19" name="Shape 17"/>
          <p:cNvSpPr/>
          <p:nvPr/>
        </p:nvSpPr>
        <p:spPr>
          <a:xfrm>
            <a:off x="1066800" y="4739878"/>
            <a:ext cx="25400" cy="714375"/>
          </a:xfrm>
          <a:prstGeom prst="rect">
            <a:avLst/>
          </a:prstGeom>
          <a:solidFill>
            <a:srgbClr val="FFB46E">
              <a:alpha val="68000"/>
            </a:srgbClr>
          </a:solidFill>
          <a:ln/>
        </p:spPr>
      </p:sp>
      <p:sp>
        <p:nvSpPr>
          <p:cNvPr id="20" name="Text 18"/>
          <p:cNvSpPr/>
          <p:nvPr/>
        </p:nvSpPr>
        <p:spPr>
          <a:xfrm>
            <a:off x="1320800" y="4739878"/>
            <a:ext cx="14167802" cy="752475"/>
          </a:xfrm>
          <a:prstGeom prst="rect">
            <a:avLst/>
          </a:prstGeom>
          <a:noFill/>
          <a:ln/>
        </p:spPr>
        <p:txBody>
          <a:bodyPr wrap="square" lIns="25400" tIns="25400" rIns="25400" bIns="25400" rtlCol="0" anchor="t">
            <a:normAutofit/>
          </a:bodyPr>
          <a:lstStyle/>
          <a:p>
            <a:pPr algn="l" indent="0" marL="0">
              <a:lnSpc>
                <a:spcPct val="130814"/>
              </a:lnSpc>
              <a:buNone/>
            </a:pPr>
            <a:r>
              <a:rPr lang="en-US" sz="1875" dirty="0">
                <a:solidFill>
                  <a:srgbClr val="8EA0B5">
                    <a:alpha val="68000"/>
                  </a:srgbClr>
                </a:solidFill>
                <a:latin typeface="Arial" pitchFamily="34" charset="0"/>
                <a:ea typeface="Arial" pitchFamily="34" charset="-122"/>
                <a:cs typeface="Arial" pitchFamily="34" charset="-120"/>
              </a:rPr>
              <a:t>Le traitement se fait sur les nœuds </a:t>
            </a:r>
            <a:pPr algn="l" indent="0" marL="0">
              <a:lnSpc>
                <a:spcPct val="130814"/>
              </a:lnSpc>
              <a:buNone/>
            </a:pPr>
            <a:r>
              <a:rPr lang="en-US" sz="1875" dirty="0">
                <a:solidFill>
                  <a:srgbClr val="EEF3F9">
                    <a:alpha val="68000"/>
                  </a:srgbClr>
                </a:solidFill>
                <a:latin typeface="Arial" pitchFamily="34" charset="0"/>
                <a:ea typeface="Arial" pitchFamily="34" charset="-122"/>
                <a:cs typeface="Arial" pitchFamily="34" charset="-120"/>
              </a:rPr>
              <a:t>esclaves </a:t>
            </a:r>
            <a:pPr algn="l" indent="0" marL="0">
              <a:lnSpc>
                <a:spcPct val="130814"/>
              </a:lnSpc>
              <a:buNone/>
            </a:pPr>
            <a:r>
              <a:rPr lang="en-US" sz="1875" dirty="0">
                <a:solidFill>
                  <a:srgbClr val="8EA0B5">
                    <a:alpha val="68000"/>
                  </a:srgbClr>
                </a:solidFill>
                <a:latin typeface="Arial" pitchFamily="34" charset="0"/>
                <a:ea typeface="Arial" pitchFamily="34" charset="-122"/>
                <a:cs typeface="Arial" pitchFamily="34" charset="-120"/>
              </a:rPr>
              <a:t>(là où vivent les données), pas sur le maître. Résultats intermédiaires écrits sur disque : robuste mais lent — </a:t>
            </a:r>
            <a:pPr algn="l" indent="0" marL="0">
              <a:lnSpc>
                <a:spcPct val="130814"/>
              </a:lnSpc>
              <a:buNone/>
            </a:pPr>
            <a:r>
              <a:rPr lang="en-US" sz="1875" dirty="0">
                <a:solidFill>
                  <a:srgbClr val="EEF3F9">
                    <a:alpha val="68000"/>
                  </a:srgbClr>
                </a:solidFill>
                <a:latin typeface="Arial" pitchFamily="34" charset="0"/>
                <a:ea typeface="Arial" pitchFamily="34" charset="-122"/>
                <a:cs typeface="Arial" pitchFamily="34" charset="-120"/>
              </a:rPr>
              <a:t>la limite que Spark lèvera </a:t>
            </a:r>
            <a:pPr algn="l" indent="0" marL="0">
              <a:lnSpc>
                <a:spcPct val="130814"/>
              </a:lnSpc>
              <a:buNone/>
            </a:pPr>
            <a:r>
              <a:rPr lang="en-US" sz="1875" dirty="0">
                <a:solidFill>
                  <a:srgbClr val="8EA0B5">
                    <a:alpha val="68000"/>
                  </a:srgbClr>
                </a:solidFill>
                <a:latin typeface="Arial" pitchFamily="34" charset="0"/>
                <a:ea typeface="Arial" pitchFamily="34" charset="-122"/>
                <a:cs typeface="Arial" pitchFamily="34" charset="-120"/>
              </a:rPr>
              <a:t>en travaillant en mémoire (atelier 4.2).</a:t>
            </a:r>
            <a:endParaRPr lang="en-US" sz="1875"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0E15"/>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FFB46E">
                    <a:alpha val="97000"/>
                  </a:srgbClr>
                </a:solidFill>
                <a:latin typeface="Courier New" pitchFamily="34" charset="0"/>
                <a:ea typeface="Courier New" pitchFamily="34" charset="-122"/>
                <a:cs typeface="Courier New" pitchFamily="34" charset="-120"/>
              </a:rPr>
              <a:t>ATELIER 4.1 · HIVE</a:t>
            </a:r>
            <a:endParaRPr lang="en-US" sz="1800" dirty="0"/>
          </a:p>
        </p:txBody>
      </p:sp>
      <p:sp>
        <p:nvSpPr>
          <p:cNvPr id="3" name="Text 1"/>
          <p:cNvSpPr/>
          <p:nvPr/>
        </p:nvSpPr>
        <p:spPr>
          <a:xfrm>
            <a:off x="1066800" y="1314451"/>
            <a:ext cx="11188005"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Hive : le SQL sur HDFS</a:t>
            </a:r>
            <a:endParaRPr lang="en-US" sz="4800" dirty="0"/>
          </a:p>
        </p:txBody>
      </p:sp>
      <p:sp>
        <p:nvSpPr>
          <p:cNvPr id="4" name="Text 2"/>
          <p:cNvSpPr/>
          <p:nvPr/>
        </p:nvSpPr>
        <p:spPr>
          <a:xfrm>
            <a:off x="1066800" y="4399559"/>
            <a:ext cx="283170" cy="374650"/>
          </a:xfrm>
          <a:prstGeom prst="rect">
            <a:avLst/>
          </a:prstGeom>
          <a:noFill/>
          <a:ln/>
        </p:spPr>
        <p:txBody>
          <a:bodyPr wrap="square" lIns="25400" tIns="25400" rIns="25400" bIns="25400" rtlCol="0" anchor="t">
            <a:normAutofit/>
          </a:bodyPr>
          <a:lstStyle/>
          <a:p>
            <a:pPr algn="l" indent="0" marL="0">
              <a:buNone/>
            </a:pPr>
            <a:r>
              <a:rPr lang="en-US" sz="1950" dirty="0">
                <a:solidFill>
                  <a:srgbClr val="FFB46E"/>
                </a:solidFill>
                <a:latin typeface="Arial" pitchFamily="34" charset="0"/>
                <a:ea typeface="Arial" pitchFamily="34" charset="-122"/>
                <a:cs typeface="Arial" pitchFamily="34" charset="-120"/>
              </a:rPr>
              <a:t>▸</a:t>
            </a:r>
            <a:endParaRPr lang="en-US" sz="1950" dirty="0"/>
          </a:p>
        </p:txBody>
      </p:sp>
      <p:sp>
        <p:nvSpPr>
          <p:cNvPr id="5" name="Text 3"/>
          <p:cNvSpPr/>
          <p:nvPr/>
        </p:nvSpPr>
        <p:spPr>
          <a:xfrm>
            <a:off x="1426170" y="4399559"/>
            <a:ext cx="7753150" cy="891381"/>
          </a:xfrm>
          <a:prstGeom prst="rect">
            <a:avLst/>
          </a:prstGeom>
          <a:noFill/>
          <a:ln/>
        </p:spPr>
        <p:txBody>
          <a:bodyPr wrap="square" lIns="25400" tIns="25400" rIns="25400" bIns="25400" rtlCol="0" anchor="t">
            <a:normAutofit/>
          </a:bodyPr>
          <a:lstStyle/>
          <a:p>
            <a:pPr algn="l" indent="0" marL="0">
              <a:lnSpc>
                <a:spcPct val="122182"/>
              </a:lnSpc>
              <a:buNone/>
            </a:pPr>
            <a:r>
              <a:rPr lang="en-US" sz="2400" dirty="0">
                <a:solidFill>
                  <a:srgbClr val="EEF3F9"/>
                </a:solidFill>
                <a:latin typeface="Arial" pitchFamily="34" charset="0"/>
                <a:ea typeface="Arial" pitchFamily="34" charset="-122"/>
                <a:cs typeface="Arial" pitchFamily="34" charset="-120"/>
              </a:rPr>
              <a:t>Un entrepôt de données , pas une base transactionnelle</a:t>
            </a:r>
            <a:endParaRPr lang="en-US" sz="2400" dirty="0"/>
          </a:p>
        </p:txBody>
      </p:sp>
      <p:sp>
        <p:nvSpPr>
          <p:cNvPr id="6" name="Text 4"/>
          <p:cNvSpPr/>
          <p:nvPr/>
        </p:nvSpPr>
        <p:spPr>
          <a:xfrm>
            <a:off x="1066800" y="5462391"/>
            <a:ext cx="283170" cy="374650"/>
          </a:xfrm>
          <a:prstGeom prst="rect">
            <a:avLst/>
          </a:prstGeom>
          <a:noFill/>
          <a:ln/>
        </p:spPr>
        <p:txBody>
          <a:bodyPr wrap="square" lIns="25400" tIns="25400" rIns="25400" bIns="25400" rtlCol="0" anchor="t">
            <a:normAutofit/>
          </a:bodyPr>
          <a:lstStyle/>
          <a:p>
            <a:pPr algn="l" indent="0" marL="0">
              <a:buNone/>
            </a:pPr>
            <a:r>
              <a:rPr lang="en-US" sz="1950" dirty="0">
                <a:solidFill>
                  <a:srgbClr val="FFB46E"/>
                </a:solidFill>
                <a:latin typeface="Arial" pitchFamily="34" charset="0"/>
                <a:ea typeface="Arial" pitchFamily="34" charset="-122"/>
                <a:cs typeface="Arial" pitchFamily="34" charset="-120"/>
              </a:rPr>
              <a:t>▸</a:t>
            </a:r>
            <a:endParaRPr lang="en-US" sz="1950" dirty="0"/>
          </a:p>
        </p:txBody>
      </p:sp>
      <p:sp>
        <p:nvSpPr>
          <p:cNvPr id="7" name="Text 5"/>
          <p:cNvSpPr/>
          <p:nvPr/>
        </p:nvSpPr>
        <p:spPr>
          <a:xfrm>
            <a:off x="1426170" y="5462391"/>
            <a:ext cx="7753150" cy="891381"/>
          </a:xfrm>
          <a:prstGeom prst="rect">
            <a:avLst/>
          </a:prstGeom>
          <a:noFill/>
          <a:ln/>
        </p:spPr>
        <p:txBody>
          <a:bodyPr wrap="square" lIns="25400" tIns="25400" rIns="25400" bIns="25400" rtlCol="0" anchor="t">
            <a:normAutofit/>
          </a:bodyPr>
          <a:lstStyle/>
          <a:p>
            <a:pPr algn="l" indent="0" marL="0">
              <a:lnSpc>
                <a:spcPct val="122182"/>
              </a:lnSpc>
              <a:buNone/>
            </a:pPr>
            <a:r>
              <a:rPr lang="en-US" sz="2400" dirty="0">
                <a:solidFill>
                  <a:srgbClr val="EEF3F9"/>
                </a:solidFill>
                <a:latin typeface="Arial" pitchFamily="34" charset="0"/>
                <a:ea typeface="Arial" pitchFamily="34" charset="-122"/>
                <a:cs typeface="Arial" pitchFamily="34" charset="-120"/>
              </a:rPr>
              <a:t>Traduit HiveQL en plan d'exécution distribué (MapReduce, Tez ou Spark)</a:t>
            </a:r>
            <a:endParaRPr lang="en-US" sz="2400" dirty="0"/>
          </a:p>
        </p:txBody>
      </p:sp>
      <p:sp>
        <p:nvSpPr>
          <p:cNvPr id="8" name="Text 6"/>
          <p:cNvSpPr/>
          <p:nvPr/>
        </p:nvSpPr>
        <p:spPr>
          <a:xfrm>
            <a:off x="1066800" y="6525222"/>
            <a:ext cx="283170" cy="374650"/>
          </a:xfrm>
          <a:prstGeom prst="rect">
            <a:avLst/>
          </a:prstGeom>
          <a:noFill/>
          <a:ln/>
        </p:spPr>
        <p:txBody>
          <a:bodyPr wrap="square" lIns="25400" tIns="25400" rIns="25400" bIns="25400" rtlCol="0" anchor="t">
            <a:normAutofit/>
          </a:bodyPr>
          <a:lstStyle/>
          <a:p>
            <a:pPr algn="l" indent="0" marL="0">
              <a:buNone/>
            </a:pPr>
            <a:r>
              <a:rPr lang="en-US" sz="1950" dirty="0">
                <a:solidFill>
                  <a:srgbClr val="FFB46E"/>
                </a:solidFill>
                <a:latin typeface="Arial" pitchFamily="34" charset="0"/>
                <a:ea typeface="Arial" pitchFamily="34" charset="-122"/>
                <a:cs typeface="Arial" pitchFamily="34" charset="-120"/>
              </a:rPr>
              <a:t>▸</a:t>
            </a:r>
            <a:endParaRPr lang="en-US" sz="1950" dirty="0"/>
          </a:p>
        </p:txBody>
      </p:sp>
      <p:sp>
        <p:nvSpPr>
          <p:cNvPr id="9" name="Text 7"/>
          <p:cNvSpPr/>
          <p:nvPr/>
        </p:nvSpPr>
        <p:spPr>
          <a:xfrm>
            <a:off x="1426170" y="6525222"/>
            <a:ext cx="7753150" cy="891381"/>
          </a:xfrm>
          <a:prstGeom prst="rect">
            <a:avLst/>
          </a:prstGeom>
          <a:noFill/>
          <a:ln/>
        </p:spPr>
        <p:txBody>
          <a:bodyPr wrap="square" lIns="25400" tIns="25400" rIns="25400" bIns="25400" rtlCol="0" anchor="t">
            <a:normAutofit/>
          </a:bodyPr>
          <a:lstStyle/>
          <a:p>
            <a:pPr algn="l" indent="0" marL="0">
              <a:lnSpc>
                <a:spcPct val="122182"/>
              </a:lnSpc>
              <a:buNone/>
            </a:pPr>
            <a:r>
              <a:rPr lang="en-US" sz="2400" dirty="0">
                <a:solidFill>
                  <a:srgbClr val="EEF3F9"/>
                </a:solidFill>
                <a:latin typeface="Arial" pitchFamily="34" charset="0"/>
                <a:ea typeface="Arial" pitchFamily="34" charset="-122"/>
                <a:cs typeface="Arial" pitchFamily="34" charset="-120"/>
              </a:rPr>
              <a:t>Apporte le métastore — catalogue réutilisé par Spark SQL (atelier 5)</a:t>
            </a:r>
            <a:endParaRPr lang="en-US" sz="2400" dirty="0"/>
          </a:p>
        </p:txBody>
      </p:sp>
      <p:sp>
        <p:nvSpPr>
          <p:cNvPr id="10" name="Shape 8"/>
          <p:cNvSpPr/>
          <p:nvPr/>
        </p:nvSpPr>
        <p:spPr>
          <a:xfrm>
            <a:off x="12033250" y="4377562"/>
            <a:ext cx="2489200" cy="666750"/>
          </a:xfrm>
          <a:prstGeom prst="roundRect">
            <a:avLst>
              <a:gd name="adj" fmla="val 17143"/>
            </a:avLst>
          </a:prstGeom>
          <a:gradFill rotWithShape="1">
            <a:gsLst>
              <a:gs pos="0">
                <a:srgbClr val="FFB46E">
                  <a:alpha val="20000"/>
                </a:srgbClr>
              </a:gs>
              <a:gs pos="100000">
                <a:srgbClr val="FFFFFF">
                  <a:alpha val="6000"/>
                </a:srgbClr>
              </a:gs>
            </a:gsLst>
            <a:lin ang="4200000" scaled="0"/>
          </a:gradFill>
          <a:ln w="6350">
            <a:solidFill>
              <a:srgbClr val="FFC085">
                <a:alpha val="44000"/>
              </a:srgbClr>
            </a:solidFill>
            <a:prstDash val="solid"/>
          </a:ln>
        </p:spPr>
      </p:sp>
      <p:sp>
        <p:nvSpPr>
          <p:cNvPr id="11" name="Text 9"/>
          <p:cNvSpPr/>
          <p:nvPr/>
        </p:nvSpPr>
        <p:spPr>
          <a:xfrm>
            <a:off x="12420600" y="4555362"/>
            <a:ext cx="1790700" cy="349250"/>
          </a:xfrm>
          <a:prstGeom prst="rect">
            <a:avLst/>
          </a:prstGeom>
          <a:noFill/>
          <a:ln/>
        </p:spPr>
        <p:txBody>
          <a:bodyPr wrap="square" lIns="25400" tIns="25400" rIns="25400" bIns="25400" rtlCol="0" anchor="t">
            <a:normAutofit/>
          </a:bodyPr>
          <a:lstStyle/>
          <a:p>
            <a:pPr algn="l" indent="0" marL="0">
              <a:buNone/>
            </a:pPr>
            <a:r>
              <a:rPr lang="en-US" sz="1875" dirty="0">
                <a:solidFill>
                  <a:srgbClr val="FFB46E">
                    <a:alpha val="99000"/>
                  </a:srgbClr>
                </a:solidFill>
                <a:latin typeface="Courier New" pitchFamily="34" charset="0"/>
                <a:ea typeface="Courier New" pitchFamily="34" charset="-122"/>
                <a:cs typeface="Courier New" pitchFamily="34" charset="-120"/>
              </a:rPr>
              <a:t>HiveQL </a:t>
            </a:r>
            <a:pPr algn="l" indent="0" marL="0">
              <a:buNone/>
            </a:pPr>
            <a:r>
              <a:rPr lang="en-US" sz="1875" dirty="0">
                <a:solidFill>
                  <a:srgbClr val="8EA0B5">
                    <a:alpha val="99000"/>
                  </a:srgbClr>
                </a:solidFill>
                <a:latin typeface="Courier New" pitchFamily="34" charset="0"/>
                <a:ea typeface="Courier New" pitchFamily="34" charset="-122"/>
                <a:cs typeface="Courier New" pitchFamily="34" charset="-120"/>
              </a:rPr>
              <a:t>(SQL)</a:t>
            </a:r>
            <a:endParaRPr lang="en-US" sz="1875" dirty="0"/>
          </a:p>
        </p:txBody>
      </p:sp>
      <p:sp>
        <p:nvSpPr>
          <p:cNvPr id="12" name="Text 10"/>
          <p:cNvSpPr/>
          <p:nvPr/>
        </p:nvSpPr>
        <p:spPr>
          <a:xfrm>
            <a:off x="12573993" y="5139562"/>
            <a:ext cx="1548487" cy="361950"/>
          </a:xfrm>
          <a:prstGeom prst="rect">
            <a:avLst/>
          </a:prstGeom>
          <a:noFill/>
          <a:ln/>
        </p:spPr>
        <p:txBody>
          <a:bodyPr wrap="square" lIns="25400" tIns="25400" rIns="25400" bIns="25400" rtlCol="0" anchor="t">
            <a:normAutofit/>
          </a:bodyPr>
          <a:lstStyle/>
          <a:p>
            <a:pPr algn="l" indent="0" marL="0">
              <a:buNone/>
            </a:pPr>
            <a:r>
              <a:rPr lang="en-US" sz="1950" dirty="0">
                <a:solidFill>
                  <a:srgbClr val="FFB46E">
                    <a:alpha val="99000"/>
                  </a:srgbClr>
                </a:solidFill>
                <a:latin typeface="Arial" pitchFamily="34" charset="0"/>
                <a:ea typeface="Arial" pitchFamily="34" charset="-122"/>
                <a:cs typeface="Arial" pitchFamily="34" charset="-120"/>
              </a:rPr>
              <a:t>↓ traduction</a:t>
            </a:r>
            <a:endParaRPr lang="en-US" sz="1950" dirty="0"/>
          </a:p>
        </p:txBody>
      </p:sp>
      <p:sp>
        <p:nvSpPr>
          <p:cNvPr id="13" name="Shape 11"/>
          <p:cNvSpPr/>
          <p:nvPr/>
        </p:nvSpPr>
        <p:spPr>
          <a:xfrm>
            <a:off x="11247438" y="5558662"/>
            <a:ext cx="4060825" cy="666750"/>
          </a:xfrm>
          <a:prstGeom prst="roundRect">
            <a:avLst>
              <a:gd name="adj" fmla="val 17143"/>
            </a:avLst>
          </a:prstGeom>
          <a:solidFill>
            <a:srgbClr val="FFFFFF">
              <a:alpha val="6000"/>
            </a:srgbClr>
          </a:solidFill>
          <a:ln w="6350">
            <a:solidFill>
              <a:srgbClr val="FFFFFF">
                <a:alpha val="10000"/>
              </a:srgbClr>
            </a:solidFill>
            <a:prstDash val="solid"/>
          </a:ln>
        </p:spPr>
      </p:sp>
      <p:sp>
        <p:nvSpPr>
          <p:cNvPr id="14" name="Text 12"/>
          <p:cNvSpPr/>
          <p:nvPr/>
        </p:nvSpPr>
        <p:spPr>
          <a:xfrm>
            <a:off x="11634788" y="5736462"/>
            <a:ext cx="3407950" cy="349250"/>
          </a:xfrm>
          <a:prstGeom prst="rect">
            <a:avLst/>
          </a:prstGeom>
          <a:noFill/>
          <a:ln/>
        </p:spPr>
        <p:txBody>
          <a:bodyPr wrap="square" lIns="25400" tIns="25400" rIns="25400" bIns="25400" rtlCol="0" anchor="t">
            <a:normAutofit/>
          </a:bodyPr>
          <a:lstStyle/>
          <a:p>
            <a:pPr algn="l" indent="0" marL="0">
              <a:buNone/>
            </a:pPr>
            <a:r>
              <a:rPr lang="en-US" sz="1875" dirty="0">
                <a:solidFill>
                  <a:srgbClr val="EEF3F9">
                    <a:alpha val="99000"/>
                  </a:srgbClr>
                </a:solidFill>
                <a:latin typeface="Courier New" pitchFamily="34" charset="0"/>
                <a:ea typeface="Courier New" pitchFamily="34" charset="-122"/>
                <a:cs typeface="Courier New" pitchFamily="34" charset="-120"/>
              </a:rPr>
              <a:t>MapReduce / Tez / Spark</a:t>
            </a:r>
            <a:endParaRPr lang="en-US" sz="1875" dirty="0"/>
          </a:p>
        </p:txBody>
      </p:sp>
      <p:sp>
        <p:nvSpPr>
          <p:cNvPr id="15" name="Text 13"/>
          <p:cNvSpPr/>
          <p:nvPr/>
        </p:nvSpPr>
        <p:spPr>
          <a:xfrm>
            <a:off x="12604552" y="6320662"/>
            <a:ext cx="1481148" cy="361950"/>
          </a:xfrm>
          <a:prstGeom prst="rect">
            <a:avLst/>
          </a:prstGeom>
          <a:noFill/>
          <a:ln/>
        </p:spPr>
        <p:txBody>
          <a:bodyPr wrap="square" lIns="25400" tIns="25400" rIns="25400" bIns="25400" rtlCol="0" anchor="t">
            <a:normAutofit/>
          </a:bodyPr>
          <a:lstStyle/>
          <a:p>
            <a:pPr algn="l" indent="0" marL="0">
              <a:buNone/>
            </a:pPr>
            <a:r>
              <a:rPr lang="en-US" sz="1950" dirty="0">
                <a:solidFill>
                  <a:srgbClr val="FFB46E">
                    <a:alpha val="99000"/>
                  </a:srgbClr>
                </a:solidFill>
                <a:latin typeface="Arial" pitchFamily="34" charset="0"/>
                <a:ea typeface="Arial" pitchFamily="34" charset="-122"/>
                <a:cs typeface="Arial" pitchFamily="34" charset="-120"/>
              </a:rPr>
              <a:t>↓ exécution</a:t>
            </a:r>
            <a:endParaRPr lang="en-US" sz="1950" dirty="0"/>
          </a:p>
        </p:txBody>
      </p:sp>
      <p:sp>
        <p:nvSpPr>
          <p:cNvPr id="16" name="Shape 14"/>
          <p:cNvSpPr/>
          <p:nvPr/>
        </p:nvSpPr>
        <p:spPr>
          <a:xfrm>
            <a:off x="12604750" y="6739762"/>
            <a:ext cx="1346200" cy="666750"/>
          </a:xfrm>
          <a:prstGeom prst="roundRect">
            <a:avLst>
              <a:gd name="adj" fmla="val 17143"/>
            </a:avLst>
          </a:prstGeom>
          <a:solidFill>
            <a:srgbClr val="FFFFFF">
              <a:alpha val="6000"/>
            </a:srgbClr>
          </a:solidFill>
          <a:ln w="6350">
            <a:solidFill>
              <a:srgbClr val="FFFFFF">
                <a:alpha val="10000"/>
              </a:srgbClr>
            </a:solidFill>
            <a:prstDash val="solid"/>
          </a:ln>
        </p:spPr>
      </p:sp>
      <p:sp>
        <p:nvSpPr>
          <p:cNvPr id="17" name="Text 15"/>
          <p:cNvSpPr/>
          <p:nvPr/>
        </p:nvSpPr>
        <p:spPr>
          <a:xfrm>
            <a:off x="12992100" y="6917562"/>
            <a:ext cx="647700" cy="349250"/>
          </a:xfrm>
          <a:prstGeom prst="rect">
            <a:avLst/>
          </a:prstGeom>
          <a:noFill/>
          <a:ln/>
        </p:spPr>
        <p:txBody>
          <a:bodyPr wrap="square" lIns="25400" tIns="25400" rIns="25400" bIns="25400" rtlCol="0" anchor="t">
            <a:normAutofit/>
          </a:bodyPr>
          <a:lstStyle/>
          <a:p>
            <a:pPr algn="l" indent="0" marL="0">
              <a:buNone/>
            </a:pPr>
            <a:r>
              <a:rPr lang="en-US" sz="1875" dirty="0">
                <a:solidFill>
                  <a:srgbClr val="56DBDB">
                    <a:alpha val="99000"/>
                  </a:srgbClr>
                </a:solidFill>
                <a:latin typeface="Courier New" pitchFamily="34" charset="0"/>
                <a:ea typeface="Courier New" pitchFamily="34" charset="-122"/>
                <a:cs typeface="Courier New" pitchFamily="34" charset="-120"/>
              </a:rPr>
              <a:t>HDFS</a:t>
            </a:r>
            <a:endParaRPr lang="en-US" sz="1875"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C121C"/>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56DBDB">
                    <a:alpha val="97000"/>
                  </a:srgbClr>
                </a:solidFill>
                <a:latin typeface="Courier New" pitchFamily="34" charset="0"/>
                <a:ea typeface="Courier New" pitchFamily="34" charset="-122"/>
                <a:cs typeface="Courier New" pitchFamily="34" charset="-120"/>
              </a:rPr>
              <a:t>ATELIER 4.1 · PRATIQUE</a:t>
            </a:r>
            <a:endParaRPr lang="en-US" sz="1800" dirty="0"/>
          </a:p>
        </p:txBody>
      </p:sp>
      <p:sp>
        <p:nvSpPr>
          <p:cNvPr id="3" name="Text 1"/>
          <p:cNvSpPr/>
          <p:nvPr/>
        </p:nvSpPr>
        <p:spPr>
          <a:xfrm>
            <a:off x="1066800" y="1314451"/>
            <a:ext cx="12679740" cy="692845"/>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HDFS puis Hive sur </a:t>
            </a:r>
            <a:pPr algn="l" indent="0" marL="0">
              <a:lnSpc>
                <a:spcPct val="90764"/>
              </a:lnSpc>
              <a:buNone/>
            </a:pPr>
            <a:r>
              <a:rPr lang="en-US" sz="3900" b="1" spc="-96" kern="0" dirty="0">
                <a:solidFill>
                  <a:srgbClr val="56DBDB"/>
                </a:solidFill>
                <a:latin typeface="Courier New" pitchFamily="34" charset="0"/>
                <a:ea typeface="Courier New" pitchFamily="34" charset="-122"/>
                <a:cs typeface="Courier New" pitchFamily="34" charset="-120"/>
              </a:rPr>
              <a:t>purchases.txt</a:t>
            </a:r>
            <a:endParaRPr lang="en-US" sz="4800" dirty="0"/>
          </a:p>
        </p:txBody>
      </p:sp>
      <p:sp>
        <p:nvSpPr>
          <p:cNvPr id="4" name="Shape 2"/>
          <p:cNvSpPr/>
          <p:nvPr/>
        </p:nvSpPr>
        <p:spPr>
          <a:xfrm>
            <a:off x="1066800" y="2293046"/>
            <a:ext cx="7381677" cy="6645275"/>
          </a:xfrm>
          <a:prstGeom prst="roundRect">
            <a:avLst>
              <a:gd name="adj" fmla="val 2293"/>
            </a:avLst>
          </a:prstGeom>
          <a:solidFill>
            <a:srgbClr val="06090E"/>
          </a:solidFill>
          <a:ln w="6350">
            <a:solidFill>
              <a:srgbClr val="FFFFFF">
                <a:alpha val="10000"/>
              </a:srgbClr>
            </a:solidFill>
            <a:prstDash val="solid"/>
          </a:ln>
        </p:spPr>
      </p:sp>
      <p:sp>
        <p:nvSpPr>
          <p:cNvPr id="5" name="Shape 3"/>
          <p:cNvSpPr/>
          <p:nvPr/>
        </p:nvSpPr>
        <p:spPr>
          <a:xfrm>
            <a:off x="1073150" y="2908996"/>
            <a:ext cx="7368977" cy="9525"/>
          </a:xfrm>
          <a:prstGeom prst="rect">
            <a:avLst/>
          </a:prstGeom>
          <a:solidFill>
            <a:srgbClr val="FFFFFF">
              <a:alpha val="6000"/>
            </a:srgbClr>
          </a:solidFill>
          <a:ln/>
        </p:spPr>
      </p:sp>
      <p:sp>
        <p:nvSpPr>
          <p:cNvPr id="6" name="Text 4"/>
          <p:cNvSpPr/>
          <p:nvPr/>
        </p:nvSpPr>
        <p:spPr>
          <a:xfrm>
            <a:off x="1301750" y="2451796"/>
            <a:ext cx="7132846"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6DBDB"/>
                </a:solidFill>
                <a:latin typeface="Courier New" pitchFamily="34" charset="0"/>
                <a:ea typeface="Courier New" pitchFamily="34" charset="-122"/>
                <a:cs typeface="Courier New" pitchFamily="34" charset="-120"/>
              </a:rPr>
              <a:t>A · HDFS</a:t>
            </a:r>
            <a:endParaRPr lang="en-US" sz="1800" dirty="0"/>
          </a:p>
        </p:txBody>
      </p:sp>
      <p:sp>
        <p:nvSpPr>
          <p:cNvPr id="7" name="Text 5"/>
          <p:cNvSpPr/>
          <p:nvPr/>
        </p:nvSpPr>
        <p:spPr>
          <a:xfrm>
            <a:off x="1320800" y="3124896"/>
            <a:ext cx="7079887" cy="460971"/>
          </a:xfrm>
          <a:prstGeom prst="rect">
            <a:avLst/>
          </a:prstGeom>
          <a:noFill/>
          <a:ln/>
        </p:spPr>
        <p:txBody>
          <a:bodyPr wrap="square" lIns="25400" tIns="25400" rIns="25400" bIns="25400" rtlCol="0" anchor="t">
            <a:normAutofit/>
          </a:bodyPr>
          <a:lstStyle/>
          <a:p>
            <a:pPr algn="l" indent="0" marL="0">
              <a:lnSpc>
                <a:spcPct val="162439"/>
              </a:lnSpc>
              <a:buNone/>
            </a:pPr>
            <a:r>
              <a:rPr lang="en-US" sz="1800" dirty="0">
                <a:solidFill>
                  <a:srgbClr val="56DBDB"/>
                </a:solidFill>
                <a:latin typeface="Courier New" pitchFamily="34" charset="0"/>
                <a:ea typeface="Courier New" pitchFamily="34" charset="-122"/>
                <a:cs typeface="Courier New" pitchFamily="34" charset="-120"/>
              </a:rPr>
              <a:t>hdfs dfs </a:t>
            </a:r>
            <a:pPr algn="l" indent="0" marL="0">
              <a:lnSpc>
                <a:spcPct val="162439"/>
              </a:lnSpc>
              <a:buNone/>
            </a:pPr>
            <a:r>
              <a:rPr lang="en-US" sz="1800" dirty="0">
                <a:solidFill>
                  <a:srgbClr val="CDD7E3"/>
                </a:solidFill>
                <a:latin typeface="Courier New" pitchFamily="34" charset="0"/>
                <a:ea typeface="Courier New" pitchFamily="34" charset="-122"/>
                <a:cs typeface="Courier New" pitchFamily="34" charset="-120"/>
              </a:rPr>
              <a:t>-mkdir -p /data/raw</a:t>
            </a:r>
            <a:endParaRPr lang="en-US" sz="1800" dirty="0"/>
          </a:p>
        </p:txBody>
      </p:sp>
      <p:sp>
        <p:nvSpPr>
          <p:cNvPr id="8" name="Text 6"/>
          <p:cNvSpPr/>
          <p:nvPr/>
        </p:nvSpPr>
        <p:spPr>
          <a:xfrm>
            <a:off x="1320800" y="3547767"/>
            <a:ext cx="7079887" cy="460970"/>
          </a:xfrm>
          <a:prstGeom prst="rect">
            <a:avLst/>
          </a:prstGeom>
          <a:noFill/>
          <a:ln/>
        </p:spPr>
        <p:txBody>
          <a:bodyPr wrap="square" lIns="25400" tIns="25400" rIns="25400" bIns="25400" rtlCol="0" anchor="t">
            <a:normAutofit/>
          </a:bodyPr>
          <a:lstStyle/>
          <a:p>
            <a:pPr algn="l" indent="0" marL="0">
              <a:lnSpc>
                <a:spcPct val="162439"/>
              </a:lnSpc>
              <a:buNone/>
            </a:pPr>
            <a:r>
              <a:rPr lang="en-US" sz="1800" dirty="0">
                <a:solidFill>
                  <a:srgbClr val="56DBDB"/>
                </a:solidFill>
                <a:latin typeface="Courier New" pitchFamily="34" charset="0"/>
                <a:ea typeface="Courier New" pitchFamily="34" charset="-122"/>
                <a:cs typeface="Courier New" pitchFamily="34" charset="-120"/>
              </a:rPr>
              <a:t>hdfs dfs </a:t>
            </a:r>
            <a:pPr algn="l" indent="0" marL="0">
              <a:lnSpc>
                <a:spcPct val="162439"/>
              </a:lnSpc>
              <a:buNone/>
            </a:pPr>
            <a:r>
              <a:rPr lang="en-US" sz="1800" dirty="0">
                <a:solidFill>
                  <a:srgbClr val="CDD7E3"/>
                </a:solidFill>
                <a:latin typeface="Courier New" pitchFamily="34" charset="0"/>
                <a:ea typeface="Courier New" pitchFamily="34" charset="-122"/>
                <a:cs typeface="Courier New" pitchFamily="34" charset="-120"/>
              </a:rPr>
              <a:t>-put purchases.txt /data/raw/</a:t>
            </a:r>
            <a:endParaRPr lang="en-US" sz="1800" dirty="0"/>
          </a:p>
        </p:txBody>
      </p:sp>
      <p:sp>
        <p:nvSpPr>
          <p:cNvPr id="9" name="Text 7"/>
          <p:cNvSpPr/>
          <p:nvPr/>
        </p:nvSpPr>
        <p:spPr>
          <a:xfrm>
            <a:off x="1320800" y="3970637"/>
            <a:ext cx="7079887" cy="460970"/>
          </a:xfrm>
          <a:prstGeom prst="rect">
            <a:avLst/>
          </a:prstGeom>
          <a:noFill/>
          <a:ln/>
        </p:spPr>
        <p:txBody>
          <a:bodyPr wrap="square" lIns="25400" tIns="25400" rIns="25400" bIns="25400" rtlCol="0" anchor="t">
            <a:normAutofit/>
          </a:bodyPr>
          <a:lstStyle/>
          <a:p>
            <a:pPr algn="l" indent="0" marL="0">
              <a:lnSpc>
                <a:spcPct val="162439"/>
              </a:lnSpc>
              <a:buNone/>
            </a:pPr>
            <a:r>
              <a:rPr lang="en-US" sz="1800" dirty="0">
                <a:solidFill>
                  <a:srgbClr val="56DBDB"/>
                </a:solidFill>
                <a:latin typeface="Courier New" pitchFamily="34" charset="0"/>
                <a:ea typeface="Courier New" pitchFamily="34" charset="-122"/>
                <a:cs typeface="Courier New" pitchFamily="34" charset="-120"/>
              </a:rPr>
              <a:t>hdfs dfs </a:t>
            </a:r>
            <a:pPr algn="l" indent="0" marL="0">
              <a:lnSpc>
                <a:spcPct val="162439"/>
              </a:lnSpc>
              <a:buNone/>
            </a:pPr>
            <a:r>
              <a:rPr lang="en-US" sz="1800" dirty="0">
                <a:solidFill>
                  <a:srgbClr val="CDD7E3"/>
                </a:solidFill>
                <a:latin typeface="Courier New" pitchFamily="34" charset="0"/>
                <a:ea typeface="Courier New" pitchFamily="34" charset="-122"/>
                <a:cs typeface="Courier New" pitchFamily="34" charset="-120"/>
              </a:rPr>
              <a:t>-ls /data/raw</a:t>
            </a:r>
            <a:endParaRPr lang="en-US" sz="1800" dirty="0"/>
          </a:p>
        </p:txBody>
      </p:sp>
      <p:sp>
        <p:nvSpPr>
          <p:cNvPr id="10" name="Text 8"/>
          <p:cNvSpPr/>
          <p:nvPr/>
        </p:nvSpPr>
        <p:spPr>
          <a:xfrm>
            <a:off x="1320800" y="4393507"/>
            <a:ext cx="7079887" cy="460970"/>
          </a:xfrm>
          <a:prstGeom prst="rect">
            <a:avLst/>
          </a:prstGeom>
          <a:noFill/>
          <a:ln/>
        </p:spPr>
        <p:txBody>
          <a:bodyPr wrap="square" lIns="25400" tIns="25400" rIns="25400" bIns="25400" rtlCol="0" anchor="t">
            <a:normAutofit/>
          </a:bodyPr>
          <a:lstStyle/>
          <a:p>
            <a:pPr algn="l" indent="0" marL="0">
              <a:lnSpc>
                <a:spcPct val="162439"/>
              </a:lnSpc>
              <a:buNone/>
            </a:pPr>
            <a:r>
              <a:rPr lang="en-US" sz="1800" dirty="0">
                <a:solidFill>
                  <a:srgbClr val="8EA0B5"/>
                </a:solidFill>
                <a:latin typeface="Courier New" pitchFamily="34" charset="0"/>
                <a:ea typeface="Courier New" pitchFamily="34" charset="-122"/>
                <a:cs typeface="Courier New" pitchFamily="34" charset="-120"/>
              </a:rPr>
              <a:t># blocs &amp; réplication réels</a:t>
            </a:r>
            <a:endParaRPr lang="en-US" sz="1800" dirty="0"/>
          </a:p>
        </p:txBody>
      </p:sp>
      <p:sp>
        <p:nvSpPr>
          <p:cNvPr id="11" name="Text 9"/>
          <p:cNvSpPr/>
          <p:nvPr/>
        </p:nvSpPr>
        <p:spPr>
          <a:xfrm>
            <a:off x="1320800" y="4816378"/>
            <a:ext cx="7079887" cy="460970"/>
          </a:xfrm>
          <a:prstGeom prst="rect">
            <a:avLst/>
          </a:prstGeom>
          <a:noFill/>
          <a:ln/>
        </p:spPr>
        <p:txBody>
          <a:bodyPr wrap="square" lIns="25400" tIns="25400" rIns="25400" bIns="25400" rtlCol="0" anchor="t">
            <a:normAutofit/>
          </a:bodyPr>
          <a:lstStyle/>
          <a:p>
            <a:pPr algn="l" indent="0" marL="0">
              <a:lnSpc>
                <a:spcPct val="162439"/>
              </a:lnSpc>
              <a:buNone/>
            </a:pPr>
            <a:r>
              <a:rPr lang="en-US" sz="1800" dirty="0">
                <a:solidFill>
                  <a:srgbClr val="56DBDB"/>
                </a:solidFill>
                <a:latin typeface="Courier New" pitchFamily="34" charset="0"/>
                <a:ea typeface="Courier New" pitchFamily="34" charset="-122"/>
                <a:cs typeface="Courier New" pitchFamily="34" charset="-120"/>
              </a:rPr>
              <a:t>hdfs fsck </a:t>
            </a:r>
            <a:pPr algn="l" indent="0" marL="0">
              <a:lnSpc>
                <a:spcPct val="162439"/>
              </a:lnSpc>
              <a:buNone/>
            </a:pPr>
            <a:r>
              <a:rPr lang="en-US" sz="1800" dirty="0">
                <a:solidFill>
                  <a:srgbClr val="CDD7E3"/>
                </a:solidFill>
                <a:latin typeface="Courier New" pitchFamily="34" charset="0"/>
                <a:ea typeface="Courier New" pitchFamily="34" charset="-122"/>
                <a:cs typeface="Courier New" pitchFamily="34" charset="-120"/>
              </a:rPr>
              <a:t>/data/raw/purchases.txt \</a:t>
            </a:r>
            <a:endParaRPr lang="en-US" sz="1800" dirty="0"/>
          </a:p>
        </p:txBody>
      </p:sp>
      <p:sp>
        <p:nvSpPr>
          <p:cNvPr id="12" name="Text 10"/>
          <p:cNvSpPr/>
          <p:nvPr/>
        </p:nvSpPr>
        <p:spPr>
          <a:xfrm>
            <a:off x="1595120" y="5239248"/>
            <a:ext cx="6805567" cy="460970"/>
          </a:xfrm>
          <a:prstGeom prst="rect">
            <a:avLst/>
          </a:prstGeom>
          <a:noFill/>
          <a:ln/>
        </p:spPr>
        <p:txBody>
          <a:bodyPr wrap="square" lIns="25400" tIns="25400" rIns="25400" bIns="25400" rtlCol="0" anchor="t">
            <a:normAutofit/>
          </a:bodyPr>
          <a:lstStyle/>
          <a:p>
            <a:pPr algn="l" indent="0" marL="0">
              <a:lnSpc>
                <a:spcPct val="162439"/>
              </a:lnSpc>
              <a:buNone/>
            </a:pPr>
            <a:r>
              <a:rPr lang="en-US" sz="1800" dirty="0">
                <a:solidFill>
                  <a:srgbClr val="CDD7E3"/>
                </a:solidFill>
                <a:latin typeface="Courier New" pitchFamily="34" charset="0"/>
                <a:ea typeface="Courier New" pitchFamily="34" charset="-122"/>
                <a:cs typeface="Courier New" pitchFamily="34" charset="-120"/>
              </a:rPr>
              <a:t>-files -blocks -locations</a:t>
            </a:r>
            <a:endParaRPr lang="en-US" sz="1800" dirty="0"/>
          </a:p>
        </p:txBody>
      </p:sp>
      <p:sp>
        <p:nvSpPr>
          <p:cNvPr id="13" name="Shape 11"/>
          <p:cNvSpPr/>
          <p:nvPr/>
        </p:nvSpPr>
        <p:spPr>
          <a:xfrm>
            <a:off x="8734227" y="2295190"/>
            <a:ext cx="8486974" cy="6645275"/>
          </a:xfrm>
          <a:prstGeom prst="roundRect">
            <a:avLst>
              <a:gd name="adj" fmla="val 2293"/>
            </a:avLst>
          </a:prstGeom>
          <a:solidFill>
            <a:srgbClr val="06090E">
              <a:alpha val="99000"/>
            </a:srgbClr>
          </a:solidFill>
          <a:ln w="6350">
            <a:solidFill>
              <a:srgbClr val="FFFFFF">
                <a:alpha val="10000"/>
              </a:srgbClr>
            </a:solidFill>
            <a:prstDash val="solid"/>
          </a:ln>
        </p:spPr>
      </p:sp>
      <p:sp>
        <p:nvSpPr>
          <p:cNvPr id="14" name="Shape 12"/>
          <p:cNvSpPr/>
          <p:nvPr/>
        </p:nvSpPr>
        <p:spPr>
          <a:xfrm>
            <a:off x="8740577" y="2911140"/>
            <a:ext cx="8474273" cy="9525"/>
          </a:xfrm>
          <a:prstGeom prst="rect">
            <a:avLst/>
          </a:prstGeom>
          <a:solidFill>
            <a:srgbClr val="FFFFFF">
              <a:alpha val="6000"/>
            </a:srgbClr>
          </a:solidFill>
          <a:ln/>
        </p:spPr>
      </p:sp>
      <p:sp>
        <p:nvSpPr>
          <p:cNvPr id="15" name="Text 13"/>
          <p:cNvSpPr/>
          <p:nvPr/>
        </p:nvSpPr>
        <p:spPr>
          <a:xfrm>
            <a:off x="8969177" y="2453940"/>
            <a:ext cx="8271302"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FB46E">
                    <a:alpha val="99000"/>
                  </a:srgbClr>
                </a:solidFill>
                <a:latin typeface="Courier New" pitchFamily="34" charset="0"/>
                <a:ea typeface="Courier New" pitchFamily="34" charset="-122"/>
                <a:cs typeface="Courier New" pitchFamily="34" charset="-120"/>
              </a:rPr>
              <a:t>B · Hive · achatdb.purchases</a:t>
            </a:r>
            <a:endParaRPr lang="en-US" sz="1800" dirty="0"/>
          </a:p>
        </p:txBody>
      </p:sp>
      <p:sp>
        <p:nvSpPr>
          <p:cNvPr id="16" name="Text 14"/>
          <p:cNvSpPr/>
          <p:nvPr/>
        </p:nvSpPr>
        <p:spPr>
          <a:xfrm>
            <a:off x="8988227" y="3127040"/>
            <a:ext cx="8218343" cy="426641"/>
          </a:xfrm>
          <a:prstGeom prst="rect">
            <a:avLst/>
          </a:prstGeom>
          <a:noFill/>
          <a:ln/>
        </p:spPr>
        <p:txBody>
          <a:bodyPr wrap="square" lIns="25400" tIns="25400" rIns="25400" bIns="25400" rtlCol="0" anchor="t">
            <a:normAutofit/>
          </a:bodyPr>
          <a:lstStyle/>
          <a:p>
            <a:pPr algn="l" indent="0" marL="0">
              <a:lnSpc>
                <a:spcPct val="149268"/>
              </a:lnSpc>
              <a:buNone/>
            </a:pPr>
            <a:r>
              <a:rPr lang="en-US" sz="1800" dirty="0">
                <a:solidFill>
                  <a:srgbClr val="B897F0">
                    <a:alpha val="99000"/>
                  </a:srgbClr>
                </a:solidFill>
                <a:latin typeface="Courier New" pitchFamily="34" charset="0"/>
                <a:ea typeface="Courier New" pitchFamily="34" charset="-122"/>
                <a:cs typeface="Courier New" pitchFamily="34" charset="-120"/>
              </a:rPr>
              <a:t>CREATE DATABASE </a:t>
            </a:r>
            <a:pPr algn="l" indent="0" marL="0">
              <a:lnSpc>
                <a:spcPct val="149268"/>
              </a:lnSpc>
              <a:buNone/>
            </a:pPr>
            <a:r>
              <a:rPr lang="en-US" sz="1800" dirty="0">
                <a:solidFill>
                  <a:srgbClr val="CDD7E3">
                    <a:alpha val="99000"/>
                  </a:srgbClr>
                </a:solidFill>
                <a:latin typeface="Courier New" pitchFamily="34" charset="0"/>
                <a:ea typeface="Courier New" pitchFamily="34" charset="-122"/>
                <a:cs typeface="Courier New" pitchFamily="34" charset="-120"/>
              </a:rPr>
              <a:t>achatdb;</a:t>
            </a:r>
            <a:endParaRPr lang="en-US" sz="1800" dirty="0"/>
          </a:p>
        </p:txBody>
      </p:sp>
      <p:sp>
        <p:nvSpPr>
          <p:cNvPr id="17" name="Text 15"/>
          <p:cNvSpPr/>
          <p:nvPr/>
        </p:nvSpPr>
        <p:spPr>
          <a:xfrm>
            <a:off x="8988227" y="3515580"/>
            <a:ext cx="8218343" cy="426641"/>
          </a:xfrm>
          <a:prstGeom prst="rect">
            <a:avLst/>
          </a:prstGeom>
          <a:noFill/>
          <a:ln/>
        </p:spPr>
        <p:txBody>
          <a:bodyPr wrap="square" lIns="25400" tIns="25400" rIns="25400" bIns="25400" rtlCol="0" anchor="t">
            <a:normAutofit/>
          </a:bodyPr>
          <a:lstStyle/>
          <a:p>
            <a:pPr algn="l" indent="0" marL="0">
              <a:lnSpc>
                <a:spcPct val="149268"/>
              </a:lnSpc>
              <a:buNone/>
            </a:pPr>
            <a:r>
              <a:rPr lang="en-US" sz="1800" dirty="0">
                <a:solidFill>
                  <a:srgbClr val="B897F0">
                    <a:alpha val="99000"/>
                  </a:srgbClr>
                </a:solidFill>
                <a:latin typeface="Courier New" pitchFamily="34" charset="0"/>
                <a:ea typeface="Courier New" pitchFamily="34" charset="-122"/>
                <a:cs typeface="Courier New" pitchFamily="34" charset="-120"/>
              </a:rPr>
              <a:t>CREATE TABLE </a:t>
            </a:r>
            <a:pPr algn="l" indent="0" marL="0">
              <a:lnSpc>
                <a:spcPct val="149268"/>
              </a:lnSpc>
              <a:buNone/>
            </a:pPr>
            <a:r>
              <a:rPr lang="en-US" sz="1800" dirty="0">
                <a:solidFill>
                  <a:srgbClr val="CDD7E3">
                    <a:alpha val="99000"/>
                  </a:srgbClr>
                </a:solidFill>
                <a:latin typeface="Courier New" pitchFamily="34" charset="0"/>
                <a:ea typeface="Courier New" pitchFamily="34" charset="-122"/>
                <a:cs typeface="Courier New" pitchFamily="34" charset="-120"/>
              </a:rPr>
              <a:t>purchases (…)</a:t>
            </a:r>
            <a:endParaRPr lang="en-US" sz="1800" dirty="0"/>
          </a:p>
        </p:txBody>
      </p:sp>
      <p:sp>
        <p:nvSpPr>
          <p:cNvPr id="18" name="Text 16"/>
          <p:cNvSpPr/>
          <p:nvPr/>
        </p:nvSpPr>
        <p:spPr>
          <a:xfrm>
            <a:off x="9262547" y="3904121"/>
            <a:ext cx="7944023" cy="426641"/>
          </a:xfrm>
          <a:prstGeom prst="rect">
            <a:avLst/>
          </a:prstGeom>
          <a:noFill/>
          <a:ln/>
        </p:spPr>
        <p:txBody>
          <a:bodyPr wrap="square" lIns="25400" tIns="25400" rIns="25400" bIns="25400" rtlCol="0" anchor="t">
            <a:normAutofit/>
          </a:bodyPr>
          <a:lstStyle/>
          <a:p>
            <a:pPr algn="l" indent="0" marL="0">
              <a:lnSpc>
                <a:spcPct val="149268"/>
              </a:lnSpc>
              <a:buNone/>
            </a:pPr>
            <a:r>
              <a:rPr lang="en-US" sz="1800" dirty="0">
                <a:solidFill>
                  <a:srgbClr val="B897F0">
                    <a:alpha val="99000"/>
                  </a:srgbClr>
                </a:solidFill>
                <a:latin typeface="Courier New" pitchFamily="34" charset="0"/>
                <a:ea typeface="Courier New" pitchFamily="34" charset="-122"/>
                <a:cs typeface="Courier New" pitchFamily="34" charset="-120"/>
              </a:rPr>
              <a:t>ROW FORMAT DELIMITED</a:t>
            </a:r>
            <a:endParaRPr lang="en-US" sz="1800" dirty="0"/>
          </a:p>
        </p:txBody>
      </p:sp>
      <p:sp>
        <p:nvSpPr>
          <p:cNvPr id="19" name="Text 17"/>
          <p:cNvSpPr/>
          <p:nvPr/>
        </p:nvSpPr>
        <p:spPr>
          <a:xfrm>
            <a:off x="9262547" y="4292662"/>
            <a:ext cx="7944023" cy="426641"/>
          </a:xfrm>
          <a:prstGeom prst="rect">
            <a:avLst/>
          </a:prstGeom>
          <a:noFill/>
          <a:ln/>
        </p:spPr>
        <p:txBody>
          <a:bodyPr wrap="square" lIns="25400" tIns="25400" rIns="25400" bIns="25400" rtlCol="0" anchor="t">
            <a:normAutofit/>
          </a:bodyPr>
          <a:lstStyle/>
          <a:p>
            <a:pPr algn="l" indent="0" marL="0">
              <a:lnSpc>
                <a:spcPct val="149268"/>
              </a:lnSpc>
              <a:buNone/>
            </a:pPr>
            <a:r>
              <a:rPr lang="en-US" sz="1800" dirty="0">
                <a:solidFill>
                  <a:srgbClr val="CDD7E3">
                    <a:alpha val="99000"/>
                  </a:srgbClr>
                </a:solidFill>
                <a:latin typeface="Courier New" pitchFamily="34" charset="0"/>
                <a:ea typeface="Courier New" pitchFamily="34" charset="-122"/>
                <a:cs typeface="Courier New" pitchFamily="34" charset="-120"/>
              </a:rPr>
              <a:t>FIELDS TERMINATED BY </a:t>
            </a:r>
            <a:pPr algn="l" indent="0" marL="0">
              <a:lnSpc>
                <a:spcPct val="149268"/>
              </a:lnSpc>
              <a:buNone/>
            </a:pPr>
            <a:r>
              <a:rPr lang="en-US" sz="1800" dirty="0">
                <a:solidFill>
                  <a:srgbClr val="FFB46E">
                    <a:alpha val="99000"/>
                  </a:srgbClr>
                </a:solidFill>
                <a:latin typeface="Courier New" pitchFamily="34" charset="0"/>
                <a:ea typeface="Courier New" pitchFamily="34" charset="-122"/>
                <a:cs typeface="Courier New" pitchFamily="34" charset="-120"/>
              </a:rPr>
              <a:t>'\t'</a:t>
            </a:r>
            <a:endParaRPr lang="en-US" sz="1800" dirty="0"/>
          </a:p>
        </p:txBody>
      </p:sp>
      <p:sp>
        <p:nvSpPr>
          <p:cNvPr id="20" name="Text 18"/>
          <p:cNvSpPr/>
          <p:nvPr/>
        </p:nvSpPr>
        <p:spPr>
          <a:xfrm>
            <a:off x="9262547" y="4681202"/>
            <a:ext cx="7944023" cy="426641"/>
          </a:xfrm>
          <a:prstGeom prst="rect">
            <a:avLst/>
          </a:prstGeom>
          <a:noFill/>
          <a:ln/>
        </p:spPr>
        <p:txBody>
          <a:bodyPr wrap="square" lIns="25400" tIns="25400" rIns="25400" bIns="25400" rtlCol="0" anchor="t">
            <a:normAutofit/>
          </a:bodyPr>
          <a:lstStyle/>
          <a:p>
            <a:pPr algn="l" indent="0" marL="0">
              <a:lnSpc>
                <a:spcPct val="149268"/>
              </a:lnSpc>
              <a:buNone/>
            </a:pPr>
            <a:r>
              <a:rPr lang="en-US" sz="1800" dirty="0">
                <a:solidFill>
                  <a:srgbClr val="B897F0">
                    <a:alpha val="99000"/>
                  </a:srgbClr>
                </a:solidFill>
                <a:latin typeface="Courier New" pitchFamily="34" charset="0"/>
                <a:ea typeface="Courier New" pitchFamily="34" charset="-122"/>
                <a:cs typeface="Courier New" pitchFamily="34" charset="-120"/>
              </a:rPr>
              <a:t>LOCATION </a:t>
            </a:r>
            <a:pPr algn="l" indent="0" marL="0">
              <a:lnSpc>
                <a:spcPct val="149268"/>
              </a:lnSpc>
              <a:buNone/>
            </a:pPr>
            <a:r>
              <a:rPr lang="en-US" sz="1800" dirty="0">
                <a:solidFill>
                  <a:srgbClr val="FFB46E">
                    <a:alpha val="99000"/>
                  </a:srgbClr>
                </a:solidFill>
                <a:latin typeface="Courier New" pitchFamily="34" charset="0"/>
                <a:ea typeface="Courier New" pitchFamily="34" charset="-122"/>
                <a:cs typeface="Courier New" pitchFamily="34" charset="-120"/>
              </a:rPr>
              <a:t>'/data/raw'</a:t>
            </a:r>
            <a:pPr algn="l" indent="0" marL="0">
              <a:lnSpc>
                <a:spcPct val="149268"/>
              </a:lnSpc>
              <a:buNone/>
            </a:pPr>
            <a:r>
              <a:rPr lang="en-US" sz="1800" dirty="0">
                <a:solidFill>
                  <a:srgbClr val="CDD7E3">
                    <a:alpha val="99000"/>
                  </a:srgbClr>
                </a:solidFill>
                <a:latin typeface="Courier New" pitchFamily="34" charset="0"/>
                <a:ea typeface="Courier New" pitchFamily="34" charset="-122"/>
                <a:cs typeface="Courier New" pitchFamily="34" charset="-120"/>
              </a:rPr>
              <a:t>;</a:t>
            </a:r>
            <a:endParaRPr lang="en-US" sz="1800" dirty="0"/>
          </a:p>
        </p:txBody>
      </p:sp>
      <p:sp>
        <p:nvSpPr>
          <p:cNvPr id="21" name="Text 19"/>
          <p:cNvSpPr/>
          <p:nvPr/>
        </p:nvSpPr>
        <p:spPr>
          <a:xfrm>
            <a:off x="8988227" y="5126893"/>
            <a:ext cx="8218343" cy="426641"/>
          </a:xfrm>
          <a:prstGeom prst="rect">
            <a:avLst/>
          </a:prstGeom>
          <a:noFill/>
          <a:ln/>
        </p:spPr>
        <p:txBody>
          <a:bodyPr wrap="square" lIns="25400" tIns="25400" rIns="25400" bIns="25400" rtlCol="0" anchor="t">
            <a:normAutofit/>
          </a:bodyPr>
          <a:lstStyle/>
          <a:p>
            <a:pPr algn="l" indent="0" marL="0">
              <a:lnSpc>
                <a:spcPct val="149268"/>
              </a:lnSpc>
              <a:buNone/>
            </a:pPr>
            <a:r>
              <a:rPr lang="en-US" sz="1800" dirty="0">
                <a:solidFill>
                  <a:srgbClr val="8EA0B5">
                    <a:alpha val="99000"/>
                  </a:srgbClr>
                </a:solidFill>
                <a:latin typeface="Courier New" pitchFamily="34" charset="0"/>
                <a:ea typeface="Courier New" pitchFamily="34" charset="-122"/>
                <a:cs typeface="Courier New" pitchFamily="34" charset="-120"/>
              </a:rPr>
              <a:t># ventes par magasin</a:t>
            </a:r>
            <a:endParaRPr lang="en-US" sz="1800" dirty="0"/>
          </a:p>
        </p:txBody>
      </p:sp>
      <p:sp>
        <p:nvSpPr>
          <p:cNvPr id="22" name="Text 20"/>
          <p:cNvSpPr/>
          <p:nvPr/>
        </p:nvSpPr>
        <p:spPr>
          <a:xfrm>
            <a:off x="8988227" y="5515434"/>
            <a:ext cx="8218343" cy="426641"/>
          </a:xfrm>
          <a:prstGeom prst="rect">
            <a:avLst/>
          </a:prstGeom>
          <a:noFill/>
          <a:ln/>
        </p:spPr>
        <p:txBody>
          <a:bodyPr wrap="square" lIns="25400" tIns="25400" rIns="25400" bIns="25400" rtlCol="0" anchor="t">
            <a:normAutofit/>
          </a:bodyPr>
          <a:lstStyle/>
          <a:p>
            <a:pPr algn="l" indent="0" marL="0">
              <a:lnSpc>
                <a:spcPct val="149268"/>
              </a:lnSpc>
              <a:buNone/>
            </a:pPr>
            <a:r>
              <a:rPr lang="en-US" sz="1800" dirty="0">
                <a:solidFill>
                  <a:srgbClr val="B897F0">
                    <a:alpha val="99000"/>
                  </a:srgbClr>
                </a:solidFill>
                <a:latin typeface="Courier New" pitchFamily="34" charset="0"/>
                <a:ea typeface="Courier New" pitchFamily="34" charset="-122"/>
                <a:cs typeface="Courier New" pitchFamily="34" charset="-120"/>
              </a:rPr>
              <a:t>SELECT </a:t>
            </a:r>
            <a:pPr algn="l" indent="0" marL="0">
              <a:lnSpc>
                <a:spcPct val="149268"/>
              </a:lnSpc>
              <a:buNone/>
            </a:pPr>
            <a:r>
              <a:rPr lang="en-US" sz="1800" dirty="0">
                <a:solidFill>
                  <a:srgbClr val="CDD7E3">
                    <a:alpha val="99000"/>
                  </a:srgbClr>
                </a:solidFill>
                <a:latin typeface="Courier New" pitchFamily="34" charset="0"/>
                <a:ea typeface="Courier New" pitchFamily="34" charset="-122"/>
                <a:cs typeface="Courier New" pitchFamily="34" charset="-120"/>
              </a:rPr>
              <a:t>store, </a:t>
            </a:r>
            <a:pPr algn="l" indent="0" marL="0">
              <a:lnSpc>
                <a:spcPct val="149268"/>
              </a:lnSpc>
              <a:buNone/>
            </a:pPr>
            <a:r>
              <a:rPr lang="en-US" sz="1800" dirty="0">
                <a:solidFill>
                  <a:srgbClr val="56DBDB">
                    <a:alpha val="99000"/>
                  </a:srgbClr>
                </a:solidFill>
                <a:latin typeface="Courier New" pitchFamily="34" charset="0"/>
                <a:ea typeface="Courier New" pitchFamily="34" charset="-122"/>
                <a:cs typeface="Courier New" pitchFamily="34" charset="-120"/>
              </a:rPr>
              <a:t>SUM</a:t>
            </a:r>
            <a:pPr algn="l" indent="0" marL="0">
              <a:lnSpc>
                <a:spcPct val="149268"/>
              </a:lnSpc>
              <a:buNone/>
            </a:pPr>
            <a:r>
              <a:rPr lang="en-US" sz="1800" dirty="0">
                <a:solidFill>
                  <a:srgbClr val="CDD7E3">
                    <a:alpha val="99000"/>
                  </a:srgbClr>
                </a:solidFill>
                <a:latin typeface="Courier New" pitchFamily="34" charset="0"/>
                <a:ea typeface="Courier New" pitchFamily="34" charset="-122"/>
                <a:cs typeface="Courier New" pitchFamily="34" charset="-120"/>
              </a:rPr>
              <a:t>(cost) …</a:t>
            </a:r>
            <a:endParaRPr lang="en-US" sz="1800" dirty="0"/>
          </a:p>
        </p:txBody>
      </p:sp>
      <p:sp>
        <p:nvSpPr>
          <p:cNvPr id="23" name="Text 21"/>
          <p:cNvSpPr/>
          <p:nvPr/>
        </p:nvSpPr>
        <p:spPr>
          <a:xfrm>
            <a:off x="9262547" y="5903975"/>
            <a:ext cx="7944023" cy="426641"/>
          </a:xfrm>
          <a:prstGeom prst="rect">
            <a:avLst/>
          </a:prstGeom>
          <a:noFill/>
          <a:ln/>
        </p:spPr>
        <p:txBody>
          <a:bodyPr wrap="square" lIns="25400" tIns="25400" rIns="25400" bIns="25400" rtlCol="0" anchor="t">
            <a:normAutofit/>
          </a:bodyPr>
          <a:lstStyle/>
          <a:p>
            <a:pPr algn="l" indent="0" marL="0">
              <a:lnSpc>
                <a:spcPct val="149268"/>
              </a:lnSpc>
              <a:buNone/>
            </a:pPr>
            <a:r>
              <a:rPr lang="en-US" sz="1800" dirty="0">
                <a:solidFill>
                  <a:srgbClr val="B897F0">
                    <a:alpha val="99000"/>
                  </a:srgbClr>
                </a:solidFill>
                <a:latin typeface="Courier New" pitchFamily="34" charset="0"/>
                <a:ea typeface="Courier New" pitchFamily="34" charset="-122"/>
                <a:cs typeface="Courier New" pitchFamily="34" charset="-120"/>
              </a:rPr>
              <a:t>GROUP BY </a:t>
            </a:r>
            <a:pPr algn="l" indent="0" marL="0">
              <a:lnSpc>
                <a:spcPct val="149268"/>
              </a:lnSpc>
              <a:buNone/>
            </a:pPr>
            <a:r>
              <a:rPr lang="en-US" sz="1800" dirty="0">
                <a:solidFill>
                  <a:srgbClr val="CDD7E3">
                    <a:alpha val="99000"/>
                  </a:srgbClr>
                </a:solidFill>
                <a:latin typeface="Courier New" pitchFamily="34" charset="0"/>
                <a:ea typeface="Courier New" pitchFamily="34" charset="-122"/>
                <a:cs typeface="Courier New" pitchFamily="34" charset="-120"/>
              </a:rPr>
              <a:t>store </a:t>
            </a:r>
            <a:pPr algn="l" indent="0" marL="0">
              <a:lnSpc>
                <a:spcPct val="149268"/>
              </a:lnSpc>
              <a:buNone/>
            </a:pPr>
            <a:r>
              <a:rPr lang="en-US" sz="1800" dirty="0">
                <a:solidFill>
                  <a:srgbClr val="B897F0">
                    <a:alpha val="99000"/>
                  </a:srgbClr>
                </a:solidFill>
                <a:latin typeface="Courier New" pitchFamily="34" charset="0"/>
                <a:ea typeface="Courier New" pitchFamily="34" charset="-122"/>
                <a:cs typeface="Courier New" pitchFamily="34" charset="-120"/>
              </a:rPr>
              <a:t>ORDER BY </a:t>
            </a:r>
            <a:pPr algn="l" indent="0" marL="0">
              <a:lnSpc>
                <a:spcPct val="149268"/>
              </a:lnSpc>
              <a:buNone/>
            </a:pPr>
            <a:r>
              <a:rPr lang="en-US" sz="1800" dirty="0">
                <a:solidFill>
                  <a:srgbClr val="CDD7E3">
                    <a:alpha val="99000"/>
                  </a:srgbClr>
                </a:solidFill>
                <a:latin typeface="Courier New" pitchFamily="34" charset="0"/>
                <a:ea typeface="Courier New" pitchFamily="34" charset="-122"/>
                <a:cs typeface="Courier New" pitchFamily="34" charset="-120"/>
              </a:rPr>
              <a:t>…;</a:t>
            </a:r>
            <a:endParaRPr lang="en-US" sz="1800" dirty="0"/>
          </a:p>
        </p:txBody>
      </p:sp>
      <p:sp>
        <p:nvSpPr>
          <p:cNvPr id="24" name="Text 22"/>
          <p:cNvSpPr/>
          <p:nvPr/>
        </p:nvSpPr>
        <p:spPr>
          <a:xfrm>
            <a:off x="1066800" y="9147870"/>
            <a:ext cx="17769840" cy="35808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EEF3F9">
                    <a:alpha val="68000"/>
                  </a:srgbClr>
                </a:solidFill>
                <a:latin typeface="Arial" pitchFamily="34" charset="0"/>
                <a:ea typeface="Arial" pitchFamily="34" charset="-122"/>
                <a:cs typeface="Arial" pitchFamily="34" charset="-120"/>
              </a:rPr>
              <a:t>LOCATION </a:t>
            </a:r>
            <a:pPr algn="l" indent="0" marL="0">
              <a:lnSpc>
                <a:spcPct val="120000"/>
              </a:lnSpc>
              <a:buNone/>
            </a:pPr>
            <a:r>
              <a:rPr lang="en-US" sz="1800" dirty="0">
                <a:solidFill>
                  <a:srgbClr val="8EA0B5">
                    <a:alpha val="68000"/>
                  </a:srgbClr>
                </a:solidFill>
                <a:latin typeface="Arial" pitchFamily="34" charset="0"/>
                <a:ea typeface="Arial" pitchFamily="34" charset="-122"/>
                <a:cs typeface="Arial" pitchFamily="34" charset="-120"/>
              </a:rPr>
              <a:t>pointe sur le répertoire déjà peuplé : aucun </a:t>
            </a:r>
            <a:pPr algn="l" indent="0" marL="0">
              <a:lnSpc>
                <a:spcPct val="120000"/>
              </a:lnSpc>
              <a:buNone/>
            </a:pPr>
            <a:r>
              <a:rPr lang="en-US" sz="1800" dirty="0">
                <a:solidFill>
                  <a:srgbClr val="8EA0B5">
                    <a:alpha val="68000"/>
                  </a:srgbClr>
                </a:solidFill>
                <a:latin typeface="Courier New" pitchFamily="34" charset="0"/>
                <a:ea typeface="Courier New" pitchFamily="34" charset="-122"/>
                <a:cs typeface="Courier New" pitchFamily="34" charset="-120"/>
              </a:rPr>
              <a:t>LOAD DATA </a:t>
            </a:r>
            <a:pPr algn="l" indent="0" marL="0">
              <a:lnSpc>
                <a:spcPct val="120000"/>
              </a:lnSpc>
              <a:buNone/>
            </a:pPr>
            <a:r>
              <a:rPr lang="en-US" sz="1800" dirty="0">
                <a:solidFill>
                  <a:srgbClr val="8EA0B5">
                    <a:alpha val="68000"/>
                  </a:srgbClr>
                </a:solidFill>
                <a:latin typeface="Arial" pitchFamily="34" charset="0"/>
                <a:ea typeface="Arial" pitchFamily="34" charset="-122"/>
                <a:cs typeface="Arial" pitchFamily="34" charset="-120"/>
              </a:rPr>
              <a:t>nécessaire. Noter le classement des magasins — référence pour les ateliers 4.2 et 5.</a:t>
            </a:r>
            <a:endParaRPr lang="en-US" sz="1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A0E15"/>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55DCDC">
                  <a:alpha val="14000"/>
                </a:srgbClr>
              </a:gs>
              <a:gs pos="60000">
                <a:srgbClr val="55DCDC">
                  <a:alpha val="0"/>
                </a:srgbClr>
              </a:gs>
            </a:gsLst>
            <a:path path="circle">
              <a:fillToRect l="80000" t="8000" r="20000" b="92000"/>
            </a:path>
          </a:gradFill>
          <a:ln/>
        </p:spPr>
      </p:sp>
      <p:sp>
        <p:nvSpPr>
          <p:cNvPr id="3" name="Shape 1"/>
          <p:cNvSpPr/>
          <p:nvPr/>
        </p:nvSpPr>
        <p:spPr>
          <a:xfrm>
            <a:off x="1066800" y="819150"/>
            <a:ext cx="419100" cy="419100"/>
          </a:xfrm>
          <a:prstGeom prst="roundRect">
            <a:avLst>
              <a:gd name="adj" fmla="val 27273"/>
            </a:avLst>
          </a:prstGeom>
          <a:ln w="19050">
            <a:solidFill>
              <a:srgbClr val="56DBDB">
                <a:alpha val="97000"/>
              </a:srgbClr>
            </a:solidFill>
            <a:prstDash val="solid"/>
          </a:ln>
        </p:spPr>
      </p:sp>
      <p:sp>
        <p:nvSpPr>
          <p:cNvPr id="4" name="Text 2"/>
          <p:cNvSpPr/>
          <p:nvPr/>
        </p:nvSpPr>
        <p:spPr>
          <a:xfrm>
            <a:off x="1047750" y="838200"/>
            <a:ext cx="457200" cy="419100"/>
          </a:xfrm>
          <a:prstGeom prst="rect">
            <a:avLst/>
          </a:prstGeom>
          <a:noFill/>
          <a:ln/>
        </p:spPr>
        <p:txBody>
          <a:bodyPr wrap="square" lIns="25400" tIns="25400" rIns="25400" bIns="25400" rtlCol="0" anchor="ctr">
            <a:normAutofit/>
          </a:bodyPr>
          <a:lstStyle/>
          <a:p>
            <a:pPr algn="ctr" indent="0" marL="0">
              <a:buNone/>
            </a:pPr>
            <a:r>
              <a:rPr lang="en-US" sz="1950" spc="432" kern="0" dirty="0">
                <a:solidFill>
                  <a:srgbClr val="56DBDB">
                    <a:alpha val="97000"/>
                  </a:srgbClr>
                </a:solidFill>
                <a:latin typeface="Courier New" pitchFamily="34" charset="0"/>
                <a:ea typeface="Courier New" pitchFamily="34" charset="-122"/>
                <a:cs typeface="Courier New" pitchFamily="34" charset="-120"/>
              </a:rPr>
              <a:t>?</a:t>
            </a:r>
            <a:endParaRPr lang="en-US" sz="1950" dirty="0"/>
          </a:p>
        </p:txBody>
      </p:sp>
      <p:sp>
        <p:nvSpPr>
          <p:cNvPr id="5" name="Text 3"/>
          <p:cNvSpPr/>
          <p:nvPr/>
        </p:nvSpPr>
        <p:spPr>
          <a:xfrm>
            <a:off x="1638300" y="876300"/>
            <a:ext cx="3560178" cy="342900"/>
          </a:xfrm>
          <a:prstGeom prst="rect">
            <a:avLst/>
          </a:prstGeom>
          <a:noFill/>
          <a:ln/>
        </p:spPr>
        <p:txBody>
          <a:bodyPr wrap="square" lIns="0" tIns="0" rIns="0" bIns="0" rtlCol="0" anchor="t">
            <a:normAutofit/>
          </a:bodyPr>
          <a:lstStyle/>
          <a:p>
            <a:pPr algn="l" indent="0" marL="0">
              <a:buNone/>
            </a:pPr>
            <a:r>
              <a:rPr lang="en-US" sz="1800" spc="432" kern="0" dirty="0">
                <a:solidFill>
                  <a:srgbClr val="56DBDB">
                    <a:alpha val="97000"/>
                  </a:srgbClr>
                </a:solidFill>
                <a:latin typeface="Courier New" pitchFamily="34" charset="0"/>
                <a:ea typeface="Courier New" pitchFamily="34" charset="-122"/>
                <a:cs typeface="Courier New" pitchFamily="34" charset="-120"/>
              </a:rPr>
              <a:t>QUIZ · ATELIER 4.1</a:t>
            </a:r>
            <a:endParaRPr lang="en-US" sz="1800" dirty="0"/>
          </a:p>
        </p:txBody>
      </p:sp>
      <p:sp>
        <p:nvSpPr>
          <p:cNvPr id="6" name="Text 4"/>
          <p:cNvSpPr/>
          <p:nvPr/>
        </p:nvSpPr>
        <p:spPr>
          <a:xfrm>
            <a:off x="1066800" y="1428751"/>
            <a:ext cx="17769840"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Hadoop, HDFS &amp; YARN</a:t>
            </a:r>
            <a:endParaRPr lang="en-US" sz="4800" dirty="0"/>
          </a:p>
        </p:txBody>
      </p:sp>
      <p:sp>
        <p:nvSpPr>
          <p:cNvPr id="7" name="Text 5"/>
          <p:cNvSpPr/>
          <p:nvPr/>
        </p:nvSpPr>
        <p:spPr>
          <a:xfrm>
            <a:off x="1066800" y="2481760"/>
            <a:ext cx="8654415" cy="369491"/>
          </a:xfrm>
          <a:prstGeom prst="rect">
            <a:avLst/>
          </a:prstGeom>
          <a:noFill/>
          <a:ln/>
        </p:spPr>
        <p:txBody>
          <a:bodyPr wrap="square" lIns="25400" tIns="25400" rIns="25400" bIns="25400" rtlCol="0" anchor="t">
            <a:normAutofit/>
          </a:bodyPr>
          <a:lstStyle/>
          <a:p>
            <a:pPr algn="l" indent="0" marL="0">
              <a:lnSpc>
                <a:spcPct val="106531"/>
              </a:lnSpc>
              <a:buNone/>
            </a:pPr>
            <a:r>
              <a:rPr lang="en-US" sz="2175" b="1" dirty="0">
                <a:solidFill>
                  <a:srgbClr val="EEF3F9"/>
                </a:solidFill>
                <a:latin typeface="Arial" pitchFamily="34" charset="0"/>
                <a:ea typeface="Arial" pitchFamily="34" charset="-122"/>
                <a:cs typeface="Arial" pitchFamily="34" charset="-120"/>
              </a:rPr>
              <a:t>Que stocke le NameNode ?</a:t>
            </a:r>
            <a:endParaRPr lang="en-US" sz="2175" dirty="0"/>
          </a:p>
        </p:txBody>
      </p:sp>
      <p:sp>
        <p:nvSpPr>
          <p:cNvPr id="8" name="Shape 6"/>
          <p:cNvSpPr/>
          <p:nvPr/>
        </p:nvSpPr>
        <p:spPr>
          <a:xfrm>
            <a:off x="1066800" y="3022701"/>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9" name="Shape 7"/>
          <p:cNvSpPr/>
          <p:nvPr/>
        </p:nvSpPr>
        <p:spPr>
          <a:xfrm>
            <a:off x="1282700" y="3200501"/>
            <a:ext cx="323850" cy="323850"/>
          </a:xfrm>
          <a:prstGeom prst="roundRect">
            <a:avLst>
              <a:gd name="adj" fmla="val 23529"/>
            </a:avLst>
          </a:prstGeom>
          <a:solidFill>
            <a:srgbClr val="FFFFFF">
              <a:alpha val="6000"/>
            </a:srgbClr>
          </a:solidFill>
          <a:ln/>
        </p:spPr>
      </p:sp>
      <p:sp>
        <p:nvSpPr>
          <p:cNvPr id="10" name="Text 8"/>
          <p:cNvSpPr/>
          <p:nvPr/>
        </p:nvSpPr>
        <p:spPr>
          <a:xfrm>
            <a:off x="1244600" y="3200501"/>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solidFill>
                <a:latin typeface="Arial" pitchFamily="34" charset="0"/>
                <a:ea typeface="Arial" pitchFamily="34" charset="-122"/>
                <a:cs typeface="Arial" pitchFamily="34" charset="-120"/>
              </a:rPr>
              <a:t>A</a:t>
            </a:r>
            <a:endParaRPr lang="en-US" sz="1875" dirty="0"/>
          </a:p>
        </p:txBody>
      </p:sp>
      <p:sp>
        <p:nvSpPr>
          <p:cNvPr id="11" name="Text 9"/>
          <p:cNvSpPr/>
          <p:nvPr/>
        </p:nvSpPr>
        <p:spPr>
          <a:xfrm>
            <a:off x="1758950" y="3210026"/>
            <a:ext cx="4751546"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solidFill>
                <a:latin typeface="Arial" pitchFamily="34" charset="0"/>
                <a:ea typeface="Arial" pitchFamily="34" charset="-122"/>
                <a:cs typeface="Arial" pitchFamily="34" charset="-120"/>
              </a:rPr>
              <a:t>Le contenu de tous les blocs de données</a:t>
            </a:r>
            <a:endParaRPr lang="en-US" sz="1875" dirty="0"/>
          </a:p>
        </p:txBody>
      </p:sp>
      <p:sp>
        <p:nvSpPr>
          <p:cNvPr id="12" name="Shape 10"/>
          <p:cNvSpPr/>
          <p:nvPr/>
        </p:nvSpPr>
        <p:spPr>
          <a:xfrm>
            <a:off x="1066800" y="3835501"/>
            <a:ext cx="7867650" cy="965200"/>
          </a:xfrm>
          <a:prstGeom prst="roundRect">
            <a:avLst>
              <a:gd name="adj" fmla="val 11842"/>
            </a:avLst>
          </a:prstGeom>
          <a:solidFill>
            <a:srgbClr val="FFFFFF">
              <a:alpha val="3000"/>
            </a:srgbClr>
          </a:solidFill>
          <a:ln w="6350">
            <a:solidFill>
              <a:srgbClr val="FFFFFF">
                <a:alpha val="10000"/>
              </a:srgbClr>
            </a:solidFill>
            <a:prstDash val="solid"/>
          </a:ln>
        </p:spPr>
      </p:sp>
      <p:sp>
        <p:nvSpPr>
          <p:cNvPr id="13" name="Shape 11"/>
          <p:cNvSpPr/>
          <p:nvPr/>
        </p:nvSpPr>
        <p:spPr>
          <a:xfrm>
            <a:off x="1282700" y="4156176"/>
            <a:ext cx="309860" cy="323850"/>
          </a:xfrm>
          <a:prstGeom prst="roundRect">
            <a:avLst>
              <a:gd name="adj" fmla="val 24592"/>
            </a:avLst>
          </a:prstGeom>
          <a:solidFill>
            <a:srgbClr val="FFFFFF">
              <a:alpha val="6000"/>
            </a:srgbClr>
          </a:solidFill>
          <a:ln/>
        </p:spPr>
      </p:sp>
      <p:sp>
        <p:nvSpPr>
          <p:cNvPr id="14" name="Text 12"/>
          <p:cNvSpPr/>
          <p:nvPr/>
        </p:nvSpPr>
        <p:spPr>
          <a:xfrm>
            <a:off x="1244600" y="4156176"/>
            <a:ext cx="38606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solidFill>
                <a:latin typeface="Arial" pitchFamily="34" charset="0"/>
                <a:ea typeface="Arial" pitchFamily="34" charset="-122"/>
                <a:cs typeface="Arial" pitchFamily="34" charset="-120"/>
              </a:rPr>
              <a:t>B</a:t>
            </a:r>
            <a:endParaRPr lang="en-US" sz="1875" dirty="0"/>
          </a:p>
        </p:txBody>
      </p:sp>
      <p:sp>
        <p:nvSpPr>
          <p:cNvPr id="15" name="Text 13"/>
          <p:cNvSpPr/>
          <p:nvPr/>
        </p:nvSpPr>
        <p:spPr>
          <a:xfrm>
            <a:off x="1744960" y="4013301"/>
            <a:ext cx="7182798" cy="6477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solidFill>
                <a:latin typeface="Arial" pitchFamily="34" charset="0"/>
                <a:ea typeface="Arial" pitchFamily="34" charset="-122"/>
                <a:cs typeface="Arial" pitchFamily="34" charset="-120"/>
              </a:rPr>
              <a:t>Uniquement les métadonnées (arborescence, localisation des blocs)</a:t>
            </a:r>
            <a:endParaRPr lang="en-US" sz="1875" dirty="0"/>
          </a:p>
        </p:txBody>
      </p:sp>
      <p:sp>
        <p:nvSpPr>
          <p:cNvPr id="16" name="Shape 14"/>
          <p:cNvSpPr/>
          <p:nvPr/>
        </p:nvSpPr>
        <p:spPr>
          <a:xfrm>
            <a:off x="1066800" y="4934051"/>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17" name="Shape 15"/>
          <p:cNvSpPr/>
          <p:nvPr/>
        </p:nvSpPr>
        <p:spPr>
          <a:xfrm>
            <a:off x="1282700" y="5111851"/>
            <a:ext cx="323850" cy="323850"/>
          </a:xfrm>
          <a:prstGeom prst="roundRect">
            <a:avLst>
              <a:gd name="adj" fmla="val 23529"/>
            </a:avLst>
          </a:prstGeom>
          <a:solidFill>
            <a:srgbClr val="FFFFFF">
              <a:alpha val="6000"/>
            </a:srgbClr>
          </a:solidFill>
          <a:ln/>
        </p:spPr>
      </p:sp>
      <p:sp>
        <p:nvSpPr>
          <p:cNvPr id="18" name="Text 16"/>
          <p:cNvSpPr/>
          <p:nvPr/>
        </p:nvSpPr>
        <p:spPr>
          <a:xfrm>
            <a:off x="1244600" y="5111851"/>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solidFill>
                <a:latin typeface="Arial" pitchFamily="34" charset="0"/>
                <a:ea typeface="Arial" pitchFamily="34" charset="-122"/>
                <a:cs typeface="Arial" pitchFamily="34" charset="-120"/>
              </a:rPr>
              <a:t>C</a:t>
            </a:r>
            <a:endParaRPr lang="en-US" sz="1875" dirty="0"/>
          </a:p>
        </p:txBody>
      </p:sp>
      <p:sp>
        <p:nvSpPr>
          <p:cNvPr id="19" name="Text 17"/>
          <p:cNvSpPr/>
          <p:nvPr/>
        </p:nvSpPr>
        <p:spPr>
          <a:xfrm>
            <a:off x="1758950" y="5121376"/>
            <a:ext cx="3829090"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solidFill>
                <a:latin typeface="Arial" pitchFamily="34" charset="0"/>
                <a:ea typeface="Arial" pitchFamily="34" charset="-122"/>
                <a:cs typeface="Arial" pitchFamily="34" charset="-120"/>
              </a:rPr>
              <a:t>Rien, il ne fait que router le trafic</a:t>
            </a:r>
            <a:endParaRPr lang="en-US" sz="1875" dirty="0"/>
          </a:p>
        </p:txBody>
      </p:sp>
      <p:sp>
        <p:nvSpPr>
          <p:cNvPr id="20" name="Text 18"/>
          <p:cNvSpPr/>
          <p:nvPr/>
        </p:nvSpPr>
        <p:spPr>
          <a:xfrm>
            <a:off x="9353550" y="2483905"/>
            <a:ext cx="8654415" cy="369491"/>
          </a:xfrm>
          <a:prstGeom prst="rect">
            <a:avLst/>
          </a:prstGeom>
          <a:noFill/>
          <a:ln/>
        </p:spPr>
        <p:txBody>
          <a:bodyPr wrap="square" lIns="25400" tIns="25400" rIns="25400" bIns="25400" rtlCol="0" anchor="t">
            <a:normAutofit/>
          </a:bodyPr>
          <a:lstStyle/>
          <a:p>
            <a:pPr algn="l" indent="0" marL="0">
              <a:lnSpc>
                <a:spcPct val="106531"/>
              </a:lnSpc>
              <a:buNone/>
            </a:pPr>
            <a:r>
              <a:rPr lang="en-US" sz="2175" b="1" dirty="0">
                <a:solidFill>
                  <a:srgbClr val="EEF3F9">
                    <a:alpha val="99000"/>
                  </a:srgbClr>
                </a:solidFill>
                <a:latin typeface="Arial" pitchFamily="34" charset="0"/>
                <a:ea typeface="Arial" pitchFamily="34" charset="-122"/>
                <a:cs typeface="Arial" pitchFamily="34" charset="-120"/>
              </a:rPr>
              <a:t>Quelle est la taille de bloc HDFS par défaut ?</a:t>
            </a:r>
            <a:endParaRPr lang="en-US" sz="2175" dirty="0"/>
          </a:p>
        </p:txBody>
      </p:sp>
      <p:sp>
        <p:nvSpPr>
          <p:cNvPr id="21" name="Shape 19"/>
          <p:cNvSpPr/>
          <p:nvPr/>
        </p:nvSpPr>
        <p:spPr>
          <a:xfrm>
            <a:off x="9353550" y="3024846"/>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22" name="Shape 20"/>
          <p:cNvSpPr/>
          <p:nvPr/>
        </p:nvSpPr>
        <p:spPr>
          <a:xfrm>
            <a:off x="9569450" y="3202646"/>
            <a:ext cx="323850" cy="323850"/>
          </a:xfrm>
          <a:prstGeom prst="roundRect">
            <a:avLst>
              <a:gd name="adj" fmla="val 23529"/>
            </a:avLst>
          </a:prstGeom>
          <a:solidFill>
            <a:srgbClr val="FFFFFF">
              <a:alpha val="6000"/>
            </a:srgbClr>
          </a:solidFill>
          <a:ln/>
        </p:spPr>
      </p:sp>
      <p:sp>
        <p:nvSpPr>
          <p:cNvPr id="23" name="Text 21"/>
          <p:cNvSpPr/>
          <p:nvPr/>
        </p:nvSpPr>
        <p:spPr>
          <a:xfrm>
            <a:off x="9531350" y="3202646"/>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alpha val="99000"/>
                  </a:srgbClr>
                </a:solidFill>
                <a:latin typeface="Arial" pitchFamily="34" charset="0"/>
                <a:ea typeface="Arial" pitchFamily="34" charset="-122"/>
                <a:cs typeface="Arial" pitchFamily="34" charset="-120"/>
              </a:rPr>
              <a:t>A</a:t>
            </a:r>
            <a:endParaRPr lang="en-US" sz="1875" dirty="0"/>
          </a:p>
        </p:txBody>
      </p:sp>
      <p:sp>
        <p:nvSpPr>
          <p:cNvPr id="24" name="Text 22"/>
          <p:cNvSpPr/>
          <p:nvPr/>
        </p:nvSpPr>
        <p:spPr>
          <a:xfrm>
            <a:off x="10045701" y="3212171"/>
            <a:ext cx="602059"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alpha val="99000"/>
                  </a:srgbClr>
                </a:solidFill>
                <a:latin typeface="Arial" pitchFamily="34" charset="0"/>
                <a:ea typeface="Arial" pitchFamily="34" charset="-122"/>
                <a:cs typeface="Arial" pitchFamily="34" charset="-120"/>
              </a:rPr>
              <a:t>8 Mo</a:t>
            </a:r>
            <a:endParaRPr lang="en-US" sz="1875" dirty="0"/>
          </a:p>
        </p:txBody>
      </p:sp>
      <p:sp>
        <p:nvSpPr>
          <p:cNvPr id="25" name="Shape 23"/>
          <p:cNvSpPr/>
          <p:nvPr/>
        </p:nvSpPr>
        <p:spPr>
          <a:xfrm>
            <a:off x="9353550" y="3837646"/>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26" name="Shape 24"/>
          <p:cNvSpPr/>
          <p:nvPr/>
        </p:nvSpPr>
        <p:spPr>
          <a:xfrm>
            <a:off x="9569450" y="4015446"/>
            <a:ext cx="323850" cy="323850"/>
          </a:xfrm>
          <a:prstGeom prst="roundRect">
            <a:avLst>
              <a:gd name="adj" fmla="val 23529"/>
            </a:avLst>
          </a:prstGeom>
          <a:solidFill>
            <a:srgbClr val="FFFFFF">
              <a:alpha val="6000"/>
            </a:srgbClr>
          </a:solidFill>
          <a:ln/>
        </p:spPr>
      </p:sp>
      <p:sp>
        <p:nvSpPr>
          <p:cNvPr id="27" name="Text 25"/>
          <p:cNvSpPr/>
          <p:nvPr/>
        </p:nvSpPr>
        <p:spPr>
          <a:xfrm>
            <a:off x="9531350" y="4015446"/>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alpha val="99000"/>
                  </a:srgbClr>
                </a:solidFill>
                <a:latin typeface="Arial" pitchFamily="34" charset="0"/>
                <a:ea typeface="Arial" pitchFamily="34" charset="-122"/>
                <a:cs typeface="Arial" pitchFamily="34" charset="-120"/>
              </a:rPr>
              <a:t>B</a:t>
            </a:r>
            <a:endParaRPr lang="en-US" sz="1875" dirty="0"/>
          </a:p>
        </p:txBody>
      </p:sp>
      <p:sp>
        <p:nvSpPr>
          <p:cNvPr id="28" name="Text 26"/>
          <p:cNvSpPr/>
          <p:nvPr/>
        </p:nvSpPr>
        <p:spPr>
          <a:xfrm>
            <a:off x="10045701" y="4024971"/>
            <a:ext cx="887809"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alpha val="99000"/>
                  </a:srgbClr>
                </a:solidFill>
                <a:latin typeface="Arial" pitchFamily="34" charset="0"/>
                <a:ea typeface="Arial" pitchFamily="34" charset="-122"/>
                <a:cs typeface="Arial" pitchFamily="34" charset="-120"/>
              </a:rPr>
              <a:t>128 Mo</a:t>
            </a:r>
            <a:endParaRPr lang="en-US" sz="1875" dirty="0"/>
          </a:p>
        </p:txBody>
      </p:sp>
      <p:sp>
        <p:nvSpPr>
          <p:cNvPr id="29" name="Shape 27"/>
          <p:cNvSpPr/>
          <p:nvPr/>
        </p:nvSpPr>
        <p:spPr>
          <a:xfrm>
            <a:off x="9353550" y="4650446"/>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30" name="Shape 28"/>
          <p:cNvSpPr/>
          <p:nvPr/>
        </p:nvSpPr>
        <p:spPr>
          <a:xfrm>
            <a:off x="9569450" y="4828246"/>
            <a:ext cx="323850" cy="323850"/>
          </a:xfrm>
          <a:prstGeom prst="roundRect">
            <a:avLst>
              <a:gd name="adj" fmla="val 23529"/>
            </a:avLst>
          </a:prstGeom>
          <a:solidFill>
            <a:srgbClr val="FFFFFF">
              <a:alpha val="6000"/>
            </a:srgbClr>
          </a:solidFill>
          <a:ln/>
        </p:spPr>
      </p:sp>
      <p:sp>
        <p:nvSpPr>
          <p:cNvPr id="31" name="Text 29"/>
          <p:cNvSpPr/>
          <p:nvPr/>
        </p:nvSpPr>
        <p:spPr>
          <a:xfrm>
            <a:off x="9531350" y="4828246"/>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alpha val="99000"/>
                  </a:srgbClr>
                </a:solidFill>
                <a:latin typeface="Arial" pitchFamily="34" charset="0"/>
                <a:ea typeface="Arial" pitchFamily="34" charset="-122"/>
                <a:cs typeface="Arial" pitchFamily="34" charset="-120"/>
              </a:rPr>
              <a:t>C</a:t>
            </a:r>
            <a:endParaRPr lang="en-US" sz="1875" dirty="0"/>
          </a:p>
        </p:txBody>
      </p:sp>
      <p:sp>
        <p:nvSpPr>
          <p:cNvPr id="32" name="Text 30"/>
          <p:cNvSpPr/>
          <p:nvPr/>
        </p:nvSpPr>
        <p:spPr>
          <a:xfrm>
            <a:off x="10045701" y="4837771"/>
            <a:ext cx="574179"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alpha val="99000"/>
                  </a:srgbClr>
                </a:solidFill>
                <a:latin typeface="Arial" pitchFamily="34" charset="0"/>
                <a:ea typeface="Arial" pitchFamily="34" charset="-122"/>
                <a:cs typeface="Arial" pitchFamily="34" charset="-120"/>
              </a:rPr>
              <a:t>2 Go</a:t>
            </a:r>
            <a:endParaRPr lang="en-US" sz="1875"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0A0E15"/>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55DCDC">
                  <a:alpha val="14000"/>
                </a:srgbClr>
              </a:gs>
              <a:gs pos="60000">
                <a:srgbClr val="55DCDC">
                  <a:alpha val="0"/>
                </a:srgbClr>
              </a:gs>
            </a:gsLst>
            <a:path path="circle">
              <a:fillToRect l="80000" t="8000" r="20000" b="92000"/>
            </a:path>
          </a:gradFill>
          <a:ln/>
        </p:spPr>
      </p:sp>
      <p:sp>
        <p:nvSpPr>
          <p:cNvPr id="3" name="Shape 1"/>
          <p:cNvSpPr/>
          <p:nvPr/>
        </p:nvSpPr>
        <p:spPr>
          <a:xfrm>
            <a:off x="1066800" y="819150"/>
            <a:ext cx="419100" cy="419100"/>
          </a:xfrm>
          <a:prstGeom prst="roundRect">
            <a:avLst>
              <a:gd name="adj" fmla="val 27273"/>
            </a:avLst>
          </a:prstGeom>
          <a:ln w="19050">
            <a:solidFill>
              <a:srgbClr val="56DBDB">
                <a:alpha val="97000"/>
              </a:srgbClr>
            </a:solidFill>
            <a:prstDash val="solid"/>
          </a:ln>
        </p:spPr>
      </p:sp>
      <p:sp>
        <p:nvSpPr>
          <p:cNvPr id="4" name="Text 2"/>
          <p:cNvSpPr/>
          <p:nvPr/>
        </p:nvSpPr>
        <p:spPr>
          <a:xfrm>
            <a:off x="1047750" y="838200"/>
            <a:ext cx="457200" cy="419100"/>
          </a:xfrm>
          <a:prstGeom prst="rect">
            <a:avLst/>
          </a:prstGeom>
          <a:noFill/>
          <a:ln/>
        </p:spPr>
        <p:txBody>
          <a:bodyPr wrap="square" lIns="25400" tIns="25400" rIns="25400" bIns="25400" rtlCol="0" anchor="ctr">
            <a:normAutofit/>
          </a:bodyPr>
          <a:lstStyle/>
          <a:p>
            <a:pPr algn="ctr" indent="0" marL="0">
              <a:buNone/>
            </a:pPr>
            <a:r>
              <a:rPr lang="en-US" sz="1950" spc="432" kern="0" dirty="0">
                <a:solidFill>
                  <a:srgbClr val="56DBDB">
                    <a:alpha val="97000"/>
                  </a:srgbClr>
                </a:solidFill>
                <a:latin typeface="Courier New" pitchFamily="34" charset="0"/>
                <a:ea typeface="Courier New" pitchFamily="34" charset="-122"/>
                <a:cs typeface="Courier New" pitchFamily="34" charset="-120"/>
              </a:rPr>
              <a:t>✓</a:t>
            </a:r>
            <a:endParaRPr lang="en-US" sz="1950" dirty="0"/>
          </a:p>
        </p:txBody>
      </p:sp>
      <p:sp>
        <p:nvSpPr>
          <p:cNvPr id="5" name="Text 3"/>
          <p:cNvSpPr/>
          <p:nvPr/>
        </p:nvSpPr>
        <p:spPr>
          <a:xfrm>
            <a:off x="1638300" y="876300"/>
            <a:ext cx="4746870" cy="342900"/>
          </a:xfrm>
          <a:prstGeom prst="rect">
            <a:avLst/>
          </a:prstGeom>
          <a:noFill/>
          <a:ln/>
        </p:spPr>
        <p:txBody>
          <a:bodyPr wrap="square" lIns="0" tIns="0" rIns="0" bIns="0" rtlCol="0" anchor="t">
            <a:normAutofit/>
          </a:bodyPr>
          <a:lstStyle/>
          <a:p>
            <a:pPr algn="l" indent="0" marL="0">
              <a:buNone/>
            </a:pPr>
            <a:r>
              <a:rPr lang="en-US" sz="1800" spc="432" kern="0" dirty="0">
                <a:solidFill>
                  <a:srgbClr val="56DBDB">
                    <a:alpha val="97000"/>
                  </a:srgbClr>
                </a:solidFill>
                <a:latin typeface="Courier New" pitchFamily="34" charset="0"/>
                <a:ea typeface="Courier New" pitchFamily="34" charset="-122"/>
                <a:cs typeface="Courier New" pitchFamily="34" charset="-120"/>
              </a:rPr>
              <a:t>CORRECTION · ATELIER 4.1</a:t>
            </a:r>
            <a:endParaRPr lang="en-US" sz="1800" dirty="0"/>
          </a:p>
        </p:txBody>
      </p:sp>
      <p:sp>
        <p:nvSpPr>
          <p:cNvPr id="6" name="Text 4"/>
          <p:cNvSpPr/>
          <p:nvPr/>
        </p:nvSpPr>
        <p:spPr>
          <a:xfrm>
            <a:off x="1066800" y="1428751"/>
            <a:ext cx="17769840"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Hadoop, HDFS &amp; YARN</a:t>
            </a:r>
            <a:endParaRPr lang="en-US" sz="4800" dirty="0"/>
          </a:p>
        </p:txBody>
      </p:sp>
      <p:sp>
        <p:nvSpPr>
          <p:cNvPr id="7" name="Text 5"/>
          <p:cNvSpPr/>
          <p:nvPr/>
        </p:nvSpPr>
        <p:spPr>
          <a:xfrm>
            <a:off x="1066800" y="2481760"/>
            <a:ext cx="8654415" cy="369491"/>
          </a:xfrm>
          <a:prstGeom prst="rect">
            <a:avLst/>
          </a:prstGeom>
          <a:noFill/>
          <a:ln/>
        </p:spPr>
        <p:txBody>
          <a:bodyPr wrap="square" lIns="25400" tIns="25400" rIns="25400" bIns="25400" rtlCol="0" anchor="t">
            <a:normAutofit/>
          </a:bodyPr>
          <a:lstStyle/>
          <a:p>
            <a:pPr algn="l" indent="0" marL="0">
              <a:lnSpc>
                <a:spcPct val="106531"/>
              </a:lnSpc>
              <a:buNone/>
            </a:pPr>
            <a:r>
              <a:rPr lang="en-US" sz="2175" b="1" dirty="0">
                <a:solidFill>
                  <a:srgbClr val="EEF3F9"/>
                </a:solidFill>
                <a:latin typeface="Arial" pitchFamily="34" charset="0"/>
                <a:ea typeface="Arial" pitchFamily="34" charset="-122"/>
                <a:cs typeface="Arial" pitchFamily="34" charset="-120"/>
              </a:rPr>
              <a:t>Que stocke le NameNode ?</a:t>
            </a:r>
            <a:endParaRPr lang="en-US" sz="2175" dirty="0"/>
          </a:p>
        </p:txBody>
      </p:sp>
      <p:sp>
        <p:nvSpPr>
          <p:cNvPr id="8" name="Shape 6"/>
          <p:cNvSpPr/>
          <p:nvPr/>
        </p:nvSpPr>
        <p:spPr>
          <a:xfrm>
            <a:off x="1066800" y="3022701"/>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9" name="Shape 7"/>
          <p:cNvSpPr/>
          <p:nvPr/>
        </p:nvSpPr>
        <p:spPr>
          <a:xfrm>
            <a:off x="1282700" y="3200501"/>
            <a:ext cx="323850" cy="323850"/>
          </a:xfrm>
          <a:prstGeom prst="roundRect">
            <a:avLst>
              <a:gd name="adj" fmla="val 23529"/>
            </a:avLst>
          </a:prstGeom>
          <a:solidFill>
            <a:srgbClr val="FFFFFF">
              <a:alpha val="6000"/>
            </a:srgbClr>
          </a:solidFill>
          <a:ln/>
        </p:spPr>
      </p:sp>
      <p:sp>
        <p:nvSpPr>
          <p:cNvPr id="10" name="Text 8"/>
          <p:cNvSpPr/>
          <p:nvPr/>
        </p:nvSpPr>
        <p:spPr>
          <a:xfrm>
            <a:off x="1244600" y="3200501"/>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solidFill>
                <a:latin typeface="Arial" pitchFamily="34" charset="0"/>
                <a:ea typeface="Arial" pitchFamily="34" charset="-122"/>
                <a:cs typeface="Arial" pitchFamily="34" charset="-120"/>
              </a:rPr>
              <a:t>A</a:t>
            </a:r>
            <a:endParaRPr lang="en-US" sz="1875" dirty="0"/>
          </a:p>
        </p:txBody>
      </p:sp>
      <p:sp>
        <p:nvSpPr>
          <p:cNvPr id="11" name="Text 9"/>
          <p:cNvSpPr/>
          <p:nvPr/>
        </p:nvSpPr>
        <p:spPr>
          <a:xfrm>
            <a:off x="1758950" y="3210026"/>
            <a:ext cx="4751546"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solidFill>
                <a:latin typeface="Arial" pitchFamily="34" charset="0"/>
                <a:ea typeface="Arial" pitchFamily="34" charset="-122"/>
                <a:cs typeface="Arial" pitchFamily="34" charset="-120"/>
              </a:rPr>
              <a:t>Le contenu de tous les blocs de données</a:t>
            </a:r>
            <a:endParaRPr lang="en-US" sz="1875" dirty="0"/>
          </a:p>
        </p:txBody>
      </p:sp>
      <p:sp>
        <p:nvSpPr>
          <p:cNvPr id="12" name="Shape 10"/>
          <p:cNvSpPr/>
          <p:nvPr/>
        </p:nvSpPr>
        <p:spPr>
          <a:xfrm>
            <a:off x="1066800" y="3835501"/>
            <a:ext cx="7867650" cy="965200"/>
          </a:xfrm>
          <a:prstGeom prst="roundRect">
            <a:avLst>
              <a:gd name="adj" fmla="val 11842"/>
            </a:avLst>
          </a:prstGeom>
          <a:gradFill rotWithShape="1">
            <a:gsLst>
              <a:gs pos="0">
                <a:srgbClr val="55DCDC">
                  <a:alpha val="20000"/>
                </a:srgbClr>
              </a:gs>
              <a:gs pos="100000">
                <a:srgbClr val="FFFFFF">
                  <a:alpha val="3000"/>
                </a:srgbClr>
              </a:gs>
            </a:gsLst>
            <a:lin ang="4200000" scaled="0"/>
          </a:gradFill>
          <a:ln w="6350">
            <a:solidFill>
              <a:srgbClr val="73E0E0">
                <a:alpha val="48000"/>
              </a:srgbClr>
            </a:solidFill>
            <a:prstDash val="solid"/>
          </a:ln>
        </p:spPr>
      </p:sp>
      <p:sp>
        <p:nvSpPr>
          <p:cNvPr id="13" name="Shape 11"/>
          <p:cNvSpPr/>
          <p:nvPr/>
        </p:nvSpPr>
        <p:spPr>
          <a:xfrm>
            <a:off x="1282700" y="4156176"/>
            <a:ext cx="295473" cy="323850"/>
          </a:xfrm>
          <a:prstGeom prst="roundRect">
            <a:avLst>
              <a:gd name="adj" fmla="val 25789"/>
            </a:avLst>
          </a:prstGeom>
          <a:solidFill>
            <a:srgbClr val="56DBDB"/>
          </a:solidFill>
          <a:ln/>
        </p:spPr>
      </p:sp>
      <p:sp>
        <p:nvSpPr>
          <p:cNvPr id="14" name="Text 12"/>
          <p:cNvSpPr/>
          <p:nvPr/>
        </p:nvSpPr>
        <p:spPr>
          <a:xfrm>
            <a:off x="1244600" y="4156176"/>
            <a:ext cx="371673"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04070C"/>
                </a:solidFill>
                <a:latin typeface="Arial" pitchFamily="34" charset="0"/>
                <a:ea typeface="Arial" pitchFamily="34" charset="-122"/>
                <a:cs typeface="Arial" pitchFamily="34" charset="-120"/>
              </a:rPr>
              <a:t>B</a:t>
            </a:r>
            <a:endParaRPr lang="en-US" sz="1875" dirty="0"/>
          </a:p>
        </p:txBody>
      </p:sp>
      <p:sp>
        <p:nvSpPr>
          <p:cNvPr id="15" name="Text 13"/>
          <p:cNvSpPr/>
          <p:nvPr/>
        </p:nvSpPr>
        <p:spPr>
          <a:xfrm>
            <a:off x="1730573" y="4013301"/>
            <a:ext cx="6849539" cy="647700"/>
          </a:xfrm>
          <a:prstGeom prst="rect">
            <a:avLst/>
          </a:prstGeom>
          <a:noFill/>
          <a:ln/>
        </p:spPr>
        <p:txBody>
          <a:bodyPr wrap="square" lIns="25400" tIns="25400" rIns="25400" bIns="25400" rtlCol="0" anchor="t">
            <a:normAutofit/>
          </a:bodyPr>
          <a:lstStyle/>
          <a:p>
            <a:pPr algn="l" indent="0" marL="0">
              <a:buNone/>
            </a:pPr>
            <a:r>
              <a:rPr lang="en-US" sz="1875" dirty="0">
                <a:solidFill>
                  <a:srgbClr val="EEF3F9"/>
                </a:solidFill>
                <a:latin typeface="Arial" pitchFamily="34" charset="0"/>
                <a:ea typeface="Arial" pitchFamily="34" charset="-122"/>
                <a:cs typeface="Arial" pitchFamily="34" charset="-120"/>
              </a:rPr>
              <a:t>Uniquement les métadonnées (arborescence, localisation des blocs)</a:t>
            </a:r>
            <a:endParaRPr lang="en-US" sz="1875" dirty="0"/>
          </a:p>
        </p:txBody>
      </p:sp>
      <p:sp>
        <p:nvSpPr>
          <p:cNvPr id="16" name="Text 14"/>
          <p:cNvSpPr/>
          <p:nvPr/>
        </p:nvSpPr>
        <p:spPr>
          <a:xfrm>
            <a:off x="8533011" y="4149826"/>
            <a:ext cx="261739" cy="374650"/>
          </a:xfrm>
          <a:prstGeom prst="rect">
            <a:avLst/>
          </a:prstGeom>
          <a:noFill/>
          <a:ln/>
        </p:spPr>
        <p:txBody>
          <a:bodyPr wrap="square" lIns="25400" tIns="25400" rIns="25400" bIns="25400" rtlCol="0" anchor="t">
            <a:normAutofit/>
          </a:bodyPr>
          <a:lstStyle/>
          <a:p>
            <a:pPr algn="l" indent="0" marL="0">
              <a:buNone/>
            </a:pPr>
            <a:r>
              <a:rPr lang="en-US" sz="1950" dirty="0">
                <a:solidFill>
                  <a:srgbClr val="56DBDB"/>
                </a:solidFill>
                <a:latin typeface="Arial" pitchFamily="34" charset="0"/>
                <a:ea typeface="Arial" pitchFamily="34" charset="-122"/>
                <a:cs typeface="Arial" pitchFamily="34" charset="-120"/>
              </a:rPr>
              <a:t>✓</a:t>
            </a:r>
            <a:endParaRPr lang="en-US" sz="1950" dirty="0"/>
          </a:p>
        </p:txBody>
      </p:sp>
      <p:sp>
        <p:nvSpPr>
          <p:cNvPr id="17" name="Shape 15"/>
          <p:cNvSpPr/>
          <p:nvPr/>
        </p:nvSpPr>
        <p:spPr>
          <a:xfrm>
            <a:off x="1066800" y="4934051"/>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18" name="Shape 16"/>
          <p:cNvSpPr/>
          <p:nvPr/>
        </p:nvSpPr>
        <p:spPr>
          <a:xfrm>
            <a:off x="1282700" y="5111851"/>
            <a:ext cx="323850" cy="323850"/>
          </a:xfrm>
          <a:prstGeom prst="roundRect">
            <a:avLst>
              <a:gd name="adj" fmla="val 23529"/>
            </a:avLst>
          </a:prstGeom>
          <a:solidFill>
            <a:srgbClr val="FFFFFF">
              <a:alpha val="6000"/>
            </a:srgbClr>
          </a:solidFill>
          <a:ln/>
        </p:spPr>
      </p:sp>
      <p:sp>
        <p:nvSpPr>
          <p:cNvPr id="19" name="Text 17"/>
          <p:cNvSpPr/>
          <p:nvPr/>
        </p:nvSpPr>
        <p:spPr>
          <a:xfrm>
            <a:off x="1244600" y="5111851"/>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solidFill>
                <a:latin typeface="Arial" pitchFamily="34" charset="0"/>
                <a:ea typeface="Arial" pitchFamily="34" charset="-122"/>
                <a:cs typeface="Arial" pitchFamily="34" charset="-120"/>
              </a:rPr>
              <a:t>C</a:t>
            </a:r>
            <a:endParaRPr lang="en-US" sz="1875" dirty="0"/>
          </a:p>
        </p:txBody>
      </p:sp>
      <p:sp>
        <p:nvSpPr>
          <p:cNvPr id="20" name="Text 18"/>
          <p:cNvSpPr/>
          <p:nvPr/>
        </p:nvSpPr>
        <p:spPr>
          <a:xfrm>
            <a:off x="1758950" y="5121376"/>
            <a:ext cx="3829090"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solidFill>
                <a:latin typeface="Arial" pitchFamily="34" charset="0"/>
                <a:ea typeface="Arial" pitchFamily="34" charset="-122"/>
                <a:cs typeface="Arial" pitchFamily="34" charset="-120"/>
              </a:rPr>
              <a:t>Rien, il ne fait que router le trafic</a:t>
            </a:r>
            <a:endParaRPr lang="en-US" sz="1875" dirty="0"/>
          </a:p>
        </p:txBody>
      </p:sp>
      <p:sp>
        <p:nvSpPr>
          <p:cNvPr id="21" name="Text 19"/>
          <p:cNvSpPr/>
          <p:nvPr/>
        </p:nvSpPr>
        <p:spPr>
          <a:xfrm>
            <a:off x="9353550" y="2483903"/>
            <a:ext cx="8654415" cy="369491"/>
          </a:xfrm>
          <a:prstGeom prst="rect">
            <a:avLst/>
          </a:prstGeom>
          <a:noFill/>
          <a:ln/>
        </p:spPr>
        <p:txBody>
          <a:bodyPr wrap="square" lIns="25400" tIns="25400" rIns="25400" bIns="25400" rtlCol="0" anchor="t">
            <a:normAutofit/>
          </a:bodyPr>
          <a:lstStyle/>
          <a:p>
            <a:pPr algn="l" indent="0" marL="0">
              <a:lnSpc>
                <a:spcPct val="106531"/>
              </a:lnSpc>
              <a:buNone/>
            </a:pPr>
            <a:r>
              <a:rPr lang="en-US" sz="2175" b="1" dirty="0">
                <a:solidFill>
                  <a:srgbClr val="EEF3F9">
                    <a:alpha val="99000"/>
                  </a:srgbClr>
                </a:solidFill>
                <a:latin typeface="Arial" pitchFamily="34" charset="0"/>
                <a:ea typeface="Arial" pitchFamily="34" charset="-122"/>
                <a:cs typeface="Arial" pitchFamily="34" charset="-120"/>
              </a:rPr>
              <a:t>Quelle est la taille de bloc HDFS par défaut ?</a:t>
            </a:r>
            <a:endParaRPr lang="en-US" sz="2175" dirty="0"/>
          </a:p>
        </p:txBody>
      </p:sp>
      <p:sp>
        <p:nvSpPr>
          <p:cNvPr id="22" name="Shape 20"/>
          <p:cNvSpPr/>
          <p:nvPr/>
        </p:nvSpPr>
        <p:spPr>
          <a:xfrm>
            <a:off x="9353550" y="3024844"/>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23" name="Shape 21"/>
          <p:cNvSpPr/>
          <p:nvPr/>
        </p:nvSpPr>
        <p:spPr>
          <a:xfrm>
            <a:off x="9569450" y="3202644"/>
            <a:ext cx="323850" cy="323850"/>
          </a:xfrm>
          <a:prstGeom prst="roundRect">
            <a:avLst>
              <a:gd name="adj" fmla="val 23529"/>
            </a:avLst>
          </a:prstGeom>
          <a:solidFill>
            <a:srgbClr val="FFFFFF">
              <a:alpha val="6000"/>
            </a:srgbClr>
          </a:solidFill>
          <a:ln/>
        </p:spPr>
      </p:sp>
      <p:sp>
        <p:nvSpPr>
          <p:cNvPr id="24" name="Text 22"/>
          <p:cNvSpPr/>
          <p:nvPr/>
        </p:nvSpPr>
        <p:spPr>
          <a:xfrm>
            <a:off x="9531350" y="3202644"/>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alpha val="99000"/>
                  </a:srgbClr>
                </a:solidFill>
                <a:latin typeface="Arial" pitchFamily="34" charset="0"/>
                <a:ea typeface="Arial" pitchFamily="34" charset="-122"/>
                <a:cs typeface="Arial" pitchFamily="34" charset="-120"/>
              </a:rPr>
              <a:t>A</a:t>
            </a:r>
            <a:endParaRPr lang="en-US" sz="1875" dirty="0"/>
          </a:p>
        </p:txBody>
      </p:sp>
      <p:sp>
        <p:nvSpPr>
          <p:cNvPr id="25" name="Text 23"/>
          <p:cNvSpPr/>
          <p:nvPr/>
        </p:nvSpPr>
        <p:spPr>
          <a:xfrm>
            <a:off x="10045701" y="3212169"/>
            <a:ext cx="602059"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alpha val="99000"/>
                  </a:srgbClr>
                </a:solidFill>
                <a:latin typeface="Arial" pitchFamily="34" charset="0"/>
                <a:ea typeface="Arial" pitchFamily="34" charset="-122"/>
                <a:cs typeface="Arial" pitchFamily="34" charset="-120"/>
              </a:rPr>
              <a:t>8 Mo</a:t>
            </a:r>
            <a:endParaRPr lang="en-US" sz="1875" dirty="0"/>
          </a:p>
        </p:txBody>
      </p:sp>
      <p:sp>
        <p:nvSpPr>
          <p:cNvPr id="26" name="Shape 24"/>
          <p:cNvSpPr/>
          <p:nvPr/>
        </p:nvSpPr>
        <p:spPr>
          <a:xfrm>
            <a:off x="9353550" y="3837644"/>
            <a:ext cx="7867650" cy="692150"/>
          </a:xfrm>
          <a:prstGeom prst="roundRect">
            <a:avLst>
              <a:gd name="adj" fmla="val 16514"/>
            </a:avLst>
          </a:prstGeom>
          <a:gradFill rotWithShape="1">
            <a:gsLst>
              <a:gs pos="0">
                <a:srgbClr val="55DCDC">
                  <a:alpha val="20000"/>
                </a:srgbClr>
              </a:gs>
              <a:gs pos="100000">
                <a:srgbClr val="FFFFFF">
                  <a:alpha val="3000"/>
                </a:srgbClr>
              </a:gs>
            </a:gsLst>
            <a:lin ang="4200000" scaled="0"/>
          </a:gradFill>
          <a:ln w="6350">
            <a:solidFill>
              <a:srgbClr val="73E0E0">
                <a:alpha val="47000"/>
              </a:srgbClr>
            </a:solidFill>
            <a:prstDash val="solid"/>
          </a:ln>
        </p:spPr>
      </p:sp>
      <p:sp>
        <p:nvSpPr>
          <p:cNvPr id="27" name="Shape 25"/>
          <p:cNvSpPr/>
          <p:nvPr/>
        </p:nvSpPr>
        <p:spPr>
          <a:xfrm>
            <a:off x="9569450" y="4021794"/>
            <a:ext cx="323850" cy="323850"/>
          </a:xfrm>
          <a:prstGeom prst="roundRect">
            <a:avLst>
              <a:gd name="adj" fmla="val 23529"/>
            </a:avLst>
          </a:prstGeom>
          <a:solidFill>
            <a:srgbClr val="56DBDB">
              <a:alpha val="99000"/>
            </a:srgbClr>
          </a:solidFill>
          <a:ln/>
        </p:spPr>
      </p:sp>
      <p:sp>
        <p:nvSpPr>
          <p:cNvPr id="28" name="Text 26"/>
          <p:cNvSpPr/>
          <p:nvPr/>
        </p:nvSpPr>
        <p:spPr>
          <a:xfrm>
            <a:off x="9531350" y="4021794"/>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04070C">
                    <a:alpha val="99000"/>
                  </a:srgbClr>
                </a:solidFill>
                <a:latin typeface="Arial" pitchFamily="34" charset="0"/>
                <a:ea typeface="Arial" pitchFamily="34" charset="-122"/>
                <a:cs typeface="Arial" pitchFamily="34" charset="-120"/>
              </a:rPr>
              <a:t>B</a:t>
            </a:r>
            <a:endParaRPr lang="en-US" sz="1875" dirty="0"/>
          </a:p>
        </p:txBody>
      </p:sp>
      <p:sp>
        <p:nvSpPr>
          <p:cNvPr id="29" name="Text 27"/>
          <p:cNvSpPr/>
          <p:nvPr/>
        </p:nvSpPr>
        <p:spPr>
          <a:xfrm>
            <a:off x="10045701" y="4031319"/>
            <a:ext cx="887809" cy="342900"/>
          </a:xfrm>
          <a:prstGeom prst="rect">
            <a:avLst/>
          </a:prstGeom>
          <a:noFill/>
          <a:ln/>
        </p:spPr>
        <p:txBody>
          <a:bodyPr wrap="square" lIns="25400" tIns="25400" rIns="25400" bIns="25400" rtlCol="0" anchor="t">
            <a:normAutofit/>
          </a:bodyPr>
          <a:lstStyle/>
          <a:p>
            <a:pPr algn="l" indent="0" marL="0">
              <a:buNone/>
            </a:pPr>
            <a:r>
              <a:rPr lang="en-US" sz="1875" dirty="0">
                <a:solidFill>
                  <a:srgbClr val="EEF3F9">
                    <a:alpha val="99000"/>
                  </a:srgbClr>
                </a:solidFill>
                <a:latin typeface="Arial" pitchFamily="34" charset="0"/>
                <a:ea typeface="Arial" pitchFamily="34" charset="-122"/>
                <a:cs typeface="Arial" pitchFamily="34" charset="-120"/>
              </a:rPr>
              <a:t>128 Mo</a:t>
            </a:r>
            <a:endParaRPr lang="en-US" sz="1875" dirty="0"/>
          </a:p>
        </p:txBody>
      </p:sp>
      <p:sp>
        <p:nvSpPr>
          <p:cNvPr id="30" name="Text 28"/>
          <p:cNvSpPr/>
          <p:nvPr/>
        </p:nvSpPr>
        <p:spPr>
          <a:xfrm>
            <a:off x="16819762" y="4015444"/>
            <a:ext cx="261739" cy="374650"/>
          </a:xfrm>
          <a:prstGeom prst="rect">
            <a:avLst/>
          </a:prstGeom>
          <a:noFill/>
          <a:ln/>
        </p:spPr>
        <p:txBody>
          <a:bodyPr wrap="square" lIns="25400" tIns="25400" rIns="25400" bIns="25400" rtlCol="0" anchor="t">
            <a:normAutofit/>
          </a:bodyPr>
          <a:lstStyle/>
          <a:p>
            <a:pPr algn="l" indent="0" marL="0">
              <a:buNone/>
            </a:pPr>
            <a:r>
              <a:rPr lang="en-US" sz="1950" dirty="0">
                <a:solidFill>
                  <a:srgbClr val="56DBDB">
                    <a:alpha val="99000"/>
                  </a:srgbClr>
                </a:solidFill>
                <a:latin typeface="Arial" pitchFamily="34" charset="0"/>
                <a:ea typeface="Arial" pitchFamily="34" charset="-122"/>
                <a:cs typeface="Arial" pitchFamily="34" charset="-120"/>
              </a:rPr>
              <a:t>✓</a:t>
            </a:r>
            <a:endParaRPr lang="en-US" sz="1950" dirty="0"/>
          </a:p>
        </p:txBody>
      </p:sp>
      <p:sp>
        <p:nvSpPr>
          <p:cNvPr id="31" name="Shape 29"/>
          <p:cNvSpPr/>
          <p:nvPr/>
        </p:nvSpPr>
        <p:spPr>
          <a:xfrm>
            <a:off x="9353550" y="4663144"/>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32" name="Shape 30"/>
          <p:cNvSpPr/>
          <p:nvPr/>
        </p:nvSpPr>
        <p:spPr>
          <a:xfrm>
            <a:off x="9569450" y="4840944"/>
            <a:ext cx="323850" cy="323850"/>
          </a:xfrm>
          <a:prstGeom prst="roundRect">
            <a:avLst>
              <a:gd name="adj" fmla="val 23529"/>
            </a:avLst>
          </a:prstGeom>
          <a:solidFill>
            <a:srgbClr val="FFFFFF">
              <a:alpha val="6000"/>
            </a:srgbClr>
          </a:solidFill>
          <a:ln/>
        </p:spPr>
      </p:sp>
      <p:sp>
        <p:nvSpPr>
          <p:cNvPr id="33" name="Text 31"/>
          <p:cNvSpPr/>
          <p:nvPr/>
        </p:nvSpPr>
        <p:spPr>
          <a:xfrm>
            <a:off x="9531350" y="4840944"/>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alpha val="99000"/>
                  </a:srgbClr>
                </a:solidFill>
                <a:latin typeface="Arial" pitchFamily="34" charset="0"/>
                <a:ea typeface="Arial" pitchFamily="34" charset="-122"/>
                <a:cs typeface="Arial" pitchFamily="34" charset="-120"/>
              </a:rPr>
              <a:t>C</a:t>
            </a:r>
            <a:endParaRPr lang="en-US" sz="1875" dirty="0"/>
          </a:p>
        </p:txBody>
      </p:sp>
      <p:sp>
        <p:nvSpPr>
          <p:cNvPr id="34" name="Text 32"/>
          <p:cNvSpPr/>
          <p:nvPr/>
        </p:nvSpPr>
        <p:spPr>
          <a:xfrm>
            <a:off x="10045701" y="4850469"/>
            <a:ext cx="574179"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alpha val="99000"/>
                  </a:srgbClr>
                </a:solidFill>
                <a:latin typeface="Arial" pitchFamily="34" charset="0"/>
                <a:ea typeface="Arial" pitchFamily="34" charset="-122"/>
                <a:cs typeface="Arial" pitchFamily="34" charset="-120"/>
              </a:rPr>
              <a:t>2 Go</a:t>
            </a:r>
            <a:endParaRPr lang="en-US" sz="1875"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0C121C"/>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55DCDC">
                  <a:alpha val="20000"/>
                </a:srgbClr>
              </a:gs>
              <a:gs pos="60000">
                <a:srgbClr val="55DCDC">
                  <a:alpha val="0"/>
                </a:srgbClr>
              </a:gs>
            </a:gsLst>
            <a:path path="circle">
              <a:fillToRect l="22000" t="34000" r="78000" b="66000"/>
            </a:path>
          </a:gradFill>
          <a:ln/>
        </p:spPr>
      </p:sp>
      <p:sp>
        <p:nvSpPr>
          <p:cNvPr id="3" name="Text 1"/>
          <p:cNvSpPr/>
          <p:nvPr/>
        </p:nvSpPr>
        <p:spPr>
          <a:xfrm>
            <a:off x="1066800" y="2504579"/>
            <a:ext cx="17769840" cy="368300"/>
          </a:xfrm>
          <a:prstGeom prst="rect">
            <a:avLst/>
          </a:prstGeom>
          <a:noFill/>
          <a:ln/>
        </p:spPr>
        <p:txBody>
          <a:bodyPr wrap="square" lIns="25400" tIns="25400" rIns="25400" bIns="25400" rtlCol="0" anchor="t">
            <a:normAutofit/>
          </a:bodyPr>
          <a:lstStyle/>
          <a:p>
            <a:pPr algn="l" indent="0" marL="0">
              <a:buNone/>
            </a:pPr>
            <a:r>
              <a:rPr lang="en-US" sz="1950" spc="546" kern="0" dirty="0">
                <a:solidFill>
                  <a:srgbClr val="56DBDB">
                    <a:alpha val="97000"/>
                  </a:srgbClr>
                </a:solidFill>
                <a:latin typeface="Courier New" pitchFamily="34" charset="0"/>
                <a:ea typeface="Courier New" pitchFamily="34" charset="-122"/>
                <a:cs typeface="Courier New" pitchFamily="34" charset="-120"/>
              </a:rPr>
              <a:t>ATELIER 04.2 · 3 HEURES</a:t>
            </a:r>
            <a:endParaRPr lang="en-US" sz="1950" dirty="0"/>
          </a:p>
        </p:txBody>
      </p:sp>
      <p:sp>
        <p:nvSpPr>
          <p:cNvPr id="4" name="Text 2"/>
          <p:cNvSpPr/>
          <p:nvPr/>
        </p:nvSpPr>
        <p:spPr>
          <a:xfrm>
            <a:off x="1066800" y="2910980"/>
            <a:ext cx="17769840" cy="1752600"/>
          </a:xfrm>
          <a:prstGeom prst="rect">
            <a:avLst/>
          </a:prstGeom>
          <a:noFill/>
          <a:ln/>
        </p:spPr>
        <p:txBody>
          <a:bodyPr wrap="square" lIns="25400" tIns="25400" rIns="25400" bIns="25400" rtlCol="0" anchor="t">
            <a:normAutofit/>
          </a:bodyPr>
          <a:lstStyle/>
          <a:p>
            <a:pPr algn="l" indent="0" marL="0">
              <a:lnSpc>
                <a:spcPct val="78035"/>
              </a:lnSpc>
              <a:buNone/>
            </a:pPr>
            <a:r>
              <a:rPr lang="en-US" sz="15000" b="1" spc="-600" kern="0" dirty="0">
                <a:solidFill>
                  <a:srgbClr val="8EE3E4"/>
                </a:solidFill>
                <a:latin typeface="Arial" pitchFamily="34" charset="0"/>
                <a:ea typeface="Arial" pitchFamily="34" charset="-122"/>
                <a:cs typeface="Arial" pitchFamily="34" charset="-120"/>
              </a:rPr>
              <a:t>4.2</a:t>
            </a:r>
            <a:endParaRPr lang="en-US" sz="15000" dirty="0"/>
          </a:p>
        </p:txBody>
      </p:sp>
      <p:sp>
        <p:nvSpPr>
          <p:cNvPr id="5" name="Text 3"/>
          <p:cNvSpPr/>
          <p:nvPr/>
        </p:nvSpPr>
        <p:spPr>
          <a:xfrm>
            <a:off x="1066800" y="4703131"/>
            <a:ext cx="17769840" cy="737592"/>
          </a:xfrm>
          <a:prstGeom prst="rect">
            <a:avLst/>
          </a:prstGeom>
          <a:noFill/>
          <a:ln/>
        </p:spPr>
        <p:txBody>
          <a:bodyPr wrap="square" lIns="25400" tIns="25400" rIns="25400" bIns="25400" rtlCol="0" anchor="t">
            <a:normAutofit/>
          </a:bodyPr>
          <a:lstStyle/>
          <a:p>
            <a:pPr algn="l" indent="0" marL="0">
              <a:lnSpc>
                <a:spcPct val="88128"/>
              </a:lnSpc>
              <a:buNone/>
            </a:pPr>
            <a:r>
              <a:rPr lang="en-US" sz="5400" b="1" spc="-108" kern="0" dirty="0">
                <a:solidFill>
                  <a:srgbClr val="EEF3F9">
                    <a:alpha val="99000"/>
                  </a:srgbClr>
                </a:solidFill>
                <a:latin typeface="Arial" pitchFamily="34" charset="0"/>
                <a:ea typeface="Arial" pitchFamily="34" charset="-122"/>
                <a:cs typeface="Arial" pitchFamily="34" charset="-120"/>
              </a:rPr>
              <a:t>Apache Spark : RDD et DataFrame</a:t>
            </a:r>
            <a:endParaRPr lang="en-US" sz="5400" dirty="0"/>
          </a:p>
        </p:txBody>
      </p:sp>
      <p:sp>
        <p:nvSpPr>
          <p:cNvPr id="6" name="Text 4"/>
          <p:cNvSpPr/>
          <p:nvPr/>
        </p:nvSpPr>
        <p:spPr>
          <a:xfrm>
            <a:off x="1066800" y="5648821"/>
            <a:ext cx="12243816" cy="1104900"/>
          </a:xfrm>
          <a:prstGeom prst="rect">
            <a:avLst/>
          </a:prstGeom>
          <a:noFill/>
          <a:ln/>
        </p:spPr>
        <p:txBody>
          <a:bodyPr wrap="square" lIns="25400" tIns="25400" rIns="25400" bIns="25400" rtlCol="0" anchor="t">
            <a:normAutofit/>
          </a:bodyPr>
          <a:lstStyle/>
          <a:p>
            <a:pPr algn="l" indent="0" marL="0">
              <a:lnSpc>
                <a:spcPct val="121739"/>
              </a:lnSpc>
              <a:buNone/>
            </a:pPr>
            <a:r>
              <a:rPr lang="en-US" sz="3000" dirty="0">
                <a:solidFill>
                  <a:srgbClr val="8EA0B5">
                    <a:alpha val="77000"/>
                  </a:srgbClr>
                </a:solidFill>
                <a:latin typeface="Arial" pitchFamily="34" charset="0"/>
                <a:ea typeface="Arial" pitchFamily="34" charset="-122"/>
                <a:cs typeface="Arial" pitchFamily="34" charset="-120"/>
              </a:rPr>
              <a:t>Le moteur de calcul du cluster Hadoop — les mêmes traitements en RDD puis en DataFrame.</a:t>
            </a:r>
            <a:endParaRPr lang="en-US" sz="3000" dirty="0"/>
          </a:p>
        </p:txBody>
      </p:sp>
      <p:sp>
        <p:nvSpPr>
          <p:cNvPr id="7" name="Shape 5"/>
          <p:cNvSpPr/>
          <p:nvPr/>
        </p:nvSpPr>
        <p:spPr>
          <a:xfrm>
            <a:off x="1066800" y="7039471"/>
            <a:ext cx="25400" cy="742950"/>
          </a:xfrm>
          <a:prstGeom prst="rect">
            <a:avLst/>
          </a:prstGeom>
          <a:solidFill>
            <a:srgbClr val="56DBDB">
              <a:alpha val="55000"/>
            </a:srgbClr>
          </a:solidFill>
          <a:ln/>
        </p:spPr>
      </p:sp>
      <p:sp>
        <p:nvSpPr>
          <p:cNvPr id="8" name="Text 6"/>
          <p:cNvSpPr/>
          <p:nvPr/>
        </p:nvSpPr>
        <p:spPr>
          <a:xfrm>
            <a:off x="1320800" y="7039471"/>
            <a:ext cx="10459339" cy="781050"/>
          </a:xfrm>
          <a:prstGeom prst="rect">
            <a:avLst/>
          </a:prstGeom>
          <a:noFill/>
          <a:ln/>
        </p:spPr>
        <p:txBody>
          <a:bodyPr wrap="square" lIns="25400" tIns="25400" rIns="25400" bIns="25400" rtlCol="0" anchor="t">
            <a:normAutofit/>
          </a:bodyPr>
          <a:lstStyle/>
          <a:p>
            <a:pPr algn="l" indent="0" marL="0">
              <a:lnSpc>
                <a:spcPct val="132955"/>
              </a:lnSpc>
              <a:buNone/>
            </a:pPr>
            <a:r>
              <a:rPr lang="en-US" sz="1950" dirty="0">
                <a:solidFill>
                  <a:srgbClr val="EEF3F9">
                    <a:alpha val="55000"/>
                  </a:srgbClr>
                </a:solidFill>
                <a:latin typeface="Arial" pitchFamily="34" charset="0"/>
                <a:ea typeface="Arial" pitchFamily="34" charset="-122"/>
                <a:cs typeface="Arial" pitchFamily="34" charset="-120"/>
              </a:rPr>
              <a:t>Prérequis (atelier 4.1) </a:t>
            </a:r>
            <a:pPr algn="l" indent="0" marL="0">
              <a:lnSpc>
                <a:spcPct val="132955"/>
              </a:lnSpc>
              <a:buNone/>
            </a:pPr>
            <a:r>
              <a:rPr lang="en-US" sz="1950" dirty="0">
                <a:solidFill>
                  <a:srgbClr val="8EA0B5">
                    <a:alpha val="55000"/>
                  </a:srgbClr>
                </a:solidFill>
                <a:latin typeface="Arial" pitchFamily="34" charset="0"/>
                <a:ea typeface="Arial" pitchFamily="34" charset="-122"/>
                <a:cs typeface="Arial" pitchFamily="34" charset="-120"/>
              </a:rPr>
              <a:t>: données déjà sur HDFS (</a:t>
            </a:r>
            <a:pPr algn="l" indent="0" marL="0">
              <a:lnSpc>
                <a:spcPct val="132955"/>
              </a:lnSpc>
              <a:buNone/>
            </a:pPr>
            <a:r>
              <a:rPr lang="en-US" sz="1800" dirty="0">
                <a:solidFill>
                  <a:srgbClr val="8EA0B5">
                    <a:alpha val="55000"/>
                  </a:srgbClr>
                </a:solidFill>
                <a:latin typeface="Courier New" pitchFamily="34" charset="0"/>
                <a:ea typeface="Courier New" pitchFamily="34" charset="-122"/>
                <a:cs typeface="Courier New" pitchFamily="34" charset="-120"/>
              </a:rPr>
              <a:t>/data/raw/purchases.txt </a:t>
            </a:r>
            <a:pPr algn="l" indent="0" marL="0">
              <a:lnSpc>
                <a:spcPct val="132955"/>
              </a:lnSpc>
              <a:buNone/>
            </a:pPr>
            <a:r>
              <a:rPr lang="en-US" sz="1950" dirty="0">
                <a:solidFill>
                  <a:srgbClr val="8EA0B5">
                    <a:alpha val="55000"/>
                  </a:srgbClr>
                </a:solidFill>
                <a:latin typeface="Arial" pitchFamily="34" charset="0"/>
                <a:ea typeface="Arial" pitchFamily="34" charset="-122"/>
                <a:cs typeface="Arial" pitchFamily="34" charset="-120"/>
              </a:rPr>
              <a:t>), notions YARN acquises. Spark lit sur HDFS et négocie ses ressources auprès de YARN.</a:t>
            </a:r>
            <a:endParaRPr lang="en-US" sz="19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0A0E15"/>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56DBDB">
                    <a:alpha val="97000"/>
                  </a:srgbClr>
                </a:solidFill>
                <a:latin typeface="Courier New" pitchFamily="34" charset="0"/>
                <a:ea typeface="Courier New" pitchFamily="34" charset="-122"/>
                <a:cs typeface="Courier New" pitchFamily="34" charset="-120"/>
              </a:rPr>
              <a:t>ATELIER 4.2 · MOTIVATION</a:t>
            </a:r>
            <a:endParaRPr lang="en-US" sz="1800" dirty="0"/>
          </a:p>
        </p:txBody>
      </p:sp>
      <p:sp>
        <p:nvSpPr>
          <p:cNvPr id="3" name="Text 1"/>
          <p:cNvSpPr/>
          <p:nvPr/>
        </p:nvSpPr>
        <p:spPr>
          <a:xfrm>
            <a:off x="1066800" y="1314451"/>
            <a:ext cx="10442138"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Du MapReduce à Spark</a:t>
            </a:r>
            <a:endParaRPr lang="en-US" sz="4800" dirty="0"/>
          </a:p>
        </p:txBody>
      </p:sp>
      <p:sp>
        <p:nvSpPr>
          <p:cNvPr id="4" name="Shape 2"/>
          <p:cNvSpPr/>
          <p:nvPr/>
        </p:nvSpPr>
        <p:spPr>
          <a:xfrm>
            <a:off x="1066800" y="2367460"/>
            <a:ext cx="5232400" cy="1710531"/>
          </a:xfrm>
          <a:prstGeom prst="roundRect">
            <a:avLst>
              <a:gd name="adj" fmla="val 8910"/>
            </a:avLst>
          </a:prstGeom>
          <a:solidFill>
            <a:srgbClr val="FFFFFF">
              <a:alpha val="3000"/>
            </a:srgbClr>
          </a:solidFill>
          <a:ln w="6350">
            <a:solidFill>
              <a:srgbClr val="FFFFFF">
                <a:alpha val="10000"/>
              </a:srgbClr>
            </a:solidFill>
            <a:prstDash val="solid"/>
          </a:ln>
        </p:spPr>
      </p:sp>
      <p:sp>
        <p:nvSpPr>
          <p:cNvPr id="5" name="Text 3"/>
          <p:cNvSpPr/>
          <p:nvPr/>
        </p:nvSpPr>
        <p:spPr>
          <a:xfrm>
            <a:off x="1358900" y="2678610"/>
            <a:ext cx="5113020" cy="349250"/>
          </a:xfrm>
          <a:prstGeom prst="rect">
            <a:avLst/>
          </a:prstGeom>
          <a:noFill/>
          <a:ln/>
        </p:spPr>
        <p:txBody>
          <a:bodyPr wrap="square" lIns="25400" tIns="25400" rIns="25400" bIns="25400" rtlCol="0" anchor="t">
            <a:normAutofit/>
          </a:bodyPr>
          <a:lstStyle/>
          <a:p>
            <a:pPr algn="l" indent="0" marL="0">
              <a:buNone/>
            </a:pPr>
            <a:r>
              <a:rPr lang="en-US" sz="2175" b="1" dirty="0">
                <a:solidFill>
                  <a:srgbClr val="EEF3F9"/>
                </a:solidFill>
                <a:latin typeface="Arial" pitchFamily="34" charset="0"/>
                <a:ea typeface="Arial" pitchFamily="34" charset="-122"/>
                <a:cs typeface="Arial" pitchFamily="34" charset="-120"/>
              </a:rPr>
              <a:t>RAM plafonnée</a:t>
            </a:r>
            <a:endParaRPr lang="en-US" sz="2175" dirty="0"/>
          </a:p>
        </p:txBody>
      </p:sp>
      <p:sp>
        <p:nvSpPr>
          <p:cNvPr id="6" name="Text 4"/>
          <p:cNvSpPr/>
          <p:nvPr/>
        </p:nvSpPr>
        <p:spPr>
          <a:xfrm>
            <a:off x="1358900" y="3104060"/>
            <a:ext cx="5113020" cy="369491"/>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8EA0B5"/>
                </a:solidFill>
                <a:latin typeface="Arial" pitchFamily="34" charset="0"/>
                <a:ea typeface="Arial" pitchFamily="34" charset="-122"/>
                <a:cs typeface="Arial" pitchFamily="34" charset="-120"/>
              </a:rPr>
              <a:t>Une seule machine limite le volume traitable.</a:t>
            </a:r>
            <a:endParaRPr lang="en-US" sz="1800" dirty="0"/>
          </a:p>
        </p:txBody>
      </p:sp>
      <p:sp>
        <p:nvSpPr>
          <p:cNvPr id="7" name="Shape 5"/>
          <p:cNvSpPr/>
          <p:nvPr/>
        </p:nvSpPr>
        <p:spPr>
          <a:xfrm>
            <a:off x="6527800" y="2368371"/>
            <a:ext cx="5232400" cy="1710531"/>
          </a:xfrm>
          <a:prstGeom prst="roundRect">
            <a:avLst>
              <a:gd name="adj" fmla="val 8910"/>
            </a:avLst>
          </a:prstGeom>
          <a:solidFill>
            <a:srgbClr val="FFFFFF">
              <a:alpha val="3000"/>
            </a:srgbClr>
          </a:solidFill>
          <a:ln w="6350">
            <a:solidFill>
              <a:srgbClr val="FFFFFF">
                <a:alpha val="10000"/>
              </a:srgbClr>
            </a:solidFill>
            <a:prstDash val="solid"/>
          </a:ln>
        </p:spPr>
      </p:sp>
      <p:sp>
        <p:nvSpPr>
          <p:cNvPr id="8" name="Text 6"/>
          <p:cNvSpPr/>
          <p:nvPr/>
        </p:nvSpPr>
        <p:spPr>
          <a:xfrm>
            <a:off x="6819900" y="2679521"/>
            <a:ext cx="5113020" cy="349250"/>
          </a:xfrm>
          <a:prstGeom prst="rect">
            <a:avLst/>
          </a:prstGeom>
          <a:noFill/>
          <a:ln/>
        </p:spPr>
        <p:txBody>
          <a:bodyPr wrap="square" lIns="25400" tIns="25400" rIns="25400" bIns="25400" rtlCol="0" anchor="t">
            <a:normAutofit/>
          </a:bodyPr>
          <a:lstStyle/>
          <a:p>
            <a:pPr algn="l" indent="0" marL="0">
              <a:buNone/>
            </a:pPr>
            <a:r>
              <a:rPr lang="en-US" sz="2175" b="1" dirty="0">
                <a:solidFill>
                  <a:srgbClr val="EEF3F9"/>
                </a:solidFill>
                <a:latin typeface="Arial" pitchFamily="34" charset="0"/>
                <a:ea typeface="Arial" pitchFamily="34" charset="-122"/>
                <a:cs typeface="Arial" pitchFamily="34" charset="-120"/>
              </a:rPr>
              <a:t>Traitement séquentiel</a:t>
            </a:r>
            <a:endParaRPr lang="en-US" sz="2175" dirty="0"/>
          </a:p>
        </p:txBody>
      </p:sp>
      <p:sp>
        <p:nvSpPr>
          <p:cNvPr id="9" name="Text 7"/>
          <p:cNvSpPr/>
          <p:nvPr/>
        </p:nvSpPr>
        <p:spPr>
          <a:xfrm>
            <a:off x="6819900" y="3104971"/>
            <a:ext cx="4787646" cy="700881"/>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8EA0B5"/>
                </a:solidFill>
                <a:latin typeface="Arial" pitchFamily="34" charset="0"/>
                <a:ea typeface="Arial" pitchFamily="34" charset="-122"/>
                <a:cs typeface="Arial" pitchFamily="34" charset="-120"/>
              </a:rPr>
              <a:t>Pas de parallélisme réel : une seule unité de calcul.</a:t>
            </a:r>
            <a:endParaRPr lang="en-US" sz="1800" dirty="0"/>
          </a:p>
        </p:txBody>
      </p:sp>
      <p:sp>
        <p:nvSpPr>
          <p:cNvPr id="10" name="Shape 8"/>
          <p:cNvSpPr/>
          <p:nvPr/>
        </p:nvSpPr>
        <p:spPr>
          <a:xfrm>
            <a:off x="11988801" y="2371491"/>
            <a:ext cx="5232400" cy="1710531"/>
          </a:xfrm>
          <a:prstGeom prst="roundRect">
            <a:avLst>
              <a:gd name="adj" fmla="val 8910"/>
            </a:avLst>
          </a:prstGeom>
          <a:solidFill>
            <a:srgbClr val="FFFFFF">
              <a:alpha val="3000"/>
            </a:srgbClr>
          </a:solidFill>
          <a:ln w="6350">
            <a:solidFill>
              <a:srgbClr val="FFFFFF">
                <a:alpha val="10000"/>
              </a:srgbClr>
            </a:solidFill>
            <a:prstDash val="solid"/>
          </a:ln>
        </p:spPr>
      </p:sp>
      <p:sp>
        <p:nvSpPr>
          <p:cNvPr id="11" name="Text 9"/>
          <p:cNvSpPr/>
          <p:nvPr/>
        </p:nvSpPr>
        <p:spPr>
          <a:xfrm>
            <a:off x="12280900" y="2682641"/>
            <a:ext cx="5113020" cy="349250"/>
          </a:xfrm>
          <a:prstGeom prst="rect">
            <a:avLst/>
          </a:prstGeom>
          <a:noFill/>
          <a:ln/>
        </p:spPr>
        <p:txBody>
          <a:bodyPr wrap="square" lIns="25400" tIns="25400" rIns="25400" bIns="25400" rtlCol="0" anchor="t">
            <a:normAutofit/>
          </a:bodyPr>
          <a:lstStyle/>
          <a:p>
            <a:pPr algn="l" indent="0" marL="0">
              <a:buNone/>
            </a:pPr>
            <a:r>
              <a:rPr lang="en-US" sz="2175" b="1" dirty="0">
                <a:solidFill>
                  <a:srgbClr val="EEF3F9">
                    <a:alpha val="99000"/>
                  </a:srgbClr>
                </a:solidFill>
                <a:latin typeface="Arial" pitchFamily="34" charset="0"/>
                <a:ea typeface="Arial" pitchFamily="34" charset="-122"/>
                <a:cs typeface="Arial" pitchFamily="34" charset="-120"/>
              </a:rPr>
              <a:t>Aucune résilience</a:t>
            </a:r>
            <a:endParaRPr lang="en-US" sz="2175" dirty="0"/>
          </a:p>
        </p:txBody>
      </p:sp>
      <p:sp>
        <p:nvSpPr>
          <p:cNvPr id="12" name="Text 10"/>
          <p:cNvSpPr/>
          <p:nvPr/>
        </p:nvSpPr>
        <p:spPr>
          <a:xfrm>
            <a:off x="12280900" y="3108091"/>
            <a:ext cx="4787646" cy="700881"/>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8EA0B5">
                    <a:alpha val="99000"/>
                  </a:srgbClr>
                </a:solidFill>
                <a:latin typeface="Arial" pitchFamily="34" charset="0"/>
                <a:ea typeface="Arial" pitchFamily="34" charset="-122"/>
                <a:cs typeface="Arial" pitchFamily="34" charset="-120"/>
              </a:rPr>
              <a:t>Une panne pendant le traitement : tout est à refaire.</a:t>
            </a:r>
            <a:endParaRPr lang="en-US" sz="1800" dirty="0"/>
          </a:p>
        </p:txBody>
      </p:sp>
      <p:sp>
        <p:nvSpPr>
          <p:cNvPr id="13" name="Shape 11"/>
          <p:cNvSpPr/>
          <p:nvPr/>
        </p:nvSpPr>
        <p:spPr>
          <a:xfrm>
            <a:off x="1066800" y="4420754"/>
            <a:ext cx="7677150" cy="3525242"/>
          </a:xfrm>
          <a:prstGeom prst="roundRect">
            <a:avLst>
              <a:gd name="adj" fmla="val 4863"/>
            </a:avLst>
          </a:prstGeom>
          <a:solidFill>
            <a:srgbClr val="FFFFFF">
              <a:alpha val="3000"/>
            </a:srgbClr>
          </a:solidFill>
          <a:ln w="6350">
            <a:solidFill>
              <a:srgbClr val="FFFFFF">
                <a:alpha val="9000"/>
              </a:srgbClr>
            </a:solidFill>
            <a:prstDash val="solid"/>
          </a:ln>
        </p:spPr>
      </p:sp>
      <p:sp>
        <p:nvSpPr>
          <p:cNvPr id="14" name="Text 12"/>
          <p:cNvSpPr/>
          <p:nvPr/>
        </p:nvSpPr>
        <p:spPr>
          <a:xfrm>
            <a:off x="1377950" y="4693804"/>
            <a:ext cx="776033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alpha val="93000"/>
                  </a:srgbClr>
                </a:solidFill>
                <a:latin typeface="Courier New" pitchFamily="34" charset="0"/>
                <a:ea typeface="Courier New" pitchFamily="34" charset="-122"/>
                <a:cs typeface="Courier New" pitchFamily="34" charset="-120"/>
              </a:rPr>
              <a:t>MapReduce (Hadoop)</a:t>
            </a:r>
            <a:endParaRPr lang="en-US" sz="1800" dirty="0"/>
          </a:p>
        </p:txBody>
      </p:sp>
      <p:sp>
        <p:nvSpPr>
          <p:cNvPr id="15" name="Text 13"/>
          <p:cNvSpPr/>
          <p:nvPr/>
        </p:nvSpPr>
        <p:spPr>
          <a:xfrm>
            <a:off x="1377950" y="5074804"/>
            <a:ext cx="7760335" cy="34667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EEF3F9">
                    <a:alpha val="93000"/>
                  </a:srgbClr>
                </a:solidFill>
                <a:latin typeface="Arial" pitchFamily="34" charset="0"/>
                <a:ea typeface="Arial" pitchFamily="34" charset="-122"/>
                <a:cs typeface="Arial" pitchFamily="34" charset="-120"/>
              </a:rPr>
              <a:t>Première solution de traitement distribué à grande échelle.</a:t>
            </a:r>
            <a:endParaRPr lang="en-US" sz="1800" dirty="0"/>
          </a:p>
        </p:txBody>
      </p:sp>
      <p:sp>
        <p:nvSpPr>
          <p:cNvPr id="16" name="Text 14"/>
          <p:cNvSpPr/>
          <p:nvPr/>
        </p:nvSpPr>
        <p:spPr>
          <a:xfrm>
            <a:off x="1377950" y="5516725"/>
            <a:ext cx="267196" cy="34667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56DBDB">
                    <a:alpha val="93000"/>
                  </a:srgbClr>
                </a:solidFill>
                <a:latin typeface="Arial" pitchFamily="34" charset="0"/>
                <a:ea typeface="Arial" pitchFamily="34" charset="-122"/>
                <a:cs typeface="Arial" pitchFamily="34" charset="-120"/>
              </a:rPr>
              <a:t>▸</a:t>
            </a:r>
            <a:endParaRPr lang="en-US" sz="1800" dirty="0"/>
          </a:p>
        </p:txBody>
      </p:sp>
      <p:sp>
        <p:nvSpPr>
          <p:cNvPr id="17" name="Text 15"/>
          <p:cNvSpPr/>
          <p:nvPr/>
        </p:nvSpPr>
        <p:spPr>
          <a:xfrm>
            <a:off x="1664196" y="5516725"/>
            <a:ext cx="5433725" cy="336550"/>
          </a:xfrm>
          <a:prstGeom prst="rect">
            <a:avLst/>
          </a:prstGeom>
          <a:noFill/>
          <a:ln/>
        </p:spPr>
        <p:txBody>
          <a:bodyPr wrap="square" lIns="0" tIns="0" rIns="0" bIns="0" rtlCol="0" anchor="t">
            <a:normAutofit/>
          </a:bodyPr>
          <a:lstStyle/>
          <a:p>
            <a:pPr algn="l" indent="0" marL="0">
              <a:lnSpc>
                <a:spcPct val="115714"/>
              </a:lnSpc>
              <a:buNone/>
            </a:pPr>
            <a:r>
              <a:rPr lang="en-US" sz="1800" dirty="0">
                <a:solidFill>
                  <a:srgbClr val="8EA0B5">
                    <a:alpha val="93000"/>
                  </a:srgbClr>
                </a:solidFill>
                <a:latin typeface="Arial" pitchFamily="34" charset="0"/>
                <a:ea typeface="Arial" pitchFamily="34" charset="-122"/>
                <a:cs typeface="Arial" pitchFamily="34" charset="-120"/>
              </a:rPr>
              <a:t>Données réparties sur plusieurs machines via HDFS</a:t>
            </a:r>
            <a:endParaRPr lang="en-US" sz="1800" dirty="0"/>
          </a:p>
        </p:txBody>
      </p:sp>
      <p:sp>
        <p:nvSpPr>
          <p:cNvPr id="18" name="Text 16"/>
          <p:cNvSpPr/>
          <p:nvPr/>
        </p:nvSpPr>
        <p:spPr>
          <a:xfrm>
            <a:off x="1377950" y="5901495"/>
            <a:ext cx="267196" cy="34667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56DBDB">
                    <a:alpha val="93000"/>
                  </a:srgbClr>
                </a:solidFill>
                <a:latin typeface="Arial" pitchFamily="34" charset="0"/>
                <a:ea typeface="Arial" pitchFamily="34" charset="-122"/>
                <a:cs typeface="Arial" pitchFamily="34" charset="-120"/>
              </a:rPr>
              <a:t>▸</a:t>
            </a:r>
            <a:endParaRPr lang="en-US" sz="1800" dirty="0"/>
          </a:p>
        </p:txBody>
      </p:sp>
      <p:sp>
        <p:nvSpPr>
          <p:cNvPr id="19" name="Text 17"/>
          <p:cNvSpPr/>
          <p:nvPr/>
        </p:nvSpPr>
        <p:spPr>
          <a:xfrm>
            <a:off x="1664196" y="5901495"/>
            <a:ext cx="3331976" cy="336550"/>
          </a:xfrm>
          <a:prstGeom prst="rect">
            <a:avLst/>
          </a:prstGeom>
          <a:noFill/>
          <a:ln/>
        </p:spPr>
        <p:txBody>
          <a:bodyPr wrap="square" lIns="0" tIns="0" rIns="0" bIns="0" rtlCol="0" anchor="t">
            <a:normAutofit/>
          </a:bodyPr>
          <a:lstStyle/>
          <a:p>
            <a:pPr algn="l" indent="0" marL="0">
              <a:lnSpc>
                <a:spcPct val="115714"/>
              </a:lnSpc>
              <a:buNone/>
            </a:pPr>
            <a:r>
              <a:rPr lang="en-US" sz="1800" dirty="0">
                <a:solidFill>
                  <a:srgbClr val="8EA0B5">
                    <a:alpha val="93000"/>
                  </a:srgbClr>
                </a:solidFill>
                <a:latin typeface="Arial" pitchFamily="34" charset="0"/>
                <a:ea typeface="Arial" pitchFamily="34" charset="-122"/>
                <a:cs typeface="Arial" pitchFamily="34" charset="-120"/>
              </a:rPr>
              <a:t>Deux phases : Map puis Reduce</a:t>
            </a:r>
            <a:endParaRPr lang="en-US" sz="1800" dirty="0"/>
          </a:p>
        </p:txBody>
      </p:sp>
      <p:sp>
        <p:nvSpPr>
          <p:cNvPr id="20" name="Text 18"/>
          <p:cNvSpPr/>
          <p:nvPr/>
        </p:nvSpPr>
        <p:spPr>
          <a:xfrm>
            <a:off x="1377950" y="6286265"/>
            <a:ext cx="267196" cy="34667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56DBDB">
                    <a:alpha val="93000"/>
                  </a:srgbClr>
                </a:solidFill>
                <a:latin typeface="Arial" pitchFamily="34" charset="0"/>
                <a:ea typeface="Arial" pitchFamily="34" charset="-122"/>
                <a:cs typeface="Arial" pitchFamily="34" charset="-120"/>
              </a:rPr>
              <a:t>▸</a:t>
            </a:r>
            <a:endParaRPr lang="en-US" sz="1800" dirty="0"/>
          </a:p>
        </p:txBody>
      </p:sp>
      <p:sp>
        <p:nvSpPr>
          <p:cNvPr id="21" name="Text 19"/>
          <p:cNvSpPr/>
          <p:nvPr/>
        </p:nvSpPr>
        <p:spPr>
          <a:xfrm>
            <a:off x="1664196" y="6286265"/>
            <a:ext cx="6876109" cy="336550"/>
          </a:xfrm>
          <a:prstGeom prst="rect">
            <a:avLst/>
          </a:prstGeom>
          <a:noFill/>
          <a:ln/>
        </p:spPr>
        <p:txBody>
          <a:bodyPr wrap="square" lIns="0" tIns="0" rIns="0" bIns="0" rtlCol="0" anchor="t">
            <a:normAutofit/>
          </a:bodyPr>
          <a:lstStyle/>
          <a:p>
            <a:pPr algn="l" indent="0" marL="0">
              <a:lnSpc>
                <a:spcPct val="115714"/>
              </a:lnSpc>
              <a:buNone/>
            </a:pPr>
            <a:r>
              <a:rPr lang="en-US" sz="1800" dirty="0">
                <a:solidFill>
                  <a:srgbClr val="8EA0B5">
                    <a:alpha val="93000"/>
                  </a:srgbClr>
                </a:solidFill>
                <a:latin typeface="Arial" pitchFamily="34" charset="0"/>
                <a:ea typeface="Arial" pitchFamily="34" charset="-122"/>
                <a:cs typeface="Arial" pitchFamily="34" charset="-120"/>
              </a:rPr>
              <a:t>Résultats intermédiaires écrits sur HDFS → tolérance aux pannes</a:t>
            </a:r>
            <a:endParaRPr lang="en-US" sz="1800" dirty="0"/>
          </a:p>
        </p:txBody>
      </p:sp>
      <p:sp>
        <p:nvSpPr>
          <p:cNvPr id="22" name="Shape 20"/>
          <p:cNvSpPr/>
          <p:nvPr/>
        </p:nvSpPr>
        <p:spPr>
          <a:xfrm>
            <a:off x="1377950" y="7055806"/>
            <a:ext cx="25400" cy="617141"/>
          </a:xfrm>
          <a:prstGeom prst="rect">
            <a:avLst/>
          </a:prstGeom>
          <a:solidFill>
            <a:srgbClr val="FFB46E">
              <a:alpha val="93000"/>
            </a:srgbClr>
          </a:solidFill>
          <a:ln/>
        </p:spPr>
      </p:sp>
      <p:sp>
        <p:nvSpPr>
          <p:cNvPr id="23" name="Text 21"/>
          <p:cNvSpPr/>
          <p:nvPr/>
        </p:nvSpPr>
        <p:spPr>
          <a:xfrm>
            <a:off x="1555750" y="7055806"/>
            <a:ext cx="7088696" cy="655241"/>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FFB46E">
                    <a:alpha val="93000"/>
                  </a:srgbClr>
                </a:solidFill>
                <a:latin typeface="Arial" pitchFamily="34" charset="0"/>
                <a:ea typeface="Arial" pitchFamily="34" charset="-122"/>
                <a:cs typeface="Arial" pitchFamily="34" charset="-120"/>
              </a:rPr>
              <a:t>Limite </a:t>
            </a:r>
            <a:pPr algn="l" indent="0" marL="0">
              <a:lnSpc>
                <a:spcPct val="115714"/>
              </a:lnSpc>
              <a:buNone/>
            </a:pPr>
            <a:r>
              <a:rPr lang="en-US" sz="1800" dirty="0">
                <a:solidFill>
                  <a:srgbClr val="8EA0B5">
                    <a:alpha val="93000"/>
                  </a:srgbClr>
                </a:solidFill>
                <a:latin typeface="Arial" pitchFamily="34" charset="0"/>
                <a:ea typeface="Arial" pitchFamily="34" charset="-122"/>
                <a:cs typeface="Arial" pitchFamily="34" charset="-120"/>
              </a:rPr>
              <a:t>— les nombreuses écritures disque ralentissent les traitements itératifs ou multi-étapes.</a:t>
            </a:r>
            <a:endParaRPr lang="en-US" sz="1800" dirty="0"/>
          </a:p>
        </p:txBody>
      </p:sp>
      <p:sp>
        <p:nvSpPr>
          <p:cNvPr id="24" name="Text 22"/>
          <p:cNvSpPr/>
          <p:nvPr/>
        </p:nvSpPr>
        <p:spPr>
          <a:xfrm>
            <a:off x="8934450" y="4401840"/>
            <a:ext cx="495300" cy="3563342"/>
          </a:xfrm>
          <a:prstGeom prst="rect">
            <a:avLst/>
          </a:prstGeom>
          <a:noFill/>
          <a:ln/>
        </p:spPr>
        <p:txBody>
          <a:bodyPr wrap="square" lIns="25400" tIns="25400" rIns="25400" bIns="25400" rtlCol="0" anchor="ctr">
            <a:normAutofit/>
          </a:bodyPr>
          <a:lstStyle/>
          <a:p>
            <a:pPr algn="l" indent="0" marL="0">
              <a:buNone/>
            </a:pPr>
            <a:r>
              <a:rPr lang="en-US" sz="3300" dirty="0">
                <a:solidFill>
                  <a:srgbClr val="56DBDB"/>
                </a:solidFill>
                <a:latin typeface="Arial" pitchFamily="34" charset="0"/>
                <a:ea typeface="Arial" pitchFamily="34" charset="-122"/>
                <a:cs typeface="Arial" pitchFamily="34" charset="-120"/>
              </a:rPr>
              <a:t>→</a:t>
            </a:r>
            <a:endParaRPr lang="en-US" sz="3300" dirty="0"/>
          </a:p>
        </p:txBody>
      </p:sp>
      <p:sp>
        <p:nvSpPr>
          <p:cNvPr id="25" name="Shape 23"/>
          <p:cNvSpPr/>
          <p:nvPr/>
        </p:nvSpPr>
        <p:spPr>
          <a:xfrm>
            <a:off x="9544050" y="4447255"/>
            <a:ext cx="7677150" cy="3525243"/>
          </a:xfrm>
          <a:prstGeom prst="roundRect">
            <a:avLst>
              <a:gd name="adj" fmla="val 4863"/>
            </a:avLst>
          </a:prstGeom>
          <a:gradFill rotWithShape="1">
            <a:gsLst>
              <a:gs pos="0">
                <a:srgbClr val="55DCDC">
                  <a:alpha val="12000"/>
                </a:srgbClr>
              </a:gs>
              <a:gs pos="100000">
                <a:srgbClr val="FFFFFF">
                  <a:alpha val="3000"/>
                </a:srgbClr>
              </a:gs>
            </a:gsLst>
            <a:lin ang="4200000" scaled="0"/>
          </a:gradFill>
          <a:ln w="6350">
            <a:solidFill>
              <a:srgbClr val="82E3E3">
                <a:alpha val="30000"/>
              </a:srgbClr>
            </a:solidFill>
            <a:prstDash val="solid"/>
          </a:ln>
        </p:spPr>
      </p:sp>
      <p:sp>
        <p:nvSpPr>
          <p:cNvPr id="26" name="Text 24"/>
          <p:cNvSpPr/>
          <p:nvPr/>
        </p:nvSpPr>
        <p:spPr>
          <a:xfrm>
            <a:off x="9855201" y="4720305"/>
            <a:ext cx="776033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6DBDB">
                    <a:alpha val="84000"/>
                  </a:srgbClr>
                </a:solidFill>
                <a:latin typeface="Courier New" pitchFamily="34" charset="0"/>
                <a:ea typeface="Courier New" pitchFamily="34" charset="-122"/>
                <a:cs typeface="Courier New" pitchFamily="34" charset="-120"/>
              </a:rPr>
              <a:t>Apache Spark</a:t>
            </a:r>
            <a:endParaRPr lang="en-US" sz="1800" dirty="0"/>
          </a:p>
        </p:txBody>
      </p:sp>
      <p:sp>
        <p:nvSpPr>
          <p:cNvPr id="27" name="Text 25"/>
          <p:cNvSpPr/>
          <p:nvPr/>
        </p:nvSpPr>
        <p:spPr>
          <a:xfrm>
            <a:off x="9855201" y="5101305"/>
            <a:ext cx="7266496" cy="655241"/>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EEF3F9">
                    <a:alpha val="84000"/>
                  </a:srgbClr>
                </a:solidFill>
                <a:latin typeface="Arial" pitchFamily="34" charset="0"/>
                <a:ea typeface="Arial" pitchFamily="34" charset="-122"/>
                <a:cs typeface="Arial" pitchFamily="34" charset="-120"/>
              </a:rPr>
              <a:t>Reprend le calcul distribué, mais privilégie le traitement </a:t>
            </a:r>
            <a:pPr algn="l" indent="0" marL="0">
              <a:lnSpc>
                <a:spcPct val="115714"/>
              </a:lnSpc>
              <a:buNone/>
            </a:pPr>
            <a:r>
              <a:rPr lang="en-US" sz="1800" dirty="0">
                <a:solidFill>
                  <a:srgbClr val="56DBDB">
                    <a:alpha val="84000"/>
                  </a:srgbClr>
                </a:solidFill>
                <a:latin typeface="Arial" pitchFamily="34" charset="0"/>
                <a:ea typeface="Arial" pitchFamily="34" charset="-122"/>
                <a:cs typeface="Arial" pitchFamily="34" charset="-120"/>
              </a:rPr>
              <a:t>en mémoire (RAM) </a:t>
            </a:r>
            <a:pPr algn="l" indent="0" marL="0">
              <a:lnSpc>
                <a:spcPct val="115714"/>
              </a:lnSpc>
              <a:buNone/>
            </a:pPr>
            <a:r>
              <a:rPr lang="en-US" sz="1800" dirty="0">
                <a:solidFill>
                  <a:srgbClr val="EEF3F9">
                    <a:alpha val="84000"/>
                  </a:srgbClr>
                </a:solidFill>
                <a:latin typeface="Arial" pitchFamily="34" charset="0"/>
                <a:ea typeface="Arial" pitchFamily="34" charset="-122"/>
                <a:cs typeface="Arial" pitchFamily="34" charset="-120"/>
              </a:rPr>
              <a:t>entre les étapes.</a:t>
            </a:r>
            <a:endParaRPr lang="en-US" sz="1800" dirty="0"/>
          </a:p>
        </p:txBody>
      </p:sp>
      <p:sp>
        <p:nvSpPr>
          <p:cNvPr id="28" name="Text 26"/>
          <p:cNvSpPr/>
          <p:nvPr/>
        </p:nvSpPr>
        <p:spPr>
          <a:xfrm>
            <a:off x="9855201" y="5851796"/>
            <a:ext cx="267196" cy="34667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56DBDB">
                    <a:alpha val="84000"/>
                  </a:srgbClr>
                </a:solidFill>
                <a:latin typeface="Arial" pitchFamily="34" charset="0"/>
                <a:ea typeface="Arial" pitchFamily="34" charset="-122"/>
                <a:cs typeface="Arial" pitchFamily="34" charset="-120"/>
              </a:rPr>
              <a:t>▸</a:t>
            </a:r>
            <a:endParaRPr lang="en-US" sz="1800" dirty="0"/>
          </a:p>
        </p:txBody>
      </p:sp>
      <p:sp>
        <p:nvSpPr>
          <p:cNvPr id="29" name="Text 27"/>
          <p:cNvSpPr/>
          <p:nvPr/>
        </p:nvSpPr>
        <p:spPr>
          <a:xfrm>
            <a:off x="10141446" y="5851796"/>
            <a:ext cx="4481060" cy="336550"/>
          </a:xfrm>
          <a:prstGeom prst="rect">
            <a:avLst/>
          </a:prstGeom>
          <a:noFill/>
          <a:ln/>
        </p:spPr>
        <p:txBody>
          <a:bodyPr wrap="square" lIns="0" tIns="0" rIns="0" bIns="0" rtlCol="0" anchor="t">
            <a:normAutofit/>
          </a:bodyPr>
          <a:lstStyle/>
          <a:p>
            <a:pPr algn="l" indent="0" marL="0">
              <a:lnSpc>
                <a:spcPct val="115714"/>
              </a:lnSpc>
              <a:buNone/>
            </a:pPr>
            <a:r>
              <a:rPr lang="en-US" sz="1800" dirty="0">
                <a:solidFill>
                  <a:srgbClr val="8EA0B5">
                    <a:alpha val="84000"/>
                  </a:srgbClr>
                </a:solidFill>
                <a:latin typeface="Arial" pitchFamily="34" charset="0"/>
                <a:ea typeface="Arial" pitchFamily="34" charset="-122"/>
                <a:cs typeface="Arial" pitchFamily="34" charset="-120"/>
              </a:rPr>
              <a:t>Même logique de distribution des données</a:t>
            </a:r>
            <a:endParaRPr lang="en-US" sz="1800" dirty="0"/>
          </a:p>
        </p:txBody>
      </p:sp>
      <p:sp>
        <p:nvSpPr>
          <p:cNvPr id="30" name="Text 28"/>
          <p:cNvSpPr/>
          <p:nvPr/>
        </p:nvSpPr>
        <p:spPr>
          <a:xfrm>
            <a:off x="9855201" y="6236567"/>
            <a:ext cx="267196" cy="34667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56DBDB">
                    <a:alpha val="84000"/>
                  </a:srgbClr>
                </a:solidFill>
                <a:latin typeface="Arial" pitchFamily="34" charset="0"/>
                <a:ea typeface="Arial" pitchFamily="34" charset="-122"/>
                <a:cs typeface="Arial" pitchFamily="34" charset="-120"/>
              </a:rPr>
              <a:t>▸</a:t>
            </a:r>
            <a:endParaRPr lang="en-US" sz="1800" dirty="0"/>
          </a:p>
        </p:txBody>
      </p:sp>
      <p:sp>
        <p:nvSpPr>
          <p:cNvPr id="31" name="Text 29"/>
          <p:cNvSpPr/>
          <p:nvPr/>
        </p:nvSpPr>
        <p:spPr>
          <a:xfrm>
            <a:off x="10141446" y="6236567"/>
            <a:ext cx="3324721" cy="336550"/>
          </a:xfrm>
          <a:prstGeom prst="rect">
            <a:avLst/>
          </a:prstGeom>
          <a:noFill/>
          <a:ln/>
        </p:spPr>
        <p:txBody>
          <a:bodyPr wrap="square" lIns="0" tIns="0" rIns="0" bIns="0" rtlCol="0" anchor="t">
            <a:normAutofit/>
          </a:bodyPr>
          <a:lstStyle/>
          <a:p>
            <a:pPr algn="l" indent="0" marL="0">
              <a:lnSpc>
                <a:spcPct val="115714"/>
              </a:lnSpc>
              <a:buNone/>
            </a:pPr>
            <a:r>
              <a:rPr lang="en-US" sz="1800" dirty="0">
                <a:solidFill>
                  <a:srgbClr val="8EA0B5">
                    <a:alpha val="84000"/>
                  </a:srgbClr>
                </a:solidFill>
                <a:latin typeface="Arial" pitchFamily="34" charset="0"/>
                <a:ea typeface="Arial" pitchFamily="34" charset="-122"/>
                <a:cs typeface="Arial" pitchFamily="34" charset="-120"/>
              </a:rPr>
              <a:t>Compatible avec HDFS et YARN</a:t>
            </a:r>
            <a:endParaRPr lang="en-US" sz="1800" dirty="0"/>
          </a:p>
        </p:txBody>
      </p:sp>
      <p:sp>
        <p:nvSpPr>
          <p:cNvPr id="32" name="Text 30"/>
          <p:cNvSpPr/>
          <p:nvPr/>
        </p:nvSpPr>
        <p:spPr>
          <a:xfrm>
            <a:off x="9855201" y="6621337"/>
            <a:ext cx="267196" cy="34667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56DBDB">
                    <a:alpha val="84000"/>
                  </a:srgbClr>
                </a:solidFill>
                <a:latin typeface="Arial" pitchFamily="34" charset="0"/>
                <a:ea typeface="Arial" pitchFamily="34" charset="-122"/>
                <a:cs typeface="Arial" pitchFamily="34" charset="-120"/>
              </a:rPr>
              <a:t>▸</a:t>
            </a:r>
            <a:endParaRPr lang="en-US" sz="1800" dirty="0"/>
          </a:p>
        </p:txBody>
      </p:sp>
      <p:sp>
        <p:nvSpPr>
          <p:cNvPr id="33" name="Text 31"/>
          <p:cNvSpPr/>
          <p:nvPr/>
        </p:nvSpPr>
        <p:spPr>
          <a:xfrm>
            <a:off x="10141446" y="6621337"/>
            <a:ext cx="6247915" cy="336550"/>
          </a:xfrm>
          <a:prstGeom prst="rect">
            <a:avLst/>
          </a:prstGeom>
          <a:noFill/>
          <a:ln/>
        </p:spPr>
        <p:txBody>
          <a:bodyPr wrap="square" lIns="0" tIns="0" rIns="0" bIns="0" rtlCol="0" anchor="t">
            <a:normAutofit/>
          </a:bodyPr>
          <a:lstStyle/>
          <a:p>
            <a:pPr algn="l" indent="0" marL="0">
              <a:lnSpc>
                <a:spcPct val="115714"/>
              </a:lnSpc>
              <a:buNone/>
            </a:pPr>
            <a:r>
              <a:rPr lang="en-US" sz="1800" dirty="0">
                <a:solidFill>
                  <a:srgbClr val="8EA0B5">
                    <a:alpha val="84000"/>
                  </a:srgbClr>
                </a:solidFill>
                <a:latin typeface="Arial" pitchFamily="34" charset="0"/>
                <a:ea typeface="Arial" pitchFamily="34" charset="-122"/>
                <a:cs typeface="Arial" pitchFamily="34" charset="-120"/>
              </a:rPr>
              <a:t>Réduit les écritures disque, accélère l'analytique et l'itératif</a:t>
            </a:r>
            <a:endParaRPr lang="en-US" sz="1800" dirty="0"/>
          </a:p>
        </p:txBody>
      </p:sp>
      <p:sp>
        <p:nvSpPr>
          <p:cNvPr id="34" name="Shape 32"/>
          <p:cNvSpPr/>
          <p:nvPr/>
        </p:nvSpPr>
        <p:spPr>
          <a:xfrm>
            <a:off x="9855201" y="7082307"/>
            <a:ext cx="25400" cy="617141"/>
          </a:xfrm>
          <a:prstGeom prst="rect">
            <a:avLst/>
          </a:prstGeom>
          <a:solidFill>
            <a:srgbClr val="56DBDB">
              <a:alpha val="84000"/>
            </a:srgbClr>
          </a:solidFill>
          <a:ln/>
        </p:spPr>
      </p:sp>
      <p:sp>
        <p:nvSpPr>
          <p:cNvPr id="35" name="Text 33"/>
          <p:cNvSpPr/>
          <p:nvPr/>
        </p:nvSpPr>
        <p:spPr>
          <a:xfrm>
            <a:off x="10033001" y="7082307"/>
            <a:ext cx="7088696" cy="655241"/>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8EA0B5">
                    <a:alpha val="84000"/>
                  </a:srgbClr>
                </a:solidFill>
                <a:latin typeface="Arial" pitchFamily="34" charset="0"/>
                <a:ea typeface="Arial" pitchFamily="34" charset="-122"/>
                <a:cs typeface="Arial" pitchFamily="34" charset="-120"/>
              </a:rPr>
              <a:t>Spark ne </a:t>
            </a:r>
            <a:pPr algn="l" indent="0" marL="0">
              <a:lnSpc>
                <a:spcPct val="115714"/>
              </a:lnSpc>
              <a:buNone/>
            </a:pPr>
            <a:r>
              <a:rPr lang="en-US" sz="1800" dirty="0">
                <a:solidFill>
                  <a:srgbClr val="EEF3F9">
                    <a:alpha val="84000"/>
                  </a:srgbClr>
                </a:solidFill>
                <a:latin typeface="Arial" pitchFamily="34" charset="0"/>
                <a:ea typeface="Arial" pitchFamily="34" charset="-122"/>
                <a:cs typeface="Arial" pitchFamily="34" charset="-120"/>
              </a:rPr>
              <a:t>remplace pas </a:t>
            </a:r>
            <a:pPr algn="l" indent="0" marL="0">
              <a:lnSpc>
                <a:spcPct val="115714"/>
              </a:lnSpc>
              <a:buNone/>
            </a:pPr>
            <a:r>
              <a:rPr lang="en-US" sz="1800" dirty="0">
                <a:solidFill>
                  <a:srgbClr val="8EA0B5">
                    <a:alpha val="84000"/>
                  </a:srgbClr>
                </a:solidFill>
                <a:latin typeface="Arial" pitchFamily="34" charset="0"/>
                <a:ea typeface="Arial" pitchFamily="34" charset="-122"/>
                <a:cs typeface="Arial" pitchFamily="34" charset="-120"/>
              </a:rPr>
              <a:t>Hadoop : il complète son écosystème avec un moteur de calcul plus performant.</a:t>
            </a:r>
            <a:endParaRPr lang="en-US" sz="1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0C121C"/>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56DBDB">
                    <a:alpha val="97000"/>
                  </a:srgbClr>
                </a:solidFill>
                <a:latin typeface="Courier New" pitchFamily="34" charset="0"/>
                <a:ea typeface="Courier New" pitchFamily="34" charset="-122"/>
                <a:cs typeface="Courier New" pitchFamily="34" charset="-120"/>
              </a:rPr>
              <a:t>ATELIER 4.2 · ARCHITECTURE</a:t>
            </a:r>
            <a:endParaRPr lang="en-US" sz="1800" dirty="0"/>
          </a:p>
        </p:txBody>
      </p:sp>
      <p:sp>
        <p:nvSpPr>
          <p:cNvPr id="3" name="Text 1"/>
          <p:cNvSpPr/>
          <p:nvPr/>
        </p:nvSpPr>
        <p:spPr>
          <a:xfrm>
            <a:off x="1066800" y="1314451"/>
            <a:ext cx="17769840"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L'architecture d'Apache Spark</a:t>
            </a:r>
            <a:endParaRPr lang="en-US" sz="4800" dirty="0"/>
          </a:p>
        </p:txBody>
      </p:sp>
      <p:sp>
        <p:nvSpPr>
          <p:cNvPr id="4" name="Shape 2"/>
          <p:cNvSpPr/>
          <p:nvPr/>
        </p:nvSpPr>
        <p:spPr>
          <a:xfrm>
            <a:off x="4436765" y="4530130"/>
            <a:ext cx="1780580" cy="723900"/>
          </a:xfrm>
          <a:prstGeom prst="roundRect">
            <a:avLst>
              <a:gd name="adj" fmla="val 15789"/>
            </a:avLst>
          </a:prstGeom>
          <a:gradFill rotWithShape="1">
            <a:gsLst>
              <a:gs pos="0">
                <a:srgbClr val="57DBDB">
                  <a:alpha val="22000"/>
                </a:srgbClr>
              </a:gs>
              <a:gs pos="100000">
                <a:srgbClr val="FFFFFF">
                  <a:alpha val="6000"/>
                </a:srgbClr>
              </a:gs>
            </a:gsLst>
            <a:lin ang="4200000" scaled="0"/>
          </a:gradFill>
          <a:ln w="6350">
            <a:solidFill>
              <a:srgbClr val="75E1E1">
                <a:alpha val="46000"/>
              </a:srgbClr>
            </a:solidFill>
            <a:prstDash val="solid"/>
          </a:ln>
        </p:spPr>
      </p:sp>
      <p:sp>
        <p:nvSpPr>
          <p:cNvPr id="5" name="Text 3"/>
          <p:cNvSpPr/>
          <p:nvPr/>
        </p:nvSpPr>
        <p:spPr>
          <a:xfrm>
            <a:off x="4881265" y="4726980"/>
            <a:ext cx="967780" cy="368300"/>
          </a:xfrm>
          <a:prstGeom prst="rect">
            <a:avLst/>
          </a:prstGeom>
          <a:noFill/>
          <a:ln/>
        </p:spPr>
        <p:txBody>
          <a:bodyPr wrap="square" lIns="25400" tIns="25400" rIns="25400" bIns="25400" rtlCol="0" anchor="t">
            <a:normAutofit/>
          </a:bodyPr>
          <a:lstStyle/>
          <a:p>
            <a:pPr algn="l" indent="0" marL="0">
              <a:buNone/>
            </a:pPr>
            <a:r>
              <a:rPr lang="en-US" sz="1950" dirty="0">
                <a:solidFill>
                  <a:srgbClr val="56DBDB"/>
                </a:solidFill>
                <a:latin typeface="Courier New" pitchFamily="34" charset="0"/>
                <a:ea typeface="Courier New" pitchFamily="34" charset="-122"/>
                <a:cs typeface="Courier New" pitchFamily="34" charset="-120"/>
              </a:rPr>
              <a:t>Driver</a:t>
            </a:r>
            <a:endParaRPr lang="en-US" sz="1950" dirty="0"/>
          </a:p>
        </p:txBody>
      </p:sp>
      <p:sp>
        <p:nvSpPr>
          <p:cNvPr id="6" name="Shape 4"/>
          <p:cNvSpPr/>
          <p:nvPr/>
        </p:nvSpPr>
        <p:spPr>
          <a:xfrm>
            <a:off x="5317530" y="5254030"/>
            <a:ext cx="19050" cy="285750"/>
          </a:xfrm>
          <a:prstGeom prst="rect">
            <a:avLst/>
          </a:prstGeom>
          <a:solidFill>
            <a:srgbClr val="56DBDB">
              <a:alpha val="69000"/>
            </a:srgbClr>
          </a:solidFill>
          <a:ln/>
        </p:spPr>
      </p:sp>
      <p:sp>
        <p:nvSpPr>
          <p:cNvPr id="7" name="Shape 5"/>
          <p:cNvSpPr/>
          <p:nvPr/>
        </p:nvSpPr>
        <p:spPr>
          <a:xfrm>
            <a:off x="3862817" y="5538493"/>
            <a:ext cx="2928475" cy="707423"/>
          </a:xfrm>
          <a:prstGeom prst="roundRect">
            <a:avLst>
              <a:gd name="adj" fmla="val 16216"/>
            </a:avLst>
          </a:prstGeom>
          <a:solidFill>
            <a:srgbClr val="FFFFFF">
              <a:alpha val="6000"/>
            </a:srgbClr>
          </a:solidFill>
          <a:ln w="6373">
            <a:solidFill>
              <a:srgbClr val="FFFFFF">
                <a:alpha val="10000"/>
              </a:srgbClr>
            </a:solidFill>
            <a:prstDash val="solid"/>
          </a:ln>
        </p:spPr>
      </p:sp>
      <p:sp>
        <p:nvSpPr>
          <p:cNvPr id="8" name="Text 6"/>
          <p:cNvSpPr/>
          <p:nvPr/>
        </p:nvSpPr>
        <p:spPr>
          <a:xfrm>
            <a:off x="4251581" y="5736062"/>
            <a:ext cx="2238802" cy="350386"/>
          </a:xfrm>
          <a:prstGeom prst="rect">
            <a:avLst/>
          </a:prstGeom>
          <a:noFill/>
          <a:ln/>
        </p:spPr>
        <p:txBody>
          <a:bodyPr wrap="square" lIns="25400" tIns="25400" rIns="25400" bIns="25400" rtlCol="0" anchor="t">
            <a:normAutofit/>
          </a:bodyPr>
          <a:lstStyle/>
          <a:p>
            <a:pPr algn="l" indent="0" marL="0">
              <a:buNone/>
            </a:pPr>
            <a:r>
              <a:rPr lang="en-US" sz="1882" dirty="0">
                <a:solidFill>
                  <a:srgbClr val="EEF3F9"/>
                </a:solidFill>
                <a:latin typeface="Courier New" pitchFamily="34" charset="0"/>
                <a:ea typeface="Courier New" pitchFamily="34" charset="-122"/>
                <a:cs typeface="Courier New" pitchFamily="34" charset="-120"/>
              </a:rPr>
              <a:t>Cluster Manager</a:t>
            </a:r>
            <a:endParaRPr lang="en-US" sz="1882" dirty="0"/>
          </a:p>
        </p:txBody>
      </p:sp>
      <p:sp>
        <p:nvSpPr>
          <p:cNvPr id="9" name="Shape 7"/>
          <p:cNvSpPr/>
          <p:nvPr/>
        </p:nvSpPr>
        <p:spPr>
          <a:xfrm>
            <a:off x="5317530" y="6244630"/>
            <a:ext cx="19050" cy="285750"/>
          </a:xfrm>
          <a:prstGeom prst="rect">
            <a:avLst/>
          </a:prstGeom>
          <a:solidFill>
            <a:srgbClr val="56DBDB">
              <a:alpha val="69000"/>
            </a:srgbClr>
          </a:solidFill>
          <a:ln/>
        </p:spPr>
      </p:sp>
      <p:sp>
        <p:nvSpPr>
          <p:cNvPr id="10" name="Shape 8"/>
          <p:cNvSpPr/>
          <p:nvPr/>
        </p:nvSpPr>
        <p:spPr>
          <a:xfrm>
            <a:off x="2497723" y="6526236"/>
            <a:ext cx="1785164" cy="744888"/>
          </a:xfrm>
          <a:prstGeom prst="roundRect">
            <a:avLst>
              <a:gd name="adj" fmla="val 15517"/>
            </a:avLst>
          </a:prstGeom>
          <a:solidFill>
            <a:srgbClr val="FFFFFF">
              <a:alpha val="3000"/>
            </a:srgbClr>
          </a:solidFill>
          <a:ln w="6421">
            <a:solidFill>
              <a:srgbClr val="FFFFFF">
                <a:alpha val="10000"/>
              </a:srgbClr>
            </a:solidFill>
            <a:prstDash val="solid"/>
          </a:ln>
        </p:spPr>
      </p:sp>
      <p:sp>
        <p:nvSpPr>
          <p:cNvPr id="11" name="Text 9"/>
          <p:cNvSpPr/>
          <p:nvPr/>
        </p:nvSpPr>
        <p:spPr>
          <a:xfrm>
            <a:off x="2658688" y="6744565"/>
            <a:ext cx="1463235" cy="346330"/>
          </a:xfrm>
          <a:prstGeom prst="rect">
            <a:avLst/>
          </a:prstGeom>
          <a:noFill/>
          <a:ln/>
        </p:spPr>
        <p:txBody>
          <a:bodyPr wrap="square" lIns="25400" tIns="25400" rIns="25400" bIns="25400" rtlCol="0" anchor="t">
            <a:normAutofit/>
          </a:bodyPr>
          <a:lstStyle/>
          <a:p>
            <a:pPr algn="ctr" indent="0" marL="0">
              <a:buNone/>
            </a:pPr>
            <a:r>
              <a:rPr lang="en-US" sz="1820" dirty="0">
                <a:solidFill>
                  <a:srgbClr val="EEF3F9"/>
                </a:solidFill>
                <a:latin typeface="Courier New" pitchFamily="34" charset="0"/>
                <a:ea typeface="Courier New" pitchFamily="34" charset="-122"/>
                <a:cs typeface="Courier New" pitchFamily="34" charset="-120"/>
              </a:rPr>
              <a:t>Executor 1</a:t>
            </a:r>
            <a:endParaRPr lang="en-US" sz="1820" dirty="0"/>
          </a:p>
        </p:txBody>
      </p:sp>
      <p:sp>
        <p:nvSpPr>
          <p:cNvPr id="12" name="Shape 10"/>
          <p:cNvSpPr/>
          <p:nvPr/>
        </p:nvSpPr>
        <p:spPr>
          <a:xfrm>
            <a:off x="4434613" y="6526294"/>
            <a:ext cx="1784883" cy="744772"/>
          </a:xfrm>
          <a:prstGeom prst="roundRect">
            <a:avLst>
              <a:gd name="adj" fmla="val 15517"/>
            </a:avLst>
          </a:prstGeom>
          <a:solidFill>
            <a:srgbClr val="FFFFFF">
              <a:alpha val="3000"/>
            </a:srgbClr>
          </a:solidFill>
          <a:ln w="6420">
            <a:solidFill>
              <a:srgbClr val="FFFFFF">
                <a:alpha val="10000"/>
              </a:srgbClr>
            </a:solidFill>
            <a:prstDash val="solid"/>
          </a:ln>
        </p:spPr>
      </p:sp>
      <p:sp>
        <p:nvSpPr>
          <p:cNvPr id="13" name="Text 11"/>
          <p:cNvSpPr/>
          <p:nvPr/>
        </p:nvSpPr>
        <p:spPr>
          <a:xfrm>
            <a:off x="4595546" y="6744588"/>
            <a:ext cx="1463017" cy="346283"/>
          </a:xfrm>
          <a:prstGeom prst="rect">
            <a:avLst/>
          </a:prstGeom>
          <a:noFill/>
          <a:ln/>
        </p:spPr>
        <p:txBody>
          <a:bodyPr wrap="square" lIns="25400" tIns="25400" rIns="25400" bIns="25400" rtlCol="0" anchor="t">
            <a:normAutofit/>
          </a:bodyPr>
          <a:lstStyle/>
          <a:p>
            <a:pPr algn="ctr" indent="0" marL="0">
              <a:buNone/>
            </a:pPr>
            <a:r>
              <a:rPr lang="en-US" sz="1820" dirty="0">
                <a:solidFill>
                  <a:srgbClr val="EEF3F9"/>
                </a:solidFill>
                <a:latin typeface="Courier New" pitchFamily="34" charset="0"/>
                <a:ea typeface="Courier New" pitchFamily="34" charset="-122"/>
                <a:cs typeface="Courier New" pitchFamily="34" charset="-120"/>
              </a:rPr>
              <a:t>Executor 2</a:t>
            </a:r>
            <a:endParaRPr lang="en-US" sz="1820" dirty="0"/>
          </a:p>
        </p:txBody>
      </p:sp>
      <p:sp>
        <p:nvSpPr>
          <p:cNvPr id="14" name="Shape 12"/>
          <p:cNvSpPr/>
          <p:nvPr/>
        </p:nvSpPr>
        <p:spPr>
          <a:xfrm>
            <a:off x="6384437" y="6531750"/>
            <a:ext cx="1758736" cy="733861"/>
          </a:xfrm>
          <a:prstGeom prst="roundRect">
            <a:avLst>
              <a:gd name="adj" fmla="val 15517"/>
            </a:avLst>
          </a:prstGeom>
          <a:solidFill>
            <a:srgbClr val="FFFFFF">
              <a:alpha val="3000"/>
            </a:srgbClr>
          </a:solidFill>
          <a:ln w="6326">
            <a:solidFill>
              <a:srgbClr val="FFFFFF">
                <a:alpha val="10000"/>
              </a:srgbClr>
            </a:solidFill>
            <a:prstDash val="solid"/>
          </a:ln>
        </p:spPr>
      </p:sp>
      <p:sp>
        <p:nvSpPr>
          <p:cNvPr id="15" name="Text 13"/>
          <p:cNvSpPr/>
          <p:nvPr/>
        </p:nvSpPr>
        <p:spPr>
          <a:xfrm>
            <a:off x="6542455" y="6746847"/>
            <a:ext cx="1442700" cy="341766"/>
          </a:xfrm>
          <a:prstGeom prst="rect">
            <a:avLst/>
          </a:prstGeom>
          <a:noFill/>
          <a:ln/>
        </p:spPr>
        <p:txBody>
          <a:bodyPr wrap="square" lIns="25400" tIns="25400" rIns="25400" bIns="25400" rtlCol="0" anchor="t">
            <a:normAutofit/>
          </a:bodyPr>
          <a:lstStyle/>
          <a:p>
            <a:pPr algn="ctr" indent="0" marL="0">
              <a:buNone/>
            </a:pPr>
            <a:r>
              <a:rPr lang="en-US" sz="1793" dirty="0">
                <a:solidFill>
                  <a:srgbClr val="EEF3F9">
                    <a:alpha val="98000"/>
                  </a:srgbClr>
                </a:solidFill>
                <a:latin typeface="Courier New" pitchFamily="34" charset="0"/>
                <a:ea typeface="Courier New" pitchFamily="34" charset="-122"/>
                <a:cs typeface="Courier New" pitchFamily="34" charset="-120"/>
              </a:rPr>
              <a:t>Executor 3</a:t>
            </a:r>
            <a:endParaRPr lang="en-US" sz="1793" dirty="0"/>
          </a:p>
        </p:txBody>
      </p:sp>
      <p:sp>
        <p:nvSpPr>
          <p:cNvPr id="16" name="Shape 14"/>
          <p:cNvSpPr/>
          <p:nvPr/>
        </p:nvSpPr>
        <p:spPr>
          <a:xfrm>
            <a:off x="10120710" y="4647109"/>
            <a:ext cx="25400" cy="681930"/>
          </a:xfrm>
          <a:prstGeom prst="rect">
            <a:avLst/>
          </a:prstGeom>
          <a:solidFill>
            <a:srgbClr val="56DBDB"/>
          </a:solidFill>
          <a:ln/>
        </p:spPr>
      </p:sp>
      <p:sp>
        <p:nvSpPr>
          <p:cNvPr id="17" name="Text 15"/>
          <p:cNvSpPr/>
          <p:nvPr/>
        </p:nvSpPr>
        <p:spPr>
          <a:xfrm>
            <a:off x="10355660" y="4647109"/>
            <a:ext cx="7552095" cy="342900"/>
          </a:xfrm>
          <a:prstGeom prst="rect">
            <a:avLst/>
          </a:prstGeom>
          <a:noFill/>
          <a:ln/>
        </p:spPr>
        <p:txBody>
          <a:bodyPr wrap="square" lIns="25400" tIns="25400" rIns="25400" bIns="25400" rtlCol="0" anchor="t">
            <a:normAutofit/>
          </a:bodyPr>
          <a:lstStyle/>
          <a:p>
            <a:pPr algn="l" indent="0" marL="0">
              <a:buNone/>
            </a:pPr>
            <a:r>
              <a:rPr lang="en-US" sz="2100" b="1" dirty="0">
                <a:solidFill>
                  <a:srgbClr val="EEF3F9"/>
                </a:solidFill>
                <a:latin typeface="Arial" pitchFamily="34" charset="0"/>
                <a:ea typeface="Arial" pitchFamily="34" charset="-122"/>
                <a:cs typeface="Arial" pitchFamily="34" charset="-120"/>
              </a:rPr>
              <a:t>Driver</a:t>
            </a:r>
            <a:endParaRPr lang="en-US" sz="2100" dirty="0"/>
          </a:p>
        </p:txBody>
      </p:sp>
      <p:sp>
        <p:nvSpPr>
          <p:cNvPr id="18" name="Text 16"/>
          <p:cNvSpPr/>
          <p:nvPr/>
        </p:nvSpPr>
        <p:spPr>
          <a:xfrm>
            <a:off x="10355660" y="5009059"/>
            <a:ext cx="7552095" cy="35808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8EA0B5"/>
                </a:solidFill>
                <a:latin typeface="Arial" pitchFamily="34" charset="0"/>
                <a:ea typeface="Arial" pitchFamily="34" charset="-122"/>
                <a:cs typeface="Arial" pitchFamily="34" charset="-120"/>
              </a:rPr>
              <a:t>Exécute le main, construit le plan, distribue les tâches.</a:t>
            </a:r>
            <a:endParaRPr lang="en-US" sz="1800" dirty="0"/>
          </a:p>
        </p:txBody>
      </p:sp>
      <p:sp>
        <p:nvSpPr>
          <p:cNvPr id="19" name="Shape 17"/>
          <p:cNvSpPr/>
          <p:nvPr/>
        </p:nvSpPr>
        <p:spPr>
          <a:xfrm>
            <a:off x="10119863" y="5557639"/>
            <a:ext cx="25400" cy="681930"/>
          </a:xfrm>
          <a:prstGeom prst="rect">
            <a:avLst/>
          </a:prstGeom>
          <a:solidFill>
            <a:srgbClr val="56DBDB"/>
          </a:solidFill>
          <a:ln/>
        </p:spPr>
      </p:sp>
      <p:sp>
        <p:nvSpPr>
          <p:cNvPr id="20" name="Text 18"/>
          <p:cNvSpPr/>
          <p:nvPr/>
        </p:nvSpPr>
        <p:spPr>
          <a:xfrm>
            <a:off x="10354812" y="5557639"/>
            <a:ext cx="7552096" cy="342900"/>
          </a:xfrm>
          <a:prstGeom prst="rect">
            <a:avLst/>
          </a:prstGeom>
          <a:noFill/>
          <a:ln/>
        </p:spPr>
        <p:txBody>
          <a:bodyPr wrap="square" lIns="25400" tIns="25400" rIns="25400" bIns="25400" rtlCol="0" anchor="t">
            <a:normAutofit/>
          </a:bodyPr>
          <a:lstStyle/>
          <a:p>
            <a:pPr algn="l" indent="0" marL="0">
              <a:buNone/>
            </a:pPr>
            <a:r>
              <a:rPr lang="en-US" sz="2100" b="1" dirty="0">
                <a:solidFill>
                  <a:srgbClr val="EEF3F9"/>
                </a:solidFill>
                <a:latin typeface="Arial" pitchFamily="34" charset="0"/>
                <a:ea typeface="Arial" pitchFamily="34" charset="-122"/>
                <a:cs typeface="Arial" pitchFamily="34" charset="-120"/>
              </a:rPr>
              <a:t>Cluster Manager</a:t>
            </a:r>
            <a:endParaRPr lang="en-US" sz="2100" dirty="0"/>
          </a:p>
        </p:txBody>
      </p:sp>
      <p:sp>
        <p:nvSpPr>
          <p:cNvPr id="21" name="Text 19"/>
          <p:cNvSpPr/>
          <p:nvPr/>
        </p:nvSpPr>
        <p:spPr>
          <a:xfrm>
            <a:off x="10354812" y="5919589"/>
            <a:ext cx="7552096" cy="35808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8EA0B5"/>
                </a:solidFill>
                <a:latin typeface="Arial" pitchFamily="34" charset="0"/>
                <a:ea typeface="Arial" pitchFamily="34" charset="-122"/>
                <a:cs typeface="Arial" pitchFamily="34" charset="-120"/>
              </a:rPr>
              <a:t>Alloue CPU et mémoire — Standalone en local, YARN sur EMR.</a:t>
            </a:r>
            <a:endParaRPr lang="en-US" sz="1800" dirty="0"/>
          </a:p>
        </p:txBody>
      </p:sp>
      <p:sp>
        <p:nvSpPr>
          <p:cNvPr id="22" name="Shape 20"/>
          <p:cNvSpPr/>
          <p:nvPr/>
        </p:nvSpPr>
        <p:spPr>
          <a:xfrm>
            <a:off x="10115770" y="6468170"/>
            <a:ext cx="25400" cy="681930"/>
          </a:xfrm>
          <a:prstGeom prst="rect">
            <a:avLst/>
          </a:prstGeom>
          <a:solidFill>
            <a:srgbClr val="56DBDB">
              <a:alpha val="98000"/>
            </a:srgbClr>
          </a:solidFill>
          <a:ln/>
        </p:spPr>
      </p:sp>
      <p:sp>
        <p:nvSpPr>
          <p:cNvPr id="23" name="Text 21"/>
          <p:cNvSpPr/>
          <p:nvPr/>
        </p:nvSpPr>
        <p:spPr>
          <a:xfrm>
            <a:off x="10350719" y="6468170"/>
            <a:ext cx="7552096" cy="342900"/>
          </a:xfrm>
          <a:prstGeom prst="rect">
            <a:avLst/>
          </a:prstGeom>
          <a:noFill/>
          <a:ln/>
        </p:spPr>
        <p:txBody>
          <a:bodyPr wrap="square" lIns="25400" tIns="25400" rIns="25400" bIns="25400" rtlCol="0" anchor="t">
            <a:normAutofit/>
          </a:bodyPr>
          <a:lstStyle/>
          <a:p>
            <a:pPr algn="l" indent="0" marL="0">
              <a:buNone/>
            </a:pPr>
            <a:r>
              <a:rPr lang="en-US" sz="2100" b="1" dirty="0">
                <a:solidFill>
                  <a:srgbClr val="EEF3F9">
                    <a:alpha val="98000"/>
                  </a:srgbClr>
                </a:solidFill>
                <a:latin typeface="Arial" pitchFamily="34" charset="0"/>
                <a:ea typeface="Arial" pitchFamily="34" charset="-122"/>
                <a:cs typeface="Arial" pitchFamily="34" charset="-120"/>
              </a:rPr>
              <a:t>Executors</a:t>
            </a:r>
            <a:endParaRPr lang="en-US" sz="2100" dirty="0"/>
          </a:p>
        </p:txBody>
      </p:sp>
      <p:sp>
        <p:nvSpPr>
          <p:cNvPr id="24" name="Text 22"/>
          <p:cNvSpPr/>
          <p:nvPr/>
        </p:nvSpPr>
        <p:spPr>
          <a:xfrm>
            <a:off x="10350719" y="6830120"/>
            <a:ext cx="7552096" cy="35808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8EA0B5">
                    <a:alpha val="98000"/>
                  </a:srgbClr>
                </a:solidFill>
                <a:latin typeface="Arial" pitchFamily="34" charset="0"/>
                <a:ea typeface="Arial" pitchFamily="34" charset="-122"/>
                <a:cs typeface="Arial" pitchFamily="34" charset="-120"/>
              </a:rPr>
              <a:t>Exécutent les tâches en parallèle, stockent en mémoire.</a:t>
            </a:r>
            <a:endParaRPr lang="en-US" sz="1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0A0E15"/>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56DBDB">
                    <a:alpha val="97000"/>
                  </a:srgbClr>
                </a:solidFill>
                <a:latin typeface="Courier New" pitchFamily="34" charset="0"/>
                <a:ea typeface="Courier New" pitchFamily="34" charset="-122"/>
                <a:cs typeface="Courier New" pitchFamily="34" charset="-120"/>
              </a:rPr>
              <a:t>ATELIER 4.2 · DEUX API</a:t>
            </a:r>
            <a:endParaRPr lang="en-US" sz="1800" dirty="0"/>
          </a:p>
        </p:txBody>
      </p:sp>
      <p:sp>
        <p:nvSpPr>
          <p:cNvPr id="3" name="Text 1"/>
          <p:cNvSpPr/>
          <p:nvPr/>
        </p:nvSpPr>
        <p:spPr>
          <a:xfrm>
            <a:off x="1066800" y="1314451"/>
            <a:ext cx="17769840"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RDD ou DataFrame ?</a:t>
            </a:r>
            <a:endParaRPr lang="en-US" sz="4800" dirty="0"/>
          </a:p>
        </p:txBody>
      </p:sp>
      <p:sp>
        <p:nvSpPr>
          <p:cNvPr id="4" name="Shape 2"/>
          <p:cNvSpPr/>
          <p:nvPr/>
        </p:nvSpPr>
        <p:spPr>
          <a:xfrm>
            <a:off x="1066800" y="2368914"/>
            <a:ext cx="16154400" cy="3771900"/>
          </a:xfrm>
          <a:prstGeom prst="roundRect">
            <a:avLst>
              <a:gd name="adj" fmla="val 4545"/>
            </a:avLst>
          </a:prstGeom>
          <a:solidFill>
            <a:srgbClr val="FFFFFF">
              <a:alpha val="3000"/>
            </a:srgbClr>
          </a:solidFill>
          <a:ln w="6350">
            <a:solidFill>
              <a:srgbClr val="FFFFFF">
                <a:alpha val="10000"/>
              </a:srgbClr>
            </a:solidFill>
            <a:prstDash val="solid"/>
          </a:ln>
        </p:spPr>
      </p:sp>
      <p:sp>
        <p:nvSpPr>
          <p:cNvPr id="5" name="Shape 3"/>
          <p:cNvSpPr/>
          <p:nvPr/>
        </p:nvSpPr>
        <p:spPr>
          <a:xfrm>
            <a:off x="1073150" y="3137264"/>
            <a:ext cx="16141701" cy="9525"/>
          </a:xfrm>
          <a:prstGeom prst="rect">
            <a:avLst/>
          </a:prstGeom>
          <a:solidFill>
            <a:srgbClr val="FFFFFF">
              <a:alpha val="10000"/>
            </a:srgbClr>
          </a:solidFill>
          <a:ln/>
        </p:spPr>
      </p:sp>
      <p:sp>
        <p:nvSpPr>
          <p:cNvPr id="6" name="Text 4"/>
          <p:cNvSpPr/>
          <p:nvPr/>
        </p:nvSpPr>
        <p:spPr>
          <a:xfrm>
            <a:off x="7786886" y="2603864"/>
            <a:ext cx="497583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FB46E">
                    <a:alpha val="99000"/>
                  </a:srgbClr>
                </a:solidFill>
                <a:latin typeface="Courier New" pitchFamily="34" charset="0"/>
                <a:ea typeface="Courier New" pitchFamily="34" charset="-122"/>
                <a:cs typeface="Courier New" pitchFamily="34" charset="-120"/>
              </a:rPr>
              <a:t>RDD</a:t>
            </a:r>
            <a:endParaRPr lang="en-US" sz="1800" dirty="0"/>
          </a:p>
        </p:txBody>
      </p:sp>
      <p:sp>
        <p:nvSpPr>
          <p:cNvPr id="7" name="Text 5"/>
          <p:cNvSpPr/>
          <p:nvPr/>
        </p:nvSpPr>
        <p:spPr>
          <a:xfrm>
            <a:off x="12310368" y="2603864"/>
            <a:ext cx="497572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6DBDB">
                    <a:alpha val="99000"/>
                  </a:srgbClr>
                </a:solidFill>
                <a:latin typeface="Courier New" pitchFamily="34" charset="0"/>
                <a:ea typeface="Courier New" pitchFamily="34" charset="-122"/>
                <a:cs typeface="Courier New" pitchFamily="34" charset="-120"/>
              </a:rPr>
              <a:t>DataFrame</a:t>
            </a:r>
            <a:endParaRPr lang="en-US" sz="1800" dirty="0"/>
          </a:p>
        </p:txBody>
      </p:sp>
      <p:sp>
        <p:nvSpPr>
          <p:cNvPr id="8" name="Shape 6"/>
          <p:cNvSpPr/>
          <p:nvPr/>
        </p:nvSpPr>
        <p:spPr>
          <a:xfrm>
            <a:off x="1073150" y="3886564"/>
            <a:ext cx="16141701" cy="9525"/>
          </a:xfrm>
          <a:prstGeom prst="rect">
            <a:avLst/>
          </a:prstGeom>
          <a:solidFill>
            <a:srgbClr val="FFFFFF">
              <a:alpha val="6000"/>
            </a:srgbClr>
          </a:solidFill>
          <a:ln/>
        </p:spPr>
      </p:sp>
      <p:sp>
        <p:nvSpPr>
          <p:cNvPr id="9" name="Text 7"/>
          <p:cNvSpPr/>
          <p:nvPr/>
        </p:nvSpPr>
        <p:spPr>
          <a:xfrm>
            <a:off x="1454150" y="3353164"/>
            <a:ext cx="6966010" cy="361950"/>
          </a:xfrm>
          <a:prstGeom prst="rect">
            <a:avLst/>
          </a:prstGeom>
          <a:noFill/>
          <a:ln/>
        </p:spPr>
        <p:txBody>
          <a:bodyPr wrap="square" lIns="25400" tIns="25400" rIns="25400" bIns="25400" rtlCol="0" anchor="t">
            <a:normAutofit/>
          </a:bodyPr>
          <a:lstStyle/>
          <a:p>
            <a:pPr algn="l" indent="0" marL="0">
              <a:buNone/>
            </a:pPr>
            <a:r>
              <a:rPr lang="en-US" sz="1950" dirty="0">
                <a:solidFill>
                  <a:srgbClr val="8EA0B5">
                    <a:alpha val="99000"/>
                  </a:srgbClr>
                </a:solidFill>
                <a:latin typeface="Arial" pitchFamily="34" charset="0"/>
                <a:ea typeface="Arial" pitchFamily="34" charset="-122"/>
                <a:cs typeface="Arial" pitchFamily="34" charset="-120"/>
              </a:rPr>
              <a:t>Niveau d'abstraction</a:t>
            </a:r>
            <a:endParaRPr lang="en-US" sz="1950" dirty="0"/>
          </a:p>
        </p:txBody>
      </p:sp>
      <p:sp>
        <p:nvSpPr>
          <p:cNvPr id="10" name="Text 8"/>
          <p:cNvSpPr/>
          <p:nvPr/>
        </p:nvSpPr>
        <p:spPr>
          <a:xfrm>
            <a:off x="7786886" y="3353164"/>
            <a:ext cx="4975830" cy="361950"/>
          </a:xfrm>
          <a:prstGeom prst="rect">
            <a:avLst/>
          </a:prstGeom>
          <a:noFill/>
          <a:ln/>
        </p:spPr>
        <p:txBody>
          <a:bodyPr wrap="square" lIns="25400" tIns="25400" rIns="25400" bIns="25400" rtlCol="0" anchor="t">
            <a:normAutofit/>
          </a:bodyPr>
          <a:lstStyle/>
          <a:p>
            <a:pPr algn="l" indent="0" marL="0">
              <a:buNone/>
            </a:pPr>
            <a:r>
              <a:rPr lang="en-US" sz="1950" dirty="0">
                <a:solidFill>
                  <a:srgbClr val="EEF3F9">
                    <a:alpha val="99000"/>
                  </a:srgbClr>
                </a:solidFill>
                <a:latin typeface="Arial" pitchFamily="34" charset="0"/>
                <a:ea typeface="Arial" pitchFamily="34" charset="-122"/>
                <a:cs typeface="Arial" pitchFamily="34" charset="-120"/>
              </a:rPr>
              <a:t>Bas, proche MapReduce</a:t>
            </a:r>
            <a:endParaRPr lang="en-US" sz="1950" dirty="0"/>
          </a:p>
        </p:txBody>
      </p:sp>
      <p:sp>
        <p:nvSpPr>
          <p:cNvPr id="11" name="Text 9"/>
          <p:cNvSpPr/>
          <p:nvPr/>
        </p:nvSpPr>
        <p:spPr>
          <a:xfrm>
            <a:off x="12310368" y="3353164"/>
            <a:ext cx="4975721" cy="361950"/>
          </a:xfrm>
          <a:prstGeom prst="rect">
            <a:avLst/>
          </a:prstGeom>
          <a:noFill/>
          <a:ln/>
        </p:spPr>
        <p:txBody>
          <a:bodyPr wrap="square" lIns="25400" tIns="25400" rIns="25400" bIns="25400" rtlCol="0" anchor="t">
            <a:normAutofit/>
          </a:bodyPr>
          <a:lstStyle/>
          <a:p>
            <a:pPr algn="l" indent="0" marL="0">
              <a:buNone/>
            </a:pPr>
            <a:r>
              <a:rPr lang="en-US" sz="1950" dirty="0">
                <a:solidFill>
                  <a:srgbClr val="EEF3F9">
                    <a:alpha val="99000"/>
                  </a:srgbClr>
                </a:solidFill>
                <a:latin typeface="Arial" pitchFamily="34" charset="0"/>
                <a:ea typeface="Arial" pitchFamily="34" charset="-122"/>
                <a:cs typeface="Arial" pitchFamily="34" charset="-120"/>
              </a:rPr>
              <a:t>Haut, proche SQL</a:t>
            </a:r>
            <a:endParaRPr lang="en-US" sz="1950" dirty="0"/>
          </a:p>
        </p:txBody>
      </p:sp>
      <p:sp>
        <p:nvSpPr>
          <p:cNvPr id="12" name="Shape 10"/>
          <p:cNvSpPr/>
          <p:nvPr/>
        </p:nvSpPr>
        <p:spPr>
          <a:xfrm>
            <a:off x="1073150" y="4635864"/>
            <a:ext cx="16141701" cy="9525"/>
          </a:xfrm>
          <a:prstGeom prst="rect">
            <a:avLst/>
          </a:prstGeom>
          <a:solidFill>
            <a:srgbClr val="FFFFFF">
              <a:alpha val="6000"/>
            </a:srgbClr>
          </a:solidFill>
          <a:ln/>
        </p:spPr>
      </p:sp>
      <p:sp>
        <p:nvSpPr>
          <p:cNvPr id="13" name="Text 11"/>
          <p:cNvSpPr/>
          <p:nvPr/>
        </p:nvSpPr>
        <p:spPr>
          <a:xfrm>
            <a:off x="1454150" y="4102464"/>
            <a:ext cx="6966010" cy="361950"/>
          </a:xfrm>
          <a:prstGeom prst="rect">
            <a:avLst/>
          </a:prstGeom>
          <a:noFill/>
          <a:ln/>
        </p:spPr>
        <p:txBody>
          <a:bodyPr wrap="square" lIns="25400" tIns="25400" rIns="25400" bIns="25400" rtlCol="0" anchor="t">
            <a:normAutofit/>
          </a:bodyPr>
          <a:lstStyle/>
          <a:p>
            <a:pPr algn="l" indent="0" marL="0">
              <a:buNone/>
            </a:pPr>
            <a:r>
              <a:rPr lang="en-US" sz="1950" dirty="0">
                <a:solidFill>
                  <a:srgbClr val="8EA0B5">
                    <a:alpha val="99000"/>
                  </a:srgbClr>
                </a:solidFill>
                <a:latin typeface="Arial" pitchFamily="34" charset="0"/>
                <a:ea typeface="Arial" pitchFamily="34" charset="-122"/>
                <a:cs typeface="Arial" pitchFamily="34" charset="-120"/>
              </a:rPr>
              <a:t>Optimisation auto</a:t>
            </a:r>
            <a:endParaRPr lang="en-US" sz="1950" dirty="0"/>
          </a:p>
        </p:txBody>
      </p:sp>
      <p:sp>
        <p:nvSpPr>
          <p:cNvPr id="14" name="Text 12"/>
          <p:cNvSpPr/>
          <p:nvPr/>
        </p:nvSpPr>
        <p:spPr>
          <a:xfrm>
            <a:off x="7786886" y="4102464"/>
            <a:ext cx="4975830" cy="361950"/>
          </a:xfrm>
          <a:prstGeom prst="rect">
            <a:avLst/>
          </a:prstGeom>
          <a:noFill/>
          <a:ln/>
        </p:spPr>
        <p:txBody>
          <a:bodyPr wrap="square" lIns="25400" tIns="25400" rIns="25400" bIns="25400" rtlCol="0" anchor="t">
            <a:normAutofit/>
          </a:bodyPr>
          <a:lstStyle/>
          <a:p>
            <a:pPr algn="l" indent="0" marL="0">
              <a:buNone/>
            </a:pPr>
            <a:r>
              <a:rPr lang="en-US" sz="1950" dirty="0">
                <a:solidFill>
                  <a:srgbClr val="EEF3F9">
                    <a:alpha val="99000"/>
                  </a:srgbClr>
                </a:solidFill>
                <a:latin typeface="Arial" pitchFamily="34" charset="0"/>
                <a:ea typeface="Arial" pitchFamily="34" charset="-122"/>
                <a:cs typeface="Arial" pitchFamily="34" charset="-120"/>
              </a:rPr>
              <a:t>Non</a:t>
            </a:r>
            <a:endParaRPr lang="en-US" sz="1950" dirty="0"/>
          </a:p>
        </p:txBody>
      </p:sp>
      <p:sp>
        <p:nvSpPr>
          <p:cNvPr id="15" name="Text 13"/>
          <p:cNvSpPr/>
          <p:nvPr/>
        </p:nvSpPr>
        <p:spPr>
          <a:xfrm>
            <a:off x="12310368" y="4102464"/>
            <a:ext cx="4975721" cy="361950"/>
          </a:xfrm>
          <a:prstGeom prst="rect">
            <a:avLst/>
          </a:prstGeom>
          <a:noFill/>
          <a:ln/>
        </p:spPr>
        <p:txBody>
          <a:bodyPr wrap="square" lIns="25400" tIns="25400" rIns="25400" bIns="25400" rtlCol="0" anchor="t">
            <a:normAutofit/>
          </a:bodyPr>
          <a:lstStyle/>
          <a:p>
            <a:pPr algn="l" indent="0" marL="0">
              <a:buNone/>
            </a:pPr>
            <a:r>
              <a:rPr lang="en-US" sz="1950" dirty="0">
                <a:solidFill>
                  <a:srgbClr val="56DBDB">
                    <a:alpha val="99000"/>
                  </a:srgbClr>
                </a:solidFill>
                <a:latin typeface="Arial" pitchFamily="34" charset="0"/>
                <a:ea typeface="Arial" pitchFamily="34" charset="-122"/>
                <a:cs typeface="Arial" pitchFamily="34" charset="-120"/>
              </a:rPr>
              <a:t>Oui (Catalyst)</a:t>
            </a:r>
            <a:endParaRPr lang="en-US" sz="1950" dirty="0"/>
          </a:p>
        </p:txBody>
      </p:sp>
      <p:sp>
        <p:nvSpPr>
          <p:cNvPr id="16" name="Shape 14"/>
          <p:cNvSpPr/>
          <p:nvPr/>
        </p:nvSpPr>
        <p:spPr>
          <a:xfrm>
            <a:off x="1073150" y="5385164"/>
            <a:ext cx="16141701" cy="9525"/>
          </a:xfrm>
          <a:prstGeom prst="rect">
            <a:avLst/>
          </a:prstGeom>
          <a:solidFill>
            <a:srgbClr val="FFFFFF">
              <a:alpha val="6000"/>
            </a:srgbClr>
          </a:solidFill>
          <a:ln/>
        </p:spPr>
      </p:sp>
      <p:sp>
        <p:nvSpPr>
          <p:cNvPr id="17" name="Text 15"/>
          <p:cNvSpPr/>
          <p:nvPr/>
        </p:nvSpPr>
        <p:spPr>
          <a:xfrm>
            <a:off x="1454150" y="4851764"/>
            <a:ext cx="6966010" cy="361950"/>
          </a:xfrm>
          <a:prstGeom prst="rect">
            <a:avLst/>
          </a:prstGeom>
          <a:noFill/>
          <a:ln/>
        </p:spPr>
        <p:txBody>
          <a:bodyPr wrap="square" lIns="25400" tIns="25400" rIns="25400" bIns="25400" rtlCol="0" anchor="t">
            <a:normAutofit/>
          </a:bodyPr>
          <a:lstStyle/>
          <a:p>
            <a:pPr algn="l" indent="0" marL="0">
              <a:buNone/>
            </a:pPr>
            <a:r>
              <a:rPr lang="en-US" sz="1950" dirty="0">
                <a:solidFill>
                  <a:srgbClr val="8EA0B5">
                    <a:alpha val="99000"/>
                  </a:srgbClr>
                </a:solidFill>
                <a:latin typeface="Arial" pitchFamily="34" charset="0"/>
                <a:ea typeface="Arial" pitchFamily="34" charset="-122"/>
                <a:cs typeface="Arial" pitchFamily="34" charset="-120"/>
              </a:rPr>
              <a:t>Facilité d'usage</a:t>
            </a:r>
            <a:endParaRPr lang="en-US" sz="1950" dirty="0"/>
          </a:p>
        </p:txBody>
      </p:sp>
      <p:sp>
        <p:nvSpPr>
          <p:cNvPr id="18" name="Text 16"/>
          <p:cNvSpPr/>
          <p:nvPr/>
        </p:nvSpPr>
        <p:spPr>
          <a:xfrm>
            <a:off x="7786886" y="4851764"/>
            <a:ext cx="4975830" cy="361950"/>
          </a:xfrm>
          <a:prstGeom prst="rect">
            <a:avLst/>
          </a:prstGeom>
          <a:noFill/>
          <a:ln/>
        </p:spPr>
        <p:txBody>
          <a:bodyPr wrap="square" lIns="25400" tIns="25400" rIns="25400" bIns="25400" rtlCol="0" anchor="t">
            <a:normAutofit/>
          </a:bodyPr>
          <a:lstStyle/>
          <a:p>
            <a:pPr algn="l" indent="0" marL="0">
              <a:buNone/>
            </a:pPr>
            <a:r>
              <a:rPr lang="en-US" sz="1950" dirty="0">
                <a:solidFill>
                  <a:srgbClr val="EEF3F9">
                    <a:alpha val="99000"/>
                  </a:srgbClr>
                </a:solidFill>
                <a:latin typeface="Arial" pitchFamily="34" charset="0"/>
                <a:ea typeface="Arial" pitchFamily="34" charset="-122"/>
                <a:cs typeface="Arial" pitchFamily="34" charset="-120"/>
              </a:rPr>
              <a:t>Plus verbeux</a:t>
            </a:r>
            <a:endParaRPr lang="en-US" sz="1950" dirty="0"/>
          </a:p>
        </p:txBody>
      </p:sp>
      <p:sp>
        <p:nvSpPr>
          <p:cNvPr id="19" name="Text 17"/>
          <p:cNvSpPr/>
          <p:nvPr/>
        </p:nvSpPr>
        <p:spPr>
          <a:xfrm>
            <a:off x="12310368" y="4851764"/>
            <a:ext cx="4975721" cy="361950"/>
          </a:xfrm>
          <a:prstGeom prst="rect">
            <a:avLst/>
          </a:prstGeom>
          <a:noFill/>
          <a:ln/>
        </p:spPr>
        <p:txBody>
          <a:bodyPr wrap="square" lIns="25400" tIns="25400" rIns="25400" bIns="25400" rtlCol="0" anchor="t">
            <a:normAutofit/>
          </a:bodyPr>
          <a:lstStyle/>
          <a:p>
            <a:pPr algn="l" indent="0" marL="0">
              <a:buNone/>
            </a:pPr>
            <a:r>
              <a:rPr lang="en-US" sz="1950" dirty="0">
                <a:solidFill>
                  <a:srgbClr val="EEF3F9">
                    <a:alpha val="99000"/>
                  </a:srgbClr>
                </a:solidFill>
                <a:latin typeface="Arial" pitchFamily="34" charset="0"/>
                <a:ea typeface="Arial" pitchFamily="34" charset="-122"/>
                <a:cs typeface="Arial" pitchFamily="34" charset="-120"/>
              </a:rPr>
              <a:t>Plus concis</a:t>
            </a:r>
            <a:endParaRPr lang="en-US" sz="1950" dirty="0"/>
          </a:p>
        </p:txBody>
      </p:sp>
      <p:sp>
        <p:nvSpPr>
          <p:cNvPr id="20" name="Text 18"/>
          <p:cNvSpPr/>
          <p:nvPr/>
        </p:nvSpPr>
        <p:spPr>
          <a:xfrm>
            <a:off x="1454150" y="5601064"/>
            <a:ext cx="6966010" cy="361950"/>
          </a:xfrm>
          <a:prstGeom prst="rect">
            <a:avLst/>
          </a:prstGeom>
          <a:noFill/>
          <a:ln/>
        </p:spPr>
        <p:txBody>
          <a:bodyPr wrap="square" lIns="25400" tIns="25400" rIns="25400" bIns="25400" rtlCol="0" anchor="t">
            <a:normAutofit/>
          </a:bodyPr>
          <a:lstStyle/>
          <a:p>
            <a:pPr algn="l" indent="0" marL="0">
              <a:buNone/>
            </a:pPr>
            <a:r>
              <a:rPr lang="en-US" sz="1950" dirty="0">
                <a:solidFill>
                  <a:srgbClr val="8EA0B5">
                    <a:alpha val="99000"/>
                  </a:srgbClr>
                </a:solidFill>
                <a:latin typeface="Arial" pitchFamily="34" charset="0"/>
                <a:ea typeface="Arial" pitchFamily="34" charset="-122"/>
                <a:cs typeface="Arial" pitchFamily="34" charset="-120"/>
              </a:rPr>
              <a:t>Usage recommandé</a:t>
            </a:r>
            <a:endParaRPr lang="en-US" sz="1950" dirty="0"/>
          </a:p>
        </p:txBody>
      </p:sp>
      <p:sp>
        <p:nvSpPr>
          <p:cNvPr id="21" name="Text 19"/>
          <p:cNvSpPr/>
          <p:nvPr/>
        </p:nvSpPr>
        <p:spPr>
          <a:xfrm>
            <a:off x="7786886" y="5601064"/>
            <a:ext cx="4975830" cy="361950"/>
          </a:xfrm>
          <a:prstGeom prst="rect">
            <a:avLst/>
          </a:prstGeom>
          <a:noFill/>
          <a:ln/>
        </p:spPr>
        <p:txBody>
          <a:bodyPr wrap="square" lIns="25400" tIns="25400" rIns="25400" bIns="25400" rtlCol="0" anchor="t">
            <a:normAutofit/>
          </a:bodyPr>
          <a:lstStyle/>
          <a:p>
            <a:pPr algn="l" indent="0" marL="0">
              <a:buNone/>
            </a:pPr>
            <a:r>
              <a:rPr lang="en-US" sz="1950" dirty="0">
                <a:solidFill>
                  <a:srgbClr val="EEF3F9">
                    <a:alpha val="99000"/>
                  </a:srgbClr>
                </a:solidFill>
                <a:latin typeface="Arial" pitchFamily="34" charset="0"/>
                <a:ea typeface="Arial" pitchFamily="34" charset="-122"/>
                <a:cs typeface="Arial" pitchFamily="34" charset="-120"/>
              </a:rPr>
              <a:t>Contrôle fin</a:t>
            </a:r>
            <a:endParaRPr lang="en-US" sz="1950" dirty="0"/>
          </a:p>
        </p:txBody>
      </p:sp>
      <p:sp>
        <p:nvSpPr>
          <p:cNvPr id="22" name="Text 20"/>
          <p:cNvSpPr/>
          <p:nvPr/>
        </p:nvSpPr>
        <p:spPr>
          <a:xfrm>
            <a:off x="12310368" y="5601064"/>
            <a:ext cx="4975721" cy="361950"/>
          </a:xfrm>
          <a:prstGeom prst="rect">
            <a:avLst/>
          </a:prstGeom>
          <a:noFill/>
          <a:ln/>
        </p:spPr>
        <p:txBody>
          <a:bodyPr wrap="square" lIns="25400" tIns="25400" rIns="25400" bIns="25400" rtlCol="0" anchor="t">
            <a:normAutofit/>
          </a:bodyPr>
          <a:lstStyle/>
          <a:p>
            <a:pPr algn="l" indent="0" marL="0">
              <a:buNone/>
            </a:pPr>
            <a:r>
              <a:rPr lang="en-US" sz="1950" dirty="0">
                <a:solidFill>
                  <a:srgbClr val="56DBDB">
                    <a:alpha val="99000"/>
                  </a:srgbClr>
                </a:solidFill>
                <a:latin typeface="Arial" pitchFamily="34" charset="0"/>
                <a:ea typeface="Arial" pitchFamily="34" charset="-122"/>
                <a:cs typeface="Arial" pitchFamily="34" charset="-120"/>
              </a:rPr>
              <a:t>Usage général</a:t>
            </a:r>
            <a:endParaRPr lang="en-US" sz="1950" dirty="0"/>
          </a:p>
        </p:txBody>
      </p:sp>
      <p:sp>
        <p:nvSpPr>
          <p:cNvPr id="23" name="Shape 21"/>
          <p:cNvSpPr/>
          <p:nvPr/>
        </p:nvSpPr>
        <p:spPr>
          <a:xfrm>
            <a:off x="1066800" y="6425109"/>
            <a:ext cx="25400" cy="771525"/>
          </a:xfrm>
          <a:prstGeom prst="rect">
            <a:avLst/>
          </a:prstGeom>
          <a:solidFill>
            <a:srgbClr val="56DBDB">
              <a:alpha val="68000"/>
            </a:srgbClr>
          </a:solidFill>
          <a:ln/>
        </p:spPr>
      </p:sp>
      <p:sp>
        <p:nvSpPr>
          <p:cNvPr id="24" name="Text 22"/>
          <p:cNvSpPr/>
          <p:nvPr/>
        </p:nvSpPr>
        <p:spPr>
          <a:xfrm>
            <a:off x="1320800" y="6425109"/>
            <a:ext cx="15003659" cy="809625"/>
          </a:xfrm>
          <a:prstGeom prst="rect">
            <a:avLst/>
          </a:prstGeom>
          <a:noFill/>
          <a:ln/>
        </p:spPr>
        <p:txBody>
          <a:bodyPr wrap="square" lIns="25400" tIns="25400" rIns="25400" bIns="25400" rtlCol="0" anchor="t">
            <a:normAutofit/>
          </a:bodyPr>
          <a:lstStyle/>
          <a:p>
            <a:pPr algn="l" indent="0" marL="0">
              <a:lnSpc>
                <a:spcPct val="129255"/>
              </a:lnSpc>
              <a:buNone/>
            </a:pPr>
            <a:r>
              <a:rPr lang="en-US" sz="2025" dirty="0">
                <a:solidFill>
                  <a:srgbClr val="EEF3F9">
                    <a:alpha val="68000"/>
                  </a:srgbClr>
                </a:solidFill>
                <a:latin typeface="Arial" pitchFamily="34" charset="0"/>
                <a:ea typeface="Arial" pitchFamily="34" charset="-122"/>
                <a:cs typeface="Arial" pitchFamily="34" charset="-120"/>
              </a:rPr>
              <a:t>Évaluation paresseuse </a:t>
            </a:r>
            <a:pPr algn="l" indent="0" marL="0">
              <a:lnSpc>
                <a:spcPct val="129255"/>
              </a:lnSpc>
              <a:buNone/>
            </a:pPr>
            <a:r>
              <a:rPr lang="en-US" sz="2025" dirty="0">
                <a:solidFill>
                  <a:srgbClr val="8EA0B5">
                    <a:alpha val="68000"/>
                  </a:srgbClr>
                </a:solidFill>
                <a:latin typeface="Arial" pitchFamily="34" charset="0"/>
                <a:ea typeface="Arial" pitchFamily="34" charset="-122"/>
                <a:cs typeface="Arial" pitchFamily="34" charset="-120"/>
              </a:rPr>
              <a:t>— </a:t>
            </a:r>
            <a:pPr algn="l" indent="0" marL="0">
              <a:lnSpc>
                <a:spcPct val="129255"/>
              </a:lnSpc>
              <a:buNone/>
            </a:pPr>
            <a:r>
              <a:rPr lang="en-US" sz="1800" dirty="0">
                <a:solidFill>
                  <a:srgbClr val="8EA0B5">
                    <a:alpha val="68000"/>
                  </a:srgbClr>
                </a:solidFill>
                <a:latin typeface="Courier New" pitchFamily="34" charset="0"/>
                <a:ea typeface="Courier New" pitchFamily="34" charset="-122"/>
                <a:cs typeface="Courier New" pitchFamily="34" charset="-120"/>
              </a:rPr>
              <a:t>map</a:t>
            </a:r>
            <a:pPr algn="l" indent="0" marL="0">
              <a:lnSpc>
                <a:spcPct val="129255"/>
              </a:lnSpc>
              <a:buNone/>
            </a:pPr>
            <a:r>
              <a:rPr lang="en-US" sz="2025" dirty="0">
                <a:solidFill>
                  <a:srgbClr val="8EA0B5">
                    <a:alpha val="68000"/>
                  </a:srgbClr>
                </a:solidFill>
                <a:latin typeface="Arial" pitchFamily="34" charset="0"/>
                <a:ea typeface="Arial" pitchFamily="34" charset="-122"/>
                <a:cs typeface="Arial" pitchFamily="34" charset="-120"/>
              </a:rPr>
              <a:t>, </a:t>
            </a:r>
            <a:pPr algn="l" indent="0" marL="0">
              <a:lnSpc>
                <a:spcPct val="129255"/>
              </a:lnSpc>
              <a:buNone/>
            </a:pPr>
            <a:r>
              <a:rPr lang="en-US" sz="1800" dirty="0">
                <a:solidFill>
                  <a:srgbClr val="8EA0B5">
                    <a:alpha val="68000"/>
                  </a:srgbClr>
                </a:solidFill>
                <a:latin typeface="Courier New" pitchFamily="34" charset="0"/>
                <a:ea typeface="Courier New" pitchFamily="34" charset="-122"/>
                <a:cs typeface="Courier New" pitchFamily="34" charset="-120"/>
              </a:rPr>
              <a:t>filter</a:t>
            </a:r>
            <a:pPr algn="l" indent="0" marL="0">
              <a:lnSpc>
                <a:spcPct val="129255"/>
              </a:lnSpc>
              <a:buNone/>
            </a:pPr>
            <a:r>
              <a:rPr lang="en-US" sz="2025" dirty="0">
                <a:solidFill>
                  <a:srgbClr val="8EA0B5">
                    <a:alpha val="68000"/>
                  </a:srgbClr>
                </a:solidFill>
                <a:latin typeface="Arial" pitchFamily="34" charset="0"/>
                <a:ea typeface="Arial" pitchFamily="34" charset="-122"/>
                <a:cs typeface="Arial" pitchFamily="34" charset="-120"/>
              </a:rPr>
              <a:t>, </a:t>
            </a:r>
            <a:pPr algn="l" indent="0" marL="0">
              <a:lnSpc>
                <a:spcPct val="129255"/>
              </a:lnSpc>
              <a:buNone/>
            </a:pPr>
            <a:r>
              <a:rPr lang="en-US" sz="1800" dirty="0">
                <a:solidFill>
                  <a:srgbClr val="8EA0B5">
                    <a:alpha val="68000"/>
                  </a:srgbClr>
                </a:solidFill>
                <a:latin typeface="Courier New" pitchFamily="34" charset="0"/>
                <a:ea typeface="Courier New" pitchFamily="34" charset="-122"/>
                <a:cs typeface="Courier New" pitchFamily="34" charset="-120"/>
              </a:rPr>
              <a:t>groupBy </a:t>
            </a:r>
            <a:pPr algn="l" indent="0" marL="0">
              <a:lnSpc>
                <a:spcPct val="129255"/>
              </a:lnSpc>
              <a:buNone/>
            </a:pPr>
            <a:r>
              <a:rPr lang="en-US" sz="2025" dirty="0">
                <a:solidFill>
                  <a:srgbClr val="8EA0B5">
                    <a:alpha val="68000"/>
                  </a:srgbClr>
                </a:solidFill>
                <a:latin typeface="Arial" pitchFamily="34" charset="0"/>
                <a:ea typeface="Arial" pitchFamily="34" charset="-122"/>
                <a:cs typeface="Arial" pitchFamily="34" charset="-120"/>
              </a:rPr>
              <a:t>ne font que décrire des transformations. Rien ne s'exécute avant une action comme </a:t>
            </a:r>
            <a:pPr algn="l" indent="0" marL="0">
              <a:lnSpc>
                <a:spcPct val="129255"/>
              </a:lnSpc>
              <a:buNone/>
            </a:pPr>
            <a:r>
              <a:rPr lang="en-US" sz="1800" dirty="0">
                <a:solidFill>
                  <a:srgbClr val="8EA0B5">
                    <a:alpha val="68000"/>
                  </a:srgbClr>
                </a:solidFill>
                <a:latin typeface="Courier New" pitchFamily="34" charset="0"/>
                <a:ea typeface="Courier New" pitchFamily="34" charset="-122"/>
                <a:cs typeface="Courier New" pitchFamily="34" charset="-120"/>
              </a:rPr>
              <a:t>collect() </a:t>
            </a:r>
            <a:pPr algn="l" indent="0" marL="0">
              <a:lnSpc>
                <a:spcPct val="129255"/>
              </a:lnSpc>
              <a:buNone/>
            </a:pPr>
            <a:r>
              <a:rPr lang="en-US" sz="2025" dirty="0">
                <a:solidFill>
                  <a:srgbClr val="8EA0B5">
                    <a:alpha val="68000"/>
                  </a:srgbClr>
                </a:solidFill>
                <a:latin typeface="Arial" pitchFamily="34" charset="0"/>
                <a:ea typeface="Arial" pitchFamily="34" charset="-122"/>
                <a:cs typeface="Arial" pitchFamily="34" charset="-120"/>
              </a:rPr>
              <a:t>ou </a:t>
            </a:r>
            <a:pPr algn="l" indent="0" marL="0">
              <a:lnSpc>
                <a:spcPct val="129255"/>
              </a:lnSpc>
              <a:buNone/>
            </a:pPr>
            <a:r>
              <a:rPr lang="en-US" sz="1800" dirty="0">
                <a:solidFill>
                  <a:srgbClr val="8EA0B5">
                    <a:alpha val="68000"/>
                  </a:srgbClr>
                </a:solidFill>
                <a:latin typeface="Courier New" pitchFamily="34" charset="0"/>
                <a:ea typeface="Courier New" pitchFamily="34" charset="-122"/>
                <a:cs typeface="Courier New" pitchFamily="34" charset="-120"/>
              </a:rPr>
              <a:t>show()</a:t>
            </a:r>
            <a:pPr algn="l" indent="0" marL="0">
              <a:lnSpc>
                <a:spcPct val="129255"/>
              </a:lnSpc>
              <a:buNone/>
            </a:pPr>
            <a:r>
              <a:rPr lang="en-US" sz="2025" dirty="0">
                <a:solidFill>
                  <a:srgbClr val="8EA0B5">
                    <a:alpha val="68000"/>
                  </a:srgbClr>
                </a:solidFill>
                <a:latin typeface="Arial" pitchFamily="34" charset="0"/>
                <a:ea typeface="Arial" pitchFamily="34" charset="-122"/>
                <a:cs typeface="Arial" pitchFamily="34" charset="-120"/>
              </a:rPr>
              <a:t>.</a:t>
            </a:r>
            <a:endParaRPr lang="en-US" sz="2025"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0C121C"/>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56DBDB">
                    <a:alpha val="97000"/>
                  </a:srgbClr>
                </a:solidFill>
                <a:latin typeface="Courier New" pitchFamily="34" charset="0"/>
                <a:ea typeface="Courier New" pitchFamily="34" charset="-122"/>
                <a:cs typeface="Courier New" pitchFamily="34" charset="-120"/>
              </a:rPr>
              <a:t>ATELIER 4.2 · PARTIE A</a:t>
            </a:r>
            <a:endParaRPr lang="en-US" sz="1800" dirty="0"/>
          </a:p>
        </p:txBody>
      </p:sp>
      <p:sp>
        <p:nvSpPr>
          <p:cNvPr id="3" name="Text 1"/>
          <p:cNvSpPr/>
          <p:nvPr/>
        </p:nvSpPr>
        <p:spPr>
          <a:xfrm>
            <a:off x="1066800" y="1314451"/>
            <a:ext cx="12679740" cy="692844"/>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Traitement RDD sur </a:t>
            </a:r>
            <a:pPr algn="l" indent="0" marL="0">
              <a:lnSpc>
                <a:spcPct val="90764"/>
              </a:lnSpc>
              <a:buNone/>
            </a:pPr>
            <a:r>
              <a:rPr lang="en-US" sz="3900" b="1" spc="-96" kern="0" dirty="0">
                <a:solidFill>
                  <a:srgbClr val="56DBDB"/>
                </a:solidFill>
                <a:latin typeface="Courier New" pitchFamily="34" charset="0"/>
                <a:ea typeface="Courier New" pitchFamily="34" charset="-122"/>
                <a:cs typeface="Courier New" pitchFamily="34" charset="-120"/>
              </a:rPr>
              <a:t>purchases.txt</a:t>
            </a:r>
            <a:endParaRPr lang="en-US" sz="4800" dirty="0"/>
          </a:p>
        </p:txBody>
      </p:sp>
      <p:sp>
        <p:nvSpPr>
          <p:cNvPr id="4" name="Shape 2"/>
          <p:cNvSpPr/>
          <p:nvPr/>
        </p:nvSpPr>
        <p:spPr>
          <a:xfrm>
            <a:off x="1066800" y="2312096"/>
            <a:ext cx="9503371" cy="7155756"/>
          </a:xfrm>
          <a:prstGeom prst="roundRect">
            <a:avLst>
              <a:gd name="adj" fmla="val 2130"/>
            </a:avLst>
          </a:prstGeom>
          <a:solidFill>
            <a:srgbClr val="06090E"/>
          </a:solidFill>
          <a:ln w="6350">
            <a:solidFill>
              <a:srgbClr val="FFFFFF">
                <a:alpha val="10000"/>
              </a:srgbClr>
            </a:solidFill>
            <a:prstDash val="solid"/>
          </a:ln>
        </p:spPr>
      </p:sp>
      <p:sp>
        <p:nvSpPr>
          <p:cNvPr id="5" name="Shape 3"/>
          <p:cNvSpPr/>
          <p:nvPr/>
        </p:nvSpPr>
        <p:spPr>
          <a:xfrm>
            <a:off x="1073150" y="2928046"/>
            <a:ext cx="9490671" cy="9525"/>
          </a:xfrm>
          <a:prstGeom prst="rect">
            <a:avLst/>
          </a:prstGeom>
          <a:solidFill>
            <a:srgbClr val="FFFFFF">
              <a:alpha val="6000"/>
            </a:srgbClr>
          </a:solidFill>
          <a:ln/>
        </p:spPr>
      </p:sp>
      <p:sp>
        <p:nvSpPr>
          <p:cNvPr id="6" name="Text 4"/>
          <p:cNvSpPr/>
          <p:nvPr/>
        </p:nvSpPr>
        <p:spPr>
          <a:xfrm>
            <a:off x="1301750" y="2470846"/>
            <a:ext cx="931819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solidFill>
                <a:latin typeface="Courier New" pitchFamily="34" charset="0"/>
                <a:ea typeface="Courier New" pitchFamily="34" charset="-122"/>
                <a:cs typeface="Courier New" pitchFamily="34" charset="-120"/>
              </a:rPr>
              <a:t>pyspark — ventes par magasin</a:t>
            </a:r>
            <a:endParaRPr lang="en-US" sz="1800" dirty="0"/>
          </a:p>
        </p:txBody>
      </p:sp>
      <p:sp>
        <p:nvSpPr>
          <p:cNvPr id="7" name="Text 5"/>
          <p:cNvSpPr/>
          <p:nvPr/>
        </p:nvSpPr>
        <p:spPr>
          <a:xfrm>
            <a:off x="1358900" y="3182046"/>
            <a:ext cx="9203891" cy="3923507"/>
          </a:xfrm>
          <a:prstGeom prst="rect">
            <a:avLst/>
          </a:prstGeom>
          <a:noFill/>
          <a:ln/>
        </p:spPr>
        <p:txBody>
          <a:bodyPr wrap="none" lIns="25400" tIns="25400" rIns="25400" bIns="25400" rtlCol="0" anchor="t">
            <a:normAutofit/>
          </a:bodyPr>
          <a:lstStyle/>
          <a:p>
            <a:pPr algn="l" indent="0" marL="0">
              <a:lnSpc>
                <a:spcPct val="149268"/>
              </a:lnSpc>
              <a:buNone/>
            </a:pPr>
            <a:r>
              <a:rPr lang="en-US" sz="1800" dirty="0">
                <a:solidFill>
                  <a:srgbClr val="8EA0B5"/>
                </a:solidFill>
                <a:latin typeface="Courier New" pitchFamily="34" charset="0"/>
                <a:ea typeface="Courier New" pitchFamily="34" charset="-122"/>
                <a:cs typeface="Courier New" pitchFamily="34" charset="-120"/>
              </a:rPr>
              <a:t># évaluation paresseuse : aucune donnée n'est lue ici </a:t>
            </a:r>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purchases = sc.</a:t>
            </a:r>
            <a:pPr algn="l" indent="0" marL="0">
              <a:lnSpc>
                <a:spcPct val="149268"/>
              </a:lnSpc>
              <a:buNone/>
            </a:pPr>
            <a:r>
              <a:rPr lang="en-US" sz="1800" dirty="0">
                <a:solidFill>
                  <a:srgbClr val="56DBDB"/>
                </a:solidFill>
                <a:latin typeface="Courier New" pitchFamily="34" charset="0"/>
                <a:ea typeface="Courier New" pitchFamily="34" charset="-122"/>
                <a:cs typeface="Courier New" pitchFamily="34" charset="-120"/>
              </a:rPr>
              <a:t>textFile</a:t>
            </a:r>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a:t>
            </a:r>
            <a:pPr algn="l" indent="0" marL="0">
              <a:lnSpc>
                <a:spcPct val="149268"/>
              </a:lnSpc>
              <a:buNone/>
            </a:pPr>
            <a:r>
              <a:rPr lang="en-US" sz="1800" dirty="0">
                <a:solidFill>
                  <a:srgbClr val="FFB46E"/>
                </a:solidFill>
                <a:latin typeface="Courier New" pitchFamily="34" charset="0"/>
                <a:ea typeface="Courier New" pitchFamily="34" charset="-122"/>
                <a:cs typeface="Courier New" pitchFamily="34" charset="-120"/>
              </a:rPr>
              <a:t>"purchases.txt" </a:t>
            </a:r>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a:t>
            </a:r>
            <a:endParaRPr lang="en-US" sz="1800" dirty="0"/>
          </a:p>
          <a:p>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parsed = purchases. </a:t>
            </a:r>
            <a:endParaRPr lang="en-US" sz="1800" dirty="0"/>
          </a:p>
          <a:p>
            <a:pPr algn="l" indent="0" marL="0">
              <a:lnSpc>
                <a:spcPct val="149268"/>
              </a:lnSpc>
              <a:buNone/>
            </a:pPr>
            <a:r>
              <a:rPr lang="en-US" sz="1800" dirty="0">
                <a:solidFill>
                  <a:srgbClr val="56DBDB"/>
                </a:solidFill>
                <a:latin typeface="Courier New" pitchFamily="34" charset="0"/>
                <a:ea typeface="Courier New" pitchFamily="34" charset="-122"/>
                <a:cs typeface="Courier New" pitchFamily="34" charset="-120"/>
              </a:rPr>
              <a:t>map</a:t>
            </a:r>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a:t>
            </a:r>
            <a:pPr algn="l" indent="0" marL="0">
              <a:lnSpc>
                <a:spcPct val="149268"/>
              </a:lnSpc>
              <a:buNone/>
            </a:pPr>
            <a:r>
              <a:rPr lang="en-US" sz="1800" dirty="0">
                <a:solidFill>
                  <a:srgbClr val="B897F0"/>
                </a:solidFill>
                <a:latin typeface="Courier New" pitchFamily="34" charset="0"/>
                <a:ea typeface="Courier New" pitchFamily="34" charset="-122"/>
                <a:cs typeface="Courier New" pitchFamily="34" charset="-120"/>
              </a:rPr>
              <a:t>lambda</a:t>
            </a:r>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 l: l.split(</a:t>
            </a:r>
            <a:pPr algn="l" indent="0" marL="0">
              <a:lnSpc>
                <a:spcPct val="149268"/>
              </a:lnSpc>
              <a:buNone/>
            </a:pPr>
            <a:r>
              <a:rPr lang="en-US" sz="1800" dirty="0">
                <a:solidFill>
                  <a:srgbClr val="FFB46E"/>
                </a:solidFill>
                <a:latin typeface="Courier New" pitchFamily="34" charset="0"/>
                <a:ea typeface="Courier New" pitchFamily="34" charset="-122"/>
                <a:cs typeface="Courier New" pitchFamily="34" charset="-120"/>
              </a:rPr>
              <a:t>"\t" </a:t>
            </a:r>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a:t>
            </a:r>
            <a:endParaRPr lang="en-US" sz="1800" dirty="0"/>
          </a:p>
          <a:p>
            <a:pPr algn="l" indent="0" marL="0">
              <a:lnSpc>
                <a:spcPct val="149268"/>
              </a:lnSpc>
              <a:buNone/>
            </a:pPr>
            <a:endParaRPr lang="en-US" sz="1800" dirty="0"/>
          </a:p>
          <a:p>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sales = parsed \</a:t>
            </a:r>
            <a:endParaRPr lang="en-US" sz="1800" dirty="0"/>
          </a:p>
          <a:p>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  . </a:t>
            </a:r>
            <a:endParaRPr lang="en-US" sz="1800" dirty="0"/>
          </a:p>
          <a:p>
            <a:pPr algn="l" indent="0" marL="0">
              <a:lnSpc>
                <a:spcPct val="149268"/>
              </a:lnSpc>
              <a:buNone/>
            </a:pPr>
            <a:r>
              <a:rPr lang="en-US" sz="1800" dirty="0">
                <a:solidFill>
                  <a:srgbClr val="56DBDB"/>
                </a:solidFill>
                <a:latin typeface="Courier New" pitchFamily="34" charset="0"/>
                <a:ea typeface="Courier New" pitchFamily="34" charset="-122"/>
                <a:cs typeface="Courier New" pitchFamily="34" charset="-120"/>
              </a:rPr>
              <a:t>map</a:t>
            </a:r>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a:t>
            </a:r>
            <a:pPr algn="l" indent="0" marL="0">
              <a:lnSpc>
                <a:spcPct val="149268"/>
              </a:lnSpc>
              <a:buNone/>
            </a:pPr>
            <a:r>
              <a:rPr lang="en-US" sz="1800" dirty="0">
                <a:solidFill>
                  <a:srgbClr val="B897F0"/>
                </a:solidFill>
                <a:latin typeface="Courier New" pitchFamily="34" charset="0"/>
                <a:ea typeface="Courier New" pitchFamily="34" charset="-122"/>
                <a:cs typeface="Courier New" pitchFamily="34" charset="-120"/>
              </a:rPr>
              <a:t>lambda</a:t>
            </a:r>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 f: (f[</a:t>
            </a:r>
            <a:pPr algn="l" indent="0" marL="0">
              <a:lnSpc>
                <a:spcPct val="149268"/>
              </a:lnSpc>
              <a:buNone/>
            </a:pPr>
            <a:r>
              <a:rPr lang="en-US" sz="1800" dirty="0">
                <a:solidFill>
                  <a:srgbClr val="E6C07B"/>
                </a:solidFill>
                <a:latin typeface="Courier New" pitchFamily="34" charset="0"/>
                <a:ea typeface="Courier New" pitchFamily="34" charset="-122"/>
                <a:cs typeface="Courier New" pitchFamily="34" charset="-120"/>
              </a:rPr>
              <a:t>2</a:t>
            </a:r>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 </a:t>
            </a:r>
            <a:pPr algn="l" indent="0" marL="0">
              <a:lnSpc>
                <a:spcPct val="149268"/>
              </a:lnSpc>
              <a:buNone/>
            </a:pPr>
            <a:r>
              <a:rPr lang="en-US" sz="1800" dirty="0">
                <a:solidFill>
                  <a:srgbClr val="56DBDB"/>
                </a:solidFill>
                <a:latin typeface="Courier New" pitchFamily="34" charset="0"/>
                <a:ea typeface="Courier New" pitchFamily="34" charset="-122"/>
                <a:cs typeface="Courier New" pitchFamily="34" charset="-120"/>
              </a:rPr>
              <a:t>float</a:t>
            </a:r>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(f[</a:t>
            </a:r>
            <a:pPr algn="l" indent="0" marL="0">
              <a:lnSpc>
                <a:spcPct val="149268"/>
              </a:lnSpc>
              <a:buNone/>
            </a:pPr>
            <a:r>
              <a:rPr lang="en-US" sz="1800" dirty="0">
                <a:solidFill>
                  <a:srgbClr val="E6C07B"/>
                </a:solidFill>
                <a:latin typeface="Courier New" pitchFamily="34" charset="0"/>
                <a:ea typeface="Courier New" pitchFamily="34" charset="-122"/>
                <a:cs typeface="Courier New" pitchFamily="34" charset="-120"/>
              </a:rPr>
              <a:t>4 </a:t>
            </a:r>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 \</a:t>
            </a:r>
            <a:endParaRPr lang="en-US" sz="1800" dirty="0"/>
          </a:p>
          <a:p>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  . </a:t>
            </a:r>
            <a:endParaRPr lang="en-US" sz="1800" dirty="0"/>
          </a:p>
          <a:p>
            <a:pPr algn="l" indent="0" marL="0">
              <a:lnSpc>
                <a:spcPct val="149268"/>
              </a:lnSpc>
              <a:buNone/>
            </a:pPr>
            <a:r>
              <a:rPr lang="en-US" sz="1800" dirty="0">
                <a:solidFill>
                  <a:srgbClr val="56DBDB"/>
                </a:solidFill>
                <a:latin typeface="Courier New" pitchFamily="34" charset="0"/>
                <a:ea typeface="Courier New" pitchFamily="34" charset="-122"/>
                <a:cs typeface="Courier New" pitchFamily="34" charset="-120"/>
              </a:rPr>
              <a:t>reduceByKey</a:t>
            </a:r>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a:t>
            </a:r>
            <a:pPr algn="l" indent="0" marL="0">
              <a:lnSpc>
                <a:spcPct val="149268"/>
              </a:lnSpc>
              <a:buNone/>
            </a:pPr>
            <a:r>
              <a:rPr lang="en-US" sz="1800" dirty="0">
                <a:solidFill>
                  <a:srgbClr val="B897F0"/>
                </a:solidFill>
                <a:latin typeface="Courier New" pitchFamily="34" charset="0"/>
                <a:ea typeface="Courier New" pitchFamily="34" charset="-122"/>
                <a:cs typeface="Courier New" pitchFamily="34" charset="-120"/>
              </a:rPr>
              <a:t>lambda </a:t>
            </a:r>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 a, b: a + b) \</a:t>
            </a:r>
            <a:endParaRPr lang="en-US" sz="1800" dirty="0"/>
          </a:p>
          <a:p>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  . </a:t>
            </a:r>
            <a:endParaRPr lang="en-US" sz="1800" dirty="0"/>
          </a:p>
          <a:p>
            <a:pPr algn="l" indent="0" marL="0">
              <a:lnSpc>
                <a:spcPct val="149268"/>
              </a:lnSpc>
              <a:buNone/>
            </a:pPr>
            <a:r>
              <a:rPr lang="en-US" sz="1800" dirty="0">
                <a:solidFill>
                  <a:srgbClr val="56DBDB"/>
                </a:solidFill>
                <a:latin typeface="Courier New" pitchFamily="34" charset="0"/>
                <a:ea typeface="Courier New" pitchFamily="34" charset="-122"/>
                <a:cs typeface="Courier New" pitchFamily="34" charset="-120"/>
              </a:rPr>
              <a:t>sortBy</a:t>
            </a:r>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a:t>
            </a:r>
            <a:pPr algn="l" indent="0" marL="0">
              <a:lnSpc>
                <a:spcPct val="149268"/>
              </a:lnSpc>
              <a:buNone/>
            </a:pPr>
            <a:r>
              <a:rPr lang="en-US" sz="1800" dirty="0">
                <a:solidFill>
                  <a:srgbClr val="B897F0"/>
                </a:solidFill>
                <a:latin typeface="Courier New" pitchFamily="34" charset="0"/>
                <a:ea typeface="Courier New" pitchFamily="34" charset="-122"/>
                <a:cs typeface="Courier New" pitchFamily="34" charset="-120"/>
              </a:rPr>
              <a:t>lambda</a:t>
            </a:r>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 x: x[</a:t>
            </a:r>
            <a:pPr algn="l" indent="0" marL="0">
              <a:lnSpc>
                <a:spcPct val="149268"/>
              </a:lnSpc>
              <a:buNone/>
            </a:pPr>
            <a:r>
              <a:rPr lang="en-US" sz="1800" dirty="0">
                <a:solidFill>
                  <a:srgbClr val="E6C07B"/>
                </a:solidFill>
                <a:latin typeface="Courier New" pitchFamily="34" charset="0"/>
                <a:ea typeface="Courier New" pitchFamily="34" charset="-122"/>
                <a:cs typeface="Courier New" pitchFamily="34" charset="-120"/>
              </a:rPr>
              <a:t>1</a:t>
            </a:r>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 ascending=</a:t>
            </a:r>
            <a:pPr algn="l" indent="0" marL="0">
              <a:lnSpc>
                <a:spcPct val="149268"/>
              </a:lnSpc>
              <a:buNone/>
            </a:pPr>
            <a:r>
              <a:rPr lang="en-US" sz="1800" dirty="0">
                <a:solidFill>
                  <a:srgbClr val="B897F0"/>
                </a:solidFill>
                <a:latin typeface="Courier New" pitchFamily="34" charset="0"/>
                <a:ea typeface="Courier New" pitchFamily="34" charset="-122"/>
                <a:cs typeface="Courier New" pitchFamily="34" charset="-120"/>
              </a:rPr>
              <a:t>False </a:t>
            </a:r>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a:t>
            </a:r>
            <a:endParaRPr lang="en-US" sz="1800" dirty="0"/>
          </a:p>
          <a:p>
            <a:pPr algn="l" indent="0" marL="0">
              <a:lnSpc>
                <a:spcPct val="149268"/>
              </a:lnSpc>
              <a:buNone/>
            </a:pPr>
            <a:endParaRPr lang="en-US" sz="1800" dirty="0"/>
          </a:p>
          <a:p>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sales. </a:t>
            </a:r>
            <a:endParaRPr lang="en-US" sz="1800" dirty="0"/>
          </a:p>
          <a:p>
            <a:pPr algn="l" indent="0" marL="0">
              <a:lnSpc>
                <a:spcPct val="149268"/>
              </a:lnSpc>
              <a:buNone/>
            </a:pPr>
            <a:r>
              <a:rPr lang="en-US" sz="1800" dirty="0">
                <a:solidFill>
                  <a:srgbClr val="56DBDB"/>
                </a:solidFill>
                <a:latin typeface="Courier New" pitchFamily="34" charset="0"/>
                <a:ea typeface="Courier New" pitchFamily="34" charset="-122"/>
                <a:cs typeface="Courier New" pitchFamily="34" charset="-120"/>
              </a:rPr>
              <a:t>collect</a:t>
            </a:r>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a:t>
            </a:r>
            <a:endParaRPr lang="en-US" sz="1800" dirty="0"/>
          </a:p>
        </p:txBody>
      </p:sp>
      <p:sp>
        <p:nvSpPr>
          <p:cNvPr id="8" name="Text 6"/>
          <p:cNvSpPr/>
          <p:nvPr/>
        </p:nvSpPr>
        <p:spPr>
          <a:xfrm>
            <a:off x="10894021" y="4546898"/>
            <a:ext cx="136207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6DBDB">
                    <a:alpha val="82000"/>
                  </a:srgbClr>
                </a:solidFill>
                <a:latin typeface="Courier New" pitchFamily="34" charset="0"/>
                <a:ea typeface="Courier New" pitchFamily="34" charset="-122"/>
                <a:cs typeface="Courier New" pitchFamily="34" charset="-120"/>
              </a:rPr>
              <a:t>map</a:t>
            </a:r>
            <a:endParaRPr lang="en-US" sz="1800" dirty="0"/>
          </a:p>
        </p:txBody>
      </p:sp>
      <p:sp>
        <p:nvSpPr>
          <p:cNvPr id="9" name="Text 7"/>
          <p:cNvSpPr/>
          <p:nvPr/>
        </p:nvSpPr>
        <p:spPr>
          <a:xfrm>
            <a:off x="12284671" y="4546898"/>
            <a:ext cx="5084626" cy="704850"/>
          </a:xfrm>
          <a:prstGeom prst="rect">
            <a:avLst/>
          </a:prstGeom>
          <a:noFill/>
          <a:ln/>
        </p:spPr>
        <p:txBody>
          <a:bodyPr wrap="square" lIns="25400" tIns="25400" rIns="25400" bIns="25400" rtlCol="0" anchor="t">
            <a:normAutofit/>
          </a:bodyPr>
          <a:lstStyle/>
          <a:p>
            <a:pPr algn="l" indent="0" marL="0">
              <a:lnSpc>
                <a:spcPct val="122093"/>
              </a:lnSpc>
              <a:buNone/>
            </a:pPr>
            <a:r>
              <a:rPr lang="en-US" sz="1875" dirty="0">
                <a:solidFill>
                  <a:srgbClr val="8EA0B5">
                    <a:alpha val="82000"/>
                  </a:srgbClr>
                </a:solidFill>
                <a:latin typeface="Arial" pitchFamily="34" charset="0"/>
                <a:ea typeface="Arial" pitchFamily="34" charset="-122"/>
                <a:cs typeface="Arial" pitchFamily="34" charset="-120"/>
              </a:rPr>
              <a:t>Projette chaque ticket en paire (magasin, coût)</a:t>
            </a:r>
            <a:endParaRPr lang="en-US" sz="1875" dirty="0"/>
          </a:p>
        </p:txBody>
      </p:sp>
      <p:sp>
        <p:nvSpPr>
          <p:cNvPr id="10" name="Text 8"/>
          <p:cNvSpPr/>
          <p:nvPr/>
        </p:nvSpPr>
        <p:spPr>
          <a:xfrm>
            <a:off x="10894021" y="5442248"/>
            <a:ext cx="1391107"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6DBDB">
                    <a:alpha val="82000"/>
                  </a:srgbClr>
                </a:solidFill>
                <a:latin typeface="Courier New" pitchFamily="34" charset="0"/>
                <a:ea typeface="Courier New" pitchFamily="34" charset="-122"/>
                <a:cs typeface="Courier New" pitchFamily="34" charset="-120"/>
              </a:rPr>
              <a:t>reduceByKey</a:t>
            </a:r>
            <a:endParaRPr lang="en-US" sz="1800" dirty="0"/>
          </a:p>
        </p:txBody>
      </p:sp>
      <p:sp>
        <p:nvSpPr>
          <p:cNvPr id="11" name="Text 9"/>
          <p:cNvSpPr/>
          <p:nvPr/>
        </p:nvSpPr>
        <p:spPr>
          <a:xfrm>
            <a:off x="12311063" y="5442248"/>
            <a:ext cx="5057442" cy="704850"/>
          </a:xfrm>
          <a:prstGeom prst="rect">
            <a:avLst/>
          </a:prstGeom>
          <a:noFill/>
          <a:ln/>
        </p:spPr>
        <p:txBody>
          <a:bodyPr wrap="square" lIns="25400" tIns="25400" rIns="25400" bIns="25400" rtlCol="0" anchor="t">
            <a:normAutofit/>
          </a:bodyPr>
          <a:lstStyle/>
          <a:p>
            <a:pPr algn="l" indent="0" marL="0">
              <a:lnSpc>
                <a:spcPct val="122093"/>
              </a:lnSpc>
              <a:buNone/>
            </a:pPr>
            <a:r>
              <a:rPr lang="en-US" sz="1875" dirty="0">
                <a:solidFill>
                  <a:srgbClr val="8EA0B5">
                    <a:alpha val="82000"/>
                  </a:srgbClr>
                </a:solidFill>
                <a:latin typeface="Arial" pitchFamily="34" charset="0"/>
                <a:ea typeface="Arial" pitchFamily="34" charset="-122"/>
                <a:cs typeface="Arial" pitchFamily="34" charset="-120"/>
              </a:rPr>
              <a:t>Agrège les montants par magasin (= GROUP BY + SUM)</a:t>
            </a:r>
            <a:endParaRPr lang="en-US" sz="1875" dirty="0"/>
          </a:p>
        </p:txBody>
      </p:sp>
      <p:sp>
        <p:nvSpPr>
          <p:cNvPr id="12" name="Text 10"/>
          <p:cNvSpPr/>
          <p:nvPr/>
        </p:nvSpPr>
        <p:spPr>
          <a:xfrm>
            <a:off x="10894021" y="6337598"/>
            <a:ext cx="136207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6DBDB">
                    <a:alpha val="82000"/>
                  </a:srgbClr>
                </a:solidFill>
                <a:latin typeface="Courier New" pitchFamily="34" charset="0"/>
                <a:ea typeface="Courier New" pitchFamily="34" charset="-122"/>
                <a:cs typeface="Courier New" pitchFamily="34" charset="-120"/>
              </a:rPr>
              <a:t>sortBy</a:t>
            </a:r>
            <a:endParaRPr lang="en-US" sz="1800" dirty="0"/>
          </a:p>
        </p:txBody>
      </p:sp>
      <p:sp>
        <p:nvSpPr>
          <p:cNvPr id="13" name="Text 11"/>
          <p:cNvSpPr/>
          <p:nvPr/>
        </p:nvSpPr>
        <p:spPr>
          <a:xfrm>
            <a:off x="12284671" y="6337598"/>
            <a:ext cx="3382159" cy="371475"/>
          </a:xfrm>
          <a:prstGeom prst="rect">
            <a:avLst/>
          </a:prstGeom>
          <a:noFill/>
          <a:ln/>
        </p:spPr>
        <p:txBody>
          <a:bodyPr wrap="square" lIns="25400" tIns="25400" rIns="25400" bIns="25400" rtlCol="0" anchor="t">
            <a:normAutofit/>
          </a:bodyPr>
          <a:lstStyle/>
          <a:p>
            <a:pPr algn="l" indent="0" marL="0">
              <a:lnSpc>
                <a:spcPct val="122093"/>
              </a:lnSpc>
              <a:buNone/>
            </a:pPr>
            <a:r>
              <a:rPr lang="en-US" sz="1875" dirty="0">
                <a:solidFill>
                  <a:srgbClr val="8EA0B5">
                    <a:alpha val="82000"/>
                  </a:srgbClr>
                </a:solidFill>
                <a:latin typeface="Arial" pitchFamily="34" charset="0"/>
                <a:ea typeface="Arial" pitchFamily="34" charset="-122"/>
                <a:cs typeface="Arial" pitchFamily="34" charset="-120"/>
              </a:rPr>
              <a:t>Trie par montant décroissant</a:t>
            </a:r>
            <a:endParaRPr lang="en-US" sz="1875" dirty="0"/>
          </a:p>
        </p:txBody>
      </p:sp>
      <p:sp>
        <p:nvSpPr>
          <p:cNvPr id="14" name="Text 12"/>
          <p:cNvSpPr/>
          <p:nvPr/>
        </p:nvSpPr>
        <p:spPr>
          <a:xfrm>
            <a:off x="10894021" y="6899573"/>
            <a:ext cx="136207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FB46E">
                    <a:alpha val="82000"/>
                  </a:srgbClr>
                </a:solidFill>
                <a:latin typeface="Courier New" pitchFamily="34" charset="0"/>
                <a:ea typeface="Courier New" pitchFamily="34" charset="-122"/>
                <a:cs typeface="Courier New" pitchFamily="34" charset="-120"/>
              </a:rPr>
              <a:t>collect</a:t>
            </a:r>
            <a:endParaRPr lang="en-US" sz="1800" dirty="0"/>
          </a:p>
        </p:txBody>
      </p:sp>
      <p:sp>
        <p:nvSpPr>
          <p:cNvPr id="15" name="Text 13"/>
          <p:cNvSpPr/>
          <p:nvPr/>
        </p:nvSpPr>
        <p:spPr>
          <a:xfrm>
            <a:off x="12284671" y="6899573"/>
            <a:ext cx="3853428" cy="371475"/>
          </a:xfrm>
          <a:prstGeom prst="rect">
            <a:avLst/>
          </a:prstGeom>
          <a:noFill/>
          <a:ln/>
        </p:spPr>
        <p:txBody>
          <a:bodyPr wrap="square" lIns="25400" tIns="25400" rIns="25400" bIns="25400" rtlCol="0" anchor="t">
            <a:normAutofit/>
          </a:bodyPr>
          <a:lstStyle/>
          <a:p>
            <a:pPr algn="l" indent="0" marL="0">
              <a:lnSpc>
                <a:spcPct val="122093"/>
              </a:lnSpc>
              <a:buNone/>
            </a:pPr>
            <a:r>
              <a:rPr lang="en-US" sz="1875" dirty="0">
                <a:solidFill>
                  <a:srgbClr val="8EA0B5">
                    <a:alpha val="82000"/>
                  </a:srgbClr>
                </a:solidFill>
                <a:latin typeface="Arial" pitchFamily="34" charset="0"/>
                <a:ea typeface="Arial" pitchFamily="34" charset="-122"/>
                <a:cs typeface="Arial" pitchFamily="34" charset="-120"/>
              </a:rPr>
              <a:t>Action : déclenche enfin le calcul</a:t>
            </a:r>
            <a:endParaRPr lang="en-US" sz="1875"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0A0E15"/>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56DBDB">
                    <a:alpha val="97000"/>
                  </a:srgbClr>
                </a:solidFill>
                <a:latin typeface="Courier New" pitchFamily="34" charset="0"/>
                <a:ea typeface="Courier New" pitchFamily="34" charset="-122"/>
                <a:cs typeface="Courier New" pitchFamily="34" charset="-120"/>
              </a:rPr>
              <a:t>ATELIER 4.2 · PARTIE B</a:t>
            </a:r>
            <a:endParaRPr lang="en-US" sz="1800" dirty="0"/>
          </a:p>
        </p:txBody>
      </p:sp>
      <p:sp>
        <p:nvSpPr>
          <p:cNvPr id="3" name="Text 1"/>
          <p:cNvSpPr/>
          <p:nvPr/>
        </p:nvSpPr>
        <p:spPr>
          <a:xfrm>
            <a:off x="1066800" y="1314451"/>
            <a:ext cx="12679740"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Le même traitement en DataFrame</a:t>
            </a:r>
            <a:endParaRPr lang="en-US" sz="4800" dirty="0"/>
          </a:p>
        </p:txBody>
      </p:sp>
      <p:sp>
        <p:nvSpPr>
          <p:cNvPr id="4" name="Shape 2"/>
          <p:cNvSpPr/>
          <p:nvPr/>
        </p:nvSpPr>
        <p:spPr>
          <a:xfrm>
            <a:off x="1066800" y="2291260"/>
            <a:ext cx="9503371" cy="7176592"/>
          </a:xfrm>
          <a:prstGeom prst="roundRect">
            <a:avLst>
              <a:gd name="adj" fmla="val 2124"/>
            </a:avLst>
          </a:prstGeom>
          <a:solidFill>
            <a:srgbClr val="06090E"/>
          </a:solidFill>
          <a:ln w="6350">
            <a:solidFill>
              <a:srgbClr val="FFFFFF">
                <a:alpha val="10000"/>
              </a:srgbClr>
            </a:solidFill>
            <a:prstDash val="solid"/>
          </a:ln>
        </p:spPr>
      </p:sp>
      <p:sp>
        <p:nvSpPr>
          <p:cNvPr id="5" name="Shape 3"/>
          <p:cNvSpPr/>
          <p:nvPr/>
        </p:nvSpPr>
        <p:spPr>
          <a:xfrm>
            <a:off x="1073150" y="2907210"/>
            <a:ext cx="9490671" cy="9525"/>
          </a:xfrm>
          <a:prstGeom prst="rect">
            <a:avLst/>
          </a:prstGeom>
          <a:solidFill>
            <a:srgbClr val="FFFFFF">
              <a:alpha val="6000"/>
            </a:srgbClr>
          </a:solidFill>
          <a:ln/>
        </p:spPr>
      </p:sp>
      <p:sp>
        <p:nvSpPr>
          <p:cNvPr id="6" name="Text 4"/>
          <p:cNvSpPr/>
          <p:nvPr/>
        </p:nvSpPr>
        <p:spPr>
          <a:xfrm>
            <a:off x="1301750" y="2450010"/>
            <a:ext cx="931819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solidFill>
                <a:latin typeface="Courier New" pitchFamily="34" charset="0"/>
                <a:ea typeface="Courier New" pitchFamily="34" charset="-122"/>
                <a:cs typeface="Courier New" pitchFamily="34" charset="-120"/>
              </a:rPr>
              <a:t>Zeppelin — ventes par magasin</a:t>
            </a:r>
            <a:endParaRPr lang="en-US" sz="1800" dirty="0"/>
          </a:p>
        </p:txBody>
      </p:sp>
      <p:sp>
        <p:nvSpPr>
          <p:cNvPr id="7" name="Text 5"/>
          <p:cNvSpPr/>
          <p:nvPr/>
        </p:nvSpPr>
        <p:spPr>
          <a:xfrm>
            <a:off x="1358900" y="3161210"/>
            <a:ext cx="9203891" cy="3923507"/>
          </a:xfrm>
          <a:prstGeom prst="rect">
            <a:avLst/>
          </a:prstGeom>
          <a:noFill/>
          <a:ln/>
        </p:spPr>
        <p:txBody>
          <a:bodyPr wrap="none" lIns="25400" tIns="25400" rIns="25400" bIns="25400" rtlCol="0" anchor="t">
            <a:normAutofit/>
          </a:bodyPr>
          <a:lstStyle/>
          <a:p>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schema =  </a:t>
            </a:r>
            <a:pPr algn="l" indent="0" marL="0">
              <a:lnSpc>
                <a:spcPct val="149268"/>
              </a:lnSpc>
              <a:buNone/>
            </a:pPr>
            <a:r>
              <a:rPr lang="en-US" sz="1800" dirty="0">
                <a:solidFill>
                  <a:srgbClr val="FFB46E"/>
                </a:solidFill>
                <a:latin typeface="Courier New" pitchFamily="34" charset="0"/>
                <a:ea typeface="Courier New" pitchFamily="34" charset="-122"/>
                <a:cs typeface="Courier New" pitchFamily="34" charset="-120"/>
              </a:rPr>
              <a:t>"pdate DATE, ptime STRING, store STRING,</a:t>
            </a:r>
            <a:endParaRPr lang="en-US" sz="1800" dirty="0"/>
          </a:p>
          <a:p>
            <a:pPr algn="l" indent="0" marL="0">
              <a:lnSpc>
                <a:spcPct val="149268"/>
              </a:lnSpc>
              <a:buNone/>
            </a:pPr>
            <a:r>
              <a:rPr lang="en-US" sz="1800" dirty="0">
                <a:solidFill>
                  <a:srgbClr val="FFB46E"/>
                </a:solidFill>
                <a:latin typeface="Courier New" pitchFamily="34" charset="0"/>
                <a:ea typeface="Courier New" pitchFamily="34" charset="-122"/>
                <a:cs typeface="Courier New" pitchFamily="34" charset="-120"/>
              </a:rPr>
              <a:t>  product STRING, cost DOUBLE, payment STRING" </a:t>
            </a:r>
            <a:endParaRPr lang="en-US" sz="1800" dirty="0"/>
          </a:p>
          <a:p>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df = spark.read.</a:t>
            </a:r>
            <a:pPr algn="l" indent="0" marL="0">
              <a:lnSpc>
                <a:spcPct val="149268"/>
              </a:lnSpc>
              <a:buNone/>
            </a:pPr>
            <a:r>
              <a:rPr lang="en-US" sz="1800" dirty="0">
                <a:solidFill>
                  <a:srgbClr val="56DBDB"/>
                </a:solidFill>
                <a:latin typeface="Courier New" pitchFamily="34" charset="0"/>
                <a:ea typeface="Courier New" pitchFamily="34" charset="-122"/>
                <a:cs typeface="Courier New" pitchFamily="34" charset="-120"/>
              </a:rPr>
              <a:t>csv</a:t>
            </a:r>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a:t>
            </a:r>
            <a:pPr algn="l" indent="0" marL="0">
              <a:lnSpc>
                <a:spcPct val="149268"/>
              </a:lnSpc>
              <a:buNone/>
            </a:pPr>
            <a:r>
              <a:rPr lang="en-US" sz="1800" dirty="0">
                <a:solidFill>
                  <a:srgbClr val="FFB46E"/>
                </a:solidFill>
                <a:latin typeface="Courier New" pitchFamily="34" charset="0"/>
                <a:ea typeface="Courier New" pitchFamily="34" charset="-122"/>
                <a:cs typeface="Courier New" pitchFamily="34" charset="-120"/>
              </a:rPr>
              <a:t>"purchases.txt" </a:t>
            </a:r>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a:t>
            </a:r>
            <a:endParaRPr lang="en-US" sz="1800" dirty="0"/>
          </a:p>
          <a:p>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                    sep= </a:t>
            </a:r>
            <a:endParaRPr lang="en-US" sz="1800" dirty="0"/>
          </a:p>
          <a:p>
            <a:pPr algn="l" indent="0" marL="0">
              <a:lnSpc>
                <a:spcPct val="149268"/>
              </a:lnSpc>
              <a:buNone/>
            </a:pPr>
            <a:r>
              <a:rPr lang="en-US" sz="1800" dirty="0">
                <a:solidFill>
                  <a:srgbClr val="FFB46E"/>
                </a:solidFill>
                <a:latin typeface="Courier New" pitchFamily="34" charset="0"/>
                <a:ea typeface="Courier New" pitchFamily="34" charset="-122"/>
                <a:cs typeface="Courier New" pitchFamily="34" charset="-120"/>
              </a:rPr>
              <a:t>"\t" </a:t>
            </a:r>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 schema=schema)</a:t>
            </a:r>
            <a:endParaRPr lang="en-US" sz="1800" dirty="0"/>
          </a:p>
          <a:p>
            <a:pPr algn="l" indent="0" marL="0">
              <a:lnSpc>
                <a:spcPct val="149268"/>
              </a:lnSpc>
              <a:buNone/>
            </a:pPr>
            <a:endParaRPr lang="en-US" sz="1800" dirty="0"/>
          </a:p>
          <a:p>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df. </a:t>
            </a:r>
            <a:endParaRPr lang="en-US" sz="1800" dirty="0"/>
          </a:p>
          <a:p>
            <a:pPr algn="l" indent="0" marL="0">
              <a:lnSpc>
                <a:spcPct val="149268"/>
              </a:lnSpc>
              <a:buNone/>
            </a:pPr>
            <a:r>
              <a:rPr lang="en-US" sz="1800" dirty="0">
                <a:solidFill>
                  <a:srgbClr val="56DBDB"/>
                </a:solidFill>
                <a:latin typeface="Courier New" pitchFamily="34" charset="0"/>
                <a:ea typeface="Courier New" pitchFamily="34" charset="-122"/>
                <a:cs typeface="Courier New" pitchFamily="34" charset="-120"/>
              </a:rPr>
              <a:t>groupBy</a:t>
            </a:r>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a:t>
            </a:r>
            <a:pPr algn="l" indent="0" marL="0">
              <a:lnSpc>
                <a:spcPct val="149268"/>
              </a:lnSpc>
              <a:buNone/>
            </a:pPr>
            <a:r>
              <a:rPr lang="en-US" sz="1800" dirty="0">
                <a:solidFill>
                  <a:srgbClr val="FFB46E"/>
                </a:solidFill>
                <a:latin typeface="Courier New" pitchFamily="34" charset="0"/>
                <a:ea typeface="Courier New" pitchFamily="34" charset="-122"/>
                <a:cs typeface="Courier New" pitchFamily="34" charset="-120"/>
              </a:rPr>
              <a:t>"store" </a:t>
            </a:r>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 \</a:t>
            </a:r>
            <a:endParaRPr lang="en-US" sz="1800" dirty="0"/>
          </a:p>
          <a:p>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  . </a:t>
            </a:r>
            <a:endParaRPr lang="en-US" sz="1800" dirty="0"/>
          </a:p>
          <a:p>
            <a:pPr algn="l" indent="0" marL="0">
              <a:lnSpc>
                <a:spcPct val="149268"/>
              </a:lnSpc>
              <a:buNone/>
            </a:pPr>
            <a:r>
              <a:rPr lang="en-US" sz="1800" dirty="0">
                <a:solidFill>
                  <a:srgbClr val="56DBDB"/>
                </a:solidFill>
                <a:latin typeface="Courier New" pitchFamily="34" charset="0"/>
                <a:ea typeface="Courier New" pitchFamily="34" charset="-122"/>
                <a:cs typeface="Courier New" pitchFamily="34" charset="-120"/>
              </a:rPr>
              <a:t>agg</a:t>
            </a:r>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a:t>
            </a:r>
            <a:pPr algn="l" indent="0" marL="0">
              <a:lnSpc>
                <a:spcPct val="149268"/>
              </a:lnSpc>
              <a:buNone/>
            </a:pPr>
            <a:r>
              <a:rPr lang="en-US" sz="1800" dirty="0">
                <a:solidFill>
                  <a:srgbClr val="56DBDB"/>
                </a:solidFill>
                <a:latin typeface="Courier New" pitchFamily="34" charset="0"/>
                <a:ea typeface="Courier New" pitchFamily="34" charset="-122"/>
                <a:cs typeface="Courier New" pitchFamily="34" charset="-120"/>
              </a:rPr>
              <a:t>_sum</a:t>
            </a:r>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a:t>
            </a:r>
            <a:pPr algn="l" indent="0" marL="0">
              <a:lnSpc>
                <a:spcPct val="149268"/>
              </a:lnSpc>
              <a:buNone/>
            </a:pPr>
            <a:r>
              <a:rPr lang="en-US" sz="1800" dirty="0">
                <a:solidFill>
                  <a:srgbClr val="FFB46E"/>
                </a:solidFill>
                <a:latin typeface="Courier New" pitchFamily="34" charset="0"/>
                <a:ea typeface="Courier New" pitchFamily="34" charset="-122"/>
                <a:cs typeface="Courier New" pitchFamily="34" charset="-120"/>
              </a:rPr>
              <a:t>"cost"</a:t>
            </a:r>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).alias(</a:t>
            </a:r>
            <a:pPr algn="l" indent="0" marL="0">
              <a:lnSpc>
                <a:spcPct val="149268"/>
              </a:lnSpc>
              <a:buNone/>
            </a:pPr>
            <a:r>
              <a:rPr lang="en-US" sz="1800" dirty="0">
                <a:solidFill>
                  <a:srgbClr val="FFB46E"/>
                </a:solidFill>
                <a:latin typeface="Courier New" pitchFamily="34" charset="0"/>
                <a:ea typeface="Courier New" pitchFamily="34" charset="-122"/>
                <a:cs typeface="Courier New" pitchFamily="34" charset="-120"/>
              </a:rPr>
              <a:t>"total" </a:t>
            </a:r>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 \</a:t>
            </a:r>
            <a:endParaRPr lang="en-US" sz="1800" dirty="0"/>
          </a:p>
          <a:p>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  . </a:t>
            </a:r>
            <a:endParaRPr lang="en-US" sz="1800" dirty="0"/>
          </a:p>
          <a:p>
            <a:pPr algn="l" indent="0" marL="0">
              <a:lnSpc>
                <a:spcPct val="149268"/>
              </a:lnSpc>
              <a:buNone/>
            </a:pPr>
            <a:r>
              <a:rPr lang="en-US" sz="1800" dirty="0">
                <a:solidFill>
                  <a:srgbClr val="56DBDB"/>
                </a:solidFill>
                <a:latin typeface="Courier New" pitchFamily="34" charset="0"/>
                <a:ea typeface="Courier New" pitchFamily="34" charset="-122"/>
                <a:cs typeface="Courier New" pitchFamily="34" charset="-120"/>
              </a:rPr>
              <a:t>orderBy</a:t>
            </a:r>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(col(</a:t>
            </a:r>
            <a:pPr algn="l" indent="0" marL="0">
              <a:lnSpc>
                <a:spcPct val="149268"/>
              </a:lnSpc>
              <a:buNone/>
            </a:pPr>
            <a:r>
              <a:rPr lang="en-US" sz="1800" dirty="0">
                <a:solidFill>
                  <a:srgbClr val="FFB46E"/>
                </a:solidFill>
                <a:latin typeface="Courier New" pitchFamily="34" charset="0"/>
                <a:ea typeface="Courier New" pitchFamily="34" charset="-122"/>
                <a:cs typeface="Courier New" pitchFamily="34" charset="-120"/>
              </a:rPr>
              <a:t>"total" </a:t>
            </a:r>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).desc()) \</a:t>
            </a:r>
            <a:endParaRPr lang="en-US" sz="1800" dirty="0"/>
          </a:p>
          <a:p>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  . </a:t>
            </a:r>
            <a:endParaRPr lang="en-US" sz="1800" dirty="0"/>
          </a:p>
          <a:p>
            <a:pPr algn="l" indent="0" marL="0">
              <a:lnSpc>
                <a:spcPct val="149268"/>
              </a:lnSpc>
              <a:buNone/>
            </a:pPr>
            <a:r>
              <a:rPr lang="en-US" sz="1800" dirty="0">
                <a:solidFill>
                  <a:srgbClr val="56DBDB"/>
                </a:solidFill>
                <a:latin typeface="Courier New" pitchFamily="34" charset="0"/>
                <a:ea typeface="Courier New" pitchFamily="34" charset="-122"/>
                <a:cs typeface="Courier New" pitchFamily="34" charset="-120"/>
              </a:rPr>
              <a:t>show</a:t>
            </a:r>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a:t>
            </a:r>
            <a:endParaRPr lang="en-US" sz="1800" dirty="0"/>
          </a:p>
        </p:txBody>
      </p:sp>
      <p:sp>
        <p:nvSpPr>
          <p:cNvPr id="8" name="Text 6"/>
          <p:cNvSpPr/>
          <p:nvPr/>
        </p:nvSpPr>
        <p:spPr>
          <a:xfrm>
            <a:off x="10894021" y="4377333"/>
            <a:ext cx="6959898" cy="410468"/>
          </a:xfrm>
          <a:prstGeom prst="rect">
            <a:avLst/>
          </a:prstGeom>
          <a:noFill/>
          <a:ln/>
        </p:spPr>
        <p:txBody>
          <a:bodyPr wrap="square" lIns="25400" tIns="25400" rIns="25400" bIns="25400" rtlCol="0" anchor="t">
            <a:normAutofit/>
          </a:bodyPr>
          <a:lstStyle/>
          <a:p>
            <a:pPr algn="l" indent="0" marL="0">
              <a:lnSpc>
                <a:spcPct val="99407"/>
              </a:lnSpc>
              <a:buNone/>
            </a:pPr>
            <a:r>
              <a:rPr lang="en-US" sz="2550" b="1" dirty="0">
                <a:solidFill>
                  <a:srgbClr val="EEF3F9">
                    <a:alpha val="82000"/>
                  </a:srgbClr>
                </a:solidFill>
                <a:latin typeface="Arial" pitchFamily="34" charset="0"/>
                <a:ea typeface="Arial" pitchFamily="34" charset="-122"/>
                <a:cs typeface="Arial" pitchFamily="34" charset="-120"/>
              </a:rPr>
              <a:t>Un niveau d’abstraction supérieur</a:t>
            </a:r>
            <a:endParaRPr lang="en-US" sz="2550" dirty="0"/>
          </a:p>
        </p:txBody>
      </p:sp>
      <p:sp>
        <p:nvSpPr>
          <p:cNvPr id="9" name="Text 7"/>
          <p:cNvSpPr/>
          <p:nvPr/>
        </p:nvSpPr>
        <p:spPr>
          <a:xfrm>
            <a:off x="10894021" y="4997351"/>
            <a:ext cx="6516995" cy="952500"/>
          </a:xfrm>
          <a:prstGeom prst="rect">
            <a:avLst/>
          </a:prstGeom>
          <a:noFill/>
          <a:ln/>
        </p:spPr>
        <p:txBody>
          <a:bodyPr wrap="square" lIns="25400" tIns="25400" rIns="25400" bIns="25400" rtlCol="0" anchor="t">
            <a:normAutofit/>
          </a:bodyPr>
          <a:lstStyle/>
          <a:p>
            <a:pPr algn="l" indent="0" marL="0">
              <a:lnSpc>
                <a:spcPct val="130909"/>
              </a:lnSpc>
              <a:buNone/>
            </a:pPr>
            <a:r>
              <a:rPr lang="en-US" sz="2400" dirty="0">
                <a:solidFill>
                  <a:srgbClr val="8EA0B5">
                    <a:alpha val="82000"/>
                  </a:srgbClr>
                </a:solidFill>
                <a:latin typeface="Arial" pitchFamily="34" charset="0"/>
                <a:ea typeface="Arial" pitchFamily="34" charset="-122"/>
                <a:cs typeface="Arial" pitchFamily="34" charset="-120"/>
              </a:rPr>
              <a:t>Une syntaxe proche du SQL, sans manipuler explicitement des paires clé-valeur.</a:t>
            </a:r>
            <a:endParaRPr lang="en-US" sz="2400" dirty="0"/>
          </a:p>
        </p:txBody>
      </p:sp>
      <p:sp>
        <p:nvSpPr>
          <p:cNvPr id="10" name="Shape 8"/>
          <p:cNvSpPr/>
          <p:nvPr/>
        </p:nvSpPr>
        <p:spPr>
          <a:xfrm>
            <a:off x="10894021" y="6159401"/>
            <a:ext cx="6327180" cy="1222375"/>
          </a:xfrm>
          <a:prstGeom prst="roundRect">
            <a:avLst>
              <a:gd name="adj" fmla="val 10909"/>
            </a:avLst>
          </a:prstGeom>
          <a:gradFill rotWithShape="1">
            <a:gsLst>
              <a:gs pos="0">
                <a:srgbClr val="55DCDC">
                  <a:alpha val="12000"/>
                </a:srgbClr>
              </a:gs>
              <a:gs pos="100000">
                <a:srgbClr val="FFFFFF">
                  <a:alpha val="3000"/>
                </a:srgbClr>
              </a:gs>
            </a:gsLst>
            <a:lin ang="4200000" scaled="0"/>
          </a:gradFill>
          <a:ln w="6350">
            <a:solidFill>
              <a:srgbClr val="82E3E3">
                <a:alpha val="29000"/>
              </a:srgbClr>
            </a:solidFill>
            <a:prstDash val="solid"/>
          </a:ln>
        </p:spPr>
      </p:sp>
      <p:sp>
        <p:nvSpPr>
          <p:cNvPr id="11" name="Text 9"/>
          <p:cNvSpPr/>
          <p:nvPr/>
        </p:nvSpPr>
        <p:spPr>
          <a:xfrm>
            <a:off x="11186121" y="6413401"/>
            <a:ext cx="5932795" cy="752475"/>
          </a:xfrm>
          <a:prstGeom prst="rect">
            <a:avLst/>
          </a:prstGeom>
          <a:noFill/>
          <a:ln/>
        </p:spPr>
        <p:txBody>
          <a:bodyPr wrap="square" lIns="25400" tIns="25400" rIns="25400" bIns="25400" rtlCol="0" anchor="t">
            <a:normAutofit/>
          </a:bodyPr>
          <a:lstStyle/>
          <a:p>
            <a:pPr algn="l" indent="0" marL="0">
              <a:lnSpc>
                <a:spcPct val="130814"/>
              </a:lnSpc>
              <a:buNone/>
            </a:pPr>
            <a:r>
              <a:rPr lang="en-US" sz="1875" dirty="0">
                <a:solidFill>
                  <a:srgbClr val="8EA0B5">
                    <a:alpha val="82000"/>
                  </a:srgbClr>
                </a:solidFill>
                <a:latin typeface="Arial" pitchFamily="34" charset="0"/>
                <a:ea typeface="Arial" pitchFamily="34" charset="-122"/>
                <a:cs typeface="Arial" pitchFamily="34" charset="-120"/>
              </a:rPr>
              <a:t>Résultat </a:t>
            </a:r>
            <a:pPr algn="l" indent="0" marL="0">
              <a:lnSpc>
                <a:spcPct val="130814"/>
              </a:lnSpc>
              <a:buNone/>
            </a:pPr>
            <a:r>
              <a:rPr lang="en-US" sz="1875" dirty="0">
                <a:solidFill>
                  <a:srgbClr val="EEF3F9">
                    <a:alpha val="82000"/>
                  </a:srgbClr>
                </a:solidFill>
                <a:latin typeface="Arial" pitchFamily="34" charset="0"/>
                <a:ea typeface="Arial" pitchFamily="34" charset="-122"/>
                <a:cs typeface="Arial" pitchFamily="34" charset="-120"/>
              </a:rPr>
              <a:t>strictement identique </a:t>
            </a:r>
            <a:pPr algn="l" indent="0" marL="0">
              <a:lnSpc>
                <a:spcPct val="130814"/>
              </a:lnSpc>
              <a:buNone/>
            </a:pPr>
            <a:r>
              <a:rPr lang="en-US" sz="1875" dirty="0">
                <a:solidFill>
                  <a:srgbClr val="8EA0B5">
                    <a:alpha val="82000"/>
                  </a:srgbClr>
                </a:solidFill>
                <a:latin typeface="Arial" pitchFamily="34" charset="0"/>
                <a:ea typeface="Arial" pitchFamily="34" charset="-122"/>
                <a:cs typeface="Arial" pitchFamily="34" charset="-120"/>
              </a:rPr>
              <a:t>au RDD — optimisé automatiquement par le moteur Catalyst.</a:t>
            </a:r>
            <a:endParaRPr lang="en-US" sz="1875"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0C121C"/>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56DBDB">
                    <a:alpha val="97000"/>
                  </a:srgbClr>
                </a:solidFill>
                <a:latin typeface="Courier New" pitchFamily="34" charset="0"/>
                <a:ea typeface="Courier New" pitchFamily="34" charset="-122"/>
                <a:cs typeface="Courier New" pitchFamily="34" charset="-120"/>
              </a:rPr>
              <a:t>ATELIER 4.2 · ARCHITECTURE</a:t>
            </a:r>
            <a:endParaRPr lang="en-US" sz="1800" dirty="0"/>
          </a:p>
        </p:txBody>
      </p:sp>
      <p:sp>
        <p:nvSpPr>
          <p:cNvPr id="3" name="Text 1"/>
          <p:cNvSpPr/>
          <p:nvPr/>
        </p:nvSpPr>
        <p:spPr>
          <a:xfrm>
            <a:off x="1066800" y="1314451"/>
            <a:ext cx="11188005"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Spark s'exécute sur YARN</a:t>
            </a:r>
            <a:endParaRPr lang="en-US" sz="4800" dirty="0"/>
          </a:p>
        </p:txBody>
      </p:sp>
      <p:sp>
        <p:nvSpPr>
          <p:cNvPr id="4" name="Shape 2"/>
          <p:cNvSpPr/>
          <p:nvPr/>
        </p:nvSpPr>
        <p:spPr>
          <a:xfrm>
            <a:off x="4034730" y="4101505"/>
            <a:ext cx="2306340" cy="622300"/>
          </a:xfrm>
          <a:prstGeom prst="roundRect">
            <a:avLst>
              <a:gd name="adj" fmla="val 18367"/>
            </a:avLst>
          </a:prstGeom>
          <a:gradFill rotWithShape="1">
            <a:gsLst>
              <a:gs pos="0">
                <a:srgbClr val="57DBDB">
                  <a:alpha val="22000"/>
                </a:srgbClr>
              </a:gs>
              <a:gs pos="100000">
                <a:srgbClr val="FFFFFF">
                  <a:alpha val="6000"/>
                </a:srgbClr>
              </a:gs>
            </a:gsLst>
            <a:lin ang="4200000" scaled="0"/>
          </a:gradFill>
          <a:ln w="6350">
            <a:solidFill>
              <a:srgbClr val="75E1E1">
                <a:alpha val="46000"/>
              </a:srgbClr>
            </a:solidFill>
            <a:prstDash val="solid"/>
          </a:ln>
        </p:spPr>
      </p:sp>
      <p:sp>
        <p:nvSpPr>
          <p:cNvPr id="5" name="Text 3"/>
          <p:cNvSpPr/>
          <p:nvPr/>
        </p:nvSpPr>
        <p:spPr>
          <a:xfrm>
            <a:off x="4364930" y="4260255"/>
            <a:ext cx="172214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6DBDB"/>
                </a:solidFill>
                <a:latin typeface="Courier New" pitchFamily="34" charset="0"/>
                <a:ea typeface="Courier New" pitchFamily="34" charset="-122"/>
                <a:cs typeface="Courier New" pitchFamily="34" charset="-120"/>
              </a:rPr>
              <a:t>Spark Driver</a:t>
            </a:r>
            <a:endParaRPr lang="en-US" sz="1800" dirty="0"/>
          </a:p>
        </p:txBody>
      </p:sp>
      <p:sp>
        <p:nvSpPr>
          <p:cNvPr id="6" name="Shape 4"/>
          <p:cNvSpPr/>
          <p:nvPr/>
        </p:nvSpPr>
        <p:spPr>
          <a:xfrm>
            <a:off x="5178425" y="4723805"/>
            <a:ext cx="19050" cy="228600"/>
          </a:xfrm>
          <a:prstGeom prst="rect">
            <a:avLst/>
          </a:prstGeom>
          <a:solidFill>
            <a:srgbClr val="B897F0">
              <a:alpha val="69000"/>
            </a:srgbClr>
          </a:solidFill>
          <a:ln/>
        </p:spPr>
      </p:sp>
      <p:sp>
        <p:nvSpPr>
          <p:cNvPr id="7" name="Shape 5"/>
          <p:cNvSpPr/>
          <p:nvPr/>
        </p:nvSpPr>
        <p:spPr>
          <a:xfrm>
            <a:off x="1246684" y="4950637"/>
            <a:ext cx="7882533" cy="968736"/>
          </a:xfrm>
          <a:prstGeom prst="roundRect">
            <a:avLst>
              <a:gd name="adj" fmla="val 11842"/>
            </a:avLst>
          </a:prstGeom>
          <a:gradFill rotWithShape="1">
            <a:gsLst>
              <a:gs pos="0">
                <a:srgbClr val="B996F0">
                  <a:alpha val="20000"/>
                </a:srgbClr>
              </a:gs>
              <a:gs pos="100000">
                <a:srgbClr val="FFFFFF">
                  <a:alpha val="6000"/>
                </a:srgbClr>
              </a:gs>
            </a:gsLst>
            <a:lin ang="4200000" scaled="0"/>
          </a:gradFill>
          <a:ln w="6373">
            <a:solidFill>
              <a:srgbClr val="C2A7F4">
                <a:alpha val="44000"/>
              </a:srgbClr>
            </a:solidFill>
            <a:prstDash val="solid"/>
          </a:ln>
        </p:spPr>
      </p:sp>
      <p:sp>
        <p:nvSpPr>
          <p:cNvPr id="8" name="Text 6"/>
          <p:cNvSpPr/>
          <p:nvPr/>
        </p:nvSpPr>
        <p:spPr>
          <a:xfrm>
            <a:off x="4912605" y="5109968"/>
            <a:ext cx="626890" cy="344017"/>
          </a:xfrm>
          <a:prstGeom prst="rect">
            <a:avLst/>
          </a:prstGeom>
          <a:noFill/>
          <a:ln/>
        </p:spPr>
        <p:txBody>
          <a:bodyPr wrap="square" lIns="0" tIns="0" rIns="0" bIns="0" rtlCol="0" anchor="t">
            <a:normAutofit/>
          </a:bodyPr>
          <a:lstStyle/>
          <a:p>
            <a:pPr algn="ctr" indent="0" marL="0">
              <a:buNone/>
            </a:pPr>
            <a:r>
              <a:rPr lang="en-US" sz="1807" dirty="0">
                <a:solidFill>
                  <a:srgbClr val="B897F0"/>
                </a:solidFill>
                <a:latin typeface="Courier New" pitchFamily="34" charset="0"/>
                <a:ea typeface="Courier New" pitchFamily="34" charset="-122"/>
                <a:cs typeface="Courier New" pitchFamily="34" charset="-120"/>
              </a:rPr>
              <a:t>YARN</a:t>
            </a:r>
            <a:endParaRPr lang="en-US" sz="1807" dirty="0"/>
          </a:p>
        </p:txBody>
      </p:sp>
      <p:sp>
        <p:nvSpPr>
          <p:cNvPr id="9" name="Text 7"/>
          <p:cNvSpPr/>
          <p:nvPr/>
        </p:nvSpPr>
        <p:spPr>
          <a:xfrm>
            <a:off x="1175045" y="5454125"/>
            <a:ext cx="8025810" cy="344017"/>
          </a:xfrm>
          <a:prstGeom prst="rect">
            <a:avLst/>
          </a:prstGeom>
          <a:noFill/>
          <a:ln/>
        </p:spPr>
        <p:txBody>
          <a:bodyPr wrap="square" lIns="25400" tIns="25400" rIns="25400" bIns="25400" rtlCol="0" anchor="t">
            <a:normAutofit/>
          </a:bodyPr>
          <a:lstStyle/>
          <a:p>
            <a:pPr algn="ctr" indent="0" marL="0">
              <a:buNone/>
            </a:pPr>
            <a:r>
              <a:rPr lang="en-US" sz="1807" dirty="0">
                <a:solidFill>
                  <a:srgbClr val="8EA0B5"/>
                </a:solidFill>
                <a:latin typeface="Courier New" pitchFamily="34" charset="0"/>
                <a:ea typeface="Courier New" pitchFamily="34" charset="-122"/>
                <a:cs typeface="Courier New" pitchFamily="34" charset="-120"/>
              </a:rPr>
              <a:t>ResourceManager négocie · ApplicationMaster coordonne</a:t>
            </a:r>
            <a:endParaRPr lang="en-US" sz="1807" dirty="0"/>
          </a:p>
        </p:txBody>
      </p:sp>
      <p:sp>
        <p:nvSpPr>
          <p:cNvPr id="10" name="Shape 8"/>
          <p:cNvSpPr/>
          <p:nvPr/>
        </p:nvSpPr>
        <p:spPr>
          <a:xfrm>
            <a:off x="5178425" y="5917605"/>
            <a:ext cx="19050" cy="228600"/>
          </a:xfrm>
          <a:prstGeom prst="rect">
            <a:avLst/>
          </a:prstGeom>
          <a:solidFill>
            <a:srgbClr val="B897F0">
              <a:alpha val="69000"/>
            </a:srgbClr>
          </a:solidFill>
          <a:ln/>
        </p:spPr>
      </p:sp>
      <p:sp>
        <p:nvSpPr>
          <p:cNvPr id="11" name="Shape 9"/>
          <p:cNvSpPr/>
          <p:nvPr/>
        </p:nvSpPr>
        <p:spPr>
          <a:xfrm>
            <a:off x="3227311" y="6137805"/>
            <a:ext cx="1885409" cy="1509049"/>
          </a:xfrm>
          <a:prstGeom prst="roundRect">
            <a:avLst>
              <a:gd name="adj" fmla="val 7660"/>
            </a:avLst>
          </a:prstGeom>
          <a:solidFill>
            <a:srgbClr val="FFFFFF">
              <a:alpha val="3000"/>
            </a:srgbClr>
          </a:solidFill>
          <a:ln w="6422">
            <a:solidFill>
              <a:srgbClr val="FFFFFF">
                <a:alpha val="10000"/>
              </a:srgbClr>
            </a:solidFill>
            <a:prstDash val="solid"/>
          </a:ln>
        </p:spPr>
      </p:sp>
      <p:sp>
        <p:nvSpPr>
          <p:cNvPr id="12" name="Text 10"/>
          <p:cNvSpPr/>
          <p:nvPr/>
        </p:nvSpPr>
        <p:spPr>
          <a:xfrm>
            <a:off x="3330822" y="6298342"/>
            <a:ext cx="1678387" cy="346332"/>
          </a:xfrm>
          <a:prstGeom prst="rect">
            <a:avLst/>
          </a:prstGeom>
          <a:noFill/>
          <a:ln/>
        </p:spPr>
        <p:txBody>
          <a:bodyPr wrap="square" lIns="25400" tIns="25400" rIns="25400" bIns="25400" rtlCol="0" anchor="t">
            <a:normAutofit/>
          </a:bodyPr>
          <a:lstStyle/>
          <a:p>
            <a:pPr algn="ctr" indent="0" marL="0">
              <a:buNone/>
            </a:pPr>
            <a:r>
              <a:rPr lang="en-US" sz="1820" dirty="0">
                <a:solidFill>
                  <a:srgbClr val="8EA0B5"/>
                </a:solidFill>
                <a:latin typeface="Courier New" pitchFamily="34" charset="0"/>
                <a:ea typeface="Courier New" pitchFamily="34" charset="-122"/>
                <a:cs typeface="Courier New" pitchFamily="34" charset="-120"/>
              </a:rPr>
              <a:t>NodeManager</a:t>
            </a:r>
            <a:endParaRPr lang="en-US" sz="1820" dirty="0"/>
          </a:p>
        </p:txBody>
      </p:sp>
      <p:sp>
        <p:nvSpPr>
          <p:cNvPr id="13" name="Shape 11"/>
          <p:cNvSpPr/>
          <p:nvPr/>
        </p:nvSpPr>
        <p:spPr>
          <a:xfrm>
            <a:off x="3407112" y="6683632"/>
            <a:ext cx="1525806" cy="462347"/>
          </a:xfrm>
          <a:prstGeom prst="roundRect">
            <a:avLst>
              <a:gd name="adj" fmla="val 16667"/>
            </a:avLst>
          </a:prstGeom>
          <a:solidFill>
            <a:srgbClr val="7CE1E1">
              <a:alpha val="27000"/>
            </a:srgbClr>
          </a:solidFill>
          <a:ln/>
        </p:spPr>
      </p:sp>
      <p:sp>
        <p:nvSpPr>
          <p:cNvPr id="14" name="Text 12"/>
          <p:cNvSpPr/>
          <p:nvPr/>
        </p:nvSpPr>
        <p:spPr>
          <a:xfrm>
            <a:off x="3523128" y="6760690"/>
            <a:ext cx="1293774" cy="346331"/>
          </a:xfrm>
          <a:prstGeom prst="rect">
            <a:avLst/>
          </a:prstGeom>
          <a:noFill/>
          <a:ln/>
        </p:spPr>
        <p:txBody>
          <a:bodyPr wrap="square" lIns="25400" tIns="25400" rIns="25400" bIns="25400" rtlCol="0" anchor="t">
            <a:normAutofit/>
          </a:bodyPr>
          <a:lstStyle/>
          <a:p>
            <a:pPr algn="ctr" indent="0" marL="0">
              <a:buNone/>
            </a:pPr>
            <a:r>
              <a:rPr lang="en-US" sz="1820" dirty="0">
                <a:solidFill>
                  <a:srgbClr val="56DBDB"/>
                </a:solidFill>
                <a:latin typeface="Courier New" pitchFamily="34" charset="0"/>
                <a:ea typeface="Courier New" pitchFamily="34" charset="-122"/>
                <a:cs typeface="Courier New" pitchFamily="34" charset="-120"/>
              </a:rPr>
              <a:t>Executor</a:t>
            </a:r>
            <a:endParaRPr lang="en-US" sz="1820" dirty="0"/>
          </a:p>
        </p:txBody>
      </p:sp>
      <p:sp>
        <p:nvSpPr>
          <p:cNvPr id="15" name="Text 13"/>
          <p:cNvSpPr/>
          <p:nvPr/>
        </p:nvSpPr>
        <p:spPr>
          <a:xfrm>
            <a:off x="3330822" y="7184507"/>
            <a:ext cx="1678387" cy="339910"/>
          </a:xfrm>
          <a:prstGeom prst="rect">
            <a:avLst/>
          </a:prstGeom>
          <a:noFill/>
          <a:ln/>
        </p:spPr>
        <p:txBody>
          <a:bodyPr wrap="square" lIns="25400" tIns="25400" rIns="25400" bIns="25400" rtlCol="0" anchor="t">
            <a:normAutofit/>
          </a:bodyPr>
          <a:lstStyle/>
          <a:p>
            <a:pPr algn="ctr" indent="0" marL="0">
              <a:buNone/>
            </a:pPr>
            <a:r>
              <a:rPr lang="en-US" sz="1820" dirty="0">
                <a:solidFill>
                  <a:srgbClr val="8EA0B5"/>
                </a:solidFill>
                <a:latin typeface="Arial" pitchFamily="34" charset="0"/>
                <a:ea typeface="Arial" pitchFamily="34" charset="-122"/>
                <a:cs typeface="Arial" pitchFamily="34" charset="-120"/>
              </a:rPr>
              <a:t>container</a:t>
            </a:r>
            <a:endParaRPr lang="en-US" sz="1820" dirty="0"/>
          </a:p>
        </p:txBody>
      </p:sp>
      <p:sp>
        <p:nvSpPr>
          <p:cNvPr id="16" name="Shape 14"/>
          <p:cNvSpPr/>
          <p:nvPr/>
        </p:nvSpPr>
        <p:spPr>
          <a:xfrm>
            <a:off x="5263341" y="6137933"/>
            <a:ext cx="1885088" cy="1508792"/>
          </a:xfrm>
          <a:prstGeom prst="roundRect">
            <a:avLst>
              <a:gd name="adj" fmla="val 7660"/>
            </a:avLst>
          </a:prstGeom>
          <a:solidFill>
            <a:srgbClr val="FFFFFF">
              <a:alpha val="3000"/>
            </a:srgbClr>
          </a:solidFill>
          <a:ln w="6420">
            <a:solidFill>
              <a:srgbClr val="FFFFFF">
                <a:alpha val="10000"/>
              </a:srgbClr>
            </a:solidFill>
            <a:prstDash val="solid"/>
          </a:ln>
        </p:spPr>
      </p:sp>
      <p:sp>
        <p:nvSpPr>
          <p:cNvPr id="17" name="Text 15"/>
          <p:cNvSpPr/>
          <p:nvPr/>
        </p:nvSpPr>
        <p:spPr>
          <a:xfrm>
            <a:off x="5366835" y="6298443"/>
            <a:ext cx="1678100" cy="346279"/>
          </a:xfrm>
          <a:prstGeom prst="rect">
            <a:avLst/>
          </a:prstGeom>
          <a:noFill/>
          <a:ln/>
        </p:spPr>
        <p:txBody>
          <a:bodyPr wrap="square" lIns="25400" tIns="25400" rIns="25400" bIns="25400" rtlCol="0" anchor="t">
            <a:normAutofit/>
          </a:bodyPr>
          <a:lstStyle/>
          <a:p>
            <a:pPr algn="ctr" indent="0" marL="0">
              <a:buNone/>
            </a:pPr>
            <a:r>
              <a:rPr lang="en-US" sz="1820" dirty="0">
                <a:solidFill>
                  <a:srgbClr val="8EA0B5"/>
                </a:solidFill>
                <a:latin typeface="Courier New" pitchFamily="34" charset="0"/>
                <a:ea typeface="Courier New" pitchFamily="34" charset="-122"/>
                <a:cs typeface="Courier New" pitchFamily="34" charset="-120"/>
              </a:rPr>
              <a:t>NodeManager</a:t>
            </a:r>
            <a:endParaRPr lang="en-US" sz="1820" dirty="0"/>
          </a:p>
        </p:txBody>
      </p:sp>
      <p:sp>
        <p:nvSpPr>
          <p:cNvPr id="18" name="Shape 16"/>
          <p:cNvSpPr/>
          <p:nvPr/>
        </p:nvSpPr>
        <p:spPr>
          <a:xfrm>
            <a:off x="5443112" y="6683668"/>
            <a:ext cx="1525546" cy="462268"/>
          </a:xfrm>
          <a:prstGeom prst="roundRect">
            <a:avLst>
              <a:gd name="adj" fmla="val 16667"/>
            </a:avLst>
          </a:prstGeom>
          <a:solidFill>
            <a:srgbClr val="7CE1E1">
              <a:alpha val="27000"/>
            </a:srgbClr>
          </a:solidFill>
          <a:ln/>
        </p:spPr>
      </p:sp>
      <p:sp>
        <p:nvSpPr>
          <p:cNvPr id="19" name="Text 17"/>
          <p:cNvSpPr/>
          <p:nvPr/>
        </p:nvSpPr>
        <p:spPr>
          <a:xfrm>
            <a:off x="5559102" y="6760713"/>
            <a:ext cx="1293565" cy="346278"/>
          </a:xfrm>
          <a:prstGeom prst="rect">
            <a:avLst/>
          </a:prstGeom>
          <a:noFill/>
          <a:ln/>
        </p:spPr>
        <p:txBody>
          <a:bodyPr wrap="square" lIns="25400" tIns="25400" rIns="25400" bIns="25400" rtlCol="0" anchor="t">
            <a:normAutofit/>
          </a:bodyPr>
          <a:lstStyle/>
          <a:p>
            <a:pPr algn="ctr" indent="0" marL="0">
              <a:buNone/>
            </a:pPr>
            <a:r>
              <a:rPr lang="en-US" sz="1820" dirty="0">
                <a:solidFill>
                  <a:srgbClr val="56DBDB"/>
                </a:solidFill>
                <a:latin typeface="Courier New" pitchFamily="34" charset="0"/>
                <a:ea typeface="Courier New" pitchFamily="34" charset="-122"/>
                <a:cs typeface="Courier New" pitchFamily="34" charset="-120"/>
              </a:rPr>
              <a:t>Executor</a:t>
            </a:r>
            <a:endParaRPr lang="en-US" sz="1820" dirty="0"/>
          </a:p>
        </p:txBody>
      </p:sp>
      <p:sp>
        <p:nvSpPr>
          <p:cNvPr id="20" name="Text 18"/>
          <p:cNvSpPr/>
          <p:nvPr/>
        </p:nvSpPr>
        <p:spPr>
          <a:xfrm>
            <a:off x="5366835" y="7184458"/>
            <a:ext cx="1678100" cy="339858"/>
          </a:xfrm>
          <a:prstGeom prst="rect">
            <a:avLst/>
          </a:prstGeom>
          <a:noFill/>
          <a:ln/>
        </p:spPr>
        <p:txBody>
          <a:bodyPr wrap="square" lIns="25400" tIns="25400" rIns="25400" bIns="25400" rtlCol="0" anchor="t">
            <a:normAutofit/>
          </a:bodyPr>
          <a:lstStyle/>
          <a:p>
            <a:pPr algn="ctr" indent="0" marL="0">
              <a:buNone/>
            </a:pPr>
            <a:r>
              <a:rPr lang="en-US" sz="1820" dirty="0">
                <a:solidFill>
                  <a:srgbClr val="8EA0B5"/>
                </a:solidFill>
                <a:latin typeface="Arial" pitchFamily="34" charset="0"/>
                <a:ea typeface="Arial" pitchFamily="34" charset="-122"/>
                <a:cs typeface="Arial" pitchFamily="34" charset="-120"/>
              </a:rPr>
              <a:t>container</a:t>
            </a:r>
            <a:endParaRPr lang="en-US" sz="1820" dirty="0"/>
          </a:p>
        </p:txBody>
      </p:sp>
      <p:sp>
        <p:nvSpPr>
          <p:cNvPr id="21" name="Shape 19"/>
          <p:cNvSpPr/>
          <p:nvPr/>
        </p:nvSpPr>
        <p:spPr>
          <a:xfrm>
            <a:off x="9728200" y="4511691"/>
            <a:ext cx="25400" cy="995561"/>
          </a:xfrm>
          <a:prstGeom prst="rect">
            <a:avLst/>
          </a:prstGeom>
          <a:solidFill>
            <a:srgbClr val="56DBDB">
              <a:alpha val="98000"/>
            </a:srgbClr>
          </a:solidFill>
          <a:ln/>
        </p:spPr>
      </p:sp>
      <p:sp>
        <p:nvSpPr>
          <p:cNvPr id="22" name="Text 20"/>
          <p:cNvSpPr/>
          <p:nvPr/>
        </p:nvSpPr>
        <p:spPr>
          <a:xfrm>
            <a:off x="9963150" y="4511691"/>
            <a:ext cx="7983855" cy="336550"/>
          </a:xfrm>
          <a:prstGeom prst="rect">
            <a:avLst/>
          </a:prstGeom>
          <a:noFill/>
          <a:ln/>
        </p:spPr>
        <p:txBody>
          <a:bodyPr wrap="square" lIns="25400" tIns="25400" rIns="25400" bIns="25400" rtlCol="0" anchor="t">
            <a:normAutofit/>
          </a:bodyPr>
          <a:lstStyle/>
          <a:p>
            <a:pPr algn="l" indent="0" marL="0">
              <a:buNone/>
            </a:pPr>
            <a:r>
              <a:rPr lang="en-US" sz="2025" b="1" dirty="0">
                <a:solidFill>
                  <a:srgbClr val="EEF3F9">
                    <a:alpha val="98000"/>
                  </a:srgbClr>
                </a:solidFill>
                <a:latin typeface="Arial" pitchFamily="34" charset="0"/>
                <a:ea typeface="Arial" pitchFamily="34" charset="-122"/>
                <a:cs typeface="Arial" pitchFamily="34" charset="-120"/>
              </a:rPr>
              <a:t>Driver → ResourceManager</a:t>
            </a:r>
            <a:endParaRPr lang="en-US" sz="2025" dirty="0"/>
          </a:p>
        </p:txBody>
      </p:sp>
      <p:sp>
        <p:nvSpPr>
          <p:cNvPr id="23" name="Text 21"/>
          <p:cNvSpPr/>
          <p:nvPr/>
        </p:nvSpPr>
        <p:spPr>
          <a:xfrm>
            <a:off x="9963150" y="4867291"/>
            <a:ext cx="7475792" cy="678061"/>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8EA0B5">
                    <a:alpha val="98000"/>
                  </a:srgbClr>
                </a:solidFill>
                <a:latin typeface="Arial" pitchFamily="34" charset="0"/>
                <a:ea typeface="Arial" pitchFamily="34" charset="-122"/>
                <a:cs typeface="Arial" pitchFamily="34" charset="-120"/>
              </a:rPr>
              <a:t>négocie les ressources via un ApplicationMaster dédié à l'application Spark.</a:t>
            </a:r>
            <a:endParaRPr lang="en-US" sz="1800" dirty="0"/>
          </a:p>
        </p:txBody>
      </p:sp>
      <p:sp>
        <p:nvSpPr>
          <p:cNvPr id="24" name="Shape 22"/>
          <p:cNvSpPr/>
          <p:nvPr/>
        </p:nvSpPr>
        <p:spPr>
          <a:xfrm>
            <a:off x="9728200" y="5716802"/>
            <a:ext cx="25400" cy="995561"/>
          </a:xfrm>
          <a:prstGeom prst="rect">
            <a:avLst/>
          </a:prstGeom>
          <a:solidFill>
            <a:srgbClr val="56DBDB">
              <a:alpha val="98000"/>
            </a:srgbClr>
          </a:solidFill>
          <a:ln/>
        </p:spPr>
      </p:sp>
      <p:sp>
        <p:nvSpPr>
          <p:cNvPr id="25" name="Text 23"/>
          <p:cNvSpPr/>
          <p:nvPr/>
        </p:nvSpPr>
        <p:spPr>
          <a:xfrm>
            <a:off x="9963150" y="5716802"/>
            <a:ext cx="7983855" cy="336550"/>
          </a:xfrm>
          <a:prstGeom prst="rect">
            <a:avLst/>
          </a:prstGeom>
          <a:noFill/>
          <a:ln/>
        </p:spPr>
        <p:txBody>
          <a:bodyPr wrap="square" lIns="25400" tIns="25400" rIns="25400" bIns="25400" rtlCol="0" anchor="t">
            <a:normAutofit/>
          </a:bodyPr>
          <a:lstStyle/>
          <a:p>
            <a:pPr algn="l" indent="0" marL="0">
              <a:buNone/>
            </a:pPr>
            <a:r>
              <a:rPr lang="en-US" sz="2025" b="1" dirty="0">
                <a:solidFill>
                  <a:srgbClr val="EEF3F9">
                    <a:alpha val="98000"/>
                  </a:srgbClr>
                </a:solidFill>
                <a:latin typeface="Arial" pitchFamily="34" charset="0"/>
                <a:ea typeface="Arial" pitchFamily="34" charset="-122"/>
                <a:cs typeface="Arial" pitchFamily="34" charset="-120"/>
              </a:rPr>
              <a:t>Executors dans des Containers</a:t>
            </a:r>
            <a:endParaRPr lang="en-US" sz="2025" dirty="0"/>
          </a:p>
        </p:txBody>
      </p:sp>
      <p:sp>
        <p:nvSpPr>
          <p:cNvPr id="26" name="Text 24"/>
          <p:cNvSpPr/>
          <p:nvPr/>
        </p:nvSpPr>
        <p:spPr>
          <a:xfrm>
            <a:off x="9963150" y="6072402"/>
            <a:ext cx="7475792" cy="678061"/>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8EA0B5">
                    <a:alpha val="98000"/>
                  </a:srgbClr>
                </a:solidFill>
                <a:latin typeface="Arial" pitchFamily="34" charset="0"/>
                <a:ea typeface="Arial" pitchFamily="34" charset="-122"/>
                <a:cs typeface="Arial" pitchFamily="34" charset="-120"/>
              </a:rPr>
              <a:t>chacun sur un nœud géré par un NodeManager — le vocabulaire YARN de l'atelier 4.1.</a:t>
            </a:r>
            <a:endParaRPr lang="en-US" sz="1800" dirty="0"/>
          </a:p>
        </p:txBody>
      </p:sp>
      <p:sp>
        <p:nvSpPr>
          <p:cNvPr id="27" name="Shape 25"/>
          <p:cNvSpPr/>
          <p:nvPr/>
        </p:nvSpPr>
        <p:spPr>
          <a:xfrm>
            <a:off x="9728200" y="6921912"/>
            <a:ext cx="25400" cy="319980"/>
          </a:xfrm>
          <a:prstGeom prst="rect">
            <a:avLst/>
          </a:prstGeom>
          <a:solidFill>
            <a:srgbClr val="B897F0">
              <a:alpha val="98000"/>
            </a:srgbClr>
          </a:solidFill>
          <a:ln/>
        </p:spPr>
      </p:sp>
      <p:sp>
        <p:nvSpPr>
          <p:cNvPr id="28" name="Text 26"/>
          <p:cNvSpPr/>
          <p:nvPr/>
        </p:nvSpPr>
        <p:spPr>
          <a:xfrm>
            <a:off x="9963150" y="6921912"/>
            <a:ext cx="7983855" cy="35808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8EA0B5">
                    <a:alpha val="98000"/>
                  </a:srgbClr>
                </a:solidFill>
                <a:latin typeface="Arial" pitchFamily="34" charset="0"/>
                <a:ea typeface="Arial" pitchFamily="34" charset="-122"/>
                <a:cs typeface="Arial" pitchFamily="34" charset="-120"/>
              </a:rPr>
              <a:t>En local (Docker, atelier 3), ce rôle est tenu par le mode </a:t>
            </a:r>
            <a:pPr algn="l" indent="0" marL="0">
              <a:lnSpc>
                <a:spcPct val="120000"/>
              </a:lnSpc>
              <a:buNone/>
            </a:pPr>
            <a:r>
              <a:rPr lang="en-US" sz="1800" dirty="0">
                <a:solidFill>
                  <a:srgbClr val="EEF3F9">
                    <a:alpha val="98000"/>
                  </a:srgbClr>
                </a:solidFill>
                <a:latin typeface="Arial" pitchFamily="34" charset="0"/>
                <a:ea typeface="Arial" pitchFamily="34" charset="-122"/>
                <a:cs typeface="Arial" pitchFamily="34" charset="-120"/>
              </a:rPr>
              <a:t>Standalone</a:t>
            </a:r>
            <a:pPr algn="l" indent="0" marL="0">
              <a:lnSpc>
                <a:spcPct val="120000"/>
              </a:lnSpc>
              <a:buNone/>
            </a:pPr>
            <a:r>
              <a:rPr lang="en-US" sz="1800" dirty="0">
                <a:solidFill>
                  <a:srgbClr val="8EA0B5">
                    <a:alpha val="98000"/>
                  </a:srgbClr>
                </a:solidFill>
                <a:latin typeface="Arial" pitchFamily="34" charset="0"/>
                <a:ea typeface="Arial" pitchFamily="34" charset="-122"/>
                <a:cs typeface="Arial" pitchFamily="34" charset="-120"/>
              </a:rPr>
              <a:t>.</a:t>
            </a:r>
            <a:endParaRPr lang="en-US" sz="18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0A0E15"/>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56DBDB">
                    <a:alpha val="97000"/>
                  </a:srgbClr>
                </a:solidFill>
                <a:latin typeface="Courier New" pitchFamily="34" charset="0"/>
                <a:ea typeface="Courier New" pitchFamily="34" charset="-122"/>
                <a:cs typeface="Courier New" pitchFamily="34" charset="-120"/>
              </a:rPr>
              <a:t>ATELIER 4.2 · EXÉCUTION</a:t>
            </a:r>
            <a:endParaRPr lang="en-US" sz="1800" dirty="0"/>
          </a:p>
        </p:txBody>
      </p:sp>
      <p:sp>
        <p:nvSpPr>
          <p:cNvPr id="3" name="Text 1"/>
          <p:cNvSpPr/>
          <p:nvPr/>
        </p:nvSpPr>
        <p:spPr>
          <a:xfrm>
            <a:off x="1066800" y="1314451"/>
            <a:ext cx="11872847" cy="1305917"/>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Transformations, actions et évaluation paresseuse</a:t>
            </a:r>
            <a:endParaRPr lang="en-US" sz="4800" dirty="0"/>
          </a:p>
        </p:txBody>
      </p:sp>
      <p:sp>
        <p:nvSpPr>
          <p:cNvPr id="4" name="Shape 2"/>
          <p:cNvSpPr/>
          <p:nvPr/>
        </p:nvSpPr>
        <p:spPr>
          <a:xfrm>
            <a:off x="1066800" y="2906119"/>
            <a:ext cx="7940675" cy="6561733"/>
          </a:xfrm>
          <a:prstGeom prst="roundRect">
            <a:avLst>
              <a:gd name="adj" fmla="val 2323"/>
            </a:avLst>
          </a:prstGeom>
          <a:solidFill>
            <a:srgbClr val="FFFFFF">
              <a:alpha val="3000"/>
            </a:srgbClr>
          </a:solidFill>
          <a:ln w="6350">
            <a:solidFill>
              <a:srgbClr val="FFFFFF">
                <a:alpha val="10000"/>
              </a:srgbClr>
            </a:solidFill>
            <a:prstDash val="solid"/>
          </a:ln>
        </p:spPr>
      </p:sp>
      <p:sp>
        <p:nvSpPr>
          <p:cNvPr id="5" name="Shape 3"/>
          <p:cNvSpPr/>
          <p:nvPr/>
        </p:nvSpPr>
        <p:spPr>
          <a:xfrm>
            <a:off x="1073150" y="3560169"/>
            <a:ext cx="7927975" cy="9525"/>
          </a:xfrm>
          <a:prstGeom prst="rect">
            <a:avLst/>
          </a:prstGeom>
          <a:solidFill>
            <a:srgbClr val="FFFFFF">
              <a:alpha val="10000"/>
            </a:srgbClr>
          </a:solidFill>
          <a:ln/>
        </p:spPr>
      </p:sp>
      <p:sp>
        <p:nvSpPr>
          <p:cNvPr id="6" name="Text 4"/>
          <p:cNvSpPr/>
          <p:nvPr/>
        </p:nvSpPr>
        <p:spPr>
          <a:xfrm>
            <a:off x="1320800" y="3083919"/>
            <a:ext cx="408797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6DBDB"/>
                </a:solidFill>
                <a:latin typeface="Courier New" pitchFamily="34" charset="0"/>
                <a:ea typeface="Courier New" pitchFamily="34" charset="-122"/>
                <a:cs typeface="Courier New" pitchFamily="34" charset="-120"/>
              </a:rPr>
              <a:t>Transformations</a:t>
            </a:r>
            <a:endParaRPr lang="en-US" sz="1800" dirty="0"/>
          </a:p>
        </p:txBody>
      </p:sp>
      <p:sp>
        <p:nvSpPr>
          <p:cNvPr id="7" name="Text 5"/>
          <p:cNvSpPr/>
          <p:nvPr/>
        </p:nvSpPr>
        <p:spPr>
          <a:xfrm>
            <a:off x="5037138" y="3083919"/>
            <a:ext cx="408797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FB46E"/>
                </a:solidFill>
                <a:latin typeface="Courier New" pitchFamily="34" charset="0"/>
                <a:ea typeface="Courier New" pitchFamily="34" charset="-122"/>
                <a:cs typeface="Courier New" pitchFamily="34" charset="-120"/>
              </a:rPr>
              <a:t>Actions</a:t>
            </a:r>
            <a:endParaRPr lang="en-US" sz="1800" dirty="0"/>
          </a:p>
        </p:txBody>
      </p:sp>
      <p:sp>
        <p:nvSpPr>
          <p:cNvPr id="8" name="Shape 6"/>
          <p:cNvSpPr/>
          <p:nvPr/>
        </p:nvSpPr>
        <p:spPr>
          <a:xfrm>
            <a:off x="1073150" y="4138019"/>
            <a:ext cx="7927975" cy="9525"/>
          </a:xfrm>
          <a:prstGeom prst="rect">
            <a:avLst/>
          </a:prstGeom>
          <a:solidFill>
            <a:srgbClr val="FFFFFF">
              <a:alpha val="6000"/>
            </a:srgbClr>
          </a:solidFill>
          <a:ln/>
        </p:spPr>
      </p:sp>
      <p:sp>
        <p:nvSpPr>
          <p:cNvPr id="9" name="Text 7"/>
          <p:cNvSpPr/>
          <p:nvPr/>
        </p:nvSpPr>
        <p:spPr>
          <a:xfrm>
            <a:off x="1320800" y="3699869"/>
            <a:ext cx="408797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EEF3F9"/>
                </a:solidFill>
                <a:latin typeface="Courier New" pitchFamily="34" charset="0"/>
                <a:ea typeface="Courier New" pitchFamily="34" charset="-122"/>
                <a:cs typeface="Courier New" pitchFamily="34" charset="-120"/>
              </a:rPr>
              <a:t>map</a:t>
            </a:r>
            <a:endParaRPr lang="en-US" sz="1800" dirty="0"/>
          </a:p>
        </p:txBody>
      </p:sp>
      <p:sp>
        <p:nvSpPr>
          <p:cNvPr id="10" name="Text 8"/>
          <p:cNvSpPr/>
          <p:nvPr/>
        </p:nvSpPr>
        <p:spPr>
          <a:xfrm>
            <a:off x="5037138" y="3699869"/>
            <a:ext cx="408797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solidFill>
                <a:latin typeface="Courier New" pitchFamily="34" charset="0"/>
                <a:ea typeface="Courier New" pitchFamily="34" charset="-122"/>
                <a:cs typeface="Courier New" pitchFamily="34" charset="-120"/>
              </a:rPr>
              <a:t>collect</a:t>
            </a:r>
            <a:endParaRPr lang="en-US" sz="1800" dirty="0"/>
          </a:p>
        </p:txBody>
      </p:sp>
      <p:sp>
        <p:nvSpPr>
          <p:cNvPr id="11" name="Shape 9"/>
          <p:cNvSpPr/>
          <p:nvPr/>
        </p:nvSpPr>
        <p:spPr>
          <a:xfrm>
            <a:off x="1073150" y="4715869"/>
            <a:ext cx="7927975" cy="9525"/>
          </a:xfrm>
          <a:prstGeom prst="rect">
            <a:avLst/>
          </a:prstGeom>
          <a:solidFill>
            <a:srgbClr val="FFFFFF">
              <a:alpha val="6000"/>
            </a:srgbClr>
          </a:solidFill>
          <a:ln/>
        </p:spPr>
      </p:sp>
      <p:sp>
        <p:nvSpPr>
          <p:cNvPr id="12" name="Text 10"/>
          <p:cNvSpPr/>
          <p:nvPr/>
        </p:nvSpPr>
        <p:spPr>
          <a:xfrm>
            <a:off x="1320800" y="4277719"/>
            <a:ext cx="408797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EEF3F9"/>
                </a:solidFill>
                <a:latin typeface="Courier New" pitchFamily="34" charset="0"/>
                <a:ea typeface="Courier New" pitchFamily="34" charset="-122"/>
                <a:cs typeface="Courier New" pitchFamily="34" charset="-120"/>
              </a:rPr>
              <a:t>filter</a:t>
            </a:r>
            <a:endParaRPr lang="en-US" sz="1800" dirty="0"/>
          </a:p>
        </p:txBody>
      </p:sp>
      <p:sp>
        <p:nvSpPr>
          <p:cNvPr id="13" name="Text 11"/>
          <p:cNvSpPr/>
          <p:nvPr/>
        </p:nvSpPr>
        <p:spPr>
          <a:xfrm>
            <a:off x="5037138" y="4277719"/>
            <a:ext cx="408797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solidFill>
                <a:latin typeface="Courier New" pitchFamily="34" charset="0"/>
                <a:ea typeface="Courier New" pitchFamily="34" charset="-122"/>
                <a:cs typeface="Courier New" pitchFamily="34" charset="-120"/>
              </a:rPr>
              <a:t>count</a:t>
            </a:r>
            <a:endParaRPr lang="en-US" sz="1800" dirty="0"/>
          </a:p>
        </p:txBody>
      </p:sp>
      <p:sp>
        <p:nvSpPr>
          <p:cNvPr id="14" name="Shape 12"/>
          <p:cNvSpPr/>
          <p:nvPr/>
        </p:nvSpPr>
        <p:spPr>
          <a:xfrm>
            <a:off x="1073150" y="5293719"/>
            <a:ext cx="7927975" cy="9525"/>
          </a:xfrm>
          <a:prstGeom prst="rect">
            <a:avLst/>
          </a:prstGeom>
          <a:solidFill>
            <a:srgbClr val="FFFFFF">
              <a:alpha val="6000"/>
            </a:srgbClr>
          </a:solidFill>
          <a:ln/>
        </p:spPr>
      </p:sp>
      <p:sp>
        <p:nvSpPr>
          <p:cNvPr id="15" name="Text 13"/>
          <p:cNvSpPr/>
          <p:nvPr/>
        </p:nvSpPr>
        <p:spPr>
          <a:xfrm>
            <a:off x="1320800" y="4855569"/>
            <a:ext cx="408797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EEF3F9"/>
                </a:solidFill>
                <a:latin typeface="Courier New" pitchFamily="34" charset="0"/>
                <a:ea typeface="Courier New" pitchFamily="34" charset="-122"/>
                <a:cs typeface="Courier New" pitchFamily="34" charset="-120"/>
              </a:rPr>
              <a:t>groupBy</a:t>
            </a:r>
            <a:endParaRPr lang="en-US" sz="1800" dirty="0"/>
          </a:p>
        </p:txBody>
      </p:sp>
      <p:sp>
        <p:nvSpPr>
          <p:cNvPr id="16" name="Text 14"/>
          <p:cNvSpPr/>
          <p:nvPr/>
        </p:nvSpPr>
        <p:spPr>
          <a:xfrm>
            <a:off x="5037138" y="4855569"/>
            <a:ext cx="408797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solidFill>
                <a:latin typeface="Courier New" pitchFamily="34" charset="0"/>
                <a:ea typeface="Courier New" pitchFamily="34" charset="-122"/>
                <a:cs typeface="Courier New" pitchFamily="34" charset="-120"/>
              </a:rPr>
              <a:t>take</a:t>
            </a:r>
            <a:endParaRPr lang="en-US" sz="1800" dirty="0"/>
          </a:p>
        </p:txBody>
      </p:sp>
      <p:sp>
        <p:nvSpPr>
          <p:cNvPr id="17" name="Shape 15"/>
          <p:cNvSpPr/>
          <p:nvPr/>
        </p:nvSpPr>
        <p:spPr>
          <a:xfrm>
            <a:off x="1073150" y="5871569"/>
            <a:ext cx="7927975" cy="9525"/>
          </a:xfrm>
          <a:prstGeom prst="rect">
            <a:avLst/>
          </a:prstGeom>
          <a:solidFill>
            <a:srgbClr val="FFFFFF">
              <a:alpha val="6000"/>
            </a:srgbClr>
          </a:solidFill>
          <a:ln/>
        </p:spPr>
      </p:sp>
      <p:sp>
        <p:nvSpPr>
          <p:cNvPr id="18" name="Text 16"/>
          <p:cNvSpPr/>
          <p:nvPr/>
        </p:nvSpPr>
        <p:spPr>
          <a:xfrm>
            <a:off x="1320800" y="5433419"/>
            <a:ext cx="408797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EEF3F9"/>
                </a:solidFill>
                <a:latin typeface="Courier New" pitchFamily="34" charset="0"/>
                <a:ea typeface="Courier New" pitchFamily="34" charset="-122"/>
                <a:cs typeface="Courier New" pitchFamily="34" charset="-120"/>
              </a:rPr>
              <a:t>flatMap</a:t>
            </a:r>
            <a:endParaRPr lang="en-US" sz="1800" dirty="0"/>
          </a:p>
        </p:txBody>
      </p:sp>
      <p:sp>
        <p:nvSpPr>
          <p:cNvPr id="19" name="Text 17"/>
          <p:cNvSpPr/>
          <p:nvPr/>
        </p:nvSpPr>
        <p:spPr>
          <a:xfrm>
            <a:off x="5037138" y="5433419"/>
            <a:ext cx="408797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solidFill>
                <a:latin typeface="Courier New" pitchFamily="34" charset="0"/>
                <a:ea typeface="Courier New" pitchFamily="34" charset="-122"/>
                <a:cs typeface="Courier New" pitchFamily="34" charset="-120"/>
              </a:rPr>
              <a:t>first</a:t>
            </a:r>
            <a:endParaRPr lang="en-US" sz="1800" dirty="0"/>
          </a:p>
        </p:txBody>
      </p:sp>
      <p:sp>
        <p:nvSpPr>
          <p:cNvPr id="20" name="Text 18"/>
          <p:cNvSpPr/>
          <p:nvPr/>
        </p:nvSpPr>
        <p:spPr>
          <a:xfrm>
            <a:off x="1320800" y="6011269"/>
            <a:ext cx="408797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EEF3F9"/>
                </a:solidFill>
                <a:latin typeface="Courier New" pitchFamily="34" charset="0"/>
                <a:ea typeface="Courier New" pitchFamily="34" charset="-122"/>
                <a:cs typeface="Courier New" pitchFamily="34" charset="-120"/>
              </a:rPr>
              <a:t>reduceByKey</a:t>
            </a:r>
            <a:endParaRPr lang="en-US" sz="1800" dirty="0"/>
          </a:p>
        </p:txBody>
      </p:sp>
      <p:sp>
        <p:nvSpPr>
          <p:cNvPr id="21" name="Text 19"/>
          <p:cNvSpPr/>
          <p:nvPr/>
        </p:nvSpPr>
        <p:spPr>
          <a:xfrm>
            <a:off x="5037138" y="6011269"/>
            <a:ext cx="408797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solidFill>
                <a:latin typeface="Courier New" pitchFamily="34" charset="0"/>
                <a:ea typeface="Courier New" pitchFamily="34" charset="-122"/>
                <a:cs typeface="Courier New" pitchFamily="34" charset="-120"/>
              </a:rPr>
              <a:t>saveAsTextFile</a:t>
            </a:r>
            <a:endParaRPr lang="en-US" sz="1800" dirty="0"/>
          </a:p>
        </p:txBody>
      </p:sp>
      <p:sp>
        <p:nvSpPr>
          <p:cNvPr id="22" name="Shape 20"/>
          <p:cNvSpPr/>
          <p:nvPr/>
        </p:nvSpPr>
        <p:spPr>
          <a:xfrm>
            <a:off x="1073150" y="6449419"/>
            <a:ext cx="7927975" cy="9525"/>
          </a:xfrm>
          <a:prstGeom prst="rect">
            <a:avLst/>
          </a:prstGeom>
          <a:solidFill>
            <a:srgbClr val="FFFFFF">
              <a:alpha val="10000"/>
            </a:srgbClr>
          </a:solidFill>
          <a:ln/>
        </p:spPr>
      </p:sp>
      <p:sp>
        <p:nvSpPr>
          <p:cNvPr id="23" name="Text 21"/>
          <p:cNvSpPr/>
          <p:nvPr/>
        </p:nvSpPr>
        <p:spPr>
          <a:xfrm>
            <a:off x="1320800" y="6608169"/>
            <a:ext cx="7670515" cy="358081"/>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8EA0B5"/>
                </a:solidFill>
                <a:latin typeface="Arial" pitchFamily="34" charset="0"/>
                <a:ea typeface="Arial" pitchFamily="34" charset="-122"/>
                <a:cs typeface="Arial" pitchFamily="34" charset="-120"/>
              </a:rPr>
              <a:t>Paresseuses : ne calculent rien / Déclenchent le calcul</a:t>
            </a:r>
            <a:endParaRPr lang="en-US" sz="1800" dirty="0"/>
          </a:p>
        </p:txBody>
      </p:sp>
      <p:sp>
        <p:nvSpPr>
          <p:cNvPr id="24" name="Text 22"/>
          <p:cNvSpPr/>
          <p:nvPr/>
        </p:nvSpPr>
        <p:spPr>
          <a:xfrm>
            <a:off x="9293225" y="4272980"/>
            <a:ext cx="271585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alpha val="99000"/>
                  </a:srgbClr>
                </a:solidFill>
                <a:latin typeface="Courier New" pitchFamily="34" charset="0"/>
                <a:ea typeface="Courier New" pitchFamily="34" charset="-122"/>
                <a:cs typeface="Courier New" pitchFamily="34" charset="-120"/>
              </a:rPr>
              <a:t>le DAG d'exécution</a:t>
            </a:r>
            <a:endParaRPr lang="en-US" sz="1800" dirty="0"/>
          </a:p>
        </p:txBody>
      </p:sp>
      <p:sp>
        <p:nvSpPr>
          <p:cNvPr id="25" name="Shape 23"/>
          <p:cNvSpPr/>
          <p:nvPr/>
        </p:nvSpPr>
        <p:spPr>
          <a:xfrm>
            <a:off x="12454533" y="4673030"/>
            <a:ext cx="1605359" cy="546100"/>
          </a:xfrm>
          <a:prstGeom prst="roundRect">
            <a:avLst>
              <a:gd name="adj" fmla="val 17442"/>
            </a:avLst>
          </a:prstGeom>
          <a:solidFill>
            <a:srgbClr val="FFFFFF">
              <a:alpha val="3000"/>
            </a:srgbClr>
          </a:solidFill>
          <a:ln w="6350">
            <a:solidFill>
              <a:srgbClr val="FFFFFF">
                <a:alpha val="10000"/>
              </a:srgbClr>
            </a:solidFill>
            <a:prstDash val="solid"/>
          </a:ln>
        </p:spPr>
      </p:sp>
      <p:sp>
        <p:nvSpPr>
          <p:cNvPr id="26" name="Text 24"/>
          <p:cNvSpPr/>
          <p:nvPr/>
        </p:nvSpPr>
        <p:spPr>
          <a:xfrm>
            <a:off x="12708533" y="4793680"/>
            <a:ext cx="117355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EEF3F9">
                    <a:alpha val="99000"/>
                  </a:srgbClr>
                </a:solidFill>
                <a:latin typeface="Courier New" pitchFamily="34" charset="0"/>
                <a:ea typeface="Courier New" pitchFamily="34" charset="-122"/>
                <a:cs typeface="Courier New" pitchFamily="34" charset="-120"/>
              </a:rPr>
              <a:t>textFile</a:t>
            </a:r>
            <a:endParaRPr lang="en-US" sz="1800" dirty="0"/>
          </a:p>
        </p:txBody>
      </p:sp>
      <p:sp>
        <p:nvSpPr>
          <p:cNvPr id="27" name="Shape 25"/>
          <p:cNvSpPr/>
          <p:nvPr/>
        </p:nvSpPr>
        <p:spPr>
          <a:xfrm>
            <a:off x="13247688" y="5219130"/>
            <a:ext cx="19050" cy="152400"/>
          </a:xfrm>
          <a:prstGeom prst="rect">
            <a:avLst/>
          </a:prstGeom>
          <a:solidFill>
            <a:srgbClr val="56DBDB">
              <a:alpha val="68000"/>
            </a:srgbClr>
          </a:solidFill>
          <a:ln/>
        </p:spPr>
      </p:sp>
      <p:sp>
        <p:nvSpPr>
          <p:cNvPr id="28" name="Shape 26"/>
          <p:cNvSpPr/>
          <p:nvPr/>
        </p:nvSpPr>
        <p:spPr>
          <a:xfrm>
            <a:off x="12797217" y="5371530"/>
            <a:ext cx="919559" cy="546100"/>
          </a:xfrm>
          <a:prstGeom prst="roundRect">
            <a:avLst>
              <a:gd name="adj" fmla="val 17442"/>
            </a:avLst>
          </a:prstGeom>
          <a:solidFill>
            <a:srgbClr val="FFFFFF">
              <a:alpha val="3000"/>
            </a:srgbClr>
          </a:solidFill>
          <a:ln w="6350">
            <a:solidFill>
              <a:srgbClr val="FFFFFF">
                <a:alpha val="10000"/>
              </a:srgbClr>
            </a:solidFill>
            <a:prstDash val="solid"/>
          </a:ln>
        </p:spPr>
      </p:sp>
      <p:sp>
        <p:nvSpPr>
          <p:cNvPr id="29" name="Text 27"/>
          <p:cNvSpPr/>
          <p:nvPr/>
        </p:nvSpPr>
        <p:spPr>
          <a:xfrm>
            <a:off x="13051217" y="5492180"/>
            <a:ext cx="48775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EEF3F9">
                    <a:alpha val="99000"/>
                  </a:srgbClr>
                </a:solidFill>
                <a:latin typeface="Courier New" pitchFamily="34" charset="0"/>
                <a:ea typeface="Courier New" pitchFamily="34" charset="-122"/>
                <a:cs typeface="Courier New" pitchFamily="34" charset="-120"/>
              </a:rPr>
              <a:t>map</a:t>
            </a:r>
            <a:endParaRPr lang="en-US" sz="1800" dirty="0"/>
          </a:p>
        </p:txBody>
      </p:sp>
      <p:sp>
        <p:nvSpPr>
          <p:cNvPr id="30" name="Shape 28"/>
          <p:cNvSpPr/>
          <p:nvPr/>
        </p:nvSpPr>
        <p:spPr>
          <a:xfrm>
            <a:off x="13247688" y="5917629"/>
            <a:ext cx="19050" cy="152400"/>
          </a:xfrm>
          <a:prstGeom prst="rect">
            <a:avLst/>
          </a:prstGeom>
          <a:solidFill>
            <a:srgbClr val="56DBDB">
              <a:alpha val="68000"/>
            </a:srgbClr>
          </a:solidFill>
          <a:ln/>
        </p:spPr>
      </p:sp>
      <p:sp>
        <p:nvSpPr>
          <p:cNvPr id="31" name="Shape 29"/>
          <p:cNvSpPr/>
          <p:nvPr/>
        </p:nvSpPr>
        <p:spPr>
          <a:xfrm>
            <a:off x="12247399" y="6070029"/>
            <a:ext cx="2016820" cy="546100"/>
          </a:xfrm>
          <a:prstGeom prst="roundRect">
            <a:avLst>
              <a:gd name="adj" fmla="val 17442"/>
            </a:avLst>
          </a:prstGeom>
          <a:solidFill>
            <a:srgbClr val="FFFFFF">
              <a:alpha val="3000"/>
            </a:srgbClr>
          </a:solidFill>
          <a:ln w="6350">
            <a:solidFill>
              <a:srgbClr val="FFFFFF">
                <a:alpha val="10000"/>
              </a:srgbClr>
            </a:solidFill>
            <a:prstDash val="solid"/>
          </a:ln>
        </p:spPr>
      </p:sp>
      <p:sp>
        <p:nvSpPr>
          <p:cNvPr id="32" name="Text 30"/>
          <p:cNvSpPr/>
          <p:nvPr/>
        </p:nvSpPr>
        <p:spPr>
          <a:xfrm>
            <a:off x="12501399" y="6190679"/>
            <a:ext cx="15850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EEF3F9">
                    <a:alpha val="98000"/>
                  </a:srgbClr>
                </a:solidFill>
                <a:latin typeface="Courier New" pitchFamily="34" charset="0"/>
                <a:ea typeface="Courier New" pitchFamily="34" charset="-122"/>
                <a:cs typeface="Courier New" pitchFamily="34" charset="-120"/>
              </a:rPr>
              <a:t>reduceByKey</a:t>
            </a:r>
            <a:endParaRPr lang="en-US" sz="1800" dirty="0"/>
          </a:p>
        </p:txBody>
      </p:sp>
      <p:sp>
        <p:nvSpPr>
          <p:cNvPr id="33" name="Shape 31"/>
          <p:cNvSpPr/>
          <p:nvPr/>
        </p:nvSpPr>
        <p:spPr>
          <a:xfrm>
            <a:off x="13247688" y="6616130"/>
            <a:ext cx="19050" cy="152400"/>
          </a:xfrm>
          <a:prstGeom prst="rect">
            <a:avLst/>
          </a:prstGeom>
          <a:solidFill>
            <a:srgbClr val="FFB46E">
              <a:alpha val="68000"/>
            </a:srgbClr>
          </a:solidFill>
          <a:ln/>
        </p:spPr>
      </p:sp>
      <p:sp>
        <p:nvSpPr>
          <p:cNvPr id="34" name="Shape 32"/>
          <p:cNvSpPr/>
          <p:nvPr/>
        </p:nvSpPr>
        <p:spPr>
          <a:xfrm>
            <a:off x="11702149" y="6768530"/>
            <a:ext cx="3102571" cy="546100"/>
          </a:xfrm>
          <a:prstGeom prst="roundRect">
            <a:avLst>
              <a:gd name="adj" fmla="val 17442"/>
            </a:avLst>
          </a:prstGeom>
          <a:gradFill rotWithShape="1">
            <a:gsLst>
              <a:gs pos="0">
                <a:srgbClr val="FFB46E">
                  <a:alpha val="19000"/>
                </a:srgbClr>
              </a:gs>
              <a:gs pos="100000">
                <a:srgbClr val="FFFFFF">
                  <a:alpha val="3000"/>
                </a:srgbClr>
              </a:gs>
            </a:gsLst>
            <a:lin ang="4200000" scaled="0"/>
          </a:gradFill>
          <a:ln w="6350">
            <a:solidFill>
              <a:srgbClr val="FFC287">
                <a:alpha val="41000"/>
              </a:srgbClr>
            </a:solidFill>
            <a:prstDash val="solid"/>
          </a:ln>
        </p:spPr>
      </p:sp>
      <p:sp>
        <p:nvSpPr>
          <p:cNvPr id="35" name="Text 33"/>
          <p:cNvSpPr/>
          <p:nvPr/>
        </p:nvSpPr>
        <p:spPr>
          <a:xfrm>
            <a:off x="11956149" y="6889180"/>
            <a:ext cx="2687648"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FB46E">
                    <a:alpha val="97000"/>
                  </a:srgbClr>
                </a:solidFill>
                <a:latin typeface="Courier New" pitchFamily="34" charset="0"/>
                <a:ea typeface="Courier New" pitchFamily="34" charset="-122"/>
                <a:cs typeface="Courier New" pitchFamily="34" charset="-120"/>
              </a:rPr>
              <a:t>collect → exécution</a:t>
            </a:r>
            <a:endParaRPr lang="en-US" sz="1800" dirty="0"/>
          </a:p>
        </p:txBody>
      </p:sp>
      <p:sp>
        <p:nvSpPr>
          <p:cNvPr id="36" name="Text 34"/>
          <p:cNvSpPr/>
          <p:nvPr/>
        </p:nvSpPr>
        <p:spPr>
          <a:xfrm>
            <a:off x="10572953" y="7467030"/>
            <a:ext cx="5368422" cy="678061"/>
          </a:xfrm>
          <a:prstGeom prst="rect">
            <a:avLst/>
          </a:prstGeom>
          <a:noFill/>
          <a:ln/>
        </p:spPr>
        <p:txBody>
          <a:bodyPr wrap="square" lIns="25400" tIns="25400" rIns="25400" bIns="25400" rtlCol="0" anchor="t">
            <a:normAutofit/>
          </a:bodyPr>
          <a:lstStyle/>
          <a:p>
            <a:pPr algn="ctr" indent="0" marL="0">
              <a:lnSpc>
                <a:spcPct val="120000"/>
              </a:lnSpc>
              <a:buNone/>
            </a:pPr>
            <a:r>
              <a:rPr lang="en-US" sz="1800" dirty="0">
                <a:solidFill>
                  <a:srgbClr val="8EA0B5">
                    <a:alpha val="99000"/>
                  </a:srgbClr>
                </a:solidFill>
                <a:latin typeface="Arial" pitchFamily="34" charset="0"/>
                <a:ea typeface="Arial" pitchFamily="34" charset="-122"/>
                <a:cs typeface="Arial" pitchFamily="34" charset="-120"/>
              </a:rPr>
              <a:t>L'action construit puis exécute le DAG — Spark optimise l'enchaînement avant tout calcul.</a:t>
            </a:r>
            <a:endParaRPr lang="en-US" sz="18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0C121C"/>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56DBDB">
                    <a:alpha val="97000"/>
                  </a:srgbClr>
                </a:solidFill>
                <a:latin typeface="Courier New" pitchFamily="34" charset="0"/>
                <a:ea typeface="Courier New" pitchFamily="34" charset="-122"/>
                <a:cs typeface="Courier New" pitchFamily="34" charset="-120"/>
              </a:rPr>
              <a:t>ATELIER 4.2 · PERFORMANCE</a:t>
            </a:r>
            <a:endParaRPr lang="en-US" sz="1800" dirty="0"/>
          </a:p>
        </p:txBody>
      </p:sp>
      <p:sp>
        <p:nvSpPr>
          <p:cNvPr id="3" name="Text 1"/>
          <p:cNvSpPr/>
          <p:nvPr/>
        </p:nvSpPr>
        <p:spPr>
          <a:xfrm>
            <a:off x="1066800" y="1314451"/>
            <a:ext cx="17769840"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Partitionnement et cache</a:t>
            </a:r>
            <a:endParaRPr lang="en-US" sz="4800" dirty="0"/>
          </a:p>
        </p:txBody>
      </p:sp>
      <p:sp>
        <p:nvSpPr>
          <p:cNvPr id="4" name="Shape 2"/>
          <p:cNvSpPr/>
          <p:nvPr/>
        </p:nvSpPr>
        <p:spPr>
          <a:xfrm>
            <a:off x="1066800" y="2310310"/>
            <a:ext cx="7934325" cy="7157542"/>
          </a:xfrm>
          <a:prstGeom prst="roundRect">
            <a:avLst>
              <a:gd name="adj" fmla="val 2395"/>
            </a:avLst>
          </a:prstGeom>
          <a:solidFill>
            <a:srgbClr val="FFFFFF">
              <a:alpha val="3000"/>
            </a:srgbClr>
          </a:solidFill>
          <a:ln w="6350">
            <a:solidFill>
              <a:srgbClr val="FFFFFF">
                <a:alpha val="10000"/>
              </a:srgbClr>
            </a:solidFill>
            <a:prstDash val="solid"/>
          </a:ln>
        </p:spPr>
      </p:sp>
      <p:sp>
        <p:nvSpPr>
          <p:cNvPr id="5" name="Text 3"/>
          <p:cNvSpPr/>
          <p:nvPr/>
        </p:nvSpPr>
        <p:spPr>
          <a:xfrm>
            <a:off x="1377950" y="2640510"/>
            <a:ext cx="8043228" cy="349250"/>
          </a:xfrm>
          <a:prstGeom prst="rect">
            <a:avLst/>
          </a:prstGeom>
          <a:noFill/>
          <a:ln/>
        </p:spPr>
        <p:txBody>
          <a:bodyPr wrap="square" lIns="25400" tIns="25400" rIns="25400" bIns="25400" rtlCol="0" anchor="t">
            <a:normAutofit/>
          </a:bodyPr>
          <a:lstStyle/>
          <a:p>
            <a:pPr algn="l" indent="0" marL="0">
              <a:buNone/>
            </a:pPr>
            <a:r>
              <a:rPr lang="en-US" sz="2175" b="1" dirty="0">
                <a:solidFill>
                  <a:srgbClr val="56DBDB"/>
                </a:solidFill>
                <a:latin typeface="Arial" pitchFamily="34" charset="0"/>
                <a:ea typeface="Arial" pitchFamily="34" charset="-122"/>
                <a:cs typeface="Arial" pitchFamily="34" charset="-120"/>
              </a:rPr>
              <a:t>Partitionnement</a:t>
            </a:r>
            <a:endParaRPr lang="en-US" sz="2175" dirty="0"/>
          </a:p>
        </p:txBody>
      </p:sp>
      <p:sp>
        <p:nvSpPr>
          <p:cNvPr id="6" name="Text 4"/>
          <p:cNvSpPr/>
          <p:nvPr/>
        </p:nvSpPr>
        <p:spPr>
          <a:xfrm>
            <a:off x="1377950" y="3065960"/>
            <a:ext cx="7531386" cy="678061"/>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8EA0B5"/>
                </a:solidFill>
                <a:latin typeface="Arial" pitchFamily="34" charset="0"/>
                <a:ea typeface="Arial" pitchFamily="34" charset="-122"/>
                <a:cs typeface="Arial" pitchFamily="34" charset="-120"/>
              </a:rPr>
              <a:t>Le dataset est découpé en partitions, chacune traitée par un Executor — c'est ce qui rend le parallélisme possible.</a:t>
            </a:r>
            <a:endParaRPr lang="en-US" sz="1800" dirty="0"/>
          </a:p>
        </p:txBody>
      </p:sp>
      <p:sp>
        <p:nvSpPr>
          <p:cNvPr id="7" name="Shape 5"/>
          <p:cNvSpPr/>
          <p:nvPr/>
        </p:nvSpPr>
        <p:spPr>
          <a:xfrm>
            <a:off x="1377950" y="3915471"/>
            <a:ext cx="1756569" cy="584200"/>
          </a:xfrm>
          <a:prstGeom prst="roundRect">
            <a:avLst>
              <a:gd name="adj" fmla="val 13043"/>
            </a:avLst>
          </a:prstGeom>
          <a:solidFill>
            <a:srgbClr val="FFFFFF">
              <a:alpha val="6000"/>
            </a:srgbClr>
          </a:solidFill>
          <a:ln w="6350">
            <a:solidFill>
              <a:srgbClr val="FFFFFF">
                <a:alpha val="10000"/>
              </a:srgbClr>
            </a:solidFill>
            <a:prstDash val="solid"/>
          </a:ln>
        </p:spPr>
      </p:sp>
      <p:sp>
        <p:nvSpPr>
          <p:cNvPr id="8" name="Text 6"/>
          <p:cNvSpPr/>
          <p:nvPr/>
        </p:nvSpPr>
        <p:spPr>
          <a:xfrm>
            <a:off x="1479550" y="4055171"/>
            <a:ext cx="1553369"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EEF3F9"/>
                </a:solidFill>
                <a:latin typeface="Courier New" pitchFamily="34" charset="0"/>
                <a:ea typeface="Courier New" pitchFamily="34" charset="-122"/>
                <a:cs typeface="Courier New" pitchFamily="34" charset="-120"/>
              </a:rPr>
              <a:t>P1</a:t>
            </a:r>
            <a:endParaRPr lang="en-US" sz="1800" dirty="0"/>
          </a:p>
        </p:txBody>
      </p:sp>
      <p:sp>
        <p:nvSpPr>
          <p:cNvPr id="9" name="Shape 7"/>
          <p:cNvSpPr/>
          <p:nvPr/>
        </p:nvSpPr>
        <p:spPr>
          <a:xfrm>
            <a:off x="3229769" y="3915471"/>
            <a:ext cx="1756569" cy="584200"/>
          </a:xfrm>
          <a:prstGeom prst="roundRect">
            <a:avLst>
              <a:gd name="adj" fmla="val 13043"/>
            </a:avLst>
          </a:prstGeom>
          <a:solidFill>
            <a:srgbClr val="FFFFFF">
              <a:alpha val="6000"/>
            </a:srgbClr>
          </a:solidFill>
          <a:ln w="6350">
            <a:solidFill>
              <a:srgbClr val="FFFFFF">
                <a:alpha val="10000"/>
              </a:srgbClr>
            </a:solidFill>
            <a:prstDash val="solid"/>
          </a:ln>
        </p:spPr>
      </p:sp>
      <p:sp>
        <p:nvSpPr>
          <p:cNvPr id="10" name="Text 8"/>
          <p:cNvSpPr/>
          <p:nvPr/>
        </p:nvSpPr>
        <p:spPr>
          <a:xfrm>
            <a:off x="3331369" y="4055171"/>
            <a:ext cx="1553369"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EEF3F9"/>
                </a:solidFill>
                <a:latin typeface="Courier New" pitchFamily="34" charset="0"/>
                <a:ea typeface="Courier New" pitchFamily="34" charset="-122"/>
                <a:cs typeface="Courier New" pitchFamily="34" charset="-120"/>
              </a:rPr>
              <a:t>P2</a:t>
            </a:r>
            <a:endParaRPr lang="en-US" sz="1800" dirty="0"/>
          </a:p>
        </p:txBody>
      </p:sp>
      <p:sp>
        <p:nvSpPr>
          <p:cNvPr id="11" name="Shape 9"/>
          <p:cNvSpPr/>
          <p:nvPr/>
        </p:nvSpPr>
        <p:spPr>
          <a:xfrm>
            <a:off x="5081588" y="3915471"/>
            <a:ext cx="1756569" cy="584200"/>
          </a:xfrm>
          <a:prstGeom prst="roundRect">
            <a:avLst>
              <a:gd name="adj" fmla="val 13043"/>
            </a:avLst>
          </a:prstGeom>
          <a:solidFill>
            <a:srgbClr val="FFFFFF">
              <a:alpha val="6000"/>
            </a:srgbClr>
          </a:solidFill>
          <a:ln w="6350">
            <a:solidFill>
              <a:srgbClr val="FFFFFF">
                <a:alpha val="10000"/>
              </a:srgbClr>
            </a:solidFill>
            <a:prstDash val="solid"/>
          </a:ln>
        </p:spPr>
      </p:sp>
      <p:sp>
        <p:nvSpPr>
          <p:cNvPr id="12" name="Text 10"/>
          <p:cNvSpPr/>
          <p:nvPr/>
        </p:nvSpPr>
        <p:spPr>
          <a:xfrm>
            <a:off x="5183188" y="4055171"/>
            <a:ext cx="1553369"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EEF3F9"/>
                </a:solidFill>
                <a:latin typeface="Courier New" pitchFamily="34" charset="0"/>
                <a:ea typeface="Courier New" pitchFamily="34" charset="-122"/>
                <a:cs typeface="Courier New" pitchFamily="34" charset="-120"/>
              </a:rPr>
              <a:t>P3</a:t>
            </a:r>
            <a:endParaRPr lang="en-US" sz="1800" dirty="0"/>
          </a:p>
        </p:txBody>
      </p:sp>
      <p:sp>
        <p:nvSpPr>
          <p:cNvPr id="13" name="Shape 11"/>
          <p:cNvSpPr/>
          <p:nvPr/>
        </p:nvSpPr>
        <p:spPr>
          <a:xfrm>
            <a:off x="6933406" y="3915471"/>
            <a:ext cx="1756569" cy="584200"/>
          </a:xfrm>
          <a:prstGeom prst="roundRect">
            <a:avLst>
              <a:gd name="adj" fmla="val 13043"/>
            </a:avLst>
          </a:prstGeom>
          <a:solidFill>
            <a:srgbClr val="FFFFFF">
              <a:alpha val="6000"/>
            </a:srgbClr>
          </a:solidFill>
          <a:ln w="6350">
            <a:solidFill>
              <a:srgbClr val="FFFFFF">
                <a:alpha val="10000"/>
              </a:srgbClr>
            </a:solidFill>
            <a:prstDash val="solid"/>
          </a:ln>
        </p:spPr>
      </p:sp>
      <p:sp>
        <p:nvSpPr>
          <p:cNvPr id="14" name="Text 12"/>
          <p:cNvSpPr/>
          <p:nvPr/>
        </p:nvSpPr>
        <p:spPr>
          <a:xfrm>
            <a:off x="7035006" y="4055171"/>
            <a:ext cx="1553369"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EEF3F9"/>
                </a:solidFill>
                <a:latin typeface="Courier New" pitchFamily="34" charset="0"/>
                <a:ea typeface="Courier New" pitchFamily="34" charset="-122"/>
                <a:cs typeface="Courier New" pitchFamily="34" charset="-120"/>
              </a:rPr>
              <a:t>P4</a:t>
            </a:r>
            <a:endParaRPr lang="en-US" sz="1800" dirty="0"/>
          </a:p>
        </p:txBody>
      </p:sp>
      <p:sp>
        <p:nvSpPr>
          <p:cNvPr id="15" name="Text 13"/>
          <p:cNvSpPr/>
          <p:nvPr/>
        </p:nvSpPr>
        <p:spPr>
          <a:xfrm>
            <a:off x="1377950" y="8832852"/>
            <a:ext cx="7531386"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solidFill>
                <a:latin typeface="Courier New" pitchFamily="34" charset="0"/>
                <a:ea typeface="Courier New" pitchFamily="34" charset="-122"/>
                <a:cs typeface="Courier New" pitchFamily="34" charset="-120"/>
              </a:rPr>
              <a:t>rdd.getNumPartitions() · repartition(4)</a:t>
            </a:r>
            <a:endParaRPr lang="en-US" sz="1800" dirty="0"/>
          </a:p>
        </p:txBody>
      </p:sp>
      <p:sp>
        <p:nvSpPr>
          <p:cNvPr id="16" name="Shape 14"/>
          <p:cNvSpPr/>
          <p:nvPr/>
        </p:nvSpPr>
        <p:spPr>
          <a:xfrm>
            <a:off x="9286875" y="2312458"/>
            <a:ext cx="7934325" cy="7157542"/>
          </a:xfrm>
          <a:prstGeom prst="roundRect">
            <a:avLst>
              <a:gd name="adj" fmla="val 2395"/>
            </a:avLst>
          </a:prstGeom>
          <a:solidFill>
            <a:srgbClr val="FFFFFF">
              <a:alpha val="3000"/>
            </a:srgbClr>
          </a:solidFill>
          <a:ln w="6350">
            <a:solidFill>
              <a:srgbClr val="FFFFFF">
                <a:alpha val="10000"/>
              </a:srgbClr>
            </a:solidFill>
            <a:prstDash val="solid"/>
          </a:ln>
        </p:spPr>
      </p:sp>
      <p:sp>
        <p:nvSpPr>
          <p:cNvPr id="17" name="Text 15"/>
          <p:cNvSpPr/>
          <p:nvPr/>
        </p:nvSpPr>
        <p:spPr>
          <a:xfrm>
            <a:off x="9598025" y="2642658"/>
            <a:ext cx="8043228" cy="349250"/>
          </a:xfrm>
          <a:prstGeom prst="rect">
            <a:avLst/>
          </a:prstGeom>
          <a:noFill/>
          <a:ln/>
        </p:spPr>
        <p:txBody>
          <a:bodyPr wrap="square" lIns="25400" tIns="25400" rIns="25400" bIns="25400" rtlCol="0" anchor="t">
            <a:normAutofit/>
          </a:bodyPr>
          <a:lstStyle/>
          <a:p>
            <a:pPr algn="l" indent="0" marL="0">
              <a:buNone/>
            </a:pPr>
            <a:r>
              <a:rPr lang="en-US" sz="2175" b="1" dirty="0">
                <a:solidFill>
                  <a:srgbClr val="FFB46E">
                    <a:alpha val="99000"/>
                  </a:srgbClr>
                </a:solidFill>
                <a:latin typeface="Arial" pitchFamily="34" charset="0"/>
                <a:ea typeface="Arial" pitchFamily="34" charset="-122"/>
                <a:cs typeface="Arial" pitchFamily="34" charset="-120"/>
              </a:rPr>
              <a:t>Cache</a:t>
            </a:r>
            <a:endParaRPr lang="en-US" sz="2175" dirty="0"/>
          </a:p>
        </p:txBody>
      </p:sp>
      <p:sp>
        <p:nvSpPr>
          <p:cNvPr id="18" name="Text 16"/>
          <p:cNvSpPr/>
          <p:nvPr/>
        </p:nvSpPr>
        <p:spPr>
          <a:xfrm>
            <a:off x="9598025" y="3068108"/>
            <a:ext cx="7531386" cy="678061"/>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8EA0B5">
                    <a:alpha val="99000"/>
                  </a:srgbClr>
                </a:solidFill>
                <a:latin typeface="Arial" pitchFamily="34" charset="0"/>
                <a:ea typeface="Arial" pitchFamily="34" charset="-122"/>
                <a:cs typeface="Arial" pitchFamily="34" charset="-120"/>
              </a:rPr>
              <a:t>Par défaut, un RDD est recalculé à chaque action. </a:t>
            </a:r>
            <a:pPr algn="l" indent="0" marL="0">
              <a:lnSpc>
                <a:spcPct val="120000"/>
              </a:lnSpc>
              <a:buNone/>
            </a:pPr>
            <a:r>
              <a:rPr lang="en-US" sz="1800" dirty="0">
                <a:solidFill>
                  <a:srgbClr val="EEF3F9">
                    <a:alpha val="99000"/>
                  </a:srgbClr>
                </a:solidFill>
                <a:latin typeface="Arial" pitchFamily="34" charset="0"/>
                <a:ea typeface="Arial" pitchFamily="34" charset="-122"/>
                <a:cs typeface="Arial" pitchFamily="34" charset="-120"/>
              </a:rPr>
              <a:t>.cache() </a:t>
            </a:r>
            <a:pPr algn="l" indent="0" marL="0">
              <a:lnSpc>
                <a:spcPct val="120000"/>
              </a:lnSpc>
              <a:buNone/>
            </a:pPr>
            <a:r>
              <a:rPr lang="en-US" sz="1800" dirty="0">
                <a:solidFill>
                  <a:srgbClr val="8EA0B5">
                    <a:alpha val="99000"/>
                  </a:srgbClr>
                </a:solidFill>
                <a:latin typeface="Arial" pitchFamily="34" charset="0"/>
                <a:ea typeface="Arial" pitchFamily="34" charset="-122"/>
                <a:cs typeface="Arial" pitchFamily="34" charset="-120"/>
              </a:rPr>
              <a:t>le garde en mémoire après le premier calcul.</a:t>
            </a:r>
            <a:endParaRPr lang="en-US" sz="1800" dirty="0"/>
          </a:p>
        </p:txBody>
      </p:sp>
      <p:sp>
        <p:nvSpPr>
          <p:cNvPr id="19" name="Shape 17"/>
          <p:cNvSpPr/>
          <p:nvPr/>
        </p:nvSpPr>
        <p:spPr>
          <a:xfrm>
            <a:off x="9598025" y="3898569"/>
            <a:ext cx="7312025" cy="1521222"/>
          </a:xfrm>
          <a:prstGeom prst="roundRect">
            <a:avLst>
              <a:gd name="adj" fmla="val 7514"/>
            </a:avLst>
          </a:prstGeom>
          <a:solidFill>
            <a:srgbClr val="06090E">
              <a:alpha val="99000"/>
            </a:srgbClr>
          </a:solidFill>
          <a:ln w="6350">
            <a:solidFill>
              <a:srgbClr val="FFFFFF">
                <a:alpha val="10000"/>
              </a:srgbClr>
            </a:solidFill>
            <a:prstDash val="solid"/>
          </a:ln>
        </p:spPr>
      </p:sp>
      <p:sp>
        <p:nvSpPr>
          <p:cNvPr id="20" name="Text 18"/>
          <p:cNvSpPr/>
          <p:nvPr/>
        </p:nvSpPr>
        <p:spPr>
          <a:xfrm>
            <a:off x="9813925" y="4076369"/>
            <a:ext cx="7086632" cy="426641"/>
          </a:xfrm>
          <a:prstGeom prst="rect">
            <a:avLst/>
          </a:prstGeom>
          <a:noFill/>
          <a:ln/>
        </p:spPr>
        <p:txBody>
          <a:bodyPr wrap="square" lIns="25400" tIns="25400" rIns="25400" bIns="25400" rtlCol="0" anchor="t">
            <a:normAutofit/>
          </a:bodyPr>
          <a:lstStyle/>
          <a:p>
            <a:pPr algn="l" indent="0" marL="0">
              <a:lnSpc>
                <a:spcPct val="149268"/>
              </a:lnSpc>
              <a:buNone/>
            </a:pPr>
            <a:r>
              <a:rPr lang="en-US" sz="1800" dirty="0">
                <a:solidFill>
                  <a:srgbClr val="CDD7E3">
                    <a:alpha val="99000"/>
                  </a:srgbClr>
                </a:solidFill>
                <a:latin typeface="Courier New" pitchFamily="34" charset="0"/>
                <a:ea typeface="Courier New" pitchFamily="34" charset="-122"/>
                <a:cs typeface="Courier New" pitchFamily="34" charset="-120"/>
              </a:rPr>
              <a:t>parsed = parsed.</a:t>
            </a:r>
            <a:pPr algn="l" indent="0" marL="0">
              <a:lnSpc>
                <a:spcPct val="149268"/>
              </a:lnSpc>
              <a:buNone/>
            </a:pPr>
            <a:r>
              <a:rPr lang="en-US" sz="1800" dirty="0">
                <a:solidFill>
                  <a:srgbClr val="56DBDB">
                    <a:alpha val="99000"/>
                  </a:srgbClr>
                </a:solidFill>
                <a:latin typeface="Courier New" pitchFamily="34" charset="0"/>
                <a:ea typeface="Courier New" pitchFamily="34" charset="-122"/>
                <a:cs typeface="Courier New" pitchFamily="34" charset="-120"/>
              </a:rPr>
              <a:t>cache</a:t>
            </a:r>
            <a:pPr algn="l" indent="0" marL="0">
              <a:lnSpc>
                <a:spcPct val="149268"/>
              </a:lnSpc>
              <a:buNone/>
            </a:pPr>
            <a:r>
              <a:rPr lang="en-US" sz="1800" dirty="0">
                <a:solidFill>
                  <a:srgbClr val="CDD7E3">
                    <a:alpha val="99000"/>
                  </a:srgbClr>
                </a:solidFill>
                <a:latin typeface="Courier New" pitchFamily="34" charset="0"/>
                <a:ea typeface="Courier New" pitchFamily="34" charset="-122"/>
                <a:cs typeface="Courier New" pitchFamily="34" charset="-120"/>
              </a:rPr>
              <a:t>()</a:t>
            </a:r>
            <a:endParaRPr lang="en-US" sz="1800" dirty="0"/>
          </a:p>
        </p:txBody>
      </p:sp>
      <p:sp>
        <p:nvSpPr>
          <p:cNvPr id="21" name="Text 19"/>
          <p:cNvSpPr/>
          <p:nvPr/>
        </p:nvSpPr>
        <p:spPr>
          <a:xfrm>
            <a:off x="9813925" y="4464910"/>
            <a:ext cx="7086632" cy="426641"/>
          </a:xfrm>
          <a:prstGeom prst="rect">
            <a:avLst/>
          </a:prstGeom>
          <a:noFill/>
          <a:ln/>
        </p:spPr>
        <p:txBody>
          <a:bodyPr wrap="square" lIns="25400" tIns="25400" rIns="25400" bIns="25400" rtlCol="0" anchor="t">
            <a:normAutofit/>
          </a:bodyPr>
          <a:lstStyle/>
          <a:p>
            <a:pPr algn="l" indent="0" marL="0">
              <a:lnSpc>
                <a:spcPct val="149268"/>
              </a:lnSpc>
              <a:buNone/>
            </a:pPr>
            <a:r>
              <a:rPr lang="en-US" sz="1800" dirty="0">
                <a:solidFill>
                  <a:srgbClr val="CDD7E3">
                    <a:alpha val="99000"/>
                  </a:srgbClr>
                </a:solidFill>
                <a:latin typeface="Courier New" pitchFamily="34" charset="0"/>
                <a:ea typeface="Courier New" pitchFamily="34" charset="-122"/>
                <a:cs typeface="Courier New" pitchFamily="34" charset="-120"/>
              </a:rPr>
              <a:t>parsed.</a:t>
            </a:r>
            <a:pPr algn="l" indent="0" marL="0">
              <a:lnSpc>
                <a:spcPct val="149268"/>
              </a:lnSpc>
              <a:buNone/>
            </a:pPr>
            <a:r>
              <a:rPr lang="en-US" sz="1800" dirty="0">
                <a:solidFill>
                  <a:srgbClr val="56DBDB">
                    <a:alpha val="99000"/>
                  </a:srgbClr>
                </a:solidFill>
                <a:latin typeface="Courier New" pitchFamily="34" charset="0"/>
                <a:ea typeface="Courier New" pitchFamily="34" charset="-122"/>
                <a:cs typeface="Courier New" pitchFamily="34" charset="-120"/>
              </a:rPr>
              <a:t>count</a:t>
            </a:r>
            <a:pPr algn="l" indent="0" marL="0">
              <a:lnSpc>
                <a:spcPct val="149268"/>
              </a:lnSpc>
              <a:buNone/>
            </a:pPr>
            <a:r>
              <a:rPr lang="en-US" sz="1800" dirty="0">
                <a:solidFill>
                  <a:srgbClr val="CDD7E3">
                    <a:alpha val="99000"/>
                  </a:srgbClr>
                </a:solidFill>
                <a:latin typeface="Courier New" pitchFamily="34" charset="0"/>
                <a:ea typeface="Courier New" pitchFamily="34" charset="-122"/>
                <a:cs typeface="Courier New" pitchFamily="34" charset="-120"/>
              </a:rPr>
              <a:t>() </a:t>
            </a:r>
            <a:pPr algn="l" indent="0" marL="0">
              <a:lnSpc>
                <a:spcPct val="149268"/>
              </a:lnSpc>
              <a:buNone/>
            </a:pPr>
            <a:r>
              <a:rPr lang="en-US" sz="1800" dirty="0">
                <a:solidFill>
                  <a:srgbClr val="8EA0B5">
                    <a:alpha val="99000"/>
                  </a:srgbClr>
                </a:solidFill>
                <a:latin typeface="Courier New" pitchFamily="34" charset="0"/>
                <a:ea typeface="Courier New" pitchFamily="34" charset="-122"/>
                <a:cs typeface="Courier New" pitchFamily="34" charset="-120"/>
              </a:rPr>
              <a:t># calcule + met en cache</a:t>
            </a:r>
            <a:endParaRPr lang="en-US" sz="1800" dirty="0"/>
          </a:p>
        </p:txBody>
      </p:sp>
      <p:sp>
        <p:nvSpPr>
          <p:cNvPr id="22" name="Text 20"/>
          <p:cNvSpPr/>
          <p:nvPr/>
        </p:nvSpPr>
        <p:spPr>
          <a:xfrm>
            <a:off x="9813925" y="4853450"/>
            <a:ext cx="7086632" cy="426641"/>
          </a:xfrm>
          <a:prstGeom prst="rect">
            <a:avLst/>
          </a:prstGeom>
          <a:noFill/>
          <a:ln/>
        </p:spPr>
        <p:txBody>
          <a:bodyPr wrap="square" lIns="25400" tIns="25400" rIns="25400" bIns="25400" rtlCol="0" anchor="t">
            <a:normAutofit/>
          </a:bodyPr>
          <a:lstStyle/>
          <a:p>
            <a:pPr algn="l" indent="0" marL="0">
              <a:lnSpc>
                <a:spcPct val="149268"/>
              </a:lnSpc>
              <a:buNone/>
            </a:pPr>
            <a:r>
              <a:rPr lang="en-US" sz="1800" dirty="0">
                <a:solidFill>
                  <a:srgbClr val="CDD7E3">
                    <a:alpha val="99000"/>
                  </a:srgbClr>
                </a:solidFill>
                <a:latin typeface="Courier New" pitchFamily="34" charset="0"/>
                <a:ea typeface="Courier New" pitchFamily="34" charset="-122"/>
                <a:cs typeface="Courier New" pitchFamily="34" charset="-120"/>
              </a:rPr>
              <a:t>parsed.</a:t>
            </a:r>
            <a:pPr algn="l" indent="0" marL="0">
              <a:lnSpc>
                <a:spcPct val="149268"/>
              </a:lnSpc>
              <a:buNone/>
            </a:pPr>
            <a:r>
              <a:rPr lang="en-US" sz="1800" dirty="0">
                <a:solidFill>
                  <a:srgbClr val="56DBDB">
                    <a:alpha val="99000"/>
                  </a:srgbClr>
                </a:solidFill>
                <a:latin typeface="Courier New" pitchFamily="34" charset="0"/>
                <a:ea typeface="Courier New" pitchFamily="34" charset="-122"/>
                <a:cs typeface="Courier New" pitchFamily="34" charset="-120"/>
              </a:rPr>
              <a:t>count</a:t>
            </a:r>
            <a:pPr algn="l" indent="0" marL="0">
              <a:lnSpc>
                <a:spcPct val="149268"/>
              </a:lnSpc>
              <a:buNone/>
            </a:pPr>
            <a:r>
              <a:rPr lang="en-US" sz="1800" dirty="0">
                <a:solidFill>
                  <a:srgbClr val="CDD7E3">
                    <a:alpha val="99000"/>
                  </a:srgbClr>
                </a:solidFill>
                <a:latin typeface="Courier New" pitchFamily="34" charset="0"/>
                <a:ea typeface="Courier New" pitchFamily="34" charset="-122"/>
                <a:cs typeface="Courier New" pitchFamily="34" charset="-120"/>
              </a:rPr>
              <a:t>() </a:t>
            </a:r>
            <a:pPr algn="l" indent="0" marL="0">
              <a:lnSpc>
                <a:spcPct val="149268"/>
              </a:lnSpc>
              <a:buNone/>
            </a:pPr>
            <a:r>
              <a:rPr lang="en-US" sz="1800" dirty="0">
                <a:solidFill>
                  <a:srgbClr val="8EA0B5">
                    <a:alpha val="99000"/>
                  </a:srgbClr>
                </a:solidFill>
                <a:latin typeface="Courier New" pitchFamily="34" charset="0"/>
                <a:ea typeface="Courier New" pitchFamily="34" charset="-122"/>
                <a:cs typeface="Courier New" pitchFamily="34" charset="-120"/>
              </a:rPr>
              <a:t># lu du cache : rapide</a:t>
            </a:r>
            <a:endParaRPr lang="en-US" sz="1800" dirty="0"/>
          </a:p>
        </p:txBody>
      </p:sp>
      <p:sp>
        <p:nvSpPr>
          <p:cNvPr id="23" name="Text 21"/>
          <p:cNvSpPr/>
          <p:nvPr/>
        </p:nvSpPr>
        <p:spPr>
          <a:xfrm>
            <a:off x="9598025" y="8819819"/>
            <a:ext cx="7531386" cy="35808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8EA0B5">
                    <a:alpha val="99000"/>
                  </a:srgbClr>
                </a:solidFill>
                <a:latin typeface="Arial" pitchFamily="34" charset="0"/>
                <a:ea typeface="Arial" pitchFamily="34" charset="-122"/>
                <a:cs typeface="Arial" pitchFamily="34" charset="-120"/>
              </a:rPr>
              <a:t>Utile dès qu'un même RDD sert à plusieurs questions.</a:t>
            </a:r>
            <a:endParaRPr lang="en-US" sz="1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0A0E15"/>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56DBDB">
                    <a:alpha val="97000"/>
                  </a:srgbClr>
                </a:solidFill>
                <a:latin typeface="Courier New" pitchFamily="34" charset="0"/>
                <a:ea typeface="Courier New" pitchFamily="34" charset="-122"/>
                <a:cs typeface="Courier New" pitchFamily="34" charset="-120"/>
              </a:rPr>
              <a:t>ATELIER 4.2 · OBSERVER</a:t>
            </a:r>
            <a:endParaRPr lang="en-US" sz="1800" dirty="0"/>
          </a:p>
        </p:txBody>
      </p:sp>
      <p:sp>
        <p:nvSpPr>
          <p:cNvPr id="3" name="Text 1"/>
          <p:cNvSpPr/>
          <p:nvPr/>
        </p:nvSpPr>
        <p:spPr>
          <a:xfrm>
            <a:off x="1066800" y="1314451"/>
            <a:ext cx="11933873"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Lire un plan d'exécution : Spark UI</a:t>
            </a:r>
            <a:endParaRPr lang="en-US" sz="4800" dirty="0"/>
          </a:p>
        </p:txBody>
      </p:sp>
      <p:sp>
        <p:nvSpPr>
          <p:cNvPr id="4" name="Shape 2"/>
          <p:cNvSpPr/>
          <p:nvPr/>
        </p:nvSpPr>
        <p:spPr>
          <a:xfrm>
            <a:off x="1066800" y="2292716"/>
            <a:ext cx="16154400" cy="698500"/>
          </a:xfrm>
          <a:prstGeom prst="roundRect">
            <a:avLst>
              <a:gd name="adj" fmla="val 19091"/>
            </a:avLst>
          </a:prstGeom>
          <a:solidFill>
            <a:srgbClr val="06090E">
              <a:alpha val="99000"/>
            </a:srgbClr>
          </a:solidFill>
          <a:ln w="6350">
            <a:solidFill>
              <a:srgbClr val="FFFFFF">
                <a:alpha val="10000"/>
              </a:srgbClr>
            </a:solidFill>
            <a:prstDash val="solid"/>
          </a:ln>
        </p:spPr>
      </p:sp>
      <p:sp>
        <p:nvSpPr>
          <p:cNvPr id="5" name="Text 3"/>
          <p:cNvSpPr/>
          <p:nvPr/>
        </p:nvSpPr>
        <p:spPr>
          <a:xfrm>
            <a:off x="1320800" y="2489565"/>
            <a:ext cx="316846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6DBDB">
                    <a:alpha val="99000"/>
                  </a:srgbClr>
                </a:solidFill>
                <a:latin typeface="Courier New" pitchFamily="34" charset="0"/>
                <a:ea typeface="Courier New" pitchFamily="34" charset="-122"/>
                <a:cs typeface="Courier New" pitchFamily="34" charset="-120"/>
              </a:rPr>
              <a:t>http://localhost:4040</a:t>
            </a:r>
            <a:endParaRPr lang="en-US" sz="1800" dirty="0"/>
          </a:p>
        </p:txBody>
      </p:sp>
      <p:sp>
        <p:nvSpPr>
          <p:cNvPr id="6" name="Text 4"/>
          <p:cNvSpPr/>
          <p:nvPr/>
        </p:nvSpPr>
        <p:spPr>
          <a:xfrm>
            <a:off x="4353620" y="2489565"/>
            <a:ext cx="3621068"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alpha val="99000"/>
                  </a:srgbClr>
                </a:solidFill>
                <a:latin typeface="Courier New" pitchFamily="34" charset="0"/>
                <a:ea typeface="Courier New" pitchFamily="34" charset="-122"/>
                <a:cs typeface="Courier New" pitchFamily="34" charset="-120"/>
              </a:rPr>
              <a:t>— une application active</a:t>
            </a:r>
            <a:endParaRPr lang="en-US" sz="1800" dirty="0"/>
          </a:p>
        </p:txBody>
      </p:sp>
      <p:sp>
        <p:nvSpPr>
          <p:cNvPr id="7" name="Shape 5"/>
          <p:cNvSpPr/>
          <p:nvPr/>
        </p:nvSpPr>
        <p:spPr>
          <a:xfrm>
            <a:off x="1066800" y="3275509"/>
            <a:ext cx="5041900" cy="1541661"/>
          </a:xfrm>
          <a:prstGeom prst="roundRect">
            <a:avLst>
              <a:gd name="adj" fmla="val 8650"/>
            </a:avLst>
          </a:prstGeom>
          <a:solidFill>
            <a:srgbClr val="FFFFFF">
              <a:alpha val="3000"/>
            </a:srgbClr>
          </a:solidFill>
          <a:ln w="6350">
            <a:solidFill>
              <a:srgbClr val="FFFFFF">
                <a:alpha val="10000"/>
              </a:srgbClr>
            </a:solidFill>
            <a:prstDash val="solid"/>
          </a:ln>
        </p:spPr>
      </p:sp>
      <p:sp>
        <p:nvSpPr>
          <p:cNvPr id="8" name="Text 6"/>
          <p:cNvSpPr/>
          <p:nvPr/>
        </p:nvSpPr>
        <p:spPr>
          <a:xfrm>
            <a:off x="1301750" y="3529509"/>
            <a:ext cx="5029200" cy="336550"/>
          </a:xfrm>
          <a:prstGeom prst="rect">
            <a:avLst/>
          </a:prstGeom>
          <a:noFill/>
          <a:ln/>
        </p:spPr>
        <p:txBody>
          <a:bodyPr wrap="square" lIns="25400" tIns="25400" rIns="25400" bIns="25400" rtlCol="0" anchor="t">
            <a:normAutofit/>
          </a:bodyPr>
          <a:lstStyle/>
          <a:p>
            <a:pPr algn="l" indent="0" marL="0">
              <a:buNone/>
            </a:pPr>
            <a:r>
              <a:rPr lang="en-US" sz="2025" b="1" dirty="0">
                <a:solidFill>
                  <a:srgbClr val="56DBDB"/>
                </a:solidFill>
                <a:latin typeface="Arial" pitchFamily="34" charset="0"/>
                <a:ea typeface="Arial" pitchFamily="34" charset="-122"/>
                <a:cs typeface="Arial" pitchFamily="34" charset="-120"/>
              </a:rPr>
              <a:t>Job</a:t>
            </a:r>
            <a:endParaRPr lang="en-US" sz="2025" dirty="0"/>
          </a:p>
        </p:txBody>
      </p:sp>
      <p:sp>
        <p:nvSpPr>
          <p:cNvPr id="9" name="Text 7"/>
          <p:cNvSpPr/>
          <p:nvPr/>
        </p:nvSpPr>
        <p:spPr>
          <a:xfrm>
            <a:off x="1301750" y="3923209"/>
            <a:ext cx="5029200" cy="35808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8EA0B5"/>
                </a:solidFill>
                <a:latin typeface="Arial" pitchFamily="34" charset="0"/>
                <a:ea typeface="Arial" pitchFamily="34" charset="-122"/>
                <a:cs typeface="Arial" pitchFamily="34" charset="-120"/>
              </a:rPr>
              <a:t>un par action (collect, show, count)</a:t>
            </a:r>
            <a:endParaRPr lang="en-US" sz="1800" dirty="0"/>
          </a:p>
        </p:txBody>
      </p:sp>
      <p:sp>
        <p:nvSpPr>
          <p:cNvPr id="10" name="Text 8"/>
          <p:cNvSpPr/>
          <p:nvPr/>
        </p:nvSpPr>
        <p:spPr>
          <a:xfrm>
            <a:off x="6242050" y="3275509"/>
            <a:ext cx="323850" cy="1579761"/>
          </a:xfrm>
          <a:prstGeom prst="rect">
            <a:avLst/>
          </a:prstGeom>
          <a:noFill/>
          <a:ln/>
        </p:spPr>
        <p:txBody>
          <a:bodyPr wrap="square" lIns="25400" tIns="25400" rIns="25400" bIns="25400" rtlCol="0" anchor="ctr">
            <a:normAutofit/>
          </a:bodyPr>
          <a:lstStyle/>
          <a:p>
            <a:pPr algn="l" indent="0" marL="0">
              <a:buNone/>
            </a:pPr>
            <a:r>
              <a:rPr lang="en-US" sz="1950" dirty="0">
                <a:solidFill>
                  <a:srgbClr val="56DBDB"/>
                </a:solidFill>
                <a:latin typeface="Arial" pitchFamily="34" charset="0"/>
                <a:ea typeface="Arial" pitchFamily="34" charset="-122"/>
                <a:cs typeface="Arial" pitchFamily="34" charset="-120"/>
              </a:rPr>
              <a:t>→</a:t>
            </a:r>
            <a:endParaRPr lang="en-US" sz="1950" dirty="0"/>
          </a:p>
        </p:txBody>
      </p:sp>
      <p:sp>
        <p:nvSpPr>
          <p:cNvPr id="11" name="Shape 9"/>
          <p:cNvSpPr/>
          <p:nvPr/>
        </p:nvSpPr>
        <p:spPr>
          <a:xfrm>
            <a:off x="6619182" y="3274326"/>
            <a:ext cx="5049636" cy="1544026"/>
          </a:xfrm>
          <a:prstGeom prst="roundRect">
            <a:avLst>
              <a:gd name="adj" fmla="val 8650"/>
            </a:avLst>
          </a:prstGeom>
          <a:solidFill>
            <a:srgbClr val="FFFFFF">
              <a:alpha val="3000"/>
            </a:srgbClr>
          </a:solidFill>
          <a:ln w="6360">
            <a:solidFill>
              <a:srgbClr val="FFFFFF">
                <a:alpha val="10000"/>
              </a:srgbClr>
            </a:solidFill>
            <a:prstDash val="solid"/>
          </a:ln>
        </p:spPr>
      </p:sp>
      <p:sp>
        <p:nvSpPr>
          <p:cNvPr id="12" name="Text 10"/>
          <p:cNvSpPr/>
          <p:nvPr/>
        </p:nvSpPr>
        <p:spPr>
          <a:xfrm>
            <a:off x="6854493" y="3528716"/>
            <a:ext cx="5036916" cy="337008"/>
          </a:xfrm>
          <a:prstGeom prst="rect">
            <a:avLst/>
          </a:prstGeom>
          <a:noFill/>
          <a:ln/>
        </p:spPr>
        <p:txBody>
          <a:bodyPr wrap="square" lIns="25400" tIns="25400" rIns="25400" bIns="25400" rtlCol="0" anchor="t">
            <a:normAutofit/>
          </a:bodyPr>
          <a:lstStyle/>
          <a:p>
            <a:pPr algn="l" indent="0" marL="0">
              <a:buNone/>
            </a:pPr>
            <a:r>
              <a:rPr lang="en-US" sz="2028" b="1" dirty="0">
                <a:solidFill>
                  <a:srgbClr val="EEF3F9"/>
                </a:solidFill>
                <a:latin typeface="Arial" pitchFamily="34" charset="0"/>
                <a:ea typeface="Arial" pitchFamily="34" charset="-122"/>
                <a:cs typeface="Arial" pitchFamily="34" charset="-120"/>
              </a:rPr>
              <a:t>Stages</a:t>
            </a:r>
            <a:endParaRPr lang="en-US" sz="2028" dirty="0"/>
          </a:p>
        </p:txBody>
      </p:sp>
      <p:sp>
        <p:nvSpPr>
          <p:cNvPr id="13" name="Text 11"/>
          <p:cNvSpPr/>
          <p:nvPr/>
        </p:nvSpPr>
        <p:spPr>
          <a:xfrm>
            <a:off x="6854493" y="3923020"/>
            <a:ext cx="4716385" cy="679043"/>
          </a:xfrm>
          <a:prstGeom prst="rect">
            <a:avLst/>
          </a:prstGeom>
          <a:noFill/>
          <a:ln/>
        </p:spPr>
        <p:txBody>
          <a:bodyPr wrap="square" lIns="25400" tIns="25400" rIns="25400" bIns="25400" rtlCol="0" anchor="t">
            <a:normAutofit/>
          </a:bodyPr>
          <a:lstStyle/>
          <a:p>
            <a:pPr algn="l" indent="0" marL="0">
              <a:lnSpc>
                <a:spcPct val="120000"/>
              </a:lnSpc>
              <a:buNone/>
            </a:pPr>
            <a:r>
              <a:rPr lang="en-US" sz="1803" dirty="0">
                <a:solidFill>
                  <a:srgbClr val="8EA0B5"/>
                </a:solidFill>
                <a:latin typeface="Arial" pitchFamily="34" charset="0"/>
                <a:ea typeface="Arial" pitchFamily="34" charset="-122"/>
                <a:cs typeface="Arial" pitchFamily="34" charset="-120"/>
              </a:rPr>
              <a:t>séparés par un échange entre partitions (groupBy)</a:t>
            </a:r>
            <a:endParaRPr lang="en-US" sz="1803" dirty="0"/>
          </a:p>
        </p:txBody>
      </p:sp>
      <p:sp>
        <p:nvSpPr>
          <p:cNvPr id="14" name="Text 12"/>
          <p:cNvSpPr/>
          <p:nvPr/>
        </p:nvSpPr>
        <p:spPr>
          <a:xfrm>
            <a:off x="11798301" y="3275509"/>
            <a:ext cx="323850" cy="1579761"/>
          </a:xfrm>
          <a:prstGeom prst="rect">
            <a:avLst/>
          </a:prstGeom>
          <a:noFill/>
          <a:ln/>
        </p:spPr>
        <p:txBody>
          <a:bodyPr wrap="square" lIns="25400" tIns="25400" rIns="25400" bIns="25400" rtlCol="0" anchor="ctr">
            <a:normAutofit/>
          </a:bodyPr>
          <a:lstStyle/>
          <a:p>
            <a:pPr algn="l" indent="0" marL="0">
              <a:buNone/>
            </a:pPr>
            <a:r>
              <a:rPr lang="en-US" sz="1950" dirty="0">
                <a:solidFill>
                  <a:srgbClr val="56DBDB"/>
                </a:solidFill>
                <a:latin typeface="Arial" pitchFamily="34" charset="0"/>
                <a:ea typeface="Arial" pitchFamily="34" charset="-122"/>
                <a:cs typeface="Arial" pitchFamily="34" charset="-120"/>
              </a:rPr>
              <a:t>→</a:t>
            </a:r>
            <a:endParaRPr lang="en-US" sz="1950" dirty="0"/>
          </a:p>
        </p:txBody>
      </p:sp>
      <p:sp>
        <p:nvSpPr>
          <p:cNvPr id="15" name="Shape 13"/>
          <p:cNvSpPr/>
          <p:nvPr/>
        </p:nvSpPr>
        <p:spPr>
          <a:xfrm>
            <a:off x="12156765" y="3268619"/>
            <a:ext cx="5086970" cy="1555442"/>
          </a:xfrm>
          <a:prstGeom prst="roundRect">
            <a:avLst>
              <a:gd name="adj" fmla="val 8650"/>
            </a:avLst>
          </a:prstGeom>
          <a:solidFill>
            <a:srgbClr val="FFFFFF">
              <a:alpha val="3000"/>
            </a:srgbClr>
          </a:solidFill>
          <a:ln w="6407">
            <a:solidFill>
              <a:srgbClr val="FFFFFF">
                <a:alpha val="10000"/>
              </a:srgbClr>
            </a:solidFill>
            <a:prstDash val="solid"/>
          </a:ln>
        </p:spPr>
      </p:sp>
      <p:sp>
        <p:nvSpPr>
          <p:cNvPr id="16" name="Text 14"/>
          <p:cNvSpPr/>
          <p:nvPr/>
        </p:nvSpPr>
        <p:spPr>
          <a:xfrm>
            <a:off x="12393816" y="3524889"/>
            <a:ext cx="5074157" cy="339218"/>
          </a:xfrm>
          <a:prstGeom prst="rect">
            <a:avLst/>
          </a:prstGeom>
          <a:noFill/>
          <a:ln/>
        </p:spPr>
        <p:txBody>
          <a:bodyPr wrap="square" lIns="25400" tIns="25400" rIns="25400" bIns="25400" rtlCol="0" anchor="t">
            <a:normAutofit/>
          </a:bodyPr>
          <a:lstStyle/>
          <a:p>
            <a:pPr algn="l" indent="0" marL="0">
              <a:buNone/>
            </a:pPr>
            <a:r>
              <a:rPr lang="en-US" sz="2043" b="1" dirty="0">
                <a:solidFill>
                  <a:srgbClr val="EEF3F9"/>
                </a:solidFill>
                <a:latin typeface="Arial" pitchFamily="34" charset="0"/>
                <a:ea typeface="Arial" pitchFamily="34" charset="-122"/>
                <a:cs typeface="Arial" pitchFamily="34" charset="-120"/>
              </a:rPr>
              <a:t>Tasks</a:t>
            </a:r>
            <a:endParaRPr lang="en-US" sz="2043" dirty="0"/>
          </a:p>
        </p:txBody>
      </p:sp>
      <p:sp>
        <p:nvSpPr>
          <p:cNvPr id="17" name="Text 15"/>
          <p:cNvSpPr/>
          <p:nvPr/>
        </p:nvSpPr>
        <p:spPr>
          <a:xfrm>
            <a:off x="12393816" y="3922108"/>
            <a:ext cx="5074157" cy="360941"/>
          </a:xfrm>
          <a:prstGeom prst="rect">
            <a:avLst/>
          </a:prstGeom>
          <a:noFill/>
          <a:ln/>
        </p:spPr>
        <p:txBody>
          <a:bodyPr wrap="square" lIns="25400" tIns="25400" rIns="25400" bIns="25400" rtlCol="0" anchor="t">
            <a:normAutofit/>
          </a:bodyPr>
          <a:lstStyle/>
          <a:p>
            <a:pPr algn="l" indent="0" marL="0">
              <a:lnSpc>
                <a:spcPct val="120000"/>
              </a:lnSpc>
              <a:buNone/>
            </a:pPr>
            <a:r>
              <a:rPr lang="en-US" sz="1816" dirty="0">
                <a:solidFill>
                  <a:srgbClr val="8EA0B5"/>
                </a:solidFill>
                <a:latin typeface="Arial" pitchFamily="34" charset="0"/>
                <a:ea typeface="Arial" pitchFamily="34" charset="-122"/>
                <a:cs typeface="Arial" pitchFamily="34" charset="-120"/>
              </a:rPr>
              <a:t>une par partition traitée</a:t>
            </a:r>
            <a:endParaRPr lang="en-US" sz="1816" dirty="0"/>
          </a:p>
        </p:txBody>
      </p:sp>
      <p:sp>
        <p:nvSpPr>
          <p:cNvPr id="18" name="Shape 16"/>
          <p:cNvSpPr/>
          <p:nvPr/>
        </p:nvSpPr>
        <p:spPr>
          <a:xfrm>
            <a:off x="1066800" y="5102920"/>
            <a:ext cx="3647480" cy="508000"/>
          </a:xfrm>
          <a:prstGeom prst="roundRect">
            <a:avLst>
              <a:gd name="adj" fmla="val 15000"/>
            </a:avLst>
          </a:prstGeom>
          <a:solidFill>
            <a:srgbClr val="FFFFFF">
              <a:alpha val="4000"/>
            </a:srgbClr>
          </a:solidFill>
          <a:ln w="6350">
            <a:solidFill>
              <a:srgbClr val="FFFFFF">
                <a:alpha val="7000"/>
              </a:srgbClr>
            </a:solidFill>
            <a:prstDash val="solid"/>
          </a:ln>
        </p:spPr>
      </p:sp>
      <p:sp>
        <p:nvSpPr>
          <p:cNvPr id="19" name="Text 17"/>
          <p:cNvSpPr/>
          <p:nvPr/>
        </p:nvSpPr>
        <p:spPr>
          <a:xfrm>
            <a:off x="1244600" y="5204520"/>
            <a:ext cx="3401304" cy="342900"/>
          </a:xfrm>
          <a:prstGeom prst="rect">
            <a:avLst/>
          </a:prstGeom>
          <a:noFill/>
          <a:ln/>
        </p:spPr>
        <p:txBody>
          <a:bodyPr wrap="square" lIns="25400" tIns="25400" rIns="25400" bIns="25400" rtlCol="0" anchor="t">
            <a:normAutofit/>
          </a:bodyPr>
          <a:lstStyle/>
          <a:p>
            <a:pPr algn="l" indent="0" marL="0">
              <a:buNone/>
            </a:pPr>
            <a:r>
              <a:rPr lang="en-US" sz="1800" dirty="0">
                <a:solidFill>
                  <a:srgbClr val="EEF3F9">
                    <a:alpha val="68000"/>
                  </a:srgbClr>
                </a:solidFill>
                <a:latin typeface="Courier New" pitchFamily="34" charset="0"/>
                <a:ea typeface="Courier New" pitchFamily="34" charset="-122"/>
                <a:cs typeface="Courier New" pitchFamily="34" charset="-120"/>
              </a:rPr>
              <a:t>onglet DAG Visualization</a:t>
            </a:r>
            <a:endParaRPr lang="en-US" sz="1800" dirty="0"/>
          </a:p>
        </p:txBody>
      </p:sp>
      <p:sp>
        <p:nvSpPr>
          <p:cNvPr id="20" name="Shape 18"/>
          <p:cNvSpPr/>
          <p:nvPr/>
        </p:nvSpPr>
        <p:spPr>
          <a:xfrm>
            <a:off x="4847630" y="5102920"/>
            <a:ext cx="2550220" cy="508000"/>
          </a:xfrm>
          <a:prstGeom prst="roundRect">
            <a:avLst>
              <a:gd name="adj" fmla="val 15000"/>
            </a:avLst>
          </a:prstGeom>
          <a:solidFill>
            <a:srgbClr val="FFFFFF">
              <a:alpha val="4000"/>
            </a:srgbClr>
          </a:solidFill>
          <a:ln w="6350">
            <a:solidFill>
              <a:srgbClr val="FFFFFF">
                <a:alpha val="7000"/>
              </a:srgbClr>
            </a:solidFill>
            <a:prstDash val="solid"/>
          </a:ln>
        </p:spPr>
      </p:sp>
      <p:sp>
        <p:nvSpPr>
          <p:cNvPr id="21" name="Text 19"/>
          <p:cNvSpPr/>
          <p:nvPr/>
        </p:nvSpPr>
        <p:spPr>
          <a:xfrm>
            <a:off x="5025430" y="5204520"/>
            <a:ext cx="2271126" cy="342900"/>
          </a:xfrm>
          <a:prstGeom prst="rect">
            <a:avLst/>
          </a:prstGeom>
          <a:noFill/>
          <a:ln/>
        </p:spPr>
        <p:txBody>
          <a:bodyPr wrap="square" lIns="25400" tIns="25400" rIns="25400" bIns="25400" rtlCol="0" anchor="t">
            <a:normAutofit/>
          </a:bodyPr>
          <a:lstStyle/>
          <a:p>
            <a:pPr algn="l" indent="0" marL="0">
              <a:buNone/>
            </a:pPr>
            <a:r>
              <a:rPr lang="en-US" sz="1800" dirty="0">
                <a:solidFill>
                  <a:srgbClr val="EEF3F9">
                    <a:alpha val="68000"/>
                  </a:srgbClr>
                </a:solidFill>
                <a:latin typeface="Courier New" pitchFamily="34" charset="0"/>
                <a:ea typeface="Courier New" pitchFamily="34" charset="-122"/>
                <a:cs typeface="Courier New" pitchFamily="34" charset="-120"/>
              </a:rPr>
              <a:t>onglet Executors</a:t>
            </a:r>
            <a:endParaRPr lang="en-US" sz="1800" dirty="0"/>
          </a:p>
        </p:txBody>
      </p:sp>
      <p:sp>
        <p:nvSpPr>
          <p:cNvPr id="22" name="Text 20"/>
          <p:cNvSpPr/>
          <p:nvPr/>
        </p:nvSpPr>
        <p:spPr>
          <a:xfrm>
            <a:off x="7531200" y="5207695"/>
            <a:ext cx="5171301" cy="336550"/>
          </a:xfrm>
          <a:prstGeom prst="rect">
            <a:avLst/>
          </a:prstGeom>
          <a:noFill/>
          <a:ln/>
        </p:spPr>
        <p:txBody>
          <a:bodyPr wrap="square" lIns="25400" tIns="25400" rIns="25400" bIns="25400" rtlCol="0" anchor="t">
            <a:normAutofit/>
          </a:bodyPr>
          <a:lstStyle/>
          <a:p>
            <a:pPr algn="l" indent="0" marL="0">
              <a:buNone/>
            </a:pPr>
            <a:r>
              <a:rPr lang="en-US" sz="1800" dirty="0">
                <a:solidFill>
                  <a:srgbClr val="8EA0B5">
                    <a:alpha val="68000"/>
                  </a:srgbClr>
                </a:solidFill>
                <a:latin typeface="Arial" pitchFamily="34" charset="0"/>
                <a:ea typeface="Arial" pitchFamily="34" charset="-122"/>
                <a:cs typeface="Arial" pitchFamily="34" charset="-120"/>
              </a:rPr>
              <a:t>→ comparer stages / tasks RDD vs DataFrame</a:t>
            </a:r>
            <a:endParaRPr lang="en-US" sz="1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0C121C"/>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52DEDE">
                  <a:alpha val="12000"/>
                </a:srgbClr>
              </a:gs>
              <a:gs pos="60000">
                <a:srgbClr val="52DEDE">
                  <a:alpha val="0"/>
                </a:srgbClr>
              </a:gs>
            </a:gsLst>
            <a:path path="circle">
              <a:fillToRect l="50000" t="0" r="50000" b="100000"/>
            </a:path>
          </a:gradFill>
          <a:ln/>
        </p:spPr>
      </p:sp>
      <p:sp>
        <p:nvSpPr>
          <p:cNvPr id="3" name="Text 1"/>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56DBDB">
                    <a:alpha val="97000"/>
                  </a:srgbClr>
                </a:solidFill>
                <a:latin typeface="Courier New" pitchFamily="34" charset="0"/>
                <a:ea typeface="Courier New" pitchFamily="34" charset="-122"/>
                <a:cs typeface="Courier New" pitchFamily="34" charset="-120"/>
              </a:rPr>
              <a:t>CHAPITRE 4 · SYNTHÈSE</a:t>
            </a:r>
            <a:endParaRPr lang="en-US" sz="1800" dirty="0"/>
          </a:p>
        </p:txBody>
      </p:sp>
      <p:sp>
        <p:nvSpPr>
          <p:cNvPr id="4" name="Text 2"/>
          <p:cNvSpPr/>
          <p:nvPr/>
        </p:nvSpPr>
        <p:spPr>
          <a:xfrm>
            <a:off x="1066800" y="1314451"/>
            <a:ext cx="17769840"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L'écosystème Hadoop / Spark</a:t>
            </a:r>
            <a:endParaRPr lang="en-US" sz="4800" dirty="0"/>
          </a:p>
        </p:txBody>
      </p:sp>
      <p:sp>
        <p:nvSpPr>
          <p:cNvPr id="5" name="Shape 3"/>
          <p:cNvSpPr/>
          <p:nvPr/>
        </p:nvSpPr>
        <p:spPr>
          <a:xfrm>
            <a:off x="1066800" y="2255296"/>
            <a:ext cx="16154400" cy="6685161"/>
          </a:xfrm>
          <a:prstGeom prst="roundRect">
            <a:avLst>
              <a:gd name="adj" fmla="val 2565"/>
            </a:avLst>
          </a:prstGeom>
          <a:solidFill>
            <a:srgbClr val="FFFFFF">
              <a:alpha val="3000"/>
            </a:srgbClr>
          </a:solidFill>
          <a:ln w="6350">
            <a:solidFill>
              <a:srgbClr val="FFFFFF">
                <a:alpha val="10000"/>
              </a:srgbClr>
            </a:solidFill>
            <a:prstDash val="solid"/>
          </a:ln>
        </p:spPr>
      </p:sp>
      <p:sp>
        <p:nvSpPr>
          <p:cNvPr id="6" name="Shape 4"/>
          <p:cNvSpPr/>
          <p:nvPr/>
        </p:nvSpPr>
        <p:spPr>
          <a:xfrm>
            <a:off x="1073150" y="2985546"/>
            <a:ext cx="16141701" cy="9525"/>
          </a:xfrm>
          <a:prstGeom prst="rect">
            <a:avLst/>
          </a:prstGeom>
          <a:solidFill>
            <a:srgbClr val="FFFFFF">
              <a:alpha val="10000"/>
            </a:srgbClr>
          </a:solidFill>
          <a:ln/>
        </p:spPr>
      </p:sp>
      <p:sp>
        <p:nvSpPr>
          <p:cNvPr id="7" name="Text 5"/>
          <p:cNvSpPr/>
          <p:nvPr/>
        </p:nvSpPr>
        <p:spPr>
          <a:xfrm>
            <a:off x="1397000" y="2471196"/>
            <a:ext cx="426085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alpha val="99000"/>
                  </a:srgbClr>
                </a:solidFill>
                <a:latin typeface="Courier New" pitchFamily="34" charset="0"/>
                <a:ea typeface="Courier New" pitchFamily="34" charset="-122"/>
                <a:cs typeface="Courier New" pitchFamily="34" charset="-120"/>
              </a:rPr>
              <a:t>Technologie</a:t>
            </a:r>
            <a:endParaRPr lang="en-US" sz="1800" dirty="0"/>
          </a:p>
        </p:txBody>
      </p:sp>
      <p:sp>
        <p:nvSpPr>
          <p:cNvPr id="8" name="Text 6"/>
          <p:cNvSpPr/>
          <p:nvPr/>
        </p:nvSpPr>
        <p:spPr>
          <a:xfrm>
            <a:off x="5270500" y="2471196"/>
            <a:ext cx="7101344"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alpha val="99000"/>
                  </a:srgbClr>
                </a:solidFill>
                <a:latin typeface="Courier New" pitchFamily="34" charset="0"/>
                <a:ea typeface="Courier New" pitchFamily="34" charset="-122"/>
                <a:cs typeface="Courier New" pitchFamily="34" charset="-120"/>
              </a:rPr>
              <a:t>Rôle principal</a:t>
            </a:r>
            <a:endParaRPr lang="en-US" sz="1800" dirty="0"/>
          </a:p>
        </p:txBody>
      </p:sp>
      <p:sp>
        <p:nvSpPr>
          <p:cNvPr id="9" name="Text 7"/>
          <p:cNvSpPr/>
          <p:nvPr/>
        </p:nvSpPr>
        <p:spPr>
          <a:xfrm>
            <a:off x="11726268" y="2471196"/>
            <a:ext cx="5681097"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alpha val="99000"/>
                  </a:srgbClr>
                </a:solidFill>
                <a:latin typeface="Courier New" pitchFamily="34" charset="0"/>
                <a:ea typeface="Courier New" pitchFamily="34" charset="-122"/>
                <a:cs typeface="Courier New" pitchFamily="34" charset="-120"/>
              </a:rPr>
              <a:t>Exécution</a:t>
            </a:r>
            <a:endParaRPr lang="en-US" sz="1800" dirty="0"/>
          </a:p>
        </p:txBody>
      </p:sp>
      <p:sp>
        <p:nvSpPr>
          <p:cNvPr id="10" name="Shape 8"/>
          <p:cNvSpPr/>
          <p:nvPr/>
        </p:nvSpPr>
        <p:spPr>
          <a:xfrm>
            <a:off x="1073150" y="3703097"/>
            <a:ext cx="16141701" cy="9525"/>
          </a:xfrm>
          <a:prstGeom prst="rect">
            <a:avLst/>
          </a:prstGeom>
          <a:solidFill>
            <a:srgbClr val="FFFFFF">
              <a:alpha val="6000"/>
            </a:srgbClr>
          </a:solidFill>
          <a:ln/>
        </p:spPr>
      </p:sp>
      <p:sp>
        <p:nvSpPr>
          <p:cNvPr id="11" name="Text 9"/>
          <p:cNvSpPr/>
          <p:nvPr/>
        </p:nvSpPr>
        <p:spPr>
          <a:xfrm>
            <a:off x="1397000" y="3182396"/>
            <a:ext cx="4260850" cy="368300"/>
          </a:xfrm>
          <a:prstGeom prst="rect">
            <a:avLst/>
          </a:prstGeom>
          <a:noFill/>
          <a:ln/>
        </p:spPr>
        <p:txBody>
          <a:bodyPr wrap="square" lIns="25400" tIns="25400" rIns="25400" bIns="25400" rtlCol="0" anchor="t">
            <a:normAutofit/>
          </a:bodyPr>
          <a:lstStyle/>
          <a:p>
            <a:pPr algn="l" indent="0" marL="0">
              <a:buNone/>
            </a:pPr>
            <a:r>
              <a:rPr lang="en-US" sz="1950" dirty="0">
                <a:solidFill>
                  <a:srgbClr val="56DBDB">
                    <a:alpha val="99000"/>
                  </a:srgbClr>
                </a:solidFill>
                <a:latin typeface="Courier New" pitchFamily="34" charset="0"/>
                <a:ea typeface="Courier New" pitchFamily="34" charset="-122"/>
                <a:cs typeface="Courier New" pitchFamily="34" charset="-120"/>
              </a:rPr>
              <a:t>HDFS</a:t>
            </a:r>
            <a:endParaRPr lang="en-US" sz="1950" dirty="0"/>
          </a:p>
        </p:txBody>
      </p:sp>
      <p:sp>
        <p:nvSpPr>
          <p:cNvPr id="12" name="Text 10"/>
          <p:cNvSpPr/>
          <p:nvPr/>
        </p:nvSpPr>
        <p:spPr>
          <a:xfrm>
            <a:off x="5270500" y="3185571"/>
            <a:ext cx="7101344" cy="361950"/>
          </a:xfrm>
          <a:prstGeom prst="rect">
            <a:avLst/>
          </a:prstGeom>
          <a:noFill/>
          <a:ln/>
        </p:spPr>
        <p:txBody>
          <a:bodyPr wrap="square" lIns="25400" tIns="25400" rIns="25400" bIns="25400" rtlCol="0" anchor="t">
            <a:normAutofit/>
          </a:bodyPr>
          <a:lstStyle/>
          <a:p>
            <a:pPr algn="l" indent="0" marL="0">
              <a:buNone/>
            </a:pPr>
            <a:r>
              <a:rPr lang="en-US" sz="1950" dirty="0">
                <a:solidFill>
                  <a:srgbClr val="8EA0B5">
                    <a:alpha val="99000"/>
                  </a:srgbClr>
                </a:solidFill>
                <a:latin typeface="Arial" pitchFamily="34" charset="0"/>
                <a:ea typeface="Arial" pitchFamily="34" charset="-122"/>
                <a:cs typeface="Arial" pitchFamily="34" charset="-120"/>
              </a:rPr>
              <a:t>Stockage distribué</a:t>
            </a:r>
            <a:endParaRPr lang="en-US" sz="1950" dirty="0"/>
          </a:p>
        </p:txBody>
      </p:sp>
      <p:sp>
        <p:nvSpPr>
          <p:cNvPr id="13" name="Text 11"/>
          <p:cNvSpPr/>
          <p:nvPr/>
        </p:nvSpPr>
        <p:spPr>
          <a:xfrm>
            <a:off x="11726268" y="3185571"/>
            <a:ext cx="5681097" cy="361950"/>
          </a:xfrm>
          <a:prstGeom prst="rect">
            <a:avLst/>
          </a:prstGeom>
          <a:noFill/>
          <a:ln/>
        </p:spPr>
        <p:txBody>
          <a:bodyPr wrap="square" lIns="25400" tIns="25400" rIns="25400" bIns="25400" rtlCol="0" anchor="t">
            <a:normAutofit/>
          </a:bodyPr>
          <a:lstStyle/>
          <a:p>
            <a:pPr algn="l" indent="0" marL="0">
              <a:buNone/>
            </a:pPr>
            <a:r>
              <a:rPr lang="en-US" sz="1950" dirty="0">
                <a:solidFill>
                  <a:srgbClr val="8EA0B5">
                    <a:alpha val="99000"/>
                  </a:srgbClr>
                </a:solidFill>
                <a:latin typeface="Arial" pitchFamily="34" charset="0"/>
                <a:ea typeface="Arial" pitchFamily="34" charset="-122"/>
                <a:cs typeface="Arial" pitchFamily="34" charset="-120"/>
              </a:rPr>
              <a:t>DataNodes</a:t>
            </a:r>
            <a:endParaRPr lang="en-US" sz="1950" dirty="0"/>
          </a:p>
        </p:txBody>
      </p:sp>
      <p:sp>
        <p:nvSpPr>
          <p:cNvPr id="14" name="Shape 12"/>
          <p:cNvSpPr/>
          <p:nvPr/>
        </p:nvSpPr>
        <p:spPr>
          <a:xfrm>
            <a:off x="1073150" y="4420647"/>
            <a:ext cx="16141701" cy="9525"/>
          </a:xfrm>
          <a:prstGeom prst="rect">
            <a:avLst/>
          </a:prstGeom>
          <a:solidFill>
            <a:srgbClr val="FFFFFF">
              <a:alpha val="6000"/>
            </a:srgbClr>
          </a:solidFill>
          <a:ln/>
        </p:spPr>
      </p:sp>
      <p:sp>
        <p:nvSpPr>
          <p:cNvPr id="15" name="Text 13"/>
          <p:cNvSpPr/>
          <p:nvPr/>
        </p:nvSpPr>
        <p:spPr>
          <a:xfrm>
            <a:off x="1397000" y="3899947"/>
            <a:ext cx="4260850" cy="368300"/>
          </a:xfrm>
          <a:prstGeom prst="rect">
            <a:avLst/>
          </a:prstGeom>
          <a:noFill/>
          <a:ln/>
        </p:spPr>
        <p:txBody>
          <a:bodyPr wrap="square" lIns="25400" tIns="25400" rIns="25400" bIns="25400" rtlCol="0" anchor="t">
            <a:normAutofit/>
          </a:bodyPr>
          <a:lstStyle/>
          <a:p>
            <a:pPr algn="l" indent="0" marL="0">
              <a:buNone/>
            </a:pPr>
            <a:r>
              <a:rPr lang="en-US" sz="1950" dirty="0">
                <a:solidFill>
                  <a:srgbClr val="FFB46E">
                    <a:alpha val="99000"/>
                  </a:srgbClr>
                </a:solidFill>
                <a:latin typeface="Courier New" pitchFamily="34" charset="0"/>
                <a:ea typeface="Courier New" pitchFamily="34" charset="-122"/>
                <a:cs typeface="Courier New" pitchFamily="34" charset="-120"/>
              </a:rPr>
              <a:t>Hive</a:t>
            </a:r>
            <a:endParaRPr lang="en-US" sz="1950" dirty="0"/>
          </a:p>
        </p:txBody>
      </p:sp>
      <p:sp>
        <p:nvSpPr>
          <p:cNvPr id="16" name="Text 14"/>
          <p:cNvSpPr/>
          <p:nvPr/>
        </p:nvSpPr>
        <p:spPr>
          <a:xfrm>
            <a:off x="5270500" y="3903122"/>
            <a:ext cx="7101344" cy="361950"/>
          </a:xfrm>
          <a:prstGeom prst="rect">
            <a:avLst/>
          </a:prstGeom>
          <a:noFill/>
          <a:ln/>
        </p:spPr>
        <p:txBody>
          <a:bodyPr wrap="square" lIns="25400" tIns="25400" rIns="25400" bIns="25400" rtlCol="0" anchor="t">
            <a:normAutofit/>
          </a:bodyPr>
          <a:lstStyle/>
          <a:p>
            <a:pPr algn="l" indent="0" marL="0">
              <a:buNone/>
            </a:pPr>
            <a:r>
              <a:rPr lang="en-US" sz="1950" dirty="0">
                <a:solidFill>
                  <a:srgbClr val="8EA0B5">
                    <a:alpha val="99000"/>
                  </a:srgbClr>
                </a:solidFill>
                <a:latin typeface="Arial" pitchFamily="34" charset="0"/>
                <a:ea typeface="Arial" pitchFamily="34" charset="-122"/>
                <a:cs typeface="Arial" pitchFamily="34" charset="-120"/>
              </a:rPr>
              <a:t>Requêtes SQL distribuées</a:t>
            </a:r>
            <a:endParaRPr lang="en-US" sz="1950" dirty="0"/>
          </a:p>
        </p:txBody>
      </p:sp>
      <p:sp>
        <p:nvSpPr>
          <p:cNvPr id="17" name="Text 15"/>
          <p:cNvSpPr/>
          <p:nvPr/>
        </p:nvSpPr>
        <p:spPr>
          <a:xfrm>
            <a:off x="11726268" y="3903122"/>
            <a:ext cx="5681097" cy="361950"/>
          </a:xfrm>
          <a:prstGeom prst="rect">
            <a:avLst/>
          </a:prstGeom>
          <a:noFill/>
          <a:ln/>
        </p:spPr>
        <p:txBody>
          <a:bodyPr wrap="square" lIns="25400" tIns="25400" rIns="25400" bIns="25400" rtlCol="0" anchor="t">
            <a:normAutofit/>
          </a:bodyPr>
          <a:lstStyle/>
          <a:p>
            <a:pPr algn="l" indent="0" marL="0">
              <a:buNone/>
            </a:pPr>
            <a:r>
              <a:rPr lang="en-US" sz="1950" dirty="0">
                <a:solidFill>
                  <a:srgbClr val="8EA0B5">
                    <a:alpha val="99000"/>
                  </a:srgbClr>
                </a:solidFill>
                <a:latin typeface="Arial" pitchFamily="34" charset="0"/>
                <a:ea typeface="Arial" pitchFamily="34" charset="-122"/>
                <a:cs typeface="Arial" pitchFamily="34" charset="-120"/>
              </a:rPr>
              <a:t>Tez / Spark, sur YARN</a:t>
            </a:r>
            <a:endParaRPr lang="en-US" sz="1950" dirty="0"/>
          </a:p>
        </p:txBody>
      </p:sp>
      <p:sp>
        <p:nvSpPr>
          <p:cNvPr id="18" name="Shape 16"/>
          <p:cNvSpPr/>
          <p:nvPr/>
        </p:nvSpPr>
        <p:spPr>
          <a:xfrm>
            <a:off x="1073150" y="5138197"/>
            <a:ext cx="16141701" cy="9525"/>
          </a:xfrm>
          <a:prstGeom prst="rect">
            <a:avLst/>
          </a:prstGeom>
          <a:solidFill>
            <a:srgbClr val="FFFFFF">
              <a:alpha val="6000"/>
            </a:srgbClr>
          </a:solidFill>
          <a:ln/>
        </p:spPr>
      </p:sp>
      <p:sp>
        <p:nvSpPr>
          <p:cNvPr id="19" name="Text 17"/>
          <p:cNvSpPr/>
          <p:nvPr/>
        </p:nvSpPr>
        <p:spPr>
          <a:xfrm>
            <a:off x="1397000" y="4617497"/>
            <a:ext cx="4260850" cy="368300"/>
          </a:xfrm>
          <a:prstGeom prst="rect">
            <a:avLst/>
          </a:prstGeom>
          <a:noFill/>
          <a:ln/>
        </p:spPr>
        <p:txBody>
          <a:bodyPr wrap="square" lIns="25400" tIns="25400" rIns="25400" bIns="25400" rtlCol="0" anchor="t">
            <a:normAutofit/>
          </a:bodyPr>
          <a:lstStyle/>
          <a:p>
            <a:pPr algn="l" indent="0" marL="0">
              <a:buNone/>
            </a:pPr>
            <a:r>
              <a:rPr lang="en-US" sz="1950" dirty="0">
                <a:solidFill>
                  <a:srgbClr val="56DBDB">
                    <a:alpha val="99000"/>
                  </a:srgbClr>
                </a:solidFill>
                <a:latin typeface="Courier New" pitchFamily="34" charset="0"/>
                <a:ea typeface="Courier New" pitchFamily="34" charset="-122"/>
                <a:cs typeface="Courier New" pitchFamily="34" charset="-120"/>
              </a:rPr>
              <a:t>Spark RDD</a:t>
            </a:r>
            <a:endParaRPr lang="en-US" sz="1950" dirty="0"/>
          </a:p>
        </p:txBody>
      </p:sp>
      <p:sp>
        <p:nvSpPr>
          <p:cNvPr id="20" name="Text 18"/>
          <p:cNvSpPr/>
          <p:nvPr/>
        </p:nvSpPr>
        <p:spPr>
          <a:xfrm>
            <a:off x="5270500" y="4620671"/>
            <a:ext cx="7101344" cy="361950"/>
          </a:xfrm>
          <a:prstGeom prst="rect">
            <a:avLst/>
          </a:prstGeom>
          <a:noFill/>
          <a:ln/>
        </p:spPr>
        <p:txBody>
          <a:bodyPr wrap="square" lIns="25400" tIns="25400" rIns="25400" bIns="25400" rtlCol="0" anchor="t">
            <a:normAutofit/>
          </a:bodyPr>
          <a:lstStyle/>
          <a:p>
            <a:pPr algn="l" indent="0" marL="0">
              <a:buNone/>
            </a:pPr>
            <a:r>
              <a:rPr lang="en-US" sz="1950" dirty="0">
                <a:solidFill>
                  <a:srgbClr val="8EA0B5">
                    <a:alpha val="99000"/>
                  </a:srgbClr>
                </a:solidFill>
                <a:latin typeface="Arial" pitchFamily="34" charset="0"/>
                <a:ea typeface="Arial" pitchFamily="34" charset="-122"/>
                <a:cs typeface="Arial" pitchFamily="34" charset="-120"/>
              </a:rPr>
              <a:t>Traitement bas niveau</a:t>
            </a:r>
            <a:endParaRPr lang="en-US" sz="1950" dirty="0"/>
          </a:p>
        </p:txBody>
      </p:sp>
      <p:sp>
        <p:nvSpPr>
          <p:cNvPr id="21" name="Text 19"/>
          <p:cNvSpPr/>
          <p:nvPr/>
        </p:nvSpPr>
        <p:spPr>
          <a:xfrm>
            <a:off x="11726268" y="4620671"/>
            <a:ext cx="5681097" cy="361950"/>
          </a:xfrm>
          <a:prstGeom prst="rect">
            <a:avLst/>
          </a:prstGeom>
          <a:noFill/>
          <a:ln/>
        </p:spPr>
        <p:txBody>
          <a:bodyPr wrap="square" lIns="25400" tIns="25400" rIns="25400" bIns="25400" rtlCol="0" anchor="t">
            <a:normAutofit/>
          </a:bodyPr>
          <a:lstStyle/>
          <a:p>
            <a:pPr algn="l" indent="0" marL="0">
              <a:buNone/>
            </a:pPr>
            <a:r>
              <a:rPr lang="en-US" sz="1950" dirty="0">
                <a:solidFill>
                  <a:srgbClr val="8EA0B5">
                    <a:alpha val="99000"/>
                  </a:srgbClr>
                </a:solidFill>
                <a:latin typeface="Arial" pitchFamily="34" charset="0"/>
                <a:ea typeface="Arial" pitchFamily="34" charset="-122"/>
                <a:cs typeface="Arial" pitchFamily="34" charset="-120"/>
              </a:rPr>
              <a:t>Executors</a:t>
            </a:r>
            <a:endParaRPr lang="en-US" sz="1950" dirty="0"/>
          </a:p>
        </p:txBody>
      </p:sp>
      <p:sp>
        <p:nvSpPr>
          <p:cNvPr id="22" name="Shape 20"/>
          <p:cNvSpPr/>
          <p:nvPr/>
        </p:nvSpPr>
        <p:spPr>
          <a:xfrm>
            <a:off x="1073150" y="5855746"/>
            <a:ext cx="16141701" cy="9525"/>
          </a:xfrm>
          <a:prstGeom prst="rect">
            <a:avLst/>
          </a:prstGeom>
          <a:solidFill>
            <a:srgbClr val="FFFFFF">
              <a:alpha val="6000"/>
            </a:srgbClr>
          </a:solidFill>
          <a:ln/>
        </p:spPr>
      </p:sp>
      <p:sp>
        <p:nvSpPr>
          <p:cNvPr id="23" name="Text 21"/>
          <p:cNvSpPr/>
          <p:nvPr/>
        </p:nvSpPr>
        <p:spPr>
          <a:xfrm>
            <a:off x="1397000" y="5335046"/>
            <a:ext cx="4260850" cy="368300"/>
          </a:xfrm>
          <a:prstGeom prst="rect">
            <a:avLst/>
          </a:prstGeom>
          <a:noFill/>
          <a:ln/>
        </p:spPr>
        <p:txBody>
          <a:bodyPr wrap="square" lIns="25400" tIns="25400" rIns="25400" bIns="25400" rtlCol="0" anchor="t">
            <a:normAutofit/>
          </a:bodyPr>
          <a:lstStyle/>
          <a:p>
            <a:pPr algn="l" indent="0" marL="0">
              <a:buNone/>
            </a:pPr>
            <a:r>
              <a:rPr lang="en-US" sz="1950" dirty="0">
                <a:solidFill>
                  <a:srgbClr val="56DBDB">
                    <a:alpha val="99000"/>
                  </a:srgbClr>
                </a:solidFill>
                <a:latin typeface="Courier New" pitchFamily="34" charset="0"/>
                <a:ea typeface="Courier New" pitchFamily="34" charset="-122"/>
                <a:cs typeface="Courier New" pitchFamily="34" charset="-120"/>
              </a:rPr>
              <a:t>Spark DataFrame</a:t>
            </a:r>
            <a:endParaRPr lang="en-US" sz="1950" dirty="0"/>
          </a:p>
        </p:txBody>
      </p:sp>
      <p:sp>
        <p:nvSpPr>
          <p:cNvPr id="24" name="Text 22"/>
          <p:cNvSpPr/>
          <p:nvPr/>
        </p:nvSpPr>
        <p:spPr>
          <a:xfrm>
            <a:off x="5270500" y="5338222"/>
            <a:ext cx="7101344" cy="361950"/>
          </a:xfrm>
          <a:prstGeom prst="rect">
            <a:avLst/>
          </a:prstGeom>
          <a:noFill/>
          <a:ln/>
        </p:spPr>
        <p:txBody>
          <a:bodyPr wrap="square" lIns="25400" tIns="25400" rIns="25400" bIns="25400" rtlCol="0" anchor="t">
            <a:normAutofit/>
          </a:bodyPr>
          <a:lstStyle/>
          <a:p>
            <a:pPr algn="l" indent="0" marL="0">
              <a:buNone/>
            </a:pPr>
            <a:r>
              <a:rPr lang="en-US" sz="1950" dirty="0">
                <a:solidFill>
                  <a:srgbClr val="8EA0B5">
                    <a:alpha val="99000"/>
                  </a:srgbClr>
                </a:solidFill>
                <a:latin typeface="Arial" pitchFamily="34" charset="0"/>
                <a:ea typeface="Arial" pitchFamily="34" charset="-122"/>
                <a:cs typeface="Arial" pitchFamily="34" charset="-120"/>
              </a:rPr>
              <a:t>Traitement optimisé</a:t>
            </a:r>
            <a:endParaRPr lang="en-US" sz="1950" dirty="0"/>
          </a:p>
        </p:txBody>
      </p:sp>
      <p:sp>
        <p:nvSpPr>
          <p:cNvPr id="25" name="Text 23"/>
          <p:cNvSpPr/>
          <p:nvPr/>
        </p:nvSpPr>
        <p:spPr>
          <a:xfrm>
            <a:off x="11726268" y="5338222"/>
            <a:ext cx="5681097" cy="361950"/>
          </a:xfrm>
          <a:prstGeom prst="rect">
            <a:avLst/>
          </a:prstGeom>
          <a:noFill/>
          <a:ln/>
        </p:spPr>
        <p:txBody>
          <a:bodyPr wrap="square" lIns="25400" tIns="25400" rIns="25400" bIns="25400" rtlCol="0" anchor="t">
            <a:normAutofit/>
          </a:bodyPr>
          <a:lstStyle/>
          <a:p>
            <a:pPr algn="l" indent="0" marL="0">
              <a:buNone/>
            </a:pPr>
            <a:r>
              <a:rPr lang="en-US" sz="1950" dirty="0">
                <a:solidFill>
                  <a:srgbClr val="8EA0B5">
                    <a:alpha val="99000"/>
                  </a:srgbClr>
                </a:solidFill>
                <a:latin typeface="Arial" pitchFamily="34" charset="0"/>
                <a:ea typeface="Arial" pitchFamily="34" charset="-122"/>
                <a:cs typeface="Arial" pitchFamily="34" charset="-120"/>
              </a:rPr>
              <a:t>Catalyst + YARN</a:t>
            </a:r>
            <a:endParaRPr lang="en-US" sz="1950" dirty="0"/>
          </a:p>
        </p:txBody>
      </p:sp>
      <p:sp>
        <p:nvSpPr>
          <p:cNvPr id="26" name="Text 24"/>
          <p:cNvSpPr/>
          <p:nvPr/>
        </p:nvSpPr>
        <p:spPr>
          <a:xfrm>
            <a:off x="1397000" y="6052597"/>
            <a:ext cx="4260850" cy="368300"/>
          </a:xfrm>
          <a:prstGeom prst="rect">
            <a:avLst/>
          </a:prstGeom>
          <a:noFill/>
          <a:ln/>
        </p:spPr>
        <p:txBody>
          <a:bodyPr wrap="square" lIns="25400" tIns="25400" rIns="25400" bIns="25400" rtlCol="0" anchor="t">
            <a:normAutofit/>
          </a:bodyPr>
          <a:lstStyle/>
          <a:p>
            <a:pPr algn="l" indent="0" marL="0">
              <a:buNone/>
            </a:pPr>
            <a:r>
              <a:rPr lang="en-US" sz="1950" dirty="0">
                <a:solidFill>
                  <a:srgbClr val="B897F0">
                    <a:alpha val="99000"/>
                  </a:srgbClr>
                </a:solidFill>
                <a:latin typeface="Courier New" pitchFamily="34" charset="0"/>
                <a:ea typeface="Courier New" pitchFamily="34" charset="-122"/>
                <a:cs typeface="Courier New" pitchFamily="34" charset="-120"/>
              </a:rPr>
              <a:t>YARN</a:t>
            </a:r>
            <a:endParaRPr lang="en-US" sz="1950" dirty="0"/>
          </a:p>
        </p:txBody>
      </p:sp>
      <p:sp>
        <p:nvSpPr>
          <p:cNvPr id="27" name="Text 25"/>
          <p:cNvSpPr/>
          <p:nvPr/>
        </p:nvSpPr>
        <p:spPr>
          <a:xfrm>
            <a:off x="5270500" y="6055772"/>
            <a:ext cx="7101344" cy="361950"/>
          </a:xfrm>
          <a:prstGeom prst="rect">
            <a:avLst/>
          </a:prstGeom>
          <a:noFill/>
          <a:ln/>
        </p:spPr>
        <p:txBody>
          <a:bodyPr wrap="square" lIns="25400" tIns="25400" rIns="25400" bIns="25400" rtlCol="0" anchor="t">
            <a:normAutofit/>
          </a:bodyPr>
          <a:lstStyle/>
          <a:p>
            <a:pPr algn="l" indent="0" marL="0">
              <a:buNone/>
            </a:pPr>
            <a:r>
              <a:rPr lang="en-US" sz="1950" dirty="0">
                <a:solidFill>
                  <a:srgbClr val="8EA0B5">
                    <a:alpha val="99000"/>
                  </a:srgbClr>
                </a:solidFill>
                <a:latin typeface="Arial" pitchFamily="34" charset="0"/>
                <a:ea typeface="Arial" pitchFamily="34" charset="-122"/>
                <a:cs typeface="Arial" pitchFamily="34" charset="-120"/>
              </a:rPr>
              <a:t>Gestion des ressources</a:t>
            </a:r>
            <a:endParaRPr lang="en-US" sz="1950" dirty="0"/>
          </a:p>
        </p:txBody>
      </p:sp>
      <p:sp>
        <p:nvSpPr>
          <p:cNvPr id="28" name="Text 26"/>
          <p:cNvSpPr/>
          <p:nvPr/>
        </p:nvSpPr>
        <p:spPr>
          <a:xfrm>
            <a:off x="11726268" y="6055772"/>
            <a:ext cx="5681097" cy="361950"/>
          </a:xfrm>
          <a:prstGeom prst="rect">
            <a:avLst/>
          </a:prstGeom>
          <a:noFill/>
          <a:ln/>
        </p:spPr>
        <p:txBody>
          <a:bodyPr wrap="square" lIns="25400" tIns="25400" rIns="25400" bIns="25400" rtlCol="0" anchor="t">
            <a:normAutofit/>
          </a:bodyPr>
          <a:lstStyle/>
          <a:p>
            <a:pPr algn="l" indent="0" marL="0">
              <a:buNone/>
            </a:pPr>
            <a:r>
              <a:rPr lang="en-US" sz="1950" dirty="0">
                <a:solidFill>
                  <a:srgbClr val="8EA0B5">
                    <a:alpha val="99000"/>
                  </a:srgbClr>
                </a:solidFill>
                <a:latin typeface="Arial" pitchFamily="34" charset="0"/>
                <a:ea typeface="Arial" pitchFamily="34" charset="-122"/>
                <a:cs typeface="Arial" pitchFamily="34" charset="-120"/>
              </a:rPr>
              <a:t>ResourceManager + NodeManagers</a:t>
            </a:r>
            <a:endParaRPr lang="en-US" sz="1950" dirty="0"/>
          </a:p>
        </p:txBody>
      </p:sp>
      <p:sp>
        <p:nvSpPr>
          <p:cNvPr id="29" name="Text 27"/>
          <p:cNvSpPr/>
          <p:nvPr/>
        </p:nvSpPr>
        <p:spPr>
          <a:xfrm>
            <a:off x="1066800" y="9147870"/>
            <a:ext cx="17769840" cy="35808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8EA0B5">
                    <a:alpha val="45000"/>
                  </a:srgbClr>
                </a:solidFill>
                <a:latin typeface="Arial" pitchFamily="34" charset="0"/>
                <a:ea typeface="Arial" pitchFamily="34" charset="-122"/>
                <a:cs typeface="Arial" pitchFamily="34" charset="-120"/>
              </a:rPr>
              <a:t>Du </a:t>
            </a:r>
            <a:pPr algn="l" indent="0" marL="0">
              <a:lnSpc>
                <a:spcPct val="120000"/>
              </a:lnSpc>
              <a:buNone/>
            </a:pPr>
            <a:r>
              <a:rPr lang="en-US" sz="1800" dirty="0">
                <a:solidFill>
                  <a:srgbClr val="EEF3F9">
                    <a:alpha val="45000"/>
                  </a:srgbClr>
                </a:solidFill>
                <a:latin typeface="Arial" pitchFamily="34" charset="0"/>
                <a:ea typeface="Arial" pitchFamily="34" charset="-122"/>
                <a:cs typeface="Arial" pitchFamily="34" charset="-120"/>
              </a:rPr>
              <a:t>stockage </a:t>
            </a:r>
            <a:pPr algn="l" indent="0" marL="0">
              <a:lnSpc>
                <a:spcPct val="120000"/>
              </a:lnSpc>
              <a:buNone/>
            </a:pPr>
            <a:r>
              <a:rPr lang="en-US" sz="1800" dirty="0">
                <a:solidFill>
                  <a:srgbClr val="8EA0B5">
                    <a:alpha val="45000"/>
                  </a:srgbClr>
                </a:solidFill>
                <a:latin typeface="Arial" pitchFamily="34" charset="0"/>
                <a:ea typeface="Arial" pitchFamily="34" charset="-122"/>
                <a:cs typeface="Arial" pitchFamily="34" charset="-120"/>
              </a:rPr>
              <a:t>(HDFS) vers </a:t>
            </a:r>
            <a:pPr algn="l" indent="0" marL="0">
              <a:lnSpc>
                <a:spcPct val="120000"/>
              </a:lnSpc>
              <a:buNone/>
            </a:pPr>
            <a:r>
              <a:rPr lang="en-US" sz="1800" dirty="0">
                <a:solidFill>
                  <a:srgbClr val="EEF3F9">
                    <a:alpha val="45000"/>
                  </a:srgbClr>
                </a:solidFill>
                <a:latin typeface="Arial" pitchFamily="34" charset="0"/>
                <a:ea typeface="Arial" pitchFamily="34" charset="-122"/>
                <a:cs typeface="Arial" pitchFamily="34" charset="-120"/>
              </a:rPr>
              <a:t>l'orchestration </a:t>
            </a:r>
            <a:pPr algn="l" indent="0" marL="0">
              <a:lnSpc>
                <a:spcPct val="120000"/>
              </a:lnSpc>
              <a:buNone/>
            </a:pPr>
            <a:r>
              <a:rPr lang="en-US" sz="1800" dirty="0">
                <a:solidFill>
                  <a:srgbClr val="8EA0B5">
                    <a:alpha val="45000"/>
                  </a:srgbClr>
                </a:solidFill>
                <a:latin typeface="Arial" pitchFamily="34" charset="0"/>
                <a:ea typeface="Arial" pitchFamily="34" charset="-122"/>
                <a:cs typeface="Arial" pitchFamily="34" charset="-120"/>
              </a:rPr>
              <a:t>(YARN), puis vers les </a:t>
            </a:r>
            <a:pPr algn="l" indent="0" marL="0">
              <a:lnSpc>
                <a:spcPct val="120000"/>
              </a:lnSpc>
              <a:buNone/>
            </a:pPr>
            <a:r>
              <a:rPr lang="en-US" sz="1800" dirty="0">
                <a:solidFill>
                  <a:srgbClr val="EEF3F9">
                    <a:alpha val="45000"/>
                  </a:srgbClr>
                </a:solidFill>
                <a:latin typeface="Arial" pitchFamily="34" charset="0"/>
                <a:ea typeface="Arial" pitchFamily="34" charset="-122"/>
                <a:cs typeface="Arial" pitchFamily="34" charset="-120"/>
              </a:rPr>
              <a:t>moteurs de calcul </a:t>
            </a:r>
            <a:pPr algn="l" indent="0" marL="0">
              <a:lnSpc>
                <a:spcPct val="120000"/>
              </a:lnSpc>
              <a:buNone/>
            </a:pPr>
            <a:r>
              <a:rPr lang="en-US" sz="1800" dirty="0">
                <a:solidFill>
                  <a:srgbClr val="8EA0B5">
                    <a:alpha val="45000"/>
                  </a:srgbClr>
                </a:solidFill>
                <a:latin typeface="Arial" pitchFamily="34" charset="0"/>
                <a:ea typeface="Arial" pitchFamily="34" charset="-122"/>
                <a:cs typeface="Arial" pitchFamily="34" charset="-120"/>
              </a:rPr>
              <a:t>(Hive, Spark) — sans duplication.</a:t>
            </a:r>
            <a:endParaRPr lang="en-US" sz="18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0A0E15"/>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55DCDC">
                  <a:alpha val="14000"/>
                </a:srgbClr>
              </a:gs>
              <a:gs pos="60000">
                <a:srgbClr val="55DCDC">
                  <a:alpha val="0"/>
                </a:srgbClr>
              </a:gs>
            </a:gsLst>
            <a:path path="circle">
              <a:fillToRect l="80000" t="8000" r="20000" b="92000"/>
            </a:path>
          </a:gradFill>
          <a:ln/>
        </p:spPr>
      </p:sp>
      <p:sp>
        <p:nvSpPr>
          <p:cNvPr id="3" name="Shape 1"/>
          <p:cNvSpPr/>
          <p:nvPr/>
        </p:nvSpPr>
        <p:spPr>
          <a:xfrm>
            <a:off x="1066800" y="819150"/>
            <a:ext cx="419100" cy="419100"/>
          </a:xfrm>
          <a:prstGeom prst="roundRect">
            <a:avLst>
              <a:gd name="adj" fmla="val 27273"/>
            </a:avLst>
          </a:prstGeom>
          <a:ln w="19050">
            <a:solidFill>
              <a:srgbClr val="56DBDB">
                <a:alpha val="97000"/>
              </a:srgbClr>
            </a:solidFill>
            <a:prstDash val="solid"/>
          </a:ln>
        </p:spPr>
      </p:sp>
      <p:sp>
        <p:nvSpPr>
          <p:cNvPr id="4" name="Text 2"/>
          <p:cNvSpPr/>
          <p:nvPr/>
        </p:nvSpPr>
        <p:spPr>
          <a:xfrm>
            <a:off x="1047750" y="838200"/>
            <a:ext cx="457200" cy="419100"/>
          </a:xfrm>
          <a:prstGeom prst="rect">
            <a:avLst/>
          </a:prstGeom>
          <a:noFill/>
          <a:ln/>
        </p:spPr>
        <p:txBody>
          <a:bodyPr wrap="square" lIns="25400" tIns="25400" rIns="25400" bIns="25400" rtlCol="0" anchor="ctr">
            <a:normAutofit/>
          </a:bodyPr>
          <a:lstStyle/>
          <a:p>
            <a:pPr algn="ctr" indent="0" marL="0">
              <a:buNone/>
            </a:pPr>
            <a:r>
              <a:rPr lang="en-US" sz="1950" spc="432" kern="0" dirty="0">
                <a:solidFill>
                  <a:srgbClr val="56DBDB">
                    <a:alpha val="97000"/>
                  </a:srgbClr>
                </a:solidFill>
                <a:latin typeface="Courier New" pitchFamily="34" charset="0"/>
                <a:ea typeface="Courier New" pitchFamily="34" charset="-122"/>
                <a:cs typeface="Courier New" pitchFamily="34" charset="-120"/>
              </a:rPr>
              <a:t>?</a:t>
            </a:r>
            <a:endParaRPr lang="en-US" sz="1950" dirty="0"/>
          </a:p>
        </p:txBody>
      </p:sp>
      <p:sp>
        <p:nvSpPr>
          <p:cNvPr id="5" name="Text 3"/>
          <p:cNvSpPr/>
          <p:nvPr/>
        </p:nvSpPr>
        <p:spPr>
          <a:xfrm>
            <a:off x="1638300" y="876300"/>
            <a:ext cx="3560178" cy="342900"/>
          </a:xfrm>
          <a:prstGeom prst="rect">
            <a:avLst/>
          </a:prstGeom>
          <a:noFill/>
          <a:ln/>
        </p:spPr>
        <p:txBody>
          <a:bodyPr wrap="square" lIns="0" tIns="0" rIns="0" bIns="0" rtlCol="0" anchor="t">
            <a:normAutofit/>
          </a:bodyPr>
          <a:lstStyle/>
          <a:p>
            <a:pPr algn="l" indent="0" marL="0">
              <a:buNone/>
            </a:pPr>
            <a:r>
              <a:rPr lang="en-US" sz="1800" spc="432" kern="0" dirty="0">
                <a:solidFill>
                  <a:srgbClr val="56DBDB">
                    <a:alpha val="97000"/>
                  </a:srgbClr>
                </a:solidFill>
                <a:latin typeface="Courier New" pitchFamily="34" charset="0"/>
                <a:ea typeface="Courier New" pitchFamily="34" charset="-122"/>
                <a:cs typeface="Courier New" pitchFamily="34" charset="-120"/>
              </a:rPr>
              <a:t>QUIZ · ATELIER 4.2</a:t>
            </a:r>
            <a:endParaRPr lang="en-US" sz="1800" dirty="0"/>
          </a:p>
        </p:txBody>
      </p:sp>
      <p:sp>
        <p:nvSpPr>
          <p:cNvPr id="6" name="Text 4"/>
          <p:cNvSpPr/>
          <p:nvPr/>
        </p:nvSpPr>
        <p:spPr>
          <a:xfrm>
            <a:off x="1066800" y="1428751"/>
            <a:ext cx="17769840"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Apache Spark</a:t>
            </a:r>
            <a:endParaRPr lang="en-US" sz="4800" dirty="0"/>
          </a:p>
        </p:txBody>
      </p:sp>
      <p:sp>
        <p:nvSpPr>
          <p:cNvPr id="7" name="Text 5"/>
          <p:cNvSpPr/>
          <p:nvPr/>
        </p:nvSpPr>
        <p:spPr>
          <a:xfrm>
            <a:off x="1066800" y="2481760"/>
            <a:ext cx="8654415" cy="369491"/>
          </a:xfrm>
          <a:prstGeom prst="rect">
            <a:avLst/>
          </a:prstGeom>
          <a:noFill/>
          <a:ln/>
        </p:spPr>
        <p:txBody>
          <a:bodyPr wrap="square" lIns="25400" tIns="25400" rIns="25400" bIns="25400" rtlCol="0" anchor="t">
            <a:normAutofit/>
          </a:bodyPr>
          <a:lstStyle/>
          <a:p>
            <a:pPr algn="l" indent="0" marL="0">
              <a:lnSpc>
                <a:spcPct val="106531"/>
              </a:lnSpc>
              <a:buNone/>
            </a:pPr>
            <a:r>
              <a:rPr lang="en-US" sz="2175" b="1" dirty="0">
                <a:solidFill>
                  <a:srgbClr val="EEF3F9"/>
                </a:solidFill>
                <a:latin typeface="Arial" pitchFamily="34" charset="0"/>
                <a:ea typeface="Arial" pitchFamily="34" charset="-122"/>
                <a:cs typeface="Arial" pitchFamily="34" charset="-120"/>
              </a:rPr>
              <a:t>Pourquoi Spark est-il souvent plus rapide que MapReduce ?</a:t>
            </a:r>
            <a:endParaRPr lang="en-US" sz="2175" dirty="0"/>
          </a:p>
        </p:txBody>
      </p:sp>
      <p:sp>
        <p:nvSpPr>
          <p:cNvPr id="8" name="Shape 6"/>
          <p:cNvSpPr/>
          <p:nvPr/>
        </p:nvSpPr>
        <p:spPr>
          <a:xfrm>
            <a:off x="1066800" y="3022701"/>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9" name="Shape 7"/>
          <p:cNvSpPr/>
          <p:nvPr/>
        </p:nvSpPr>
        <p:spPr>
          <a:xfrm>
            <a:off x="1282700" y="3200501"/>
            <a:ext cx="323850" cy="323850"/>
          </a:xfrm>
          <a:prstGeom prst="roundRect">
            <a:avLst>
              <a:gd name="adj" fmla="val 23529"/>
            </a:avLst>
          </a:prstGeom>
          <a:solidFill>
            <a:srgbClr val="FFFFFF">
              <a:alpha val="6000"/>
            </a:srgbClr>
          </a:solidFill>
          <a:ln/>
        </p:spPr>
      </p:sp>
      <p:sp>
        <p:nvSpPr>
          <p:cNvPr id="10" name="Text 8"/>
          <p:cNvSpPr/>
          <p:nvPr/>
        </p:nvSpPr>
        <p:spPr>
          <a:xfrm>
            <a:off x="1244600" y="3200501"/>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solidFill>
                <a:latin typeface="Arial" pitchFamily="34" charset="0"/>
                <a:ea typeface="Arial" pitchFamily="34" charset="-122"/>
                <a:cs typeface="Arial" pitchFamily="34" charset="-120"/>
              </a:rPr>
              <a:t>A</a:t>
            </a:r>
            <a:endParaRPr lang="en-US" sz="1875" dirty="0"/>
          </a:p>
        </p:txBody>
      </p:sp>
      <p:sp>
        <p:nvSpPr>
          <p:cNvPr id="11" name="Text 9"/>
          <p:cNvSpPr/>
          <p:nvPr/>
        </p:nvSpPr>
        <p:spPr>
          <a:xfrm>
            <a:off x="1758950" y="3210026"/>
            <a:ext cx="7346583"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solidFill>
                <a:latin typeface="Arial" pitchFamily="34" charset="0"/>
                <a:ea typeface="Arial" pitchFamily="34" charset="-122"/>
                <a:cs typeface="Arial" pitchFamily="34" charset="-120"/>
              </a:rPr>
              <a:t>Il utilise principalement la mémoire (RAM) pour l'intermédiaire</a:t>
            </a:r>
            <a:endParaRPr lang="en-US" sz="1875" dirty="0"/>
          </a:p>
        </p:txBody>
      </p:sp>
      <p:sp>
        <p:nvSpPr>
          <p:cNvPr id="12" name="Shape 10"/>
          <p:cNvSpPr/>
          <p:nvPr/>
        </p:nvSpPr>
        <p:spPr>
          <a:xfrm>
            <a:off x="1066800" y="3835501"/>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13" name="Shape 11"/>
          <p:cNvSpPr/>
          <p:nvPr/>
        </p:nvSpPr>
        <p:spPr>
          <a:xfrm>
            <a:off x="1282700" y="4013301"/>
            <a:ext cx="323850" cy="323850"/>
          </a:xfrm>
          <a:prstGeom prst="roundRect">
            <a:avLst>
              <a:gd name="adj" fmla="val 23529"/>
            </a:avLst>
          </a:prstGeom>
          <a:solidFill>
            <a:srgbClr val="FFFFFF">
              <a:alpha val="6000"/>
            </a:srgbClr>
          </a:solidFill>
          <a:ln/>
        </p:spPr>
      </p:sp>
      <p:sp>
        <p:nvSpPr>
          <p:cNvPr id="14" name="Text 12"/>
          <p:cNvSpPr/>
          <p:nvPr/>
        </p:nvSpPr>
        <p:spPr>
          <a:xfrm>
            <a:off x="1244600" y="4013301"/>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solidFill>
                <a:latin typeface="Arial" pitchFamily="34" charset="0"/>
                <a:ea typeface="Arial" pitchFamily="34" charset="-122"/>
                <a:cs typeface="Arial" pitchFamily="34" charset="-120"/>
              </a:rPr>
              <a:t>B</a:t>
            </a:r>
            <a:endParaRPr lang="en-US" sz="1875" dirty="0"/>
          </a:p>
        </p:txBody>
      </p:sp>
      <p:sp>
        <p:nvSpPr>
          <p:cNvPr id="15" name="Text 13"/>
          <p:cNvSpPr/>
          <p:nvPr/>
        </p:nvSpPr>
        <p:spPr>
          <a:xfrm>
            <a:off x="1758950" y="4022826"/>
            <a:ext cx="2326332"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solidFill>
                <a:latin typeface="Arial" pitchFamily="34" charset="0"/>
                <a:ea typeface="Arial" pitchFamily="34" charset="-122"/>
                <a:cs typeface="Arial" pitchFamily="34" charset="-120"/>
              </a:rPr>
              <a:t>Il remplace Hadoop</a:t>
            </a:r>
            <a:endParaRPr lang="en-US" sz="1875" dirty="0"/>
          </a:p>
        </p:txBody>
      </p:sp>
      <p:sp>
        <p:nvSpPr>
          <p:cNvPr id="16" name="Shape 14"/>
          <p:cNvSpPr/>
          <p:nvPr/>
        </p:nvSpPr>
        <p:spPr>
          <a:xfrm>
            <a:off x="1066800" y="4648301"/>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17" name="Shape 15"/>
          <p:cNvSpPr/>
          <p:nvPr/>
        </p:nvSpPr>
        <p:spPr>
          <a:xfrm>
            <a:off x="1282700" y="4826101"/>
            <a:ext cx="323850" cy="323850"/>
          </a:xfrm>
          <a:prstGeom prst="roundRect">
            <a:avLst>
              <a:gd name="adj" fmla="val 23529"/>
            </a:avLst>
          </a:prstGeom>
          <a:solidFill>
            <a:srgbClr val="FFFFFF">
              <a:alpha val="6000"/>
            </a:srgbClr>
          </a:solidFill>
          <a:ln/>
        </p:spPr>
      </p:sp>
      <p:sp>
        <p:nvSpPr>
          <p:cNvPr id="18" name="Text 16"/>
          <p:cNvSpPr/>
          <p:nvPr/>
        </p:nvSpPr>
        <p:spPr>
          <a:xfrm>
            <a:off x="1244600" y="4826101"/>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solidFill>
                <a:latin typeface="Arial" pitchFamily="34" charset="0"/>
                <a:ea typeface="Arial" pitchFamily="34" charset="-122"/>
                <a:cs typeface="Arial" pitchFamily="34" charset="-120"/>
              </a:rPr>
              <a:t>C</a:t>
            </a:r>
            <a:endParaRPr lang="en-US" sz="1875" dirty="0"/>
          </a:p>
        </p:txBody>
      </p:sp>
      <p:sp>
        <p:nvSpPr>
          <p:cNvPr id="19" name="Text 17"/>
          <p:cNvSpPr/>
          <p:nvPr/>
        </p:nvSpPr>
        <p:spPr>
          <a:xfrm>
            <a:off x="1758950" y="4835626"/>
            <a:ext cx="3322241"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solidFill>
                <a:latin typeface="Arial" pitchFamily="34" charset="0"/>
                <a:ea typeface="Arial" pitchFamily="34" charset="-122"/>
                <a:cs typeface="Arial" pitchFamily="34" charset="-120"/>
              </a:rPr>
              <a:t>Il utilise uniquement Python</a:t>
            </a:r>
            <a:endParaRPr lang="en-US" sz="1875" dirty="0"/>
          </a:p>
        </p:txBody>
      </p:sp>
      <p:sp>
        <p:nvSpPr>
          <p:cNvPr id="20" name="Shape 18"/>
          <p:cNvSpPr/>
          <p:nvPr/>
        </p:nvSpPr>
        <p:spPr>
          <a:xfrm>
            <a:off x="1066800" y="5461101"/>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21" name="Shape 19"/>
          <p:cNvSpPr/>
          <p:nvPr/>
        </p:nvSpPr>
        <p:spPr>
          <a:xfrm>
            <a:off x="1282700" y="5638901"/>
            <a:ext cx="323850" cy="323850"/>
          </a:xfrm>
          <a:prstGeom prst="roundRect">
            <a:avLst>
              <a:gd name="adj" fmla="val 23529"/>
            </a:avLst>
          </a:prstGeom>
          <a:solidFill>
            <a:srgbClr val="FFFFFF">
              <a:alpha val="6000"/>
            </a:srgbClr>
          </a:solidFill>
          <a:ln/>
        </p:spPr>
      </p:sp>
      <p:sp>
        <p:nvSpPr>
          <p:cNvPr id="22" name="Text 20"/>
          <p:cNvSpPr/>
          <p:nvPr/>
        </p:nvSpPr>
        <p:spPr>
          <a:xfrm>
            <a:off x="1244600" y="5638901"/>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solidFill>
                <a:latin typeface="Arial" pitchFamily="34" charset="0"/>
                <a:ea typeface="Arial" pitchFamily="34" charset="-122"/>
                <a:cs typeface="Arial" pitchFamily="34" charset="-120"/>
              </a:rPr>
              <a:t>D</a:t>
            </a:r>
            <a:endParaRPr lang="en-US" sz="1875" dirty="0"/>
          </a:p>
        </p:txBody>
      </p:sp>
      <p:sp>
        <p:nvSpPr>
          <p:cNvPr id="23" name="Text 21"/>
          <p:cNvSpPr/>
          <p:nvPr/>
        </p:nvSpPr>
        <p:spPr>
          <a:xfrm>
            <a:off x="1758950" y="5648426"/>
            <a:ext cx="2779703"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solidFill>
                <a:latin typeface="Arial" pitchFamily="34" charset="0"/>
                <a:ea typeface="Arial" pitchFamily="34" charset="-122"/>
                <a:cs typeface="Arial" pitchFamily="34" charset="-120"/>
              </a:rPr>
              <a:t>Il ne lit pas les données</a:t>
            </a:r>
            <a:endParaRPr lang="en-US" sz="1875" dirty="0"/>
          </a:p>
        </p:txBody>
      </p:sp>
      <p:sp>
        <p:nvSpPr>
          <p:cNvPr id="24" name="Text 22"/>
          <p:cNvSpPr/>
          <p:nvPr/>
        </p:nvSpPr>
        <p:spPr>
          <a:xfrm>
            <a:off x="9353550" y="2483907"/>
            <a:ext cx="8654415" cy="369491"/>
          </a:xfrm>
          <a:prstGeom prst="rect">
            <a:avLst/>
          </a:prstGeom>
          <a:noFill/>
          <a:ln/>
        </p:spPr>
        <p:txBody>
          <a:bodyPr wrap="square" lIns="25400" tIns="25400" rIns="25400" bIns="25400" rtlCol="0" anchor="t">
            <a:normAutofit/>
          </a:bodyPr>
          <a:lstStyle/>
          <a:p>
            <a:pPr algn="l" indent="0" marL="0">
              <a:lnSpc>
                <a:spcPct val="106531"/>
              </a:lnSpc>
              <a:buNone/>
            </a:pPr>
            <a:r>
              <a:rPr lang="en-US" sz="2175" b="1" dirty="0">
                <a:solidFill>
                  <a:srgbClr val="EEF3F9">
                    <a:alpha val="99000"/>
                  </a:srgbClr>
                </a:solidFill>
                <a:latin typeface="Arial" pitchFamily="34" charset="0"/>
                <a:ea typeface="Arial" pitchFamily="34" charset="-122"/>
                <a:cs typeface="Arial" pitchFamily="34" charset="-120"/>
              </a:rPr>
              <a:t>PySpark est…</a:t>
            </a:r>
            <a:endParaRPr lang="en-US" sz="2175" dirty="0"/>
          </a:p>
        </p:txBody>
      </p:sp>
      <p:sp>
        <p:nvSpPr>
          <p:cNvPr id="25" name="Shape 23"/>
          <p:cNvSpPr/>
          <p:nvPr/>
        </p:nvSpPr>
        <p:spPr>
          <a:xfrm>
            <a:off x="9353550" y="3024848"/>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26" name="Shape 24"/>
          <p:cNvSpPr/>
          <p:nvPr/>
        </p:nvSpPr>
        <p:spPr>
          <a:xfrm>
            <a:off x="9569450" y="3202648"/>
            <a:ext cx="323850" cy="323850"/>
          </a:xfrm>
          <a:prstGeom prst="roundRect">
            <a:avLst>
              <a:gd name="adj" fmla="val 23529"/>
            </a:avLst>
          </a:prstGeom>
          <a:solidFill>
            <a:srgbClr val="FFFFFF">
              <a:alpha val="6000"/>
            </a:srgbClr>
          </a:solidFill>
          <a:ln/>
        </p:spPr>
      </p:sp>
      <p:sp>
        <p:nvSpPr>
          <p:cNvPr id="27" name="Text 25"/>
          <p:cNvSpPr/>
          <p:nvPr/>
        </p:nvSpPr>
        <p:spPr>
          <a:xfrm>
            <a:off x="9531350" y="3202648"/>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alpha val="99000"/>
                  </a:srgbClr>
                </a:solidFill>
                <a:latin typeface="Arial" pitchFamily="34" charset="0"/>
                <a:ea typeface="Arial" pitchFamily="34" charset="-122"/>
                <a:cs typeface="Arial" pitchFamily="34" charset="-120"/>
              </a:rPr>
              <a:t>A</a:t>
            </a:r>
            <a:endParaRPr lang="en-US" sz="1875" dirty="0"/>
          </a:p>
        </p:txBody>
      </p:sp>
      <p:sp>
        <p:nvSpPr>
          <p:cNvPr id="28" name="Text 26"/>
          <p:cNvSpPr/>
          <p:nvPr/>
        </p:nvSpPr>
        <p:spPr>
          <a:xfrm>
            <a:off x="10045701" y="3212173"/>
            <a:ext cx="796826"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alpha val="99000"/>
                  </a:srgbClr>
                </a:solidFill>
                <a:latin typeface="Arial" pitchFamily="34" charset="0"/>
                <a:ea typeface="Arial" pitchFamily="34" charset="-122"/>
                <a:cs typeface="Arial" pitchFamily="34" charset="-120"/>
              </a:rPr>
              <a:t>un IDE</a:t>
            </a:r>
            <a:endParaRPr lang="en-US" sz="1875" dirty="0"/>
          </a:p>
        </p:txBody>
      </p:sp>
      <p:sp>
        <p:nvSpPr>
          <p:cNvPr id="29" name="Shape 27"/>
          <p:cNvSpPr/>
          <p:nvPr/>
        </p:nvSpPr>
        <p:spPr>
          <a:xfrm>
            <a:off x="9353550" y="3837648"/>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30" name="Shape 28"/>
          <p:cNvSpPr/>
          <p:nvPr/>
        </p:nvSpPr>
        <p:spPr>
          <a:xfrm>
            <a:off x="9569450" y="4015448"/>
            <a:ext cx="323850" cy="323850"/>
          </a:xfrm>
          <a:prstGeom prst="roundRect">
            <a:avLst>
              <a:gd name="adj" fmla="val 23529"/>
            </a:avLst>
          </a:prstGeom>
          <a:solidFill>
            <a:srgbClr val="FFFFFF">
              <a:alpha val="6000"/>
            </a:srgbClr>
          </a:solidFill>
          <a:ln/>
        </p:spPr>
      </p:sp>
      <p:sp>
        <p:nvSpPr>
          <p:cNvPr id="31" name="Text 29"/>
          <p:cNvSpPr/>
          <p:nvPr/>
        </p:nvSpPr>
        <p:spPr>
          <a:xfrm>
            <a:off x="9531350" y="4015448"/>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alpha val="99000"/>
                  </a:srgbClr>
                </a:solidFill>
                <a:latin typeface="Arial" pitchFamily="34" charset="0"/>
                <a:ea typeface="Arial" pitchFamily="34" charset="-122"/>
                <a:cs typeface="Arial" pitchFamily="34" charset="-120"/>
              </a:rPr>
              <a:t>B</a:t>
            </a:r>
            <a:endParaRPr lang="en-US" sz="1875" dirty="0"/>
          </a:p>
        </p:txBody>
      </p:sp>
      <p:sp>
        <p:nvSpPr>
          <p:cNvPr id="32" name="Text 30"/>
          <p:cNvSpPr/>
          <p:nvPr/>
        </p:nvSpPr>
        <p:spPr>
          <a:xfrm>
            <a:off x="10045701" y="4024973"/>
            <a:ext cx="6035914"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alpha val="99000"/>
                  </a:srgbClr>
                </a:solidFill>
                <a:latin typeface="Arial" pitchFamily="34" charset="0"/>
                <a:ea typeface="Arial" pitchFamily="34" charset="-122"/>
                <a:cs typeface="Arial" pitchFamily="34" charset="-120"/>
              </a:rPr>
              <a:t>une bibliothèque Python pour utiliser Apache Spark</a:t>
            </a:r>
            <a:endParaRPr lang="en-US" sz="1875" dirty="0"/>
          </a:p>
        </p:txBody>
      </p:sp>
      <p:sp>
        <p:nvSpPr>
          <p:cNvPr id="33" name="Shape 31"/>
          <p:cNvSpPr/>
          <p:nvPr/>
        </p:nvSpPr>
        <p:spPr>
          <a:xfrm>
            <a:off x="9353550" y="4650448"/>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34" name="Shape 32"/>
          <p:cNvSpPr/>
          <p:nvPr/>
        </p:nvSpPr>
        <p:spPr>
          <a:xfrm>
            <a:off x="9569450" y="4828248"/>
            <a:ext cx="323850" cy="323850"/>
          </a:xfrm>
          <a:prstGeom prst="roundRect">
            <a:avLst>
              <a:gd name="adj" fmla="val 23529"/>
            </a:avLst>
          </a:prstGeom>
          <a:solidFill>
            <a:srgbClr val="FFFFFF">
              <a:alpha val="6000"/>
            </a:srgbClr>
          </a:solidFill>
          <a:ln/>
        </p:spPr>
      </p:sp>
      <p:sp>
        <p:nvSpPr>
          <p:cNvPr id="35" name="Text 33"/>
          <p:cNvSpPr/>
          <p:nvPr/>
        </p:nvSpPr>
        <p:spPr>
          <a:xfrm>
            <a:off x="9531350" y="4828248"/>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alpha val="99000"/>
                  </a:srgbClr>
                </a:solidFill>
                <a:latin typeface="Arial" pitchFamily="34" charset="0"/>
                <a:ea typeface="Arial" pitchFamily="34" charset="-122"/>
                <a:cs typeface="Arial" pitchFamily="34" charset="-120"/>
              </a:rPr>
              <a:t>C</a:t>
            </a:r>
            <a:endParaRPr lang="en-US" sz="1875" dirty="0"/>
          </a:p>
        </p:txBody>
      </p:sp>
      <p:sp>
        <p:nvSpPr>
          <p:cNvPr id="36" name="Text 34"/>
          <p:cNvSpPr/>
          <p:nvPr/>
        </p:nvSpPr>
        <p:spPr>
          <a:xfrm>
            <a:off x="10045701" y="4837773"/>
            <a:ext cx="2497138"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alpha val="99000"/>
                  </a:srgbClr>
                </a:solidFill>
                <a:latin typeface="Arial" pitchFamily="34" charset="0"/>
                <a:ea typeface="Arial" pitchFamily="34" charset="-122"/>
                <a:cs typeface="Arial" pitchFamily="34" charset="-120"/>
              </a:rPr>
              <a:t>une base de données</a:t>
            </a:r>
            <a:endParaRPr lang="en-US" sz="1875" dirty="0"/>
          </a:p>
        </p:txBody>
      </p:sp>
      <p:sp>
        <p:nvSpPr>
          <p:cNvPr id="37" name="Shape 35"/>
          <p:cNvSpPr/>
          <p:nvPr/>
        </p:nvSpPr>
        <p:spPr>
          <a:xfrm>
            <a:off x="9353550" y="5463248"/>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38" name="Shape 36"/>
          <p:cNvSpPr/>
          <p:nvPr/>
        </p:nvSpPr>
        <p:spPr>
          <a:xfrm>
            <a:off x="9569450" y="5641048"/>
            <a:ext cx="323850" cy="323850"/>
          </a:xfrm>
          <a:prstGeom prst="roundRect">
            <a:avLst>
              <a:gd name="adj" fmla="val 23529"/>
            </a:avLst>
          </a:prstGeom>
          <a:solidFill>
            <a:srgbClr val="FFFFFF">
              <a:alpha val="6000"/>
            </a:srgbClr>
          </a:solidFill>
          <a:ln/>
        </p:spPr>
      </p:sp>
      <p:sp>
        <p:nvSpPr>
          <p:cNvPr id="39" name="Text 37"/>
          <p:cNvSpPr/>
          <p:nvPr/>
        </p:nvSpPr>
        <p:spPr>
          <a:xfrm>
            <a:off x="9531350" y="5641048"/>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alpha val="99000"/>
                  </a:srgbClr>
                </a:solidFill>
                <a:latin typeface="Arial" pitchFamily="34" charset="0"/>
                <a:ea typeface="Arial" pitchFamily="34" charset="-122"/>
                <a:cs typeface="Arial" pitchFamily="34" charset="-120"/>
              </a:rPr>
              <a:t>D</a:t>
            </a:r>
            <a:endParaRPr lang="en-US" sz="1875" dirty="0"/>
          </a:p>
        </p:txBody>
      </p:sp>
      <p:sp>
        <p:nvSpPr>
          <p:cNvPr id="40" name="Text 38"/>
          <p:cNvSpPr/>
          <p:nvPr/>
        </p:nvSpPr>
        <p:spPr>
          <a:xfrm>
            <a:off x="10045701" y="5650573"/>
            <a:ext cx="2446824"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alpha val="99000"/>
                  </a:srgbClr>
                </a:solidFill>
                <a:latin typeface="Arial" pitchFamily="34" charset="0"/>
                <a:ea typeface="Arial" pitchFamily="34" charset="-122"/>
                <a:cs typeface="Arial" pitchFamily="34" charset="-120"/>
              </a:rPr>
              <a:t>un conteneur Docker</a:t>
            </a:r>
            <a:endParaRPr lang="en-US" sz="1875"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0A0E15"/>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55DCDC">
                  <a:alpha val="14000"/>
                </a:srgbClr>
              </a:gs>
              <a:gs pos="60000">
                <a:srgbClr val="55DCDC">
                  <a:alpha val="0"/>
                </a:srgbClr>
              </a:gs>
            </a:gsLst>
            <a:path path="circle">
              <a:fillToRect l="80000" t="8000" r="20000" b="92000"/>
            </a:path>
          </a:gradFill>
          <a:ln/>
        </p:spPr>
      </p:sp>
      <p:sp>
        <p:nvSpPr>
          <p:cNvPr id="3" name="Shape 1"/>
          <p:cNvSpPr/>
          <p:nvPr/>
        </p:nvSpPr>
        <p:spPr>
          <a:xfrm>
            <a:off x="1066800" y="819150"/>
            <a:ext cx="419100" cy="419100"/>
          </a:xfrm>
          <a:prstGeom prst="roundRect">
            <a:avLst>
              <a:gd name="adj" fmla="val 27273"/>
            </a:avLst>
          </a:prstGeom>
          <a:ln w="19050">
            <a:solidFill>
              <a:srgbClr val="56DBDB">
                <a:alpha val="96000"/>
              </a:srgbClr>
            </a:solidFill>
            <a:prstDash val="solid"/>
          </a:ln>
        </p:spPr>
      </p:sp>
      <p:sp>
        <p:nvSpPr>
          <p:cNvPr id="4" name="Text 2"/>
          <p:cNvSpPr/>
          <p:nvPr/>
        </p:nvSpPr>
        <p:spPr>
          <a:xfrm>
            <a:off x="1047750" y="838200"/>
            <a:ext cx="457200" cy="419100"/>
          </a:xfrm>
          <a:prstGeom prst="rect">
            <a:avLst/>
          </a:prstGeom>
          <a:noFill/>
          <a:ln/>
        </p:spPr>
        <p:txBody>
          <a:bodyPr wrap="square" lIns="25400" tIns="25400" rIns="25400" bIns="25400" rtlCol="0" anchor="ctr">
            <a:normAutofit/>
          </a:bodyPr>
          <a:lstStyle/>
          <a:p>
            <a:pPr algn="ctr" indent="0" marL="0">
              <a:buNone/>
            </a:pPr>
            <a:r>
              <a:rPr lang="en-US" sz="1950" spc="432" kern="0" dirty="0">
                <a:solidFill>
                  <a:srgbClr val="56DBDB">
                    <a:alpha val="96000"/>
                  </a:srgbClr>
                </a:solidFill>
                <a:latin typeface="Courier New" pitchFamily="34" charset="0"/>
                <a:ea typeface="Courier New" pitchFamily="34" charset="-122"/>
                <a:cs typeface="Courier New" pitchFamily="34" charset="-120"/>
              </a:rPr>
              <a:t>?</a:t>
            </a:r>
            <a:endParaRPr lang="en-US" sz="1950" dirty="0"/>
          </a:p>
        </p:txBody>
      </p:sp>
      <p:sp>
        <p:nvSpPr>
          <p:cNvPr id="5" name="Text 3"/>
          <p:cNvSpPr/>
          <p:nvPr/>
        </p:nvSpPr>
        <p:spPr>
          <a:xfrm>
            <a:off x="1638300" y="876300"/>
            <a:ext cx="4746870" cy="342900"/>
          </a:xfrm>
          <a:prstGeom prst="rect">
            <a:avLst/>
          </a:prstGeom>
          <a:noFill/>
          <a:ln/>
        </p:spPr>
        <p:txBody>
          <a:bodyPr wrap="square" lIns="0" tIns="0" rIns="0" bIns="0" rtlCol="0" anchor="t">
            <a:normAutofit/>
          </a:bodyPr>
          <a:lstStyle/>
          <a:p>
            <a:pPr algn="l" indent="0" marL="0">
              <a:buNone/>
            </a:pPr>
            <a:r>
              <a:rPr lang="en-US" sz="1800" spc="432" kern="0" dirty="0">
                <a:solidFill>
                  <a:srgbClr val="56DBDB">
                    <a:alpha val="96000"/>
                  </a:srgbClr>
                </a:solidFill>
                <a:latin typeface="Courier New" pitchFamily="34" charset="0"/>
                <a:ea typeface="Courier New" pitchFamily="34" charset="-122"/>
                <a:cs typeface="Courier New" pitchFamily="34" charset="-120"/>
              </a:rPr>
              <a:t>CORRECTION · ATELIER 4.2</a:t>
            </a:r>
            <a:endParaRPr lang="en-US" sz="1800" dirty="0"/>
          </a:p>
        </p:txBody>
      </p:sp>
      <p:sp>
        <p:nvSpPr>
          <p:cNvPr id="6" name="Text 4"/>
          <p:cNvSpPr/>
          <p:nvPr/>
        </p:nvSpPr>
        <p:spPr>
          <a:xfrm>
            <a:off x="1066800" y="1428798"/>
            <a:ext cx="17769840"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Apache Spark</a:t>
            </a:r>
            <a:endParaRPr lang="en-US" sz="4800" dirty="0"/>
          </a:p>
        </p:txBody>
      </p:sp>
      <p:sp>
        <p:nvSpPr>
          <p:cNvPr id="7" name="Text 5"/>
          <p:cNvSpPr/>
          <p:nvPr/>
        </p:nvSpPr>
        <p:spPr>
          <a:xfrm>
            <a:off x="1066800" y="2481807"/>
            <a:ext cx="8654415" cy="369490"/>
          </a:xfrm>
          <a:prstGeom prst="rect">
            <a:avLst/>
          </a:prstGeom>
          <a:noFill/>
          <a:ln/>
        </p:spPr>
        <p:txBody>
          <a:bodyPr wrap="square" lIns="25400" tIns="25400" rIns="25400" bIns="25400" rtlCol="0" anchor="t">
            <a:normAutofit/>
          </a:bodyPr>
          <a:lstStyle/>
          <a:p>
            <a:pPr algn="l" indent="0" marL="0">
              <a:lnSpc>
                <a:spcPct val="106531"/>
              </a:lnSpc>
              <a:buNone/>
            </a:pPr>
            <a:r>
              <a:rPr lang="en-US" sz="2175" b="1" dirty="0">
                <a:solidFill>
                  <a:srgbClr val="EEF3F9"/>
                </a:solidFill>
                <a:latin typeface="Arial" pitchFamily="34" charset="0"/>
                <a:ea typeface="Arial" pitchFamily="34" charset="-122"/>
                <a:cs typeface="Arial" pitchFamily="34" charset="-120"/>
              </a:rPr>
              <a:t>Pourquoi Spark est-il souvent plus rapide que MapReduce ?</a:t>
            </a:r>
            <a:endParaRPr lang="en-US" sz="2175" dirty="0"/>
          </a:p>
        </p:txBody>
      </p:sp>
      <p:sp>
        <p:nvSpPr>
          <p:cNvPr id="8" name="Shape 6"/>
          <p:cNvSpPr/>
          <p:nvPr/>
        </p:nvSpPr>
        <p:spPr>
          <a:xfrm>
            <a:off x="1066800" y="3022747"/>
            <a:ext cx="7867650" cy="965200"/>
          </a:xfrm>
          <a:prstGeom prst="roundRect">
            <a:avLst>
              <a:gd name="adj" fmla="val 11842"/>
            </a:avLst>
          </a:prstGeom>
          <a:gradFill rotWithShape="1">
            <a:gsLst>
              <a:gs pos="0">
                <a:srgbClr val="55DCDC">
                  <a:alpha val="20000"/>
                </a:srgbClr>
              </a:gs>
              <a:gs pos="100000">
                <a:srgbClr val="FFFFFF">
                  <a:alpha val="3000"/>
                </a:srgbClr>
              </a:gs>
            </a:gsLst>
            <a:lin ang="4200000" scaled="0"/>
          </a:gradFill>
          <a:ln w="6350">
            <a:solidFill>
              <a:srgbClr val="73E0E0">
                <a:alpha val="48000"/>
              </a:srgbClr>
            </a:solidFill>
            <a:prstDash val="solid"/>
          </a:ln>
        </p:spPr>
      </p:sp>
      <p:sp>
        <p:nvSpPr>
          <p:cNvPr id="9" name="Shape 7"/>
          <p:cNvSpPr/>
          <p:nvPr/>
        </p:nvSpPr>
        <p:spPr>
          <a:xfrm>
            <a:off x="1282700" y="3343422"/>
            <a:ext cx="321171" cy="323850"/>
          </a:xfrm>
          <a:prstGeom prst="roundRect">
            <a:avLst>
              <a:gd name="adj" fmla="val 23726"/>
            </a:avLst>
          </a:prstGeom>
          <a:solidFill>
            <a:srgbClr val="56DBDB"/>
          </a:solidFill>
          <a:ln/>
        </p:spPr>
      </p:sp>
      <p:sp>
        <p:nvSpPr>
          <p:cNvPr id="10" name="Text 8"/>
          <p:cNvSpPr/>
          <p:nvPr/>
        </p:nvSpPr>
        <p:spPr>
          <a:xfrm>
            <a:off x="1244600" y="3343422"/>
            <a:ext cx="397371"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04070C"/>
                </a:solidFill>
                <a:latin typeface="Arial" pitchFamily="34" charset="0"/>
                <a:ea typeface="Arial" pitchFamily="34" charset="-122"/>
                <a:cs typeface="Arial" pitchFamily="34" charset="-120"/>
              </a:rPr>
              <a:t>A</a:t>
            </a:r>
            <a:endParaRPr lang="en-US" sz="1875" dirty="0"/>
          </a:p>
        </p:txBody>
      </p:sp>
      <p:sp>
        <p:nvSpPr>
          <p:cNvPr id="11" name="Text 9"/>
          <p:cNvSpPr/>
          <p:nvPr/>
        </p:nvSpPr>
        <p:spPr>
          <a:xfrm>
            <a:off x="1756271" y="3200547"/>
            <a:ext cx="6823070" cy="647700"/>
          </a:xfrm>
          <a:prstGeom prst="rect">
            <a:avLst/>
          </a:prstGeom>
          <a:noFill/>
          <a:ln/>
        </p:spPr>
        <p:txBody>
          <a:bodyPr wrap="square" lIns="25400" tIns="25400" rIns="25400" bIns="25400" rtlCol="0" anchor="t">
            <a:normAutofit/>
          </a:bodyPr>
          <a:lstStyle/>
          <a:p>
            <a:pPr algn="l" indent="0" marL="0">
              <a:buNone/>
            </a:pPr>
            <a:r>
              <a:rPr lang="en-US" sz="1875" dirty="0">
                <a:solidFill>
                  <a:srgbClr val="EEF3F9"/>
                </a:solidFill>
                <a:latin typeface="Arial" pitchFamily="34" charset="0"/>
                <a:ea typeface="Arial" pitchFamily="34" charset="-122"/>
                <a:cs typeface="Arial" pitchFamily="34" charset="-120"/>
              </a:rPr>
              <a:t>Il utilise principalement la mémoire (RAM) pour l'intermédiaire</a:t>
            </a:r>
            <a:endParaRPr lang="en-US" sz="1875" dirty="0"/>
          </a:p>
        </p:txBody>
      </p:sp>
      <p:sp>
        <p:nvSpPr>
          <p:cNvPr id="12" name="Text 10"/>
          <p:cNvSpPr/>
          <p:nvPr/>
        </p:nvSpPr>
        <p:spPr>
          <a:xfrm>
            <a:off x="8533011" y="3337072"/>
            <a:ext cx="261739" cy="374650"/>
          </a:xfrm>
          <a:prstGeom prst="rect">
            <a:avLst/>
          </a:prstGeom>
          <a:noFill/>
          <a:ln/>
        </p:spPr>
        <p:txBody>
          <a:bodyPr wrap="square" lIns="25400" tIns="25400" rIns="25400" bIns="25400" rtlCol="0" anchor="t">
            <a:normAutofit/>
          </a:bodyPr>
          <a:lstStyle/>
          <a:p>
            <a:pPr algn="l" indent="0" marL="0">
              <a:buNone/>
            </a:pPr>
            <a:r>
              <a:rPr lang="en-US" sz="1950" dirty="0">
                <a:solidFill>
                  <a:srgbClr val="56DBDB"/>
                </a:solidFill>
                <a:latin typeface="Arial" pitchFamily="34" charset="0"/>
                <a:ea typeface="Arial" pitchFamily="34" charset="-122"/>
                <a:cs typeface="Arial" pitchFamily="34" charset="-120"/>
              </a:rPr>
              <a:t>✓</a:t>
            </a:r>
            <a:endParaRPr lang="en-US" sz="1950" dirty="0"/>
          </a:p>
        </p:txBody>
      </p:sp>
      <p:sp>
        <p:nvSpPr>
          <p:cNvPr id="13" name="Shape 11"/>
          <p:cNvSpPr/>
          <p:nvPr/>
        </p:nvSpPr>
        <p:spPr>
          <a:xfrm>
            <a:off x="1066800" y="4121297"/>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14" name="Shape 12"/>
          <p:cNvSpPr/>
          <p:nvPr/>
        </p:nvSpPr>
        <p:spPr>
          <a:xfrm>
            <a:off x="1282700" y="4299097"/>
            <a:ext cx="323850" cy="323850"/>
          </a:xfrm>
          <a:prstGeom prst="roundRect">
            <a:avLst>
              <a:gd name="adj" fmla="val 23529"/>
            </a:avLst>
          </a:prstGeom>
          <a:solidFill>
            <a:srgbClr val="FFFFFF">
              <a:alpha val="6000"/>
            </a:srgbClr>
          </a:solidFill>
          <a:ln/>
        </p:spPr>
      </p:sp>
      <p:sp>
        <p:nvSpPr>
          <p:cNvPr id="15" name="Text 13"/>
          <p:cNvSpPr/>
          <p:nvPr/>
        </p:nvSpPr>
        <p:spPr>
          <a:xfrm>
            <a:off x="1244600" y="4299097"/>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solidFill>
                <a:latin typeface="Arial" pitchFamily="34" charset="0"/>
                <a:ea typeface="Arial" pitchFamily="34" charset="-122"/>
                <a:cs typeface="Arial" pitchFamily="34" charset="-120"/>
              </a:rPr>
              <a:t>B</a:t>
            </a:r>
            <a:endParaRPr lang="en-US" sz="1875" dirty="0"/>
          </a:p>
        </p:txBody>
      </p:sp>
      <p:sp>
        <p:nvSpPr>
          <p:cNvPr id="16" name="Text 14"/>
          <p:cNvSpPr/>
          <p:nvPr/>
        </p:nvSpPr>
        <p:spPr>
          <a:xfrm>
            <a:off x="1758950" y="4308622"/>
            <a:ext cx="2326332"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solidFill>
                <a:latin typeface="Arial" pitchFamily="34" charset="0"/>
                <a:ea typeface="Arial" pitchFamily="34" charset="-122"/>
                <a:cs typeface="Arial" pitchFamily="34" charset="-120"/>
              </a:rPr>
              <a:t>Il remplace Hadoop</a:t>
            </a:r>
            <a:endParaRPr lang="en-US" sz="1875" dirty="0"/>
          </a:p>
        </p:txBody>
      </p:sp>
      <p:sp>
        <p:nvSpPr>
          <p:cNvPr id="17" name="Shape 15"/>
          <p:cNvSpPr/>
          <p:nvPr/>
        </p:nvSpPr>
        <p:spPr>
          <a:xfrm>
            <a:off x="1066800" y="4934098"/>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18" name="Shape 16"/>
          <p:cNvSpPr/>
          <p:nvPr/>
        </p:nvSpPr>
        <p:spPr>
          <a:xfrm>
            <a:off x="1282700" y="5111897"/>
            <a:ext cx="323850" cy="323850"/>
          </a:xfrm>
          <a:prstGeom prst="roundRect">
            <a:avLst>
              <a:gd name="adj" fmla="val 23529"/>
            </a:avLst>
          </a:prstGeom>
          <a:solidFill>
            <a:srgbClr val="FFFFFF">
              <a:alpha val="6000"/>
            </a:srgbClr>
          </a:solidFill>
          <a:ln/>
        </p:spPr>
      </p:sp>
      <p:sp>
        <p:nvSpPr>
          <p:cNvPr id="19" name="Text 17"/>
          <p:cNvSpPr/>
          <p:nvPr/>
        </p:nvSpPr>
        <p:spPr>
          <a:xfrm>
            <a:off x="1244600" y="5111897"/>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solidFill>
                <a:latin typeface="Arial" pitchFamily="34" charset="0"/>
                <a:ea typeface="Arial" pitchFamily="34" charset="-122"/>
                <a:cs typeface="Arial" pitchFamily="34" charset="-120"/>
              </a:rPr>
              <a:t>C</a:t>
            </a:r>
            <a:endParaRPr lang="en-US" sz="1875" dirty="0"/>
          </a:p>
        </p:txBody>
      </p:sp>
      <p:sp>
        <p:nvSpPr>
          <p:cNvPr id="20" name="Text 18"/>
          <p:cNvSpPr/>
          <p:nvPr/>
        </p:nvSpPr>
        <p:spPr>
          <a:xfrm>
            <a:off x="1758950" y="5121422"/>
            <a:ext cx="3322241"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solidFill>
                <a:latin typeface="Arial" pitchFamily="34" charset="0"/>
                <a:ea typeface="Arial" pitchFamily="34" charset="-122"/>
                <a:cs typeface="Arial" pitchFamily="34" charset="-120"/>
              </a:rPr>
              <a:t>Il utilise uniquement Python</a:t>
            </a:r>
            <a:endParaRPr lang="en-US" sz="1875" dirty="0"/>
          </a:p>
        </p:txBody>
      </p:sp>
      <p:sp>
        <p:nvSpPr>
          <p:cNvPr id="21" name="Shape 19"/>
          <p:cNvSpPr/>
          <p:nvPr/>
        </p:nvSpPr>
        <p:spPr>
          <a:xfrm>
            <a:off x="1066800" y="5746897"/>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22" name="Shape 20"/>
          <p:cNvSpPr/>
          <p:nvPr/>
        </p:nvSpPr>
        <p:spPr>
          <a:xfrm>
            <a:off x="1282700" y="5924698"/>
            <a:ext cx="323850" cy="323850"/>
          </a:xfrm>
          <a:prstGeom prst="roundRect">
            <a:avLst>
              <a:gd name="adj" fmla="val 23529"/>
            </a:avLst>
          </a:prstGeom>
          <a:solidFill>
            <a:srgbClr val="FFFFFF">
              <a:alpha val="6000"/>
            </a:srgbClr>
          </a:solidFill>
          <a:ln/>
        </p:spPr>
      </p:sp>
      <p:sp>
        <p:nvSpPr>
          <p:cNvPr id="23" name="Text 21"/>
          <p:cNvSpPr/>
          <p:nvPr/>
        </p:nvSpPr>
        <p:spPr>
          <a:xfrm>
            <a:off x="1244600" y="5924698"/>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solidFill>
                <a:latin typeface="Arial" pitchFamily="34" charset="0"/>
                <a:ea typeface="Arial" pitchFamily="34" charset="-122"/>
                <a:cs typeface="Arial" pitchFamily="34" charset="-120"/>
              </a:rPr>
              <a:t>D</a:t>
            </a:r>
            <a:endParaRPr lang="en-US" sz="1875" dirty="0"/>
          </a:p>
        </p:txBody>
      </p:sp>
      <p:sp>
        <p:nvSpPr>
          <p:cNvPr id="24" name="Text 22"/>
          <p:cNvSpPr/>
          <p:nvPr/>
        </p:nvSpPr>
        <p:spPr>
          <a:xfrm>
            <a:off x="1758950" y="5934223"/>
            <a:ext cx="2779703"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solidFill>
                <a:latin typeface="Arial" pitchFamily="34" charset="0"/>
                <a:ea typeface="Arial" pitchFamily="34" charset="-122"/>
                <a:cs typeface="Arial" pitchFamily="34" charset="-120"/>
              </a:rPr>
              <a:t>Il ne lit pas les données</a:t>
            </a:r>
            <a:endParaRPr lang="en-US" sz="1875" dirty="0"/>
          </a:p>
        </p:txBody>
      </p:sp>
      <p:sp>
        <p:nvSpPr>
          <p:cNvPr id="25" name="Text 23"/>
          <p:cNvSpPr/>
          <p:nvPr/>
        </p:nvSpPr>
        <p:spPr>
          <a:xfrm>
            <a:off x="9353550" y="2484605"/>
            <a:ext cx="8654415" cy="369491"/>
          </a:xfrm>
          <a:prstGeom prst="rect">
            <a:avLst/>
          </a:prstGeom>
          <a:noFill/>
          <a:ln/>
        </p:spPr>
        <p:txBody>
          <a:bodyPr wrap="square" lIns="25400" tIns="25400" rIns="25400" bIns="25400" rtlCol="0" anchor="t">
            <a:normAutofit/>
          </a:bodyPr>
          <a:lstStyle/>
          <a:p>
            <a:pPr algn="l" indent="0" marL="0">
              <a:lnSpc>
                <a:spcPct val="106531"/>
              </a:lnSpc>
              <a:buNone/>
            </a:pPr>
            <a:r>
              <a:rPr lang="en-US" sz="2175" b="1" dirty="0">
                <a:solidFill>
                  <a:srgbClr val="EEF3F9">
                    <a:alpha val="99000"/>
                  </a:srgbClr>
                </a:solidFill>
                <a:latin typeface="Arial" pitchFamily="34" charset="0"/>
                <a:ea typeface="Arial" pitchFamily="34" charset="-122"/>
                <a:cs typeface="Arial" pitchFamily="34" charset="-120"/>
              </a:rPr>
              <a:t>PySpark est…</a:t>
            </a:r>
            <a:endParaRPr lang="en-US" sz="2175" dirty="0"/>
          </a:p>
        </p:txBody>
      </p:sp>
      <p:sp>
        <p:nvSpPr>
          <p:cNvPr id="26" name="Shape 24"/>
          <p:cNvSpPr/>
          <p:nvPr/>
        </p:nvSpPr>
        <p:spPr>
          <a:xfrm>
            <a:off x="9353550" y="3025546"/>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27" name="Shape 25"/>
          <p:cNvSpPr/>
          <p:nvPr/>
        </p:nvSpPr>
        <p:spPr>
          <a:xfrm>
            <a:off x="9569450" y="3203346"/>
            <a:ext cx="323850" cy="323850"/>
          </a:xfrm>
          <a:prstGeom prst="roundRect">
            <a:avLst>
              <a:gd name="adj" fmla="val 23529"/>
            </a:avLst>
          </a:prstGeom>
          <a:solidFill>
            <a:srgbClr val="FFFFFF">
              <a:alpha val="6000"/>
            </a:srgbClr>
          </a:solidFill>
          <a:ln/>
        </p:spPr>
      </p:sp>
      <p:sp>
        <p:nvSpPr>
          <p:cNvPr id="28" name="Text 26"/>
          <p:cNvSpPr/>
          <p:nvPr/>
        </p:nvSpPr>
        <p:spPr>
          <a:xfrm>
            <a:off x="9531350" y="3203346"/>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alpha val="99000"/>
                  </a:srgbClr>
                </a:solidFill>
                <a:latin typeface="Arial" pitchFamily="34" charset="0"/>
                <a:ea typeface="Arial" pitchFamily="34" charset="-122"/>
                <a:cs typeface="Arial" pitchFamily="34" charset="-120"/>
              </a:rPr>
              <a:t>A</a:t>
            </a:r>
            <a:endParaRPr lang="en-US" sz="1875" dirty="0"/>
          </a:p>
        </p:txBody>
      </p:sp>
      <p:sp>
        <p:nvSpPr>
          <p:cNvPr id="29" name="Text 27"/>
          <p:cNvSpPr/>
          <p:nvPr/>
        </p:nvSpPr>
        <p:spPr>
          <a:xfrm>
            <a:off x="10045701" y="3212871"/>
            <a:ext cx="796826"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alpha val="99000"/>
                  </a:srgbClr>
                </a:solidFill>
                <a:latin typeface="Arial" pitchFamily="34" charset="0"/>
                <a:ea typeface="Arial" pitchFamily="34" charset="-122"/>
                <a:cs typeface="Arial" pitchFamily="34" charset="-120"/>
              </a:rPr>
              <a:t>un IDE</a:t>
            </a:r>
            <a:endParaRPr lang="en-US" sz="1875" dirty="0"/>
          </a:p>
        </p:txBody>
      </p:sp>
      <p:sp>
        <p:nvSpPr>
          <p:cNvPr id="30" name="Shape 28"/>
          <p:cNvSpPr/>
          <p:nvPr/>
        </p:nvSpPr>
        <p:spPr>
          <a:xfrm>
            <a:off x="9353550" y="3838346"/>
            <a:ext cx="7867650" cy="692150"/>
          </a:xfrm>
          <a:prstGeom prst="roundRect">
            <a:avLst>
              <a:gd name="adj" fmla="val 16514"/>
            </a:avLst>
          </a:prstGeom>
          <a:gradFill rotWithShape="1">
            <a:gsLst>
              <a:gs pos="0">
                <a:srgbClr val="55DCDC">
                  <a:alpha val="20000"/>
                </a:srgbClr>
              </a:gs>
              <a:gs pos="100000">
                <a:srgbClr val="FFFFFF">
                  <a:alpha val="3000"/>
                </a:srgbClr>
              </a:gs>
            </a:gsLst>
            <a:lin ang="4200000" scaled="0"/>
          </a:gradFill>
          <a:ln w="6350">
            <a:solidFill>
              <a:srgbClr val="73E0E0">
                <a:alpha val="47000"/>
              </a:srgbClr>
            </a:solidFill>
            <a:prstDash val="solid"/>
          </a:ln>
        </p:spPr>
      </p:sp>
      <p:sp>
        <p:nvSpPr>
          <p:cNvPr id="31" name="Shape 29"/>
          <p:cNvSpPr/>
          <p:nvPr/>
        </p:nvSpPr>
        <p:spPr>
          <a:xfrm>
            <a:off x="9569450" y="4022496"/>
            <a:ext cx="323850" cy="323850"/>
          </a:xfrm>
          <a:prstGeom prst="roundRect">
            <a:avLst>
              <a:gd name="adj" fmla="val 23529"/>
            </a:avLst>
          </a:prstGeom>
          <a:solidFill>
            <a:srgbClr val="56DBDB">
              <a:alpha val="99000"/>
            </a:srgbClr>
          </a:solidFill>
          <a:ln/>
        </p:spPr>
      </p:sp>
      <p:sp>
        <p:nvSpPr>
          <p:cNvPr id="32" name="Text 30"/>
          <p:cNvSpPr/>
          <p:nvPr/>
        </p:nvSpPr>
        <p:spPr>
          <a:xfrm>
            <a:off x="9531350" y="4022496"/>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04070C">
                    <a:alpha val="99000"/>
                  </a:srgbClr>
                </a:solidFill>
                <a:latin typeface="Arial" pitchFamily="34" charset="0"/>
                <a:ea typeface="Arial" pitchFamily="34" charset="-122"/>
                <a:cs typeface="Arial" pitchFamily="34" charset="-120"/>
              </a:rPr>
              <a:t>B</a:t>
            </a:r>
            <a:endParaRPr lang="en-US" sz="1875" dirty="0"/>
          </a:p>
        </p:txBody>
      </p:sp>
      <p:sp>
        <p:nvSpPr>
          <p:cNvPr id="33" name="Text 31"/>
          <p:cNvSpPr/>
          <p:nvPr/>
        </p:nvSpPr>
        <p:spPr>
          <a:xfrm>
            <a:off x="10045701" y="4032021"/>
            <a:ext cx="6035914" cy="342900"/>
          </a:xfrm>
          <a:prstGeom prst="rect">
            <a:avLst/>
          </a:prstGeom>
          <a:noFill/>
          <a:ln/>
        </p:spPr>
        <p:txBody>
          <a:bodyPr wrap="square" lIns="25400" tIns="25400" rIns="25400" bIns="25400" rtlCol="0" anchor="t">
            <a:normAutofit/>
          </a:bodyPr>
          <a:lstStyle/>
          <a:p>
            <a:pPr algn="l" indent="0" marL="0">
              <a:buNone/>
            </a:pPr>
            <a:r>
              <a:rPr lang="en-US" sz="1875" dirty="0">
                <a:solidFill>
                  <a:srgbClr val="EEF3F9">
                    <a:alpha val="99000"/>
                  </a:srgbClr>
                </a:solidFill>
                <a:latin typeface="Arial" pitchFamily="34" charset="0"/>
                <a:ea typeface="Arial" pitchFamily="34" charset="-122"/>
                <a:cs typeface="Arial" pitchFamily="34" charset="-120"/>
              </a:rPr>
              <a:t>une bibliothèque Python pour utiliser Apache Spark</a:t>
            </a:r>
            <a:endParaRPr lang="en-US" sz="1875" dirty="0"/>
          </a:p>
        </p:txBody>
      </p:sp>
      <p:sp>
        <p:nvSpPr>
          <p:cNvPr id="34" name="Text 32"/>
          <p:cNvSpPr/>
          <p:nvPr/>
        </p:nvSpPr>
        <p:spPr>
          <a:xfrm>
            <a:off x="16819762" y="4016146"/>
            <a:ext cx="261739" cy="374650"/>
          </a:xfrm>
          <a:prstGeom prst="rect">
            <a:avLst/>
          </a:prstGeom>
          <a:noFill/>
          <a:ln/>
        </p:spPr>
        <p:txBody>
          <a:bodyPr wrap="square" lIns="25400" tIns="25400" rIns="25400" bIns="25400" rtlCol="0" anchor="t">
            <a:normAutofit/>
          </a:bodyPr>
          <a:lstStyle/>
          <a:p>
            <a:pPr algn="l" indent="0" marL="0">
              <a:buNone/>
            </a:pPr>
            <a:r>
              <a:rPr lang="en-US" sz="1950" dirty="0">
                <a:solidFill>
                  <a:srgbClr val="56DBDB">
                    <a:alpha val="99000"/>
                  </a:srgbClr>
                </a:solidFill>
                <a:latin typeface="Arial" pitchFamily="34" charset="0"/>
                <a:ea typeface="Arial" pitchFamily="34" charset="-122"/>
                <a:cs typeface="Arial" pitchFamily="34" charset="-120"/>
              </a:rPr>
              <a:t>✓</a:t>
            </a:r>
            <a:endParaRPr lang="en-US" sz="1950" dirty="0"/>
          </a:p>
        </p:txBody>
      </p:sp>
      <p:sp>
        <p:nvSpPr>
          <p:cNvPr id="35" name="Shape 33"/>
          <p:cNvSpPr/>
          <p:nvPr/>
        </p:nvSpPr>
        <p:spPr>
          <a:xfrm>
            <a:off x="9353550" y="4663846"/>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36" name="Shape 34"/>
          <p:cNvSpPr/>
          <p:nvPr/>
        </p:nvSpPr>
        <p:spPr>
          <a:xfrm>
            <a:off x="9569450" y="4841646"/>
            <a:ext cx="323850" cy="323850"/>
          </a:xfrm>
          <a:prstGeom prst="roundRect">
            <a:avLst>
              <a:gd name="adj" fmla="val 23529"/>
            </a:avLst>
          </a:prstGeom>
          <a:solidFill>
            <a:srgbClr val="FFFFFF">
              <a:alpha val="6000"/>
            </a:srgbClr>
          </a:solidFill>
          <a:ln/>
        </p:spPr>
      </p:sp>
      <p:sp>
        <p:nvSpPr>
          <p:cNvPr id="37" name="Text 35"/>
          <p:cNvSpPr/>
          <p:nvPr/>
        </p:nvSpPr>
        <p:spPr>
          <a:xfrm>
            <a:off x="9531350" y="4841646"/>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alpha val="99000"/>
                  </a:srgbClr>
                </a:solidFill>
                <a:latin typeface="Arial" pitchFamily="34" charset="0"/>
                <a:ea typeface="Arial" pitchFamily="34" charset="-122"/>
                <a:cs typeface="Arial" pitchFamily="34" charset="-120"/>
              </a:rPr>
              <a:t>C</a:t>
            </a:r>
            <a:endParaRPr lang="en-US" sz="1875" dirty="0"/>
          </a:p>
        </p:txBody>
      </p:sp>
      <p:sp>
        <p:nvSpPr>
          <p:cNvPr id="38" name="Text 36"/>
          <p:cNvSpPr/>
          <p:nvPr/>
        </p:nvSpPr>
        <p:spPr>
          <a:xfrm>
            <a:off x="10045701" y="4851171"/>
            <a:ext cx="2497138"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alpha val="99000"/>
                  </a:srgbClr>
                </a:solidFill>
                <a:latin typeface="Arial" pitchFamily="34" charset="0"/>
                <a:ea typeface="Arial" pitchFamily="34" charset="-122"/>
                <a:cs typeface="Arial" pitchFamily="34" charset="-120"/>
              </a:rPr>
              <a:t>une base de données</a:t>
            </a:r>
            <a:endParaRPr lang="en-US" sz="1875" dirty="0"/>
          </a:p>
        </p:txBody>
      </p:sp>
      <p:sp>
        <p:nvSpPr>
          <p:cNvPr id="39" name="Shape 37"/>
          <p:cNvSpPr/>
          <p:nvPr/>
        </p:nvSpPr>
        <p:spPr>
          <a:xfrm>
            <a:off x="9353550" y="5476646"/>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40" name="Shape 38"/>
          <p:cNvSpPr/>
          <p:nvPr/>
        </p:nvSpPr>
        <p:spPr>
          <a:xfrm>
            <a:off x="9569450" y="5654446"/>
            <a:ext cx="323850" cy="323850"/>
          </a:xfrm>
          <a:prstGeom prst="roundRect">
            <a:avLst>
              <a:gd name="adj" fmla="val 23529"/>
            </a:avLst>
          </a:prstGeom>
          <a:solidFill>
            <a:srgbClr val="FFFFFF">
              <a:alpha val="6000"/>
            </a:srgbClr>
          </a:solidFill>
          <a:ln/>
        </p:spPr>
      </p:sp>
      <p:sp>
        <p:nvSpPr>
          <p:cNvPr id="41" name="Text 39"/>
          <p:cNvSpPr/>
          <p:nvPr/>
        </p:nvSpPr>
        <p:spPr>
          <a:xfrm>
            <a:off x="9531350" y="5654446"/>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alpha val="99000"/>
                  </a:srgbClr>
                </a:solidFill>
                <a:latin typeface="Arial" pitchFamily="34" charset="0"/>
                <a:ea typeface="Arial" pitchFamily="34" charset="-122"/>
                <a:cs typeface="Arial" pitchFamily="34" charset="-120"/>
              </a:rPr>
              <a:t>D</a:t>
            </a:r>
            <a:endParaRPr lang="en-US" sz="1875" dirty="0"/>
          </a:p>
        </p:txBody>
      </p:sp>
      <p:sp>
        <p:nvSpPr>
          <p:cNvPr id="42" name="Text 40"/>
          <p:cNvSpPr/>
          <p:nvPr/>
        </p:nvSpPr>
        <p:spPr>
          <a:xfrm>
            <a:off x="10045701" y="5663971"/>
            <a:ext cx="2446824"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alpha val="99000"/>
                  </a:srgbClr>
                </a:solidFill>
                <a:latin typeface="Arial" pitchFamily="34" charset="0"/>
                <a:ea typeface="Arial" pitchFamily="34" charset="-122"/>
                <a:cs typeface="Arial" pitchFamily="34" charset="-120"/>
              </a:rPr>
              <a:t>un conteneur Docker</a:t>
            </a:r>
            <a:endParaRPr lang="en-US" sz="1875"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0C121C"/>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B66D">
                  <a:alpha val="22000"/>
                </a:srgbClr>
              </a:gs>
              <a:gs pos="60000">
                <a:srgbClr val="FFB66D">
                  <a:alpha val="0"/>
                </a:srgbClr>
              </a:gs>
            </a:gsLst>
            <a:path path="circle">
              <a:fillToRect l="22000" t="34000" r="78000" b="66000"/>
            </a:path>
          </a:gradFill>
          <a:ln/>
        </p:spPr>
      </p:sp>
      <p:sp>
        <p:nvSpPr>
          <p:cNvPr id="3" name="Text 1"/>
          <p:cNvSpPr/>
          <p:nvPr/>
        </p:nvSpPr>
        <p:spPr>
          <a:xfrm>
            <a:off x="1066800" y="2504579"/>
            <a:ext cx="17769840" cy="368300"/>
          </a:xfrm>
          <a:prstGeom prst="rect">
            <a:avLst/>
          </a:prstGeom>
          <a:noFill/>
          <a:ln/>
        </p:spPr>
        <p:txBody>
          <a:bodyPr wrap="square" lIns="25400" tIns="25400" rIns="25400" bIns="25400" rtlCol="0" anchor="t">
            <a:normAutofit/>
          </a:bodyPr>
          <a:lstStyle/>
          <a:p>
            <a:pPr algn="l" indent="0" marL="0">
              <a:buNone/>
            </a:pPr>
            <a:r>
              <a:rPr lang="en-US" sz="1950" spc="546" kern="0" dirty="0">
                <a:solidFill>
                  <a:srgbClr val="FFB46E">
                    <a:alpha val="97000"/>
                  </a:srgbClr>
                </a:solidFill>
                <a:latin typeface="Courier New" pitchFamily="34" charset="0"/>
                <a:ea typeface="Courier New" pitchFamily="34" charset="-122"/>
                <a:cs typeface="Courier New" pitchFamily="34" charset="-120"/>
              </a:rPr>
              <a:t>ATELIER 05.1 · 3 HEURES</a:t>
            </a:r>
            <a:endParaRPr lang="en-US" sz="1950" dirty="0"/>
          </a:p>
        </p:txBody>
      </p:sp>
      <p:sp>
        <p:nvSpPr>
          <p:cNvPr id="4" name="Text 2"/>
          <p:cNvSpPr/>
          <p:nvPr/>
        </p:nvSpPr>
        <p:spPr>
          <a:xfrm>
            <a:off x="1066800" y="2910980"/>
            <a:ext cx="17769840" cy="1752600"/>
          </a:xfrm>
          <a:prstGeom prst="rect">
            <a:avLst/>
          </a:prstGeom>
          <a:noFill/>
          <a:ln/>
        </p:spPr>
        <p:txBody>
          <a:bodyPr wrap="square" lIns="25400" tIns="25400" rIns="25400" bIns="25400" rtlCol="0" anchor="t">
            <a:normAutofit/>
          </a:bodyPr>
          <a:lstStyle/>
          <a:p>
            <a:pPr algn="l" indent="0" marL="0">
              <a:lnSpc>
                <a:spcPct val="78035"/>
              </a:lnSpc>
              <a:buNone/>
            </a:pPr>
            <a:r>
              <a:rPr lang="en-US" sz="15000" b="1" spc="-600" kern="0" dirty="0">
                <a:solidFill>
                  <a:srgbClr val="FEC695"/>
                </a:solidFill>
                <a:latin typeface="Arial" pitchFamily="34" charset="0"/>
                <a:ea typeface="Arial" pitchFamily="34" charset="-122"/>
                <a:cs typeface="Arial" pitchFamily="34" charset="-120"/>
              </a:rPr>
              <a:t>5.1</a:t>
            </a:r>
            <a:endParaRPr lang="en-US" sz="15000" dirty="0"/>
          </a:p>
        </p:txBody>
      </p:sp>
      <p:sp>
        <p:nvSpPr>
          <p:cNvPr id="5" name="Text 3"/>
          <p:cNvSpPr/>
          <p:nvPr/>
        </p:nvSpPr>
        <p:spPr>
          <a:xfrm>
            <a:off x="1066800" y="4703130"/>
            <a:ext cx="17769840" cy="737592"/>
          </a:xfrm>
          <a:prstGeom prst="rect">
            <a:avLst/>
          </a:prstGeom>
          <a:noFill/>
          <a:ln/>
        </p:spPr>
        <p:txBody>
          <a:bodyPr wrap="square" lIns="25400" tIns="25400" rIns="25400" bIns="25400" rtlCol="0" anchor="t">
            <a:normAutofit/>
          </a:bodyPr>
          <a:lstStyle/>
          <a:p>
            <a:pPr algn="l" indent="0" marL="0">
              <a:lnSpc>
                <a:spcPct val="88128"/>
              </a:lnSpc>
              <a:buNone/>
            </a:pPr>
            <a:r>
              <a:rPr lang="en-US" sz="5400" b="1" spc="-108" kern="0" dirty="0">
                <a:solidFill>
                  <a:srgbClr val="EEF3F9">
                    <a:alpha val="99000"/>
                  </a:srgbClr>
                </a:solidFill>
                <a:latin typeface="Arial" pitchFamily="34" charset="0"/>
                <a:ea typeface="Arial" pitchFamily="34" charset="-122"/>
                <a:cs typeface="Arial" pitchFamily="34" charset="-120"/>
              </a:rPr>
              <a:t>Apache Hive : le Data Warehouse distribué</a:t>
            </a:r>
            <a:endParaRPr lang="en-US" sz="5400" dirty="0"/>
          </a:p>
        </p:txBody>
      </p:sp>
      <p:sp>
        <p:nvSpPr>
          <p:cNvPr id="6" name="Text 4"/>
          <p:cNvSpPr/>
          <p:nvPr/>
        </p:nvSpPr>
        <p:spPr>
          <a:xfrm>
            <a:off x="1066800" y="5648821"/>
            <a:ext cx="12243816" cy="1104900"/>
          </a:xfrm>
          <a:prstGeom prst="rect">
            <a:avLst/>
          </a:prstGeom>
          <a:noFill/>
          <a:ln/>
        </p:spPr>
        <p:txBody>
          <a:bodyPr wrap="square" lIns="25400" tIns="25400" rIns="25400" bIns="25400" rtlCol="0" anchor="t">
            <a:normAutofit/>
          </a:bodyPr>
          <a:lstStyle/>
          <a:p>
            <a:pPr algn="l" indent="0" marL="0">
              <a:lnSpc>
                <a:spcPct val="121739"/>
              </a:lnSpc>
              <a:buNone/>
            </a:pPr>
            <a:r>
              <a:rPr lang="en-US" sz="3000" dirty="0">
                <a:solidFill>
                  <a:srgbClr val="8EA0B5">
                    <a:alpha val="77000"/>
                  </a:srgbClr>
                </a:solidFill>
                <a:latin typeface="Arial" pitchFamily="34" charset="0"/>
                <a:ea typeface="Arial" pitchFamily="34" charset="-122"/>
                <a:cs typeface="Arial" pitchFamily="34" charset="-120"/>
              </a:rPr>
              <a:t>Interroger HDFS en SQL — architecture, modélisation et optimisation d'un entrepôt de données.</a:t>
            </a:r>
            <a:endParaRPr lang="en-US" sz="3000" dirty="0"/>
          </a:p>
        </p:txBody>
      </p:sp>
      <p:sp>
        <p:nvSpPr>
          <p:cNvPr id="7" name="Shape 5"/>
          <p:cNvSpPr/>
          <p:nvPr/>
        </p:nvSpPr>
        <p:spPr>
          <a:xfrm>
            <a:off x="1066800" y="7039471"/>
            <a:ext cx="25400" cy="742950"/>
          </a:xfrm>
          <a:prstGeom prst="rect">
            <a:avLst/>
          </a:prstGeom>
          <a:solidFill>
            <a:srgbClr val="FFB46E">
              <a:alpha val="55000"/>
            </a:srgbClr>
          </a:solidFill>
          <a:ln/>
        </p:spPr>
      </p:sp>
      <p:sp>
        <p:nvSpPr>
          <p:cNvPr id="8" name="Text 6"/>
          <p:cNvSpPr/>
          <p:nvPr/>
        </p:nvSpPr>
        <p:spPr>
          <a:xfrm>
            <a:off x="1320800" y="7039471"/>
            <a:ext cx="10765415" cy="781050"/>
          </a:xfrm>
          <a:prstGeom prst="rect">
            <a:avLst/>
          </a:prstGeom>
          <a:noFill/>
          <a:ln/>
        </p:spPr>
        <p:txBody>
          <a:bodyPr wrap="square" lIns="25400" tIns="25400" rIns="25400" bIns="25400" rtlCol="0" anchor="t">
            <a:normAutofit/>
          </a:bodyPr>
          <a:lstStyle/>
          <a:p>
            <a:pPr algn="l" indent="0" marL="0">
              <a:lnSpc>
                <a:spcPct val="132955"/>
              </a:lnSpc>
              <a:buNone/>
            </a:pPr>
            <a:r>
              <a:rPr lang="en-US" sz="1950" dirty="0">
                <a:solidFill>
                  <a:srgbClr val="EEF3F9">
                    <a:alpha val="55000"/>
                  </a:srgbClr>
                </a:solidFill>
                <a:latin typeface="Arial" pitchFamily="34" charset="0"/>
                <a:ea typeface="Arial" pitchFamily="34" charset="-122"/>
                <a:cs typeface="Arial" pitchFamily="34" charset="-120"/>
              </a:rPr>
              <a:t>Prérequis </a:t>
            </a:r>
            <a:pPr algn="l" indent="0" marL="0">
              <a:lnSpc>
                <a:spcPct val="132955"/>
              </a:lnSpc>
              <a:buNone/>
            </a:pPr>
            <a:r>
              <a:rPr lang="en-US" sz="1950" dirty="0">
                <a:solidFill>
                  <a:srgbClr val="8EA0B5">
                    <a:alpha val="55000"/>
                  </a:srgbClr>
                </a:solidFill>
                <a:latin typeface="Arial" pitchFamily="34" charset="0"/>
                <a:ea typeface="Arial" pitchFamily="34" charset="-122"/>
                <a:cs typeface="Arial" pitchFamily="34" charset="-120"/>
              </a:rPr>
              <a:t>: HDFS &amp; YARN (atelier 4.1), Spark RDD/DataFrame (atelier 4.2). Environnement Docker dédié : HDFS + YARN + Hive + Metastore PostgreSQL.</a:t>
            </a:r>
            <a:endParaRPr lang="en-US" sz="19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0A0E15"/>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FFB46E">
                    <a:alpha val="97000"/>
                  </a:srgbClr>
                </a:solidFill>
                <a:latin typeface="Courier New" pitchFamily="34" charset="0"/>
                <a:ea typeface="Courier New" pitchFamily="34" charset="-122"/>
                <a:cs typeface="Courier New" pitchFamily="34" charset="-120"/>
              </a:rPr>
              <a:t>ATELIER 5.1 · MOTIVATION</a:t>
            </a:r>
            <a:endParaRPr lang="en-US" sz="1800" dirty="0"/>
          </a:p>
        </p:txBody>
      </p:sp>
      <p:sp>
        <p:nvSpPr>
          <p:cNvPr id="3" name="Text 1"/>
          <p:cNvSpPr/>
          <p:nvPr/>
        </p:nvSpPr>
        <p:spPr>
          <a:xfrm>
            <a:off x="1066800" y="1314451"/>
            <a:ext cx="17769840"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Pourquoi Hive a été créé</a:t>
            </a:r>
            <a:endParaRPr lang="en-US" sz="4800" dirty="0"/>
          </a:p>
        </p:txBody>
      </p:sp>
      <p:sp>
        <p:nvSpPr>
          <p:cNvPr id="4" name="Shape 2"/>
          <p:cNvSpPr/>
          <p:nvPr/>
        </p:nvSpPr>
        <p:spPr>
          <a:xfrm>
            <a:off x="1066800" y="3676751"/>
            <a:ext cx="7341196" cy="4443611"/>
          </a:xfrm>
          <a:prstGeom prst="roundRect">
            <a:avLst>
              <a:gd name="adj" fmla="val 3430"/>
            </a:avLst>
          </a:prstGeom>
          <a:solidFill>
            <a:srgbClr val="FFFFFF">
              <a:alpha val="3000"/>
            </a:srgbClr>
          </a:solidFill>
          <a:ln w="6350">
            <a:solidFill>
              <a:srgbClr val="FFFFFF">
                <a:alpha val="10000"/>
              </a:srgbClr>
            </a:solidFill>
            <a:prstDash val="solid"/>
          </a:ln>
        </p:spPr>
      </p:sp>
      <p:sp>
        <p:nvSpPr>
          <p:cNvPr id="5" name="Text 3"/>
          <p:cNvSpPr/>
          <p:nvPr/>
        </p:nvSpPr>
        <p:spPr>
          <a:xfrm>
            <a:off x="1377950" y="3968850"/>
            <a:ext cx="739078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FB46E"/>
                </a:solidFill>
                <a:latin typeface="Courier New" pitchFamily="34" charset="0"/>
                <a:ea typeface="Courier New" pitchFamily="34" charset="-122"/>
                <a:cs typeface="Courier New" pitchFamily="34" charset="-120"/>
              </a:rPr>
              <a:t>avant Hive</a:t>
            </a:r>
            <a:endParaRPr lang="en-US" sz="1800" dirty="0"/>
          </a:p>
        </p:txBody>
      </p:sp>
      <p:sp>
        <p:nvSpPr>
          <p:cNvPr id="6" name="Shape 4"/>
          <p:cNvSpPr/>
          <p:nvPr/>
        </p:nvSpPr>
        <p:spPr>
          <a:xfrm>
            <a:off x="1377950" y="4445100"/>
            <a:ext cx="6718896" cy="546100"/>
          </a:xfrm>
          <a:prstGeom prst="roundRect">
            <a:avLst>
              <a:gd name="adj" fmla="val 13953"/>
            </a:avLst>
          </a:prstGeom>
          <a:solidFill>
            <a:srgbClr val="FFFFFF">
              <a:alpha val="6000"/>
            </a:srgbClr>
          </a:solidFill>
          <a:ln w="6350">
            <a:solidFill>
              <a:srgbClr val="FFFFFF">
                <a:alpha val="10000"/>
              </a:srgbClr>
            </a:solidFill>
            <a:prstDash val="solid"/>
          </a:ln>
        </p:spPr>
      </p:sp>
      <p:sp>
        <p:nvSpPr>
          <p:cNvPr id="7" name="Text 5"/>
          <p:cNvSpPr/>
          <p:nvPr/>
        </p:nvSpPr>
        <p:spPr>
          <a:xfrm>
            <a:off x="1536700" y="4565750"/>
            <a:ext cx="6602963"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solidFill>
                <a:latin typeface="Courier New" pitchFamily="34" charset="0"/>
                <a:ea typeface="Courier New" pitchFamily="34" charset="-122"/>
                <a:cs typeface="Courier New" pitchFamily="34" charset="-120"/>
              </a:rPr>
              <a:t>Mapper.java</a:t>
            </a:r>
            <a:endParaRPr lang="en-US" sz="1800" dirty="0"/>
          </a:p>
        </p:txBody>
      </p:sp>
      <p:sp>
        <p:nvSpPr>
          <p:cNvPr id="8" name="Text 6"/>
          <p:cNvSpPr/>
          <p:nvPr/>
        </p:nvSpPr>
        <p:spPr>
          <a:xfrm>
            <a:off x="4668738" y="5067401"/>
            <a:ext cx="2134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FB46E"/>
                </a:solidFill>
                <a:latin typeface="Courier New" pitchFamily="34" charset="0"/>
                <a:ea typeface="Courier New" pitchFamily="34" charset="-122"/>
                <a:cs typeface="Courier New" pitchFamily="34" charset="-120"/>
              </a:rPr>
              <a:t>↓</a:t>
            </a:r>
            <a:endParaRPr lang="en-US" sz="1800" dirty="0"/>
          </a:p>
        </p:txBody>
      </p:sp>
      <p:sp>
        <p:nvSpPr>
          <p:cNvPr id="9" name="Shape 7"/>
          <p:cNvSpPr/>
          <p:nvPr/>
        </p:nvSpPr>
        <p:spPr>
          <a:xfrm>
            <a:off x="1377950" y="5448401"/>
            <a:ext cx="6718896" cy="546100"/>
          </a:xfrm>
          <a:prstGeom prst="roundRect">
            <a:avLst>
              <a:gd name="adj" fmla="val 13953"/>
            </a:avLst>
          </a:prstGeom>
          <a:solidFill>
            <a:srgbClr val="FFFFFF">
              <a:alpha val="6000"/>
            </a:srgbClr>
          </a:solidFill>
          <a:ln w="6350">
            <a:solidFill>
              <a:srgbClr val="FFFFFF">
                <a:alpha val="10000"/>
              </a:srgbClr>
            </a:solidFill>
            <a:prstDash val="solid"/>
          </a:ln>
        </p:spPr>
      </p:sp>
      <p:sp>
        <p:nvSpPr>
          <p:cNvPr id="10" name="Text 8"/>
          <p:cNvSpPr/>
          <p:nvPr/>
        </p:nvSpPr>
        <p:spPr>
          <a:xfrm>
            <a:off x="1536700" y="5569051"/>
            <a:ext cx="6602963"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solidFill>
                <a:latin typeface="Courier New" pitchFamily="34" charset="0"/>
                <a:ea typeface="Courier New" pitchFamily="34" charset="-122"/>
                <a:cs typeface="Courier New" pitchFamily="34" charset="-120"/>
              </a:rPr>
              <a:t>Reducer.java</a:t>
            </a:r>
            <a:endParaRPr lang="en-US" sz="1800" dirty="0"/>
          </a:p>
        </p:txBody>
      </p:sp>
      <p:sp>
        <p:nvSpPr>
          <p:cNvPr id="11" name="Text 9"/>
          <p:cNvSpPr/>
          <p:nvPr/>
        </p:nvSpPr>
        <p:spPr>
          <a:xfrm>
            <a:off x="2554288" y="6070700"/>
            <a:ext cx="4802842"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FB46E"/>
                </a:solidFill>
                <a:latin typeface="Courier New" pitchFamily="34" charset="0"/>
                <a:ea typeface="Courier New" pitchFamily="34" charset="-122"/>
                <a:cs typeface="Courier New" pitchFamily="34" charset="-120"/>
              </a:rPr>
              <a:t>↓ compilation → JAR → soumission</a:t>
            </a:r>
            <a:endParaRPr lang="en-US" sz="1800" dirty="0"/>
          </a:p>
        </p:txBody>
      </p:sp>
      <p:sp>
        <p:nvSpPr>
          <p:cNvPr id="12" name="Shape 10"/>
          <p:cNvSpPr/>
          <p:nvPr/>
        </p:nvSpPr>
        <p:spPr>
          <a:xfrm>
            <a:off x="1377950" y="6451700"/>
            <a:ext cx="6718896" cy="546100"/>
          </a:xfrm>
          <a:prstGeom prst="roundRect">
            <a:avLst>
              <a:gd name="adj" fmla="val 13953"/>
            </a:avLst>
          </a:prstGeom>
          <a:solidFill>
            <a:srgbClr val="FFFFFF">
              <a:alpha val="6000"/>
            </a:srgbClr>
          </a:solidFill>
          <a:ln w="6350">
            <a:solidFill>
              <a:srgbClr val="FFFFFF">
                <a:alpha val="10000"/>
              </a:srgbClr>
            </a:solidFill>
            <a:prstDash val="solid"/>
          </a:ln>
        </p:spPr>
      </p:sp>
      <p:sp>
        <p:nvSpPr>
          <p:cNvPr id="13" name="Text 11"/>
          <p:cNvSpPr/>
          <p:nvPr/>
        </p:nvSpPr>
        <p:spPr>
          <a:xfrm>
            <a:off x="1536700" y="6572350"/>
            <a:ext cx="6602963"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solidFill>
                <a:latin typeface="Courier New" pitchFamily="34" charset="0"/>
                <a:ea typeface="Courier New" pitchFamily="34" charset="-122"/>
                <a:cs typeface="Courier New" pitchFamily="34" charset="-120"/>
              </a:rPr>
              <a:t>Résultat</a:t>
            </a:r>
            <a:endParaRPr lang="en-US" sz="1800" dirty="0"/>
          </a:p>
        </p:txBody>
      </p:sp>
      <p:sp>
        <p:nvSpPr>
          <p:cNvPr id="14" name="Text 12"/>
          <p:cNvSpPr/>
          <p:nvPr/>
        </p:nvSpPr>
        <p:spPr>
          <a:xfrm>
            <a:off x="1377950" y="7188301"/>
            <a:ext cx="6920463" cy="678061"/>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8EA0B5"/>
                </a:solidFill>
                <a:latin typeface="Arial" pitchFamily="34" charset="0"/>
                <a:ea typeface="Arial" pitchFamily="34" charset="-122"/>
                <a:cs typeface="Arial" pitchFamily="34" charset="-120"/>
              </a:rPr>
              <a:t>Des centaines de lignes de Java pour « le total des ventes par magasin ».</a:t>
            </a:r>
            <a:endParaRPr lang="en-US" sz="1800" dirty="0"/>
          </a:p>
        </p:txBody>
      </p:sp>
      <p:sp>
        <p:nvSpPr>
          <p:cNvPr id="15" name="Text 13"/>
          <p:cNvSpPr/>
          <p:nvPr/>
        </p:nvSpPr>
        <p:spPr>
          <a:xfrm>
            <a:off x="8598496" y="5625505"/>
            <a:ext cx="495300" cy="584200"/>
          </a:xfrm>
          <a:prstGeom prst="rect">
            <a:avLst/>
          </a:prstGeom>
          <a:noFill/>
          <a:ln/>
        </p:spPr>
        <p:txBody>
          <a:bodyPr wrap="square" lIns="25400" tIns="25400" rIns="25400" bIns="25400" rtlCol="0" anchor="t">
            <a:normAutofit/>
          </a:bodyPr>
          <a:lstStyle/>
          <a:p>
            <a:pPr algn="l" indent="0" marL="0">
              <a:buNone/>
            </a:pPr>
            <a:r>
              <a:rPr lang="en-US" sz="3300" dirty="0">
                <a:solidFill>
                  <a:srgbClr val="FFB46E"/>
                </a:solidFill>
                <a:latin typeface="Arial" pitchFamily="34" charset="0"/>
                <a:ea typeface="Arial" pitchFamily="34" charset="-122"/>
                <a:cs typeface="Arial" pitchFamily="34" charset="-120"/>
              </a:rPr>
              <a:t>→</a:t>
            </a:r>
            <a:endParaRPr lang="en-US" sz="3300" dirty="0"/>
          </a:p>
        </p:txBody>
      </p:sp>
      <p:sp>
        <p:nvSpPr>
          <p:cNvPr id="16" name="Shape 14"/>
          <p:cNvSpPr/>
          <p:nvPr/>
        </p:nvSpPr>
        <p:spPr>
          <a:xfrm>
            <a:off x="9208096" y="4121568"/>
            <a:ext cx="8013105" cy="3559969"/>
          </a:xfrm>
          <a:prstGeom prst="roundRect">
            <a:avLst>
              <a:gd name="adj" fmla="val 4281"/>
            </a:avLst>
          </a:prstGeom>
          <a:gradFill rotWithShape="1">
            <a:gsLst>
              <a:gs pos="0">
                <a:srgbClr val="FFB16A">
                  <a:alpha val="14000"/>
                </a:srgbClr>
              </a:gs>
              <a:gs pos="100000">
                <a:srgbClr val="FFFFFF">
                  <a:alpha val="3000"/>
                </a:srgbClr>
              </a:gs>
            </a:gsLst>
            <a:lin ang="4200000" scaled="0"/>
          </a:gradFill>
          <a:ln w="6350">
            <a:solidFill>
              <a:srgbClr val="FFC48E">
                <a:alpha val="35000"/>
              </a:srgbClr>
            </a:solidFill>
            <a:prstDash val="solid"/>
          </a:ln>
        </p:spPr>
      </p:sp>
      <p:sp>
        <p:nvSpPr>
          <p:cNvPr id="17" name="Text 15"/>
          <p:cNvSpPr/>
          <p:nvPr/>
        </p:nvSpPr>
        <p:spPr>
          <a:xfrm>
            <a:off x="9519246" y="4413668"/>
            <a:ext cx="812988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FB46E">
                    <a:alpha val="99000"/>
                  </a:srgbClr>
                </a:solidFill>
                <a:latin typeface="Courier New" pitchFamily="34" charset="0"/>
                <a:ea typeface="Courier New" pitchFamily="34" charset="-122"/>
                <a:cs typeface="Courier New" pitchFamily="34" charset="-120"/>
              </a:rPr>
              <a:t>avec Hive</a:t>
            </a:r>
            <a:endParaRPr lang="en-US" sz="1800" dirty="0"/>
          </a:p>
        </p:txBody>
      </p:sp>
      <p:sp>
        <p:nvSpPr>
          <p:cNvPr id="18" name="Shape 16"/>
          <p:cNvSpPr/>
          <p:nvPr/>
        </p:nvSpPr>
        <p:spPr>
          <a:xfrm>
            <a:off x="9519246" y="4889918"/>
            <a:ext cx="7390805" cy="1646238"/>
          </a:xfrm>
          <a:prstGeom prst="roundRect">
            <a:avLst>
              <a:gd name="adj" fmla="val 6943"/>
            </a:avLst>
          </a:prstGeom>
          <a:solidFill>
            <a:srgbClr val="06090E">
              <a:alpha val="99000"/>
            </a:srgbClr>
          </a:solidFill>
          <a:ln w="6350">
            <a:solidFill>
              <a:srgbClr val="FFFFFF">
                <a:alpha val="10000"/>
              </a:srgbClr>
            </a:solidFill>
            <a:prstDash val="solid"/>
          </a:ln>
        </p:spPr>
      </p:sp>
      <p:sp>
        <p:nvSpPr>
          <p:cNvPr id="19" name="Text 17"/>
          <p:cNvSpPr/>
          <p:nvPr/>
        </p:nvSpPr>
        <p:spPr>
          <a:xfrm>
            <a:off x="9754196" y="5105818"/>
            <a:ext cx="7142629" cy="1252538"/>
          </a:xfrm>
          <a:prstGeom prst="rect">
            <a:avLst/>
          </a:prstGeom>
          <a:noFill/>
          <a:ln/>
        </p:spPr>
        <p:txBody>
          <a:bodyPr wrap="square" lIns="25400" tIns="25400" rIns="25400" bIns="25400" rtlCol="0" anchor="t">
            <a:normAutofit/>
          </a:bodyPr>
          <a:lstStyle/>
          <a:p>
            <a:pPr algn="l" indent="0" marL="0">
              <a:lnSpc>
                <a:spcPct val="151786"/>
              </a:lnSpc>
              <a:buNone/>
            </a:pPr>
            <a:r>
              <a:rPr lang="en-US" sz="1875" dirty="0">
                <a:solidFill>
                  <a:srgbClr val="B897F0">
                    <a:alpha val="99000"/>
                  </a:srgbClr>
                </a:solidFill>
                <a:latin typeface="Courier New" pitchFamily="34" charset="0"/>
                <a:ea typeface="Courier New" pitchFamily="34" charset="-122"/>
                <a:cs typeface="Courier New" pitchFamily="34" charset="-120"/>
              </a:rPr>
              <a:t>SELECT </a:t>
            </a:r>
            <a:pPr algn="l" indent="0" marL="0">
              <a:lnSpc>
                <a:spcPct val="151786"/>
              </a:lnSpc>
              <a:buNone/>
            </a:pPr>
            <a:r>
              <a:rPr lang="en-US" sz="1875" dirty="0">
                <a:solidFill>
                  <a:srgbClr val="CDD7E3">
                    <a:alpha val="99000"/>
                  </a:srgbClr>
                </a:solidFill>
                <a:highlight>
                  <a:srgbClr val="06090E"/>
                </a:highlight>
                <a:latin typeface="Courier New" pitchFamily="34" charset="0"/>
                <a:ea typeface="Courier New" pitchFamily="34" charset="-122"/>
                <a:cs typeface="Courier New" pitchFamily="34" charset="-120"/>
              </a:rPr>
              <a:t>store, </a:t>
            </a:r>
            <a:pPr algn="l" indent="0" marL="0">
              <a:lnSpc>
                <a:spcPct val="151786"/>
              </a:lnSpc>
              <a:buNone/>
            </a:pPr>
            <a:r>
              <a:rPr lang="en-US" sz="1875" dirty="0">
                <a:solidFill>
                  <a:srgbClr val="56DBDB">
                    <a:alpha val="99000"/>
                  </a:srgbClr>
                </a:solidFill>
                <a:latin typeface="Courier New" pitchFamily="34" charset="0"/>
                <a:ea typeface="Courier New" pitchFamily="34" charset="-122"/>
                <a:cs typeface="Courier New" pitchFamily="34" charset="-120"/>
              </a:rPr>
              <a:t>SUM</a:t>
            </a:r>
            <a:pPr algn="l" indent="0" marL="0">
              <a:lnSpc>
                <a:spcPct val="151786"/>
              </a:lnSpc>
              <a:buNone/>
            </a:pPr>
            <a:r>
              <a:rPr lang="en-US" sz="1875" dirty="0">
                <a:solidFill>
                  <a:srgbClr val="CDD7E3">
                    <a:alpha val="99000"/>
                  </a:srgbClr>
                </a:solidFill>
                <a:highlight>
                  <a:srgbClr val="06090E"/>
                </a:highlight>
                <a:latin typeface="Courier New" pitchFamily="34" charset="0"/>
                <a:ea typeface="Courier New" pitchFamily="34" charset="-122"/>
                <a:cs typeface="Courier New" pitchFamily="34" charset="-120"/>
              </a:rPr>
              <a:t>(cost) </a:t>
            </a:r>
            <a:pPr algn="l" indent="0" marL="0">
              <a:lnSpc>
                <a:spcPct val="151786"/>
              </a:lnSpc>
              <a:buNone/>
            </a:pPr>
            <a:r>
              <a:rPr lang="en-US" sz="1875" dirty="0">
                <a:solidFill>
                  <a:srgbClr val="B897F0">
                    <a:alpha val="99000"/>
                  </a:srgbClr>
                </a:solidFill>
                <a:latin typeface="Courier New" pitchFamily="34" charset="0"/>
                <a:ea typeface="Courier New" pitchFamily="34" charset="-122"/>
                <a:cs typeface="Courier New" pitchFamily="34" charset="-120"/>
              </a:rPr>
              <a:t>AS </a:t>
            </a:r>
            <a:pPr algn="l" indent="0" marL="0">
              <a:lnSpc>
                <a:spcPct val="151786"/>
              </a:lnSpc>
              <a:buNone/>
            </a:pPr>
            <a:r>
              <a:rPr lang="en-US" sz="1875" dirty="0">
                <a:solidFill>
                  <a:srgbClr val="CDD7E3">
                    <a:alpha val="99000"/>
                  </a:srgbClr>
                </a:solidFill>
                <a:highlight>
                  <a:srgbClr val="06090E"/>
                </a:highlight>
                <a:latin typeface="Courier New" pitchFamily="34" charset="0"/>
                <a:ea typeface="Courier New" pitchFamily="34" charset="-122"/>
                <a:cs typeface="Courier New" pitchFamily="34" charset="-120"/>
              </a:rPr>
              <a:t>total </a:t>
            </a:r>
            <a:pPr algn="l" indent="0" marL="0">
              <a:lnSpc>
                <a:spcPct val="151786"/>
              </a:lnSpc>
              <a:buNone/>
            </a:pPr>
            <a:r>
              <a:rPr lang="en-US" sz="1875" dirty="0">
                <a:solidFill>
                  <a:srgbClr val="B897F0">
                    <a:alpha val="99000"/>
                  </a:srgbClr>
                </a:solidFill>
                <a:latin typeface="Courier New" pitchFamily="34" charset="0"/>
                <a:ea typeface="Courier New" pitchFamily="34" charset="-122"/>
                <a:cs typeface="Courier New" pitchFamily="34" charset="-120"/>
              </a:rPr>
              <a:t>FROM </a:t>
            </a:r>
            <a:pPr algn="l" indent="0" marL="0">
              <a:lnSpc>
                <a:spcPct val="151786"/>
              </a:lnSpc>
              <a:buNone/>
            </a:pPr>
            <a:r>
              <a:rPr lang="en-US" sz="1875" dirty="0">
                <a:solidFill>
                  <a:srgbClr val="CDD7E3">
                    <a:alpha val="99000"/>
                  </a:srgbClr>
                </a:solidFill>
                <a:highlight>
                  <a:srgbClr val="06090E"/>
                </a:highlight>
                <a:latin typeface="Courier New" pitchFamily="34" charset="0"/>
                <a:ea typeface="Courier New" pitchFamily="34" charset="-122"/>
                <a:cs typeface="Courier New" pitchFamily="34" charset="-120"/>
              </a:rPr>
              <a:t>purchases </a:t>
            </a:r>
            <a:pPr algn="l" indent="0" marL="0">
              <a:lnSpc>
                <a:spcPct val="151786"/>
              </a:lnSpc>
              <a:buNone/>
            </a:pPr>
            <a:r>
              <a:rPr lang="en-US" sz="1875" dirty="0">
                <a:solidFill>
                  <a:srgbClr val="B897F0">
                    <a:alpha val="99000"/>
                  </a:srgbClr>
                </a:solidFill>
                <a:latin typeface="Courier New" pitchFamily="34" charset="0"/>
                <a:ea typeface="Courier New" pitchFamily="34" charset="-122"/>
                <a:cs typeface="Courier New" pitchFamily="34" charset="-120"/>
              </a:rPr>
              <a:t>GROUP BY </a:t>
            </a:r>
            <a:pPr algn="l" indent="0" marL="0">
              <a:lnSpc>
                <a:spcPct val="151786"/>
              </a:lnSpc>
              <a:buNone/>
            </a:pPr>
            <a:r>
              <a:rPr lang="en-US" sz="1875" dirty="0">
                <a:solidFill>
                  <a:srgbClr val="CDD7E3">
                    <a:alpha val="99000"/>
                  </a:srgbClr>
                </a:solidFill>
                <a:highlight>
                  <a:srgbClr val="06090E"/>
                </a:highlight>
                <a:latin typeface="Courier New" pitchFamily="34" charset="0"/>
                <a:ea typeface="Courier New" pitchFamily="34" charset="-122"/>
                <a:cs typeface="Courier New" pitchFamily="34" charset="-120"/>
              </a:rPr>
              <a:t>store;</a:t>
            </a:r>
            <a:endParaRPr lang="en-US" sz="1875" dirty="0"/>
          </a:p>
        </p:txBody>
      </p:sp>
      <p:sp>
        <p:nvSpPr>
          <p:cNvPr id="20" name="Shape 18"/>
          <p:cNvSpPr/>
          <p:nvPr/>
        </p:nvSpPr>
        <p:spPr>
          <a:xfrm>
            <a:off x="9519246" y="6536156"/>
            <a:ext cx="25400" cy="853281"/>
          </a:xfrm>
          <a:prstGeom prst="rect">
            <a:avLst/>
          </a:prstGeom>
          <a:solidFill>
            <a:srgbClr val="FFB46E">
              <a:alpha val="99000"/>
            </a:srgbClr>
          </a:solidFill>
          <a:ln/>
        </p:spPr>
      </p:sp>
      <p:sp>
        <p:nvSpPr>
          <p:cNvPr id="21" name="Text 19"/>
          <p:cNvSpPr/>
          <p:nvPr/>
        </p:nvSpPr>
        <p:spPr>
          <a:xfrm>
            <a:off x="9716096" y="6726656"/>
            <a:ext cx="7415679" cy="700881"/>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8EA0B5">
                    <a:alpha val="99000"/>
                  </a:srgbClr>
                </a:solidFill>
                <a:latin typeface="Arial" pitchFamily="34" charset="0"/>
                <a:ea typeface="Arial" pitchFamily="34" charset="-122"/>
                <a:cs typeface="Arial" pitchFamily="34" charset="-120"/>
              </a:rPr>
              <a:t>Hive ne calcule </a:t>
            </a:r>
            <a:pPr algn="l" indent="0" marL="0">
              <a:lnSpc>
                <a:spcPct val="124286"/>
              </a:lnSpc>
              <a:buNone/>
            </a:pPr>
            <a:r>
              <a:rPr lang="en-US" sz="1800" dirty="0">
                <a:solidFill>
                  <a:srgbClr val="EEF3F9">
                    <a:alpha val="99000"/>
                  </a:srgbClr>
                </a:solidFill>
                <a:latin typeface="Arial" pitchFamily="34" charset="0"/>
                <a:ea typeface="Arial" pitchFamily="34" charset="-122"/>
                <a:cs typeface="Arial" pitchFamily="34" charset="-120"/>
              </a:rPr>
              <a:t>jamais </a:t>
            </a:r>
            <a:pPr algn="l" indent="0" marL="0">
              <a:lnSpc>
                <a:spcPct val="124286"/>
              </a:lnSpc>
              <a:buNone/>
            </a:pPr>
            <a:r>
              <a:rPr lang="en-US" sz="1800" dirty="0">
                <a:solidFill>
                  <a:srgbClr val="8EA0B5">
                    <a:alpha val="99000"/>
                  </a:srgbClr>
                </a:solidFill>
                <a:latin typeface="Arial" pitchFamily="34" charset="0"/>
                <a:ea typeface="Arial" pitchFamily="34" charset="-122"/>
                <a:cs typeface="Arial" pitchFamily="34" charset="-120"/>
              </a:rPr>
              <a:t>lui-même : il </a:t>
            </a:r>
            <a:pPr algn="l" indent="0" marL="0">
              <a:lnSpc>
                <a:spcPct val="124286"/>
              </a:lnSpc>
              <a:buNone/>
            </a:pPr>
            <a:r>
              <a:rPr lang="en-US" sz="1800" dirty="0">
                <a:solidFill>
                  <a:srgbClr val="EEF3F9">
                    <a:alpha val="99000"/>
                  </a:srgbClr>
                </a:solidFill>
                <a:latin typeface="Arial" pitchFamily="34" charset="0"/>
                <a:ea typeface="Arial" pitchFamily="34" charset="-122"/>
                <a:cs typeface="Arial" pitchFamily="34" charset="-120"/>
              </a:rPr>
              <a:t>traduit </a:t>
            </a:r>
            <a:pPr algn="l" indent="0" marL="0">
              <a:lnSpc>
                <a:spcPct val="124286"/>
              </a:lnSpc>
              <a:buNone/>
            </a:pPr>
            <a:r>
              <a:rPr lang="en-US" sz="1800" dirty="0">
                <a:solidFill>
                  <a:srgbClr val="8EA0B5">
                    <a:alpha val="99000"/>
                  </a:srgbClr>
                </a:solidFill>
                <a:latin typeface="Arial" pitchFamily="34" charset="0"/>
                <a:ea typeface="Arial" pitchFamily="34" charset="-122"/>
                <a:cs typeface="Arial" pitchFamily="34" charset="-120"/>
              </a:rPr>
              <a:t>le SQL en un plan distribué confié à Tez, Spark ou MapReduce.</a:t>
            </a:r>
            <a:endParaRPr lang="en-US" sz="18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0C121C"/>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FFB46E">
                    <a:alpha val="97000"/>
                  </a:srgbClr>
                </a:solidFill>
                <a:latin typeface="Courier New" pitchFamily="34" charset="0"/>
                <a:ea typeface="Courier New" pitchFamily="34" charset="-122"/>
                <a:cs typeface="Courier New" pitchFamily="34" charset="-120"/>
              </a:rPr>
              <a:t>ATELIER 5.1 · ÉCOSYSTÈME</a:t>
            </a:r>
            <a:endParaRPr lang="en-US" sz="1800" dirty="0"/>
          </a:p>
        </p:txBody>
      </p:sp>
      <p:sp>
        <p:nvSpPr>
          <p:cNvPr id="3" name="Text 1"/>
          <p:cNvSpPr/>
          <p:nvPr/>
        </p:nvSpPr>
        <p:spPr>
          <a:xfrm>
            <a:off x="1066800" y="1314451"/>
            <a:ext cx="17769840"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La place de Hive dans Hadoop</a:t>
            </a:r>
            <a:endParaRPr lang="en-US" sz="4800" dirty="0"/>
          </a:p>
        </p:txBody>
      </p:sp>
      <p:sp>
        <p:nvSpPr>
          <p:cNvPr id="4" name="Text 2"/>
          <p:cNvSpPr/>
          <p:nvPr/>
        </p:nvSpPr>
        <p:spPr>
          <a:xfrm>
            <a:off x="3614738" y="3860206"/>
            <a:ext cx="30175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solidFill>
                <a:latin typeface="Courier New" pitchFamily="34" charset="0"/>
                <a:ea typeface="Courier New" pitchFamily="34" charset="-122"/>
                <a:cs typeface="Courier New" pitchFamily="34" charset="-120"/>
              </a:rPr>
              <a:t>Utilisateur · HiveQL</a:t>
            </a:r>
            <a:endParaRPr lang="en-US" sz="1800" dirty="0"/>
          </a:p>
        </p:txBody>
      </p:sp>
      <p:sp>
        <p:nvSpPr>
          <p:cNvPr id="5" name="Shape 3"/>
          <p:cNvSpPr/>
          <p:nvPr/>
        </p:nvSpPr>
        <p:spPr>
          <a:xfrm>
            <a:off x="4976813" y="4241206"/>
            <a:ext cx="19050" cy="152400"/>
          </a:xfrm>
          <a:prstGeom prst="rect">
            <a:avLst/>
          </a:prstGeom>
          <a:solidFill>
            <a:srgbClr val="FFB46E">
              <a:alpha val="69000"/>
            </a:srgbClr>
          </a:solidFill>
          <a:ln/>
        </p:spPr>
      </p:sp>
      <p:sp>
        <p:nvSpPr>
          <p:cNvPr id="6" name="Shape 4"/>
          <p:cNvSpPr/>
          <p:nvPr/>
        </p:nvSpPr>
        <p:spPr>
          <a:xfrm>
            <a:off x="2007493" y="4469806"/>
            <a:ext cx="5957689" cy="628650"/>
          </a:xfrm>
          <a:prstGeom prst="roundRect">
            <a:avLst>
              <a:gd name="adj" fmla="val 15152"/>
            </a:avLst>
          </a:prstGeom>
          <a:gradFill rotWithShape="1">
            <a:gsLst>
              <a:gs pos="0">
                <a:srgbClr val="FFB46D">
                  <a:alpha val="24000"/>
                </a:srgbClr>
              </a:gs>
              <a:gs pos="100000">
                <a:srgbClr val="FFFFFF">
                  <a:alpha val="6000"/>
                </a:srgbClr>
              </a:gs>
            </a:gsLst>
            <a:lin ang="4200000" scaled="0"/>
          </a:gradFill>
          <a:ln w="6350">
            <a:solidFill>
              <a:srgbClr val="FFBE82">
                <a:alpha val="48000"/>
              </a:srgbClr>
            </a:solidFill>
            <a:prstDash val="solid"/>
          </a:ln>
        </p:spPr>
      </p:sp>
      <p:sp>
        <p:nvSpPr>
          <p:cNvPr id="7" name="Text 5"/>
          <p:cNvSpPr/>
          <p:nvPr/>
        </p:nvSpPr>
        <p:spPr>
          <a:xfrm>
            <a:off x="2076878" y="4628556"/>
            <a:ext cx="5818920" cy="349250"/>
          </a:xfrm>
          <a:prstGeom prst="rect">
            <a:avLst/>
          </a:prstGeom>
          <a:noFill/>
          <a:ln/>
        </p:spPr>
        <p:txBody>
          <a:bodyPr wrap="square" lIns="25400" tIns="25400" rIns="25400" bIns="25400" rtlCol="0" anchor="t">
            <a:normAutofit/>
          </a:bodyPr>
          <a:lstStyle/>
          <a:p>
            <a:pPr algn="ctr" indent="0" marL="0">
              <a:buNone/>
            </a:pPr>
            <a:r>
              <a:rPr lang="en-US" sz="1875" dirty="0">
                <a:solidFill>
                  <a:srgbClr val="FFB46E"/>
                </a:solidFill>
                <a:latin typeface="Courier New" pitchFamily="34" charset="0"/>
                <a:ea typeface="Courier New" pitchFamily="34" charset="-122"/>
                <a:cs typeface="Courier New" pitchFamily="34" charset="-120"/>
              </a:rPr>
              <a:t>Hive </a:t>
            </a:r>
            <a:pPr algn="ctr" indent="0" marL="0">
              <a:buNone/>
            </a:pPr>
            <a:r>
              <a:rPr lang="en-US" sz="1800" dirty="0">
                <a:solidFill>
                  <a:srgbClr val="8EA0B5"/>
                </a:solidFill>
                <a:latin typeface="Courier New" pitchFamily="34" charset="0"/>
                <a:ea typeface="Courier New" pitchFamily="34" charset="-122"/>
                <a:cs typeface="Courier New" pitchFamily="34" charset="-120"/>
              </a:rPr>
              <a:t>· couche SQL</a:t>
            </a:r>
            <a:endParaRPr lang="en-US" sz="1875" dirty="0"/>
          </a:p>
        </p:txBody>
      </p:sp>
      <p:sp>
        <p:nvSpPr>
          <p:cNvPr id="8" name="Shape 6"/>
          <p:cNvSpPr/>
          <p:nvPr/>
        </p:nvSpPr>
        <p:spPr>
          <a:xfrm>
            <a:off x="4976813" y="5174656"/>
            <a:ext cx="19050" cy="152400"/>
          </a:xfrm>
          <a:prstGeom prst="rect">
            <a:avLst/>
          </a:prstGeom>
          <a:solidFill>
            <a:srgbClr val="FFB46E">
              <a:alpha val="69000"/>
            </a:srgbClr>
          </a:solidFill>
          <a:ln/>
        </p:spPr>
      </p:sp>
      <p:sp>
        <p:nvSpPr>
          <p:cNvPr id="9" name="Shape 7"/>
          <p:cNvSpPr/>
          <p:nvPr/>
        </p:nvSpPr>
        <p:spPr>
          <a:xfrm>
            <a:off x="1996596" y="5402118"/>
            <a:ext cx="5979484" cy="624577"/>
          </a:xfrm>
          <a:prstGeom prst="roundRect">
            <a:avLst>
              <a:gd name="adj" fmla="val 15306"/>
            </a:avLst>
          </a:prstGeom>
          <a:solidFill>
            <a:srgbClr val="FFFFFF">
              <a:alpha val="6000"/>
            </a:srgbClr>
          </a:solidFill>
          <a:ln w="6373">
            <a:solidFill>
              <a:srgbClr val="FFFFFF">
                <a:alpha val="10000"/>
              </a:srgbClr>
            </a:solidFill>
            <a:prstDash val="solid"/>
          </a:ln>
        </p:spPr>
      </p:sp>
      <p:sp>
        <p:nvSpPr>
          <p:cNvPr id="10" name="Text 8"/>
          <p:cNvSpPr/>
          <p:nvPr/>
        </p:nvSpPr>
        <p:spPr>
          <a:xfrm>
            <a:off x="2066234" y="5561449"/>
            <a:ext cx="5840206" cy="344015"/>
          </a:xfrm>
          <a:prstGeom prst="rect">
            <a:avLst/>
          </a:prstGeom>
          <a:noFill/>
          <a:ln/>
        </p:spPr>
        <p:txBody>
          <a:bodyPr wrap="square" lIns="25400" tIns="25400" rIns="25400" bIns="25400" rtlCol="0" anchor="t">
            <a:normAutofit/>
          </a:bodyPr>
          <a:lstStyle/>
          <a:p>
            <a:pPr algn="ctr" indent="0" marL="0">
              <a:buNone/>
            </a:pPr>
            <a:r>
              <a:rPr lang="en-US" sz="1807" dirty="0">
                <a:solidFill>
                  <a:srgbClr val="EEF3F9"/>
                </a:solidFill>
                <a:latin typeface="Courier New" pitchFamily="34" charset="0"/>
                <a:ea typeface="Courier New" pitchFamily="34" charset="-122"/>
                <a:cs typeface="Courier New" pitchFamily="34" charset="-120"/>
              </a:rPr>
              <a:t>Tez / Spark / MapReduce</a:t>
            </a:r>
            <a:endParaRPr lang="en-US" sz="1807" dirty="0"/>
          </a:p>
        </p:txBody>
      </p:sp>
      <p:sp>
        <p:nvSpPr>
          <p:cNvPr id="11" name="Shape 9"/>
          <p:cNvSpPr/>
          <p:nvPr/>
        </p:nvSpPr>
        <p:spPr>
          <a:xfrm>
            <a:off x="4976813" y="6101756"/>
            <a:ext cx="19050" cy="152400"/>
          </a:xfrm>
          <a:prstGeom prst="rect">
            <a:avLst/>
          </a:prstGeom>
          <a:solidFill>
            <a:srgbClr val="B897F0">
              <a:alpha val="69000"/>
            </a:srgbClr>
          </a:solidFill>
          <a:ln/>
        </p:spPr>
      </p:sp>
      <p:sp>
        <p:nvSpPr>
          <p:cNvPr id="12" name="Shape 10"/>
          <p:cNvSpPr/>
          <p:nvPr/>
        </p:nvSpPr>
        <p:spPr>
          <a:xfrm>
            <a:off x="1973964" y="6326854"/>
            <a:ext cx="6024747" cy="629305"/>
          </a:xfrm>
          <a:prstGeom prst="roundRect">
            <a:avLst>
              <a:gd name="adj" fmla="val 15306"/>
            </a:avLst>
          </a:prstGeom>
          <a:solidFill>
            <a:srgbClr val="FFFFFF">
              <a:alpha val="6000"/>
            </a:srgbClr>
          </a:solidFill>
          <a:ln w="6422">
            <a:solidFill>
              <a:srgbClr val="FFFFFF">
                <a:alpha val="10000"/>
              </a:srgbClr>
            </a:solidFill>
            <a:prstDash val="solid"/>
          </a:ln>
        </p:spPr>
      </p:sp>
      <p:sp>
        <p:nvSpPr>
          <p:cNvPr id="13" name="Text 11"/>
          <p:cNvSpPr/>
          <p:nvPr/>
        </p:nvSpPr>
        <p:spPr>
          <a:xfrm>
            <a:off x="2044130" y="6487391"/>
            <a:ext cx="5884415" cy="346330"/>
          </a:xfrm>
          <a:prstGeom prst="rect">
            <a:avLst/>
          </a:prstGeom>
          <a:noFill/>
          <a:ln/>
        </p:spPr>
        <p:txBody>
          <a:bodyPr wrap="square" lIns="25400" tIns="25400" rIns="25400" bIns="25400" rtlCol="0" anchor="t">
            <a:normAutofit/>
          </a:bodyPr>
          <a:lstStyle/>
          <a:p>
            <a:pPr algn="ctr" indent="0" marL="0">
              <a:buNone/>
            </a:pPr>
            <a:r>
              <a:rPr lang="en-US" sz="1820" dirty="0">
                <a:solidFill>
                  <a:srgbClr val="B897F0"/>
                </a:solidFill>
                <a:highlight>
                  <a:srgbClr val="FFFFFF"/>
                </a:highlight>
                <a:latin typeface="Courier New" pitchFamily="34" charset="0"/>
                <a:ea typeface="Courier New" pitchFamily="34" charset="-122"/>
                <a:cs typeface="Courier New" pitchFamily="34" charset="-120"/>
              </a:rPr>
              <a:t>YARN </a:t>
            </a:r>
            <a:pPr algn="ctr" indent="0" marL="0">
              <a:buNone/>
            </a:pPr>
            <a:r>
              <a:rPr lang="en-US" sz="1820" dirty="0">
                <a:solidFill>
                  <a:srgbClr val="8EA0B5"/>
                </a:solidFill>
                <a:latin typeface="Courier New" pitchFamily="34" charset="0"/>
                <a:ea typeface="Courier New" pitchFamily="34" charset="-122"/>
                <a:cs typeface="Courier New" pitchFamily="34" charset="-120"/>
              </a:rPr>
              <a:t>· ressources</a:t>
            </a:r>
            <a:endParaRPr lang="en-US" sz="1820" dirty="0"/>
          </a:p>
        </p:txBody>
      </p:sp>
      <p:sp>
        <p:nvSpPr>
          <p:cNvPr id="14" name="Shape 12"/>
          <p:cNvSpPr/>
          <p:nvPr/>
        </p:nvSpPr>
        <p:spPr>
          <a:xfrm>
            <a:off x="4976813" y="7028856"/>
            <a:ext cx="19050" cy="152400"/>
          </a:xfrm>
          <a:prstGeom prst="rect">
            <a:avLst/>
          </a:prstGeom>
          <a:solidFill>
            <a:srgbClr val="56DBDB">
              <a:alpha val="69000"/>
            </a:srgbClr>
          </a:solidFill>
          <a:ln/>
        </p:spPr>
      </p:sp>
      <p:sp>
        <p:nvSpPr>
          <p:cNvPr id="15" name="Shape 13"/>
          <p:cNvSpPr/>
          <p:nvPr/>
        </p:nvSpPr>
        <p:spPr>
          <a:xfrm>
            <a:off x="1974462" y="7254005"/>
            <a:ext cx="6023751" cy="629200"/>
          </a:xfrm>
          <a:prstGeom prst="roundRect">
            <a:avLst>
              <a:gd name="adj" fmla="val 15306"/>
            </a:avLst>
          </a:prstGeom>
          <a:solidFill>
            <a:srgbClr val="FFFFFF">
              <a:alpha val="6000"/>
            </a:srgbClr>
          </a:solidFill>
          <a:ln w="6420">
            <a:solidFill>
              <a:srgbClr val="FFFFFF">
                <a:alpha val="10000"/>
              </a:srgbClr>
            </a:solidFill>
            <a:prstDash val="solid"/>
          </a:ln>
        </p:spPr>
      </p:sp>
      <p:sp>
        <p:nvSpPr>
          <p:cNvPr id="16" name="Text 14"/>
          <p:cNvSpPr/>
          <p:nvPr/>
        </p:nvSpPr>
        <p:spPr>
          <a:xfrm>
            <a:off x="2044616" y="7414516"/>
            <a:ext cx="5883442" cy="346279"/>
          </a:xfrm>
          <a:prstGeom prst="rect">
            <a:avLst/>
          </a:prstGeom>
          <a:noFill/>
          <a:ln/>
        </p:spPr>
        <p:txBody>
          <a:bodyPr wrap="square" lIns="25400" tIns="25400" rIns="25400" bIns="25400" rtlCol="0" anchor="t">
            <a:normAutofit/>
          </a:bodyPr>
          <a:lstStyle/>
          <a:p>
            <a:pPr algn="ctr" indent="0" marL="0">
              <a:buNone/>
            </a:pPr>
            <a:r>
              <a:rPr lang="en-US" sz="1820" dirty="0">
                <a:solidFill>
                  <a:srgbClr val="56DBDB"/>
                </a:solidFill>
                <a:highlight>
                  <a:srgbClr val="FFFFFF"/>
                </a:highlight>
                <a:latin typeface="Courier New" pitchFamily="34" charset="0"/>
                <a:ea typeface="Courier New" pitchFamily="34" charset="-122"/>
                <a:cs typeface="Courier New" pitchFamily="34" charset="-120"/>
              </a:rPr>
              <a:t>HDFS </a:t>
            </a:r>
            <a:pPr algn="ctr" indent="0" marL="0">
              <a:buNone/>
            </a:pPr>
            <a:r>
              <a:rPr lang="en-US" sz="1820" dirty="0">
                <a:solidFill>
                  <a:srgbClr val="8EA0B5"/>
                </a:solidFill>
                <a:latin typeface="Courier New" pitchFamily="34" charset="0"/>
                <a:ea typeface="Courier New" pitchFamily="34" charset="-122"/>
                <a:cs typeface="Courier New" pitchFamily="34" charset="-120"/>
              </a:rPr>
              <a:t>· stockage</a:t>
            </a:r>
            <a:endParaRPr lang="en-US" sz="1820" dirty="0"/>
          </a:p>
        </p:txBody>
      </p:sp>
      <p:sp>
        <p:nvSpPr>
          <p:cNvPr id="17" name="Shape 15"/>
          <p:cNvSpPr/>
          <p:nvPr/>
        </p:nvSpPr>
        <p:spPr>
          <a:xfrm>
            <a:off x="9382125" y="4672917"/>
            <a:ext cx="25400" cy="675580"/>
          </a:xfrm>
          <a:prstGeom prst="rect">
            <a:avLst/>
          </a:prstGeom>
          <a:solidFill>
            <a:srgbClr val="FFB46E">
              <a:alpha val="98000"/>
            </a:srgbClr>
          </a:solidFill>
          <a:ln/>
        </p:spPr>
      </p:sp>
      <p:sp>
        <p:nvSpPr>
          <p:cNvPr id="18" name="Text 16"/>
          <p:cNvSpPr/>
          <p:nvPr/>
        </p:nvSpPr>
        <p:spPr>
          <a:xfrm>
            <a:off x="9617075" y="4672917"/>
            <a:ext cx="8364538" cy="336550"/>
          </a:xfrm>
          <a:prstGeom prst="rect">
            <a:avLst/>
          </a:prstGeom>
          <a:noFill/>
          <a:ln/>
        </p:spPr>
        <p:txBody>
          <a:bodyPr wrap="square" lIns="25400" tIns="25400" rIns="25400" bIns="25400" rtlCol="0" anchor="t">
            <a:normAutofit/>
          </a:bodyPr>
          <a:lstStyle/>
          <a:p>
            <a:pPr algn="l" indent="0" marL="0">
              <a:buNone/>
            </a:pPr>
            <a:r>
              <a:rPr lang="en-US" sz="2025" b="1" dirty="0">
                <a:solidFill>
                  <a:srgbClr val="FFB46E">
                    <a:alpha val="98000"/>
                  </a:srgbClr>
                </a:solidFill>
                <a:latin typeface="Arial" pitchFamily="34" charset="0"/>
                <a:ea typeface="Arial" pitchFamily="34" charset="-122"/>
                <a:cs typeface="Arial" pitchFamily="34" charset="-120"/>
              </a:rPr>
              <a:t>Hive</a:t>
            </a:r>
            <a:endParaRPr lang="en-US" sz="2025" dirty="0"/>
          </a:p>
        </p:txBody>
      </p:sp>
      <p:sp>
        <p:nvSpPr>
          <p:cNvPr id="19" name="Text 17"/>
          <p:cNvSpPr/>
          <p:nvPr/>
        </p:nvSpPr>
        <p:spPr>
          <a:xfrm>
            <a:off x="9617075" y="5028517"/>
            <a:ext cx="8364538" cy="35808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8EA0B5">
                    <a:alpha val="98000"/>
                  </a:srgbClr>
                </a:solidFill>
                <a:latin typeface="Arial" pitchFamily="34" charset="0"/>
                <a:ea typeface="Arial" pitchFamily="34" charset="-122"/>
                <a:cs typeface="Arial" pitchFamily="34" charset="-120"/>
              </a:rPr>
              <a:t>Couche SQL : traduit la requête, ne calcule pas.</a:t>
            </a:r>
            <a:endParaRPr lang="en-US" sz="1800" dirty="0"/>
          </a:p>
        </p:txBody>
      </p:sp>
      <p:sp>
        <p:nvSpPr>
          <p:cNvPr id="20" name="Shape 18"/>
          <p:cNvSpPr/>
          <p:nvPr/>
        </p:nvSpPr>
        <p:spPr>
          <a:xfrm>
            <a:off x="9382125" y="5538998"/>
            <a:ext cx="25400" cy="675580"/>
          </a:xfrm>
          <a:prstGeom prst="rect">
            <a:avLst/>
          </a:prstGeom>
          <a:solidFill>
            <a:srgbClr val="8EA0B5">
              <a:alpha val="98000"/>
            </a:srgbClr>
          </a:solidFill>
          <a:ln/>
        </p:spPr>
      </p:sp>
      <p:sp>
        <p:nvSpPr>
          <p:cNvPr id="21" name="Text 19"/>
          <p:cNvSpPr/>
          <p:nvPr/>
        </p:nvSpPr>
        <p:spPr>
          <a:xfrm>
            <a:off x="9617075" y="5538998"/>
            <a:ext cx="8364538" cy="336550"/>
          </a:xfrm>
          <a:prstGeom prst="rect">
            <a:avLst/>
          </a:prstGeom>
          <a:noFill/>
          <a:ln/>
        </p:spPr>
        <p:txBody>
          <a:bodyPr wrap="square" lIns="25400" tIns="25400" rIns="25400" bIns="25400" rtlCol="0" anchor="t">
            <a:normAutofit/>
          </a:bodyPr>
          <a:lstStyle/>
          <a:p>
            <a:pPr algn="l" indent="0" marL="0">
              <a:buNone/>
            </a:pPr>
            <a:r>
              <a:rPr lang="en-US" sz="2025" b="1" dirty="0">
                <a:solidFill>
                  <a:srgbClr val="EEF3F9">
                    <a:alpha val="98000"/>
                  </a:srgbClr>
                </a:solidFill>
                <a:latin typeface="Arial" pitchFamily="34" charset="0"/>
                <a:ea typeface="Arial" pitchFamily="34" charset="-122"/>
                <a:cs typeface="Arial" pitchFamily="34" charset="-120"/>
              </a:rPr>
              <a:t>Tez / Spark / MR</a:t>
            </a:r>
            <a:endParaRPr lang="en-US" sz="2025" dirty="0"/>
          </a:p>
        </p:txBody>
      </p:sp>
      <p:sp>
        <p:nvSpPr>
          <p:cNvPr id="22" name="Text 20"/>
          <p:cNvSpPr/>
          <p:nvPr/>
        </p:nvSpPr>
        <p:spPr>
          <a:xfrm>
            <a:off x="9617075" y="5894598"/>
            <a:ext cx="8364538" cy="35808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8EA0B5">
                    <a:alpha val="98000"/>
                  </a:srgbClr>
                </a:solidFill>
                <a:latin typeface="Arial" pitchFamily="34" charset="0"/>
                <a:ea typeface="Arial" pitchFamily="34" charset="-122"/>
                <a:cs typeface="Arial" pitchFamily="34" charset="-120"/>
              </a:rPr>
              <a:t>Moteurs qui exécutent réellement le calcul.</a:t>
            </a:r>
            <a:endParaRPr lang="en-US" sz="1800" dirty="0"/>
          </a:p>
        </p:txBody>
      </p:sp>
      <p:sp>
        <p:nvSpPr>
          <p:cNvPr id="23" name="Shape 21"/>
          <p:cNvSpPr/>
          <p:nvPr/>
        </p:nvSpPr>
        <p:spPr>
          <a:xfrm>
            <a:off x="9382125" y="6405078"/>
            <a:ext cx="25400" cy="675580"/>
          </a:xfrm>
          <a:prstGeom prst="rect">
            <a:avLst/>
          </a:prstGeom>
          <a:solidFill>
            <a:srgbClr val="B897F0">
              <a:alpha val="98000"/>
            </a:srgbClr>
          </a:solidFill>
          <a:ln/>
        </p:spPr>
      </p:sp>
      <p:sp>
        <p:nvSpPr>
          <p:cNvPr id="24" name="Text 22"/>
          <p:cNvSpPr/>
          <p:nvPr/>
        </p:nvSpPr>
        <p:spPr>
          <a:xfrm>
            <a:off x="9617075" y="6405078"/>
            <a:ext cx="8364538" cy="336550"/>
          </a:xfrm>
          <a:prstGeom prst="rect">
            <a:avLst/>
          </a:prstGeom>
          <a:noFill/>
          <a:ln/>
        </p:spPr>
        <p:txBody>
          <a:bodyPr wrap="square" lIns="25400" tIns="25400" rIns="25400" bIns="25400" rtlCol="0" anchor="t">
            <a:normAutofit/>
          </a:bodyPr>
          <a:lstStyle/>
          <a:p>
            <a:pPr algn="l" indent="0" marL="0">
              <a:buNone/>
            </a:pPr>
            <a:r>
              <a:rPr lang="en-US" sz="2025" b="1" dirty="0">
                <a:solidFill>
                  <a:srgbClr val="EEF3F9">
                    <a:alpha val="98000"/>
                  </a:srgbClr>
                </a:solidFill>
                <a:latin typeface="Arial" pitchFamily="34" charset="0"/>
                <a:ea typeface="Arial" pitchFamily="34" charset="-122"/>
                <a:cs typeface="Arial" pitchFamily="34" charset="-120"/>
              </a:rPr>
              <a:t>YARN &amp; HDFS</a:t>
            </a:r>
            <a:endParaRPr lang="en-US" sz="2025" dirty="0"/>
          </a:p>
        </p:txBody>
      </p:sp>
      <p:sp>
        <p:nvSpPr>
          <p:cNvPr id="25" name="Text 23"/>
          <p:cNvSpPr/>
          <p:nvPr/>
        </p:nvSpPr>
        <p:spPr>
          <a:xfrm>
            <a:off x="9617075" y="6760678"/>
            <a:ext cx="8364538" cy="35808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8EA0B5">
                    <a:alpha val="98000"/>
                  </a:srgbClr>
                </a:solidFill>
                <a:latin typeface="Arial" pitchFamily="34" charset="0"/>
                <a:ea typeface="Arial" pitchFamily="34" charset="-122"/>
                <a:cs typeface="Arial" pitchFamily="34" charset="-120"/>
              </a:rPr>
              <a:t>La pile Hadoop déjà connue (atelier 4.1).</a:t>
            </a:r>
            <a:endParaRPr lang="en-US" sz="18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0A0E15"/>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FFB46E">
                    <a:alpha val="97000"/>
                  </a:srgbClr>
                </a:solidFill>
                <a:latin typeface="Courier New" pitchFamily="34" charset="0"/>
                <a:ea typeface="Courier New" pitchFamily="34" charset="-122"/>
                <a:cs typeface="Courier New" pitchFamily="34" charset="-120"/>
              </a:rPr>
              <a:t>ATELIER 5.1 · ARCHITECTURE</a:t>
            </a:r>
            <a:endParaRPr lang="en-US" sz="1800" dirty="0"/>
          </a:p>
        </p:txBody>
      </p:sp>
      <p:sp>
        <p:nvSpPr>
          <p:cNvPr id="3" name="Text 1"/>
          <p:cNvSpPr/>
          <p:nvPr/>
        </p:nvSpPr>
        <p:spPr>
          <a:xfrm>
            <a:off x="1066800" y="1314450"/>
            <a:ext cx="11933873"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Les cinq composants internes de Hive</a:t>
            </a:r>
            <a:endParaRPr lang="en-US" sz="4800" dirty="0"/>
          </a:p>
        </p:txBody>
      </p:sp>
      <p:sp>
        <p:nvSpPr>
          <p:cNvPr id="4" name="Shape 2"/>
          <p:cNvSpPr/>
          <p:nvPr/>
        </p:nvSpPr>
        <p:spPr>
          <a:xfrm>
            <a:off x="1597720" y="3952280"/>
            <a:ext cx="4837410" cy="565150"/>
          </a:xfrm>
          <a:prstGeom prst="roundRect">
            <a:avLst>
              <a:gd name="adj" fmla="val 16854"/>
            </a:avLst>
          </a:prstGeom>
          <a:solidFill>
            <a:srgbClr val="FFFFFF">
              <a:alpha val="6000"/>
            </a:srgbClr>
          </a:solidFill>
          <a:ln w="6350">
            <a:solidFill>
              <a:srgbClr val="FFFFFF">
                <a:alpha val="10000"/>
              </a:srgbClr>
            </a:solidFill>
            <a:prstDash val="solid"/>
          </a:ln>
        </p:spPr>
      </p:sp>
      <p:sp>
        <p:nvSpPr>
          <p:cNvPr id="5" name="Text 3"/>
          <p:cNvSpPr/>
          <p:nvPr/>
        </p:nvSpPr>
        <p:spPr>
          <a:xfrm>
            <a:off x="1655333" y="4082455"/>
            <a:ext cx="4722183"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8EA0B5"/>
                </a:solidFill>
                <a:latin typeface="Courier New" pitchFamily="34" charset="0"/>
                <a:ea typeface="Courier New" pitchFamily="34" charset="-122"/>
                <a:cs typeface="Courier New" pitchFamily="34" charset="-120"/>
              </a:rPr>
              <a:t>Requête HiveQL</a:t>
            </a:r>
            <a:endParaRPr lang="en-US" sz="1800" dirty="0"/>
          </a:p>
        </p:txBody>
      </p:sp>
      <p:sp>
        <p:nvSpPr>
          <p:cNvPr id="6" name="Shape 4"/>
          <p:cNvSpPr/>
          <p:nvPr/>
        </p:nvSpPr>
        <p:spPr>
          <a:xfrm>
            <a:off x="4006949" y="4574580"/>
            <a:ext cx="19050" cy="133350"/>
          </a:xfrm>
          <a:prstGeom prst="rect">
            <a:avLst/>
          </a:prstGeom>
          <a:solidFill>
            <a:srgbClr val="FFB46E">
              <a:alpha val="71000"/>
            </a:srgbClr>
          </a:solidFill>
          <a:ln/>
        </p:spPr>
      </p:sp>
      <p:sp>
        <p:nvSpPr>
          <p:cNvPr id="7" name="Shape 5"/>
          <p:cNvSpPr/>
          <p:nvPr/>
        </p:nvSpPr>
        <p:spPr>
          <a:xfrm>
            <a:off x="1597720" y="4765080"/>
            <a:ext cx="4837410" cy="565150"/>
          </a:xfrm>
          <a:prstGeom prst="roundRect">
            <a:avLst>
              <a:gd name="adj" fmla="val 16854"/>
            </a:avLst>
          </a:prstGeom>
          <a:gradFill rotWithShape="1">
            <a:gsLst>
              <a:gs pos="0">
                <a:srgbClr val="FFB66D">
                  <a:alpha val="22000"/>
                </a:srgbClr>
              </a:gs>
              <a:gs pos="100000">
                <a:srgbClr val="FFFFFF">
                  <a:alpha val="6000"/>
                </a:srgbClr>
              </a:gs>
            </a:gsLst>
            <a:lin ang="4200000" scaled="0"/>
          </a:gradFill>
          <a:ln w="6350">
            <a:solidFill>
              <a:srgbClr val="FFBE82">
                <a:alpha val="46000"/>
              </a:srgbClr>
            </a:solidFill>
            <a:prstDash val="solid"/>
          </a:ln>
        </p:spPr>
      </p:sp>
      <p:sp>
        <p:nvSpPr>
          <p:cNvPr id="8" name="Text 6"/>
          <p:cNvSpPr/>
          <p:nvPr/>
        </p:nvSpPr>
        <p:spPr>
          <a:xfrm>
            <a:off x="1655333" y="4895255"/>
            <a:ext cx="4722183"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FFB46E"/>
                </a:solidFill>
                <a:latin typeface="Courier New" pitchFamily="34" charset="0"/>
                <a:ea typeface="Courier New" pitchFamily="34" charset="-122"/>
                <a:cs typeface="Courier New" pitchFamily="34" charset="-120"/>
              </a:rPr>
              <a:t>Driver</a:t>
            </a:r>
            <a:endParaRPr lang="en-US" sz="1800" dirty="0"/>
          </a:p>
        </p:txBody>
      </p:sp>
      <p:sp>
        <p:nvSpPr>
          <p:cNvPr id="9" name="Shape 7"/>
          <p:cNvSpPr/>
          <p:nvPr/>
        </p:nvSpPr>
        <p:spPr>
          <a:xfrm>
            <a:off x="4006949" y="5387380"/>
            <a:ext cx="19050" cy="133350"/>
          </a:xfrm>
          <a:prstGeom prst="rect">
            <a:avLst/>
          </a:prstGeom>
          <a:solidFill>
            <a:srgbClr val="FFB46E">
              <a:alpha val="71000"/>
            </a:srgbClr>
          </a:solidFill>
          <a:ln/>
        </p:spPr>
      </p:sp>
      <p:sp>
        <p:nvSpPr>
          <p:cNvPr id="10" name="Shape 8"/>
          <p:cNvSpPr/>
          <p:nvPr/>
        </p:nvSpPr>
        <p:spPr>
          <a:xfrm>
            <a:off x="1588055" y="5576751"/>
            <a:ext cx="4856739" cy="567408"/>
          </a:xfrm>
          <a:prstGeom prst="roundRect">
            <a:avLst>
              <a:gd name="adj" fmla="val 16854"/>
            </a:avLst>
          </a:prstGeom>
          <a:solidFill>
            <a:srgbClr val="FFFFFF">
              <a:alpha val="6000"/>
            </a:srgbClr>
          </a:solidFill>
          <a:ln w="6375">
            <a:solidFill>
              <a:srgbClr val="FFFFFF">
                <a:alpha val="10000"/>
              </a:srgbClr>
            </a:solidFill>
            <a:prstDash val="solid"/>
          </a:ln>
        </p:spPr>
      </p:sp>
      <p:sp>
        <p:nvSpPr>
          <p:cNvPr id="11" name="Text 9"/>
          <p:cNvSpPr/>
          <p:nvPr/>
        </p:nvSpPr>
        <p:spPr>
          <a:xfrm>
            <a:off x="1645900" y="5707447"/>
            <a:ext cx="4741050" cy="344117"/>
          </a:xfrm>
          <a:prstGeom prst="rect">
            <a:avLst/>
          </a:prstGeom>
          <a:noFill/>
          <a:ln/>
        </p:spPr>
        <p:txBody>
          <a:bodyPr wrap="square" lIns="25400" tIns="25400" rIns="25400" bIns="25400" rtlCol="0" anchor="t">
            <a:normAutofit/>
          </a:bodyPr>
          <a:lstStyle/>
          <a:p>
            <a:pPr algn="ctr" indent="0" marL="0">
              <a:buNone/>
            </a:pPr>
            <a:r>
              <a:rPr lang="en-US" sz="1807" dirty="0">
                <a:solidFill>
                  <a:srgbClr val="EEF3F9"/>
                </a:solidFill>
                <a:latin typeface="Courier New" pitchFamily="34" charset="0"/>
                <a:ea typeface="Courier New" pitchFamily="34" charset="-122"/>
                <a:cs typeface="Courier New" pitchFamily="34" charset="-120"/>
              </a:rPr>
              <a:t>Compiler</a:t>
            </a:r>
            <a:endParaRPr lang="en-US" sz="1807" dirty="0"/>
          </a:p>
        </p:txBody>
      </p:sp>
      <p:sp>
        <p:nvSpPr>
          <p:cNvPr id="12" name="Shape 10"/>
          <p:cNvSpPr/>
          <p:nvPr/>
        </p:nvSpPr>
        <p:spPr>
          <a:xfrm>
            <a:off x="4006949" y="6200180"/>
            <a:ext cx="19050" cy="133350"/>
          </a:xfrm>
          <a:prstGeom prst="rect">
            <a:avLst/>
          </a:prstGeom>
          <a:solidFill>
            <a:srgbClr val="FFB46E">
              <a:alpha val="71000"/>
            </a:srgbClr>
          </a:solidFill>
          <a:ln/>
        </p:spPr>
      </p:sp>
      <p:sp>
        <p:nvSpPr>
          <p:cNvPr id="13" name="Shape 11"/>
          <p:cNvSpPr/>
          <p:nvPr/>
        </p:nvSpPr>
        <p:spPr>
          <a:xfrm>
            <a:off x="1575569" y="6388092"/>
            <a:ext cx="4881711" cy="570325"/>
          </a:xfrm>
          <a:prstGeom prst="roundRect">
            <a:avLst>
              <a:gd name="adj" fmla="val 16854"/>
            </a:avLst>
          </a:prstGeom>
          <a:solidFill>
            <a:srgbClr val="FFFFFF">
              <a:alpha val="6000"/>
            </a:srgbClr>
          </a:solidFill>
          <a:ln w="6408">
            <a:solidFill>
              <a:srgbClr val="FFFFFF">
                <a:alpha val="10000"/>
              </a:srgbClr>
            </a:solidFill>
            <a:prstDash val="solid"/>
          </a:ln>
        </p:spPr>
      </p:sp>
      <p:sp>
        <p:nvSpPr>
          <p:cNvPr id="14" name="Text 12"/>
          <p:cNvSpPr/>
          <p:nvPr/>
        </p:nvSpPr>
        <p:spPr>
          <a:xfrm>
            <a:off x="1633711" y="6519459"/>
            <a:ext cx="4765428" cy="345690"/>
          </a:xfrm>
          <a:prstGeom prst="rect">
            <a:avLst/>
          </a:prstGeom>
          <a:noFill/>
          <a:ln/>
        </p:spPr>
        <p:txBody>
          <a:bodyPr wrap="square" lIns="25400" tIns="25400" rIns="25400" bIns="25400" rtlCol="0" anchor="t">
            <a:normAutofit/>
          </a:bodyPr>
          <a:lstStyle/>
          <a:p>
            <a:pPr algn="ctr" indent="0" marL="0">
              <a:buNone/>
            </a:pPr>
            <a:r>
              <a:rPr lang="en-US" sz="1816" dirty="0">
                <a:solidFill>
                  <a:srgbClr val="EEF3F9"/>
                </a:solidFill>
                <a:latin typeface="Courier New" pitchFamily="34" charset="0"/>
                <a:ea typeface="Courier New" pitchFamily="34" charset="-122"/>
                <a:cs typeface="Courier New" pitchFamily="34" charset="-120"/>
              </a:rPr>
              <a:t>Optimizer</a:t>
            </a:r>
            <a:endParaRPr lang="en-US" sz="1816" dirty="0"/>
          </a:p>
        </p:txBody>
      </p:sp>
      <p:sp>
        <p:nvSpPr>
          <p:cNvPr id="15" name="Shape 13"/>
          <p:cNvSpPr/>
          <p:nvPr/>
        </p:nvSpPr>
        <p:spPr>
          <a:xfrm>
            <a:off x="4006949" y="7012980"/>
            <a:ext cx="19050" cy="133350"/>
          </a:xfrm>
          <a:prstGeom prst="rect">
            <a:avLst/>
          </a:prstGeom>
          <a:solidFill>
            <a:srgbClr val="FFB46E">
              <a:alpha val="71000"/>
            </a:srgbClr>
          </a:solidFill>
          <a:ln/>
        </p:spPr>
      </p:sp>
      <p:sp>
        <p:nvSpPr>
          <p:cNvPr id="16" name="Shape 14"/>
          <p:cNvSpPr/>
          <p:nvPr/>
        </p:nvSpPr>
        <p:spPr>
          <a:xfrm>
            <a:off x="1568513" y="7200067"/>
            <a:ext cx="4895823" cy="571974"/>
          </a:xfrm>
          <a:prstGeom prst="roundRect">
            <a:avLst>
              <a:gd name="adj" fmla="val 16854"/>
            </a:avLst>
          </a:prstGeom>
          <a:solidFill>
            <a:srgbClr val="FFFFFF">
              <a:alpha val="6000"/>
            </a:srgbClr>
          </a:solidFill>
          <a:ln w="6427">
            <a:solidFill>
              <a:srgbClr val="FFFFFF">
                <a:alpha val="10000"/>
              </a:srgbClr>
            </a:solidFill>
            <a:prstDash val="solid"/>
          </a:ln>
        </p:spPr>
      </p:sp>
      <p:sp>
        <p:nvSpPr>
          <p:cNvPr id="17" name="Text 15"/>
          <p:cNvSpPr/>
          <p:nvPr/>
        </p:nvSpPr>
        <p:spPr>
          <a:xfrm>
            <a:off x="1626823" y="7331815"/>
            <a:ext cx="4779203" cy="346579"/>
          </a:xfrm>
          <a:prstGeom prst="rect">
            <a:avLst/>
          </a:prstGeom>
          <a:noFill/>
          <a:ln/>
        </p:spPr>
        <p:txBody>
          <a:bodyPr wrap="square" lIns="25400" tIns="25400" rIns="25400" bIns="25400" rtlCol="0" anchor="t">
            <a:normAutofit/>
          </a:bodyPr>
          <a:lstStyle/>
          <a:p>
            <a:pPr algn="ctr" indent="0" marL="0">
              <a:buNone/>
            </a:pPr>
            <a:r>
              <a:rPr lang="en-US" sz="1822" dirty="0">
                <a:solidFill>
                  <a:srgbClr val="EEF3F9"/>
                </a:solidFill>
                <a:latin typeface="Courier New" pitchFamily="34" charset="0"/>
                <a:ea typeface="Courier New" pitchFamily="34" charset="-122"/>
                <a:cs typeface="Courier New" pitchFamily="34" charset="-120"/>
              </a:rPr>
              <a:t>Execution Engine</a:t>
            </a:r>
            <a:endParaRPr lang="en-US" sz="1822" dirty="0"/>
          </a:p>
        </p:txBody>
      </p:sp>
      <p:sp>
        <p:nvSpPr>
          <p:cNvPr id="18" name="Text 16"/>
          <p:cNvSpPr/>
          <p:nvPr/>
        </p:nvSpPr>
        <p:spPr>
          <a:xfrm>
            <a:off x="8016478" y="4678164"/>
            <a:ext cx="1335336" cy="336550"/>
          </a:xfrm>
          <a:prstGeom prst="rect">
            <a:avLst/>
          </a:prstGeom>
          <a:noFill/>
          <a:ln/>
        </p:spPr>
        <p:txBody>
          <a:bodyPr wrap="square" lIns="25400" tIns="25400" rIns="25400" bIns="25400" rtlCol="0" anchor="t">
            <a:normAutofit/>
          </a:bodyPr>
          <a:lstStyle/>
          <a:p>
            <a:pPr algn="l" indent="0" marL="0">
              <a:buNone/>
            </a:pPr>
            <a:r>
              <a:rPr lang="en-US" sz="1800" dirty="0">
                <a:solidFill>
                  <a:srgbClr val="8EA0B5"/>
                </a:solidFill>
                <a:latin typeface="Arial" pitchFamily="34" charset="0"/>
                <a:ea typeface="Arial" pitchFamily="34" charset="-122"/>
                <a:cs typeface="Arial" pitchFamily="34" charset="-120"/>
              </a:rPr>
              <a:t>interroge →</a:t>
            </a:r>
            <a:endParaRPr lang="en-US" sz="1800" dirty="0"/>
          </a:p>
        </p:txBody>
      </p:sp>
      <p:sp>
        <p:nvSpPr>
          <p:cNvPr id="19" name="Shape 17"/>
          <p:cNvSpPr/>
          <p:nvPr/>
        </p:nvSpPr>
        <p:spPr>
          <a:xfrm>
            <a:off x="7282096" y="5027812"/>
            <a:ext cx="2682805" cy="2020887"/>
          </a:xfrm>
          <a:prstGeom prst="roundRect">
            <a:avLst>
              <a:gd name="adj" fmla="val 5689"/>
            </a:avLst>
          </a:prstGeom>
          <a:gradFill rotWithShape="1">
            <a:gsLst>
              <a:gs pos="0">
                <a:srgbClr val="57DADA">
                  <a:alpha val="16000"/>
                </a:srgbClr>
              </a:gs>
              <a:gs pos="100000">
                <a:srgbClr val="FFFFFF">
                  <a:alpha val="3000"/>
                </a:srgbClr>
              </a:gs>
            </a:gsLst>
            <a:lin ang="4200000" scaled="0"/>
          </a:gradFill>
          <a:ln w="6388">
            <a:solidFill>
              <a:srgbClr val="81E4E1">
                <a:alpha val="37000"/>
              </a:srgbClr>
            </a:solidFill>
            <a:prstDash val="solid"/>
          </a:ln>
        </p:spPr>
      </p:sp>
      <p:sp>
        <p:nvSpPr>
          <p:cNvPr id="20" name="Text 18"/>
          <p:cNvSpPr/>
          <p:nvPr/>
        </p:nvSpPr>
        <p:spPr>
          <a:xfrm>
            <a:off x="7407932" y="5225828"/>
            <a:ext cx="2431133" cy="344706"/>
          </a:xfrm>
          <a:prstGeom prst="rect">
            <a:avLst/>
          </a:prstGeom>
          <a:noFill/>
          <a:ln/>
        </p:spPr>
        <p:txBody>
          <a:bodyPr wrap="square" lIns="25400" tIns="25400" rIns="25400" bIns="25400" rtlCol="0" anchor="t">
            <a:normAutofit/>
          </a:bodyPr>
          <a:lstStyle/>
          <a:p>
            <a:pPr algn="ctr" indent="0" marL="0">
              <a:buNone/>
            </a:pPr>
            <a:r>
              <a:rPr lang="en-US" sz="1811" dirty="0">
                <a:solidFill>
                  <a:srgbClr val="56DBDB"/>
                </a:solidFill>
                <a:latin typeface="Courier New" pitchFamily="34" charset="0"/>
                <a:ea typeface="Courier New" pitchFamily="34" charset="-122"/>
                <a:cs typeface="Courier New" pitchFamily="34" charset="-120"/>
              </a:rPr>
              <a:t>Hive Metastore</a:t>
            </a:r>
            <a:endParaRPr lang="en-US" sz="1811" dirty="0"/>
          </a:p>
        </p:txBody>
      </p:sp>
      <p:sp>
        <p:nvSpPr>
          <p:cNvPr id="21" name="Text 19"/>
          <p:cNvSpPr/>
          <p:nvPr/>
        </p:nvSpPr>
        <p:spPr>
          <a:xfrm>
            <a:off x="7480338" y="5609086"/>
            <a:ext cx="2286321" cy="1279696"/>
          </a:xfrm>
          <a:prstGeom prst="rect">
            <a:avLst/>
          </a:prstGeom>
          <a:noFill/>
          <a:ln/>
        </p:spPr>
        <p:txBody>
          <a:bodyPr wrap="square" lIns="25400" tIns="25400" rIns="25400" bIns="25400" rtlCol="0" anchor="t">
            <a:normAutofit/>
          </a:bodyPr>
          <a:lstStyle/>
          <a:p>
            <a:pPr algn="ctr" indent="0" marL="0">
              <a:lnSpc>
                <a:spcPct val="115714"/>
              </a:lnSpc>
              <a:buNone/>
            </a:pPr>
            <a:r>
              <a:rPr lang="en-US" sz="1811" dirty="0">
                <a:solidFill>
                  <a:srgbClr val="8EA0B5"/>
                </a:solidFill>
                <a:latin typeface="Arial" pitchFamily="34" charset="0"/>
                <a:ea typeface="Arial" pitchFamily="34" charset="-122"/>
                <a:cs typeface="Arial" pitchFamily="34" charset="-120"/>
              </a:rPr>
              <a:t>bases, tables, colonnes, partitions, formats — </a:t>
            </a:r>
            <a:pPr algn="ctr" indent="0" marL="0">
              <a:lnSpc>
                <a:spcPct val="115714"/>
              </a:lnSpc>
              <a:buNone/>
            </a:pPr>
            <a:r>
              <a:rPr lang="en-US" sz="1811" dirty="0">
                <a:solidFill>
                  <a:srgbClr val="EEF3F9"/>
                </a:solidFill>
                <a:latin typeface="Arial" pitchFamily="34" charset="0"/>
                <a:ea typeface="Arial" pitchFamily="34" charset="-122"/>
                <a:cs typeface="Arial" pitchFamily="34" charset="-120"/>
              </a:rPr>
              <a:t>jamais les données</a:t>
            </a:r>
            <a:endParaRPr lang="en-US" sz="1811" dirty="0"/>
          </a:p>
        </p:txBody>
      </p:sp>
      <p:sp>
        <p:nvSpPr>
          <p:cNvPr id="22" name="Text 20"/>
          <p:cNvSpPr/>
          <p:nvPr/>
        </p:nvSpPr>
        <p:spPr>
          <a:xfrm>
            <a:off x="10280849" y="4703912"/>
            <a:ext cx="7148563" cy="336550"/>
          </a:xfrm>
          <a:prstGeom prst="rect">
            <a:avLst/>
          </a:prstGeom>
          <a:noFill/>
          <a:ln/>
        </p:spPr>
        <p:txBody>
          <a:bodyPr wrap="square" lIns="25400" tIns="25400" rIns="25400" bIns="25400" rtlCol="0" anchor="t">
            <a:normAutofit/>
          </a:bodyPr>
          <a:lstStyle/>
          <a:p>
            <a:pPr algn="l" indent="0" marL="0">
              <a:buNone/>
            </a:pPr>
            <a:r>
              <a:rPr lang="en-US" sz="1875" b="1" dirty="0">
                <a:solidFill>
                  <a:srgbClr val="FFB46E">
                    <a:alpha val="98000"/>
                  </a:srgbClr>
                </a:solidFill>
                <a:latin typeface="Arial" pitchFamily="34" charset="0"/>
                <a:ea typeface="Arial" pitchFamily="34" charset="-122"/>
                <a:cs typeface="Arial" pitchFamily="34" charset="-120"/>
              </a:rPr>
              <a:t>Driver</a:t>
            </a:r>
            <a:pPr algn="l" indent="0" marL="0">
              <a:buNone/>
            </a:pPr>
            <a:r>
              <a:rPr lang="en-US" sz="1800" dirty="0">
                <a:solidFill>
                  <a:srgbClr val="8EA0B5">
                    <a:alpha val="98000"/>
                  </a:srgbClr>
                </a:solidFill>
                <a:latin typeface="Arial" pitchFamily="34" charset="0"/>
                <a:ea typeface="Arial" pitchFamily="34" charset="-122"/>
                <a:cs typeface="Arial" pitchFamily="34" charset="-120"/>
              </a:rPr>
              <a:t>— chef d'orchestre du cycle complet</a:t>
            </a:r>
            <a:endParaRPr lang="en-US" sz="1200" dirty="0"/>
          </a:p>
        </p:txBody>
      </p:sp>
      <p:sp>
        <p:nvSpPr>
          <p:cNvPr id="23" name="Text 21"/>
          <p:cNvSpPr/>
          <p:nvPr/>
        </p:nvSpPr>
        <p:spPr>
          <a:xfrm>
            <a:off x="10280849" y="5135712"/>
            <a:ext cx="7148563" cy="336550"/>
          </a:xfrm>
          <a:prstGeom prst="rect">
            <a:avLst/>
          </a:prstGeom>
          <a:noFill/>
          <a:ln/>
        </p:spPr>
        <p:txBody>
          <a:bodyPr wrap="square" lIns="25400" tIns="25400" rIns="25400" bIns="25400" rtlCol="0" anchor="t">
            <a:normAutofit/>
          </a:bodyPr>
          <a:lstStyle/>
          <a:p>
            <a:pPr algn="l" indent="0" marL="0">
              <a:buNone/>
            </a:pPr>
            <a:r>
              <a:rPr lang="en-US" sz="1875" b="1" dirty="0">
                <a:solidFill>
                  <a:srgbClr val="EEF3F9">
                    <a:alpha val="98000"/>
                  </a:srgbClr>
                </a:solidFill>
                <a:latin typeface="Arial" pitchFamily="34" charset="0"/>
                <a:ea typeface="Arial" pitchFamily="34" charset="-122"/>
                <a:cs typeface="Arial" pitchFamily="34" charset="-120"/>
              </a:rPr>
              <a:t>Compiler</a:t>
            </a:r>
            <a:pPr algn="l" indent="0" marL="0">
              <a:buNone/>
            </a:pPr>
            <a:r>
              <a:rPr lang="en-US" sz="1800" dirty="0">
                <a:solidFill>
                  <a:srgbClr val="8EA0B5">
                    <a:alpha val="98000"/>
                  </a:srgbClr>
                </a:solidFill>
                <a:latin typeface="Arial" pitchFamily="34" charset="0"/>
                <a:ea typeface="Arial" pitchFamily="34" charset="-122"/>
                <a:cs typeface="Arial" pitchFamily="34" charset="-120"/>
              </a:rPr>
              <a:t>— AST, validation syntaxique &amp; sémantique</a:t>
            </a:r>
            <a:endParaRPr lang="en-US" sz="1200" dirty="0"/>
          </a:p>
        </p:txBody>
      </p:sp>
      <p:sp>
        <p:nvSpPr>
          <p:cNvPr id="24" name="Text 22"/>
          <p:cNvSpPr/>
          <p:nvPr/>
        </p:nvSpPr>
        <p:spPr>
          <a:xfrm>
            <a:off x="10280849" y="5567512"/>
            <a:ext cx="7148563" cy="336550"/>
          </a:xfrm>
          <a:prstGeom prst="rect">
            <a:avLst/>
          </a:prstGeom>
          <a:noFill/>
          <a:ln/>
        </p:spPr>
        <p:txBody>
          <a:bodyPr wrap="square" lIns="25400" tIns="25400" rIns="25400" bIns="25400" rtlCol="0" anchor="t">
            <a:normAutofit/>
          </a:bodyPr>
          <a:lstStyle/>
          <a:p>
            <a:pPr algn="l" indent="0" marL="0">
              <a:buNone/>
            </a:pPr>
            <a:r>
              <a:rPr lang="en-US" sz="1875" b="1" dirty="0">
                <a:solidFill>
                  <a:srgbClr val="EEF3F9">
                    <a:alpha val="98000"/>
                  </a:srgbClr>
                </a:solidFill>
                <a:latin typeface="Arial" pitchFamily="34" charset="0"/>
                <a:ea typeface="Arial" pitchFamily="34" charset="-122"/>
                <a:cs typeface="Arial" pitchFamily="34" charset="-120"/>
              </a:rPr>
              <a:t>Optimizer</a:t>
            </a:r>
            <a:pPr algn="l" indent="0" marL="0">
              <a:buNone/>
            </a:pPr>
            <a:r>
              <a:rPr lang="en-US" sz="1800" dirty="0">
                <a:solidFill>
                  <a:srgbClr val="8EA0B5">
                    <a:alpha val="98000"/>
                  </a:srgbClr>
                </a:solidFill>
                <a:latin typeface="Arial" pitchFamily="34" charset="0"/>
                <a:ea typeface="Arial" pitchFamily="34" charset="-122"/>
                <a:cs typeface="Arial" pitchFamily="34" charset="-120"/>
              </a:rPr>
              <a:t>— CBO, Predicate Pushdown, Map Join, Partition Pruning</a:t>
            </a:r>
            <a:endParaRPr lang="en-US" sz="1200" dirty="0"/>
          </a:p>
        </p:txBody>
      </p:sp>
      <p:sp>
        <p:nvSpPr>
          <p:cNvPr id="25" name="Text 23"/>
          <p:cNvSpPr/>
          <p:nvPr/>
        </p:nvSpPr>
        <p:spPr>
          <a:xfrm>
            <a:off x="10280849" y="5999312"/>
            <a:ext cx="7148563" cy="635000"/>
          </a:xfrm>
          <a:prstGeom prst="rect">
            <a:avLst/>
          </a:prstGeom>
          <a:noFill/>
          <a:ln/>
        </p:spPr>
        <p:txBody>
          <a:bodyPr wrap="square" lIns="25400" tIns="25400" rIns="25400" bIns="25400" rtlCol="0" anchor="t">
            <a:normAutofit/>
          </a:bodyPr>
          <a:lstStyle/>
          <a:p>
            <a:pPr algn="l" indent="0" marL="0">
              <a:buNone/>
            </a:pPr>
            <a:r>
              <a:rPr lang="en-US" sz="1875" b="1" dirty="0">
                <a:solidFill>
                  <a:srgbClr val="EEF3F9">
                    <a:alpha val="98000"/>
                  </a:srgbClr>
                </a:solidFill>
                <a:latin typeface="Arial" pitchFamily="34" charset="0"/>
                <a:ea typeface="Arial" pitchFamily="34" charset="-122"/>
                <a:cs typeface="Arial" pitchFamily="34" charset="-120"/>
              </a:rPr>
              <a:t>Execution Engine </a:t>
            </a:r>
            <a:pPr algn="l" indent="0" marL="0">
              <a:buNone/>
            </a:pPr>
            <a:r>
              <a:rPr lang="en-US" sz="1800" dirty="0">
                <a:solidFill>
                  <a:srgbClr val="8EA0B5">
                    <a:alpha val="98000"/>
                  </a:srgbClr>
                </a:solidFill>
                <a:latin typeface="Arial" pitchFamily="34" charset="0"/>
                <a:ea typeface="Arial" pitchFamily="34" charset="-122"/>
                <a:cs typeface="Arial" pitchFamily="34" charset="-120"/>
              </a:rPr>
              <a:t>— Tez (défaut), Spark, ou MapReduce (historique)</a:t>
            </a:r>
            <a:endParaRPr lang="en-US" sz="1200" dirty="0"/>
          </a:p>
        </p:txBody>
      </p:sp>
      <p:sp>
        <p:nvSpPr>
          <p:cNvPr id="26" name="Text 24"/>
          <p:cNvSpPr/>
          <p:nvPr/>
        </p:nvSpPr>
        <p:spPr>
          <a:xfrm>
            <a:off x="10280849" y="6729562"/>
            <a:ext cx="7148563" cy="336550"/>
          </a:xfrm>
          <a:prstGeom prst="rect">
            <a:avLst/>
          </a:prstGeom>
          <a:noFill/>
          <a:ln/>
        </p:spPr>
        <p:txBody>
          <a:bodyPr wrap="square" lIns="25400" tIns="25400" rIns="25400" bIns="25400" rtlCol="0" anchor="t">
            <a:normAutofit/>
          </a:bodyPr>
          <a:lstStyle/>
          <a:p>
            <a:pPr algn="l" indent="0" marL="0">
              <a:buNone/>
            </a:pPr>
            <a:r>
              <a:rPr lang="en-US" sz="1875" b="1" dirty="0">
                <a:solidFill>
                  <a:srgbClr val="56DBDB">
                    <a:alpha val="98000"/>
                  </a:srgbClr>
                </a:solidFill>
                <a:latin typeface="Arial" pitchFamily="34" charset="0"/>
                <a:ea typeface="Arial" pitchFamily="34" charset="-122"/>
                <a:cs typeface="Arial" pitchFamily="34" charset="-120"/>
              </a:rPr>
              <a:t>Metastore</a:t>
            </a:r>
            <a:pPr algn="l" indent="0" marL="0">
              <a:buNone/>
            </a:pPr>
            <a:r>
              <a:rPr lang="en-US" sz="1800" dirty="0">
                <a:solidFill>
                  <a:srgbClr val="8EA0B5">
                    <a:alpha val="98000"/>
                  </a:srgbClr>
                </a:solidFill>
                <a:latin typeface="Arial" pitchFamily="34" charset="0"/>
                <a:ea typeface="Arial" pitchFamily="34" charset="-122"/>
                <a:cs typeface="Arial" pitchFamily="34" charset="-120"/>
              </a:rPr>
              <a:t>— catalogue partagé, réutilisé par Spark SQL (5.2)</a:t>
            </a:r>
            <a:endParaRPr lang="en-US" sz="12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0C121C"/>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FFB46E">
                    <a:alpha val="97000"/>
                  </a:srgbClr>
                </a:solidFill>
                <a:latin typeface="Courier New" pitchFamily="34" charset="0"/>
                <a:ea typeface="Courier New" pitchFamily="34" charset="-122"/>
                <a:cs typeface="Courier New" pitchFamily="34" charset="-120"/>
              </a:rPr>
              <a:t>ATELIER 5.1 · DATA FLOW</a:t>
            </a:r>
            <a:endParaRPr lang="en-US" sz="1800" dirty="0"/>
          </a:p>
        </p:txBody>
      </p:sp>
      <p:sp>
        <p:nvSpPr>
          <p:cNvPr id="3" name="Text 1"/>
          <p:cNvSpPr/>
          <p:nvPr/>
        </p:nvSpPr>
        <p:spPr>
          <a:xfrm>
            <a:off x="1066800" y="1314451"/>
            <a:ext cx="17769840"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Le cycle de vie d'une requête</a:t>
            </a:r>
            <a:endParaRPr lang="en-US" sz="4800" dirty="0"/>
          </a:p>
        </p:txBody>
      </p:sp>
      <p:sp>
        <p:nvSpPr>
          <p:cNvPr id="4" name="Shape 2"/>
          <p:cNvSpPr/>
          <p:nvPr/>
        </p:nvSpPr>
        <p:spPr>
          <a:xfrm>
            <a:off x="1066800" y="3979664"/>
            <a:ext cx="3924300" cy="1842691"/>
          </a:xfrm>
          <a:prstGeom prst="roundRect">
            <a:avLst>
              <a:gd name="adj" fmla="val 7237"/>
            </a:avLst>
          </a:prstGeom>
          <a:solidFill>
            <a:srgbClr val="FFFFFF">
              <a:alpha val="3000"/>
            </a:srgbClr>
          </a:solidFill>
          <a:ln w="6350">
            <a:solidFill>
              <a:srgbClr val="FFFFFF">
                <a:alpha val="10000"/>
              </a:srgbClr>
            </a:solidFill>
            <a:prstDash val="solid"/>
          </a:ln>
        </p:spPr>
      </p:sp>
      <p:sp>
        <p:nvSpPr>
          <p:cNvPr id="5" name="Text 3"/>
          <p:cNvSpPr/>
          <p:nvPr/>
        </p:nvSpPr>
        <p:spPr>
          <a:xfrm>
            <a:off x="1301750" y="4214614"/>
            <a:ext cx="3799840" cy="368300"/>
          </a:xfrm>
          <a:prstGeom prst="rect">
            <a:avLst/>
          </a:prstGeom>
          <a:noFill/>
          <a:ln/>
        </p:spPr>
        <p:txBody>
          <a:bodyPr wrap="square" lIns="25400" tIns="25400" rIns="25400" bIns="25400" rtlCol="0" anchor="t">
            <a:normAutofit/>
          </a:bodyPr>
          <a:lstStyle/>
          <a:p>
            <a:pPr algn="l" indent="0" marL="0">
              <a:buNone/>
            </a:pPr>
            <a:r>
              <a:rPr lang="en-US" sz="1950" dirty="0">
                <a:solidFill>
                  <a:srgbClr val="FFB46E"/>
                </a:solidFill>
                <a:latin typeface="Courier New" pitchFamily="34" charset="0"/>
                <a:ea typeface="Courier New" pitchFamily="34" charset="-122"/>
                <a:cs typeface="Courier New" pitchFamily="34" charset="-120"/>
              </a:rPr>
              <a:t>1</a:t>
            </a:r>
            <a:endParaRPr lang="en-US" sz="1950" dirty="0"/>
          </a:p>
        </p:txBody>
      </p:sp>
      <p:sp>
        <p:nvSpPr>
          <p:cNvPr id="6" name="Text 4"/>
          <p:cNvSpPr/>
          <p:nvPr/>
        </p:nvSpPr>
        <p:spPr>
          <a:xfrm>
            <a:off x="1301750" y="4621014"/>
            <a:ext cx="3799840" cy="311150"/>
          </a:xfrm>
          <a:prstGeom prst="rect">
            <a:avLst/>
          </a:prstGeom>
          <a:noFill/>
          <a:ln/>
        </p:spPr>
        <p:txBody>
          <a:bodyPr wrap="square" lIns="25400" tIns="25400" rIns="25400" bIns="25400" rtlCol="0" anchor="t">
            <a:normAutofit/>
          </a:bodyPr>
          <a:lstStyle/>
          <a:p>
            <a:pPr algn="l" indent="0" marL="0">
              <a:buNone/>
            </a:pPr>
            <a:r>
              <a:rPr lang="en-US" sz="1875" b="1" dirty="0">
                <a:solidFill>
                  <a:srgbClr val="EEF3F9"/>
                </a:solidFill>
                <a:latin typeface="Arial" pitchFamily="34" charset="0"/>
                <a:ea typeface="Arial" pitchFamily="34" charset="-122"/>
                <a:cs typeface="Arial" pitchFamily="34" charset="-120"/>
              </a:rPr>
              <a:t>Execute Query</a:t>
            </a:r>
            <a:endParaRPr lang="en-US" sz="1875" dirty="0"/>
          </a:p>
        </p:txBody>
      </p:sp>
      <p:sp>
        <p:nvSpPr>
          <p:cNvPr id="7" name="Text 5"/>
          <p:cNvSpPr/>
          <p:nvPr/>
        </p:nvSpPr>
        <p:spPr>
          <a:xfrm>
            <a:off x="1301750" y="4970264"/>
            <a:ext cx="3799840" cy="34667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8EA0B5"/>
                </a:solidFill>
                <a:latin typeface="Arial" pitchFamily="34" charset="0"/>
                <a:ea typeface="Arial" pitchFamily="34" charset="-122"/>
                <a:cs typeface="Arial" pitchFamily="34" charset="-120"/>
              </a:rPr>
              <a:t>Utilisateur → Driver</a:t>
            </a:r>
            <a:endParaRPr lang="en-US" sz="1800" dirty="0"/>
          </a:p>
        </p:txBody>
      </p:sp>
      <p:sp>
        <p:nvSpPr>
          <p:cNvPr id="8" name="Shape 6"/>
          <p:cNvSpPr/>
          <p:nvPr/>
        </p:nvSpPr>
        <p:spPr>
          <a:xfrm>
            <a:off x="5143500" y="3979664"/>
            <a:ext cx="3924300" cy="1842691"/>
          </a:xfrm>
          <a:prstGeom prst="roundRect">
            <a:avLst>
              <a:gd name="adj" fmla="val 7237"/>
            </a:avLst>
          </a:prstGeom>
          <a:solidFill>
            <a:srgbClr val="FFFFFF">
              <a:alpha val="3000"/>
            </a:srgbClr>
          </a:solidFill>
          <a:ln w="6350">
            <a:solidFill>
              <a:srgbClr val="FFFFFF">
                <a:alpha val="10000"/>
              </a:srgbClr>
            </a:solidFill>
            <a:prstDash val="solid"/>
          </a:ln>
        </p:spPr>
      </p:sp>
      <p:sp>
        <p:nvSpPr>
          <p:cNvPr id="9" name="Text 7"/>
          <p:cNvSpPr/>
          <p:nvPr/>
        </p:nvSpPr>
        <p:spPr>
          <a:xfrm>
            <a:off x="5378450" y="4214614"/>
            <a:ext cx="3799840" cy="368300"/>
          </a:xfrm>
          <a:prstGeom prst="rect">
            <a:avLst/>
          </a:prstGeom>
          <a:noFill/>
          <a:ln/>
        </p:spPr>
        <p:txBody>
          <a:bodyPr wrap="square" lIns="25400" tIns="25400" rIns="25400" bIns="25400" rtlCol="0" anchor="t">
            <a:normAutofit/>
          </a:bodyPr>
          <a:lstStyle/>
          <a:p>
            <a:pPr algn="l" indent="0" marL="0">
              <a:buNone/>
            </a:pPr>
            <a:r>
              <a:rPr lang="en-US" sz="1950" dirty="0">
                <a:solidFill>
                  <a:srgbClr val="FFB46E"/>
                </a:solidFill>
                <a:latin typeface="Courier New" pitchFamily="34" charset="0"/>
                <a:ea typeface="Courier New" pitchFamily="34" charset="-122"/>
                <a:cs typeface="Courier New" pitchFamily="34" charset="-120"/>
              </a:rPr>
              <a:t>2</a:t>
            </a:r>
            <a:endParaRPr lang="en-US" sz="1950" dirty="0"/>
          </a:p>
        </p:txBody>
      </p:sp>
      <p:sp>
        <p:nvSpPr>
          <p:cNvPr id="10" name="Text 8"/>
          <p:cNvSpPr/>
          <p:nvPr/>
        </p:nvSpPr>
        <p:spPr>
          <a:xfrm>
            <a:off x="5378450" y="4621014"/>
            <a:ext cx="3799840" cy="311150"/>
          </a:xfrm>
          <a:prstGeom prst="rect">
            <a:avLst/>
          </a:prstGeom>
          <a:noFill/>
          <a:ln/>
        </p:spPr>
        <p:txBody>
          <a:bodyPr wrap="square" lIns="25400" tIns="25400" rIns="25400" bIns="25400" rtlCol="0" anchor="t">
            <a:normAutofit/>
          </a:bodyPr>
          <a:lstStyle/>
          <a:p>
            <a:pPr algn="l" indent="0" marL="0">
              <a:buNone/>
            </a:pPr>
            <a:r>
              <a:rPr lang="en-US" sz="1875" b="1" dirty="0">
                <a:solidFill>
                  <a:srgbClr val="EEF3F9"/>
                </a:solidFill>
                <a:latin typeface="Arial" pitchFamily="34" charset="0"/>
                <a:ea typeface="Arial" pitchFamily="34" charset="-122"/>
                <a:cs typeface="Arial" pitchFamily="34" charset="-120"/>
              </a:rPr>
              <a:t>Get Plan</a:t>
            </a:r>
            <a:endParaRPr lang="en-US" sz="1875" dirty="0"/>
          </a:p>
        </p:txBody>
      </p:sp>
      <p:sp>
        <p:nvSpPr>
          <p:cNvPr id="11" name="Text 9"/>
          <p:cNvSpPr/>
          <p:nvPr/>
        </p:nvSpPr>
        <p:spPr>
          <a:xfrm>
            <a:off x="5378450" y="4970264"/>
            <a:ext cx="3558032" cy="655241"/>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8EA0B5"/>
                </a:solidFill>
                <a:latin typeface="Arial" pitchFamily="34" charset="0"/>
                <a:ea typeface="Arial" pitchFamily="34" charset="-122"/>
                <a:cs typeface="Arial" pitchFamily="34" charset="-120"/>
              </a:rPr>
              <a:t>Driver → Compiler, plan préliminaire</a:t>
            </a:r>
            <a:endParaRPr lang="en-US" sz="1800" dirty="0"/>
          </a:p>
        </p:txBody>
      </p:sp>
      <p:sp>
        <p:nvSpPr>
          <p:cNvPr id="12" name="Shape 10"/>
          <p:cNvSpPr/>
          <p:nvPr/>
        </p:nvSpPr>
        <p:spPr>
          <a:xfrm>
            <a:off x="9209126" y="3974464"/>
            <a:ext cx="3946448" cy="1853091"/>
          </a:xfrm>
          <a:prstGeom prst="roundRect">
            <a:avLst>
              <a:gd name="adj" fmla="val 7237"/>
            </a:avLst>
          </a:prstGeom>
          <a:solidFill>
            <a:srgbClr val="FFFFFF">
              <a:alpha val="3000"/>
            </a:srgbClr>
          </a:solidFill>
          <a:ln w="6386">
            <a:solidFill>
              <a:srgbClr val="FFFFFF">
                <a:alpha val="10000"/>
              </a:srgbClr>
            </a:solidFill>
            <a:prstDash val="solid"/>
          </a:ln>
        </p:spPr>
      </p:sp>
      <p:sp>
        <p:nvSpPr>
          <p:cNvPr id="13" name="Text 11"/>
          <p:cNvSpPr/>
          <p:nvPr/>
        </p:nvSpPr>
        <p:spPr>
          <a:xfrm>
            <a:off x="9445402" y="4210740"/>
            <a:ext cx="3821286" cy="370164"/>
          </a:xfrm>
          <a:prstGeom prst="rect">
            <a:avLst/>
          </a:prstGeom>
          <a:noFill/>
          <a:ln/>
        </p:spPr>
        <p:txBody>
          <a:bodyPr wrap="square" lIns="25400" tIns="25400" rIns="25400" bIns="25400" rtlCol="0" anchor="t">
            <a:normAutofit/>
          </a:bodyPr>
          <a:lstStyle/>
          <a:p>
            <a:pPr algn="l" indent="0" marL="0">
              <a:buNone/>
            </a:pPr>
            <a:r>
              <a:rPr lang="en-US" sz="1961" dirty="0">
                <a:solidFill>
                  <a:srgbClr val="FFB46E"/>
                </a:solidFill>
                <a:latin typeface="Courier New" pitchFamily="34" charset="0"/>
                <a:ea typeface="Courier New" pitchFamily="34" charset="-122"/>
                <a:cs typeface="Courier New" pitchFamily="34" charset="-120"/>
              </a:rPr>
              <a:t>3</a:t>
            </a:r>
            <a:endParaRPr lang="en-US" sz="1961" dirty="0"/>
          </a:p>
        </p:txBody>
      </p:sp>
      <p:sp>
        <p:nvSpPr>
          <p:cNvPr id="14" name="Text 12"/>
          <p:cNvSpPr/>
          <p:nvPr/>
        </p:nvSpPr>
        <p:spPr>
          <a:xfrm>
            <a:off x="9445402" y="4619434"/>
            <a:ext cx="3821286" cy="312691"/>
          </a:xfrm>
          <a:prstGeom prst="rect">
            <a:avLst/>
          </a:prstGeom>
          <a:noFill/>
          <a:ln/>
        </p:spPr>
        <p:txBody>
          <a:bodyPr wrap="square" lIns="25400" tIns="25400" rIns="25400" bIns="25400" rtlCol="0" anchor="t">
            <a:normAutofit/>
          </a:bodyPr>
          <a:lstStyle/>
          <a:p>
            <a:pPr algn="l" indent="0" marL="0">
              <a:buNone/>
            </a:pPr>
            <a:r>
              <a:rPr lang="en-US" sz="1886" b="1" dirty="0">
                <a:solidFill>
                  <a:srgbClr val="EEF3F9"/>
                </a:solidFill>
                <a:latin typeface="Arial" pitchFamily="34" charset="0"/>
                <a:ea typeface="Arial" pitchFamily="34" charset="-122"/>
                <a:cs typeface="Arial" pitchFamily="34" charset="-120"/>
              </a:rPr>
              <a:t>Get Metadata</a:t>
            </a:r>
            <a:endParaRPr lang="en-US" sz="1886" dirty="0"/>
          </a:p>
        </p:txBody>
      </p:sp>
      <p:sp>
        <p:nvSpPr>
          <p:cNvPr id="15" name="Text 13"/>
          <p:cNvSpPr/>
          <p:nvPr/>
        </p:nvSpPr>
        <p:spPr>
          <a:xfrm>
            <a:off x="9445402" y="4970655"/>
            <a:ext cx="3821286" cy="348412"/>
          </a:xfrm>
          <a:prstGeom prst="rect">
            <a:avLst/>
          </a:prstGeom>
          <a:noFill/>
          <a:ln/>
        </p:spPr>
        <p:txBody>
          <a:bodyPr wrap="square" lIns="25400" tIns="25400" rIns="25400" bIns="25400" rtlCol="0" anchor="t">
            <a:normAutofit/>
          </a:bodyPr>
          <a:lstStyle/>
          <a:p>
            <a:pPr algn="l" indent="0" marL="0">
              <a:lnSpc>
                <a:spcPct val="115714"/>
              </a:lnSpc>
              <a:buNone/>
            </a:pPr>
            <a:r>
              <a:rPr lang="en-US" sz="1810" dirty="0">
                <a:solidFill>
                  <a:srgbClr val="8EA0B5"/>
                </a:solidFill>
                <a:latin typeface="Arial" pitchFamily="34" charset="0"/>
                <a:ea typeface="Arial" pitchFamily="34" charset="-122"/>
                <a:cs typeface="Arial" pitchFamily="34" charset="-120"/>
              </a:rPr>
              <a:t>Compiler → Metastore</a:t>
            </a:r>
            <a:endParaRPr lang="en-US" sz="1810" dirty="0"/>
          </a:p>
        </p:txBody>
      </p:sp>
      <p:sp>
        <p:nvSpPr>
          <p:cNvPr id="16" name="Shape 14"/>
          <p:cNvSpPr/>
          <p:nvPr/>
        </p:nvSpPr>
        <p:spPr>
          <a:xfrm>
            <a:off x="13276808" y="3970229"/>
            <a:ext cx="3964484" cy="1861560"/>
          </a:xfrm>
          <a:prstGeom prst="roundRect">
            <a:avLst>
              <a:gd name="adj" fmla="val 7237"/>
            </a:avLst>
          </a:prstGeom>
          <a:solidFill>
            <a:srgbClr val="FFFFFF">
              <a:alpha val="3000"/>
            </a:srgbClr>
          </a:solidFill>
          <a:ln w="6415">
            <a:solidFill>
              <a:srgbClr val="FFFFFF">
                <a:alpha val="10000"/>
              </a:srgbClr>
            </a:solidFill>
            <a:prstDash val="solid"/>
          </a:ln>
        </p:spPr>
      </p:sp>
      <p:sp>
        <p:nvSpPr>
          <p:cNvPr id="17" name="Text 15"/>
          <p:cNvSpPr/>
          <p:nvPr/>
        </p:nvSpPr>
        <p:spPr>
          <a:xfrm>
            <a:off x="13514165" y="4207585"/>
            <a:ext cx="3838749" cy="371682"/>
          </a:xfrm>
          <a:prstGeom prst="rect">
            <a:avLst/>
          </a:prstGeom>
          <a:noFill/>
          <a:ln/>
        </p:spPr>
        <p:txBody>
          <a:bodyPr wrap="square" lIns="25400" tIns="25400" rIns="25400" bIns="25400" rtlCol="0" anchor="t">
            <a:normAutofit/>
          </a:bodyPr>
          <a:lstStyle/>
          <a:p>
            <a:pPr algn="l" indent="0" marL="0">
              <a:buNone/>
            </a:pPr>
            <a:r>
              <a:rPr lang="en-US" sz="1970" dirty="0">
                <a:solidFill>
                  <a:srgbClr val="FFB46E"/>
                </a:solidFill>
                <a:latin typeface="Courier New" pitchFamily="34" charset="0"/>
                <a:ea typeface="Courier New" pitchFamily="34" charset="-122"/>
                <a:cs typeface="Courier New" pitchFamily="34" charset="-120"/>
              </a:rPr>
              <a:t>4</a:t>
            </a:r>
            <a:endParaRPr lang="en-US" sz="1970" dirty="0"/>
          </a:p>
        </p:txBody>
      </p:sp>
      <p:sp>
        <p:nvSpPr>
          <p:cNvPr id="18" name="Text 16"/>
          <p:cNvSpPr/>
          <p:nvPr/>
        </p:nvSpPr>
        <p:spPr>
          <a:xfrm>
            <a:off x="13514165" y="4618147"/>
            <a:ext cx="3838749" cy="313946"/>
          </a:xfrm>
          <a:prstGeom prst="rect">
            <a:avLst/>
          </a:prstGeom>
          <a:noFill/>
          <a:ln/>
        </p:spPr>
        <p:txBody>
          <a:bodyPr wrap="square" lIns="25400" tIns="25400" rIns="25400" bIns="25400" rtlCol="0" anchor="t">
            <a:normAutofit/>
          </a:bodyPr>
          <a:lstStyle/>
          <a:p>
            <a:pPr algn="l" indent="0" marL="0">
              <a:buNone/>
            </a:pPr>
            <a:r>
              <a:rPr lang="en-US" sz="1894" b="1" dirty="0">
                <a:solidFill>
                  <a:srgbClr val="EEF3F9"/>
                </a:solidFill>
                <a:latin typeface="Arial" pitchFamily="34" charset="0"/>
                <a:ea typeface="Arial" pitchFamily="34" charset="-122"/>
                <a:cs typeface="Arial" pitchFamily="34" charset="-120"/>
              </a:rPr>
              <a:t>Send Metadata</a:t>
            </a:r>
            <a:endParaRPr lang="en-US" sz="1894" dirty="0"/>
          </a:p>
        </p:txBody>
      </p:sp>
      <p:sp>
        <p:nvSpPr>
          <p:cNvPr id="19" name="Text 17"/>
          <p:cNvSpPr/>
          <p:nvPr/>
        </p:nvSpPr>
        <p:spPr>
          <a:xfrm>
            <a:off x="13514165" y="4970973"/>
            <a:ext cx="3838749" cy="349830"/>
          </a:xfrm>
          <a:prstGeom prst="rect">
            <a:avLst/>
          </a:prstGeom>
          <a:noFill/>
          <a:ln/>
        </p:spPr>
        <p:txBody>
          <a:bodyPr wrap="square" lIns="25400" tIns="25400" rIns="25400" bIns="25400" rtlCol="0" anchor="t">
            <a:normAutofit/>
          </a:bodyPr>
          <a:lstStyle/>
          <a:p>
            <a:pPr algn="l" indent="0" marL="0">
              <a:lnSpc>
                <a:spcPct val="115714"/>
              </a:lnSpc>
              <a:buNone/>
            </a:pPr>
            <a:r>
              <a:rPr lang="en-US" sz="1818" dirty="0">
                <a:solidFill>
                  <a:srgbClr val="8EA0B5"/>
                </a:solidFill>
                <a:latin typeface="Arial" pitchFamily="34" charset="0"/>
                <a:ea typeface="Arial" pitchFamily="34" charset="-122"/>
                <a:cs typeface="Arial" pitchFamily="34" charset="-120"/>
              </a:rPr>
              <a:t>Metastore → Compiler</a:t>
            </a:r>
            <a:endParaRPr lang="en-US" sz="1818" dirty="0"/>
          </a:p>
        </p:txBody>
      </p:sp>
      <p:sp>
        <p:nvSpPr>
          <p:cNvPr id="20" name="Shape 18"/>
          <p:cNvSpPr/>
          <p:nvPr/>
        </p:nvSpPr>
        <p:spPr>
          <a:xfrm>
            <a:off x="1042503" y="5963346"/>
            <a:ext cx="3972893" cy="1865508"/>
          </a:xfrm>
          <a:prstGeom prst="roundRect">
            <a:avLst>
              <a:gd name="adj" fmla="val 7237"/>
            </a:avLst>
          </a:prstGeom>
          <a:solidFill>
            <a:srgbClr val="FFFFFF">
              <a:alpha val="3000"/>
            </a:srgbClr>
          </a:solidFill>
          <a:ln w="6429">
            <a:solidFill>
              <a:srgbClr val="FFFFFF">
                <a:alpha val="10000"/>
              </a:srgbClr>
            </a:solidFill>
            <a:prstDash val="solid"/>
          </a:ln>
        </p:spPr>
      </p:sp>
      <p:sp>
        <p:nvSpPr>
          <p:cNvPr id="21" name="Text 19"/>
          <p:cNvSpPr/>
          <p:nvPr/>
        </p:nvSpPr>
        <p:spPr>
          <a:xfrm>
            <a:off x="1280363" y="6201205"/>
            <a:ext cx="3846892" cy="372389"/>
          </a:xfrm>
          <a:prstGeom prst="rect">
            <a:avLst/>
          </a:prstGeom>
          <a:noFill/>
          <a:ln/>
        </p:spPr>
        <p:txBody>
          <a:bodyPr wrap="square" lIns="25400" tIns="25400" rIns="25400" bIns="25400" rtlCol="0" anchor="t">
            <a:normAutofit/>
          </a:bodyPr>
          <a:lstStyle/>
          <a:p>
            <a:pPr algn="l" indent="0" marL="0">
              <a:buNone/>
            </a:pPr>
            <a:r>
              <a:rPr lang="en-US" sz="1974" dirty="0">
                <a:solidFill>
                  <a:srgbClr val="FFB46E"/>
                </a:solidFill>
                <a:latin typeface="Courier New" pitchFamily="34" charset="0"/>
                <a:ea typeface="Courier New" pitchFamily="34" charset="-122"/>
                <a:cs typeface="Courier New" pitchFamily="34" charset="-120"/>
              </a:rPr>
              <a:t>5</a:t>
            </a:r>
            <a:endParaRPr lang="en-US" sz="1974" dirty="0"/>
          </a:p>
        </p:txBody>
      </p:sp>
      <p:sp>
        <p:nvSpPr>
          <p:cNvPr id="22" name="Text 20"/>
          <p:cNvSpPr/>
          <p:nvPr/>
        </p:nvSpPr>
        <p:spPr>
          <a:xfrm>
            <a:off x="1280363" y="6612638"/>
            <a:ext cx="3846892" cy="314530"/>
          </a:xfrm>
          <a:prstGeom prst="rect">
            <a:avLst/>
          </a:prstGeom>
          <a:noFill/>
          <a:ln/>
        </p:spPr>
        <p:txBody>
          <a:bodyPr wrap="square" lIns="25400" tIns="25400" rIns="25400" bIns="25400" rtlCol="0" anchor="t">
            <a:normAutofit/>
          </a:bodyPr>
          <a:lstStyle/>
          <a:p>
            <a:pPr algn="l" indent="0" marL="0">
              <a:buNone/>
            </a:pPr>
            <a:r>
              <a:rPr lang="en-US" sz="1898" b="1" dirty="0">
                <a:solidFill>
                  <a:srgbClr val="EEF3F9"/>
                </a:solidFill>
                <a:latin typeface="Arial" pitchFamily="34" charset="0"/>
                <a:ea typeface="Arial" pitchFamily="34" charset="-122"/>
                <a:cs typeface="Arial" pitchFamily="34" charset="-120"/>
              </a:rPr>
              <a:t>Send Plan</a:t>
            </a:r>
            <a:endParaRPr lang="en-US" sz="1898" dirty="0"/>
          </a:p>
        </p:txBody>
      </p:sp>
      <p:sp>
        <p:nvSpPr>
          <p:cNvPr id="23" name="Text 21"/>
          <p:cNvSpPr/>
          <p:nvPr/>
        </p:nvSpPr>
        <p:spPr>
          <a:xfrm>
            <a:off x="1280363" y="6966212"/>
            <a:ext cx="3846892" cy="350492"/>
          </a:xfrm>
          <a:prstGeom prst="rect">
            <a:avLst/>
          </a:prstGeom>
          <a:noFill/>
          <a:ln/>
        </p:spPr>
        <p:txBody>
          <a:bodyPr wrap="square" lIns="25400" tIns="25400" rIns="25400" bIns="25400" rtlCol="0" anchor="t">
            <a:normAutofit/>
          </a:bodyPr>
          <a:lstStyle/>
          <a:p>
            <a:pPr algn="l" indent="0" marL="0">
              <a:lnSpc>
                <a:spcPct val="115714"/>
              </a:lnSpc>
              <a:buNone/>
            </a:pPr>
            <a:r>
              <a:rPr lang="en-US" sz="1822" dirty="0">
                <a:solidFill>
                  <a:srgbClr val="8EA0B5"/>
                </a:solidFill>
                <a:latin typeface="Arial" pitchFamily="34" charset="0"/>
                <a:ea typeface="Arial" pitchFamily="34" charset="-122"/>
                <a:cs typeface="Arial" pitchFamily="34" charset="-120"/>
              </a:rPr>
              <a:t>Compiler → Driver, plan validé</a:t>
            </a:r>
            <a:endParaRPr lang="en-US" sz="1822" dirty="0"/>
          </a:p>
        </p:txBody>
      </p:sp>
      <p:sp>
        <p:nvSpPr>
          <p:cNvPr id="24" name="Shape 22"/>
          <p:cNvSpPr/>
          <p:nvPr/>
        </p:nvSpPr>
        <p:spPr>
          <a:xfrm>
            <a:off x="5121771" y="5964552"/>
            <a:ext cx="3967758" cy="1863097"/>
          </a:xfrm>
          <a:prstGeom prst="roundRect">
            <a:avLst>
              <a:gd name="adj" fmla="val 7237"/>
            </a:avLst>
          </a:prstGeom>
          <a:solidFill>
            <a:srgbClr val="FFFFFF">
              <a:alpha val="3000"/>
            </a:srgbClr>
          </a:solidFill>
          <a:ln w="6420">
            <a:solidFill>
              <a:srgbClr val="FFFFFF">
                <a:alpha val="10000"/>
              </a:srgbClr>
            </a:solidFill>
            <a:prstDash val="solid"/>
          </a:ln>
        </p:spPr>
      </p:sp>
      <p:sp>
        <p:nvSpPr>
          <p:cNvPr id="25" name="Text 23"/>
          <p:cNvSpPr/>
          <p:nvPr/>
        </p:nvSpPr>
        <p:spPr>
          <a:xfrm>
            <a:off x="5359323" y="6202104"/>
            <a:ext cx="3841919" cy="371957"/>
          </a:xfrm>
          <a:prstGeom prst="rect">
            <a:avLst/>
          </a:prstGeom>
          <a:noFill/>
          <a:ln/>
        </p:spPr>
        <p:txBody>
          <a:bodyPr wrap="square" lIns="25400" tIns="25400" rIns="25400" bIns="25400" rtlCol="0" anchor="t">
            <a:normAutofit/>
          </a:bodyPr>
          <a:lstStyle/>
          <a:p>
            <a:pPr algn="l" indent="0" marL="0">
              <a:buNone/>
            </a:pPr>
            <a:r>
              <a:rPr lang="en-US" sz="1972" dirty="0">
                <a:solidFill>
                  <a:srgbClr val="FFB46E"/>
                </a:solidFill>
                <a:latin typeface="Courier New" pitchFamily="34" charset="0"/>
                <a:ea typeface="Courier New" pitchFamily="34" charset="-122"/>
                <a:cs typeface="Courier New" pitchFamily="34" charset="-120"/>
              </a:rPr>
              <a:t>6</a:t>
            </a:r>
            <a:endParaRPr lang="en-US" sz="1972" dirty="0"/>
          </a:p>
        </p:txBody>
      </p:sp>
      <p:sp>
        <p:nvSpPr>
          <p:cNvPr id="26" name="Text 24"/>
          <p:cNvSpPr/>
          <p:nvPr/>
        </p:nvSpPr>
        <p:spPr>
          <a:xfrm>
            <a:off x="5359323" y="6613004"/>
            <a:ext cx="3841919" cy="314174"/>
          </a:xfrm>
          <a:prstGeom prst="rect">
            <a:avLst/>
          </a:prstGeom>
          <a:noFill/>
          <a:ln/>
        </p:spPr>
        <p:txBody>
          <a:bodyPr wrap="square" lIns="25400" tIns="25400" rIns="25400" bIns="25400" rtlCol="0" anchor="t">
            <a:normAutofit/>
          </a:bodyPr>
          <a:lstStyle/>
          <a:p>
            <a:pPr algn="l" indent="0" marL="0">
              <a:buNone/>
            </a:pPr>
            <a:r>
              <a:rPr lang="en-US" sz="1896" b="1" dirty="0">
                <a:solidFill>
                  <a:srgbClr val="EEF3F9"/>
                </a:solidFill>
                <a:latin typeface="Arial" pitchFamily="34" charset="0"/>
                <a:ea typeface="Arial" pitchFamily="34" charset="-122"/>
                <a:cs typeface="Arial" pitchFamily="34" charset="-120"/>
              </a:rPr>
              <a:t>Execute Plan</a:t>
            </a:r>
            <a:endParaRPr lang="en-US" sz="1896" dirty="0"/>
          </a:p>
        </p:txBody>
      </p:sp>
      <p:sp>
        <p:nvSpPr>
          <p:cNvPr id="27" name="Text 25"/>
          <p:cNvSpPr/>
          <p:nvPr/>
        </p:nvSpPr>
        <p:spPr>
          <a:xfrm>
            <a:off x="5359323" y="6966122"/>
            <a:ext cx="3841919" cy="350087"/>
          </a:xfrm>
          <a:prstGeom prst="rect">
            <a:avLst/>
          </a:prstGeom>
          <a:noFill/>
          <a:ln/>
        </p:spPr>
        <p:txBody>
          <a:bodyPr wrap="square" lIns="25400" tIns="25400" rIns="25400" bIns="25400" rtlCol="0" anchor="t">
            <a:normAutofit/>
          </a:bodyPr>
          <a:lstStyle/>
          <a:p>
            <a:pPr algn="l" indent="0" marL="0">
              <a:lnSpc>
                <a:spcPct val="115714"/>
              </a:lnSpc>
              <a:buNone/>
            </a:pPr>
            <a:r>
              <a:rPr lang="en-US" sz="1820" dirty="0">
                <a:solidFill>
                  <a:srgbClr val="8EA0B5"/>
                </a:solidFill>
                <a:latin typeface="Arial" pitchFamily="34" charset="0"/>
                <a:ea typeface="Arial" pitchFamily="34" charset="-122"/>
                <a:cs typeface="Arial" pitchFamily="34" charset="-120"/>
              </a:rPr>
              <a:t>Driver → Execution Engine</a:t>
            </a:r>
            <a:endParaRPr lang="en-US" sz="1820" dirty="0"/>
          </a:p>
        </p:txBody>
      </p:sp>
      <p:sp>
        <p:nvSpPr>
          <p:cNvPr id="28" name="Shape 26"/>
          <p:cNvSpPr/>
          <p:nvPr/>
        </p:nvSpPr>
        <p:spPr>
          <a:xfrm>
            <a:off x="9201554" y="5970461"/>
            <a:ext cx="8038293" cy="1851279"/>
          </a:xfrm>
          <a:prstGeom prst="roundRect">
            <a:avLst>
              <a:gd name="adj" fmla="val 7237"/>
            </a:avLst>
          </a:prstGeom>
          <a:gradFill rotWithShape="1">
            <a:gsLst>
              <a:gs pos="0">
                <a:srgbClr val="FFB470">
                  <a:alpha val="16000"/>
                </a:srgbClr>
              </a:gs>
              <a:gs pos="100000">
                <a:srgbClr val="FFFFFF">
                  <a:alpha val="3000"/>
                </a:srgbClr>
              </a:gs>
            </a:gsLst>
            <a:lin ang="4200000" scaled="0"/>
          </a:gradFill>
          <a:ln w="6380">
            <a:solidFill>
              <a:srgbClr val="FFC18C">
                <a:alpha val="37000"/>
              </a:srgbClr>
            </a:solidFill>
            <a:prstDash val="solid"/>
          </a:ln>
        </p:spPr>
      </p:sp>
      <p:sp>
        <p:nvSpPr>
          <p:cNvPr id="29" name="Text 27"/>
          <p:cNvSpPr/>
          <p:nvPr/>
        </p:nvSpPr>
        <p:spPr>
          <a:xfrm>
            <a:off x="9437600" y="6206506"/>
            <a:ext cx="8322822" cy="369839"/>
          </a:xfrm>
          <a:prstGeom prst="rect">
            <a:avLst/>
          </a:prstGeom>
          <a:noFill/>
          <a:ln/>
        </p:spPr>
        <p:txBody>
          <a:bodyPr wrap="square" lIns="25400" tIns="25400" rIns="25400" bIns="25400" rtlCol="0" anchor="t">
            <a:normAutofit/>
          </a:bodyPr>
          <a:lstStyle/>
          <a:p>
            <a:pPr algn="l" indent="0" marL="0">
              <a:buNone/>
            </a:pPr>
            <a:r>
              <a:rPr lang="en-US" sz="1959" dirty="0">
                <a:solidFill>
                  <a:srgbClr val="FFB46E"/>
                </a:solidFill>
                <a:latin typeface="Courier New" pitchFamily="34" charset="0"/>
                <a:ea typeface="Courier New" pitchFamily="34" charset="-122"/>
                <a:cs typeface="Courier New" pitchFamily="34" charset="-120"/>
              </a:rPr>
              <a:t>7</a:t>
            </a:r>
            <a:endParaRPr lang="en-US" sz="1959" dirty="0"/>
          </a:p>
        </p:txBody>
      </p:sp>
      <p:sp>
        <p:nvSpPr>
          <p:cNvPr id="30" name="Text 28"/>
          <p:cNvSpPr/>
          <p:nvPr/>
        </p:nvSpPr>
        <p:spPr>
          <a:xfrm>
            <a:off x="9437600" y="6614800"/>
            <a:ext cx="8322822" cy="312423"/>
          </a:xfrm>
          <a:prstGeom prst="rect">
            <a:avLst/>
          </a:prstGeom>
          <a:noFill/>
          <a:ln/>
        </p:spPr>
        <p:txBody>
          <a:bodyPr wrap="square" lIns="25400" tIns="25400" rIns="25400" bIns="25400" rtlCol="0" anchor="t">
            <a:normAutofit/>
          </a:bodyPr>
          <a:lstStyle/>
          <a:p>
            <a:pPr algn="l" indent="0" marL="0">
              <a:buNone/>
            </a:pPr>
            <a:r>
              <a:rPr lang="en-US" sz="1884" b="1" dirty="0">
                <a:solidFill>
                  <a:srgbClr val="EEF3F9"/>
                </a:solidFill>
                <a:latin typeface="Arial" pitchFamily="34" charset="0"/>
                <a:ea typeface="Arial" pitchFamily="34" charset="-122"/>
                <a:cs typeface="Arial" pitchFamily="34" charset="-120"/>
              </a:rPr>
              <a:t>Execute Job → Fetch Result</a:t>
            </a:r>
            <a:endParaRPr lang="en-US" sz="1884" dirty="0"/>
          </a:p>
        </p:txBody>
      </p:sp>
      <p:sp>
        <p:nvSpPr>
          <p:cNvPr id="31" name="Text 29"/>
          <p:cNvSpPr/>
          <p:nvPr/>
        </p:nvSpPr>
        <p:spPr>
          <a:xfrm>
            <a:off x="9437600" y="6965677"/>
            <a:ext cx="7793188" cy="658118"/>
          </a:xfrm>
          <a:prstGeom prst="rect">
            <a:avLst/>
          </a:prstGeom>
          <a:noFill/>
          <a:ln/>
        </p:spPr>
        <p:txBody>
          <a:bodyPr wrap="square" lIns="25400" tIns="25400" rIns="25400" bIns="25400" rtlCol="0" anchor="t">
            <a:normAutofit/>
          </a:bodyPr>
          <a:lstStyle/>
          <a:p>
            <a:pPr algn="l" indent="0" marL="0">
              <a:lnSpc>
                <a:spcPct val="115714"/>
              </a:lnSpc>
              <a:buNone/>
            </a:pPr>
            <a:r>
              <a:rPr lang="en-US" sz="1808" dirty="0">
                <a:solidFill>
                  <a:srgbClr val="8EA0B5"/>
                </a:solidFill>
                <a:latin typeface="Arial" pitchFamily="34" charset="0"/>
                <a:ea typeface="Arial" pitchFamily="34" charset="-122"/>
                <a:cs typeface="Arial" pitchFamily="34" charset="-120"/>
              </a:rPr>
              <a:t>Engine → YARN → DataNodes ; les résultats remontent au Driver puis à l'utilisateur</a:t>
            </a:r>
            <a:endParaRPr lang="en-US" sz="1808"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0A0E15"/>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FFB46E">
                    <a:alpha val="97000"/>
                  </a:srgbClr>
                </a:solidFill>
                <a:latin typeface="Courier New" pitchFamily="34" charset="0"/>
                <a:ea typeface="Courier New" pitchFamily="34" charset="-122"/>
                <a:cs typeface="Courier New" pitchFamily="34" charset="-120"/>
              </a:rPr>
              <a:t>ATELIER 5.1 · TYPES</a:t>
            </a:r>
            <a:endParaRPr lang="en-US" sz="1800" dirty="0"/>
          </a:p>
        </p:txBody>
      </p:sp>
      <p:sp>
        <p:nvSpPr>
          <p:cNvPr id="3" name="Text 1"/>
          <p:cNvSpPr/>
          <p:nvPr/>
        </p:nvSpPr>
        <p:spPr>
          <a:xfrm>
            <a:off x="1066800" y="1314450"/>
            <a:ext cx="17769840"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Types de données Hive</a:t>
            </a:r>
            <a:endParaRPr lang="en-US" sz="4800" dirty="0"/>
          </a:p>
        </p:txBody>
      </p:sp>
      <p:sp>
        <p:nvSpPr>
          <p:cNvPr id="4" name="Shape 2"/>
          <p:cNvSpPr/>
          <p:nvPr/>
        </p:nvSpPr>
        <p:spPr>
          <a:xfrm>
            <a:off x="1066800" y="2272209"/>
            <a:ext cx="7546678" cy="7195642"/>
          </a:xfrm>
          <a:prstGeom prst="roundRect">
            <a:avLst>
              <a:gd name="adj" fmla="val 2118"/>
            </a:avLst>
          </a:prstGeom>
          <a:solidFill>
            <a:srgbClr val="FFFFFF">
              <a:alpha val="3000"/>
            </a:srgbClr>
          </a:solidFill>
          <a:ln w="6350">
            <a:solidFill>
              <a:srgbClr val="FFFFFF">
                <a:alpha val="10000"/>
              </a:srgbClr>
            </a:solidFill>
            <a:prstDash val="solid"/>
          </a:ln>
        </p:spPr>
      </p:sp>
      <p:sp>
        <p:nvSpPr>
          <p:cNvPr id="5" name="Text 3"/>
          <p:cNvSpPr/>
          <p:nvPr/>
        </p:nvSpPr>
        <p:spPr>
          <a:xfrm>
            <a:off x="1377950" y="2564309"/>
            <a:ext cx="7616815" cy="342900"/>
          </a:xfrm>
          <a:prstGeom prst="rect">
            <a:avLst/>
          </a:prstGeom>
          <a:noFill/>
          <a:ln/>
        </p:spPr>
        <p:txBody>
          <a:bodyPr wrap="square" lIns="25400" tIns="25400" rIns="25400" bIns="25400" rtlCol="0" anchor="t">
            <a:normAutofit/>
          </a:bodyPr>
          <a:lstStyle/>
          <a:p>
            <a:pPr algn="l" indent="0" marL="0">
              <a:buNone/>
            </a:pPr>
            <a:r>
              <a:rPr lang="en-US" sz="2100" b="1" dirty="0">
                <a:solidFill>
                  <a:srgbClr val="EEF3F9"/>
                </a:solidFill>
                <a:latin typeface="Arial" pitchFamily="34" charset="0"/>
                <a:ea typeface="Arial" pitchFamily="34" charset="-122"/>
                <a:cs typeface="Arial" pitchFamily="34" charset="-120"/>
              </a:rPr>
              <a:t>Primitifs</a:t>
            </a:r>
            <a:endParaRPr lang="en-US" sz="2100" dirty="0"/>
          </a:p>
        </p:txBody>
      </p:sp>
      <p:sp>
        <p:nvSpPr>
          <p:cNvPr id="6" name="Shape 4"/>
          <p:cNvSpPr/>
          <p:nvPr/>
        </p:nvSpPr>
        <p:spPr>
          <a:xfrm>
            <a:off x="1377950" y="3021509"/>
            <a:ext cx="1925340" cy="469900"/>
          </a:xfrm>
          <a:prstGeom prst="roundRect">
            <a:avLst>
              <a:gd name="adj" fmla="val 16216"/>
            </a:avLst>
          </a:prstGeom>
          <a:solidFill>
            <a:srgbClr val="FFFFFF">
              <a:alpha val="6000"/>
            </a:srgbClr>
          </a:solidFill>
          <a:ln w="6350">
            <a:solidFill>
              <a:srgbClr val="FFFFFF">
                <a:alpha val="10000"/>
              </a:srgbClr>
            </a:solidFill>
            <a:prstDash val="solid"/>
          </a:ln>
        </p:spPr>
      </p:sp>
      <p:sp>
        <p:nvSpPr>
          <p:cNvPr id="7" name="Text 5"/>
          <p:cNvSpPr/>
          <p:nvPr/>
        </p:nvSpPr>
        <p:spPr>
          <a:xfrm>
            <a:off x="1517650" y="3104059"/>
            <a:ext cx="172214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EEF3F9"/>
                </a:solidFill>
                <a:latin typeface="Courier New" pitchFamily="34" charset="0"/>
                <a:ea typeface="Courier New" pitchFamily="34" charset="-122"/>
                <a:cs typeface="Courier New" pitchFamily="34" charset="-120"/>
              </a:rPr>
              <a:t>INT · BIGINT</a:t>
            </a:r>
            <a:endParaRPr lang="en-US" sz="1800" dirty="0"/>
          </a:p>
        </p:txBody>
      </p:sp>
      <p:sp>
        <p:nvSpPr>
          <p:cNvPr id="8" name="Shape 6"/>
          <p:cNvSpPr/>
          <p:nvPr/>
        </p:nvSpPr>
        <p:spPr>
          <a:xfrm>
            <a:off x="3398540" y="3021509"/>
            <a:ext cx="2199680" cy="469900"/>
          </a:xfrm>
          <a:prstGeom prst="roundRect">
            <a:avLst>
              <a:gd name="adj" fmla="val 16216"/>
            </a:avLst>
          </a:prstGeom>
          <a:solidFill>
            <a:srgbClr val="FFFFFF">
              <a:alpha val="6000"/>
            </a:srgbClr>
          </a:solidFill>
          <a:ln w="6350">
            <a:solidFill>
              <a:srgbClr val="FFFFFF">
                <a:alpha val="10000"/>
              </a:srgbClr>
            </a:solidFill>
            <a:prstDash val="solid"/>
          </a:ln>
        </p:spPr>
      </p:sp>
      <p:sp>
        <p:nvSpPr>
          <p:cNvPr id="9" name="Text 7"/>
          <p:cNvSpPr/>
          <p:nvPr/>
        </p:nvSpPr>
        <p:spPr>
          <a:xfrm>
            <a:off x="3538240" y="3104059"/>
            <a:ext cx="199648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EEF3F9"/>
                </a:solidFill>
                <a:latin typeface="Courier New" pitchFamily="34" charset="0"/>
                <a:ea typeface="Courier New" pitchFamily="34" charset="-122"/>
                <a:cs typeface="Courier New" pitchFamily="34" charset="-120"/>
              </a:rPr>
              <a:t>FLOAT · DOUBLE</a:t>
            </a:r>
            <a:endParaRPr lang="en-US" sz="1800" dirty="0"/>
          </a:p>
        </p:txBody>
      </p:sp>
      <p:sp>
        <p:nvSpPr>
          <p:cNvPr id="10" name="Shape 8"/>
          <p:cNvSpPr/>
          <p:nvPr/>
        </p:nvSpPr>
        <p:spPr>
          <a:xfrm>
            <a:off x="5693470" y="3021509"/>
            <a:ext cx="1239540" cy="469900"/>
          </a:xfrm>
          <a:prstGeom prst="roundRect">
            <a:avLst>
              <a:gd name="adj" fmla="val 16216"/>
            </a:avLst>
          </a:prstGeom>
          <a:solidFill>
            <a:srgbClr val="FFFFFF">
              <a:alpha val="6000"/>
            </a:srgbClr>
          </a:solidFill>
          <a:ln w="6350">
            <a:solidFill>
              <a:srgbClr val="FFFFFF">
                <a:alpha val="10000"/>
              </a:srgbClr>
            </a:solidFill>
            <a:prstDash val="solid"/>
          </a:ln>
        </p:spPr>
      </p:sp>
      <p:sp>
        <p:nvSpPr>
          <p:cNvPr id="11" name="Text 9"/>
          <p:cNvSpPr/>
          <p:nvPr/>
        </p:nvSpPr>
        <p:spPr>
          <a:xfrm>
            <a:off x="5833170" y="3104059"/>
            <a:ext cx="103634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EEF3F9"/>
                </a:solidFill>
                <a:latin typeface="Courier New" pitchFamily="34" charset="0"/>
                <a:ea typeface="Courier New" pitchFamily="34" charset="-122"/>
                <a:cs typeface="Courier New" pitchFamily="34" charset="-120"/>
              </a:rPr>
              <a:t>DECIMAL</a:t>
            </a:r>
            <a:endParaRPr lang="en-US" sz="1800" dirty="0"/>
          </a:p>
        </p:txBody>
      </p:sp>
      <p:sp>
        <p:nvSpPr>
          <p:cNvPr id="12" name="Shape 10"/>
          <p:cNvSpPr/>
          <p:nvPr/>
        </p:nvSpPr>
        <p:spPr>
          <a:xfrm>
            <a:off x="1377950" y="3586659"/>
            <a:ext cx="2474020" cy="469900"/>
          </a:xfrm>
          <a:prstGeom prst="roundRect">
            <a:avLst>
              <a:gd name="adj" fmla="val 16216"/>
            </a:avLst>
          </a:prstGeom>
          <a:solidFill>
            <a:srgbClr val="FFFFFF">
              <a:alpha val="6000"/>
            </a:srgbClr>
          </a:solidFill>
          <a:ln w="6350">
            <a:solidFill>
              <a:srgbClr val="FFFFFF">
                <a:alpha val="10000"/>
              </a:srgbClr>
            </a:solidFill>
            <a:prstDash val="solid"/>
          </a:ln>
        </p:spPr>
      </p:sp>
      <p:sp>
        <p:nvSpPr>
          <p:cNvPr id="13" name="Text 11"/>
          <p:cNvSpPr/>
          <p:nvPr/>
        </p:nvSpPr>
        <p:spPr>
          <a:xfrm>
            <a:off x="1517650" y="3669209"/>
            <a:ext cx="22708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EEF3F9"/>
                </a:solidFill>
                <a:latin typeface="Courier New" pitchFamily="34" charset="0"/>
                <a:ea typeface="Courier New" pitchFamily="34" charset="-122"/>
                <a:cs typeface="Courier New" pitchFamily="34" charset="-120"/>
              </a:rPr>
              <a:t>STRING · VARCHAR</a:t>
            </a:r>
            <a:endParaRPr lang="en-US" sz="1800" dirty="0"/>
          </a:p>
        </p:txBody>
      </p:sp>
      <p:sp>
        <p:nvSpPr>
          <p:cNvPr id="14" name="Shape 12"/>
          <p:cNvSpPr/>
          <p:nvPr/>
        </p:nvSpPr>
        <p:spPr>
          <a:xfrm>
            <a:off x="3947220" y="3586659"/>
            <a:ext cx="1239540" cy="469900"/>
          </a:xfrm>
          <a:prstGeom prst="roundRect">
            <a:avLst>
              <a:gd name="adj" fmla="val 16216"/>
            </a:avLst>
          </a:prstGeom>
          <a:solidFill>
            <a:srgbClr val="FFFFFF">
              <a:alpha val="6000"/>
            </a:srgbClr>
          </a:solidFill>
          <a:ln w="6350">
            <a:solidFill>
              <a:srgbClr val="FFFFFF">
                <a:alpha val="10000"/>
              </a:srgbClr>
            </a:solidFill>
            <a:prstDash val="solid"/>
          </a:ln>
        </p:spPr>
      </p:sp>
      <p:sp>
        <p:nvSpPr>
          <p:cNvPr id="15" name="Text 13"/>
          <p:cNvSpPr/>
          <p:nvPr/>
        </p:nvSpPr>
        <p:spPr>
          <a:xfrm>
            <a:off x="4086920" y="3669209"/>
            <a:ext cx="103634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EEF3F9"/>
                </a:solidFill>
                <a:latin typeface="Courier New" pitchFamily="34" charset="0"/>
                <a:ea typeface="Courier New" pitchFamily="34" charset="-122"/>
                <a:cs typeface="Courier New" pitchFamily="34" charset="-120"/>
              </a:rPr>
              <a:t>BOOLEAN</a:t>
            </a:r>
            <a:endParaRPr lang="en-US" sz="1800" dirty="0"/>
          </a:p>
        </p:txBody>
      </p:sp>
      <p:sp>
        <p:nvSpPr>
          <p:cNvPr id="16" name="Shape 14"/>
          <p:cNvSpPr/>
          <p:nvPr/>
        </p:nvSpPr>
        <p:spPr>
          <a:xfrm>
            <a:off x="5282010" y="3586659"/>
            <a:ext cx="2474020" cy="469900"/>
          </a:xfrm>
          <a:prstGeom prst="roundRect">
            <a:avLst>
              <a:gd name="adj" fmla="val 16216"/>
            </a:avLst>
          </a:prstGeom>
          <a:solidFill>
            <a:srgbClr val="FFFFFF">
              <a:alpha val="6000"/>
            </a:srgbClr>
          </a:solidFill>
          <a:ln w="6350">
            <a:solidFill>
              <a:srgbClr val="FFFFFF">
                <a:alpha val="10000"/>
              </a:srgbClr>
            </a:solidFill>
            <a:prstDash val="solid"/>
          </a:ln>
        </p:spPr>
      </p:sp>
      <p:sp>
        <p:nvSpPr>
          <p:cNvPr id="17" name="Text 15"/>
          <p:cNvSpPr/>
          <p:nvPr/>
        </p:nvSpPr>
        <p:spPr>
          <a:xfrm>
            <a:off x="5421710" y="3669209"/>
            <a:ext cx="22708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EEF3F9"/>
                </a:solidFill>
                <a:latin typeface="Courier New" pitchFamily="34" charset="0"/>
                <a:ea typeface="Courier New" pitchFamily="34" charset="-122"/>
                <a:cs typeface="Courier New" pitchFamily="34" charset="-120"/>
              </a:rPr>
              <a:t>DATE · TIMESTAMP</a:t>
            </a:r>
            <a:endParaRPr lang="en-US" sz="1800" dirty="0"/>
          </a:p>
        </p:txBody>
      </p:sp>
      <p:sp>
        <p:nvSpPr>
          <p:cNvPr id="18" name="Text 16"/>
          <p:cNvSpPr/>
          <p:nvPr/>
        </p:nvSpPr>
        <p:spPr>
          <a:xfrm>
            <a:off x="1377950" y="8459589"/>
            <a:ext cx="7616815" cy="35808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EEF3F9"/>
                </a:solidFill>
                <a:latin typeface="Arial" pitchFamily="34" charset="0"/>
                <a:ea typeface="Arial" pitchFamily="34" charset="-122"/>
                <a:cs typeface="Arial" pitchFamily="34" charset="-120"/>
              </a:rPr>
              <a:t>STRING </a:t>
            </a:r>
            <a:pPr algn="l" indent="0" marL="0">
              <a:lnSpc>
                <a:spcPct val="120000"/>
              </a:lnSpc>
              <a:buNone/>
            </a:pPr>
            <a:r>
              <a:rPr lang="en-US" sz="1800" dirty="0">
                <a:solidFill>
                  <a:srgbClr val="8EA0B5"/>
                </a:solidFill>
                <a:latin typeface="Arial" pitchFamily="34" charset="0"/>
                <a:ea typeface="Arial" pitchFamily="34" charset="-122"/>
                <a:cs typeface="Arial" pitchFamily="34" charset="-120"/>
              </a:rPr>
              <a:t>préféré à VARCHAR · </a:t>
            </a:r>
            <a:pPr algn="l" indent="0" marL="0">
              <a:lnSpc>
                <a:spcPct val="120000"/>
              </a:lnSpc>
              <a:buNone/>
            </a:pPr>
            <a:r>
              <a:rPr lang="en-US" sz="1800" dirty="0">
                <a:solidFill>
                  <a:srgbClr val="EEF3F9"/>
                </a:solidFill>
                <a:latin typeface="Arial" pitchFamily="34" charset="0"/>
                <a:ea typeface="Arial" pitchFamily="34" charset="-122"/>
                <a:cs typeface="Arial" pitchFamily="34" charset="-120"/>
              </a:rPr>
              <a:t>DOUBLE </a:t>
            </a:r>
            <a:pPr algn="l" indent="0" marL="0">
              <a:lnSpc>
                <a:spcPct val="120000"/>
              </a:lnSpc>
              <a:buNone/>
            </a:pPr>
            <a:r>
              <a:rPr lang="en-US" sz="1800" dirty="0">
                <a:solidFill>
                  <a:srgbClr val="8EA0B5"/>
                </a:solidFill>
                <a:latin typeface="Arial" pitchFamily="34" charset="0"/>
                <a:ea typeface="Arial" pitchFamily="34" charset="-122"/>
                <a:cs typeface="Arial" pitchFamily="34" charset="-120"/>
              </a:rPr>
              <a:t>plus précis que FLOAT</a:t>
            </a:r>
            <a:endParaRPr lang="en-US" sz="1800" dirty="0"/>
          </a:p>
        </p:txBody>
      </p:sp>
      <p:sp>
        <p:nvSpPr>
          <p:cNvPr id="19" name="Text 17"/>
          <p:cNvSpPr/>
          <p:nvPr/>
        </p:nvSpPr>
        <p:spPr>
          <a:xfrm>
            <a:off x="1377950" y="8855770"/>
            <a:ext cx="7616815" cy="35808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EEF3F9"/>
                </a:solidFill>
                <a:latin typeface="Arial" pitchFamily="34" charset="0"/>
                <a:ea typeface="Arial" pitchFamily="34" charset="-122"/>
                <a:cs typeface="Arial" pitchFamily="34" charset="-120"/>
              </a:rPr>
              <a:t>DECIMAL </a:t>
            </a:r>
            <a:pPr algn="l" indent="0" marL="0">
              <a:lnSpc>
                <a:spcPct val="120000"/>
              </a:lnSpc>
              <a:buNone/>
            </a:pPr>
            <a:r>
              <a:rPr lang="en-US" sz="1800" dirty="0">
                <a:solidFill>
                  <a:srgbClr val="8EA0B5"/>
                </a:solidFill>
                <a:latin typeface="Arial" pitchFamily="34" charset="0"/>
                <a:ea typeface="Arial" pitchFamily="34" charset="-122"/>
                <a:cs typeface="Arial" pitchFamily="34" charset="-120"/>
              </a:rPr>
              <a:t>pour les montants · </a:t>
            </a:r>
            <a:pPr algn="l" indent="0" marL="0">
              <a:lnSpc>
                <a:spcPct val="120000"/>
              </a:lnSpc>
              <a:buNone/>
            </a:pPr>
            <a:r>
              <a:rPr lang="en-US" sz="1800" dirty="0">
                <a:solidFill>
                  <a:srgbClr val="EEF3F9"/>
                </a:solidFill>
                <a:latin typeface="Arial" pitchFamily="34" charset="0"/>
                <a:ea typeface="Arial" pitchFamily="34" charset="-122"/>
                <a:cs typeface="Arial" pitchFamily="34" charset="-120"/>
              </a:rPr>
              <a:t>TIMESTAMP </a:t>
            </a:r>
            <a:pPr algn="l" indent="0" marL="0">
              <a:lnSpc>
                <a:spcPct val="120000"/>
              </a:lnSpc>
              <a:buNone/>
            </a:pPr>
            <a:r>
              <a:rPr lang="en-US" sz="1800" dirty="0">
                <a:solidFill>
                  <a:srgbClr val="8EA0B5"/>
                </a:solidFill>
                <a:latin typeface="Arial" pitchFamily="34" charset="0"/>
                <a:ea typeface="Arial" pitchFamily="34" charset="-122"/>
                <a:cs typeface="Arial" pitchFamily="34" charset="-120"/>
              </a:rPr>
              <a:t>= date + heure</a:t>
            </a:r>
            <a:endParaRPr lang="en-US" sz="1800" dirty="0"/>
          </a:p>
        </p:txBody>
      </p:sp>
      <p:sp>
        <p:nvSpPr>
          <p:cNvPr id="20" name="Shape 18"/>
          <p:cNvSpPr/>
          <p:nvPr/>
        </p:nvSpPr>
        <p:spPr>
          <a:xfrm>
            <a:off x="8899228" y="2273771"/>
            <a:ext cx="8321973" cy="7195642"/>
          </a:xfrm>
          <a:prstGeom prst="roundRect">
            <a:avLst>
              <a:gd name="adj" fmla="val 2118"/>
            </a:avLst>
          </a:prstGeom>
          <a:solidFill>
            <a:srgbClr val="06090E">
              <a:alpha val="99000"/>
            </a:srgbClr>
          </a:solidFill>
          <a:ln w="6350">
            <a:solidFill>
              <a:srgbClr val="FFFFFF">
                <a:alpha val="10000"/>
              </a:srgbClr>
            </a:solidFill>
            <a:prstDash val="solid"/>
          </a:ln>
        </p:spPr>
      </p:sp>
      <p:sp>
        <p:nvSpPr>
          <p:cNvPr id="21" name="Shape 19"/>
          <p:cNvSpPr/>
          <p:nvPr/>
        </p:nvSpPr>
        <p:spPr>
          <a:xfrm>
            <a:off x="8905577" y="2889721"/>
            <a:ext cx="8309273" cy="9525"/>
          </a:xfrm>
          <a:prstGeom prst="rect">
            <a:avLst/>
          </a:prstGeom>
          <a:solidFill>
            <a:srgbClr val="FFFFFF">
              <a:alpha val="6000"/>
            </a:srgbClr>
          </a:solidFill>
          <a:ln/>
        </p:spPr>
      </p:sp>
      <p:sp>
        <p:nvSpPr>
          <p:cNvPr id="22" name="Text 20"/>
          <p:cNvSpPr/>
          <p:nvPr/>
        </p:nvSpPr>
        <p:spPr>
          <a:xfrm>
            <a:off x="9134177" y="2432521"/>
            <a:ext cx="810135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FB46E">
                    <a:alpha val="99000"/>
                  </a:srgbClr>
                </a:solidFill>
                <a:latin typeface="Courier New" pitchFamily="34" charset="0"/>
                <a:ea typeface="Courier New" pitchFamily="34" charset="-122"/>
                <a:cs typeface="Courier New" pitchFamily="34" charset="-120"/>
              </a:rPr>
              <a:t>types complexes · ARRAY · MAP · STRUCT</a:t>
            </a:r>
            <a:endParaRPr lang="en-US" sz="1800" dirty="0"/>
          </a:p>
        </p:txBody>
      </p:sp>
      <p:sp>
        <p:nvSpPr>
          <p:cNvPr id="23" name="Text 21"/>
          <p:cNvSpPr/>
          <p:nvPr/>
        </p:nvSpPr>
        <p:spPr>
          <a:xfrm>
            <a:off x="9153227" y="3105621"/>
            <a:ext cx="8063251" cy="3935513"/>
          </a:xfrm>
          <a:prstGeom prst="rect">
            <a:avLst/>
          </a:prstGeom>
          <a:noFill/>
          <a:ln/>
        </p:spPr>
        <p:txBody>
          <a:bodyPr wrap="none" lIns="25400" tIns="25400" rIns="25400" bIns="25400" rtlCol="0" anchor="t">
            <a:normAutofit/>
          </a:bodyPr>
          <a:lstStyle/>
          <a:p>
            <a:pPr algn="l" indent="0" marL="0">
              <a:lnSpc>
                <a:spcPct val="136098"/>
              </a:lnSpc>
              <a:buNone/>
            </a:pPr>
            <a:r>
              <a:rPr lang="en-US" sz="1800" dirty="0">
                <a:solidFill>
                  <a:srgbClr val="B897F0">
                    <a:alpha val="99000"/>
                  </a:srgbClr>
                </a:solidFill>
                <a:latin typeface="Courier New" pitchFamily="34" charset="0"/>
                <a:ea typeface="Courier New" pitchFamily="34" charset="-122"/>
                <a:cs typeface="Courier New" pitchFamily="34" charset="-120"/>
              </a:rPr>
              <a:t>CREATE TABLE </a:t>
            </a:r>
            <a:pPr algn="l" indent="0" marL="0">
              <a:lnSpc>
                <a:spcPct val="136098"/>
              </a:lnSpc>
              <a:buNone/>
            </a:pPr>
            <a:r>
              <a:rPr lang="en-US" sz="1800" dirty="0">
                <a:solidFill>
                  <a:srgbClr val="CDD7E3">
                    <a:alpha val="99000"/>
                  </a:srgbClr>
                </a:solidFill>
                <a:latin typeface="Courier New" pitchFamily="34" charset="0"/>
                <a:ea typeface="Courier New" pitchFamily="34" charset="-122"/>
                <a:cs typeface="Courier New" pitchFamily="34" charset="-120"/>
              </a:rPr>
              <a:t> clients (</a:t>
            </a:r>
            <a:endParaRPr lang="en-US" sz="1800" dirty="0"/>
          </a:p>
          <a:p>
            <a:pPr algn="l" indent="0" marL="0">
              <a:lnSpc>
                <a:spcPct val="136098"/>
              </a:lnSpc>
              <a:buNone/>
            </a:pPr>
            <a:r>
              <a:rPr lang="en-US" sz="1800" dirty="0">
                <a:solidFill>
                  <a:srgbClr val="CDD7E3">
                    <a:alpha val="99000"/>
                  </a:srgbClr>
                </a:solidFill>
                <a:latin typeface="Courier New" pitchFamily="34" charset="0"/>
                <a:ea typeface="Courier New" pitchFamily="34" charset="-122"/>
                <a:cs typeface="Courier New" pitchFamily="34" charset="-120"/>
              </a:rPr>
              <a:t>  id  </a:t>
            </a:r>
            <a:endParaRPr lang="en-US" sz="1800" dirty="0"/>
          </a:p>
          <a:p>
            <a:pPr algn="l" indent="0" marL="0">
              <a:lnSpc>
                <a:spcPct val="136098"/>
              </a:lnSpc>
              <a:buNone/>
            </a:pPr>
            <a:r>
              <a:rPr lang="en-US" sz="1800" dirty="0">
                <a:solidFill>
                  <a:srgbClr val="56DBDB">
                    <a:alpha val="99000"/>
                  </a:srgbClr>
                </a:solidFill>
                <a:latin typeface="Courier New" pitchFamily="34" charset="0"/>
                <a:ea typeface="Courier New" pitchFamily="34" charset="-122"/>
                <a:cs typeface="Courier New" pitchFamily="34" charset="-120"/>
              </a:rPr>
              <a:t>INT</a:t>
            </a:r>
            <a:pPr algn="l" indent="0" marL="0">
              <a:lnSpc>
                <a:spcPct val="136098"/>
              </a:lnSpc>
              <a:buNone/>
            </a:pPr>
            <a:r>
              <a:rPr lang="en-US" sz="1800" dirty="0">
                <a:solidFill>
                  <a:srgbClr val="CDD7E3">
                    <a:alpha val="99000"/>
                  </a:srgbClr>
                </a:solidFill>
                <a:latin typeface="Courier New" pitchFamily="34" charset="0"/>
                <a:ea typeface="Courier New" pitchFamily="34" charset="-122"/>
                <a:cs typeface="Courier New" pitchFamily="34" charset="-120"/>
              </a:rPr>
              <a:t>, nom </a:t>
            </a:r>
            <a:pPr algn="l" indent="0" marL="0">
              <a:lnSpc>
                <a:spcPct val="136098"/>
              </a:lnSpc>
              <a:buNone/>
            </a:pPr>
            <a:r>
              <a:rPr lang="en-US" sz="1800" dirty="0">
                <a:solidFill>
                  <a:srgbClr val="56DBDB">
                    <a:alpha val="99000"/>
                  </a:srgbClr>
                </a:solidFill>
                <a:latin typeface="Courier New" pitchFamily="34" charset="0"/>
                <a:ea typeface="Courier New" pitchFamily="34" charset="-122"/>
                <a:cs typeface="Courier New" pitchFamily="34" charset="-120"/>
              </a:rPr>
              <a:t>STRING </a:t>
            </a:r>
            <a:pPr algn="l" indent="0" marL="0">
              <a:lnSpc>
                <a:spcPct val="136098"/>
              </a:lnSpc>
              <a:buNone/>
            </a:pPr>
            <a:r>
              <a:rPr lang="en-US" sz="1800" dirty="0">
                <a:solidFill>
                  <a:srgbClr val="CDD7E3">
                    <a:alpha val="99000"/>
                  </a:srgbClr>
                </a:solidFill>
                <a:latin typeface="Courier New" pitchFamily="34" charset="0"/>
                <a:ea typeface="Courier New" pitchFamily="34" charset="-122"/>
                <a:cs typeface="Courier New" pitchFamily="34" charset="-120"/>
              </a:rPr>
              <a:t>,</a:t>
            </a:r>
            <a:endParaRPr lang="en-US" sz="1800" dirty="0"/>
          </a:p>
          <a:p>
            <a:pPr algn="l" indent="0" marL="0">
              <a:lnSpc>
                <a:spcPct val="136098"/>
              </a:lnSpc>
              <a:buNone/>
            </a:pPr>
            <a:r>
              <a:rPr lang="en-US" sz="1800" dirty="0">
                <a:solidFill>
                  <a:srgbClr val="CDD7E3">
                    <a:alpha val="99000"/>
                  </a:srgbClr>
                </a:solidFill>
                <a:latin typeface="Courier New" pitchFamily="34" charset="0"/>
                <a:ea typeface="Courier New" pitchFamily="34" charset="-122"/>
                <a:cs typeface="Courier New" pitchFamily="34" charset="-120"/>
              </a:rPr>
              <a:t>  historique  </a:t>
            </a:r>
            <a:endParaRPr lang="en-US" sz="1800" dirty="0"/>
          </a:p>
          <a:p>
            <a:pPr algn="l" indent="0" marL="0">
              <a:lnSpc>
                <a:spcPct val="136098"/>
              </a:lnSpc>
              <a:buNone/>
            </a:pPr>
            <a:r>
              <a:rPr lang="en-US" sz="1800" dirty="0">
                <a:solidFill>
                  <a:srgbClr val="56DBDB">
                    <a:alpha val="99000"/>
                  </a:srgbClr>
                </a:solidFill>
                <a:latin typeface="Courier New" pitchFamily="34" charset="0"/>
                <a:ea typeface="Courier New" pitchFamily="34" charset="-122"/>
                <a:cs typeface="Courier New" pitchFamily="34" charset="-120"/>
              </a:rPr>
              <a:t>ARRAY </a:t>
            </a:r>
            <a:pPr algn="l" indent="0" marL="0">
              <a:lnSpc>
                <a:spcPct val="136098"/>
              </a:lnSpc>
              <a:buNone/>
            </a:pPr>
            <a:r>
              <a:rPr lang="en-US" sz="1800" dirty="0">
                <a:solidFill>
                  <a:srgbClr val="CDD7E3">
                    <a:alpha val="99000"/>
                  </a:srgbClr>
                </a:solidFill>
                <a:latin typeface="Courier New" pitchFamily="34" charset="0"/>
                <a:ea typeface="Courier New" pitchFamily="34" charset="-122"/>
                <a:cs typeface="Courier New" pitchFamily="34" charset="-120"/>
              </a:rPr>
              <a:t>&lt;STRING&gt;,</a:t>
            </a:r>
            <a:endParaRPr lang="en-US" sz="1800" dirty="0"/>
          </a:p>
          <a:p>
            <a:pPr algn="l" indent="0" marL="0">
              <a:lnSpc>
                <a:spcPct val="136098"/>
              </a:lnSpc>
              <a:buNone/>
            </a:pPr>
            <a:r>
              <a:rPr lang="en-US" sz="1800" dirty="0">
                <a:solidFill>
                  <a:srgbClr val="CDD7E3">
                    <a:alpha val="99000"/>
                  </a:srgbClr>
                </a:solidFill>
                <a:latin typeface="Courier New" pitchFamily="34" charset="0"/>
                <a:ea typeface="Courier New" pitchFamily="34" charset="-122"/>
                <a:cs typeface="Courier New" pitchFamily="34" charset="-120"/>
              </a:rPr>
              <a:t>  contacts  </a:t>
            </a:r>
            <a:endParaRPr lang="en-US" sz="1800" dirty="0"/>
          </a:p>
          <a:p>
            <a:pPr algn="l" indent="0" marL="0">
              <a:lnSpc>
                <a:spcPct val="136098"/>
              </a:lnSpc>
              <a:buNone/>
            </a:pPr>
            <a:r>
              <a:rPr lang="en-US" sz="1800" dirty="0">
                <a:solidFill>
                  <a:srgbClr val="56DBDB">
                    <a:alpha val="99000"/>
                  </a:srgbClr>
                </a:solidFill>
                <a:latin typeface="Courier New" pitchFamily="34" charset="0"/>
                <a:ea typeface="Courier New" pitchFamily="34" charset="-122"/>
                <a:cs typeface="Courier New" pitchFamily="34" charset="-120"/>
              </a:rPr>
              <a:t>MAP </a:t>
            </a:r>
            <a:pPr algn="l" indent="0" marL="0">
              <a:lnSpc>
                <a:spcPct val="136098"/>
              </a:lnSpc>
              <a:buNone/>
            </a:pPr>
            <a:r>
              <a:rPr lang="en-US" sz="1800" dirty="0">
                <a:solidFill>
                  <a:srgbClr val="CDD7E3">
                    <a:alpha val="99000"/>
                  </a:srgbClr>
                </a:solidFill>
                <a:latin typeface="Courier New" pitchFamily="34" charset="0"/>
                <a:ea typeface="Courier New" pitchFamily="34" charset="-122"/>
                <a:cs typeface="Courier New" pitchFamily="34" charset="-120"/>
              </a:rPr>
              <a:t>&lt;STRING, STRING&gt;,</a:t>
            </a:r>
            <a:endParaRPr lang="en-US" sz="1800" dirty="0"/>
          </a:p>
          <a:p>
            <a:pPr algn="l" indent="0" marL="0">
              <a:lnSpc>
                <a:spcPct val="136098"/>
              </a:lnSpc>
              <a:buNone/>
            </a:pPr>
            <a:r>
              <a:rPr lang="en-US" sz="1800" dirty="0">
                <a:solidFill>
                  <a:srgbClr val="CDD7E3">
                    <a:alpha val="99000"/>
                  </a:srgbClr>
                </a:solidFill>
                <a:latin typeface="Courier New" pitchFamily="34" charset="0"/>
                <a:ea typeface="Courier New" pitchFamily="34" charset="-122"/>
                <a:cs typeface="Courier New" pitchFamily="34" charset="-120"/>
              </a:rPr>
              <a:t>  adresse  </a:t>
            </a:r>
            <a:endParaRPr lang="en-US" sz="1800" dirty="0"/>
          </a:p>
          <a:p>
            <a:pPr algn="l" indent="0" marL="0">
              <a:lnSpc>
                <a:spcPct val="136098"/>
              </a:lnSpc>
              <a:buNone/>
            </a:pPr>
            <a:r>
              <a:rPr lang="en-US" sz="1800" dirty="0">
                <a:solidFill>
                  <a:srgbClr val="56DBDB">
                    <a:alpha val="99000"/>
                  </a:srgbClr>
                </a:solidFill>
                <a:latin typeface="Courier New" pitchFamily="34" charset="0"/>
                <a:ea typeface="Courier New" pitchFamily="34" charset="-122"/>
                <a:cs typeface="Courier New" pitchFamily="34" charset="-120"/>
              </a:rPr>
              <a:t>STRUCT </a:t>
            </a:r>
            <a:pPr algn="l" indent="0" marL="0">
              <a:lnSpc>
                <a:spcPct val="136098"/>
              </a:lnSpc>
              <a:buNone/>
            </a:pPr>
            <a:r>
              <a:rPr lang="en-US" sz="1800" dirty="0">
                <a:solidFill>
                  <a:srgbClr val="CDD7E3">
                    <a:alpha val="99000"/>
                  </a:srgbClr>
                </a:solidFill>
                <a:latin typeface="Courier New" pitchFamily="34" charset="0"/>
                <a:ea typeface="Courier New" pitchFamily="34" charset="-122"/>
                <a:cs typeface="Courier New" pitchFamily="34" charset="-120"/>
              </a:rPr>
              <a:t>&lt;ville:STRING,</a:t>
            </a:r>
            <a:endParaRPr lang="en-US" sz="1800" dirty="0"/>
          </a:p>
          <a:p>
            <a:pPr algn="l" indent="0" marL="0">
              <a:lnSpc>
                <a:spcPct val="136098"/>
              </a:lnSpc>
              <a:buNone/>
            </a:pPr>
            <a:r>
              <a:rPr lang="en-US" sz="1800" dirty="0">
                <a:solidFill>
                  <a:srgbClr val="CDD7E3">
                    <a:alpha val="99000"/>
                  </a:srgbClr>
                </a:solidFill>
                <a:latin typeface="Courier New" pitchFamily="34" charset="0"/>
                <a:ea typeface="Courier New" pitchFamily="34" charset="-122"/>
                <a:cs typeface="Courier New" pitchFamily="34" charset="-120"/>
              </a:rPr>
              <a:t>                  code_postal:STRING&gt;</a:t>
            </a:r>
            <a:endParaRPr lang="en-US" sz="1800" dirty="0"/>
          </a:p>
          <a:p>
            <a:pPr algn="l" indent="0" marL="0">
              <a:lnSpc>
                <a:spcPct val="136098"/>
              </a:lnSpc>
              <a:buNone/>
            </a:pPr>
            <a:r>
              <a:rPr lang="en-US" sz="1800" dirty="0">
                <a:solidFill>
                  <a:srgbClr val="CDD7E3">
                    <a:alpha val="99000"/>
                  </a:srgbClr>
                </a:solidFill>
                <a:latin typeface="Courier New" pitchFamily="34" charset="0"/>
                <a:ea typeface="Courier New" pitchFamily="34" charset="-122"/>
                <a:cs typeface="Courier New" pitchFamily="34" charset="-120"/>
              </a:rPr>
              <a:t>); </a:t>
            </a:r>
            <a:endParaRPr lang="en-US" sz="1800" dirty="0"/>
          </a:p>
          <a:p>
            <a:pPr algn="l" indent="0" marL="0">
              <a:lnSpc>
                <a:spcPct val="136098"/>
              </a:lnSpc>
              <a:buNone/>
            </a:pPr>
            <a:r>
              <a:rPr lang="en-US" sz="1800" dirty="0">
                <a:solidFill>
                  <a:srgbClr val="8EA0B5">
                    <a:alpha val="99000"/>
                  </a:srgbClr>
                </a:solidFill>
                <a:latin typeface="Courier New" pitchFamily="34" charset="0"/>
                <a:ea typeface="Courier New" pitchFamily="34" charset="-122"/>
                <a:cs typeface="Courier New" pitchFamily="34" charset="-120"/>
              </a:rPr>
              <a:t>-- accès dédié en SQL</a:t>
            </a:r>
            <a:pPr algn="l" indent="0" marL="0">
              <a:lnSpc>
                <a:spcPct val="136098"/>
              </a:lnSpc>
              <a:buNone/>
            </a:pPr>
            <a:r>
              <a:rPr lang="en-US" sz="1800" dirty="0">
                <a:solidFill>
                  <a:srgbClr val="B897F0">
                    <a:alpha val="99000"/>
                  </a:srgbClr>
                </a:solidFill>
                <a:latin typeface="Courier New" pitchFamily="34" charset="0"/>
                <a:ea typeface="Courier New" pitchFamily="34" charset="-122"/>
                <a:cs typeface="Courier New" pitchFamily="34" charset="-120"/>
              </a:rPr>
              <a:t>SELECT</a:t>
            </a:r>
            <a:pPr algn="l" indent="0" marL="0">
              <a:lnSpc>
                <a:spcPct val="136098"/>
              </a:lnSpc>
              <a:buNone/>
            </a:pPr>
            <a:r>
              <a:rPr lang="en-US" sz="1800" dirty="0">
                <a:solidFill>
                  <a:srgbClr val="CDD7E3">
                    <a:alpha val="99000"/>
                  </a:srgbClr>
                </a:solidFill>
                <a:latin typeface="Courier New" pitchFamily="34" charset="0"/>
                <a:ea typeface="Courier New" pitchFamily="34" charset="-122"/>
                <a:cs typeface="Courier New" pitchFamily="34" charset="-120"/>
              </a:rPr>
              <a:t> historique[</a:t>
            </a:r>
            <a:pPr algn="l" indent="0" marL="0">
              <a:lnSpc>
                <a:spcPct val="136098"/>
              </a:lnSpc>
              <a:buNone/>
            </a:pPr>
            <a:r>
              <a:rPr lang="en-US" sz="1800" dirty="0">
                <a:solidFill>
                  <a:srgbClr val="E6C07B">
                    <a:alpha val="99000"/>
                  </a:srgbClr>
                </a:solidFill>
                <a:latin typeface="Courier New" pitchFamily="34" charset="0"/>
                <a:ea typeface="Courier New" pitchFamily="34" charset="-122"/>
                <a:cs typeface="Courier New" pitchFamily="34" charset="-120"/>
              </a:rPr>
              <a:t>0</a:t>
            </a:r>
            <a:pPr algn="l" indent="0" marL="0">
              <a:lnSpc>
                <a:spcPct val="136098"/>
              </a:lnSpc>
              <a:buNone/>
            </a:pPr>
            <a:r>
              <a:rPr lang="en-US" sz="1800" dirty="0">
                <a:solidFill>
                  <a:srgbClr val="CDD7E3">
                    <a:alpha val="99000"/>
                  </a:srgbClr>
                </a:solidFill>
                <a:latin typeface="Courier New" pitchFamily="34" charset="0"/>
                <a:ea typeface="Courier New" pitchFamily="34" charset="-122"/>
                <a:cs typeface="Courier New" pitchFamily="34" charset="-120"/>
              </a:rPr>
              <a:t>],       </a:t>
            </a:r>
            <a:pPr algn="l" indent="0" marL="0">
              <a:lnSpc>
                <a:spcPct val="136098"/>
              </a:lnSpc>
              <a:buNone/>
            </a:pPr>
            <a:r>
              <a:rPr lang="en-US" sz="1800" dirty="0">
                <a:solidFill>
                  <a:srgbClr val="8EA0B5">
                    <a:alpha val="99000"/>
                  </a:srgbClr>
                </a:solidFill>
                <a:latin typeface="Courier New" pitchFamily="34" charset="0"/>
                <a:ea typeface="Courier New" pitchFamily="34" charset="-122"/>
                <a:cs typeface="Courier New" pitchFamily="34" charset="-120"/>
              </a:rPr>
              <a:t>-- ARRAY </a:t>
            </a:r>
            <a:pPr algn="l" indent="0" marL="0">
              <a:lnSpc>
                <a:spcPct val="136098"/>
              </a:lnSpc>
              <a:buNone/>
            </a:pPr>
            <a:r>
              <a:rPr lang="en-US" sz="1800" dirty="0">
                <a:solidFill>
                  <a:srgbClr val="CDD7E3">
                    <a:alpha val="99000"/>
                  </a:srgbClr>
                </a:solidFill>
                <a:latin typeface="Courier New" pitchFamily="34" charset="0"/>
                <a:ea typeface="Courier New" pitchFamily="34" charset="-122"/>
                <a:cs typeface="Courier New" pitchFamily="34" charset="-120"/>
              </a:rPr>
              <a:t>       adresse.ville,        </a:t>
            </a:r>
            <a:pPr algn="l" indent="0" marL="0">
              <a:lnSpc>
                <a:spcPct val="136098"/>
              </a:lnSpc>
              <a:buNone/>
            </a:pPr>
            <a:r>
              <a:rPr lang="en-US" sz="1800" dirty="0">
                <a:solidFill>
                  <a:srgbClr val="8EA0B5">
                    <a:alpha val="99000"/>
                  </a:srgbClr>
                </a:solidFill>
                <a:latin typeface="Courier New" pitchFamily="34" charset="0"/>
                <a:ea typeface="Courier New" pitchFamily="34" charset="-122"/>
                <a:cs typeface="Courier New" pitchFamily="34" charset="-120"/>
              </a:rPr>
              <a:t>-- STRUCT </a:t>
            </a:r>
            <a:pPr algn="l" indent="0" marL="0">
              <a:lnSpc>
                <a:spcPct val="136098"/>
              </a:lnSpc>
              <a:buNone/>
            </a:pPr>
            <a:r>
              <a:rPr lang="en-US" sz="1800" dirty="0">
                <a:solidFill>
                  <a:srgbClr val="CDD7E3">
                    <a:alpha val="99000"/>
                  </a:srgbClr>
                </a:solidFill>
                <a:latin typeface="Courier New" pitchFamily="34" charset="0"/>
                <a:ea typeface="Courier New" pitchFamily="34" charset="-122"/>
                <a:cs typeface="Courier New" pitchFamily="34" charset="-120"/>
              </a:rPr>
              <a:t>       contacts[</a:t>
            </a:r>
            <a:pPr algn="l" indent="0" marL="0">
              <a:lnSpc>
                <a:spcPct val="136098"/>
              </a:lnSpc>
              <a:buNone/>
            </a:pPr>
            <a:r>
              <a:rPr lang="en-US" sz="1800" dirty="0">
                <a:solidFill>
                  <a:srgbClr val="FFB46E">
                    <a:alpha val="99000"/>
                  </a:srgbClr>
                </a:solidFill>
                <a:latin typeface="Courier New" pitchFamily="34" charset="0"/>
                <a:ea typeface="Courier New" pitchFamily="34" charset="-122"/>
                <a:cs typeface="Courier New" pitchFamily="34" charset="-120"/>
              </a:rPr>
              <a:t>"email"</a:t>
            </a:r>
            <a:pPr algn="l" indent="0" marL="0">
              <a:lnSpc>
                <a:spcPct val="136098"/>
              </a:lnSpc>
              <a:buNone/>
            </a:pPr>
            <a:r>
              <a:rPr lang="en-US" sz="1800" dirty="0">
                <a:solidFill>
                  <a:srgbClr val="CDD7E3">
                    <a:alpha val="99000"/>
                  </a:srgbClr>
                </a:solidFill>
                <a:latin typeface="Courier New" pitchFamily="34" charset="0"/>
                <a:ea typeface="Courier New" pitchFamily="34" charset="-122"/>
                <a:cs typeface="Courier New" pitchFamily="34" charset="-120"/>
              </a:rPr>
              <a:t>]   </a:t>
            </a:r>
            <a:pPr algn="l" indent="0" marL="0">
              <a:lnSpc>
                <a:spcPct val="136098"/>
              </a:lnSpc>
              <a:buNone/>
            </a:pPr>
            <a:r>
              <a:rPr lang="en-US" sz="1800" dirty="0">
                <a:solidFill>
                  <a:srgbClr val="8EA0B5">
                    <a:alpha val="99000"/>
                  </a:srgbClr>
                </a:solidFill>
                <a:latin typeface="Courier New" pitchFamily="34" charset="0"/>
                <a:ea typeface="Courier New" pitchFamily="34" charset="-122"/>
                <a:cs typeface="Courier New" pitchFamily="34" charset="-120"/>
              </a:rPr>
              <a:t>-- MAP</a:t>
            </a:r>
            <a:pPr algn="l" indent="0" marL="0">
              <a:lnSpc>
                <a:spcPct val="136098"/>
              </a:lnSpc>
              <a:buNone/>
            </a:pPr>
            <a:r>
              <a:rPr lang="en-US" sz="1800" dirty="0">
                <a:solidFill>
                  <a:srgbClr val="B897F0">
                    <a:alpha val="99000"/>
                  </a:srgbClr>
                </a:solidFill>
                <a:latin typeface="Courier New" pitchFamily="34" charset="0"/>
                <a:ea typeface="Courier New" pitchFamily="34" charset="-122"/>
                <a:cs typeface="Courier New" pitchFamily="34" charset="-120"/>
              </a:rPr>
              <a:t>FROM</a:t>
            </a:r>
            <a:pPr algn="l" indent="0" marL="0">
              <a:lnSpc>
                <a:spcPct val="136098"/>
              </a:lnSpc>
              <a:buNone/>
            </a:pPr>
            <a:r>
              <a:rPr lang="en-US" sz="1800" dirty="0">
                <a:solidFill>
                  <a:srgbClr val="CDD7E3">
                    <a:alpha val="99000"/>
                  </a:srgbClr>
                </a:solidFill>
                <a:latin typeface="Courier New" pitchFamily="34" charset="0"/>
                <a:ea typeface="Courier New" pitchFamily="34" charset="-122"/>
                <a:cs typeface="Courier New" pitchFamily="34" charset="-120"/>
              </a:rPr>
              <a:t> clients;</a:t>
            </a:r>
            <a:endParaRPr lang="en-US" sz="18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0C121C"/>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FFB46E">
                    <a:alpha val="96000"/>
                  </a:srgbClr>
                </a:solidFill>
                <a:latin typeface="Courier New" pitchFamily="34" charset="0"/>
                <a:ea typeface="Courier New" pitchFamily="34" charset="-122"/>
                <a:cs typeface="Courier New" pitchFamily="34" charset="-120"/>
              </a:rPr>
              <a:t>ATELIER 5.1 · DATA MODELING</a:t>
            </a:r>
            <a:endParaRPr lang="en-US" sz="1800" dirty="0"/>
          </a:p>
        </p:txBody>
      </p:sp>
      <p:sp>
        <p:nvSpPr>
          <p:cNvPr id="3" name="Text 1"/>
          <p:cNvSpPr/>
          <p:nvPr/>
        </p:nvSpPr>
        <p:spPr>
          <a:xfrm>
            <a:off x="1066800" y="1314499"/>
            <a:ext cx="17769840"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Managed Table ou External Table ?</a:t>
            </a:r>
            <a:endParaRPr lang="en-US" sz="4800" dirty="0"/>
          </a:p>
        </p:txBody>
      </p:sp>
      <p:sp>
        <p:nvSpPr>
          <p:cNvPr id="4" name="Shape 2"/>
          <p:cNvSpPr/>
          <p:nvPr/>
        </p:nvSpPr>
        <p:spPr>
          <a:xfrm>
            <a:off x="1066800" y="2291307"/>
            <a:ext cx="7934325" cy="7176592"/>
          </a:xfrm>
          <a:prstGeom prst="roundRect">
            <a:avLst>
              <a:gd name="adj" fmla="val 2389"/>
            </a:avLst>
          </a:prstGeom>
          <a:solidFill>
            <a:srgbClr val="FFFFFF">
              <a:alpha val="3000"/>
            </a:srgbClr>
          </a:solidFill>
          <a:ln w="6350">
            <a:solidFill>
              <a:srgbClr val="FFFFFF">
                <a:alpha val="10000"/>
              </a:srgbClr>
            </a:solidFill>
            <a:prstDash val="solid"/>
          </a:ln>
        </p:spPr>
      </p:sp>
      <p:sp>
        <p:nvSpPr>
          <p:cNvPr id="5" name="Text 3"/>
          <p:cNvSpPr/>
          <p:nvPr/>
        </p:nvSpPr>
        <p:spPr>
          <a:xfrm>
            <a:off x="1397000" y="2621507"/>
            <a:ext cx="8001318" cy="368300"/>
          </a:xfrm>
          <a:prstGeom prst="rect">
            <a:avLst/>
          </a:prstGeom>
          <a:noFill/>
          <a:ln/>
        </p:spPr>
        <p:txBody>
          <a:bodyPr wrap="square" lIns="25400" tIns="25400" rIns="25400" bIns="25400" rtlCol="0" anchor="t">
            <a:normAutofit/>
          </a:bodyPr>
          <a:lstStyle/>
          <a:p>
            <a:pPr algn="l" indent="0" marL="0">
              <a:buNone/>
            </a:pPr>
            <a:r>
              <a:rPr lang="en-US" sz="2250" b="1" dirty="0">
                <a:solidFill>
                  <a:srgbClr val="EEF3F9"/>
                </a:solidFill>
                <a:latin typeface="Arial" pitchFamily="34" charset="0"/>
                <a:ea typeface="Arial" pitchFamily="34" charset="-122"/>
                <a:cs typeface="Arial" pitchFamily="34" charset="-120"/>
              </a:rPr>
              <a:t>Managed </a:t>
            </a:r>
            <a:pPr algn="l" indent="0" marL="0">
              <a:buNone/>
            </a:pPr>
            <a:r>
              <a:rPr lang="en-US" sz="1800" b="1" dirty="0">
                <a:solidFill>
                  <a:srgbClr val="8EA0B5"/>
                </a:solidFill>
                <a:latin typeface="Arial" pitchFamily="34" charset="0"/>
                <a:ea typeface="Arial" pitchFamily="34" charset="-122"/>
                <a:cs typeface="Arial" pitchFamily="34" charset="-120"/>
              </a:rPr>
              <a:t>· interne</a:t>
            </a:r>
            <a:endParaRPr lang="en-US" sz="2250" dirty="0"/>
          </a:p>
        </p:txBody>
      </p:sp>
      <p:sp>
        <p:nvSpPr>
          <p:cNvPr id="6" name="Text 4"/>
          <p:cNvSpPr/>
          <p:nvPr/>
        </p:nvSpPr>
        <p:spPr>
          <a:xfrm>
            <a:off x="1397000" y="3085057"/>
            <a:ext cx="8001318" cy="371475"/>
          </a:xfrm>
          <a:prstGeom prst="rect">
            <a:avLst/>
          </a:prstGeom>
          <a:noFill/>
          <a:ln/>
        </p:spPr>
        <p:txBody>
          <a:bodyPr wrap="square" lIns="25400" tIns="25400" rIns="25400" bIns="25400" rtlCol="0" anchor="t">
            <a:normAutofit/>
          </a:bodyPr>
          <a:lstStyle/>
          <a:p>
            <a:pPr algn="l" indent="0" marL="0">
              <a:lnSpc>
                <a:spcPct val="122093"/>
              </a:lnSpc>
              <a:buNone/>
            </a:pPr>
            <a:r>
              <a:rPr lang="en-US" sz="1875" dirty="0">
                <a:solidFill>
                  <a:srgbClr val="EEF3F9"/>
                </a:solidFill>
                <a:latin typeface="Arial" pitchFamily="34" charset="0"/>
                <a:ea typeface="Arial" pitchFamily="34" charset="-122"/>
                <a:cs typeface="Arial" pitchFamily="34" charset="-120"/>
              </a:rPr>
              <a:t>Hive </a:t>
            </a:r>
            <a:pPr algn="l" indent="0" marL="0">
              <a:lnSpc>
                <a:spcPct val="122093"/>
              </a:lnSpc>
              <a:buNone/>
            </a:pPr>
            <a:r>
              <a:rPr lang="en-US" sz="1875" dirty="0">
                <a:solidFill>
                  <a:srgbClr val="FFB46E"/>
                </a:solidFill>
                <a:latin typeface="Arial" pitchFamily="34" charset="0"/>
                <a:ea typeface="Arial" pitchFamily="34" charset="-122"/>
                <a:cs typeface="Arial" pitchFamily="34" charset="-120"/>
              </a:rPr>
              <a:t>possède </a:t>
            </a:r>
            <a:pPr algn="l" indent="0" marL="0">
              <a:lnSpc>
                <a:spcPct val="122093"/>
              </a:lnSpc>
              <a:buNone/>
            </a:pPr>
            <a:r>
              <a:rPr lang="en-US" sz="1875" dirty="0">
                <a:solidFill>
                  <a:srgbClr val="EEF3F9"/>
                </a:solidFill>
                <a:latin typeface="Arial" pitchFamily="34" charset="0"/>
                <a:ea typeface="Arial" pitchFamily="34" charset="-122"/>
                <a:cs typeface="Arial" pitchFamily="34" charset="-120"/>
              </a:rPr>
              <a:t>les données.</a:t>
            </a:r>
            <a:endParaRPr lang="en-US" sz="1875" dirty="0"/>
          </a:p>
        </p:txBody>
      </p:sp>
      <p:sp>
        <p:nvSpPr>
          <p:cNvPr id="7" name="Text 5"/>
          <p:cNvSpPr/>
          <p:nvPr/>
        </p:nvSpPr>
        <p:spPr>
          <a:xfrm>
            <a:off x="1397000" y="3551782"/>
            <a:ext cx="7492143" cy="723900"/>
          </a:xfrm>
          <a:prstGeom prst="rect">
            <a:avLst/>
          </a:prstGeom>
          <a:noFill/>
          <a:ln/>
        </p:spPr>
        <p:txBody>
          <a:bodyPr wrap="square" lIns="25400" tIns="25400" rIns="25400" bIns="25400" rtlCol="0" anchor="t">
            <a:normAutofit/>
          </a:bodyPr>
          <a:lstStyle/>
          <a:p>
            <a:pPr algn="l" indent="0" marL="0">
              <a:lnSpc>
                <a:spcPct val="131707"/>
              </a:lnSpc>
              <a:buNone/>
            </a:pPr>
            <a:r>
              <a:rPr lang="en-US" sz="1800" dirty="0">
                <a:solidFill>
                  <a:srgbClr val="8EA0B5"/>
                </a:solidFill>
                <a:latin typeface="Courier New" pitchFamily="34" charset="0"/>
                <a:ea typeface="Courier New" pitchFamily="34" charset="-122"/>
                <a:cs typeface="Courier New" pitchFamily="34" charset="-120"/>
              </a:rPr>
              <a:t>/user/hive/warehouse/ achatdb.db/purchases_managed</a:t>
            </a:r>
            <a:endParaRPr lang="en-US" sz="1800" dirty="0"/>
          </a:p>
        </p:txBody>
      </p:sp>
      <p:sp>
        <p:nvSpPr>
          <p:cNvPr id="8" name="Shape 6"/>
          <p:cNvSpPr/>
          <p:nvPr/>
        </p:nvSpPr>
        <p:spPr>
          <a:xfrm>
            <a:off x="1397000" y="8046887"/>
            <a:ext cx="7273925" cy="637480"/>
          </a:xfrm>
          <a:prstGeom prst="roundRect">
            <a:avLst>
              <a:gd name="adj" fmla="val 14942"/>
            </a:avLst>
          </a:prstGeom>
          <a:solidFill>
            <a:srgbClr val="FFCB9C">
              <a:alpha val="17000"/>
            </a:srgbClr>
          </a:solidFill>
          <a:ln w="6350">
            <a:solidFill>
              <a:srgbClr val="FFFFFF">
                <a:alpha val="10000"/>
              </a:srgbClr>
            </a:solidFill>
            <a:prstDash val="solid"/>
          </a:ln>
        </p:spPr>
      </p:sp>
      <p:sp>
        <p:nvSpPr>
          <p:cNvPr id="9" name="Text 7"/>
          <p:cNvSpPr/>
          <p:nvPr/>
        </p:nvSpPr>
        <p:spPr>
          <a:xfrm>
            <a:off x="1574800" y="8205637"/>
            <a:ext cx="7136543" cy="35808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FFB46E"/>
                </a:solidFill>
                <a:latin typeface="Courier New" pitchFamily="34" charset="0"/>
                <a:ea typeface="Courier New" pitchFamily="34" charset="-122"/>
                <a:cs typeface="Courier New" pitchFamily="34" charset="-120"/>
              </a:rPr>
              <a:t>DROP TABLE </a:t>
            </a:r>
            <a:pPr algn="l" indent="0" marL="0">
              <a:lnSpc>
                <a:spcPct val="120000"/>
              </a:lnSpc>
              <a:buNone/>
            </a:pPr>
            <a:r>
              <a:rPr lang="en-US" sz="1800" dirty="0">
                <a:solidFill>
                  <a:srgbClr val="EEF3F9"/>
                </a:solidFill>
                <a:highlight>
                  <a:srgbClr val="FFF6EE"/>
                </a:highlight>
                <a:latin typeface="Arial" pitchFamily="34" charset="0"/>
                <a:ea typeface="Arial" pitchFamily="34" charset="-122"/>
                <a:cs typeface="Arial" pitchFamily="34" charset="-120"/>
              </a:rPr>
              <a:t>→ supprime métadonnées </a:t>
            </a:r>
            <a:pPr algn="l" indent="0" marL="0">
              <a:lnSpc>
                <a:spcPct val="120000"/>
              </a:lnSpc>
              <a:buNone/>
            </a:pPr>
            <a:r>
              <a:rPr lang="en-US" sz="1800" dirty="0">
                <a:solidFill>
                  <a:srgbClr val="EEF3F9"/>
                </a:solidFill>
                <a:latin typeface="Arial" pitchFamily="34" charset="0"/>
                <a:ea typeface="Arial" pitchFamily="34" charset="-122"/>
                <a:cs typeface="Arial" pitchFamily="34" charset="-120"/>
              </a:rPr>
              <a:t>ET </a:t>
            </a:r>
            <a:pPr algn="l" indent="0" marL="0">
              <a:lnSpc>
                <a:spcPct val="120000"/>
              </a:lnSpc>
              <a:buNone/>
            </a:pPr>
            <a:r>
              <a:rPr lang="en-US" sz="1800" dirty="0">
                <a:solidFill>
                  <a:srgbClr val="EEF3F9"/>
                </a:solidFill>
                <a:highlight>
                  <a:srgbClr val="FFF6EE"/>
                </a:highlight>
                <a:latin typeface="Arial" pitchFamily="34" charset="0"/>
                <a:ea typeface="Arial" pitchFamily="34" charset="-122"/>
                <a:cs typeface="Arial" pitchFamily="34" charset="-120"/>
              </a:rPr>
              <a:t>données</a:t>
            </a:r>
            <a:endParaRPr lang="en-US" sz="1800" dirty="0"/>
          </a:p>
        </p:txBody>
      </p:sp>
      <p:sp>
        <p:nvSpPr>
          <p:cNvPr id="10" name="Text 8"/>
          <p:cNvSpPr/>
          <p:nvPr/>
        </p:nvSpPr>
        <p:spPr>
          <a:xfrm>
            <a:off x="1397000" y="8817718"/>
            <a:ext cx="8001318" cy="35808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8EA0B5"/>
                </a:solidFill>
                <a:latin typeface="Arial" pitchFamily="34" charset="0"/>
                <a:ea typeface="Arial" pitchFamily="34" charset="-122"/>
                <a:cs typeface="Arial" pitchFamily="34" charset="-120"/>
              </a:rPr>
              <a:t>Tables de travail, résultats intermédiaires.</a:t>
            </a:r>
            <a:endParaRPr lang="en-US" sz="1800" dirty="0"/>
          </a:p>
        </p:txBody>
      </p:sp>
      <p:sp>
        <p:nvSpPr>
          <p:cNvPr id="11" name="Shape 9"/>
          <p:cNvSpPr/>
          <p:nvPr/>
        </p:nvSpPr>
        <p:spPr>
          <a:xfrm>
            <a:off x="9286875" y="2294108"/>
            <a:ext cx="7934325" cy="7176592"/>
          </a:xfrm>
          <a:prstGeom prst="roundRect">
            <a:avLst>
              <a:gd name="adj" fmla="val 2389"/>
            </a:avLst>
          </a:prstGeom>
          <a:gradFill rotWithShape="1">
            <a:gsLst>
              <a:gs pos="0">
                <a:srgbClr val="FFB56B">
                  <a:alpha val="12000"/>
                </a:srgbClr>
              </a:gs>
              <a:gs pos="100000">
                <a:srgbClr val="FFFFFF">
                  <a:alpha val="3000"/>
                </a:srgbClr>
              </a:gs>
            </a:gsLst>
            <a:lin ang="4200000" scaled="0"/>
          </a:gradFill>
          <a:ln w="6350">
            <a:solidFill>
              <a:srgbClr val="FFC491">
                <a:alpha val="33000"/>
              </a:srgbClr>
            </a:solidFill>
            <a:prstDash val="solid"/>
          </a:ln>
        </p:spPr>
      </p:sp>
      <p:sp>
        <p:nvSpPr>
          <p:cNvPr id="12" name="Text 10"/>
          <p:cNvSpPr/>
          <p:nvPr/>
        </p:nvSpPr>
        <p:spPr>
          <a:xfrm>
            <a:off x="9617075" y="2624308"/>
            <a:ext cx="8001318" cy="368300"/>
          </a:xfrm>
          <a:prstGeom prst="rect">
            <a:avLst/>
          </a:prstGeom>
          <a:noFill/>
          <a:ln/>
        </p:spPr>
        <p:txBody>
          <a:bodyPr wrap="square" lIns="25400" tIns="25400" rIns="25400" bIns="25400" rtlCol="0" anchor="t">
            <a:normAutofit/>
          </a:bodyPr>
          <a:lstStyle/>
          <a:p>
            <a:pPr algn="l" indent="0" marL="0">
              <a:buNone/>
            </a:pPr>
            <a:r>
              <a:rPr lang="en-US" sz="2250" b="1" dirty="0">
                <a:solidFill>
                  <a:srgbClr val="EEF3F9">
                    <a:alpha val="99000"/>
                  </a:srgbClr>
                </a:solidFill>
                <a:latin typeface="Arial" pitchFamily="34" charset="0"/>
                <a:ea typeface="Arial" pitchFamily="34" charset="-122"/>
                <a:cs typeface="Arial" pitchFamily="34" charset="-120"/>
              </a:rPr>
              <a:t>External </a:t>
            </a:r>
            <a:pPr algn="l" indent="0" marL="0">
              <a:buNone/>
            </a:pPr>
            <a:r>
              <a:rPr lang="en-US" sz="1800" b="1" dirty="0">
                <a:solidFill>
                  <a:srgbClr val="8EA0B5">
                    <a:alpha val="99000"/>
                  </a:srgbClr>
                </a:solidFill>
                <a:latin typeface="Arial" pitchFamily="34" charset="0"/>
                <a:ea typeface="Arial" pitchFamily="34" charset="-122"/>
                <a:cs typeface="Arial" pitchFamily="34" charset="-120"/>
              </a:rPr>
              <a:t>· référencée</a:t>
            </a:r>
            <a:endParaRPr lang="en-US" sz="2250" dirty="0"/>
          </a:p>
        </p:txBody>
      </p:sp>
      <p:sp>
        <p:nvSpPr>
          <p:cNvPr id="13" name="Text 11"/>
          <p:cNvSpPr/>
          <p:nvPr/>
        </p:nvSpPr>
        <p:spPr>
          <a:xfrm>
            <a:off x="9617075" y="3087858"/>
            <a:ext cx="8001318" cy="371475"/>
          </a:xfrm>
          <a:prstGeom prst="rect">
            <a:avLst/>
          </a:prstGeom>
          <a:noFill/>
          <a:ln/>
        </p:spPr>
        <p:txBody>
          <a:bodyPr wrap="square" lIns="25400" tIns="25400" rIns="25400" bIns="25400" rtlCol="0" anchor="t">
            <a:normAutofit/>
          </a:bodyPr>
          <a:lstStyle/>
          <a:p>
            <a:pPr algn="l" indent="0" marL="0">
              <a:lnSpc>
                <a:spcPct val="122093"/>
              </a:lnSpc>
              <a:buNone/>
            </a:pPr>
            <a:r>
              <a:rPr lang="en-US" sz="1875" dirty="0">
                <a:solidFill>
                  <a:srgbClr val="EEF3F9">
                    <a:alpha val="99000"/>
                  </a:srgbClr>
                </a:solidFill>
                <a:latin typeface="Arial" pitchFamily="34" charset="0"/>
                <a:ea typeface="Arial" pitchFamily="34" charset="-122"/>
                <a:cs typeface="Arial" pitchFamily="34" charset="-120"/>
              </a:rPr>
              <a:t>Hive </a:t>
            </a:r>
            <a:pPr algn="l" indent="0" marL="0">
              <a:lnSpc>
                <a:spcPct val="122093"/>
              </a:lnSpc>
              <a:buNone/>
            </a:pPr>
            <a:r>
              <a:rPr lang="en-US" sz="1875" dirty="0">
                <a:solidFill>
                  <a:srgbClr val="FFB46E">
                    <a:alpha val="99000"/>
                  </a:srgbClr>
                </a:solidFill>
                <a:latin typeface="Arial" pitchFamily="34" charset="0"/>
                <a:ea typeface="Arial" pitchFamily="34" charset="-122"/>
                <a:cs typeface="Arial" pitchFamily="34" charset="-120"/>
              </a:rPr>
              <a:t>référence </a:t>
            </a:r>
            <a:pPr algn="l" indent="0" marL="0">
              <a:lnSpc>
                <a:spcPct val="122093"/>
              </a:lnSpc>
              <a:buNone/>
            </a:pPr>
            <a:r>
              <a:rPr lang="en-US" sz="1875" dirty="0">
                <a:solidFill>
                  <a:srgbClr val="EEF3F9">
                    <a:alpha val="99000"/>
                  </a:srgbClr>
                </a:solidFill>
                <a:latin typeface="Arial" pitchFamily="34" charset="0"/>
                <a:ea typeface="Arial" pitchFamily="34" charset="-122"/>
                <a:cs typeface="Arial" pitchFamily="34" charset="-120"/>
              </a:rPr>
              <a:t>des données ailleurs.</a:t>
            </a:r>
            <a:endParaRPr lang="en-US" sz="1875" dirty="0"/>
          </a:p>
        </p:txBody>
      </p:sp>
      <p:sp>
        <p:nvSpPr>
          <p:cNvPr id="14" name="Text 12"/>
          <p:cNvSpPr/>
          <p:nvPr/>
        </p:nvSpPr>
        <p:spPr>
          <a:xfrm>
            <a:off x="9617075" y="3554583"/>
            <a:ext cx="8001318" cy="381000"/>
          </a:xfrm>
          <a:prstGeom prst="rect">
            <a:avLst/>
          </a:prstGeom>
          <a:noFill/>
          <a:ln/>
        </p:spPr>
        <p:txBody>
          <a:bodyPr wrap="square" lIns="25400" tIns="25400" rIns="25400" bIns="25400" rtlCol="0" anchor="t">
            <a:normAutofit/>
          </a:bodyPr>
          <a:lstStyle/>
          <a:p>
            <a:pPr algn="l" indent="0" marL="0">
              <a:lnSpc>
                <a:spcPct val="131707"/>
              </a:lnSpc>
              <a:buNone/>
            </a:pPr>
            <a:r>
              <a:rPr lang="en-US" sz="1800" dirty="0">
                <a:solidFill>
                  <a:srgbClr val="B897F0">
                    <a:alpha val="99000"/>
                  </a:srgbClr>
                </a:solidFill>
                <a:latin typeface="Courier New" pitchFamily="34" charset="0"/>
                <a:ea typeface="Courier New" pitchFamily="34" charset="-122"/>
                <a:cs typeface="Courier New" pitchFamily="34" charset="-120"/>
              </a:rPr>
              <a:t>LOCATION </a:t>
            </a:r>
            <a:pPr algn="l" indent="0" marL="0">
              <a:lnSpc>
                <a:spcPct val="131707"/>
              </a:lnSpc>
              <a:buNone/>
            </a:pPr>
            <a:r>
              <a:rPr lang="en-US" sz="1800" dirty="0">
                <a:solidFill>
                  <a:srgbClr val="8EA0B5">
                    <a:alpha val="99000"/>
                  </a:srgbClr>
                </a:solidFill>
                <a:latin typeface="Courier New" pitchFamily="34" charset="0"/>
                <a:ea typeface="Courier New" pitchFamily="34" charset="-122"/>
                <a:cs typeface="Courier New" pitchFamily="34" charset="-120"/>
              </a:rPr>
              <a:t>'/data/raw'</a:t>
            </a:r>
            <a:endParaRPr lang="en-US" sz="1800" dirty="0"/>
          </a:p>
        </p:txBody>
      </p:sp>
      <p:sp>
        <p:nvSpPr>
          <p:cNvPr id="15" name="Shape 13"/>
          <p:cNvSpPr/>
          <p:nvPr/>
        </p:nvSpPr>
        <p:spPr>
          <a:xfrm>
            <a:off x="9617075" y="8049689"/>
            <a:ext cx="7273925" cy="637480"/>
          </a:xfrm>
          <a:prstGeom prst="roundRect">
            <a:avLst>
              <a:gd name="adj" fmla="val 14942"/>
            </a:avLst>
          </a:prstGeom>
          <a:solidFill>
            <a:srgbClr val="FFCB9C">
              <a:alpha val="17000"/>
            </a:srgbClr>
          </a:solidFill>
          <a:ln w="6350">
            <a:solidFill>
              <a:srgbClr val="FFFFFF">
                <a:alpha val="10000"/>
              </a:srgbClr>
            </a:solidFill>
            <a:prstDash val="solid"/>
          </a:ln>
        </p:spPr>
      </p:sp>
      <p:sp>
        <p:nvSpPr>
          <p:cNvPr id="16" name="Text 14"/>
          <p:cNvSpPr/>
          <p:nvPr/>
        </p:nvSpPr>
        <p:spPr>
          <a:xfrm>
            <a:off x="9794875" y="8208439"/>
            <a:ext cx="7136543" cy="35808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FFB46E">
                    <a:alpha val="99000"/>
                  </a:srgbClr>
                </a:solidFill>
                <a:latin typeface="Courier New" pitchFamily="34" charset="0"/>
                <a:ea typeface="Courier New" pitchFamily="34" charset="-122"/>
                <a:cs typeface="Courier New" pitchFamily="34" charset="-120"/>
              </a:rPr>
              <a:t>DROP TABLE </a:t>
            </a:r>
            <a:pPr algn="l" indent="0" marL="0">
              <a:lnSpc>
                <a:spcPct val="120000"/>
              </a:lnSpc>
              <a:buNone/>
            </a:pPr>
            <a:r>
              <a:rPr lang="en-US" sz="1800" dirty="0">
                <a:solidFill>
                  <a:srgbClr val="EEF3F9">
                    <a:alpha val="99000"/>
                  </a:srgbClr>
                </a:solidFill>
                <a:highlight>
                  <a:srgbClr val="FDF4EC"/>
                </a:highlight>
                <a:latin typeface="Arial" pitchFamily="34" charset="0"/>
                <a:ea typeface="Arial" pitchFamily="34" charset="-122"/>
                <a:cs typeface="Arial" pitchFamily="34" charset="-120"/>
              </a:rPr>
              <a:t>→ supprime </a:t>
            </a:r>
            <a:pPr algn="l" indent="0" marL="0">
              <a:lnSpc>
                <a:spcPct val="120000"/>
              </a:lnSpc>
              <a:buNone/>
            </a:pPr>
            <a:r>
              <a:rPr lang="en-US" sz="1800" dirty="0">
                <a:solidFill>
                  <a:srgbClr val="EEF3F9">
                    <a:alpha val="99000"/>
                  </a:srgbClr>
                </a:solidFill>
                <a:latin typeface="Arial" pitchFamily="34" charset="0"/>
                <a:ea typeface="Arial" pitchFamily="34" charset="-122"/>
                <a:cs typeface="Arial" pitchFamily="34" charset="-120"/>
              </a:rPr>
              <a:t>seulement </a:t>
            </a:r>
            <a:pPr algn="l" indent="0" marL="0">
              <a:lnSpc>
                <a:spcPct val="120000"/>
              </a:lnSpc>
              <a:buNone/>
            </a:pPr>
            <a:r>
              <a:rPr lang="en-US" sz="1800" dirty="0">
                <a:solidFill>
                  <a:srgbClr val="EEF3F9">
                    <a:alpha val="99000"/>
                  </a:srgbClr>
                </a:solidFill>
                <a:highlight>
                  <a:srgbClr val="FDF4EC"/>
                </a:highlight>
                <a:latin typeface="Arial" pitchFamily="34" charset="0"/>
                <a:ea typeface="Arial" pitchFamily="34" charset="-122"/>
                <a:cs typeface="Arial" pitchFamily="34" charset="-120"/>
              </a:rPr>
              <a:t>les métadonnées</a:t>
            </a:r>
            <a:endParaRPr lang="en-US" sz="1800" dirty="0"/>
          </a:p>
        </p:txBody>
      </p:sp>
      <p:sp>
        <p:nvSpPr>
          <p:cNvPr id="17" name="Text 15"/>
          <p:cNvSpPr/>
          <p:nvPr/>
        </p:nvSpPr>
        <p:spPr>
          <a:xfrm>
            <a:off x="9617075" y="8820519"/>
            <a:ext cx="8001318" cy="35808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8EA0B5">
                    <a:alpha val="99000"/>
                  </a:srgbClr>
                </a:solidFill>
                <a:latin typeface="Arial" pitchFamily="34" charset="0"/>
                <a:ea typeface="Arial" pitchFamily="34" charset="-122"/>
                <a:cs typeface="Arial" pitchFamily="34" charset="-120"/>
              </a:rPr>
              <a:t>Data lake — déjà utilisée en 4.1 sans la nommer.</a:t>
            </a:r>
            <a:endParaRPr lang="en-US" sz="18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0A0E15"/>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FFB46E">
                    <a:alpha val="97000"/>
                  </a:srgbClr>
                </a:solidFill>
                <a:latin typeface="Courier New" pitchFamily="34" charset="0"/>
                <a:ea typeface="Courier New" pitchFamily="34" charset="-122"/>
                <a:cs typeface="Courier New" pitchFamily="34" charset="-120"/>
              </a:rPr>
              <a:t>ATELIER 5.1 · OPTIMISATION</a:t>
            </a:r>
            <a:endParaRPr lang="en-US" sz="1800" dirty="0"/>
          </a:p>
        </p:txBody>
      </p:sp>
      <p:sp>
        <p:nvSpPr>
          <p:cNvPr id="3" name="Text 1"/>
          <p:cNvSpPr/>
          <p:nvPr/>
        </p:nvSpPr>
        <p:spPr>
          <a:xfrm>
            <a:off x="1066800" y="1314451"/>
            <a:ext cx="17769840"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Partitioning : découper par répertoires</a:t>
            </a:r>
            <a:endParaRPr lang="en-US" sz="4800" dirty="0"/>
          </a:p>
        </p:txBody>
      </p:sp>
      <p:sp>
        <p:nvSpPr>
          <p:cNvPr id="4" name="Shape 2"/>
          <p:cNvSpPr/>
          <p:nvPr/>
        </p:nvSpPr>
        <p:spPr>
          <a:xfrm>
            <a:off x="1066800" y="2291260"/>
            <a:ext cx="7421563" cy="7176592"/>
          </a:xfrm>
          <a:prstGeom prst="roundRect">
            <a:avLst>
              <a:gd name="adj" fmla="val 2124"/>
            </a:avLst>
          </a:prstGeom>
          <a:solidFill>
            <a:srgbClr val="FFFFFF">
              <a:alpha val="3000"/>
            </a:srgbClr>
          </a:solidFill>
          <a:ln w="6350">
            <a:solidFill>
              <a:srgbClr val="FFFFFF">
                <a:alpha val="10000"/>
              </a:srgbClr>
            </a:solidFill>
            <a:prstDash val="solid"/>
          </a:ln>
        </p:spPr>
      </p:sp>
      <p:sp>
        <p:nvSpPr>
          <p:cNvPr id="5" name="Text 3"/>
          <p:cNvSpPr/>
          <p:nvPr/>
        </p:nvSpPr>
        <p:spPr>
          <a:xfrm>
            <a:off x="1358900" y="2583360"/>
            <a:ext cx="752109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FB46E"/>
                </a:solidFill>
                <a:latin typeface="Courier New" pitchFamily="34" charset="0"/>
                <a:ea typeface="Courier New" pitchFamily="34" charset="-122"/>
                <a:cs typeface="Courier New" pitchFamily="34" charset="-120"/>
              </a:rPr>
              <a:t>sans partition</a:t>
            </a:r>
            <a:endParaRPr lang="en-US" sz="1800" dirty="0"/>
          </a:p>
        </p:txBody>
      </p:sp>
      <p:sp>
        <p:nvSpPr>
          <p:cNvPr id="6" name="Shape 4"/>
          <p:cNvSpPr/>
          <p:nvPr/>
        </p:nvSpPr>
        <p:spPr>
          <a:xfrm>
            <a:off x="1358900" y="3059610"/>
            <a:ext cx="6837363" cy="1193800"/>
          </a:xfrm>
          <a:prstGeom prst="roundRect">
            <a:avLst>
              <a:gd name="adj" fmla="val 7979"/>
            </a:avLst>
          </a:prstGeom>
          <a:solidFill>
            <a:srgbClr val="FFFFFF">
              <a:alpha val="6000"/>
            </a:srgbClr>
          </a:solidFill>
          <a:ln w="6350">
            <a:solidFill>
              <a:srgbClr val="FFFFFF">
                <a:alpha val="10000"/>
              </a:srgbClr>
            </a:solidFill>
            <a:prstDash val="solid"/>
          </a:ln>
        </p:spPr>
      </p:sp>
      <p:sp>
        <p:nvSpPr>
          <p:cNvPr id="7" name="Text 5"/>
          <p:cNvSpPr/>
          <p:nvPr/>
        </p:nvSpPr>
        <p:spPr>
          <a:xfrm>
            <a:off x="1574800" y="3294560"/>
            <a:ext cx="3249402" cy="342900"/>
          </a:xfrm>
          <a:prstGeom prst="rect">
            <a:avLst/>
          </a:prstGeom>
          <a:noFill/>
          <a:ln/>
        </p:spPr>
        <p:txBody>
          <a:bodyPr wrap="square" lIns="0" tIns="0" rIns="0" bIns="0" rtlCol="0" anchor="t">
            <a:normAutofit/>
          </a:bodyPr>
          <a:lstStyle/>
          <a:p>
            <a:pPr algn="l" indent="0" marL="0">
              <a:lnSpc>
                <a:spcPct val="131707"/>
              </a:lnSpc>
              <a:buNone/>
            </a:pPr>
            <a:r>
              <a:rPr lang="en-US" sz="1800" dirty="0">
                <a:solidFill>
                  <a:srgbClr val="8EA0B5"/>
                </a:solidFill>
                <a:latin typeface="Courier New" pitchFamily="34" charset="0"/>
                <a:ea typeface="Courier New" pitchFamily="34" charset="-122"/>
                <a:cs typeface="Courier New" pitchFamily="34" charset="-120"/>
              </a:rPr>
              <a:t>/data/raw/purchases.txt</a:t>
            </a:r>
            <a:endParaRPr lang="en-US" sz="1800" dirty="0"/>
          </a:p>
        </p:txBody>
      </p:sp>
      <p:sp>
        <p:nvSpPr>
          <p:cNvPr id="8" name="Text 6"/>
          <p:cNvSpPr/>
          <p:nvPr/>
        </p:nvSpPr>
        <p:spPr>
          <a:xfrm>
            <a:off x="1574800" y="3694610"/>
            <a:ext cx="7046119" cy="381000"/>
          </a:xfrm>
          <a:prstGeom prst="rect">
            <a:avLst/>
          </a:prstGeom>
          <a:noFill/>
          <a:ln/>
        </p:spPr>
        <p:txBody>
          <a:bodyPr wrap="square" lIns="25400" tIns="25400" rIns="25400" bIns="25400" rtlCol="0" anchor="t">
            <a:normAutofit/>
          </a:bodyPr>
          <a:lstStyle/>
          <a:p>
            <a:pPr algn="l" indent="0" marL="0">
              <a:lnSpc>
                <a:spcPct val="131707"/>
              </a:lnSpc>
              <a:buNone/>
            </a:pPr>
            <a:r>
              <a:rPr lang="en-US" sz="1800" dirty="0">
                <a:solidFill>
                  <a:srgbClr val="FFB46E"/>
                </a:solidFill>
                <a:latin typeface="Courier New" pitchFamily="34" charset="0"/>
                <a:ea typeface="Courier New" pitchFamily="34" charset="-122"/>
                <a:cs typeface="Courier New" pitchFamily="34" charset="-120"/>
              </a:rPr>
              <a:t>→ scan complet à chaque requête</a:t>
            </a:r>
            <a:endParaRPr lang="en-US" sz="1800" dirty="0"/>
          </a:p>
        </p:txBody>
      </p:sp>
      <p:sp>
        <p:nvSpPr>
          <p:cNvPr id="9" name="Text 7"/>
          <p:cNvSpPr/>
          <p:nvPr/>
        </p:nvSpPr>
        <p:spPr>
          <a:xfrm>
            <a:off x="1358900" y="4424860"/>
            <a:ext cx="7521099" cy="35808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8EA0B5"/>
                </a:solidFill>
                <a:latin typeface="Arial" pitchFamily="34" charset="0"/>
                <a:ea typeface="Arial" pitchFamily="34" charset="-122"/>
                <a:cs typeface="Arial" pitchFamily="34" charset="-120"/>
              </a:rPr>
              <a:t>Filtrer sur un seul magasin lit quand même tout le fichier.</a:t>
            </a:r>
            <a:endParaRPr lang="en-US" sz="1800" dirty="0"/>
          </a:p>
        </p:txBody>
      </p:sp>
      <p:sp>
        <p:nvSpPr>
          <p:cNvPr id="10" name="Shape 8"/>
          <p:cNvSpPr/>
          <p:nvPr/>
        </p:nvSpPr>
        <p:spPr>
          <a:xfrm>
            <a:off x="8774113" y="2293403"/>
            <a:ext cx="8447088" cy="7176592"/>
          </a:xfrm>
          <a:prstGeom prst="roundRect">
            <a:avLst>
              <a:gd name="adj" fmla="val 2124"/>
            </a:avLst>
          </a:prstGeom>
          <a:gradFill rotWithShape="1">
            <a:gsLst>
              <a:gs pos="0">
                <a:srgbClr val="FFB56B">
                  <a:alpha val="12000"/>
                </a:srgbClr>
              </a:gs>
              <a:gs pos="100000">
                <a:srgbClr val="FFFFFF">
                  <a:alpha val="3000"/>
                </a:srgbClr>
              </a:gs>
            </a:gsLst>
            <a:lin ang="4200000" scaled="0"/>
          </a:gradFill>
          <a:ln w="6350">
            <a:solidFill>
              <a:srgbClr val="FFC491">
                <a:alpha val="33000"/>
              </a:srgbClr>
            </a:solidFill>
            <a:prstDash val="solid"/>
          </a:ln>
        </p:spPr>
      </p:sp>
      <p:sp>
        <p:nvSpPr>
          <p:cNvPr id="11" name="Text 9"/>
          <p:cNvSpPr/>
          <p:nvPr/>
        </p:nvSpPr>
        <p:spPr>
          <a:xfrm>
            <a:off x="9066213" y="2585503"/>
            <a:ext cx="8649176"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FB46E">
                    <a:alpha val="99000"/>
                  </a:srgbClr>
                </a:solidFill>
                <a:latin typeface="Courier New" pitchFamily="34" charset="0"/>
                <a:ea typeface="Courier New" pitchFamily="34" charset="-122"/>
                <a:cs typeface="Courier New" pitchFamily="34" charset="-120"/>
              </a:rPr>
              <a:t>partitionné par store</a:t>
            </a:r>
            <a:endParaRPr lang="en-US" sz="1800" dirty="0"/>
          </a:p>
        </p:txBody>
      </p:sp>
      <p:sp>
        <p:nvSpPr>
          <p:cNvPr id="12" name="Shape 10"/>
          <p:cNvSpPr/>
          <p:nvPr/>
        </p:nvSpPr>
        <p:spPr>
          <a:xfrm>
            <a:off x="9066213" y="3061753"/>
            <a:ext cx="7862888" cy="546100"/>
          </a:xfrm>
          <a:prstGeom prst="roundRect">
            <a:avLst>
              <a:gd name="adj" fmla="val 13953"/>
            </a:avLst>
          </a:prstGeom>
          <a:solidFill>
            <a:srgbClr val="FFBF87">
              <a:alpha val="26000"/>
            </a:srgbClr>
          </a:solidFill>
          <a:ln w="6350">
            <a:solidFill>
              <a:srgbClr val="FFC085">
                <a:alpha val="44000"/>
              </a:srgbClr>
            </a:solidFill>
            <a:prstDash val="solid"/>
          </a:ln>
        </p:spPr>
      </p:sp>
      <p:sp>
        <p:nvSpPr>
          <p:cNvPr id="13" name="Text 11"/>
          <p:cNvSpPr/>
          <p:nvPr/>
        </p:nvSpPr>
        <p:spPr>
          <a:xfrm>
            <a:off x="9224963" y="3182403"/>
            <a:ext cx="7781274" cy="342900"/>
          </a:xfrm>
          <a:prstGeom prst="rect">
            <a:avLst/>
          </a:prstGeom>
          <a:noFill/>
          <a:ln/>
        </p:spPr>
        <p:txBody>
          <a:bodyPr wrap="square" lIns="25400" tIns="25400" rIns="25400" bIns="25400" rtlCol="0" anchor="t">
            <a:normAutofit/>
          </a:bodyPr>
          <a:lstStyle/>
          <a:p>
            <a:pPr algn="l" indent="0" marL="0">
              <a:buNone/>
            </a:pPr>
            <a:r>
              <a:rPr lang="en-US" sz="1800" dirty="0">
                <a:solidFill>
                  <a:srgbClr val="EEF3F9">
                    <a:alpha val="99000"/>
                  </a:srgbClr>
                </a:solidFill>
                <a:highlight>
                  <a:srgbClr val="FDECDD"/>
                </a:highlight>
                <a:latin typeface="Courier New" pitchFamily="34" charset="0"/>
                <a:ea typeface="Courier New" pitchFamily="34" charset="-122"/>
                <a:cs typeface="Courier New" pitchFamily="34" charset="-120"/>
              </a:rPr>
              <a:t>store=Tampa/ </a:t>
            </a:r>
            <a:pPr algn="l" indent="0" marL="0">
              <a:buNone/>
            </a:pPr>
            <a:r>
              <a:rPr lang="en-US" sz="1800" dirty="0">
                <a:solidFill>
                  <a:srgbClr val="FFB46E">
                    <a:alpha val="99000"/>
                  </a:srgbClr>
                </a:solidFill>
                <a:latin typeface="Courier New" pitchFamily="34" charset="0"/>
                <a:ea typeface="Courier New" pitchFamily="34" charset="-122"/>
                <a:cs typeface="Courier New" pitchFamily="34" charset="-120"/>
              </a:rPr>
              <a:t>← lu</a:t>
            </a:r>
            <a:endParaRPr lang="en-US" sz="1800" dirty="0"/>
          </a:p>
        </p:txBody>
      </p:sp>
      <p:sp>
        <p:nvSpPr>
          <p:cNvPr id="14" name="Shape 12"/>
          <p:cNvSpPr/>
          <p:nvPr/>
        </p:nvSpPr>
        <p:spPr>
          <a:xfrm>
            <a:off x="9066213" y="3684053"/>
            <a:ext cx="7862888" cy="546100"/>
          </a:xfrm>
          <a:prstGeom prst="roundRect">
            <a:avLst>
              <a:gd name="adj" fmla="val 13953"/>
            </a:avLst>
          </a:prstGeom>
          <a:solidFill>
            <a:srgbClr val="FFFFFF">
              <a:alpha val="6000"/>
            </a:srgbClr>
          </a:solidFill>
          <a:ln w="6350">
            <a:solidFill>
              <a:srgbClr val="FFFFFF">
                <a:alpha val="10000"/>
              </a:srgbClr>
            </a:solidFill>
            <a:prstDash val="solid"/>
          </a:ln>
        </p:spPr>
      </p:sp>
      <p:sp>
        <p:nvSpPr>
          <p:cNvPr id="15" name="Text 13"/>
          <p:cNvSpPr/>
          <p:nvPr/>
        </p:nvSpPr>
        <p:spPr>
          <a:xfrm>
            <a:off x="9224963" y="3804703"/>
            <a:ext cx="7781274"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alpha val="99000"/>
                  </a:srgbClr>
                </a:solidFill>
                <a:latin typeface="Courier New" pitchFamily="34" charset="0"/>
                <a:ea typeface="Courier New" pitchFamily="34" charset="-122"/>
                <a:cs typeface="Courier New" pitchFamily="34" charset="-120"/>
              </a:rPr>
              <a:t>store=San Jose/</a:t>
            </a:r>
            <a:endParaRPr lang="en-US" sz="1800" dirty="0"/>
          </a:p>
        </p:txBody>
      </p:sp>
      <p:sp>
        <p:nvSpPr>
          <p:cNvPr id="16" name="Shape 14"/>
          <p:cNvSpPr/>
          <p:nvPr/>
        </p:nvSpPr>
        <p:spPr>
          <a:xfrm>
            <a:off x="9066213" y="4306353"/>
            <a:ext cx="7862888" cy="546100"/>
          </a:xfrm>
          <a:prstGeom prst="roundRect">
            <a:avLst>
              <a:gd name="adj" fmla="val 13953"/>
            </a:avLst>
          </a:prstGeom>
          <a:solidFill>
            <a:srgbClr val="FFFFFF">
              <a:alpha val="6000"/>
            </a:srgbClr>
          </a:solidFill>
          <a:ln w="6350">
            <a:solidFill>
              <a:srgbClr val="FFFFFF">
                <a:alpha val="10000"/>
              </a:srgbClr>
            </a:solidFill>
            <a:prstDash val="solid"/>
          </a:ln>
        </p:spPr>
      </p:sp>
      <p:sp>
        <p:nvSpPr>
          <p:cNvPr id="17" name="Text 15"/>
          <p:cNvSpPr/>
          <p:nvPr/>
        </p:nvSpPr>
        <p:spPr>
          <a:xfrm>
            <a:off x="9224963" y="4427003"/>
            <a:ext cx="7781274"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alpha val="99000"/>
                  </a:srgbClr>
                </a:solidFill>
                <a:latin typeface="Courier New" pitchFamily="34" charset="0"/>
                <a:ea typeface="Courier New" pitchFamily="34" charset="-122"/>
                <a:cs typeface="Courier New" pitchFamily="34" charset="-120"/>
              </a:rPr>
              <a:t>store=Chicago/</a:t>
            </a:r>
            <a:endParaRPr lang="en-US" sz="1800" dirty="0"/>
          </a:p>
        </p:txBody>
      </p:sp>
      <p:sp>
        <p:nvSpPr>
          <p:cNvPr id="18" name="Shape 16"/>
          <p:cNvSpPr/>
          <p:nvPr/>
        </p:nvSpPr>
        <p:spPr>
          <a:xfrm>
            <a:off x="9066213" y="8686464"/>
            <a:ext cx="25400" cy="491430"/>
          </a:xfrm>
          <a:prstGeom prst="rect">
            <a:avLst/>
          </a:prstGeom>
          <a:solidFill>
            <a:srgbClr val="FFB46E">
              <a:alpha val="99000"/>
            </a:srgbClr>
          </a:solidFill>
          <a:ln/>
        </p:spPr>
      </p:sp>
      <p:sp>
        <p:nvSpPr>
          <p:cNvPr id="19" name="Text 17"/>
          <p:cNvSpPr/>
          <p:nvPr/>
        </p:nvSpPr>
        <p:spPr>
          <a:xfrm>
            <a:off x="9263063" y="8857914"/>
            <a:ext cx="7901924" cy="35808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EEF3F9">
                    <a:alpha val="99000"/>
                  </a:srgbClr>
                </a:solidFill>
                <a:latin typeface="Arial" pitchFamily="34" charset="0"/>
                <a:ea typeface="Arial" pitchFamily="34" charset="-122"/>
                <a:cs typeface="Arial" pitchFamily="34" charset="-120"/>
              </a:rPr>
              <a:t>WHERE store='Tampa' </a:t>
            </a:r>
            <a:pPr algn="l" indent="0" marL="0">
              <a:lnSpc>
                <a:spcPct val="120000"/>
              </a:lnSpc>
              <a:buNone/>
            </a:pPr>
            <a:r>
              <a:rPr lang="en-US" sz="1800" dirty="0">
                <a:solidFill>
                  <a:srgbClr val="8EA0B5">
                    <a:alpha val="99000"/>
                  </a:srgbClr>
                </a:solidFill>
                <a:latin typeface="Arial" pitchFamily="34" charset="0"/>
                <a:ea typeface="Arial" pitchFamily="34" charset="-122"/>
                <a:cs typeface="Arial" pitchFamily="34" charset="-120"/>
              </a:rPr>
              <a:t>ne lit qu'un sous-répertoire — le </a:t>
            </a:r>
            <a:pPr algn="l" indent="0" marL="0">
              <a:lnSpc>
                <a:spcPct val="120000"/>
              </a:lnSpc>
              <a:buNone/>
            </a:pPr>
            <a:r>
              <a:rPr lang="en-US" sz="1800" dirty="0">
                <a:solidFill>
                  <a:srgbClr val="EEF3F9">
                    <a:alpha val="99000"/>
                  </a:srgbClr>
                </a:solidFill>
                <a:latin typeface="Arial" pitchFamily="34" charset="0"/>
                <a:ea typeface="Arial" pitchFamily="34" charset="-122"/>
                <a:cs typeface="Arial" pitchFamily="34" charset="-120"/>
              </a:rPr>
              <a:t>Partition Pruning</a:t>
            </a:r>
            <a:pPr algn="l" indent="0" marL="0">
              <a:lnSpc>
                <a:spcPct val="120000"/>
              </a:lnSpc>
              <a:buNone/>
            </a:pPr>
            <a:r>
              <a:rPr lang="en-US" sz="1800" dirty="0">
                <a:solidFill>
                  <a:srgbClr val="8EA0B5">
                    <a:alpha val="99000"/>
                  </a:srgbClr>
                </a:solidFill>
                <a:latin typeface="Arial" pitchFamily="34" charset="0"/>
                <a:ea typeface="Arial" pitchFamily="34" charset="-122"/>
                <a:cs typeface="Arial" pitchFamily="34" charset="-120"/>
              </a:rPr>
              <a:t>.</a:t>
            </a:r>
            <a:endParaRPr lang="en-US" sz="18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0C121C"/>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FFB46E">
                    <a:alpha val="97000"/>
                  </a:srgbClr>
                </a:solidFill>
                <a:latin typeface="Courier New" pitchFamily="34" charset="0"/>
                <a:ea typeface="Courier New" pitchFamily="34" charset="-122"/>
                <a:cs typeface="Courier New" pitchFamily="34" charset="-120"/>
              </a:rPr>
              <a:t>ATELIER 5.1 · OPTIMISATION</a:t>
            </a:r>
            <a:endParaRPr lang="en-US" sz="1800" dirty="0"/>
          </a:p>
        </p:txBody>
      </p:sp>
      <p:sp>
        <p:nvSpPr>
          <p:cNvPr id="3" name="Text 1"/>
          <p:cNvSpPr/>
          <p:nvPr/>
        </p:nvSpPr>
        <p:spPr>
          <a:xfrm>
            <a:off x="1066800" y="1314450"/>
            <a:ext cx="17769840"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Bucketing et formats de stockage</a:t>
            </a:r>
            <a:endParaRPr lang="en-US" sz="4800" dirty="0"/>
          </a:p>
        </p:txBody>
      </p:sp>
      <p:sp>
        <p:nvSpPr>
          <p:cNvPr id="4" name="Shape 2"/>
          <p:cNvSpPr/>
          <p:nvPr/>
        </p:nvSpPr>
        <p:spPr>
          <a:xfrm>
            <a:off x="1066800" y="2272209"/>
            <a:ext cx="7876381" cy="7195642"/>
          </a:xfrm>
          <a:prstGeom prst="roundRect">
            <a:avLst>
              <a:gd name="adj" fmla="val 2118"/>
            </a:avLst>
          </a:prstGeom>
          <a:solidFill>
            <a:srgbClr val="FFFFFF">
              <a:alpha val="3000"/>
            </a:srgbClr>
          </a:solidFill>
          <a:ln w="6350">
            <a:solidFill>
              <a:srgbClr val="FFFFFF">
                <a:alpha val="10000"/>
              </a:srgbClr>
            </a:solidFill>
            <a:prstDash val="solid"/>
          </a:ln>
        </p:spPr>
      </p:sp>
      <p:sp>
        <p:nvSpPr>
          <p:cNvPr id="5" name="Text 3"/>
          <p:cNvSpPr/>
          <p:nvPr/>
        </p:nvSpPr>
        <p:spPr>
          <a:xfrm>
            <a:off x="1377950" y="2564309"/>
            <a:ext cx="7979490" cy="342900"/>
          </a:xfrm>
          <a:prstGeom prst="rect">
            <a:avLst/>
          </a:prstGeom>
          <a:noFill/>
          <a:ln/>
        </p:spPr>
        <p:txBody>
          <a:bodyPr wrap="square" lIns="25400" tIns="25400" rIns="25400" bIns="25400" rtlCol="0" anchor="t">
            <a:normAutofit/>
          </a:bodyPr>
          <a:lstStyle/>
          <a:p>
            <a:pPr algn="l" indent="0" marL="0">
              <a:buNone/>
            </a:pPr>
            <a:r>
              <a:rPr lang="en-US" sz="2100" b="1" dirty="0">
                <a:solidFill>
                  <a:srgbClr val="EEF3F9"/>
                </a:solidFill>
                <a:latin typeface="Arial" pitchFamily="34" charset="0"/>
                <a:ea typeface="Arial" pitchFamily="34" charset="-122"/>
                <a:cs typeface="Arial" pitchFamily="34" charset="-120"/>
              </a:rPr>
              <a:t>Bucketing</a:t>
            </a:r>
            <a:endParaRPr lang="en-US" sz="2100" dirty="0"/>
          </a:p>
        </p:txBody>
      </p:sp>
      <p:sp>
        <p:nvSpPr>
          <p:cNvPr id="6" name="Shape 4"/>
          <p:cNvSpPr/>
          <p:nvPr/>
        </p:nvSpPr>
        <p:spPr>
          <a:xfrm>
            <a:off x="4053681" y="3040559"/>
            <a:ext cx="1902520" cy="508000"/>
          </a:xfrm>
          <a:prstGeom prst="roundRect">
            <a:avLst>
              <a:gd name="adj" fmla="val 15000"/>
            </a:avLst>
          </a:prstGeom>
          <a:solidFill>
            <a:srgbClr val="FFFFFF">
              <a:alpha val="6000"/>
            </a:srgbClr>
          </a:solidFill>
          <a:ln w="6350">
            <a:solidFill>
              <a:srgbClr val="FFFFFF">
                <a:alpha val="10000"/>
              </a:srgbClr>
            </a:solidFill>
            <a:prstDash val="solid"/>
          </a:ln>
        </p:spPr>
      </p:sp>
      <p:sp>
        <p:nvSpPr>
          <p:cNvPr id="7" name="Text 5"/>
          <p:cNvSpPr/>
          <p:nvPr/>
        </p:nvSpPr>
        <p:spPr>
          <a:xfrm>
            <a:off x="4250531" y="3142159"/>
            <a:ext cx="15850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EEF3F9"/>
                </a:solidFill>
                <a:latin typeface="Courier New" pitchFamily="34" charset="0"/>
                <a:ea typeface="Courier New" pitchFamily="34" charset="-122"/>
                <a:cs typeface="Courier New" pitchFamily="34" charset="-120"/>
              </a:rPr>
              <a:t>Hash(store)</a:t>
            </a:r>
            <a:endParaRPr lang="en-US" sz="1800" dirty="0"/>
          </a:p>
        </p:txBody>
      </p:sp>
      <p:sp>
        <p:nvSpPr>
          <p:cNvPr id="8" name="Text 6"/>
          <p:cNvSpPr/>
          <p:nvPr/>
        </p:nvSpPr>
        <p:spPr>
          <a:xfrm>
            <a:off x="4936331" y="3605709"/>
            <a:ext cx="2134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FB46E"/>
                </a:solidFill>
                <a:latin typeface="Courier New" pitchFamily="34" charset="0"/>
                <a:ea typeface="Courier New" pitchFamily="34" charset="-122"/>
                <a:cs typeface="Courier New" pitchFamily="34" charset="-120"/>
              </a:rPr>
              <a:t>↓</a:t>
            </a:r>
            <a:endParaRPr lang="en-US" sz="1800" dirty="0"/>
          </a:p>
        </p:txBody>
      </p:sp>
      <p:sp>
        <p:nvSpPr>
          <p:cNvPr id="9" name="Shape 7"/>
          <p:cNvSpPr/>
          <p:nvPr/>
        </p:nvSpPr>
        <p:spPr>
          <a:xfrm>
            <a:off x="3783211" y="3967659"/>
            <a:ext cx="553740" cy="508000"/>
          </a:xfrm>
          <a:prstGeom prst="roundRect">
            <a:avLst>
              <a:gd name="adj" fmla="val 15000"/>
            </a:avLst>
          </a:prstGeom>
          <a:solidFill>
            <a:srgbClr val="FFC28E">
              <a:alpha val="25000"/>
            </a:srgbClr>
          </a:solidFill>
          <a:ln w="6350">
            <a:solidFill>
              <a:srgbClr val="FFFFFF">
                <a:alpha val="10000"/>
              </a:srgbClr>
            </a:solidFill>
            <a:prstDash val="solid"/>
          </a:ln>
        </p:spPr>
      </p:sp>
      <p:sp>
        <p:nvSpPr>
          <p:cNvPr id="10" name="Text 8"/>
          <p:cNvSpPr/>
          <p:nvPr/>
        </p:nvSpPr>
        <p:spPr>
          <a:xfrm>
            <a:off x="3922911" y="4069259"/>
            <a:ext cx="35054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EEF3F9"/>
                </a:solidFill>
                <a:latin typeface="Courier New" pitchFamily="34" charset="0"/>
                <a:ea typeface="Courier New" pitchFamily="34" charset="-122"/>
                <a:cs typeface="Courier New" pitchFamily="34" charset="-120"/>
              </a:rPr>
              <a:t>B0</a:t>
            </a:r>
            <a:endParaRPr lang="en-US" sz="1800" dirty="0"/>
          </a:p>
        </p:txBody>
      </p:sp>
      <p:sp>
        <p:nvSpPr>
          <p:cNvPr id="11" name="Shape 9"/>
          <p:cNvSpPr/>
          <p:nvPr/>
        </p:nvSpPr>
        <p:spPr>
          <a:xfrm>
            <a:off x="4413151" y="3967659"/>
            <a:ext cx="553740" cy="508000"/>
          </a:xfrm>
          <a:prstGeom prst="roundRect">
            <a:avLst>
              <a:gd name="adj" fmla="val 15000"/>
            </a:avLst>
          </a:prstGeom>
          <a:solidFill>
            <a:srgbClr val="FFC28E">
              <a:alpha val="25000"/>
            </a:srgbClr>
          </a:solidFill>
          <a:ln w="6350">
            <a:solidFill>
              <a:srgbClr val="FFFFFF">
                <a:alpha val="10000"/>
              </a:srgbClr>
            </a:solidFill>
            <a:prstDash val="solid"/>
          </a:ln>
        </p:spPr>
      </p:sp>
      <p:sp>
        <p:nvSpPr>
          <p:cNvPr id="12" name="Text 10"/>
          <p:cNvSpPr/>
          <p:nvPr/>
        </p:nvSpPr>
        <p:spPr>
          <a:xfrm>
            <a:off x="4552851" y="4069259"/>
            <a:ext cx="35054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EEF3F9"/>
                </a:solidFill>
                <a:latin typeface="Courier New" pitchFamily="34" charset="0"/>
                <a:ea typeface="Courier New" pitchFamily="34" charset="-122"/>
                <a:cs typeface="Courier New" pitchFamily="34" charset="-120"/>
              </a:rPr>
              <a:t>B1</a:t>
            </a:r>
            <a:endParaRPr lang="en-US" sz="1800" dirty="0"/>
          </a:p>
        </p:txBody>
      </p:sp>
      <p:sp>
        <p:nvSpPr>
          <p:cNvPr id="13" name="Shape 11"/>
          <p:cNvSpPr/>
          <p:nvPr/>
        </p:nvSpPr>
        <p:spPr>
          <a:xfrm>
            <a:off x="5043091" y="3967659"/>
            <a:ext cx="553740" cy="508000"/>
          </a:xfrm>
          <a:prstGeom prst="roundRect">
            <a:avLst>
              <a:gd name="adj" fmla="val 15000"/>
            </a:avLst>
          </a:prstGeom>
          <a:solidFill>
            <a:srgbClr val="FFC28E">
              <a:alpha val="25000"/>
            </a:srgbClr>
          </a:solidFill>
          <a:ln w="6350">
            <a:solidFill>
              <a:srgbClr val="FFFFFF">
                <a:alpha val="10000"/>
              </a:srgbClr>
            </a:solidFill>
            <a:prstDash val="solid"/>
          </a:ln>
        </p:spPr>
      </p:sp>
      <p:sp>
        <p:nvSpPr>
          <p:cNvPr id="14" name="Text 12"/>
          <p:cNvSpPr/>
          <p:nvPr/>
        </p:nvSpPr>
        <p:spPr>
          <a:xfrm>
            <a:off x="5182791" y="4069259"/>
            <a:ext cx="35054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EEF3F9"/>
                </a:solidFill>
                <a:latin typeface="Courier New" pitchFamily="34" charset="0"/>
                <a:ea typeface="Courier New" pitchFamily="34" charset="-122"/>
                <a:cs typeface="Courier New" pitchFamily="34" charset="-120"/>
              </a:rPr>
              <a:t>B2</a:t>
            </a:r>
            <a:endParaRPr lang="en-US" sz="1800" dirty="0"/>
          </a:p>
        </p:txBody>
      </p:sp>
      <p:sp>
        <p:nvSpPr>
          <p:cNvPr id="15" name="Shape 13"/>
          <p:cNvSpPr/>
          <p:nvPr/>
        </p:nvSpPr>
        <p:spPr>
          <a:xfrm>
            <a:off x="5673030" y="3967659"/>
            <a:ext cx="553740" cy="508000"/>
          </a:xfrm>
          <a:prstGeom prst="roundRect">
            <a:avLst>
              <a:gd name="adj" fmla="val 15000"/>
            </a:avLst>
          </a:prstGeom>
          <a:solidFill>
            <a:srgbClr val="FFC28E">
              <a:alpha val="25000"/>
            </a:srgbClr>
          </a:solidFill>
          <a:ln w="6350">
            <a:solidFill>
              <a:srgbClr val="FFFFFF">
                <a:alpha val="10000"/>
              </a:srgbClr>
            </a:solidFill>
            <a:prstDash val="solid"/>
          </a:ln>
        </p:spPr>
      </p:sp>
      <p:sp>
        <p:nvSpPr>
          <p:cNvPr id="16" name="Text 14"/>
          <p:cNvSpPr/>
          <p:nvPr/>
        </p:nvSpPr>
        <p:spPr>
          <a:xfrm>
            <a:off x="5812730" y="4069259"/>
            <a:ext cx="35054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EEF3F9"/>
                </a:solidFill>
                <a:latin typeface="Courier New" pitchFamily="34" charset="0"/>
                <a:ea typeface="Courier New" pitchFamily="34" charset="-122"/>
                <a:cs typeface="Courier New" pitchFamily="34" charset="-120"/>
              </a:rPr>
              <a:t>B3</a:t>
            </a:r>
            <a:endParaRPr lang="en-US" sz="1800" dirty="0"/>
          </a:p>
        </p:txBody>
      </p:sp>
      <p:sp>
        <p:nvSpPr>
          <p:cNvPr id="17" name="Text 15"/>
          <p:cNvSpPr/>
          <p:nvPr/>
        </p:nvSpPr>
        <p:spPr>
          <a:xfrm>
            <a:off x="1015246" y="4628059"/>
            <a:ext cx="7979490"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8EA0B5"/>
                </a:solidFill>
                <a:latin typeface="Courier New" pitchFamily="34" charset="0"/>
                <a:ea typeface="Courier New" pitchFamily="34" charset="-122"/>
                <a:cs typeface="Courier New" pitchFamily="34" charset="-120"/>
              </a:rPr>
              <a:t>CLUSTERED BY (store) INTO 4 BUCKETS</a:t>
            </a:r>
            <a:endParaRPr lang="en-US" sz="1800" dirty="0"/>
          </a:p>
        </p:txBody>
      </p:sp>
      <p:sp>
        <p:nvSpPr>
          <p:cNvPr id="18" name="Text 16"/>
          <p:cNvSpPr/>
          <p:nvPr/>
        </p:nvSpPr>
        <p:spPr>
          <a:xfrm>
            <a:off x="1377950" y="8535789"/>
            <a:ext cx="7471704" cy="678061"/>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8EA0B5"/>
                </a:solidFill>
                <a:latin typeface="Arial" pitchFamily="34" charset="0"/>
                <a:ea typeface="Arial" pitchFamily="34" charset="-122"/>
                <a:cs typeface="Arial" pitchFamily="34" charset="-120"/>
              </a:rPr>
              <a:t>Jointures bucket par bucket sans shuffle global · échantillonnage </a:t>
            </a:r>
            <a:pPr algn="l" indent="0" marL="0">
              <a:lnSpc>
                <a:spcPct val="120000"/>
              </a:lnSpc>
              <a:buNone/>
            </a:pPr>
            <a:r>
              <a:rPr lang="en-US" sz="1800" dirty="0">
                <a:solidFill>
                  <a:srgbClr val="8EA0B5"/>
                </a:solidFill>
                <a:latin typeface="Courier New" pitchFamily="34" charset="0"/>
                <a:ea typeface="Courier New" pitchFamily="34" charset="-122"/>
                <a:cs typeface="Courier New" pitchFamily="34" charset="-120"/>
              </a:rPr>
              <a:t>TABLESAMPLE</a:t>
            </a:r>
            <a:pPr algn="l" indent="0" marL="0">
              <a:lnSpc>
                <a:spcPct val="120000"/>
              </a:lnSpc>
              <a:buNone/>
            </a:pPr>
            <a:r>
              <a:rPr lang="en-US" sz="1800" dirty="0">
                <a:solidFill>
                  <a:srgbClr val="8EA0B5"/>
                </a:solidFill>
                <a:latin typeface="Arial" pitchFamily="34" charset="0"/>
                <a:ea typeface="Arial" pitchFamily="34" charset="-122"/>
                <a:cs typeface="Arial" pitchFamily="34" charset="-120"/>
              </a:rPr>
              <a:t>.</a:t>
            </a:r>
            <a:endParaRPr lang="en-US" sz="1800" dirty="0"/>
          </a:p>
        </p:txBody>
      </p:sp>
      <p:sp>
        <p:nvSpPr>
          <p:cNvPr id="19" name="Shape 17"/>
          <p:cNvSpPr/>
          <p:nvPr/>
        </p:nvSpPr>
        <p:spPr>
          <a:xfrm>
            <a:off x="9228931" y="2273761"/>
            <a:ext cx="7992269" cy="7195642"/>
          </a:xfrm>
          <a:prstGeom prst="roundRect">
            <a:avLst>
              <a:gd name="adj" fmla="val 2118"/>
            </a:avLst>
          </a:prstGeom>
          <a:solidFill>
            <a:srgbClr val="FFFFFF">
              <a:alpha val="3000"/>
            </a:srgbClr>
          </a:solidFill>
          <a:ln w="6350">
            <a:solidFill>
              <a:srgbClr val="FFFFFF">
                <a:alpha val="10000"/>
              </a:srgbClr>
            </a:solidFill>
            <a:prstDash val="solid"/>
          </a:ln>
        </p:spPr>
      </p:sp>
      <p:sp>
        <p:nvSpPr>
          <p:cNvPr id="20" name="Shape 18"/>
          <p:cNvSpPr/>
          <p:nvPr/>
        </p:nvSpPr>
        <p:spPr>
          <a:xfrm>
            <a:off x="9235282" y="2889711"/>
            <a:ext cx="7979569" cy="9525"/>
          </a:xfrm>
          <a:prstGeom prst="rect">
            <a:avLst/>
          </a:prstGeom>
          <a:solidFill>
            <a:srgbClr val="FFFFFF">
              <a:alpha val="10000"/>
            </a:srgbClr>
          </a:solidFill>
          <a:ln/>
        </p:spPr>
      </p:sp>
      <p:sp>
        <p:nvSpPr>
          <p:cNvPr id="21" name="Text 19"/>
          <p:cNvSpPr/>
          <p:nvPr/>
        </p:nvSpPr>
        <p:spPr>
          <a:xfrm>
            <a:off x="9482932" y="2432511"/>
            <a:ext cx="7723656"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FB46E">
                    <a:alpha val="99000"/>
                  </a:srgbClr>
                </a:solidFill>
                <a:latin typeface="Courier New" pitchFamily="34" charset="0"/>
                <a:ea typeface="Courier New" pitchFamily="34" charset="-122"/>
                <a:cs typeface="Courier New" pitchFamily="34" charset="-120"/>
              </a:rPr>
              <a:t>Formats de stockage</a:t>
            </a:r>
            <a:endParaRPr lang="en-US" sz="1800" dirty="0"/>
          </a:p>
        </p:txBody>
      </p:sp>
      <p:sp>
        <p:nvSpPr>
          <p:cNvPr id="22" name="Shape 20"/>
          <p:cNvSpPr/>
          <p:nvPr/>
        </p:nvSpPr>
        <p:spPr>
          <a:xfrm>
            <a:off x="9235282" y="3505661"/>
            <a:ext cx="7979569" cy="9525"/>
          </a:xfrm>
          <a:prstGeom prst="rect">
            <a:avLst/>
          </a:prstGeom>
          <a:solidFill>
            <a:srgbClr val="FFFFFF">
              <a:alpha val="6000"/>
            </a:srgbClr>
          </a:solidFill>
          <a:ln/>
        </p:spPr>
      </p:sp>
      <p:sp>
        <p:nvSpPr>
          <p:cNvPr id="23" name="Text 21"/>
          <p:cNvSpPr/>
          <p:nvPr/>
        </p:nvSpPr>
        <p:spPr>
          <a:xfrm>
            <a:off x="9482932" y="3048461"/>
            <a:ext cx="117355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EEF3F9">
                    <a:alpha val="99000"/>
                  </a:srgbClr>
                </a:solidFill>
                <a:latin typeface="Courier New" pitchFamily="34" charset="0"/>
                <a:ea typeface="Courier New" pitchFamily="34" charset="-122"/>
                <a:cs typeface="Courier New" pitchFamily="34" charset="-120"/>
              </a:rPr>
              <a:t>TEXTFILE</a:t>
            </a:r>
            <a:endParaRPr lang="en-US" sz="1800" dirty="0"/>
          </a:p>
        </p:txBody>
      </p:sp>
      <p:sp>
        <p:nvSpPr>
          <p:cNvPr id="24" name="Text 22"/>
          <p:cNvSpPr/>
          <p:nvPr/>
        </p:nvSpPr>
        <p:spPr>
          <a:xfrm>
            <a:off x="10751741" y="3051636"/>
            <a:ext cx="6837006" cy="336550"/>
          </a:xfrm>
          <a:prstGeom prst="rect">
            <a:avLst/>
          </a:prstGeom>
          <a:noFill/>
          <a:ln/>
        </p:spPr>
        <p:txBody>
          <a:bodyPr wrap="square" lIns="25400" tIns="25400" rIns="25400" bIns="25400" rtlCol="0" anchor="t">
            <a:normAutofit/>
          </a:bodyPr>
          <a:lstStyle/>
          <a:p>
            <a:pPr algn="l" indent="0" marL="0">
              <a:buNone/>
            </a:pPr>
            <a:r>
              <a:rPr lang="en-US" sz="1800" dirty="0">
                <a:solidFill>
                  <a:srgbClr val="8EA0B5">
                    <a:alpha val="99000"/>
                  </a:srgbClr>
                </a:solidFill>
                <a:latin typeface="Arial" pitchFamily="34" charset="0"/>
                <a:ea typeface="Arial" pitchFamily="34" charset="-122"/>
                <a:cs typeface="Arial" pitchFamily="34" charset="-120"/>
              </a:rPr>
              <a:t>simple, lisible directement</a:t>
            </a:r>
            <a:endParaRPr lang="en-US" sz="1800" dirty="0"/>
          </a:p>
        </p:txBody>
      </p:sp>
      <p:sp>
        <p:nvSpPr>
          <p:cNvPr id="25" name="Shape 23"/>
          <p:cNvSpPr/>
          <p:nvPr/>
        </p:nvSpPr>
        <p:spPr>
          <a:xfrm>
            <a:off x="9235282" y="4121611"/>
            <a:ext cx="7979569" cy="9525"/>
          </a:xfrm>
          <a:prstGeom prst="rect">
            <a:avLst/>
          </a:prstGeom>
          <a:solidFill>
            <a:srgbClr val="FFFFFF">
              <a:alpha val="6000"/>
            </a:srgbClr>
          </a:solidFill>
          <a:ln/>
        </p:spPr>
      </p:sp>
      <p:sp>
        <p:nvSpPr>
          <p:cNvPr id="26" name="Text 24"/>
          <p:cNvSpPr/>
          <p:nvPr/>
        </p:nvSpPr>
        <p:spPr>
          <a:xfrm>
            <a:off x="9482932" y="3664411"/>
            <a:ext cx="62488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EEF3F9">
                    <a:alpha val="99000"/>
                  </a:srgbClr>
                </a:solidFill>
                <a:latin typeface="Courier New" pitchFamily="34" charset="0"/>
                <a:ea typeface="Courier New" pitchFamily="34" charset="-122"/>
                <a:cs typeface="Courier New" pitchFamily="34" charset="-120"/>
              </a:rPr>
              <a:t>AVRO</a:t>
            </a:r>
            <a:endParaRPr lang="en-US" sz="1800" dirty="0"/>
          </a:p>
        </p:txBody>
      </p:sp>
      <p:sp>
        <p:nvSpPr>
          <p:cNvPr id="27" name="Text 25"/>
          <p:cNvSpPr/>
          <p:nvPr/>
        </p:nvSpPr>
        <p:spPr>
          <a:xfrm>
            <a:off x="10203061" y="3667585"/>
            <a:ext cx="7440553" cy="336550"/>
          </a:xfrm>
          <a:prstGeom prst="rect">
            <a:avLst/>
          </a:prstGeom>
          <a:noFill/>
          <a:ln/>
        </p:spPr>
        <p:txBody>
          <a:bodyPr wrap="square" lIns="25400" tIns="25400" rIns="25400" bIns="25400" rtlCol="0" anchor="t">
            <a:normAutofit/>
          </a:bodyPr>
          <a:lstStyle/>
          <a:p>
            <a:pPr algn="l" indent="0" marL="0">
              <a:buNone/>
            </a:pPr>
            <a:r>
              <a:rPr lang="en-US" sz="1800" dirty="0">
                <a:solidFill>
                  <a:srgbClr val="8EA0B5">
                    <a:alpha val="99000"/>
                  </a:srgbClr>
                </a:solidFill>
                <a:latin typeface="Arial" pitchFamily="34" charset="0"/>
                <a:ea typeface="Arial" pitchFamily="34" charset="-122"/>
                <a:cs typeface="Arial" pitchFamily="34" charset="-120"/>
              </a:rPr>
              <a:t>ligne, évolution de schéma</a:t>
            </a:r>
            <a:endParaRPr lang="en-US" sz="1800" dirty="0"/>
          </a:p>
        </p:txBody>
      </p:sp>
      <p:sp>
        <p:nvSpPr>
          <p:cNvPr id="28" name="Shape 26"/>
          <p:cNvSpPr/>
          <p:nvPr/>
        </p:nvSpPr>
        <p:spPr>
          <a:xfrm>
            <a:off x="9235282" y="4737561"/>
            <a:ext cx="7979569" cy="9525"/>
          </a:xfrm>
          <a:prstGeom prst="rect">
            <a:avLst/>
          </a:prstGeom>
          <a:solidFill>
            <a:srgbClr val="FFFFFF">
              <a:alpha val="6000"/>
            </a:srgbClr>
          </a:solidFill>
          <a:ln/>
        </p:spPr>
      </p:sp>
      <p:sp>
        <p:nvSpPr>
          <p:cNvPr id="29" name="Text 27"/>
          <p:cNvSpPr/>
          <p:nvPr/>
        </p:nvSpPr>
        <p:spPr>
          <a:xfrm>
            <a:off x="9482932" y="4280361"/>
            <a:ext cx="48775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FB46E">
                    <a:alpha val="99000"/>
                  </a:srgbClr>
                </a:solidFill>
                <a:latin typeface="Courier New" pitchFamily="34" charset="0"/>
                <a:ea typeface="Courier New" pitchFamily="34" charset="-122"/>
                <a:cs typeface="Courier New" pitchFamily="34" charset="-120"/>
              </a:rPr>
              <a:t>ORC</a:t>
            </a:r>
            <a:endParaRPr lang="en-US" sz="1800" dirty="0"/>
          </a:p>
        </p:txBody>
      </p:sp>
      <p:sp>
        <p:nvSpPr>
          <p:cNvPr id="30" name="Text 28"/>
          <p:cNvSpPr/>
          <p:nvPr/>
        </p:nvSpPr>
        <p:spPr>
          <a:xfrm>
            <a:off x="10065941" y="4283536"/>
            <a:ext cx="7591386" cy="336550"/>
          </a:xfrm>
          <a:prstGeom prst="rect">
            <a:avLst/>
          </a:prstGeom>
          <a:noFill/>
          <a:ln/>
        </p:spPr>
        <p:txBody>
          <a:bodyPr wrap="square" lIns="25400" tIns="25400" rIns="25400" bIns="25400" rtlCol="0" anchor="t">
            <a:normAutofit/>
          </a:bodyPr>
          <a:lstStyle/>
          <a:p>
            <a:pPr algn="l" indent="0" marL="0">
              <a:buNone/>
            </a:pPr>
            <a:r>
              <a:rPr lang="en-US" sz="1800" dirty="0">
                <a:solidFill>
                  <a:srgbClr val="8EA0B5">
                    <a:alpha val="99000"/>
                  </a:srgbClr>
                </a:solidFill>
                <a:latin typeface="Arial" pitchFamily="34" charset="0"/>
                <a:ea typeface="Arial" pitchFamily="34" charset="-122"/>
                <a:cs typeface="Arial" pitchFamily="34" charset="-120"/>
              </a:rPr>
              <a:t>colonnaire optimisé Hive</a:t>
            </a:r>
            <a:endParaRPr lang="en-US" sz="1800" dirty="0"/>
          </a:p>
        </p:txBody>
      </p:sp>
      <p:sp>
        <p:nvSpPr>
          <p:cNvPr id="31" name="Text 29"/>
          <p:cNvSpPr/>
          <p:nvPr/>
        </p:nvSpPr>
        <p:spPr>
          <a:xfrm>
            <a:off x="9482932" y="4896310"/>
            <a:ext cx="103634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6DBDB">
                    <a:alpha val="99000"/>
                  </a:srgbClr>
                </a:solidFill>
                <a:latin typeface="Courier New" pitchFamily="34" charset="0"/>
                <a:ea typeface="Courier New" pitchFamily="34" charset="-122"/>
                <a:cs typeface="Courier New" pitchFamily="34" charset="-120"/>
              </a:rPr>
              <a:t>PARQUET</a:t>
            </a:r>
            <a:endParaRPr lang="en-US" sz="1800" dirty="0"/>
          </a:p>
        </p:txBody>
      </p:sp>
      <p:sp>
        <p:nvSpPr>
          <p:cNvPr id="32" name="Text 30"/>
          <p:cNvSpPr/>
          <p:nvPr/>
        </p:nvSpPr>
        <p:spPr>
          <a:xfrm>
            <a:off x="10614522" y="4899486"/>
            <a:ext cx="6987947" cy="336550"/>
          </a:xfrm>
          <a:prstGeom prst="rect">
            <a:avLst/>
          </a:prstGeom>
          <a:noFill/>
          <a:ln/>
        </p:spPr>
        <p:txBody>
          <a:bodyPr wrap="square" lIns="25400" tIns="25400" rIns="25400" bIns="25400" rtlCol="0" anchor="t">
            <a:normAutofit/>
          </a:bodyPr>
          <a:lstStyle/>
          <a:p>
            <a:pPr algn="l" indent="0" marL="0">
              <a:buNone/>
            </a:pPr>
            <a:r>
              <a:rPr lang="en-US" sz="1800" dirty="0">
                <a:solidFill>
                  <a:srgbClr val="8EA0B5">
                    <a:alpha val="99000"/>
                  </a:srgbClr>
                </a:solidFill>
                <a:latin typeface="Arial" pitchFamily="34" charset="0"/>
                <a:ea typeface="Arial" pitchFamily="34" charset="-122"/>
                <a:cs typeface="Arial" pitchFamily="34" charset="-120"/>
              </a:rPr>
              <a:t>colonnaire, écosystème Spark</a:t>
            </a:r>
            <a:endParaRPr lang="en-US" sz="18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0A0E15"/>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FFB46E">
                    <a:alpha val="96000"/>
                  </a:srgbClr>
                </a:solidFill>
                <a:latin typeface="Courier New" pitchFamily="34" charset="0"/>
                <a:ea typeface="Courier New" pitchFamily="34" charset="-122"/>
                <a:cs typeface="Courier New" pitchFamily="34" charset="-120"/>
              </a:rPr>
              <a:t>ATELIER 5.1 · POSITIONNEMENT</a:t>
            </a:r>
            <a:endParaRPr lang="en-US" sz="1800" dirty="0"/>
          </a:p>
        </p:txBody>
      </p:sp>
      <p:sp>
        <p:nvSpPr>
          <p:cNvPr id="3" name="Text 1"/>
          <p:cNvSpPr/>
          <p:nvPr/>
        </p:nvSpPr>
        <p:spPr>
          <a:xfrm>
            <a:off x="1066800" y="1314497"/>
            <a:ext cx="17769840"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Hive face à un SGBDR classique</a:t>
            </a:r>
            <a:endParaRPr lang="en-US" sz="4800" dirty="0"/>
          </a:p>
        </p:txBody>
      </p:sp>
      <p:sp>
        <p:nvSpPr>
          <p:cNvPr id="4" name="Shape 2"/>
          <p:cNvSpPr/>
          <p:nvPr/>
        </p:nvSpPr>
        <p:spPr>
          <a:xfrm>
            <a:off x="1066800" y="2275045"/>
            <a:ext cx="16154400" cy="3314700"/>
          </a:xfrm>
          <a:prstGeom prst="roundRect">
            <a:avLst>
              <a:gd name="adj" fmla="val 5172"/>
            </a:avLst>
          </a:prstGeom>
          <a:solidFill>
            <a:srgbClr val="FFFFFF">
              <a:alpha val="3000"/>
            </a:srgbClr>
          </a:solidFill>
          <a:ln w="6350">
            <a:solidFill>
              <a:srgbClr val="FFFFFF">
                <a:alpha val="10000"/>
              </a:srgbClr>
            </a:solidFill>
            <a:prstDash val="solid"/>
          </a:ln>
        </p:spPr>
      </p:sp>
      <p:sp>
        <p:nvSpPr>
          <p:cNvPr id="5" name="Shape 3"/>
          <p:cNvSpPr/>
          <p:nvPr/>
        </p:nvSpPr>
        <p:spPr>
          <a:xfrm>
            <a:off x="1073150" y="2967195"/>
            <a:ext cx="16141701" cy="9525"/>
          </a:xfrm>
          <a:prstGeom prst="rect">
            <a:avLst/>
          </a:prstGeom>
          <a:solidFill>
            <a:srgbClr val="FFFFFF">
              <a:alpha val="10000"/>
            </a:srgbClr>
          </a:solidFill>
          <a:ln/>
        </p:spPr>
      </p:sp>
      <p:sp>
        <p:nvSpPr>
          <p:cNvPr id="6" name="Text 4"/>
          <p:cNvSpPr/>
          <p:nvPr/>
        </p:nvSpPr>
        <p:spPr>
          <a:xfrm>
            <a:off x="7500640" y="2471895"/>
            <a:ext cx="5164644"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FB46E">
                    <a:alpha val="99000"/>
                  </a:srgbClr>
                </a:solidFill>
                <a:latin typeface="Courier New" pitchFamily="34" charset="0"/>
                <a:ea typeface="Courier New" pitchFamily="34" charset="-122"/>
                <a:cs typeface="Courier New" pitchFamily="34" charset="-120"/>
              </a:rPr>
              <a:t>Hive</a:t>
            </a:r>
            <a:endParaRPr lang="en-US" sz="1800" dirty="0"/>
          </a:p>
        </p:txBody>
      </p:sp>
      <p:sp>
        <p:nvSpPr>
          <p:cNvPr id="7" name="Text 5"/>
          <p:cNvSpPr/>
          <p:nvPr/>
        </p:nvSpPr>
        <p:spPr>
          <a:xfrm>
            <a:off x="12195771" y="2471895"/>
            <a:ext cx="5164644"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6DBDB">
                    <a:alpha val="99000"/>
                  </a:srgbClr>
                </a:solidFill>
                <a:latin typeface="Courier New" pitchFamily="34" charset="0"/>
                <a:ea typeface="Courier New" pitchFamily="34" charset="-122"/>
                <a:cs typeface="Courier New" pitchFamily="34" charset="-120"/>
              </a:rPr>
              <a:t>PostgreSQL</a:t>
            </a:r>
            <a:endParaRPr lang="en-US" sz="1800" dirty="0"/>
          </a:p>
        </p:txBody>
      </p:sp>
      <p:sp>
        <p:nvSpPr>
          <p:cNvPr id="8" name="Shape 6"/>
          <p:cNvSpPr/>
          <p:nvPr/>
        </p:nvSpPr>
        <p:spPr>
          <a:xfrm>
            <a:off x="1073150" y="3621245"/>
            <a:ext cx="16141701" cy="9525"/>
          </a:xfrm>
          <a:prstGeom prst="rect">
            <a:avLst/>
          </a:prstGeom>
          <a:solidFill>
            <a:srgbClr val="FFFFFF">
              <a:alpha val="6000"/>
            </a:srgbClr>
          </a:solidFill>
          <a:ln/>
        </p:spPr>
      </p:sp>
      <p:sp>
        <p:nvSpPr>
          <p:cNvPr id="9" name="Text 7"/>
          <p:cNvSpPr/>
          <p:nvPr/>
        </p:nvSpPr>
        <p:spPr>
          <a:xfrm>
            <a:off x="1397000" y="3144995"/>
            <a:ext cx="6714004"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alpha val="99000"/>
                  </a:srgbClr>
                </a:solidFill>
                <a:latin typeface="Arial" pitchFamily="34" charset="0"/>
                <a:ea typeface="Arial" pitchFamily="34" charset="-122"/>
                <a:cs typeface="Arial" pitchFamily="34" charset="-120"/>
              </a:rPr>
              <a:t>Clés primaires / étrangères</a:t>
            </a:r>
            <a:endParaRPr lang="en-US" sz="1875" dirty="0"/>
          </a:p>
        </p:txBody>
      </p:sp>
      <p:sp>
        <p:nvSpPr>
          <p:cNvPr id="10" name="Text 8"/>
          <p:cNvSpPr/>
          <p:nvPr/>
        </p:nvSpPr>
        <p:spPr>
          <a:xfrm>
            <a:off x="7500640" y="3144995"/>
            <a:ext cx="5164644" cy="342900"/>
          </a:xfrm>
          <a:prstGeom prst="rect">
            <a:avLst/>
          </a:prstGeom>
          <a:noFill/>
          <a:ln/>
        </p:spPr>
        <p:txBody>
          <a:bodyPr wrap="square" lIns="25400" tIns="25400" rIns="25400" bIns="25400" rtlCol="0" anchor="t">
            <a:normAutofit/>
          </a:bodyPr>
          <a:lstStyle/>
          <a:p>
            <a:pPr algn="l" indent="0" marL="0">
              <a:buNone/>
            </a:pPr>
            <a:r>
              <a:rPr lang="en-US" sz="1875" dirty="0">
                <a:solidFill>
                  <a:srgbClr val="EEF3F9">
                    <a:alpha val="99000"/>
                  </a:srgbClr>
                </a:solidFill>
                <a:latin typeface="Arial" pitchFamily="34" charset="0"/>
                <a:ea typeface="Arial" pitchFamily="34" charset="-122"/>
                <a:cs typeface="Arial" pitchFamily="34" charset="-120"/>
              </a:rPr>
              <a:t>Non imposées</a:t>
            </a:r>
            <a:endParaRPr lang="en-US" sz="1875" dirty="0"/>
          </a:p>
        </p:txBody>
      </p:sp>
      <p:sp>
        <p:nvSpPr>
          <p:cNvPr id="11" name="Text 9"/>
          <p:cNvSpPr/>
          <p:nvPr/>
        </p:nvSpPr>
        <p:spPr>
          <a:xfrm>
            <a:off x="12195771" y="3144995"/>
            <a:ext cx="5164644" cy="342900"/>
          </a:xfrm>
          <a:prstGeom prst="rect">
            <a:avLst/>
          </a:prstGeom>
          <a:noFill/>
          <a:ln/>
        </p:spPr>
        <p:txBody>
          <a:bodyPr wrap="square" lIns="25400" tIns="25400" rIns="25400" bIns="25400" rtlCol="0" anchor="t">
            <a:normAutofit/>
          </a:bodyPr>
          <a:lstStyle/>
          <a:p>
            <a:pPr algn="l" indent="0" marL="0">
              <a:buNone/>
            </a:pPr>
            <a:r>
              <a:rPr lang="en-US" sz="1875" dirty="0">
                <a:solidFill>
                  <a:srgbClr val="EEF3F9">
                    <a:alpha val="99000"/>
                  </a:srgbClr>
                </a:solidFill>
                <a:latin typeface="Arial" pitchFamily="34" charset="0"/>
                <a:ea typeface="Arial" pitchFamily="34" charset="-122"/>
                <a:cs typeface="Arial" pitchFamily="34" charset="-120"/>
              </a:rPr>
              <a:t>Imposées</a:t>
            </a:r>
            <a:endParaRPr lang="en-US" sz="1875" dirty="0"/>
          </a:p>
        </p:txBody>
      </p:sp>
      <p:sp>
        <p:nvSpPr>
          <p:cNvPr id="12" name="Shape 10"/>
          <p:cNvSpPr/>
          <p:nvPr/>
        </p:nvSpPr>
        <p:spPr>
          <a:xfrm>
            <a:off x="1073150" y="4275295"/>
            <a:ext cx="16141701" cy="9525"/>
          </a:xfrm>
          <a:prstGeom prst="rect">
            <a:avLst/>
          </a:prstGeom>
          <a:solidFill>
            <a:srgbClr val="FFFFFF">
              <a:alpha val="6000"/>
            </a:srgbClr>
          </a:solidFill>
          <a:ln/>
        </p:spPr>
      </p:sp>
      <p:sp>
        <p:nvSpPr>
          <p:cNvPr id="13" name="Text 11"/>
          <p:cNvSpPr/>
          <p:nvPr/>
        </p:nvSpPr>
        <p:spPr>
          <a:xfrm>
            <a:off x="1397000" y="3799045"/>
            <a:ext cx="6714004"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alpha val="99000"/>
                  </a:srgbClr>
                </a:solidFill>
                <a:latin typeface="Arial" pitchFamily="34" charset="0"/>
                <a:ea typeface="Arial" pitchFamily="34" charset="-122"/>
                <a:cs typeface="Arial" pitchFamily="34" charset="-120"/>
              </a:rPr>
              <a:t>Accès aux données</a:t>
            </a:r>
            <a:endParaRPr lang="en-US" sz="1875" dirty="0"/>
          </a:p>
        </p:txBody>
      </p:sp>
      <p:sp>
        <p:nvSpPr>
          <p:cNvPr id="14" name="Text 12"/>
          <p:cNvSpPr/>
          <p:nvPr/>
        </p:nvSpPr>
        <p:spPr>
          <a:xfrm>
            <a:off x="7500640" y="3799045"/>
            <a:ext cx="5164644" cy="342900"/>
          </a:xfrm>
          <a:prstGeom prst="rect">
            <a:avLst/>
          </a:prstGeom>
          <a:noFill/>
          <a:ln/>
        </p:spPr>
        <p:txBody>
          <a:bodyPr wrap="square" lIns="25400" tIns="25400" rIns="25400" bIns="25400" rtlCol="0" anchor="t">
            <a:normAutofit/>
          </a:bodyPr>
          <a:lstStyle/>
          <a:p>
            <a:pPr algn="l" indent="0" marL="0">
              <a:buNone/>
            </a:pPr>
            <a:r>
              <a:rPr lang="en-US" sz="1875" dirty="0">
                <a:solidFill>
                  <a:srgbClr val="EEF3F9">
                    <a:alpha val="99000"/>
                  </a:srgbClr>
                </a:solidFill>
                <a:latin typeface="Arial" pitchFamily="34" charset="0"/>
                <a:ea typeface="Arial" pitchFamily="34" charset="-122"/>
                <a:cs typeface="Arial" pitchFamily="34" charset="-120"/>
              </a:rPr>
              <a:t>Scan massif</a:t>
            </a:r>
            <a:endParaRPr lang="en-US" sz="1875" dirty="0"/>
          </a:p>
        </p:txBody>
      </p:sp>
      <p:sp>
        <p:nvSpPr>
          <p:cNvPr id="15" name="Text 13"/>
          <p:cNvSpPr/>
          <p:nvPr/>
        </p:nvSpPr>
        <p:spPr>
          <a:xfrm>
            <a:off x="12195771" y="3799045"/>
            <a:ext cx="5164644" cy="342900"/>
          </a:xfrm>
          <a:prstGeom prst="rect">
            <a:avLst/>
          </a:prstGeom>
          <a:noFill/>
          <a:ln/>
        </p:spPr>
        <p:txBody>
          <a:bodyPr wrap="square" lIns="25400" tIns="25400" rIns="25400" bIns="25400" rtlCol="0" anchor="t">
            <a:normAutofit/>
          </a:bodyPr>
          <a:lstStyle/>
          <a:p>
            <a:pPr algn="l" indent="0" marL="0">
              <a:buNone/>
            </a:pPr>
            <a:r>
              <a:rPr lang="en-US" sz="1875" dirty="0">
                <a:solidFill>
                  <a:srgbClr val="EEF3F9">
                    <a:alpha val="99000"/>
                  </a:srgbClr>
                </a:solidFill>
                <a:latin typeface="Arial" pitchFamily="34" charset="0"/>
                <a:ea typeface="Arial" pitchFamily="34" charset="-122"/>
                <a:cs typeface="Arial" pitchFamily="34" charset="-120"/>
              </a:rPr>
              <a:t>Index</a:t>
            </a:r>
            <a:endParaRPr lang="en-US" sz="1875" dirty="0"/>
          </a:p>
        </p:txBody>
      </p:sp>
      <p:sp>
        <p:nvSpPr>
          <p:cNvPr id="16" name="Shape 14"/>
          <p:cNvSpPr/>
          <p:nvPr/>
        </p:nvSpPr>
        <p:spPr>
          <a:xfrm>
            <a:off x="1073150" y="4929345"/>
            <a:ext cx="16141701" cy="9525"/>
          </a:xfrm>
          <a:prstGeom prst="rect">
            <a:avLst/>
          </a:prstGeom>
          <a:solidFill>
            <a:srgbClr val="FFFFFF">
              <a:alpha val="6000"/>
            </a:srgbClr>
          </a:solidFill>
          <a:ln/>
        </p:spPr>
      </p:sp>
      <p:sp>
        <p:nvSpPr>
          <p:cNvPr id="17" name="Text 15"/>
          <p:cNvSpPr/>
          <p:nvPr/>
        </p:nvSpPr>
        <p:spPr>
          <a:xfrm>
            <a:off x="1397000" y="4453095"/>
            <a:ext cx="6714004"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alpha val="99000"/>
                  </a:srgbClr>
                </a:solidFill>
                <a:latin typeface="Arial" pitchFamily="34" charset="0"/>
                <a:ea typeface="Arial" pitchFamily="34" charset="-122"/>
                <a:cs typeface="Arial" pitchFamily="34" charset="-120"/>
              </a:rPr>
              <a:t>Traitement</a:t>
            </a:r>
            <a:endParaRPr lang="en-US" sz="1875" dirty="0"/>
          </a:p>
        </p:txBody>
      </p:sp>
      <p:sp>
        <p:nvSpPr>
          <p:cNvPr id="18" name="Text 16"/>
          <p:cNvSpPr/>
          <p:nvPr/>
        </p:nvSpPr>
        <p:spPr>
          <a:xfrm>
            <a:off x="7500640" y="4453095"/>
            <a:ext cx="5164644" cy="342900"/>
          </a:xfrm>
          <a:prstGeom prst="rect">
            <a:avLst/>
          </a:prstGeom>
          <a:noFill/>
          <a:ln/>
        </p:spPr>
        <p:txBody>
          <a:bodyPr wrap="square" lIns="25400" tIns="25400" rIns="25400" bIns="25400" rtlCol="0" anchor="t">
            <a:normAutofit/>
          </a:bodyPr>
          <a:lstStyle/>
          <a:p>
            <a:pPr algn="l" indent="0" marL="0">
              <a:buNone/>
            </a:pPr>
            <a:r>
              <a:rPr lang="en-US" sz="1875" dirty="0">
                <a:solidFill>
                  <a:srgbClr val="EEF3F9">
                    <a:alpha val="99000"/>
                  </a:srgbClr>
                </a:solidFill>
                <a:latin typeface="Arial" pitchFamily="34" charset="0"/>
                <a:ea typeface="Arial" pitchFamily="34" charset="-122"/>
                <a:cs typeface="Arial" pitchFamily="34" charset="-120"/>
              </a:rPr>
              <a:t>Par lots (batch)</a:t>
            </a:r>
            <a:endParaRPr lang="en-US" sz="1875" dirty="0"/>
          </a:p>
        </p:txBody>
      </p:sp>
      <p:sp>
        <p:nvSpPr>
          <p:cNvPr id="19" name="Text 17"/>
          <p:cNvSpPr/>
          <p:nvPr/>
        </p:nvSpPr>
        <p:spPr>
          <a:xfrm>
            <a:off x="12195771" y="4453095"/>
            <a:ext cx="5164644" cy="342900"/>
          </a:xfrm>
          <a:prstGeom prst="rect">
            <a:avLst/>
          </a:prstGeom>
          <a:noFill/>
          <a:ln/>
        </p:spPr>
        <p:txBody>
          <a:bodyPr wrap="square" lIns="25400" tIns="25400" rIns="25400" bIns="25400" rtlCol="0" anchor="t">
            <a:normAutofit/>
          </a:bodyPr>
          <a:lstStyle/>
          <a:p>
            <a:pPr algn="l" indent="0" marL="0">
              <a:buNone/>
            </a:pPr>
            <a:r>
              <a:rPr lang="en-US" sz="1875" dirty="0">
                <a:solidFill>
                  <a:srgbClr val="EEF3F9">
                    <a:alpha val="99000"/>
                  </a:srgbClr>
                </a:solidFill>
                <a:latin typeface="Arial" pitchFamily="34" charset="0"/>
                <a:ea typeface="Arial" pitchFamily="34" charset="-122"/>
                <a:cs typeface="Arial" pitchFamily="34" charset="-120"/>
              </a:rPr>
              <a:t>Temps réel</a:t>
            </a:r>
            <a:endParaRPr lang="en-US" sz="1875" dirty="0"/>
          </a:p>
        </p:txBody>
      </p:sp>
      <p:sp>
        <p:nvSpPr>
          <p:cNvPr id="20" name="Text 18"/>
          <p:cNvSpPr/>
          <p:nvPr/>
        </p:nvSpPr>
        <p:spPr>
          <a:xfrm>
            <a:off x="1397000" y="5107145"/>
            <a:ext cx="6714004"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alpha val="99000"/>
                  </a:srgbClr>
                </a:solidFill>
                <a:latin typeface="Arial" pitchFamily="34" charset="0"/>
                <a:ea typeface="Arial" pitchFamily="34" charset="-122"/>
                <a:cs typeface="Arial" pitchFamily="34" charset="-120"/>
              </a:rPr>
              <a:t>Scalabilité</a:t>
            </a:r>
            <a:endParaRPr lang="en-US" sz="1875" dirty="0"/>
          </a:p>
        </p:txBody>
      </p:sp>
      <p:sp>
        <p:nvSpPr>
          <p:cNvPr id="21" name="Text 19"/>
          <p:cNvSpPr/>
          <p:nvPr/>
        </p:nvSpPr>
        <p:spPr>
          <a:xfrm>
            <a:off x="7500640" y="5107145"/>
            <a:ext cx="5164644" cy="342900"/>
          </a:xfrm>
          <a:prstGeom prst="rect">
            <a:avLst/>
          </a:prstGeom>
          <a:noFill/>
          <a:ln/>
        </p:spPr>
        <p:txBody>
          <a:bodyPr wrap="square" lIns="25400" tIns="25400" rIns="25400" bIns="25400" rtlCol="0" anchor="t">
            <a:normAutofit/>
          </a:bodyPr>
          <a:lstStyle/>
          <a:p>
            <a:pPr algn="l" indent="0" marL="0">
              <a:buNone/>
            </a:pPr>
            <a:r>
              <a:rPr lang="en-US" sz="1875" dirty="0">
                <a:solidFill>
                  <a:srgbClr val="EEF3F9">
                    <a:alpha val="99000"/>
                  </a:srgbClr>
                </a:solidFill>
                <a:latin typeface="Arial" pitchFamily="34" charset="0"/>
                <a:ea typeface="Arial" pitchFamily="34" charset="-122"/>
                <a:cs typeface="Arial" pitchFamily="34" charset="-120"/>
              </a:rPr>
              <a:t>Horizontale</a:t>
            </a:r>
            <a:endParaRPr lang="en-US" sz="1875" dirty="0"/>
          </a:p>
        </p:txBody>
      </p:sp>
      <p:sp>
        <p:nvSpPr>
          <p:cNvPr id="22" name="Text 20"/>
          <p:cNvSpPr/>
          <p:nvPr/>
        </p:nvSpPr>
        <p:spPr>
          <a:xfrm>
            <a:off x="12195771" y="5107145"/>
            <a:ext cx="5164644" cy="342900"/>
          </a:xfrm>
          <a:prstGeom prst="rect">
            <a:avLst/>
          </a:prstGeom>
          <a:noFill/>
          <a:ln/>
        </p:spPr>
        <p:txBody>
          <a:bodyPr wrap="square" lIns="25400" tIns="25400" rIns="25400" bIns="25400" rtlCol="0" anchor="t">
            <a:normAutofit/>
          </a:bodyPr>
          <a:lstStyle/>
          <a:p>
            <a:pPr algn="l" indent="0" marL="0">
              <a:buNone/>
            </a:pPr>
            <a:r>
              <a:rPr lang="en-US" sz="1875" dirty="0">
                <a:solidFill>
                  <a:srgbClr val="EEF3F9">
                    <a:alpha val="99000"/>
                  </a:srgbClr>
                </a:solidFill>
                <a:latin typeface="Arial" pitchFamily="34" charset="0"/>
                <a:ea typeface="Arial" pitchFamily="34" charset="-122"/>
                <a:cs typeface="Arial" pitchFamily="34" charset="-120"/>
              </a:rPr>
              <a:t>Verticale</a:t>
            </a:r>
            <a:endParaRPr lang="en-US" sz="1875" dirty="0"/>
          </a:p>
        </p:txBody>
      </p:sp>
      <p:sp>
        <p:nvSpPr>
          <p:cNvPr id="23" name="Shape 21"/>
          <p:cNvSpPr/>
          <p:nvPr/>
        </p:nvSpPr>
        <p:spPr>
          <a:xfrm>
            <a:off x="1066800" y="5834559"/>
            <a:ext cx="25400" cy="714375"/>
          </a:xfrm>
          <a:prstGeom prst="rect">
            <a:avLst/>
          </a:prstGeom>
          <a:solidFill>
            <a:srgbClr val="FFB46E">
              <a:alpha val="65000"/>
            </a:srgbClr>
          </a:solidFill>
          <a:ln/>
        </p:spPr>
      </p:sp>
      <p:sp>
        <p:nvSpPr>
          <p:cNvPr id="24" name="Text 22"/>
          <p:cNvSpPr/>
          <p:nvPr/>
        </p:nvSpPr>
        <p:spPr>
          <a:xfrm>
            <a:off x="1320800" y="5834559"/>
            <a:ext cx="14462125" cy="752475"/>
          </a:xfrm>
          <a:prstGeom prst="rect">
            <a:avLst/>
          </a:prstGeom>
          <a:noFill/>
          <a:ln/>
        </p:spPr>
        <p:txBody>
          <a:bodyPr wrap="square" lIns="25400" tIns="25400" rIns="25400" bIns="25400" rtlCol="0" anchor="t">
            <a:normAutofit/>
          </a:bodyPr>
          <a:lstStyle/>
          <a:p>
            <a:pPr algn="l" indent="0" marL="0">
              <a:lnSpc>
                <a:spcPct val="130814"/>
              </a:lnSpc>
              <a:buNone/>
            </a:pPr>
            <a:r>
              <a:rPr lang="en-US" sz="1875" dirty="0">
                <a:solidFill>
                  <a:srgbClr val="8EA0B5">
                    <a:alpha val="65000"/>
                  </a:srgbClr>
                </a:solidFill>
                <a:latin typeface="Arial" pitchFamily="34" charset="0"/>
                <a:ea typeface="Arial" pitchFamily="34" charset="-122"/>
                <a:cs typeface="Arial" pitchFamily="34" charset="-120"/>
              </a:rPr>
              <a:t>Hive est un moteur </a:t>
            </a:r>
            <a:pPr algn="l" indent="0" marL="0">
              <a:lnSpc>
                <a:spcPct val="130814"/>
              </a:lnSpc>
              <a:buNone/>
            </a:pPr>
            <a:r>
              <a:rPr lang="en-US" sz="1875" dirty="0">
                <a:solidFill>
                  <a:srgbClr val="EEF3F9">
                    <a:alpha val="65000"/>
                  </a:srgbClr>
                </a:solidFill>
                <a:latin typeface="Arial" pitchFamily="34" charset="0"/>
                <a:ea typeface="Arial" pitchFamily="34" charset="-122"/>
                <a:cs typeface="Arial" pitchFamily="34" charset="-120"/>
              </a:rPr>
              <a:t>analytique par lots </a:t>
            </a:r>
            <a:pPr algn="l" indent="0" marL="0">
              <a:lnSpc>
                <a:spcPct val="130814"/>
              </a:lnSpc>
              <a:buNone/>
            </a:pPr>
            <a:r>
              <a:rPr lang="en-US" sz="1875" dirty="0">
                <a:solidFill>
                  <a:srgbClr val="8EA0B5">
                    <a:alpha val="65000"/>
                  </a:srgbClr>
                </a:solidFill>
                <a:latin typeface="Arial" pitchFamily="34" charset="0"/>
                <a:ea typeface="Arial" pitchFamily="34" charset="-122"/>
                <a:cs typeface="Arial" pitchFamily="34" charset="-120"/>
              </a:rPr>
              <a:t>, pas transactionnel : ni mises à jour ligne à ligne fréquentes, ni intégrité référentielle. Deux modes : </a:t>
            </a:r>
            <a:pPr algn="l" indent="0" marL="0">
              <a:lnSpc>
                <a:spcPct val="130814"/>
              </a:lnSpc>
              <a:buNone/>
            </a:pPr>
            <a:r>
              <a:rPr lang="en-US" sz="1875" dirty="0">
                <a:solidFill>
                  <a:srgbClr val="EEF3F9">
                    <a:alpha val="65000"/>
                  </a:srgbClr>
                </a:solidFill>
                <a:latin typeface="Arial" pitchFamily="34" charset="0"/>
                <a:ea typeface="Arial" pitchFamily="34" charset="-122"/>
                <a:cs typeface="Arial" pitchFamily="34" charset="-120"/>
              </a:rPr>
              <a:t>local </a:t>
            </a:r>
            <a:pPr algn="l" indent="0" marL="0">
              <a:lnSpc>
                <a:spcPct val="130814"/>
              </a:lnSpc>
              <a:buNone/>
            </a:pPr>
            <a:r>
              <a:rPr lang="en-US" sz="1875" dirty="0">
                <a:solidFill>
                  <a:srgbClr val="8EA0B5">
                    <a:alpha val="65000"/>
                  </a:srgbClr>
                </a:solidFill>
                <a:latin typeface="Arial" pitchFamily="34" charset="0"/>
                <a:ea typeface="Arial" pitchFamily="34" charset="-122"/>
                <a:cs typeface="Arial" pitchFamily="34" charset="-120"/>
              </a:rPr>
              <a:t>(sans YARN, tests) et </a:t>
            </a:r>
            <a:pPr algn="l" indent="0" marL="0">
              <a:lnSpc>
                <a:spcPct val="130814"/>
              </a:lnSpc>
              <a:buNone/>
            </a:pPr>
            <a:r>
              <a:rPr lang="en-US" sz="1875" dirty="0">
                <a:solidFill>
                  <a:srgbClr val="EEF3F9">
                    <a:alpha val="65000"/>
                  </a:srgbClr>
                </a:solidFill>
                <a:latin typeface="Arial" pitchFamily="34" charset="0"/>
                <a:ea typeface="Arial" pitchFamily="34" charset="-122"/>
                <a:cs typeface="Arial" pitchFamily="34" charset="-120"/>
              </a:rPr>
              <a:t>distribué </a:t>
            </a:r>
            <a:pPr algn="l" indent="0" marL="0">
              <a:lnSpc>
                <a:spcPct val="130814"/>
              </a:lnSpc>
              <a:buNone/>
            </a:pPr>
            <a:r>
              <a:rPr lang="en-US" sz="1875" dirty="0">
                <a:solidFill>
                  <a:srgbClr val="8EA0B5">
                    <a:alpha val="65000"/>
                  </a:srgbClr>
                </a:solidFill>
                <a:latin typeface="Arial" pitchFamily="34" charset="0"/>
                <a:ea typeface="Arial" pitchFamily="34" charset="-122"/>
                <a:cs typeface="Arial" pitchFamily="34" charset="-120"/>
              </a:rPr>
              <a:t>(YARN → Tez → HDFS).</a:t>
            </a:r>
            <a:endParaRPr lang="en-US" sz="1875"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0C121C"/>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FFB46E">
                    <a:alpha val="97000"/>
                  </a:srgbClr>
                </a:solidFill>
                <a:latin typeface="Courier New" pitchFamily="34" charset="0"/>
                <a:ea typeface="Courier New" pitchFamily="34" charset="-122"/>
                <a:cs typeface="Courier New" pitchFamily="34" charset="-120"/>
              </a:rPr>
              <a:t>ATELIER 5.1 · PRATIQUE</a:t>
            </a:r>
            <a:endParaRPr lang="en-US" sz="1800" dirty="0"/>
          </a:p>
        </p:txBody>
      </p:sp>
      <p:sp>
        <p:nvSpPr>
          <p:cNvPr id="3" name="Text 1"/>
          <p:cNvSpPr/>
          <p:nvPr/>
        </p:nvSpPr>
        <p:spPr>
          <a:xfrm>
            <a:off x="1066800" y="1314451"/>
            <a:ext cx="11933873"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TP Hive sous Docker</a:t>
            </a:r>
            <a:endParaRPr lang="en-US" sz="4800" dirty="0"/>
          </a:p>
        </p:txBody>
      </p:sp>
      <p:sp>
        <p:nvSpPr>
          <p:cNvPr id="4" name="Shape 2"/>
          <p:cNvSpPr/>
          <p:nvPr/>
        </p:nvSpPr>
        <p:spPr>
          <a:xfrm>
            <a:off x="1066800" y="2272210"/>
            <a:ext cx="8974733" cy="7195642"/>
          </a:xfrm>
          <a:prstGeom prst="roundRect">
            <a:avLst>
              <a:gd name="adj" fmla="val 2118"/>
            </a:avLst>
          </a:prstGeom>
          <a:solidFill>
            <a:srgbClr val="06090E"/>
          </a:solidFill>
          <a:ln w="6350">
            <a:solidFill>
              <a:srgbClr val="FFFFFF">
                <a:alpha val="10000"/>
              </a:srgbClr>
            </a:solidFill>
            <a:prstDash val="solid"/>
          </a:ln>
        </p:spPr>
      </p:sp>
      <p:sp>
        <p:nvSpPr>
          <p:cNvPr id="5" name="Shape 3"/>
          <p:cNvSpPr/>
          <p:nvPr/>
        </p:nvSpPr>
        <p:spPr>
          <a:xfrm>
            <a:off x="1073150" y="2888160"/>
            <a:ext cx="8962033" cy="9525"/>
          </a:xfrm>
          <a:prstGeom prst="rect">
            <a:avLst/>
          </a:prstGeom>
          <a:solidFill>
            <a:srgbClr val="FFFFFF">
              <a:alpha val="6000"/>
            </a:srgbClr>
          </a:solidFill>
          <a:ln/>
        </p:spPr>
      </p:sp>
      <p:sp>
        <p:nvSpPr>
          <p:cNvPr id="6" name="Shape 4"/>
          <p:cNvSpPr/>
          <p:nvPr/>
        </p:nvSpPr>
        <p:spPr>
          <a:xfrm>
            <a:off x="1282700" y="2521448"/>
            <a:ext cx="123825" cy="123825"/>
          </a:xfrm>
          <a:prstGeom prst="ellipse">
            <a:avLst/>
          </a:prstGeom>
          <a:solidFill>
            <a:srgbClr val="FF5F57"/>
          </a:solidFill>
          <a:ln/>
        </p:spPr>
      </p:sp>
      <p:sp>
        <p:nvSpPr>
          <p:cNvPr id="7" name="Shape 5"/>
          <p:cNvSpPr/>
          <p:nvPr/>
        </p:nvSpPr>
        <p:spPr>
          <a:xfrm>
            <a:off x="1501775" y="2521448"/>
            <a:ext cx="123825" cy="123825"/>
          </a:xfrm>
          <a:prstGeom prst="ellipse">
            <a:avLst/>
          </a:prstGeom>
          <a:solidFill>
            <a:srgbClr val="FEBC2E"/>
          </a:solidFill>
          <a:ln/>
        </p:spPr>
      </p:sp>
      <p:sp>
        <p:nvSpPr>
          <p:cNvPr id="8" name="Shape 6"/>
          <p:cNvSpPr/>
          <p:nvPr/>
        </p:nvSpPr>
        <p:spPr>
          <a:xfrm>
            <a:off x="1720850" y="2521448"/>
            <a:ext cx="123825" cy="123825"/>
          </a:xfrm>
          <a:prstGeom prst="ellipse">
            <a:avLst/>
          </a:prstGeom>
          <a:solidFill>
            <a:srgbClr val="28C840"/>
          </a:solidFill>
          <a:ln/>
        </p:spPr>
      </p:sp>
      <p:sp>
        <p:nvSpPr>
          <p:cNvPr id="9" name="Text 7"/>
          <p:cNvSpPr/>
          <p:nvPr/>
        </p:nvSpPr>
        <p:spPr>
          <a:xfrm>
            <a:off x="2054225" y="2430960"/>
            <a:ext cx="103634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solidFill>
                <a:latin typeface="Courier New" pitchFamily="34" charset="0"/>
                <a:ea typeface="Courier New" pitchFamily="34" charset="-122"/>
                <a:cs typeface="Courier New" pitchFamily="34" charset="-120"/>
              </a:rPr>
              <a:t>beeline</a:t>
            </a:r>
            <a:endParaRPr lang="en-US" sz="1800" dirty="0"/>
          </a:p>
        </p:txBody>
      </p:sp>
      <p:sp>
        <p:nvSpPr>
          <p:cNvPr id="10" name="Text 8"/>
          <p:cNvSpPr/>
          <p:nvPr/>
        </p:nvSpPr>
        <p:spPr>
          <a:xfrm>
            <a:off x="1339850" y="3104060"/>
            <a:ext cx="8697494" cy="3109913"/>
          </a:xfrm>
          <a:prstGeom prst="rect">
            <a:avLst/>
          </a:prstGeom>
          <a:noFill/>
          <a:ln/>
        </p:spPr>
        <p:txBody>
          <a:bodyPr wrap="none" lIns="25400" tIns="25400" rIns="25400" bIns="25400" rtlCol="0" anchor="t">
            <a:normAutofit/>
          </a:bodyPr>
          <a:lstStyle/>
          <a:p>
            <a:pPr algn="l" indent="0" marL="0">
              <a:lnSpc>
                <a:spcPct val="140488"/>
              </a:lnSpc>
              <a:buNone/>
            </a:pPr>
            <a:r>
              <a:rPr lang="en-US" sz="1800" dirty="0">
                <a:solidFill>
                  <a:srgbClr val="56DBDB"/>
                </a:solidFill>
                <a:latin typeface="Courier New" pitchFamily="34" charset="0"/>
                <a:ea typeface="Courier New" pitchFamily="34" charset="-122"/>
                <a:cs typeface="Courier New" pitchFamily="34" charset="-120"/>
              </a:rPr>
              <a:t>docker exec</a:t>
            </a:r>
            <a:pPr algn="l" indent="0" marL="0">
              <a:lnSpc>
                <a:spcPct val="140488"/>
              </a:lnSpc>
              <a:buNone/>
            </a:pPr>
            <a:r>
              <a:rPr lang="en-US" sz="1800" dirty="0">
                <a:solidFill>
                  <a:srgbClr val="CDD7E3"/>
                </a:solidFill>
                <a:latin typeface="Courier New" pitchFamily="34" charset="0"/>
                <a:ea typeface="Courier New" pitchFamily="34" charset="-122"/>
                <a:cs typeface="Courier New" pitchFamily="34" charset="-120"/>
              </a:rPr>
              <a:t> -it hive-server bash </a:t>
            </a:r>
            <a:pPr algn="l" indent="0" marL="0">
              <a:lnSpc>
                <a:spcPct val="140488"/>
              </a:lnSpc>
              <a:buNone/>
            </a:pPr>
            <a:r>
              <a:rPr lang="en-US" sz="1800" dirty="0">
                <a:solidFill>
                  <a:srgbClr val="56DBDB"/>
                </a:solidFill>
                <a:latin typeface="Courier New" pitchFamily="34" charset="0"/>
                <a:ea typeface="Courier New" pitchFamily="34" charset="-122"/>
                <a:cs typeface="Courier New" pitchFamily="34" charset="-120"/>
              </a:rPr>
              <a:t>beeline</a:t>
            </a:r>
            <a:pPr algn="l" indent="0" marL="0">
              <a:lnSpc>
                <a:spcPct val="140488"/>
              </a:lnSpc>
              <a:buNone/>
            </a:pPr>
            <a:r>
              <a:rPr lang="en-US" sz="1800" dirty="0">
                <a:solidFill>
                  <a:srgbClr val="CDD7E3"/>
                </a:solidFill>
                <a:latin typeface="Courier New" pitchFamily="34" charset="0"/>
                <a:ea typeface="Courier New" pitchFamily="34" charset="-122"/>
                <a:cs typeface="Courier New" pitchFamily="34" charset="-120"/>
              </a:rPr>
              <a:t> -u jdbc:hive2://localhost:10000 </a:t>
            </a:r>
            <a:pPr algn="l" indent="0" marL="0">
              <a:lnSpc>
                <a:spcPct val="140488"/>
              </a:lnSpc>
              <a:buNone/>
            </a:pPr>
            <a:r>
              <a:rPr lang="en-US" sz="1800" dirty="0">
                <a:solidFill>
                  <a:srgbClr val="B897F0"/>
                </a:solidFill>
                <a:latin typeface="Courier New" pitchFamily="34" charset="0"/>
                <a:ea typeface="Courier New" pitchFamily="34" charset="-122"/>
                <a:cs typeface="Courier New" pitchFamily="34" charset="-120"/>
              </a:rPr>
              <a:t>CREATE DATABASE</a:t>
            </a:r>
            <a:pPr algn="l" indent="0" marL="0">
              <a:lnSpc>
                <a:spcPct val="140488"/>
              </a:lnSpc>
              <a:buNone/>
            </a:pPr>
            <a:r>
              <a:rPr lang="en-US" sz="1800" dirty="0">
                <a:solidFill>
                  <a:srgbClr val="CDD7E3"/>
                </a:solidFill>
                <a:latin typeface="Courier New" pitchFamily="34" charset="0"/>
                <a:ea typeface="Courier New" pitchFamily="34" charset="-122"/>
                <a:cs typeface="Courier New" pitchFamily="34" charset="-120"/>
              </a:rPr>
              <a:t> IF NOT EXISTS achatdb; </a:t>
            </a:r>
            <a:pPr algn="l" indent="0" marL="0">
              <a:lnSpc>
                <a:spcPct val="140488"/>
              </a:lnSpc>
              <a:buNone/>
            </a:pPr>
            <a:r>
              <a:rPr lang="en-US" sz="1800" dirty="0">
                <a:solidFill>
                  <a:srgbClr val="B897F0"/>
                </a:solidFill>
                <a:latin typeface="Courier New" pitchFamily="34" charset="0"/>
                <a:ea typeface="Courier New" pitchFamily="34" charset="-122"/>
                <a:cs typeface="Courier New" pitchFamily="34" charset="-120"/>
              </a:rPr>
              <a:t>USE</a:t>
            </a:r>
            <a:pPr algn="l" indent="0" marL="0">
              <a:lnSpc>
                <a:spcPct val="140488"/>
              </a:lnSpc>
              <a:buNone/>
            </a:pPr>
            <a:r>
              <a:rPr lang="en-US" sz="1800" dirty="0">
                <a:solidFill>
                  <a:srgbClr val="CDD7E3"/>
                </a:solidFill>
                <a:latin typeface="Courier New" pitchFamily="34" charset="0"/>
                <a:ea typeface="Courier New" pitchFamily="34" charset="-122"/>
                <a:cs typeface="Courier New" pitchFamily="34" charset="-120"/>
              </a:rPr>
              <a:t> achatdb; </a:t>
            </a:r>
            <a:pPr algn="l" indent="0" marL="0">
              <a:lnSpc>
                <a:spcPct val="140488"/>
              </a:lnSpc>
              <a:buNone/>
            </a:pPr>
            <a:r>
              <a:rPr lang="en-US" sz="1800" dirty="0">
                <a:solidFill>
                  <a:srgbClr val="8EA0B5"/>
                </a:solidFill>
                <a:latin typeface="Courier New" pitchFamily="34" charset="0"/>
                <a:ea typeface="Courier New" pitchFamily="34" charset="-122"/>
                <a:cs typeface="Courier New" pitchFamily="34" charset="-120"/>
              </a:rPr>
              <a:t># charger la table Managed</a:t>
            </a:r>
            <a:pPr algn="l" indent="0" marL="0">
              <a:lnSpc>
                <a:spcPct val="140488"/>
              </a:lnSpc>
              <a:buNone/>
            </a:pPr>
            <a:r>
              <a:rPr lang="en-US" sz="1800" dirty="0">
                <a:solidFill>
                  <a:srgbClr val="B897F0"/>
                </a:solidFill>
                <a:latin typeface="Courier New" pitchFamily="34" charset="0"/>
                <a:ea typeface="Courier New" pitchFamily="34" charset="-122"/>
                <a:cs typeface="Courier New" pitchFamily="34" charset="-120"/>
              </a:rPr>
              <a:t>LOAD DATA LOCAL INPATH</a:t>
            </a:r>
            <a:pPr algn="l" indent="0" marL="0">
              <a:lnSpc>
                <a:spcPct val="140488"/>
              </a:lnSpc>
              <a:buNone/>
            </a:pPr>
            <a:r>
              <a:rPr lang="en-US" sz="1800" dirty="0">
                <a:solidFill>
                  <a:srgbClr val="CDD7E3"/>
                </a:solidFill>
                <a:latin typeface="Courier New" pitchFamily="34" charset="0"/>
                <a:ea typeface="Courier New" pitchFamily="34" charset="-122"/>
                <a:cs typeface="Courier New" pitchFamily="34" charset="-120"/>
              </a:rPr>
              <a:t> </a:t>
            </a:r>
            <a:pPr algn="l" indent="0" marL="0">
              <a:lnSpc>
                <a:spcPct val="140488"/>
              </a:lnSpc>
              <a:buNone/>
            </a:pPr>
            <a:r>
              <a:rPr lang="en-US" sz="1800" dirty="0">
                <a:solidFill>
                  <a:srgbClr val="FFB46E"/>
                </a:solidFill>
                <a:latin typeface="Courier New" pitchFamily="34" charset="0"/>
                <a:ea typeface="Courier New" pitchFamily="34" charset="-122"/>
                <a:cs typeface="Courier New" pitchFamily="34" charset="-120"/>
              </a:rPr>
              <a:t>'/tmp/purchases.txt' </a:t>
            </a:r>
            <a:pPr algn="l" indent="0" marL="0">
              <a:lnSpc>
                <a:spcPct val="140488"/>
              </a:lnSpc>
              <a:buNone/>
            </a:pPr>
            <a:r>
              <a:rPr lang="en-US" sz="1800" dirty="0">
                <a:solidFill>
                  <a:srgbClr val="CDD7E3"/>
                </a:solidFill>
                <a:latin typeface="Courier New" pitchFamily="34" charset="0"/>
                <a:ea typeface="Courier New" pitchFamily="34" charset="-122"/>
                <a:cs typeface="Courier New" pitchFamily="34" charset="-120"/>
              </a:rPr>
              <a:t>  </a:t>
            </a:r>
            <a:pPr algn="l" indent="0" marL="0">
              <a:lnSpc>
                <a:spcPct val="140488"/>
              </a:lnSpc>
              <a:buNone/>
            </a:pPr>
            <a:r>
              <a:rPr lang="en-US" sz="1800" dirty="0">
                <a:solidFill>
                  <a:srgbClr val="B897F0"/>
                </a:solidFill>
                <a:latin typeface="Courier New" pitchFamily="34" charset="0"/>
                <a:ea typeface="Courier New" pitchFamily="34" charset="-122"/>
                <a:cs typeface="Courier New" pitchFamily="34" charset="-120"/>
              </a:rPr>
              <a:t>INTO TABLE</a:t>
            </a:r>
            <a:pPr algn="l" indent="0" marL="0">
              <a:lnSpc>
                <a:spcPct val="140488"/>
              </a:lnSpc>
              <a:buNone/>
            </a:pPr>
            <a:r>
              <a:rPr lang="en-US" sz="1800" dirty="0">
                <a:solidFill>
                  <a:srgbClr val="CDD7E3"/>
                </a:solidFill>
                <a:latin typeface="Courier New" pitchFamily="34" charset="0"/>
                <a:ea typeface="Courier New" pitchFamily="34" charset="-122"/>
                <a:cs typeface="Courier New" pitchFamily="34" charset="-120"/>
              </a:rPr>
              <a:t> purchases_managed;</a:t>
            </a:r>
            <a:endParaRPr lang="en-US" sz="1800" dirty="0"/>
          </a:p>
        </p:txBody>
      </p:sp>
      <p:sp>
        <p:nvSpPr>
          <p:cNvPr id="11" name="Text 9"/>
          <p:cNvSpPr/>
          <p:nvPr/>
        </p:nvSpPr>
        <p:spPr>
          <a:xfrm>
            <a:off x="10327284" y="4114227"/>
            <a:ext cx="7583309" cy="336550"/>
          </a:xfrm>
          <a:prstGeom prst="rect">
            <a:avLst/>
          </a:prstGeom>
          <a:noFill/>
          <a:ln/>
        </p:spPr>
        <p:txBody>
          <a:bodyPr wrap="square" lIns="25400" tIns="25400" rIns="25400" bIns="25400" rtlCol="0" anchor="t">
            <a:normAutofit/>
          </a:bodyPr>
          <a:lstStyle/>
          <a:p>
            <a:pPr algn="l" indent="0" marL="0">
              <a:buNone/>
            </a:pPr>
            <a:r>
              <a:rPr lang="en-US" sz="2025" b="1" dirty="0">
                <a:solidFill>
                  <a:srgbClr val="EEF3F9">
                    <a:alpha val="99000"/>
                  </a:srgbClr>
                </a:solidFill>
                <a:latin typeface="Arial" pitchFamily="34" charset="0"/>
                <a:ea typeface="Arial" pitchFamily="34" charset="-122"/>
                <a:cs typeface="Arial" pitchFamily="34" charset="-120"/>
              </a:rPr>
              <a:t>Comparer les performances</a:t>
            </a:r>
            <a:endParaRPr lang="en-US" sz="2025" dirty="0"/>
          </a:p>
        </p:txBody>
      </p:sp>
      <p:sp>
        <p:nvSpPr>
          <p:cNvPr id="12" name="Shape 10"/>
          <p:cNvSpPr/>
          <p:nvPr/>
        </p:nvSpPr>
        <p:spPr>
          <a:xfrm>
            <a:off x="10327284" y="4565077"/>
            <a:ext cx="6893918" cy="675580"/>
          </a:xfrm>
          <a:prstGeom prst="roundRect">
            <a:avLst>
              <a:gd name="adj" fmla="val 16919"/>
            </a:avLst>
          </a:prstGeom>
          <a:solidFill>
            <a:srgbClr val="FFFFFF">
              <a:alpha val="3000"/>
            </a:srgbClr>
          </a:solidFill>
          <a:ln w="6350">
            <a:solidFill>
              <a:srgbClr val="FFFFFF">
                <a:alpha val="10000"/>
              </a:srgbClr>
            </a:solidFill>
            <a:prstDash val="solid"/>
          </a:ln>
        </p:spPr>
      </p:sp>
      <p:sp>
        <p:nvSpPr>
          <p:cNvPr id="13" name="Text 11"/>
          <p:cNvSpPr/>
          <p:nvPr/>
        </p:nvSpPr>
        <p:spPr>
          <a:xfrm>
            <a:off x="10543184" y="4742877"/>
            <a:ext cx="6668935" cy="35808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FFB46E">
                    <a:alpha val="99000"/>
                  </a:srgbClr>
                </a:solidFill>
                <a:latin typeface="Courier New" pitchFamily="34" charset="0"/>
                <a:ea typeface="Courier New" pitchFamily="34" charset="-122"/>
                <a:cs typeface="Courier New" pitchFamily="34" charset="-120"/>
              </a:rPr>
              <a:t>managed </a:t>
            </a:r>
            <a:pPr algn="l" indent="0" marL="0">
              <a:lnSpc>
                <a:spcPct val="120000"/>
              </a:lnSpc>
              <a:buNone/>
            </a:pPr>
            <a:r>
              <a:rPr lang="en-US" sz="1800" dirty="0">
                <a:solidFill>
                  <a:srgbClr val="EEF3F9">
                    <a:alpha val="99000"/>
                  </a:srgbClr>
                </a:solidFill>
                <a:highlight>
                  <a:srgbClr val="FCFDFD"/>
                </a:highlight>
                <a:latin typeface="Arial" pitchFamily="34" charset="0"/>
                <a:ea typeface="Arial" pitchFamily="34" charset="-122"/>
                <a:cs typeface="Arial" pitchFamily="34" charset="-120"/>
              </a:rPr>
              <a:t>— scan complet</a:t>
            </a:r>
            <a:endParaRPr lang="en-US" sz="1800" dirty="0"/>
          </a:p>
        </p:txBody>
      </p:sp>
      <p:sp>
        <p:nvSpPr>
          <p:cNvPr id="14" name="Shape 12"/>
          <p:cNvSpPr/>
          <p:nvPr/>
        </p:nvSpPr>
        <p:spPr>
          <a:xfrm>
            <a:off x="10327284" y="5354958"/>
            <a:ext cx="6893918" cy="675580"/>
          </a:xfrm>
          <a:prstGeom prst="roundRect">
            <a:avLst>
              <a:gd name="adj" fmla="val 16919"/>
            </a:avLst>
          </a:prstGeom>
          <a:solidFill>
            <a:srgbClr val="FFFFFF">
              <a:alpha val="3000"/>
            </a:srgbClr>
          </a:solidFill>
          <a:ln w="6350">
            <a:solidFill>
              <a:srgbClr val="FFFFFF">
                <a:alpha val="10000"/>
              </a:srgbClr>
            </a:solidFill>
            <a:prstDash val="solid"/>
          </a:ln>
        </p:spPr>
      </p:sp>
      <p:sp>
        <p:nvSpPr>
          <p:cNvPr id="15" name="Text 13"/>
          <p:cNvSpPr/>
          <p:nvPr/>
        </p:nvSpPr>
        <p:spPr>
          <a:xfrm>
            <a:off x="10543184" y="5532758"/>
            <a:ext cx="6668935" cy="35808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FFB46E">
                    <a:alpha val="99000"/>
                  </a:srgbClr>
                </a:solidFill>
                <a:latin typeface="Courier New" pitchFamily="34" charset="0"/>
                <a:ea typeface="Courier New" pitchFamily="34" charset="-122"/>
                <a:cs typeface="Courier New" pitchFamily="34" charset="-120"/>
              </a:rPr>
              <a:t>partitioned </a:t>
            </a:r>
            <a:pPr algn="l" indent="0" marL="0">
              <a:lnSpc>
                <a:spcPct val="120000"/>
              </a:lnSpc>
              <a:buNone/>
            </a:pPr>
            <a:r>
              <a:rPr lang="en-US" sz="1800" dirty="0">
                <a:solidFill>
                  <a:srgbClr val="EEF3F9">
                    <a:alpha val="99000"/>
                  </a:srgbClr>
                </a:solidFill>
                <a:highlight>
                  <a:srgbClr val="FCFDFD"/>
                </a:highlight>
                <a:latin typeface="Arial" pitchFamily="34" charset="0"/>
                <a:ea typeface="Arial" pitchFamily="34" charset="-122"/>
                <a:cs typeface="Arial" pitchFamily="34" charset="-120"/>
              </a:rPr>
              <a:t>— un sous-répertoire lu</a:t>
            </a:r>
            <a:endParaRPr lang="en-US" sz="1800" dirty="0"/>
          </a:p>
        </p:txBody>
      </p:sp>
      <p:sp>
        <p:nvSpPr>
          <p:cNvPr id="16" name="Shape 14"/>
          <p:cNvSpPr/>
          <p:nvPr/>
        </p:nvSpPr>
        <p:spPr>
          <a:xfrm>
            <a:off x="10327284" y="6144838"/>
            <a:ext cx="6893918" cy="675580"/>
          </a:xfrm>
          <a:prstGeom prst="roundRect">
            <a:avLst>
              <a:gd name="adj" fmla="val 16919"/>
            </a:avLst>
          </a:prstGeom>
          <a:solidFill>
            <a:srgbClr val="FFFFFF">
              <a:alpha val="3000"/>
            </a:srgbClr>
          </a:solidFill>
          <a:ln w="6350">
            <a:solidFill>
              <a:srgbClr val="FFFFFF">
                <a:alpha val="10000"/>
              </a:srgbClr>
            </a:solidFill>
            <a:prstDash val="solid"/>
          </a:ln>
        </p:spPr>
      </p:sp>
      <p:sp>
        <p:nvSpPr>
          <p:cNvPr id="17" name="Text 15"/>
          <p:cNvSpPr/>
          <p:nvPr/>
        </p:nvSpPr>
        <p:spPr>
          <a:xfrm>
            <a:off x="10543184" y="6322638"/>
            <a:ext cx="6668935" cy="35808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FFB46E">
                    <a:alpha val="99000"/>
                  </a:srgbClr>
                </a:solidFill>
                <a:latin typeface="Courier New" pitchFamily="34" charset="0"/>
                <a:ea typeface="Courier New" pitchFamily="34" charset="-122"/>
                <a:cs typeface="Courier New" pitchFamily="34" charset="-120"/>
              </a:rPr>
              <a:t>bucketed </a:t>
            </a:r>
            <a:pPr algn="l" indent="0" marL="0">
              <a:lnSpc>
                <a:spcPct val="120000"/>
              </a:lnSpc>
              <a:buNone/>
            </a:pPr>
            <a:r>
              <a:rPr lang="en-US" sz="1800" dirty="0">
                <a:solidFill>
                  <a:srgbClr val="EEF3F9">
                    <a:alpha val="99000"/>
                  </a:srgbClr>
                </a:solidFill>
                <a:highlight>
                  <a:srgbClr val="FCFDFD"/>
                </a:highlight>
                <a:latin typeface="Arial" pitchFamily="34" charset="0"/>
                <a:ea typeface="Arial" pitchFamily="34" charset="-122"/>
                <a:cs typeface="Arial" pitchFamily="34" charset="-120"/>
              </a:rPr>
              <a:t>— </a:t>
            </a:r>
            <a:pPr algn="l" indent="0" marL="0">
              <a:lnSpc>
                <a:spcPct val="120000"/>
              </a:lnSpc>
              <a:buNone/>
            </a:pPr>
            <a:r>
              <a:rPr lang="en-US" sz="1800" dirty="0">
                <a:solidFill>
                  <a:srgbClr val="EEF3F9">
                    <a:alpha val="99000"/>
                  </a:srgbClr>
                </a:solidFill>
                <a:latin typeface="Courier New" pitchFamily="34" charset="0"/>
                <a:ea typeface="Courier New" pitchFamily="34" charset="-122"/>
                <a:cs typeface="Courier New" pitchFamily="34" charset="-120"/>
              </a:rPr>
              <a:t>TABLESAMPLE </a:t>
            </a:r>
            <a:pPr algn="l" indent="0" marL="0">
              <a:lnSpc>
                <a:spcPct val="120000"/>
              </a:lnSpc>
              <a:buNone/>
            </a:pPr>
            <a:r>
              <a:rPr lang="en-US" sz="1800" dirty="0">
                <a:solidFill>
                  <a:srgbClr val="EEF3F9">
                    <a:alpha val="99000"/>
                  </a:srgbClr>
                </a:solidFill>
                <a:highlight>
                  <a:srgbClr val="FCFDFD"/>
                </a:highlight>
                <a:latin typeface="Arial" pitchFamily="34" charset="0"/>
                <a:ea typeface="Arial" pitchFamily="34" charset="-122"/>
                <a:cs typeface="Arial" pitchFamily="34" charset="-120"/>
              </a:rPr>
              <a:t>sur store</a:t>
            </a:r>
            <a:endParaRPr lang="en-US" sz="1800" dirty="0"/>
          </a:p>
        </p:txBody>
      </p:sp>
      <p:sp>
        <p:nvSpPr>
          <p:cNvPr id="18" name="Text 16"/>
          <p:cNvSpPr/>
          <p:nvPr/>
        </p:nvSpPr>
        <p:spPr>
          <a:xfrm>
            <a:off x="10327284" y="6991869"/>
            <a:ext cx="7100735" cy="678061"/>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8EA0B5">
                    <a:alpha val="99000"/>
                  </a:srgbClr>
                </a:solidFill>
                <a:latin typeface="Arial" pitchFamily="34" charset="0"/>
                <a:ea typeface="Arial" pitchFamily="34" charset="-122"/>
                <a:cs typeface="Arial" pitchFamily="34" charset="-120"/>
              </a:rPr>
              <a:t>Constater directement, via </a:t>
            </a:r>
            <a:pPr algn="l" indent="0" marL="0">
              <a:lnSpc>
                <a:spcPct val="120000"/>
              </a:lnSpc>
              <a:buNone/>
            </a:pPr>
            <a:r>
              <a:rPr lang="en-US" sz="1800" dirty="0">
                <a:solidFill>
                  <a:srgbClr val="8EA0B5">
                    <a:alpha val="99000"/>
                  </a:srgbClr>
                </a:solidFill>
                <a:latin typeface="Courier New" pitchFamily="34" charset="0"/>
                <a:ea typeface="Courier New" pitchFamily="34" charset="-122"/>
                <a:cs typeface="Courier New" pitchFamily="34" charset="-120"/>
              </a:rPr>
              <a:t>EXPLAIN </a:t>
            </a:r>
            <a:pPr algn="l" indent="0" marL="0">
              <a:lnSpc>
                <a:spcPct val="120000"/>
              </a:lnSpc>
              <a:buNone/>
            </a:pPr>
            <a:r>
              <a:rPr lang="en-US" sz="1800" dirty="0">
                <a:solidFill>
                  <a:srgbClr val="8EA0B5">
                    <a:alpha val="99000"/>
                  </a:srgbClr>
                </a:solidFill>
                <a:latin typeface="Arial" pitchFamily="34" charset="0"/>
                <a:ea typeface="Arial" pitchFamily="34" charset="-122"/>
                <a:cs typeface="Arial" pitchFamily="34" charset="-120"/>
              </a:rPr>
              <a:t>et le temps affiché, pourquoi ces optimisations existent.</a:t>
            </a:r>
            <a:endParaRPr lang="en-US" sz="18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0A0E15"/>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B56B">
                  <a:alpha val="12000"/>
                </a:srgbClr>
              </a:gs>
              <a:gs pos="60000">
                <a:srgbClr val="FFB56B">
                  <a:alpha val="0"/>
                </a:srgbClr>
              </a:gs>
            </a:gsLst>
            <a:path path="circle">
              <a:fillToRect l="50000" t="0" r="50000" b="100000"/>
            </a:path>
          </a:gradFill>
          <a:ln/>
        </p:spPr>
      </p:sp>
      <p:sp>
        <p:nvSpPr>
          <p:cNvPr id="3" name="Text 1"/>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FFB46E">
                    <a:alpha val="97000"/>
                  </a:srgbClr>
                </a:solidFill>
                <a:latin typeface="Courier New" pitchFamily="34" charset="0"/>
                <a:ea typeface="Courier New" pitchFamily="34" charset="-122"/>
                <a:cs typeface="Courier New" pitchFamily="34" charset="-120"/>
              </a:rPr>
              <a:t>ATELIER 5.1 · SYNTHÈSE</a:t>
            </a:r>
            <a:endParaRPr lang="en-US" sz="1800" dirty="0"/>
          </a:p>
        </p:txBody>
      </p:sp>
      <p:sp>
        <p:nvSpPr>
          <p:cNvPr id="4" name="Text 2"/>
          <p:cNvSpPr/>
          <p:nvPr/>
        </p:nvSpPr>
        <p:spPr>
          <a:xfrm>
            <a:off x="1066800" y="1314451"/>
            <a:ext cx="17769840"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La pile Hive de bout en bout</a:t>
            </a:r>
            <a:endParaRPr lang="en-US" sz="4800" dirty="0"/>
          </a:p>
        </p:txBody>
      </p:sp>
      <p:sp>
        <p:nvSpPr>
          <p:cNvPr id="5" name="Shape 3"/>
          <p:cNvSpPr/>
          <p:nvPr/>
        </p:nvSpPr>
        <p:spPr>
          <a:xfrm>
            <a:off x="1066800" y="3631605"/>
            <a:ext cx="16154400" cy="666750"/>
          </a:xfrm>
          <a:prstGeom prst="roundRect">
            <a:avLst>
              <a:gd name="adj" fmla="val 17143"/>
            </a:avLst>
          </a:prstGeom>
          <a:solidFill>
            <a:srgbClr val="FFFFFF">
              <a:alpha val="3000"/>
            </a:srgbClr>
          </a:solidFill>
          <a:ln w="6350">
            <a:solidFill>
              <a:srgbClr val="FFFFFF">
                <a:alpha val="10000"/>
              </a:srgbClr>
            </a:solidFill>
            <a:prstDash val="solid"/>
          </a:ln>
        </p:spPr>
      </p:sp>
      <p:sp>
        <p:nvSpPr>
          <p:cNvPr id="6" name="Text 4"/>
          <p:cNvSpPr/>
          <p:nvPr/>
        </p:nvSpPr>
        <p:spPr>
          <a:xfrm>
            <a:off x="1358900" y="3809405"/>
            <a:ext cx="2200275" cy="349250"/>
          </a:xfrm>
          <a:prstGeom prst="rect">
            <a:avLst/>
          </a:prstGeom>
          <a:noFill/>
          <a:ln/>
        </p:spPr>
        <p:txBody>
          <a:bodyPr wrap="square" lIns="25400" tIns="25400" rIns="25400" bIns="25400" rtlCol="0" anchor="t">
            <a:normAutofit/>
          </a:bodyPr>
          <a:lstStyle/>
          <a:p>
            <a:pPr algn="l" indent="0" marL="0">
              <a:buNone/>
            </a:pPr>
            <a:r>
              <a:rPr lang="en-US" sz="1875" dirty="0">
                <a:solidFill>
                  <a:srgbClr val="56DBDB"/>
                </a:solidFill>
                <a:latin typeface="Courier New" pitchFamily="34" charset="0"/>
                <a:ea typeface="Courier New" pitchFamily="34" charset="-122"/>
                <a:cs typeface="Courier New" pitchFamily="34" charset="-120"/>
              </a:rPr>
              <a:t>HDFS</a:t>
            </a:r>
            <a:endParaRPr lang="en-US" sz="1875" dirty="0"/>
          </a:p>
        </p:txBody>
      </p:sp>
      <p:sp>
        <p:nvSpPr>
          <p:cNvPr id="7" name="Text 5"/>
          <p:cNvSpPr/>
          <p:nvPr/>
        </p:nvSpPr>
        <p:spPr>
          <a:xfrm>
            <a:off x="3587750" y="3812580"/>
            <a:ext cx="2100739"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solidFill>
                <a:latin typeface="Arial" pitchFamily="34" charset="0"/>
                <a:ea typeface="Arial" pitchFamily="34" charset="-122"/>
                <a:cs typeface="Arial" pitchFamily="34" charset="-120"/>
              </a:rPr>
              <a:t>stocke les fichiers</a:t>
            </a:r>
            <a:endParaRPr lang="en-US" sz="1875" dirty="0"/>
          </a:p>
        </p:txBody>
      </p:sp>
      <p:sp>
        <p:nvSpPr>
          <p:cNvPr id="8" name="Shape 6"/>
          <p:cNvSpPr/>
          <p:nvPr/>
        </p:nvSpPr>
        <p:spPr>
          <a:xfrm>
            <a:off x="1066585" y="4393605"/>
            <a:ext cx="16154400" cy="666750"/>
          </a:xfrm>
          <a:prstGeom prst="roundRect">
            <a:avLst>
              <a:gd name="adj" fmla="val 17143"/>
            </a:avLst>
          </a:prstGeom>
          <a:gradFill rotWithShape="1">
            <a:gsLst>
              <a:gs pos="0">
                <a:srgbClr val="FFB56B">
                  <a:alpha val="12000"/>
                </a:srgbClr>
              </a:gs>
              <a:gs pos="100000">
                <a:srgbClr val="FFFFFF">
                  <a:alpha val="3000"/>
                </a:srgbClr>
              </a:gs>
            </a:gsLst>
            <a:lin ang="4200000" scaled="0"/>
          </a:gradFill>
          <a:ln w="6350">
            <a:solidFill>
              <a:srgbClr val="FFC491">
                <a:alpha val="34000"/>
              </a:srgbClr>
            </a:solidFill>
            <a:prstDash val="solid"/>
          </a:ln>
        </p:spPr>
      </p:sp>
      <p:sp>
        <p:nvSpPr>
          <p:cNvPr id="9" name="Text 7"/>
          <p:cNvSpPr/>
          <p:nvPr/>
        </p:nvSpPr>
        <p:spPr>
          <a:xfrm>
            <a:off x="1358685" y="4571405"/>
            <a:ext cx="2200275" cy="349250"/>
          </a:xfrm>
          <a:prstGeom prst="rect">
            <a:avLst/>
          </a:prstGeom>
          <a:noFill/>
          <a:ln/>
        </p:spPr>
        <p:txBody>
          <a:bodyPr wrap="square" lIns="25400" tIns="25400" rIns="25400" bIns="25400" rtlCol="0" anchor="t">
            <a:normAutofit/>
          </a:bodyPr>
          <a:lstStyle/>
          <a:p>
            <a:pPr algn="l" indent="0" marL="0">
              <a:buNone/>
            </a:pPr>
            <a:r>
              <a:rPr lang="en-US" sz="1875" dirty="0">
                <a:solidFill>
                  <a:srgbClr val="FFB46E"/>
                </a:solidFill>
                <a:latin typeface="Courier New" pitchFamily="34" charset="0"/>
                <a:ea typeface="Courier New" pitchFamily="34" charset="-122"/>
                <a:cs typeface="Courier New" pitchFamily="34" charset="-120"/>
              </a:rPr>
              <a:t>Hive</a:t>
            </a:r>
            <a:endParaRPr lang="en-US" sz="1875" dirty="0"/>
          </a:p>
        </p:txBody>
      </p:sp>
      <p:sp>
        <p:nvSpPr>
          <p:cNvPr id="10" name="Text 8"/>
          <p:cNvSpPr/>
          <p:nvPr/>
        </p:nvSpPr>
        <p:spPr>
          <a:xfrm>
            <a:off x="3587535" y="4574580"/>
            <a:ext cx="6154222"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solidFill>
                <a:latin typeface="Arial" pitchFamily="34" charset="0"/>
                <a:ea typeface="Arial" pitchFamily="34" charset="-122"/>
                <a:cs typeface="Arial" pitchFamily="34" charset="-120"/>
              </a:rPr>
              <a:t>ajoute un schéma SQL — ne calcule jamais lui-même</a:t>
            </a:r>
            <a:endParaRPr lang="en-US" sz="1875" dirty="0"/>
          </a:p>
        </p:txBody>
      </p:sp>
      <p:sp>
        <p:nvSpPr>
          <p:cNvPr id="11" name="Shape 9"/>
          <p:cNvSpPr/>
          <p:nvPr/>
        </p:nvSpPr>
        <p:spPr>
          <a:xfrm>
            <a:off x="1065448" y="5155605"/>
            <a:ext cx="16154400" cy="666750"/>
          </a:xfrm>
          <a:prstGeom prst="roundRect">
            <a:avLst>
              <a:gd name="adj" fmla="val 17143"/>
            </a:avLst>
          </a:prstGeom>
          <a:solidFill>
            <a:srgbClr val="FFFFFF">
              <a:alpha val="3000"/>
            </a:srgbClr>
          </a:solidFill>
          <a:ln w="6350">
            <a:solidFill>
              <a:srgbClr val="FFFFFF">
                <a:alpha val="10000"/>
              </a:srgbClr>
            </a:solidFill>
            <a:prstDash val="solid"/>
          </a:ln>
        </p:spPr>
      </p:sp>
      <p:sp>
        <p:nvSpPr>
          <p:cNvPr id="12" name="Text 10"/>
          <p:cNvSpPr/>
          <p:nvPr/>
        </p:nvSpPr>
        <p:spPr>
          <a:xfrm>
            <a:off x="1357548" y="5333405"/>
            <a:ext cx="2200275" cy="349250"/>
          </a:xfrm>
          <a:prstGeom prst="rect">
            <a:avLst/>
          </a:prstGeom>
          <a:noFill/>
          <a:ln/>
        </p:spPr>
        <p:txBody>
          <a:bodyPr wrap="square" lIns="25400" tIns="25400" rIns="25400" bIns="25400" rtlCol="0" anchor="t">
            <a:normAutofit/>
          </a:bodyPr>
          <a:lstStyle/>
          <a:p>
            <a:pPr algn="l" indent="0" marL="0">
              <a:buNone/>
            </a:pPr>
            <a:r>
              <a:rPr lang="en-US" sz="1875" dirty="0">
                <a:solidFill>
                  <a:srgbClr val="56DBDB">
                    <a:alpha val="99000"/>
                  </a:srgbClr>
                </a:solidFill>
                <a:latin typeface="Courier New" pitchFamily="34" charset="0"/>
                <a:ea typeface="Courier New" pitchFamily="34" charset="-122"/>
                <a:cs typeface="Courier New" pitchFamily="34" charset="-120"/>
              </a:rPr>
              <a:t>Metastore</a:t>
            </a:r>
            <a:endParaRPr lang="en-US" sz="1875" dirty="0"/>
          </a:p>
        </p:txBody>
      </p:sp>
      <p:sp>
        <p:nvSpPr>
          <p:cNvPr id="13" name="Text 11"/>
          <p:cNvSpPr/>
          <p:nvPr/>
        </p:nvSpPr>
        <p:spPr>
          <a:xfrm>
            <a:off x="3586398" y="5336580"/>
            <a:ext cx="5835204"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alpha val="99000"/>
                  </a:srgbClr>
                </a:solidFill>
                <a:latin typeface="Arial" pitchFamily="34" charset="0"/>
                <a:ea typeface="Arial" pitchFamily="34" charset="-122"/>
                <a:cs typeface="Arial" pitchFamily="34" charset="-120"/>
              </a:rPr>
              <a:t>mémorise les métadonnées — jamais les données</a:t>
            </a:r>
            <a:endParaRPr lang="en-US" sz="1875" dirty="0"/>
          </a:p>
        </p:txBody>
      </p:sp>
      <p:sp>
        <p:nvSpPr>
          <p:cNvPr id="14" name="Shape 12"/>
          <p:cNvSpPr/>
          <p:nvPr/>
        </p:nvSpPr>
        <p:spPr>
          <a:xfrm>
            <a:off x="1063027" y="5917605"/>
            <a:ext cx="16154400" cy="666750"/>
          </a:xfrm>
          <a:prstGeom prst="roundRect">
            <a:avLst>
              <a:gd name="adj" fmla="val 17143"/>
            </a:avLst>
          </a:prstGeom>
          <a:solidFill>
            <a:srgbClr val="FFFFFF">
              <a:alpha val="3000"/>
            </a:srgbClr>
          </a:solidFill>
          <a:ln w="6350">
            <a:solidFill>
              <a:srgbClr val="FFFFFF">
                <a:alpha val="10000"/>
              </a:srgbClr>
            </a:solidFill>
            <a:prstDash val="solid"/>
          </a:ln>
        </p:spPr>
      </p:sp>
      <p:sp>
        <p:nvSpPr>
          <p:cNvPr id="15" name="Text 13"/>
          <p:cNvSpPr/>
          <p:nvPr/>
        </p:nvSpPr>
        <p:spPr>
          <a:xfrm>
            <a:off x="1355127" y="6095405"/>
            <a:ext cx="2828925" cy="349250"/>
          </a:xfrm>
          <a:prstGeom prst="rect">
            <a:avLst/>
          </a:prstGeom>
          <a:noFill/>
          <a:ln/>
        </p:spPr>
        <p:txBody>
          <a:bodyPr wrap="square" lIns="25400" tIns="25400" rIns="25400" bIns="25400" rtlCol="0" anchor="t">
            <a:normAutofit/>
          </a:bodyPr>
          <a:lstStyle/>
          <a:p>
            <a:pPr algn="l" indent="0" marL="0">
              <a:buNone/>
            </a:pPr>
            <a:r>
              <a:rPr lang="en-US" sz="1875" dirty="0">
                <a:solidFill>
                  <a:srgbClr val="EEF3F9">
                    <a:alpha val="98000"/>
                  </a:srgbClr>
                </a:solidFill>
                <a:latin typeface="Courier New" pitchFamily="34" charset="0"/>
                <a:ea typeface="Courier New" pitchFamily="34" charset="-122"/>
                <a:cs typeface="Courier New" pitchFamily="34" charset="-120"/>
              </a:rPr>
              <a:t>Driver + Optimizer</a:t>
            </a:r>
            <a:endParaRPr lang="en-US" sz="1875" dirty="0"/>
          </a:p>
        </p:txBody>
      </p:sp>
      <p:sp>
        <p:nvSpPr>
          <p:cNvPr id="16" name="Text 14"/>
          <p:cNvSpPr/>
          <p:nvPr/>
        </p:nvSpPr>
        <p:spPr>
          <a:xfrm>
            <a:off x="4155477" y="6098580"/>
            <a:ext cx="3936484"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alpha val="98000"/>
                  </a:srgbClr>
                </a:solidFill>
                <a:latin typeface="Arial" pitchFamily="34" charset="0"/>
                <a:ea typeface="Arial" pitchFamily="34" charset="-122"/>
                <a:cs typeface="Arial" pitchFamily="34" charset="-120"/>
              </a:rPr>
              <a:t>construisent et optimisent le plan</a:t>
            </a:r>
            <a:endParaRPr lang="en-US" sz="1875" dirty="0"/>
          </a:p>
        </p:txBody>
      </p:sp>
      <p:sp>
        <p:nvSpPr>
          <p:cNvPr id="17" name="Shape 15"/>
          <p:cNvSpPr/>
          <p:nvPr/>
        </p:nvSpPr>
        <p:spPr>
          <a:xfrm>
            <a:off x="1058804" y="6679605"/>
            <a:ext cx="16154400" cy="666750"/>
          </a:xfrm>
          <a:prstGeom prst="roundRect">
            <a:avLst>
              <a:gd name="adj" fmla="val 17143"/>
            </a:avLst>
          </a:prstGeom>
          <a:solidFill>
            <a:srgbClr val="FFFFFF">
              <a:alpha val="3000"/>
            </a:srgbClr>
          </a:solidFill>
          <a:ln w="6350">
            <a:solidFill>
              <a:srgbClr val="FFFFFF">
                <a:alpha val="10000"/>
              </a:srgbClr>
            </a:solidFill>
            <a:prstDash val="solid"/>
          </a:ln>
        </p:spPr>
      </p:sp>
      <p:sp>
        <p:nvSpPr>
          <p:cNvPr id="18" name="Text 16"/>
          <p:cNvSpPr/>
          <p:nvPr/>
        </p:nvSpPr>
        <p:spPr>
          <a:xfrm>
            <a:off x="1350904" y="6857405"/>
            <a:ext cx="2514600" cy="349250"/>
          </a:xfrm>
          <a:prstGeom prst="rect">
            <a:avLst/>
          </a:prstGeom>
          <a:noFill/>
          <a:ln/>
        </p:spPr>
        <p:txBody>
          <a:bodyPr wrap="square" lIns="25400" tIns="25400" rIns="25400" bIns="25400" rtlCol="0" anchor="t">
            <a:normAutofit/>
          </a:bodyPr>
          <a:lstStyle/>
          <a:p>
            <a:pPr algn="l" indent="0" marL="0">
              <a:buNone/>
            </a:pPr>
            <a:r>
              <a:rPr lang="en-US" sz="1875" dirty="0">
                <a:solidFill>
                  <a:srgbClr val="EEF3F9">
                    <a:alpha val="97000"/>
                  </a:srgbClr>
                </a:solidFill>
                <a:latin typeface="Courier New" pitchFamily="34" charset="0"/>
                <a:ea typeface="Courier New" pitchFamily="34" charset="-122"/>
                <a:cs typeface="Courier New" pitchFamily="34" charset="-120"/>
              </a:rPr>
              <a:t>Tez / Spark / MR</a:t>
            </a:r>
            <a:endParaRPr lang="en-US" sz="1875" dirty="0"/>
          </a:p>
        </p:txBody>
      </p:sp>
      <p:sp>
        <p:nvSpPr>
          <p:cNvPr id="19" name="Text 17"/>
          <p:cNvSpPr/>
          <p:nvPr/>
        </p:nvSpPr>
        <p:spPr>
          <a:xfrm>
            <a:off x="3865504" y="6860580"/>
            <a:ext cx="2203440"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alpha val="97000"/>
                  </a:srgbClr>
                </a:solidFill>
                <a:latin typeface="Arial" pitchFamily="34" charset="0"/>
                <a:ea typeface="Arial" pitchFamily="34" charset="-122"/>
                <a:cs typeface="Arial" pitchFamily="34" charset="-120"/>
              </a:rPr>
              <a:t>exécutent le calcul</a:t>
            </a:r>
            <a:endParaRPr lang="en-US" sz="1875" dirty="0"/>
          </a:p>
        </p:txBody>
      </p:sp>
      <p:sp>
        <p:nvSpPr>
          <p:cNvPr id="20" name="Shape 18"/>
          <p:cNvSpPr/>
          <p:nvPr/>
        </p:nvSpPr>
        <p:spPr>
          <a:xfrm>
            <a:off x="1051928" y="7441605"/>
            <a:ext cx="16154400" cy="666750"/>
          </a:xfrm>
          <a:prstGeom prst="roundRect">
            <a:avLst>
              <a:gd name="adj" fmla="val 17143"/>
            </a:avLst>
          </a:prstGeom>
          <a:solidFill>
            <a:srgbClr val="FFFFFF">
              <a:alpha val="3000"/>
            </a:srgbClr>
          </a:solidFill>
          <a:ln w="6350">
            <a:solidFill>
              <a:srgbClr val="FFFFFF">
                <a:alpha val="9000"/>
              </a:srgbClr>
            </a:solidFill>
            <a:prstDash val="solid"/>
          </a:ln>
        </p:spPr>
      </p:sp>
      <p:sp>
        <p:nvSpPr>
          <p:cNvPr id="21" name="Text 19"/>
          <p:cNvSpPr/>
          <p:nvPr/>
        </p:nvSpPr>
        <p:spPr>
          <a:xfrm>
            <a:off x="1344028" y="7619405"/>
            <a:ext cx="2200275" cy="349250"/>
          </a:xfrm>
          <a:prstGeom prst="rect">
            <a:avLst/>
          </a:prstGeom>
          <a:noFill/>
          <a:ln/>
        </p:spPr>
        <p:txBody>
          <a:bodyPr wrap="square" lIns="25400" tIns="25400" rIns="25400" bIns="25400" rtlCol="0" anchor="t">
            <a:normAutofit/>
          </a:bodyPr>
          <a:lstStyle/>
          <a:p>
            <a:pPr algn="l" indent="0" marL="0">
              <a:buNone/>
            </a:pPr>
            <a:r>
              <a:rPr lang="en-US" sz="1875" dirty="0">
                <a:solidFill>
                  <a:srgbClr val="B897F0">
                    <a:alpha val="94000"/>
                  </a:srgbClr>
                </a:solidFill>
                <a:latin typeface="Courier New" pitchFamily="34" charset="0"/>
                <a:ea typeface="Courier New" pitchFamily="34" charset="-122"/>
                <a:cs typeface="Courier New" pitchFamily="34" charset="-120"/>
              </a:rPr>
              <a:t>YARN</a:t>
            </a:r>
            <a:endParaRPr lang="en-US" sz="1875" dirty="0"/>
          </a:p>
        </p:txBody>
      </p:sp>
      <p:sp>
        <p:nvSpPr>
          <p:cNvPr id="22" name="Text 20"/>
          <p:cNvSpPr/>
          <p:nvPr/>
        </p:nvSpPr>
        <p:spPr>
          <a:xfrm>
            <a:off x="3572878" y="7622580"/>
            <a:ext cx="2753836"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alpha val="94000"/>
                  </a:srgbClr>
                </a:solidFill>
                <a:latin typeface="Arial" pitchFamily="34" charset="0"/>
                <a:ea typeface="Arial" pitchFamily="34" charset="-122"/>
                <a:cs typeface="Arial" pitchFamily="34" charset="-120"/>
              </a:rPr>
              <a:t>fournit CPU et mémoire</a:t>
            </a:r>
            <a:endParaRPr lang="en-US" sz="1875"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0C121C"/>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B16A">
                  <a:alpha val="14000"/>
                </a:srgbClr>
              </a:gs>
              <a:gs pos="60000">
                <a:srgbClr val="FFB16A">
                  <a:alpha val="0"/>
                </a:srgbClr>
              </a:gs>
            </a:gsLst>
            <a:path path="circle">
              <a:fillToRect l="80000" t="8000" r="20000" b="92000"/>
            </a:path>
          </a:gradFill>
          <a:ln/>
        </p:spPr>
      </p:sp>
      <p:sp>
        <p:nvSpPr>
          <p:cNvPr id="3" name="Shape 1"/>
          <p:cNvSpPr/>
          <p:nvPr/>
        </p:nvSpPr>
        <p:spPr>
          <a:xfrm>
            <a:off x="1066800" y="819150"/>
            <a:ext cx="419100" cy="419100"/>
          </a:xfrm>
          <a:prstGeom prst="roundRect">
            <a:avLst>
              <a:gd name="adj" fmla="val 27273"/>
            </a:avLst>
          </a:prstGeom>
          <a:ln w="19050">
            <a:solidFill>
              <a:srgbClr val="FFB46E">
                <a:alpha val="97000"/>
              </a:srgbClr>
            </a:solidFill>
            <a:prstDash val="solid"/>
          </a:ln>
        </p:spPr>
      </p:sp>
      <p:sp>
        <p:nvSpPr>
          <p:cNvPr id="4" name="Text 2"/>
          <p:cNvSpPr/>
          <p:nvPr/>
        </p:nvSpPr>
        <p:spPr>
          <a:xfrm>
            <a:off x="1047750" y="838200"/>
            <a:ext cx="457200" cy="419100"/>
          </a:xfrm>
          <a:prstGeom prst="rect">
            <a:avLst/>
          </a:prstGeom>
          <a:noFill/>
          <a:ln/>
        </p:spPr>
        <p:txBody>
          <a:bodyPr wrap="square" lIns="25400" tIns="25400" rIns="25400" bIns="25400" rtlCol="0" anchor="ctr">
            <a:normAutofit/>
          </a:bodyPr>
          <a:lstStyle/>
          <a:p>
            <a:pPr algn="ctr" indent="0" marL="0">
              <a:buNone/>
            </a:pPr>
            <a:r>
              <a:rPr lang="en-US" sz="1950" spc="432" kern="0" dirty="0">
                <a:solidFill>
                  <a:srgbClr val="FFB46E">
                    <a:alpha val="97000"/>
                  </a:srgbClr>
                </a:solidFill>
                <a:latin typeface="Courier New" pitchFamily="34" charset="0"/>
                <a:ea typeface="Courier New" pitchFamily="34" charset="-122"/>
                <a:cs typeface="Courier New" pitchFamily="34" charset="-120"/>
              </a:rPr>
              <a:t>?</a:t>
            </a:r>
            <a:endParaRPr lang="en-US" sz="1950" dirty="0"/>
          </a:p>
        </p:txBody>
      </p:sp>
      <p:sp>
        <p:nvSpPr>
          <p:cNvPr id="5" name="Text 3"/>
          <p:cNvSpPr/>
          <p:nvPr/>
        </p:nvSpPr>
        <p:spPr>
          <a:xfrm>
            <a:off x="1638300" y="876300"/>
            <a:ext cx="3560178" cy="342900"/>
          </a:xfrm>
          <a:prstGeom prst="rect">
            <a:avLst/>
          </a:prstGeom>
          <a:noFill/>
          <a:ln/>
        </p:spPr>
        <p:txBody>
          <a:bodyPr wrap="square" lIns="0" tIns="0" rIns="0" bIns="0" rtlCol="0" anchor="t">
            <a:normAutofit/>
          </a:bodyPr>
          <a:lstStyle/>
          <a:p>
            <a:pPr algn="l" indent="0" marL="0">
              <a:buNone/>
            </a:pPr>
            <a:r>
              <a:rPr lang="en-US" sz="1800" spc="432" kern="0" dirty="0">
                <a:solidFill>
                  <a:srgbClr val="FFB46E">
                    <a:alpha val="97000"/>
                  </a:srgbClr>
                </a:solidFill>
                <a:latin typeface="Courier New" pitchFamily="34" charset="0"/>
                <a:ea typeface="Courier New" pitchFamily="34" charset="-122"/>
                <a:cs typeface="Courier New" pitchFamily="34" charset="-120"/>
              </a:rPr>
              <a:t>QUIZ · ATELIER 5.1</a:t>
            </a:r>
            <a:endParaRPr lang="en-US" sz="1800" dirty="0"/>
          </a:p>
        </p:txBody>
      </p:sp>
      <p:sp>
        <p:nvSpPr>
          <p:cNvPr id="6" name="Text 4"/>
          <p:cNvSpPr/>
          <p:nvPr/>
        </p:nvSpPr>
        <p:spPr>
          <a:xfrm>
            <a:off x="1066800" y="1428751"/>
            <a:ext cx="17769840"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Apache Hive</a:t>
            </a:r>
            <a:endParaRPr lang="en-US" sz="4800" dirty="0"/>
          </a:p>
        </p:txBody>
      </p:sp>
      <p:sp>
        <p:nvSpPr>
          <p:cNvPr id="7" name="Text 5"/>
          <p:cNvSpPr/>
          <p:nvPr/>
        </p:nvSpPr>
        <p:spPr>
          <a:xfrm>
            <a:off x="1066800" y="2481760"/>
            <a:ext cx="8654415" cy="369491"/>
          </a:xfrm>
          <a:prstGeom prst="rect">
            <a:avLst/>
          </a:prstGeom>
          <a:noFill/>
          <a:ln/>
        </p:spPr>
        <p:txBody>
          <a:bodyPr wrap="square" lIns="25400" tIns="25400" rIns="25400" bIns="25400" rtlCol="0" anchor="t">
            <a:normAutofit/>
          </a:bodyPr>
          <a:lstStyle/>
          <a:p>
            <a:pPr algn="l" indent="0" marL="0">
              <a:lnSpc>
                <a:spcPct val="106531"/>
              </a:lnSpc>
              <a:buNone/>
            </a:pPr>
            <a:r>
              <a:rPr lang="en-US" sz="2175" b="1" dirty="0">
                <a:solidFill>
                  <a:srgbClr val="EEF3F9"/>
                </a:solidFill>
                <a:latin typeface="Arial" pitchFamily="34" charset="0"/>
                <a:ea typeface="Arial" pitchFamily="34" charset="-122"/>
                <a:cs typeface="Arial" pitchFamily="34" charset="-120"/>
              </a:rPr>
              <a:t>Que fait Hive quand on soumet une requête ?</a:t>
            </a:r>
            <a:endParaRPr lang="en-US" sz="2175" dirty="0"/>
          </a:p>
        </p:txBody>
      </p:sp>
      <p:sp>
        <p:nvSpPr>
          <p:cNvPr id="8" name="Shape 6"/>
          <p:cNvSpPr/>
          <p:nvPr/>
        </p:nvSpPr>
        <p:spPr>
          <a:xfrm>
            <a:off x="1066800" y="3022701"/>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9" name="Shape 7"/>
          <p:cNvSpPr/>
          <p:nvPr/>
        </p:nvSpPr>
        <p:spPr>
          <a:xfrm>
            <a:off x="1282700" y="3200501"/>
            <a:ext cx="323850" cy="323850"/>
          </a:xfrm>
          <a:prstGeom prst="roundRect">
            <a:avLst>
              <a:gd name="adj" fmla="val 23529"/>
            </a:avLst>
          </a:prstGeom>
          <a:solidFill>
            <a:srgbClr val="FFFFFF">
              <a:alpha val="6000"/>
            </a:srgbClr>
          </a:solidFill>
          <a:ln/>
        </p:spPr>
      </p:sp>
      <p:sp>
        <p:nvSpPr>
          <p:cNvPr id="10" name="Text 8"/>
          <p:cNvSpPr/>
          <p:nvPr/>
        </p:nvSpPr>
        <p:spPr>
          <a:xfrm>
            <a:off x="1244600" y="3200501"/>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solidFill>
                <a:latin typeface="Arial" pitchFamily="34" charset="0"/>
                <a:ea typeface="Arial" pitchFamily="34" charset="-122"/>
                <a:cs typeface="Arial" pitchFamily="34" charset="-120"/>
              </a:rPr>
              <a:t>A</a:t>
            </a:r>
            <a:endParaRPr lang="en-US" sz="1875" dirty="0"/>
          </a:p>
        </p:txBody>
      </p:sp>
      <p:sp>
        <p:nvSpPr>
          <p:cNvPr id="11" name="Text 9"/>
          <p:cNvSpPr/>
          <p:nvPr/>
        </p:nvSpPr>
        <p:spPr>
          <a:xfrm>
            <a:off x="1758950" y="3210026"/>
            <a:ext cx="6148547"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solidFill>
                <a:latin typeface="Arial" pitchFamily="34" charset="0"/>
                <a:ea typeface="Arial" pitchFamily="34" charset="-122"/>
                <a:cs typeface="Arial" pitchFamily="34" charset="-120"/>
              </a:rPr>
              <a:t>Il exécute lui-même le calcul sur ses propres nœuds</a:t>
            </a:r>
            <a:endParaRPr lang="en-US" sz="1875" dirty="0"/>
          </a:p>
        </p:txBody>
      </p:sp>
      <p:sp>
        <p:nvSpPr>
          <p:cNvPr id="12" name="Shape 10"/>
          <p:cNvSpPr/>
          <p:nvPr/>
        </p:nvSpPr>
        <p:spPr>
          <a:xfrm>
            <a:off x="1066800" y="3835501"/>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13" name="Shape 11"/>
          <p:cNvSpPr/>
          <p:nvPr/>
        </p:nvSpPr>
        <p:spPr>
          <a:xfrm>
            <a:off x="1282700" y="4013301"/>
            <a:ext cx="323850" cy="323850"/>
          </a:xfrm>
          <a:prstGeom prst="roundRect">
            <a:avLst>
              <a:gd name="adj" fmla="val 23529"/>
            </a:avLst>
          </a:prstGeom>
          <a:solidFill>
            <a:srgbClr val="FFFFFF">
              <a:alpha val="6000"/>
            </a:srgbClr>
          </a:solidFill>
          <a:ln/>
        </p:spPr>
      </p:sp>
      <p:sp>
        <p:nvSpPr>
          <p:cNvPr id="14" name="Text 12"/>
          <p:cNvSpPr/>
          <p:nvPr/>
        </p:nvSpPr>
        <p:spPr>
          <a:xfrm>
            <a:off x="1244600" y="4013301"/>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solidFill>
                <a:latin typeface="Arial" pitchFamily="34" charset="0"/>
                <a:ea typeface="Arial" pitchFamily="34" charset="-122"/>
                <a:cs typeface="Arial" pitchFamily="34" charset="-120"/>
              </a:rPr>
              <a:t>B</a:t>
            </a:r>
            <a:endParaRPr lang="en-US" sz="1875" dirty="0"/>
          </a:p>
        </p:txBody>
      </p:sp>
      <p:sp>
        <p:nvSpPr>
          <p:cNvPr id="15" name="Text 13"/>
          <p:cNvSpPr/>
          <p:nvPr/>
        </p:nvSpPr>
        <p:spPr>
          <a:xfrm>
            <a:off x="1758950" y="4022826"/>
            <a:ext cx="7178943"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solidFill>
                <a:latin typeface="Arial" pitchFamily="34" charset="0"/>
                <a:ea typeface="Arial" pitchFamily="34" charset="-122"/>
                <a:cs typeface="Arial" pitchFamily="34" charset="-120"/>
              </a:rPr>
              <a:t>Il traduit le SQL en un plan confié à Tez, Spark ou MapReduce</a:t>
            </a:r>
            <a:endParaRPr lang="en-US" sz="1875" dirty="0"/>
          </a:p>
        </p:txBody>
      </p:sp>
      <p:sp>
        <p:nvSpPr>
          <p:cNvPr id="16" name="Shape 14"/>
          <p:cNvSpPr/>
          <p:nvPr/>
        </p:nvSpPr>
        <p:spPr>
          <a:xfrm>
            <a:off x="1066800" y="4648301"/>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17" name="Shape 15"/>
          <p:cNvSpPr/>
          <p:nvPr/>
        </p:nvSpPr>
        <p:spPr>
          <a:xfrm>
            <a:off x="1282700" y="4826101"/>
            <a:ext cx="323850" cy="323850"/>
          </a:xfrm>
          <a:prstGeom prst="roundRect">
            <a:avLst>
              <a:gd name="adj" fmla="val 23529"/>
            </a:avLst>
          </a:prstGeom>
          <a:solidFill>
            <a:srgbClr val="FFFFFF">
              <a:alpha val="6000"/>
            </a:srgbClr>
          </a:solidFill>
          <a:ln/>
        </p:spPr>
      </p:sp>
      <p:sp>
        <p:nvSpPr>
          <p:cNvPr id="18" name="Text 16"/>
          <p:cNvSpPr/>
          <p:nvPr/>
        </p:nvSpPr>
        <p:spPr>
          <a:xfrm>
            <a:off x="1244600" y="4826101"/>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solidFill>
                <a:latin typeface="Arial" pitchFamily="34" charset="0"/>
                <a:ea typeface="Arial" pitchFamily="34" charset="-122"/>
                <a:cs typeface="Arial" pitchFamily="34" charset="-120"/>
              </a:rPr>
              <a:t>C</a:t>
            </a:r>
            <a:endParaRPr lang="en-US" sz="1875" dirty="0"/>
          </a:p>
        </p:txBody>
      </p:sp>
      <p:sp>
        <p:nvSpPr>
          <p:cNvPr id="19" name="Text 17"/>
          <p:cNvSpPr/>
          <p:nvPr/>
        </p:nvSpPr>
        <p:spPr>
          <a:xfrm>
            <a:off x="1758950" y="4835626"/>
            <a:ext cx="4646771"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solidFill>
                <a:latin typeface="Arial" pitchFamily="34" charset="0"/>
                <a:ea typeface="Arial" pitchFamily="34" charset="-122"/>
                <a:cs typeface="Arial" pitchFamily="34" charset="-120"/>
              </a:rPr>
              <a:t>Il stocke les données dans le Metastore</a:t>
            </a:r>
            <a:endParaRPr lang="en-US" sz="1875" dirty="0"/>
          </a:p>
        </p:txBody>
      </p:sp>
      <p:sp>
        <p:nvSpPr>
          <p:cNvPr id="20" name="Text 18"/>
          <p:cNvSpPr/>
          <p:nvPr/>
        </p:nvSpPr>
        <p:spPr>
          <a:xfrm>
            <a:off x="9353550" y="2483903"/>
            <a:ext cx="8654415" cy="386060"/>
          </a:xfrm>
          <a:prstGeom prst="rect">
            <a:avLst/>
          </a:prstGeom>
          <a:noFill/>
          <a:ln/>
        </p:spPr>
        <p:txBody>
          <a:bodyPr wrap="square" lIns="25400" tIns="25400" rIns="25400" bIns="25400" rtlCol="0" anchor="t">
            <a:normAutofit/>
          </a:bodyPr>
          <a:lstStyle/>
          <a:p>
            <a:pPr algn="l" indent="0" marL="0">
              <a:lnSpc>
                <a:spcPct val="106531"/>
              </a:lnSpc>
              <a:buNone/>
            </a:pPr>
            <a:r>
              <a:rPr lang="en-US" sz="2175" b="1" dirty="0">
                <a:solidFill>
                  <a:srgbClr val="EEF3F9">
                    <a:alpha val="99000"/>
                  </a:srgbClr>
                </a:solidFill>
                <a:latin typeface="Arial" pitchFamily="34" charset="0"/>
                <a:ea typeface="Arial" pitchFamily="34" charset="-122"/>
                <a:cs typeface="Arial" pitchFamily="34" charset="-120"/>
              </a:rPr>
              <a:t>Sur une External Table, que fait </a:t>
            </a:r>
            <a:pPr algn="l" indent="0" marL="0">
              <a:lnSpc>
                <a:spcPct val="106531"/>
              </a:lnSpc>
              <a:buNone/>
            </a:pPr>
            <a:r>
              <a:rPr lang="en-US" sz="1950" b="1" dirty="0">
                <a:solidFill>
                  <a:srgbClr val="EEF3F9">
                    <a:alpha val="99000"/>
                  </a:srgbClr>
                </a:solidFill>
                <a:latin typeface="Courier New" pitchFamily="34" charset="0"/>
                <a:ea typeface="Courier New" pitchFamily="34" charset="-122"/>
                <a:cs typeface="Courier New" pitchFamily="34" charset="-120"/>
              </a:rPr>
              <a:t>DROP TABLE </a:t>
            </a:r>
            <a:pPr algn="l" indent="0" marL="0">
              <a:lnSpc>
                <a:spcPct val="106531"/>
              </a:lnSpc>
              <a:buNone/>
            </a:pPr>
            <a:r>
              <a:rPr lang="en-US" sz="2175" b="1" dirty="0">
                <a:solidFill>
                  <a:srgbClr val="EEF3F9">
                    <a:alpha val="99000"/>
                  </a:srgbClr>
                </a:solidFill>
                <a:latin typeface="Arial" pitchFamily="34" charset="0"/>
                <a:ea typeface="Arial" pitchFamily="34" charset="-122"/>
                <a:cs typeface="Arial" pitchFamily="34" charset="-120"/>
              </a:rPr>
              <a:t>?</a:t>
            </a:r>
            <a:endParaRPr lang="en-US" sz="2175" dirty="0"/>
          </a:p>
        </p:txBody>
      </p:sp>
      <p:sp>
        <p:nvSpPr>
          <p:cNvPr id="21" name="Shape 19"/>
          <p:cNvSpPr/>
          <p:nvPr/>
        </p:nvSpPr>
        <p:spPr>
          <a:xfrm>
            <a:off x="9353550" y="3041413"/>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22" name="Shape 20"/>
          <p:cNvSpPr/>
          <p:nvPr/>
        </p:nvSpPr>
        <p:spPr>
          <a:xfrm>
            <a:off x="9569450" y="3219213"/>
            <a:ext cx="323850" cy="323850"/>
          </a:xfrm>
          <a:prstGeom prst="roundRect">
            <a:avLst>
              <a:gd name="adj" fmla="val 23529"/>
            </a:avLst>
          </a:prstGeom>
          <a:solidFill>
            <a:srgbClr val="FFFFFF">
              <a:alpha val="6000"/>
            </a:srgbClr>
          </a:solidFill>
          <a:ln/>
        </p:spPr>
      </p:sp>
      <p:sp>
        <p:nvSpPr>
          <p:cNvPr id="23" name="Text 21"/>
          <p:cNvSpPr/>
          <p:nvPr/>
        </p:nvSpPr>
        <p:spPr>
          <a:xfrm>
            <a:off x="9531350" y="3219213"/>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alpha val="99000"/>
                  </a:srgbClr>
                </a:solidFill>
                <a:latin typeface="Arial" pitchFamily="34" charset="0"/>
                <a:ea typeface="Arial" pitchFamily="34" charset="-122"/>
                <a:cs typeface="Arial" pitchFamily="34" charset="-120"/>
              </a:rPr>
              <a:t>A</a:t>
            </a:r>
            <a:endParaRPr lang="en-US" sz="1875" dirty="0"/>
          </a:p>
        </p:txBody>
      </p:sp>
      <p:sp>
        <p:nvSpPr>
          <p:cNvPr id="24" name="Text 22"/>
          <p:cNvSpPr/>
          <p:nvPr/>
        </p:nvSpPr>
        <p:spPr>
          <a:xfrm>
            <a:off x="10045701" y="3228738"/>
            <a:ext cx="5209173"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alpha val="99000"/>
                  </a:srgbClr>
                </a:solidFill>
                <a:latin typeface="Arial" pitchFamily="34" charset="0"/>
                <a:ea typeface="Arial" pitchFamily="34" charset="-122"/>
                <a:cs typeface="Arial" pitchFamily="34" charset="-120"/>
              </a:rPr>
              <a:t>Il supprime les métadonnées et les données</a:t>
            </a:r>
            <a:endParaRPr lang="en-US" sz="1875" dirty="0"/>
          </a:p>
        </p:txBody>
      </p:sp>
      <p:sp>
        <p:nvSpPr>
          <p:cNvPr id="25" name="Shape 23"/>
          <p:cNvSpPr/>
          <p:nvPr/>
        </p:nvSpPr>
        <p:spPr>
          <a:xfrm>
            <a:off x="9353550" y="3854213"/>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26" name="Shape 24"/>
          <p:cNvSpPr/>
          <p:nvPr/>
        </p:nvSpPr>
        <p:spPr>
          <a:xfrm>
            <a:off x="9569450" y="4032013"/>
            <a:ext cx="323850" cy="323850"/>
          </a:xfrm>
          <a:prstGeom prst="roundRect">
            <a:avLst>
              <a:gd name="adj" fmla="val 23529"/>
            </a:avLst>
          </a:prstGeom>
          <a:solidFill>
            <a:srgbClr val="FFFFFF">
              <a:alpha val="6000"/>
            </a:srgbClr>
          </a:solidFill>
          <a:ln/>
        </p:spPr>
      </p:sp>
      <p:sp>
        <p:nvSpPr>
          <p:cNvPr id="27" name="Text 25"/>
          <p:cNvSpPr/>
          <p:nvPr/>
        </p:nvSpPr>
        <p:spPr>
          <a:xfrm>
            <a:off x="9531350" y="4032013"/>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alpha val="99000"/>
                  </a:srgbClr>
                </a:solidFill>
                <a:latin typeface="Arial" pitchFamily="34" charset="0"/>
                <a:ea typeface="Arial" pitchFamily="34" charset="-122"/>
                <a:cs typeface="Arial" pitchFamily="34" charset="-120"/>
              </a:rPr>
              <a:t>B</a:t>
            </a:r>
            <a:endParaRPr lang="en-US" sz="1875" dirty="0"/>
          </a:p>
        </p:txBody>
      </p:sp>
      <p:sp>
        <p:nvSpPr>
          <p:cNvPr id="28" name="Text 26"/>
          <p:cNvSpPr/>
          <p:nvPr/>
        </p:nvSpPr>
        <p:spPr>
          <a:xfrm>
            <a:off x="10045701" y="4041538"/>
            <a:ext cx="7261781"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alpha val="99000"/>
                  </a:srgbClr>
                </a:solidFill>
                <a:latin typeface="Arial" pitchFamily="34" charset="0"/>
                <a:ea typeface="Arial" pitchFamily="34" charset="-122"/>
                <a:cs typeface="Arial" pitchFamily="34" charset="-120"/>
              </a:rPr>
              <a:t>Il supprime seulement les métadonnées ; les données restent</a:t>
            </a:r>
            <a:endParaRPr lang="en-US" sz="1875" dirty="0"/>
          </a:p>
        </p:txBody>
      </p:sp>
      <p:sp>
        <p:nvSpPr>
          <p:cNvPr id="29" name="Shape 27"/>
          <p:cNvSpPr/>
          <p:nvPr/>
        </p:nvSpPr>
        <p:spPr>
          <a:xfrm>
            <a:off x="9353550" y="4667013"/>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30" name="Shape 28"/>
          <p:cNvSpPr/>
          <p:nvPr/>
        </p:nvSpPr>
        <p:spPr>
          <a:xfrm>
            <a:off x="9569450" y="4844813"/>
            <a:ext cx="323850" cy="323850"/>
          </a:xfrm>
          <a:prstGeom prst="roundRect">
            <a:avLst>
              <a:gd name="adj" fmla="val 23529"/>
            </a:avLst>
          </a:prstGeom>
          <a:solidFill>
            <a:srgbClr val="FFFFFF">
              <a:alpha val="6000"/>
            </a:srgbClr>
          </a:solidFill>
          <a:ln/>
        </p:spPr>
      </p:sp>
      <p:sp>
        <p:nvSpPr>
          <p:cNvPr id="31" name="Text 29"/>
          <p:cNvSpPr/>
          <p:nvPr/>
        </p:nvSpPr>
        <p:spPr>
          <a:xfrm>
            <a:off x="9531350" y="4844813"/>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alpha val="99000"/>
                  </a:srgbClr>
                </a:solidFill>
                <a:latin typeface="Arial" pitchFamily="34" charset="0"/>
                <a:ea typeface="Arial" pitchFamily="34" charset="-122"/>
                <a:cs typeface="Arial" pitchFamily="34" charset="-120"/>
              </a:rPr>
              <a:t>C</a:t>
            </a:r>
            <a:endParaRPr lang="en-US" sz="1875" dirty="0"/>
          </a:p>
        </p:txBody>
      </p:sp>
      <p:sp>
        <p:nvSpPr>
          <p:cNvPr id="32" name="Text 30"/>
          <p:cNvSpPr/>
          <p:nvPr/>
        </p:nvSpPr>
        <p:spPr>
          <a:xfrm>
            <a:off x="10045701" y="4854338"/>
            <a:ext cx="6128355"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alpha val="99000"/>
                  </a:srgbClr>
                </a:solidFill>
                <a:latin typeface="Arial" pitchFamily="34" charset="0"/>
                <a:ea typeface="Arial" pitchFamily="34" charset="-122"/>
                <a:cs typeface="Arial" pitchFamily="34" charset="-120"/>
              </a:rPr>
              <a:t>Rien, une External Table ne peut pas être supprimée</a:t>
            </a:r>
            <a:endParaRPr lang="en-US" sz="1875"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0C121C"/>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B16A">
                  <a:alpha val="14000"/>
                </a:srgbClr>
              </a:gs>
              <a:gs pos="60000">
                <a:srgbClr val="FFB16A">
                  <a:alpha val="0"/>
                </a:srgbClr>
              </a:gs>
            </a:gsLst>
            <a:path path="circle">
              <a:fillToRect l="80000" t="8000" r="20000" b="92000"/>
            </a:path>
          </a:gradFill>
          <a:ln/>
        </p:spPr>
      </p:sp>
      <p:sp>
        <p:nvSpPr>
          <p:cNvPr id="3" name="Shape 1"/>
          <p:cNvSpPr/>
          <p:nvPr/>
        </p:nvSpPr>
        <p:spPr>
          <a:xfrm>
            <a:off x="1066800" y="819150"/>
            <a:ext cx="419100" cy="419100"/>
          </a:xfrm>
          <a:prstGeom prst="roundRect">
            <a:avLst>
              <a:gd name="adj" fmla="val 27273"/>
            </a:avLst>
          </a:prstGeom>
          <a:ln w="19050">
            <a:solidFill>
              <a:srgbClr val="FFB46E">
                <a:alpha val="97000"/>
              </a:srgbClr>
            </a:solidFill>
            <a:prstDash val="solid"/>
          </a:ln>
        </p:spPr>
      </p:sp>
      <p:sp>
        <p:nvSpPr>
          <p:cNvPr id="4" name="Text 2"/>
          <p:cNvSpPr/>
          <p:nvPr/>
        </p:nvSpPr>
        <p:spPr>
          <a:xfrm>
            <a:off x="1047750" y="838200"/>
            <a:ext cx="457200" cy="419100"/>
          </a:xfrm>
          <a:prstGeom prst="rect">
            <a:avLst/>
          </a:prstGeom>
          <a:noFill/>
          <a:ln/>
        </p:spPr>
        <p:txBody>
          <a:bodyPr wrap="square" lIns="25400" tIns="25400" rIns="25400" bIns="25400" rtlCol="0" anchor="ctr">
            <a:normAutofit/>
          </a:bodyPr>
          <a:lstStyle/>
          <a:p>
            <a:pPr algn="ctr" indent="0" marL="0">
              <a:buNone/>
            </a:pPr>
            <a:r>
              <a:rPr lang="en-US" sz="1950" spc="432" kern="0" dirty="0">
                <a:solidFill>
                  <a:srgbClr val="FFB46E">
                    <a:alpha val="97000"/>
                  </a:srgbClr>
                </a:solidFill>
                <a:latin typeface="Courier New" pitchFamily="34" charset="0"/>
                <a:ea typeface="Courier New" pitchFamily="34" charset="-122"/>
                <a:cs typeface="Courier New" pitchFamily="34" charset="-120"/>
              </a:rPr>
              <a:t>✓</a:t>
            </a:r>
            <a:endParaRPr lang="en-US" sz="1950" dirty="0"/>
          </a:p>
        </p:txBody>
      </p:sp>
      <p:sp>
        <p:nvSpPr>
          <p:cNvPr id="5" name="Text 3"/>
          <p:cNvSpPr/>
          <p:nvPr/>
        </p:nvSpPr>
        <p:spPr>
          <a:xfrm>
            <a:off x="1638300" y="876300"/>
            <a:ext cx="4746870" cy="342900"/>
          </a:xfrm>
          <a:prstGeom prst="rect">
            <a:avLst/>
          </a:prstGeom>
          <a:noFill/>
          <a:ln/>
        </p:spPr>
        <p:txBody>
          <a:bodyPr wrap="square" lIns="0" tIns="0" rIns="0" bIns="0" rtlCol="0" anchor="t">
            <a:normAutofit/>
          </a:bodyPr>
          <a:lstStyle/>
          <a:p>
            <a:pPr algn="l" indent="0" marL="0">
              <a:buNone/>
            </a:pPr>
            <a:r>
              <a:rPr lang="en-US" sz="1800" spc="432" kern="0" dirty="0">
                <a:solidFill>
                  <a:srgbClr val="FFB46E">
                    <a:alpha val="97000"/>
                  </a:srgbClr>
                </a:solidFill>
                <a:latin typeface="Courier New" pitchFamily="34" charset="0"/>
                <a:ea typeface="Courier New" pitchFamily="34" charset="-122"/>
                <a:cs typeface="Courier New" pitchFamily="34" charset="-120"/>
              </a:rPr>
              <a:t>CORRECTION · ATELIER 5.1</a:t>
            </a:r>
            <a:endParaRPr lang="en-US" sz="1800" dirty="0"/>
          </a:p>
        </p:txBody>
      </p:sp>
      <p:sp>
        <p:nvSpPr>
          <p:cNvPr id="6" name="Text 4"/>
          <p:cNvSpPr/>
          <p:nvPr/>
        </p:nvSpPr>
        <p:spPr>
          <a:xfrm>
            <a:off x="1066800" y="1428751"/>
            <a:ext cx="17769840"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Apache Hive</a:t>
            </a:r>
            <a:endParaRPr lang="en-US" sz="4800" dirty="0"/>
          </a:p>
        </p:txBody>
      </p:sp>
      <p:sp>
        <p:nvSpPr>
          <p:cNvPr id="7" name="Text 5"/>
          <p:cNvSpPr/>
          <p:nvPr/>
        </p:nvSpPr>
        <p:spPr>
          <a:xfrm>
            <a:off x="1066800" y="2481760"/>
            <a:ext cx="8654415" cy="369491"/>
          </a:xfrm>
          <a:prstGeom prst="rect">
            <a:avLst/>
          </a:prstGeom>
          <a:noFill/>
          <a:ln/>
        </p:spPr>
        <p:txBody>
          <a:bodyPr wrap="square" lIns="25400" tIns="25400" rIns="25400" bIns="25400" rtlCol="0" anchor="t">
            <a:normAutofit/>
          </a:bodyPr>
          <a:lstStyle/>
          <a:p>
            <a:pPr algn="l" indent="0" marL="0">
              <a:lnSpc>
                <a:spcPct val="106531"/>
              </a:lnSpc>
              <a:buNone/>
            </a:pPr>
            <a:r>
              <a:rPr lang="en-US" sz="2175" b="1" dirty="0">
                <a:solidFill>
                  <a:srgbClr val="EEF3F9"/>
                </a:solidFill>
                <a:latin typeface="Arial" pitchFamily="34" charset="0"/>
                <a:ea typeface="Arial" pitchFamily="34" charset="-122"/>
                <a:cs typeface="Arial" pitchFamily="34" charset="-120"/>
              </a:rPr>
              <a:t>Que fait Hive quand on soumet une requête ?</a:t>
            </a:r>
            <a:endParaRPr lang="en-US" sz="2175" dirty="0"/>
          </a:p>
        </p:txBody>
      </p:sp>
      <p:sp>
        <p:nvSpPr>
          <p:cNvPr id="8" name="Shape 6"/>
          <p:cNvSpPr/>
          <p:nvPr/>
        </p:nvSpPr>
        <p:spPr>
          <a:xfrm>
            <a:off x="1066800" y="3022701"/>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9" name="Shape 7"/>
          <p:cNvSpPr/>
          <p:nvPr/>
        </p:nvSpPr>
        <p:spPr>
          <a:xfrm>
            <a:off x="1282700" y="3200501"/>
            <a:ext cx="323850" cy="323850"/>
          </a:xfrm>
          <a:prstGeom prst="roundRect">
            <a:avLst>
              <a:gd name="adj" fmla="val 23529"/>
            </a:avLst>
          </a:prstGeom>
          <a:solidFill>
            <a:srgbClr val="FFFFFF">
              <a:alpha val="6000"/>
            </a:srgbClr>
          </a:solidFill>
          <a:ln/>
        </p:spPr>
      </p:sp>
      <p:sp>
        <p:nvSpPr>
          <p:cNvPr id="10" name="Text 8"/>
          <p:cNvSpPr/>
          <p:nvPr/>
        </p:nvSpPr>
        <p:spPr>
          <a:xfrm>
            <a:off x="1244600" y="3200501"/>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solidFill>
                <a:latin typeface="Arial" pitchFamily="34" charset="0"/>
                <a:ea typeface="Arial" pitchFamily="34" charset="-122"/>
                <a:cs typeface="Arial" pitchFamily="34" charset="-120"/>
              </a:rPr>
              <a:t>A</a:t>
            </a:r>
            <a:endParaRPr lang="en-US" sz="1875" dirty="0"/>
          </a:p>
        </p:txBody>
      </p:sp>
      <p:sp>
        <p:nvSpPr>
          <p:cNvPr id="11" name="Text 9"/>
          <p:cNvSpPr/>
          <p:nvPr/>
        </p:nvSpPr>
        <p:spPr>
          <a:xfrm>
            <a:off x="1758950" y="3210026"/>
            <a:ext cx="6148547"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solidFill>
                <a:latin typeface="Arial" pitchFamily="34" charset="0"/>
                <a:ea typeface="Arial" pitchFamily="34" charset="-122"/>
                <a:cs typeface="Arial" pitchFamily="34" charset="-120"/>
              </a:rPr>
              <a:t>Il exécute lui-même le calcul sur ses propres nœuds</a:t>
            </a:r>
            <a:endParaRPr lang="en-US" sz="1875" dirty="0"/>
          </a:p>
        </p:txBody>
      </p:sp>
      <p:sp>
        <p:nvSpPr>
          <p:cNvPr id="12" name="Shape 10"/>
          <p:cNvSpPr/>
          <p:nvPr/>
        </p:nvSpPr>
        <p:spPr>
          <a:xfrm>
            <a:off x="1066800" y="3835501"/>
            <a:ext cx="7867650" cy="692150"/>
          </a:xfrm>
          <a:prstGeom prst="roundRect">
            <a:avLst>
              <a:gd name="adj" fmla="val 16514"/>
            </a:avLst>
          </a:prstGeom>
          <a:gradFill rotWithShape="1">
            <a:gsLst>
              <a:gs pos="0">
                <a:srgbClr val="FFB46E">
                  <a:alpha val="20000"/>
                </a:srgbClr>
              </a:gs>
              <a:gs pos="100000">
                <a:srgbClr val="FFFFFF">
                  <a:alpha val="3000"/>
                </a:srgbClr>
              </a:gs>
            </a:gsLst>
            <a:lin ang="4200000" scaled="0"/>
          </a:gradFill>
          <a:ln w="6350">
            <a:solidFill>
              <a:srgbClr val="FFBE82">
                <a:alpha val="48000"/>
              </a:srgbClr>
            </a:solidFill>
            <a:prstDash val="solid"/>
          </a:ln>
        </p:spPr>
      </p:sp>
      <p:sp>
        <p:nvSpPr>
          <p:cNvPr id="13" name="Shape 11"/>
          <p:cNvSpPr/>
          <p:nvPr/>
        </p:nvSpPr>
        <p:spPr>
          <a:xfrm>
            <a:off x="1282700" y="4019651"/>
            <a:ext cx="323850" cy="323850"/>
          </a:xfrm>
          <a:prstGeom prst="roundRect">
            <a:avLst>
              <a:gd name="adj" fmla="val 23529"/>
            </a:avLst>
          </a:prstGeom>
          <a:solidFill>
            <a:srgbClr val="FFB46E"/>
          </a:solidFill>
          <a:ln/>
        </p:spPr>
      </p:sp>
      <p:sp>
        <p:nvSpPr>
          <p:cNvPr id="14" name="Text 12"/>
          <p:cNvSpPr/>
          <p:nvPr/>
        </p:nvSpPr>
        <p:spPr>
          <a:xfrm>
            <a:off x="1244600" y="4019651"/>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04070C"/>
                </a:solidFill>
                <a:latin typeface="Arial" pitchFamily="34" charset="0"/>
                <a:ea typeface="Arial" pitchFamily="34" charset="-122"/>
                <a:cs typeface="Arial" pitchFamily="34" charset="-120"/>
              </a:rPr>
              <a:t>B</a:t>
            </a:r>
            <a:endParaRPr lang="en-US" sz="1875" dirty="0"/>
          </a:p>
        </p:txBody>
      </p:sp>
      <p:sp>
        <p:nvSpPr>
          <p:cNvPr id="15" name="Text 13"/>
          <p:cNvSpPr/>
          <p:nvPr/>
        </p:nvSpPr>
        <p:spPr>
          <a:xfrm>
            <a:off x="1758950" y="4029176"/>
            <a:ext cx="7178943" cy="342900"/>
          </a:xfrm>
          <a:prstGeom prst="rect">
            <a:avLst/>
          </a:prstGeom>
          <a:noFill/>
          <a:ln/>
        </p:spPr>
        <p:txBody>
          <a:bodyPr wrap="square" lIns="25400" tIns="25400" rIns="25400" bIns="25400" rtlCol="0" anchor="t">
            <a:normAutofit/>
          </a:bodyPr>
          <a:lstStyle/>
          <a:p>
            <a:pPr algn="l" indent="0" marL="0">
              <a:buNone/>
            </a:pPr>
            <a:r>
              <a:rPr lang="en-US" sz="1875" dirty="0">
                <a:solidFill>
                  <a:srgbClr val="EEF3F9"/>
                </a:solidFill>
                <a:latin typeface="Arial" pitchFamily="34" charset="0"/>
                <a:ea typeface="Arial" pitchFamily="34" charset="-122"/>
                <a:cs typeface="Arial" pitchFamily="34" charset="-120"/>
              </a:rPr>
              <a:t>Il traduit le SQL en un plan confié à Tez, Spark ou MapReduce</a:t>
            </a:r>
            <a:endParaRPr lang="en-US" sz="1875" dirty="0"/>
          </a:p>
        </p:txBody>
      </p:sp>
      <p:sp>
        <p:nvSpPr>
          <p:cNvPr id="16" name="Text 14"/>
          <p:cNvSpPr/>
          <p:nvPr/>
        </p:nvSpPr>
        <p:spPr>
          <a:xfrm>
            <a:off x="8533011" y="4013301"/>
            <a:ext cx="261739" cy="374650"/>
          </a:xfrm>
          <a:prstGeom prst="rect">
            <a:avLst/>
          </a:prstGeom>
          <a:noFill/>
          <a:ln/>
        </p:spPr>
        <p:txBody>
          <a:bodyPr wrap="square" lIns="25400" tIns="25400" rIns="25400" bIns="25400" rtlCol="0" anchor="t">
            <a:normAutofit/>
          </a:bodyPr>
          <a:lstStyle/>
          <a:p>
            <a:pPr algn="l" indent="0" marL="0">
              <a:buNone/>
            </a:pPr>
            <a:r>
              <a:rPr lang="en-US" sz="1950" dirty="0">
                <a:solidFill>
                  <a:srgbClr val="FFB46E"/>
                </a:solidFill>
                <a:latin typeface="Arial" pitchFamily="34" charset="0"/>
                <a:ea typeface="Arial" pitchFamily="34" charset="-122"/>
                <a:cs typeface="Arial" pitchFamily="34" charset="-120"/>
              </a:rPr>
              <a:t>✓</a:t>
            </a:r>
            <a:endParaRPr lang="en-US" sz="1950" dirty="0"/>
          </a:p>
        </p:txBody>
      </p:sp>
      <p:sp>
        <p:nvSpPr>
          <p:cNvPr id="17" name="Shape 15"/>
          <p:cNvSpPr/>
          <p:nvPr/>
        </p:nvSpPr>
        <p:spPr>
          <a:xfrm>
            <a:off x="1066800" y="4661001"/>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18" name="Shape 16"/>
          <p:cNvSpPr/>
          <p:nvPr/>
        </p:nvSpPr>
        <p:spPr>
          <a:xfrm>
            <a:off x="1282700" y="4838801"/>
            <a:ext cx="323850" cy="323850"/>
          </a:xfrm>
          <a:prstGeom prst="roundRect">
            <a:avLst>
              <a:gd name="adj" fmla="val 23529"/>
            </a:avLst>
          </a:prstGeom>
          <a:solidFill>
            <a:srgbClr val="FFFFFF">
              <a:alpha val="6000"/>
            </a:srgbClr>
          </a:solidFill>
          <a:ln/>
        </p:spPr>
      </p:sp>
      <p:sp>
        <p:nvSpPr>
          <p:cNvPr id="19" name="Text 17"/>
          <p:cNvSpPr/>
          <p:nvPr/>
        </p:nvSpPr>
        <p:spPr>
          <a:xfrm>
            <a:off x="1244600" y="4838801"/>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solidFill>
                <a:latin typeface="Arial" pitchFamily="34" charset="0"/>
                <a:ea typeface="Arial" pitchFamily="34" charset="-122"/>
                <a:cs typeface="Arial" pitchFamily="34" charset="-120"/>
              </a:rPr>
              <a:t>C</a:t>
            </a:r>
            <a:endParaRPr lang="en-US" sz="1875" dirty="0"/>
          </a:p>
        </p:txBody>
      </p:sp>
      <p:sp>
        <p:nvSpPr>
          <p:cNvPr id="20" name="Text 18"/>
          <p:cNvSpPr/>
          <p:nvPr/>
        </p:nvSpPr>
        <p:spPr>
          <a:xfrm>
            <a:off x="1758950" y="4848326"/>
            <a:ext cx="4646771"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solidFill>
                <a:latin typeface="Arial" pitchFamily="34" charset="0"/>
                <a:ea typeface="Arial" pitchFamily="34" charset="-122"/>
                <a:cs typeface="Arial" pitchFamily="34" charset="-120"/>
              </a:rPr>
              <a:t>Il stocke les données dans le Metastore</a:t>
            </a:r>
            <a:endParaRPr lang="en-US" sz="1875" dirty="0"/>
          </a:p>
        </p:txBody>
      </p:sp>
      <p:sp>
        <p:nvSpPr>
          <p:cNvPr id="21" name="Text 19"/>
          <p:cNvSpPr/>
          <p:nvPr/>
        </p:nvSpPr>
        <p:spPr>
          <a:xfrm>
            <a:off x="9353550" y="2483907"/>
            <a:ext cx="8654415" cy="386060"/>
          </a:xfrm>
          <a:prstGeom prst="rect">
            <a:avLst/>
          </a:prstGeom>
          <a:noFill/>
          <a:ln/>
        </p:spPr>
        <p:txBody>
          <a:bodyPr wrap="square" lIns="25400" tIns="25400" rIns="25400" bIns="25400" rtlCol="0" anchor="t">
            <a:normAutofit/>
          </a:bodyPr>
          <a:lstStyle/>
          <a:p>
            <a:pPr algn="l" indent="0" marL="0">
              <a:lnSpc>
                <a:spcPct val="106531"/>
              </a:lnSpc>
              <a:buNone/>
            </a:pPr>
            <a:r>
              <a:rPr lang="en-US" sz="2175" b="1" dirty="0">
                <a:solidFill>
                  <a:srgbClr val="EEF3F9">
                    <a:alpha val="99000"/>
                  </a:srgbClr>
                </a:solidFill>
                <a:latin typeface="Arial" pitchFamily="34" charset="0"/>
                <a:ea typeface="Arial" pitchFamily="34" charset="-122"/>
                <a:cs typeface="Arial" pitchFamily="34" charset="-120"/>
              </a:rPr>
              <a:t>Sur une External Table, que fait </a:t>
            </a:r>
            <a:pPr algn="l" indent="0" marL="0">
              <a:lnSpc>
                <a:spcPct val="106531"/>
              </a:lnSpc>
              <a:buNone/>
            </a:pPr>
            <a:r>
              <a:rPr lang="en-US" sz="1950" b="1" dirty="0">
                <a:solidFill>
                  <a:srgbClr val="EEF3F9">
                    <a:alpha val="99000"/>
                  </a:srgbClr>
                </a:solidFill>
                <a:latin typeface="Courier New" pitchFamily="34" charset="0"/>
                <a:ea typeface="Courier New" pitchFamily="34" charset="-122"/>
                <a:cs typeface="Courier New" pitchFamily="34" charset="-120"/>
              </a:rPr>
              <a:t>DROP TABLE </a:t>
            </a:r>
            <a:pPr algn="l" indent="0" marL="0">
              <a:lnSpc>
                <a:spcPct val="106531"/>
              </a:lnSpc>
              <a:buNone/>
            </a:pPr>
            <a:r>
              <a:rPr lang="en-US" sz="2175" b="1" dirty="0">
                <a:solidFill>
                  <a:srgbClr val="EEF3F9">
                    <a:alpha val="99000"/>
                  </a:srgbClr>
                </a:solidFill>
                <a:latin typeface="Arial" pitchFamily="34" charset="0"/>
                <a:ea typeface="Arial" pitchFamily="34" charset="-122"/>
                <a:cs typeface="Arial" pitchFamily="34" charset="-120"/>
              </a:rPr>
              <a:t>?</a:t>
            </a:r>
            <a:endParaRPr lang="en-US" sz="2175" dirty="0"/>
          </a:p>
        </p:txBody>
      </p:sp>
      <p:sp>
        <p:nvSpPr>
          <p:cNvPr id="22" name="Shape 20"/>
          <p:cNvSpPr/>
          <p:nvPr/>
        </p:nvSpPr>
        <p:spPr>
          <a:xfrm>
            <a:off x="9353550" y="3041416"/>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23" name="Shape 21"/>
          <p:cNvSpPr/>
          <p:nvPr/>
        </p:nvSpPr>
        <p:spPr>
          <a:xfrm>
            <a:off x="9569450" y="3219216"/>
            <a:ext cx="323850" cy="323850"/>
          </a:xfrm>
          <a:prstGeom prst="roundRect">
            <a:avLst>
              <a:gd name="adj" fmla="val 23529"/>
            </a:avLst>
          </a:prstGeom>
          <a:solidFill>
            <a:srgbClr val="FFFFFF">
              <a:alpha val="6000"/>
            </a:srgbClr>
          </a:solidFill>
          <a:ln/>
        </p:spPr>
      </p:sp>
      <p:sp>
        <p:nvSpPr>
          <p:cNvPr id="24" name="Text 22"/>
          <p:cNvSpPr/>
          <p:nvPr/>
        </p:nvSpPr>
        <p:spPr>
          <a:xfrm>
            <a:off x="9531350" y="3219216"/>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alpha val="99000"/>
                  </a:srgbClr>
                </a:solidFill>
                <a:latin typeface="Arial" pitchFamily="34" charset="0"/>
                <a:ea typeface="Arial" pitchFamily="34" charset="-122"/>
                <a:cs typeface="Arial" pitchFamily="34" charset="-120"/>
              </a:rPr>
              <a:t>A</a:t>
            </a:r>
            <a:endParaRPr lang="en-US" sz="1875" dirty="0"/>
          </a:p>
        </p:txBody>
      </p:sp>
      <p:sp>
        <p:nvSpPr>
          <p:cNvPr id="25" name="Text 23"/>
          <p:cNvSpPr/>
          <p:nvPr/>
        </p:nvSpPr>
        <p:spPr>
          <a:xfrm>
            <a:off x="10045701" y="3228741"/>
            <a:ext cx="5209173"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alpha val="99000"/>
                  </a:srgbClr>
                </a:solidFill>
                <a:latin typeface="Arial" pitchFamily="34" charset="0"/>
                <a:ea typeface="Arial" pitchFamily="34" charset="-122"/>
                <a:cs typeface="Arial" pitchFamily="34" charset="-120"/>
              </a:rPr>
              <a:t>Il supprime les métadonnées et les données</a:t>
            </a:r>
            <a:endParaRPr lang="en-US" sz="1875" dirty="0"/>
          </a:p>
        </p:txBody>
      </p:sp>
      <p:sp>
        <p:nvSpPr>
          <p:cNvPr id="26" name="Shape 24"/>
          <p:cNvSpPr/>
          <p:nvPr/>
        </p:nvSpPr>
        <p:spPr>
          <a:xfrm>
            <a:off x="9353550" y="3854216"/>
            <a:ext cx="7867650" cy="692150"/>
          </a:xfrm>
          <a:prstGeom prst="roundRect">
            <a:avLst>
              <a:gd name="adj" fmla="val 16514"/>
            </a:avLst>
          </a:prstGeom>
          <a:gradFill rotWithShape="1">
            <a:gsLst>
              <a:gs pos="0">
                <a:srgbClr val="FFB46E">
                  <a:alpha val="20000"/>
                </a:srgbClr>
              </a:gs>
              <a:gs pos="100000">
                <a:srgbClr val="FFFFFF">
                  <a:alpha val="3000"/>
                </a:srgbClr>
              </a:gs>
            </a:gsLst>
            <a:lin ang="4200000" scaled="0"/>
          </a:gradFill>
          <a:ln w="6350">
            <a:solidFill>
              <a:srgbClr val="FFBE82">
                <a:alpha val="47000"/>
              </a:srgbClr>
            </a:solidFill>
            <a:prstDash val="solid"/>
          </a:ln>
        </p:spPr>
      </p:sp>
      <p:sp>
        <p:nvSpPr>
          <p:cNvPr id="27" name="Shape 25"/>
          <p:cNvSpPr/>
          <p:nvPr/>
        </p:nvSpPr>
        <p:spPr>
          <a:xfrm>
            <a:off x="9569450" y="4038366"/>
            <a:ext cx="323850" cy="323850"/>
          </a:xfrm>
          <a:prstGeom prst="roundRect">
            <a:avLst>
              <a:gd name="adj" fmla="val 23529"/>
            </a:avLst>
          </a:prstGeom>
          <a:solidFill>
            <a:srgbClr val="FFB46E">
              <a:alpha val="99000"/>
            </a:srgbClr>
          </a:solidFill>
          <a:ln/>
        </p:spPr>
      </p:sp>
      <p:sp>
        <p:nvSpPr>
          <p:cNvPr id="28" name="Text 26"/>
          <p:cNvSpPr/>
          <p:nvPr/>
        </p:nvSpPr>
        <p:spPr>
          <a:xfrm>
            <a:off x="9531350" y="4038366"/>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04070C">
                    <a:alpha val="99000"/>
                  </a:srgbClr>
                </a:solidFill>
                <a:latin typeface="Arial" pitchFamily="34" charset="0"/>
                <a:ea typeface="Arial" pitchFamily="34" charset="-122"/>
                <a:cs typeface="Arial" pitchFamily="34" charset="-120"/>
              </a:rPr>
              <a:t>B</a:t>
            </a:r>
            <a:endParaRPr lang="en-US" sz="1875" dirty="0"/>
          </a:p>
        </p:txBody>
      </p:sp>
      <p:sp>
        <p:nvSpPr>
          <p:cNvPr id="29" name="Text 27"/>
          <p:cNvSpPr/>
          <p:nvPr/>
        </p:nvSpPr>
        <p:spPr>
          <a:xfrm>
            <a:off x="10045701" y="4047891"/>
            <a:ext cx="7261781" cy="342900"/>
          </a:xfrm>
          <a:prstGeom prst="rect">
            <a:avLst/>
          </a:prstGeom>
          <a:noFill/>
          <a:ln/>
        </p:spPr>
        <p:txBody>
          <a:bodyPr wrap="square" lIns="25400" tIns="25400" rIns="25400" bIns="25400" rtlCol="0" anchor="t">
            <a:normAutofit/>
          </a:bodyPr>
          <a:lstStyle/>
          <a:p>
            <a:pPr algn="l" indent="0" marL="0">
              <a:buNone/>
            </a:pPr>
            <a:r>
              <a:rPr lang="en-US" sz="1875" dirty="0">
                <a:solidFill>
                  <a:srgbClr val="EEF3F9">
                    <a:alpha val="99000"/>
                  </a:srgbClr>
                </a:solidFill>
                <a:latin typeface="Arial" pitchFamily="34" charset="0"/>
                <a:ea typeface="Arial" pitchFamily="34" charset="-122"/>
                <a:cs typeface="Arial" pitchFamily="34" charset="-120"/>
              </a:rPr>
              <a:t>Il supprime seulement les métadonnées ; les données restent</a:t>
            </a:r>
            <a:endParaRPr lang="en-US" sz="1875" dirty="0"/>
          </a:p>
        </p:txBody>
      </p:sp>
      <p:sp>
        <p:nvSpPr>
          <p:cNvPr id="30" name="Text 28"/>
          <p:cNvSpPr/>
          <p:nvPr/>
        </p:nvSpPr>
        <p:spPr>
          <a:xfrm>
            <a:off x="16819762" y="4032016"/>
            <a:ext cx="261739" cy="374650"/>
          </a:xfrm>
          <a:prstGeom prst="rect">
            <a:avLst/>
          </a:prstGeom>
          <a:noFill/>
          <a:ln/>
        </p:spPr>
        <p:txBody>
          <a:bodyPr wrap="square" lIns="25400" tIns="25400" rIns="25400" bIns="25400" rtlCol="0" anchor="t">
            <a:normAutofit/>
          </a:bodyPr>
          <a:lstStyle/>
          <a:p>
            <a:pPr algn="l" indent="0" marL="0">
              <a:buNone/>
            </a:pPr>
            <a:r>
              <a:rPr lang="en-US" sz="1950" dirty="0">
                <a:solidFill>
                  <a:srgbClr val="FFB46E">
                    <a:alpha val="99000"/>
                  </a:srgbClr>
                </a:solidFill>
                <a:latin typeface="Arial" pitchFamily="34" charset="0"/>
                <a:ea typeface="Arial" pitchFamily="34" charset="-122"/>
                <a:cs typeface="Arial" pitchFamily="34" charset="-120"/>
              </a:rPr>
              <a:t>✓</a:t>
            </a:r>
            <a:endParaRPr lang="en-US" sz="1950" dirty="0"/>
          </a:p>
        </p:txBody>
      </p:sp>
      <p:sp>
        <p:nvSpPr>
          <p:cNvPr id="31" name="Shape 29"/>
          <p:cNvSpPr/>
          <p:nvPr/>
        </p:nvSpPr>
        <p:spPr>
          <a:xfrm>
            <a:off x="9353550" y="4679717"/>
            <a:ext cx="7867650" cy="679450"/>
          </a:xfrm>
          <a:prstGeom prst="roundRect">
            <a:avLst>
              <a:gd name="adj" fmla="val 16822"/>
            </a:avLst>
          </a:prstGeom>
          <a:solidFill>
            <a:srgbClr val="FFFFFF">
              <a:alpha val="3000"/>
            </a:srgbClr>
          </a:solidFill>
          <a:ln w="6350">
            <a:solidFill>
              <a:srgbClr val="FFFFFF">
                <a:alpha val="10000"/>
              </a:srgbClr>
            </a:solidFill>
            <a:prstDash val="solid"/>
          </a:ln>
        </p:spPr>
      </p:sp>
      <p:sp>
        <p:nvSpPr>
          <p:cNvPr id="32" name="Shape 30"/>
          <p:cNvSpPr/>
          <p:nvPr/>
        </p:nvSpPr>
        <p:spPr>
          <a:xfrm>
            <a:off x="9569450" y="4857517"/>
            <a:ext cx="323850" cy="323850"/>
          </a:xfrm>
          <a:prstGeom prst="roundRect">
            <a:avLst>
              <a:gd name="adj" fmla="val 23529"/>
            </a:avLst>
          </a:prstGeom>
          <a:solidFill>
            <a:srgbClr val="FFFFFF">
              <a:alpha val="6000"/>
            </a:srgbClr>
          </a:solidFill>
          <a:ln/>
        </p:spPr>
      </p:sp>
      <p:sp>
        <p:nvSpPr>
          <p:cNvPr id="33" name="Text 31"/>
          <p:cNvSpPr/>
          <p:nvPr/>
        </p:nvSpPr>
        <p:spPr>
          <a:xfrm>
            <a:off x="9531350" y="4857517"/>
            <a:ext cx="400050" cy="361950"/>
          </a:xfrm>
          <a:prstGeom prst="rect">
            <a:avLst/>
          </a:prstGeom>
          <a:noFill/>
          <a:ln/>
        </p:spPr>
        <p:txBody>
          <a:bodyPr wrap="square" lIns="25400" tIns="25400" rIns="25400" bIns="25400" rtlCol="0" anchor="ctr">
            <a:normAutofit/>
          </a:bodyPr>
          <a:lstStyle/>
          <a:p>
            <a:pPr algn="ctr" indent="0" marL="0">
              <a:buNone/>
            </a:pPr>
            <a:r>
              <a:rPr lang="en-US" sz="1875" b="1" dirty="0">
                <a:solidFill>
                  <a:srgbClr val="8EA0B5">
                    <a:alpha val="99000"/>
                  </a:srgbClr>
                </a:solidFill>
                <a:latin typeface="Arial" pitchFamily="34" charset="0"/>
                <a:ea typeface="Arial" pitchFamily="34" charset="-122"/>
                <a:cs typeface="Arial" pitchFamily="34" charset="-120"/>
              </a:rPr>
              <a:t>C</a:t>
            </a:r>
            <a:endParaRPr lang="en-US" sz="1875" dirty="0"/>
          </a:p>
        </p:txBody>
      </p:sp>
      <p:sp>
        <p:nvSpPr>
          <p:cNvPr id="34" name="Text 32"/>
          <p:cNvSpPr/>
          <p:nvPr/>
        </p:nvSpPr>
        <p:spPr>
          <a:xfrm>
            <a:off x="10045701" y="4867042"/>
            <a:ext cx="6128355"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alpha val="99000"/>
                  </a:srgbClr>
                </a:solidFill>
                <a:latin typeface="Arial" pitchFamily="34" charset="0"/>
                <a:ea typeface="Arial" pitchFamily="34" charset="-122"/>
                <a:cs typeface="Arial" pitchFamily="34" charset="-120"/>
              </a:rPr>
              <a:t>Rien, une External Table ne peut pas être supprimée</a:t>
            </a:r>
            <a:endParaRPr lang="en-US" sz="1875"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0C121C"/>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B696F1">
                  <a:alpha val="22000"/>
                </a:srgbClr>
              </a:gs>
              <a:gs pos="60000">
                <a:srgbClr val="B696F1">
                  <a:alpha val="0"/>
                </a:srgbClr>
              </a:gs>
            </a:gsLst>
            <a:path path="circle">
              <a:fillToRect l="22000" t="34000" r="78000" b="66000"/>
            </a:path>
          </a:gradFill>
          <a:ln/>
        </p:spPr>
      </p:sp>
      <p:sp>
        <p:nvSpPr>
          <p:cNvPr id="3" name="Text 1"/>
          <p:cNvSpPr/>
          <p:nvPr/>
        </p:nvSpPr>
        <p:spPr>
          <a:xfrm>
            <a:off x="1066800" y="3037979"/>
            <a:ext cx="17769840" cy="368300"/>
          </a:xfrm>
          <a:prstGeom prst="rect">
            <a:avLst/>
          </a:prstGeom>
          <a:noFill/>
          <a:ln/>
        </p:spPr>
        <p:txBody>
          <a:bodyPr wrap="square" lIns="25400" tIns="25400" rIns="25400" bIns="25400" rtlCol="0" anchor="t">
            <a:normAutofit/>
          </a:bodyPr>
          <a:lstStyle/>
          <a:p>
            <a:pPr algn="l" indent="0" marL="0">
              <a:buNone/>
            </a:pPr>
            <a:r>
              <a:rPr lang="en-US" sz="1950" spc="546" kern="0" dirty="0">
                <a:solidFill>
                  <a:srgbClr val="B897F0">
                    <a:alpha val="97000"/>
                  </a:srgbClr>
                </a:solidFill>
                <a:latin typeface="Courier New" pitchFamily="34" charset="0"/>
                <a:ea typeface="Courier New" pitchFamily="34" charset="-122"/>
                <a:cs typeface="Courier New" pitchFamily="34" charset="-120"/>
              </a:rPr>
              <a:t>ATELIER 05.2 · 2 HEURES</a:t>
            </a:r>
            <a:endParaRPr lang="en-US" sz="1950" dirty="0"/>
          </a:p>
        </p:txBody>
      </p:sp>
      <p:sp>
        <p:nvSpPr>
          <p:cNvPr id="4" name="Text 2"/>
          <p:cNvSpPr/>
          <p:nvPr/>
        </p:nvSpPr>
        <p:spPr>
          <a:xfrm>
            <a:off x="1066800" y="3444380"/>
            <a:ext cx="17769840" cy="1752600"/>
          </a:xfrm>
          <a:prstGeom prst="rect">
            <a:avLst/>
          </a:prstGeom>
          <a:noFill/>
          <a:ln/>
        </p:spPr>
        <p:txBody>
          <a:bodyPr wrap="square" lIns="25400" tIns="25400" rIns="25400" bIns="25400" rtlCol="0" anchor="t">
            <a:normAutofit/>
          </a:bodyPr>
          <a:lstStyle/>
          <a:p>
            <a:pPr algn="l" indent="0" marL="0">
              <a:lnSpc>
                <a:spcPct val="78035"/>
              </a:lnSpc>
              <a:buNone/>
            </a:pPr>
            <a:r>
              <a:rPr lang="en-US" sz="15000" b="1" spc="-600" kern="0" dirty="0">
                <a:solidFill>
                  <a:srgbClr val="C5AFF4"/>
                </a:solidFill>
                <a:latin typeface="Arial" pitchFamily="34" charset="0"/>
                <a:ea typeface="Arial" pitchFamily="34" charset="-122"/>
                <a:cs typeface="Arial" pitchFamily="34" charset="-120"/>
              </a:rPr>
              <a:t>5.2</a:t>
            </a:r>
            <a:endParaRPr lang="en-US" sz="15000" dirty="0"/>
          </a:p>
        </p:txBody>
      </p:sp>
      <p:sp>
        <p:nvSpPr>
          <p:cNvPr id="5" name="Text 3"/>
          <p:cNvSpPr/>
          <p:nvPr/>
        </p:nvSpPr>
        <p:spPr>
          <a:xfrm>
            <a:off x="1066800" y="5236542"/>
            <a:ext cx="17769840" cy="737592"/>
          </a:xfrm>
          <a:prstGeom prst="rect">
            <a:avLst/>
          </a:prstGeom>
          <a:noFill/>
          <a:ln/>
        </p:spPr>
        <p:txBody>
          <a:bodyPr wrap="square" lIns="25400" tIns="25400" rIns="25400" bIns="25400" rtlCol="0" anchor="t">
            <a:normAutofit/>
          </a:bodyPr>
          <a:lstStyle/>
          <a:p>
            <a:pPr algn="l" indent="0" marL="0">
              <a:lnSpc>
                <a:spcPct val="88128"/>
              </a:lnSpc>
              <a:buNone/>
            </a:pPr>
            <a:r>
              <a:rPr lang="en-US" sz="5400" b="1" spc="-108" kern="0" dirty="0">
                <a:solidFill>
                  <a:srgbClr val="EEF3F9">
                    <a:alpha val="99000"/>
                  </a:srgbClr>
                </a:solidFill>
                <a:latin typeface="Arial" pitchFamily="34" charset="0"/>
                <a:ea typeface="Arial" pitchFamily="34" charset="-122"/>
                <a:cs typeface="Arial" pitchFamily="34" charset="-120"/>
              </a:rPr>
              <a:t>Spark SQL : interroger en SQL</a:t>
            </a:r>
            <a:endParaRPr lang="en-US" sz="5400" dirty="0"/>
          </a:p>
        </p:txBody>
      </p:sp>
      <p:sp>
        <p:nvSpPr>
          <p:cNvPr id="6" name="Text 4"/>
          <p:cNvSpPr/>
          <p:nvPr/>
        </p:nvSpPr>
        <p:spPr>
          <a:xfrm>
            <a:off x="1066800" y="6182221"/>
            <a:ext cx="12243816" cy="1104900"/>
          </a:xfrm>
          <a:prstGeom prst="rect">
            <a:avLst/>
          </a:prstGeom>
          <a:noFill/>
          <a:ln/>
        </p:spPr>
        <p:txBody>
          <a:bodyPr wrap="square" lIns="25400" tIns="25400" rIns="25400" bIns="25400" rtlCol="0" anchor="t">
            <a:normAutofit/>
          </a:bodyPr>
          <a:lstStyle/>
          <a:p>
            <a:pPr algn="l" indent="0" marL="0">
              <a:lnSpc>
                <a:spcPct val="121739"/>
              </a:lnSpc>
              <a:buNone/>
            </a:pPr>
            <a:r>
              <a:rPr lang="en-US" sz="3000" dirty="0">
                <a:solidFill>
                  <a:srgbClr val="8EA0B5">
                    <a:alpha val="77000"/>
                  </a:srgbClr>
                </a:solidFill>
                <a:latin typeface="Arial" pitchFamily="34" charset="0"/>
                <a:ea typeface="Arial" pitchFamily="34" charset="-122"/>
                <a:cs typeface="Arial" pitchFamily="34" charset="-120"/>
              </a:rPr>
              <a:t>La quatrième façon d'exprimer les mêmes questions — en SQL standard, dans Spark. (Hive : atelier 5.1.)</a:t>
            </a:r>
            <a:endParaRPr lang="en-US" sz="30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0A0E15"/>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B897F0">
                    <a:alpha val="97000"/>
                  </a:srgbClr>
                </a:solidFill>
                <a:latin typeface="Courier New" pitchFamily="34" charset="0"/>
                <a:ea typeface="Courier New" pitchFamily="34" charset="-122"/>
                <a:cs typeface="Courier New" pitchFamily="34" charset="-120"/>
              </a:rPr>
              <a:t>ATELIER 5.2 · CONCEPTS</a:t>
            </a:r>
            <a:endParaRPr lang="en-US" sz="1800" dirty="0"/>
          </a:p>
        </p:txBody>
      </p:sp>
      <p:sp>
        <p:nvSpPr>
          <p:cNvPr id="3" name="Text 1"/>
          <p:cNvSpPr/>
          <p:nvPr/>
        </p:nvSpPr>
        <p:spPr>
          <a:xfrm>
            <a:off x="1066800" y="1314451"/>
            <a:ext cx="9696271"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Spark SQL et le métastore</a:t>
            </a:r>
            <a:endParaRPr lang="en-US" sz="4800" dirty="0"/>
          </a:p>
        </p:txBody>
      </p:sp>
      <p:sp>
        <p:nvSpPr>
          <p:cNvPr id="4" name="Shape 2"/>
          <p:cNvSpPr/>
          <p:nvPr/>
        </p:nvSpPr>
        <p:spPr>
          <a:xfrm>
            <a:off x="1066800" y="2405560"/>
            <a:ext cx="7934325" cy="7062292"/>
          </a:xfrm>
          <a:prstGeom prst="roundRect">
            <a:avLst>
              <a:gd name="adj" fmla="val 2428"/>
            </a:avLst>
          </a:prstGeom>
          <a:solidFill>
            <a:srgbClr val="FFFFFF">
              <a:alpha val="3000"/>
            </a:srgbClr>
          </a:solidFill>
          <a:ln w="6350">
            <a:solidFill>
              <a:srgbClr val="FFFFFF">
                <a:alpha val="10000"/>
              </a:srgbClr>
            </a:solidFill>
            <a:prstDash val="solid"/>
          </a:ln>
        </p:spPr>
      </p:sp>
      <p:sp>
        <p:nvSpPr>
          <p:cNvPr id="5" name="Text 3"/>
          <p:cNvSpPr/>
          <p:nvPr/>
        </p:nvSpPr>
        <p:spPr>
          <a:xfrm>
            <a:off x="1435100" y="2792910"/>
            <a:ext cx="7917498" cy="412750"/>
          </a:xfrm>
          <a:prstGeom prst="rect">
            <a:avLst/>
          </a:prstGeom>
          <a:noFill/>
          <a:ln/>
        </p:spPr>
        <p:txBody>
          <a:bodyPr wrap="square" lIns="25400" tIns="25400" rIns="25400" bIns="25400" rtlCol="0" anchor="t">
            <a:normAutofit/>
          </a:bodyPr>
          <a:lstStyle/>
          <a:p>
            <a:pPr algn="l" indent="0" marL="0">
              <a:buNone/>
            </a:pPr>
            <a:r>
              <a:rPr lang="en-US" sz="2550" b="1" dirty="0">
                <a:solidFill>
                  <a:srgbClr val="B897F0"/>
                </a:solidFill>
                <a:latin typeface="Arial" pitchFamily="34" charset="0"/>
                <a:ea typeface="Arial" pitchFamily="34" charset="-122"/>
                <a:cs typeface="Arial" pitchFamily="34" charset="-120"/>
              </a:rPr>
              <a:t>Spark SQL</a:t>
            </a:r>
            <a:endParaRPr lang="en-US" sz="2550" dirty="0"/>
          </a:p>
        </p:txBody>
      </p:sp>
      <p:sp>
        <p:nvSpPr>
          <p:cNvPr id="6" name="Text 4"/>
          <p:cNvSpPr/>
          <p:nvPr/>
        </p:nvSpPr>
        <p:spPr>
          <a:xfrm>
            <a:off x="1435100" y="3319960"/>
            <a:ext cx="7413657" cy="1195388"/>
          </a:xfrm>
          <a:prstGeom prst="rect">
            <a:avLst/>
          </a:prstGeom>
          <a:noFill/>
          <a:ln/>
        </p:spPr>
        <p:txBody>
          <a:bodyPr wrap="square" lIns="25400" tIns="25400" rIns="25400" bIns="25400" rtlCol="0" anchor="t">
            <a:normAutofit/>
          </a:bodyPr>
          <a:lstStyle/>
          <a:p>
            <a:pPr algn="l" indent="0" marL="0">
              <a:lnSpc>
                <a:spcPct val="129255"/>
              </a:lnSpc>
              <a:buNone/>
            </a:pPr>
            <a:r>
              <a:rPr lang="en-US" sz="2025" dirty="0">
                <a:solidFill>
                  <a:srgbClr val="8EA0B5"/>
                </a:solidFill>
                <a:latin typeface="Arial" pitchFamily="34" charset="0"/>
                <a:ea typeface="Arial" pitchFamily="34" charset="-122"/>
                <a:cs typeface="Arial" pitchFamily="34" charset="-120"/>
              </a:rPr>
              <a:t>Interroger un DataFrame en SQL standard — </a:t>
            </a:r>
            <a:pPr algn="l" indent="0" marL="0">
              <a:lnSpc>
                <a:spcPct val="129255"/>
              </a:lnSpc>
              <a:buNone/>
            </a:pPr>
            <a:r>
              <a:rPr lang="en-US" sz="2025" dirty="0">
                <a:solidFill>
                  <a:srgbClr val="EEF3F9"/>
                </a:solidFill>
                <a:latin typeface="Arial" pitchFamily="34" charset="0"/>
                <a:ea typeface="Arial" pitchFamily="34" charset="-122"/>
                <a:cs typeface="Arial" pitchFamily="34" charset="-120"/>
              </a:rPr>
              <a:t>strictement équivalent </a:t>
            </a:r>
            <a:pPr algn="l" indent="0" marL="0">
              <a:lnSpc>
                <a:spcPct val="129255"/>
              </a:lnSpc>
              <a:buNone/>
            </a:pPr>
            <a:r>
              <a:rPr lang="en-US" sz="2025" dirty="0">
                <a:solidFill>
                  <a:srgbClr val="8EA0B5"/>
                </a:solidFill>
                <a:latin typeface="Arial" pitchFamily="34" charset="0"/>
                <a:ea typeface="Arial" pitchFamily="34" charset="-122"/>
                <a:cs typeface="Arial" pitchFamily="34" charset="-120"/>
              </a:rPr>
              <a:t>à l'API programmatique, car les deux passent par le même moteur Catalyst.</a:t>
            </a:r>
            <a:endParaRPr lang="en-US" sz="2025" dirty="0"/>
          </a:p>
        </p:txBody>
      </p:sp>
      <p:sp>
        <p:nvSpPr>
          <p:cNvPr id="7" name="Text 5"/>
          <p:cNvSpPr/>
          <p:nvPr/>
        </p:nvSpPr>
        <p:spPr>
          <a:xfrm>
            <a:off x="1435100" y="8737602"/>
            <a:ext cx="7413657" cy="3810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8EA0B5"/>
                </a:solidFill>
                <a:latin typeface="Arial" pitchFamily="34" charset="0"/>
                <a:ea typeface="Arial" pitchFamily="34" charset="-122"/>
                <a:cs typeface="Arial" pitchFamily="34" charset="-120"/>
              </a:rPr>
              <a:t>Le choix API / SQL est une question de préférence et de lisibilité.</a:t>
            </a:r>
            <a:endParaRPr lang="en-US" sz="1800" dirty="0"/>
          </a:p>
        </p:txBody>
      </p:sp>
      <p:sp>
        <p:nvSpPr>
          <p:cNvPr id="8" name="Shape 6"/>
          <p:cNvSpPr/>
          <p:nvPr/>
        </p:nvSpPr>
        <p:spPr>
          <a:xfrm>
            <a:off x="9286875" y="2407698"/>
            <a:ext cx="7934325" cy="7062292"/>
          </a:xfrm>
          <a:prstGeom prst="roundRect">
            <a:avLst>
              <a:gd name="adj" fmla="val 2428"/>
            </a:avLst>
          </a:prstGeom>
          <a:solidFill>
            <a:srgbClr val="FFFFFF">
              <a:alpha val="3000"/>
            </a:srgbClr>
          </a:solidFill>
          <a:ln w="6350">
            <a:solidFill>
              <a:srgbClr val="FFFFFF">
                <a:alpha val="10000"/>
              </a:srgbClr>
            </a:solidFill>
            <a:prstDash val="solid"/>
          </a:ln>
        </p:spPr>
      </p:sp>
      <p:sp>
        <p:nvSpPr>
          <p:cNvPr id="9" name="Text 7"/>
          <p:cNvSpPr/>
          <p:nvPr/>
        </p:nvSpPr>
        <p:spPr>
          <a:xfrm>
            <a:off x="9655175" y="2795048"/>
            <a:ext cx="7917498" cy="412750"/>
          </a:xfrm>
          <a:prstGeom prst="rect">
            <a:avLst/>
          </a:prstGeom>
          <a:noFill/>
          <a:ln/>
        </p:spPr>
        <p:txBody>
          <a:bodyPr wrap="square" lIns="25400" tIns="25400" rIns="25400" bIns="25400" rtlCol="0" anchor="t">
            <a:normAutofit/>
          </a:bodyPr>
          <a:lstStyle/>
          <a:p>
            <a:pPr algn="l" indent="0" marL="0">
              <a:buNone/>
            </a:pPr>
            <a:r>
              <a:rPr lang="en-US" sz="2550" b="1" dirty="0">
                <a:solidFill>
                  <a:srgbClr val="B897F0">
                    <a:alpha val="99000"/>
                  </a:srgbClr>
                </a:solidFill>
                <a:latin typeface="Arial" pitchFamily="34" charset="0"/>
                <a:ea typeface="Arial" pitchFamily="34" charset="-122"/>
                <a:cs typeface="Arial" pitchFamily="34" charset="-120"/>
              </a:rPr>
              <a:t>Le métastore</a:t>
            </a:r>
            <a:endParaRPr lang="en-US" sz="2550" dirty="0"/>
          </a:p>
        </p:txBody>
      </p:sp>
      <p:sp>
        <p:nvSpPr>
          <p:cNvPr id="10" name="Text 8"/>
          <p:cNvSpPr/>
          <p:nvPr/>
        </p:nvSpPr>
        <p:spPr>
          <a:xfrm>
            <a:off x="9655175" y="3322098"/>
            <a:ext cx="7413657" cy="809625"/>
          </a:xfrm>
          <a:prstGeom prst="rect">
            <a:avLst/>
          </a:prstGeom>
          <a:noFill/>
          <a:ln/>
        </p:spPr>
        <p:txBody>
          <a:bodyPr wrap="square" lIns="25400" tIns="25400" rIns="25400" bIns="25400" rtlCol="0" anchor="t">
            <a:normAutofit/>
          </a:bodyPr>
          <a:lstStyle/>
          <a:p>
            <a:pPr algn="l" indent="0" marL="0">
              <a:lnSpc>
                <a:spcPct val="129255"/>
              </a:lnSpc>
              <a:buNone/>
            </a:pPr>
            <a:r>
              <a:rPr lang="en-US" sz="2025" dirty="0">
                <a:solidFill>
                  <a:srgbClr val="8EA0B5">
                    <a:alpha val="99000"/>
                  </a:srgbClr>
                </a:solidFill>
                <a:latin typeface="Arial" pitchFamily="34" charset="0"/>
                <a:ea typeface="Arial" pitchFamily="34" charset="-122"/>
                <a:cs typeface="Arial" pitchFamily="34" charset="-120"/>
              </a:rPr>
              <a:t>Un catalogue centralisé : noms de tables, colonnes, types, emplacement physique, format de stockage.</a:t>
            </a:r>
            <a:endParaRPr lang="en-US" sz="2025" dirty="0"/>
          </a:p>
        </p:txBody>
      </p:sp>
      <p:sp>
        <p:nvSpPr>
          <p:cNvPr id="11" name="Shape 9"/>
          <p:cNvSpPr/>
          <p:nvPr/>
        </p:nvSpPr>
        <p:spPr>
          <a:xfrm>
            <a:off x="9655175" y="4303173"/>
            <a:ext cx="7197725" cy="1117600"/>
          </a:xfrm>
          <a:prstGeom prst="roundRect">
            <a:avLst>
              <a:gd name="adj" fmla="val 10227"/>
            </a:avLst>
          </a:prstGeom>
          <a:solidFill>
            <a:srgbClr val="06090E">
              <a:alpha val="99000"/>
            </a:srgbClr>
          </a:solidFill>
          <a:ln w="6350">
            <a:solidFill>
              <a:srgbClr val="FFFFFF">
                <a:alpha val="10000"/>
              </a:srgbClr>
            </a:solidFill>
            <a:prstDash val="solid"/>
          </a:ln>
        </p:spPr>
      </p:sp>
      <p:sp>
        <p:nvSpPr>
          <p:cNvPr id="12" name="Text 10"/>
          <p:cNvSpPr/>
          <p:nvPr/>
        </p:nvSpPr>
        <p:spPr>
          <a:xfrm>
            <a:off x="9890125" y="4519073"/>
            <a:ext cx="6943757" cy="723900"/>
          </a:xfrm>
          <a:prstGeom prst="rect">
            <a:avLst/>
          </a:prstGeom>
          <a:noFill/>
          <a:ln/>
        </p:spPr>
        <p:txBody>
          <a:bodyPr wrap="square" lIns="25400" tIns="25400" rIns="25400" bIns="25400" rtlCol="0" anchor="t">
            <a:normAutofit/>
          </a:bodyPr>
          <a:lstStyle/>
          <a:p>
            <a:pPr algn="l" indent="0" marL="0">
              <a:lnSpc>
                <a:spcPct val="131707"/>
              </a:lnSpc>
              <a:buNone/>
            </a:pPr>
            <a:r>
              <a:rPr lang="en-US" sz="1800" dirty="0">
                <a:solidFill>
                  <a:srgbClr val="8EA0B5">
                    <a:alpha val="99000"/>
                  </a:srgbClr>
                </a:solidFill>
                <a:highlight>
                  <a:srgbClr val="06090E"/>
                </a:highlight>
                <a:latin typeface="Courier New" pitchFamily="34" charset="0"/>
                <a:ea typeface="Courier New" pitchFamily="34" charset="-122"/>
                <a:cs typeface="Courier New" pitchFamily="34" charset="-120"/>
              </a:rPr>
              <a:t>« La table </a:t>
            </a:r>
            <a:pPr algn="l" indent="0" marL="0">
              <a:lnSpc>
                <a:spcPct val="131707"/>
              </a:lnSpc>
              <a:buNone/>
            </a:pPr>
            <a:r>
              <a:rPr lang="en-US" sz="1800" dirty="0">
                <a:solidFill>
                  <a:srgbClr val="B897F0">
                    <a:alpha val="99000"/>
                  </a:srgbClr>
                </a:solidFill>
                <a:latin typeface="Courier New" pitchFamily="34" charset="0"/>
                <a:ea typeface="Courier New" pitchFamily="34" charset="-122"/>
                <a:cs typeface="Courier New" pitchFamily="34" charset="-120"/>
              </a:rPr>
              <a:t>purchases </a:t>
            </a:r>
            <a:pPr algn="l" indent="0" marL="0">
              <a:lnSpc>
                <a:spcPct val="131707"/>
              </a:lnSpc>
              <a:buNone/>
            </a:pPr>
            <a:r>
              <a:rPr lang="en-US" sz="1800" dirty="0">
                <a:solidFill>
                  <a:srgbClr val="8EA0B5">
                    <a:alpha val="99000"/>
                  </a:srgbClr>
                </a:solidFill>
                <a:highlight>
                  <a:srgbClr val="06090E"/>
                </a:highlight>
                <a:latin typeface="Courier New" pitchFamily="34" charset="0"/>
                <a:ea typeface="Courier New" pitchFamily="34" charset="-122"/>
                <a:cs typeface="Courier New" pitchFamily="34" charset="-120"/>
              </a:rPr>
              <a:t>existe, ses colonnes sont pdate, ptime, store… et ses fichiers sont ici. »</a:t>
            </a:r>
            <a:endParaRPr lang="en-US" sz="1800" dirty="0"/>
          </a:p>
        </p:txBody>
      </p:sp>
      <p:sp>
        <p:nvSpPr>
          <p:cNvPr id="13" name="Text 11"/>
          <p:cNvSpPr/>
          <p:nvPr/>
        </p:nvSpPr>
        <p:spPr>
          <a:xfrm>
            <a:off x="9655175" y="8485740"/>
            <a:ext cx="7413657" cy="6350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alpha val="99000"/>
                  </a:srgbClr>
                </a:solidFill>
                <a:latin typeface="Arial" pitchFamily="34" charset="0"/>
                <a:ea typeface="Arial" pitchFamily="34" charset="-122"/>
                <a:cs typeface="Arial" pitchFamily="34" charset="-120"/>
              </a:rPr>
              <a:t>Introduit par Hive (Hive Metastore, atelier 5.1), réutilisé par Spark SQL.</a:t>
            </a:r>
            <a:endParaRPr lang="en-US" sz="18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0A0E15"/>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B897F0">
                    <a:alpha val="97000"/>
                  </a:srgbClr>
                </a:solidFill>
                <a:latin typeface="Courier New" pitchFamily="34" charset="0"/>
                <a:ea typeface="Courier New" pitchFamily="34" charset="-122"/>
                <a:cs typeface="Courier New" pitchFamily="34" charset="-120"/>
              </a:rPr>
              <a:t>ATELIER 5.2 · PRATIQUE</a:t>
            </a:r>
            <a:endParaRPr lang="en-US" sz="1800" dirty="0"/>
          </a:p>
        </p:txBody>
      </p:sp>
      <p:sp>
        <p:nvSpPr>
          <p:cNvPr id="3" name="Text 1"/>
          <p:cNvSpPr/>
          <p:nvPr/>
        </p:nvSpPr>
        <p:spPr>
          <a:xfrm>
            <a:off x="1066800" y="1314451"/>
            <a:ext cx="11933873"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Les mêmes questions en Spark SQL</a:t>
            </a:r>
            <a:endParaRPr lang="en-US" sz="4800" dirty="0"/>
          </a:p>
        </p:txBody>
      </p:sp>
      <p:sp>
        <p:nvSpPr>
          <p:cNvPr id="4" name="Shape 2"/>
          <p:cNvSpPr/>
          <p:nvPr/>
        </p:nvSpPr>
        <p:spPr>
          <a:xfrm>
            <a:off x="1066800" y="2291260"/>
            <a:ext cx="9503371" cy="7176592"/>
          </a:xfrm>
          <a:prstGeom prst="roundRect">
            <a:avLst>
              <a:gd name="adj" fmla="val 2124"/>
            </a:avLst>
          </a:prstGeom>
          <a:solidFill>
            <a:srgbClr val="06090E"/>
          </a:solidFill>
          <a:ln w="6350">
            <a:solidFill>
              <a:srgbClr val="FFFFFF">
                <a:alpha val="10000"/>
              </a:srgbClr>
            </a:solidFill>
            <a:prstDash val="solid"/>
          </a:ln>
        </p:spPr>
      </p:sp>
      <p:sp>
        <p:nvSpPr>
          <p:cNvPr id="5" name="Shape 3"/>
          <p:cNvSpPr/>
          <p:nvPr/>
        </p:nvSpPr>
        <p:spPr>
          <a:xfrm>
            <a:off x="1073150" y="2907210"/>
            <a:ext cx="9490671" cy="9525"/>
          </a:xfrm>
          <a:prstGeom prst="rect">
            <a:avLst/>
          </a:prstGeom>
          <a:solidFill>
            <a:srgbClr val="FFFFFF">
              <a:alpha val="6000"/>
            </a:srgbClr>
          </a:solidFill>
          <a:ln/>
        </p:spPr>
      </p:sp>
      <p:sp>
        <p:nvSpPr>
          <p:cNvPr id="6" name="Text 4"/>
          <p:cNvSpPr/>
          <p:nvPr/>
        </p:nvSpPr>
        <p:spPr>
          <a:xfrm>
            <a:off x="1301750" y="2450010"/>
            <a:ext cx="931819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solidFill>
                <a:latin typeface="Courier New" pitchFamily="34" charset="0"/>
                <a:ea typeface="Courier New" pitchFamily="34" charset="-122"/>
                <a:cs typeface="Courier New" pitchFamily="34" charset="-120"/>
              </a:rPr>
              <a:t>spark.sql — vue temporaire + requête</a:t>
            </a:r>
            <a:endParaRPr lang="en-US" sz="1800" dirty="0"/>
          </a:p>
        </p:txBody>
      </p:sp>
      <p:sp>
        <p:nvSpPr>
          <p:cNvPr id="7" name="Text 5"/>
          <p:cNvSpPr/>
          <p:nvPr/>
        </p:nvSpPr>
        <p:spPr>
          <a:xfrm>
            <a:off x="1358900" y="3161210"/>
            <a:ext cx="9203891" cy="3146425"/>
          </a:xfrm>
          <a:prstGeom prst="rect">
            <a:avLst/>
          </a:prstGeom>
          <a:noFill/>
          <a:ln/>
        </p:spPr>
        <p:txBody>
          <a:bodyPr wrap="none" lIns="25400" tIns="25400" rIns="25400" bIns="25400" rtlCol="0" anchor="t">
            <a:normAutofit/>
          </a:bodyPr>
          <a:lstStyle/>
          <a:p>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df.</a:t>
            </a:r>
            <a:pPr algn="l" indent="0" marL="0">
              <a:lnSpc>
                <a:spcPct val="149268"/>
              </a:lnSpc>
              <a:buNone/>
            </a:pPr>
            <a:r>
              <a:rPr lang="en-US" sz="1800" dirty="0">
                <a:solidFill>
                  <a:srgbClr val="56DBDB"/>
                </a:solidFill>
                <a:latin typeface="Courier New" pitchFamily="34" charset="0"/>
                <a:ea typeface="Courier New" pitchFamily="34" charset="-122"/>
                <a:cs typeface="Courier New" pitchFamily="34" charset="-120"/>
              </a:rPr>
              <a:t>createOrReplaceTempView</a:t>
            </a:r>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a:t>
            </a:r>
            <a:pPr algn="l" indent="0" marL="0">
              <a:lnSpc>
                <a:spcPct val="149268"/>
              </a:lnSpc>
              <a:buNone/>
            </a:pPr>
            <a:r>
              <a:rPr lang="en-US" sz="1800" dirty="0">
                <a:solidFill>
                  <a:srgbClr val="FFB46E"/>
                </a:solidFill>
                <a:latin typeface="Courier New" pitchFamily="34" charset="0"/>
                <a:ea typeface="Courier New" pitchFamily="34" charset="-122"/>
                <a:cs typeface="Courier New" pitchFamily="34" charset="-120"/>
              </a:rPr>
              <a:t>"purchases" </a:t>
            </a:r>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a:t>
            </a:r>
            <a:endParaRPr lang="en-US" sz="1800" dirty="0"/>
          </a:p>
          <a:p>
            <a:pPr algn="l" indent="0" marL="0">
              <a:lnSpc>
                <a:spcPct val="149268"/>
              </a:lnSpc>
              <a:buNone/>
            </a:pPr>
            <a:endParaRPr lang="en-US" sz="1800" dirty="0"/>
          </a:p>
          <a:p>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spark. </a:t>
            </a:r>
            <a:endParaRPr lang="en-US" sz="1800" dirty="0"/>
          </a:p>
          <a:p>
            <a:pPr algn="l" indent="0" marL="0">
              <a:lnSpc>
                <a:spcPct val="149268"/>
              </a:lnSpc>
              <a:buNone/>
            </a:pPr>
            <a:r>
              <a:rPr lang="en-US" sz="1800" dirty="0">
                <a:solidFill>
                  <a:srgbClr val="56DBDB"/>
                </a:solidFill>
                <a:latin typeface="Courier New" pitchFamily="34" charset="0"/>
                <a:ea typeface="Courier New" pitchFamily="34" charset="-122"/>
                <a:cs typeface="Courier New" pitchFamily="34" charset="-120"/>
              </a:rPr>
              <a:t>sql</a:t>
            </a:r>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 </a:t>
            </a:r>
            <a:pPr algn="l" indent="0" marL="0">
              <a:lnSpc>
                <a:spcPct val="149268"/>
              </a:lnSpc>
              <a:buNone/>
            </a:pPr>
            <a:r>
              <a:rPr lang="en-US" sz="1800" dirty="0">
                <a:solidFill>
                  <a:srgbClr val="FFB46E"/>
                </a:solidFill>
                <a:latin typeface="Courier New" pitchFamily="34" charset="0"/>
                <a:ea typeface="Courier New" pitchFamily="34" charset="-122"/>
                <a:cs typeface="Courier New" pitchFamily="34" charset="-120"/>
              </a:rPr>
              <a:t>"""</a:t>
            </a:r>
            <a:endParaRPr lang="en-US" sz="1800" dirty="0"/>
          </a:p>
          <a:p>
            <a:pPr algn="l" indent="0" marL="0">
              <a:lnSpc>
                <a:spcPct val="149268"/>
              </a:lnSpc>
              <a:buNone/>
            </a:pPr>
            <a:r>
              <a:rPr lang="en-US" sz="1800" dirty="0">
                <a:solidFill>
                  <a:srgbClr val="FFB46E"/>
                </a:solidFill>
                <a:latin typeface="Courier New" pitchFamily="34" charset="0"/>
                <a:ea typeface="Courier New" pitchFamily="34" charset="-122"/>
                <a:cs typeface="Courier New" pitchFamily="34" charset="-120"/>
              </a:rPr>
              <a:t>  SELECT store, SUM(cost) AS total</a:t>
            </a:r>
            <a:endParaRPr lang="en-US" sz="1800" dirty="0"/>
          </a:p>
          <a:p>
            <a:pPr algn="l" indent="0" marL="0">
              <a:lnSpc>
                <a:spcPct val="149268"/>
              </a:lnSpc>
              <a:buNone/>
            </a:pPr>
            <a:r>
              <a:rPr lang="en-US" sz="1800" dirty="0">
                <a:solidFill>
                  <a:srgbClr val="FFB46E"/>
                </a:solidFill>
                <a:latin typeface="Courier New" pitchFamily="34" charset="0"/>
                <a:ea typeface="Courier New" pitchFamily="34" charset="-122"/>
                <a:cs typeface="Courier New" pitchFamily="34" charset="-120"/>
              </a:rPr>
              <a:t>  FROM purchases</a:t>
            </a:r>
            <a:endParaRPr lang="en-US" sz="1800" dirty="0"/>
          </a:p>
          <a:p>
            <a:pPr algn="l" indent="0" marL="0">
              <a:lnSpc>
                <a:spcPct val="149268"/>
              </a:lnSpc>
              <a:buNone/>
            </a:pPr>
            <a:r>
              <a:rPr lang="en-US" sz="1800" dirty="0">
                <a:solidFill>
                  <a:srgbClr val="FFB46E"/>
                </a:solidFill>
                <a:latin typeface="Courier New" pitchFamily="34" charset="0"/>
                <a:ea typeface="Courier New" pitchFamily="34" charset="-122"/>
                <a:cs typeface="Courier New" pitchFamily="34" charset="-120"/>
              </a:rPr>
              <a:t>  GROUP BY store</a:t>
            </a:r>
            <a:endParaRPr lang="en-US" sz="1800" dirty="0"/>
          </a:p>
          <a:p>
            <a:pPr algn="l" indent="0" marL="0">
              <a:lnSpc>
                <a:spcPct val="149268"/>
              </a:lnSpc>
              <a:buNone/>
            </a:pPr>
            <a:r>
              <a:rPr lang="en-US" sz="1800" dirty="0">
                <a:solidFill>
                  <a:srgbClr val="FFB46E"/>
                </a:solidFill>
                <a:latin typeface="Courier New" pitchFamily="34" charset="0"/>
                <a:ea typeface="Courier New" pitchFamily="34" charset="-122"/>
                <a:cs typeface="Courier New" pitchFamily="34" charset="-120"/>
              </a:rPr>
              <a:t>  ORDER BY total DESC</a:t>
            </a:r>
            <a:endParaRPr lang="en-US" sz="1800" dirty="0"/>
          </a:p>
          <a:p>
            <a:pPr algn="l" indent="0" marL="0">
              <a:lnSpc>
                <a:spcPct val="149268"/>
              </a:lnSpc>
              <a:buNone/>
            </a:pPr>
            <a:r>
              <a:rPr lang="en-US" sz="1800" dirty="0">
                <a:solidFill>
                  <a:srgbClr val="FFB46E"/>
                </a:solidFill>
                <a:latin typeface="Courier New" pitchFamily="34" charset="0"/>
                <a:ea typeface="Courier New" pitchFamily="34" charset="-122"/>
                <a:cs typeface="Courier New" pitchFamily="34" charset="-120"/>
              </a:rPr>
              <a:t>""" </a:t>
            </a:r>
            <a:endParaRPr lang="en-US" sz="1800" dirty="0"/>
          </a:p>
          <a:p>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a:t>
            </a:r>
            <a:pPr algn="l" indent="0" marL="0">
              <a:lnSpc>
                <a:spcPct val="149268"/>
              </a:lnSpc>
              <a:buNone/>
            </a:pPr>
            <a:r>
              <a:rPr lang="en-US" sz="1800" dirty="0">
                <a:solidFill>
                  <a:srgbClr val="56DBDB"/>
                </a:solidFill>
                <a:latin typeface="Courier New" pitchFamily="34" charset="0"/>
                <a:ea typeface="Courier New" pitchFamily="34" charset="-122"/>
                <a:cs typeface="Courier New" pitchFamily="34" charset="-120"/>
              </a:rPr>
              <a:t>show</a:t>
            </a:r>
            <a:pPr algn="l" indent="0" marL="0">
              <a:lnSpc>
                <a:spcPct val="149268"/>
              </a:lnSpc>
              <a:buNone/>
            </a:pPr>
            <a:r>
              <a:rPr lang="en-US" sz="1800" dirty="0">
                <a:solidFill>
                  <a:srgbClr val="CDD7E3"/>
                </a:solidFill>
                <a:latin typeface="Courier New" pitchFamily="34" charset="0"/>
                <a:ea typeface="Courier New" pitchFamily="34" charset="-122"/>
                <a:cs typeface="Courier New" pitchFamily="34" charset="-120"/>
              </a:rPr>
              <a:t>()</a:t>
            </a:r>
            <a:endParaRPr lang="en-US" sz="1800" dirty="0"/>
          </a:p>
        </p:txBody>
      </p:sp>
      <p:sp>
        <p:nvSpPr>
          <p:cNvPr id="8" name="Text 6"/>
          <p:cNvSpPr/>
          <p:nvPr/>
        </p:nvSpPr>
        <p:spPr>
          <a:xfrm>
            <a:off x="10894021" y="5074643"/>
            <a:ext cx="283170" cy="374650"/>
          </a:xfrm>
          <a:prstGeom prst="rect">
            <a:avLst/>
          </a:prstGeom>
          <a:noFill/>
          <a:ln/>
        </p:spPr>
        <p:txBody>
          <a:bodyPr wrap="square" lIns="25400" tIns="25400" rIns="25400" bIns="25400" rtlCol="0" anchor="t">
            <a:normAutofit/>
          </a:bodyPr>
          <a:lstStyle/>
          <a:p>
            <a:pPr algn="l" indent="0" marL="0">
              <a:buNone/>
            </a:pPr>
            <a:r>
              <a:rPr lang="en-US" sz="1950" dirty="0">
                <a:solidFill>
                  <a:srgbClr val="B897F0">
                    <a:alpha val="82000"/>
                  </a:srgbClr>
                </a:solidFill>
                <a:latin typeface="Arial" pitchFamily="34" charset="0"/>
                <a:ea typeface="Arial" pitchFamily="34" charset="-122"/>
                <a:cs typeface="Arial" pitchFamily="34" charset="-120"/>
              </a:rPr>
              <a:t>▸</a:t>
            </a:r>
            <a:endParaRPr lang="en-US" sz="1950" dirty="0"/>
          </a:p>
        </p:txBody>
      </p:sp>
      <p:sp>
        <p:nvSpPr>
          <p:cNvPr id="9" name="Text 7"/>
          <p:cNvSpPr/>
          <p:nvPr/>
        </p:nvSpPr>
        <p:spPr>
          <a:xfrm>
            <a:off x="11234341" y="5074643"/>
            <a:ext cx="6166465" cy="728663"/>
          </a:xfrm>
          <a:prstGeom prst="rect">
            <a:avLst/>
          </a:prstGeom>
          <a:noFill/>
          <a:ln/>
        </p:spPr>
        <p:txBody>
          <a:bodyPr wrap="square" lIns="25400" tIns="25400" rIns="25400" bIns="25400" rtlCol="0" anchor="t">
            <a:normAutofit/>
          </a:bodyPr>
          <a:lstStyle/>
          <a:p>
            <a:pPr algn="l" indent="0" marL="0">
              <a:lnSpc>
                <a:spcPct val="126453"/>
              </a:lnSpc>
              <a:buNone/>
            </a:pPr>
            <a:r>
              <a:rPr lang="en-US" sz="1800" dirty="0">
                <a:solidFill>
                  <a:srgbClr val="EEF3F9">
                    <a:alpha val="82000"/>
                  </a:srgbClr>
                </a:solidFill>
                <a:latin typeface="Courier New" pitchFamily="34" charset="0"/>
                <a:ea typeface="Courier New" pitchFamily="34" charset="-122"/>
                <a:cs typeface="Courier New" pitchFamily="34" charset="-120"/>
              </a:rPr>
              <a:t>createOrReplaceTempView </a:t>
            </a:r>
            <a:pPr algn="l" indent="0" marL="0">
              <a:lnSpc>
                <a:spcPct val="126453"/>
              </a:lnSpc>
              <a:buNone/>
            </a:pPr>
            <a:r>
              <a:rPr lang="en-US" sz="1875" dirty="0">
                <a:solidFill>
                  <a:srgbClr val="8EA0B5">
                    <a:alpha val="82000"/>
                  </a:srgbClr>
                </a:solidFill>
                <a:latin typeface="Arial" pitchFamily="34" charset="0"/>
                <a:ea typeface="Arial" pitchFamily="34" charset="-122"/>
                <a:cs typeface="Arial" pitchFamily="34" charset="-120"/>
              </a:rPr>
              <a:t>enregistre le DataFrame comme table SQL</a:t>
            </a:r>
            <a:endParaRPr lang="en-US" sz="1875" dirty="0"/>
          </a:p>
        </p:txBody>
      </p:sp>
      <p:sp>
        <p:nvSpPr>
          <p:cNvPr id="10" name="Text 8"/>
          <p:cNvSpPr/>
          <p:nvPr/>
        </p:nvSpPr>
        <p:spPr>
          <a:xfrm>
            <a:off x="10894021" y="5993805"/>
            <a:ext cx="283170" cy="374650"/>
          </a:xfrm>
          <a:prstGeom prst="rect">
            <a:avLst/>
          </a:prstGeom>
          <a:noFill/>
          <a:ln/>
        </p:spPr>
        <p:txBody>
          <a:bodyPr wrap="square" lIns="25400" tIns="25400" rIns="25400" bIns="25400" rtlCol="0" anchor="t">
            <a:normAutofit/>
          </a:bodyPr>
          <a:lstStyle/>
          <a:p>
            <a:pPr algn="l" indent="0" marL="0">
              <a:buNone/>
            </a:pPr>
            <a:r>
              <a:rPr lang="en-US" sz="1950" dirty="0">
                <a:solidFill>
                  <a:srgbClr val="B897F0">
                    <a:alpha val="82000"/>
                  </a:srgbClr>
                </a:solidFill>
                <a:latin typeface="Arial" pitchFamily="34" charset="0"/>
                <a:ea typeface="Arial" pitchFamily="34" charset="-122"/>
                <a:cs typeface="Arial" pitchFamily="34" charset="-120"/>
              </a:rPr>
              <a:t>▸</a:t>
            </a:r>
            <a:endParaRPr lang="en-US" sz="1950" dirty="0"/>
          </a:p>
        </p:txBody>
      </p:sp>
      <p:sp>
        <p:nvSpPr>
          <p:cNvPr id="11" name="Text 9"/>
          <p:cNvSpPr/>
          <p:nvPr/>
        </p:nvSpPr>
        <p:spPr>
          <a:xfrm>
            <a:off x="11234341" y="5993805"/>
            <a:ext cx="6166465" cy="728663"/>
          </a:xfrm>
          <a:prstGeom prst="rect">
            <a:avLst/>
          </a:prstGeom>
          <a:noFill/>
          <a:ln/>
        </p:spPr>
        <p:txBody>
          <a:bodyPr wrap="square" lIns="25400" tIns="25400" rIns="25400" bIns="25400" rtlCol="0" anchor="t">
            <a:normAutofit/>
          </a:bodyPr>
          <a:lstStyle/>
          <a:p>
            <a:pPr algn="l" indent="0" marL="0">
              <a:lnSpc>
                <a:spcPct val="126453"/>
              </a:lnSpc>
              <a:buNone/>
            </a:pPr>
            <a:r>
              <a:rPr lang="en-US" sz="1875" dirty="0">
                <a:solidFill>
                  <a:srgbClr val="8EA0B5">
                    <a:alpha val="82000"/>
                  </a:srgbClr>
                </a:solidFill>
                <a:latin typeface="Arial" pitchFamily="34" charset="0"/>
                <a:ea typeface="Arial" pitchFamily="34" charset="-122"/>
                <a:cs typeface="Arial" pitchFamily="34" charset="-120"/>
              </a:rPr>
              <a:t>Aucune connexion réseau ni serveur : tout tourne dans la session Spark</a:t>
            </a:r>
            <a:endParaRPr lang="en-US" sz="1875"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0C121C"/>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B897F0">
                    <a:alpha val="97000"/>
                  </a:srgbClr>
                </a:solidFill>
                <a:latin typeface="Courier New" pitchFamily="34" charset="0"/>
                <a:ea typeface="Courier New" pitchFamily="34" charset="-122"/>
                <a:cs typeface="Courier New" pitchFamily="34" charset="-120"/>
              </a:rPr>
              <a:t>ATELIER 5.2 · BONUS</a:t>
            </a:r>
            <a:endParaRPr lang="en-US" sz="1800" dirty="0"/>
          </a:p>
        </p:txBody>
      </p:sp>
      <p:sp>
        <p:nvSpPr>
          <p:cNvPr id="3" name="Text 1"/>
          <p:cNvSpPr/>
          <p:nvPr/>
        </p:nvSpPr>
        <p:spPr>
          <a:xfrm>
            <a:off x="1066800" y="1314451"/>
            <a:ext cx="12679740" cy="692844"/>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Croiser deux dimensions : </a:t>
            </a:r>
            <a:pPr algn="l" indent="0" marL="0">
              <a:lnSpc>
                <a:spcPct val="90764"/>
              </a:lnSpc>
              <a:buNone/>
            </a:pPr>
            <a:r>
              <a:rPr lang="en-US" sz="3900" b="1" spc="-96" kern="0" dirty="0">
                <a:solidFill>
                  <a:srgbClr val="B897F0"/>
                </a:solidFill>
                <a:latin typeface="Courier New" pitchFamily="34" charset="0"/>
                <a:ea typeface="Courier New" pitchFamily="34" charset="-122"/>
                <a:cs typeface="Courier New" pitchFamily="34" charset="-120"/>
              </a:rPr>
              <a:t>PIVOT</a:t>
            </a:r>
            <a:endParaRPr lang="en-US" sz="4800" dirty="0"/>
          </a:p>
        </p:txBody>
      </p:sp>
      <p:sp>
        <p:nvSpPr>
          <p:cNvPr id="4" name="Shape 2"/>
          <p:cNvSpPr/>
          <p:nvPr/>
        </p:nvSpPr>
        <p:spPr>
          <a:xfrm>
            <a:off x="1066800" y="2293046"/>
            <a:ext cx="8640663" cy="7174806"/>
          </a:xfrm>
          <a:prstGeom prst="roundRect">
            <a:avLst>
              <a:gd name="adj" fmla="val 2124"/>
            </a:avLst>
          </a:prstGeom>
          <a:solidFill>
            <a:srgbClr val="06090E"/>
          </a:solidFill>
          <a:ln w="6350">
            <a:solidFill>
              <a:srgbClr val="FFFFFF">
                <a:alpha val="10000"/>
              </a:srgbClr>
            </a:solidFill>
            <a:prstDash val="solid"/>
          </a:ln>
        </p:spPr>
      </p:sp>
      <p:sp>
        <p:nvSpPr>
          <p:cNvPr id="5" name="Shape 3"/>
          <p:cNvSpPr/>
          <p:nvPr/>
        </p:nvSpPr>
        <p:spPr>
          <a:xfrm>
            <a:off x="1073150" y="2908996"/>
            <a:ext cx="8627963" cy="9525"/>
          </a:xfrm>
          <a:prstGeom prst="rect">
            <a:avLst/>
          </a:prstGeom>
          <a:solidFill>
            <a:srgbClr val="FFFFFF">
              <a:alpha val="6000"/>
            </a:srgbClr>
          </a:solidFill>
          <a:ln/>
        </p:spPr>
      </p:sp>
      <p:sp>
        <p:nvSpPr>
          <p:cNvPr id="6" name="Text 4"/>
          <p:cNvSpPr/>
          <p:nvPr/>
        </p:nvSpPr>
        <p:spPr>
          <a:xfrm>
            <a:off x="1301750" y="2451796"/>
            <a:ext cx="8429602"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solidFill>
                <a:latin typeface="Courier New" pitchFamily="34" charset="0"/>
                <a:ea typeface="Courier New" pitchFamily="34" charset="-122"/>
                <a:cs typeface="Courier New" pitchFamily="34" charset="-120"/>
              </a:rPr>
              <a:t>ventes par magasin × mode de paiement</a:t>
            </a:r>
            <a:endParaRPr lang="en-US" sz="1800" dirty="0"/>
          </a:p>
        </p:txBody>
      </p:sp>
      <p:sp>
        <p:nvSpPr>
          <p:cNvPr id="7" name="Text 5"/>
          <p:cNvSpPr/>
          <p:nvPr/>
        </p:nvSpPr>
        <p:spPr>
          <a:xfrm>
            <a:off x="1339850" y="3143946"/>
            <a:ext cx="8353402" cy="4061024"/>
          </a:xfrm>
          <a:prstGeom prst="rect">
            <a:avLst/>
          </a:prstGeom>
          <a:noFill/>
          <a:ln/>
        </p:spPr>
        <p:txBody>
          <a:bodyPr wrap="none" lIns="25400" tIns="25400" rIns="25400" bIns="25400" rtlCol="0" anchor="t">
            <a:normAutofit/>
          </a:bodyPr>
          <a:lstStyle/>
          <a:p>
            <a:pPr algn="l" indent="0" marL="0">
              <a:lnSpc>
                <a:spcPct val="140488"/>
              </a:lnSpc>
              <a:buNone/>
            </a:pPr>
            <a:r>
              <a:rPr lang="en-US" sz="1800" dirty="0">
                <a:solidFill>
                  <a:srgbClr val="CDD7E3"/>
                </a:solidFill>
                <a:latin typeface="Courier New" pitchFamily="34" charset="0"/>
                <a:ea typeface="Courier New" pitchFamily="34" charset="-122"/>
                <a:cs typeface="Courier New" pitchFamily="34" charset="-120"/>
              </a:rPr>
              <a:t>spark.</a:t>
            </a:r>
            <a:pPr algn="l" indent="0" marL="0">
              <a:lnSpc>
                <a:spcPct val="140488"/>
              </a:lnSpc>
              <a:buNone/>
            </a:pPr>
            <a:r>
              <a:rPr lang="en-US" sz="1800" dirty="0">
                <a:solidFill>
                  <a:srgbClr val="56DBDB"/>
                </a:solidFill>
                <a:latin typeface="Courier New" pitchFamily="34" charset="0"/>
                <a:ea typeface="Courier New" pitchFamily="34" charset="-122"/>
                <a:cs typeface="Courier New" pitchFamily="34" charset="-120"/>
              </a:rPr>
              <a:t>sql</a:t>
            </a:r>
            <a:pPr algn="l" indent="0" marL="0">
              <a:lnSpc>
                <a:spcPct val="140488"/>
              </a:lnSpc>
              <a:buNone/>
            </a:pPr>
            <a:r>
              <a:rPr lang="en-US" sz="1800" dirty="0">
                <a:solidFill>
                  <a:srgbClr val="CDD7E3"/>
                </a:solidFill>
                <a:latin typeface="Courier New" pitchFamily="34" charset="0"/>
                <a:ea typeface="Courier New" pitchFamily="34" charset="-122"/>
                <a:cs typeface="Courier New" pitchFamily="34" charset="-120"/>
              </a:rPr>
              <a:t>( </a:t>
            </a:r>
            <a:pPr algn="l" indent="0" marL="0">
              <a:lnSpc>
                <a:spcPct val="140488"/>
              </a:lnSpc>
              <a:buNone/>
            </a:pPr>
            <a:r>
              <a:rPr lang="en-US" sz="1800" dirty="0">
                <a:solidFill>
                  <a:srgbClr val="FFB46E"/>
                </a:solidFill>
                <a:latin typeface="Courier New" pitchFamily="34" charset="0"/>
                <a:ea typeface="Courier New" pitchFamily="34" charset="-122"/>
                <a:cs typeface="Courier New" pitchFamily="34" charset="-120"/>
              </a:rPr>
              <a:t>"""</a:t>
            </a:r>
            <a:endParaRPr lang="en-US" sz="1800" dirty="0"/>
          </a:p>
          <a:p>
            <a:pPr algn="l" indent="0" marL="0">
              <a:lnSpc>
                <a:spcPct val="140488"/>
              </a:lnSpc>
              <a:buNone/>
            </a:pPr>
            <a:r>
              <a:rPr lang="en-US" sz="1800" dirty="0">
                <a:solidFill>
                  <a:srgbClr val="FFB46E"/>
                </a:solidFill>
                <a:latin typeface="Courier New" pitchFamily="34" charset="0"/>
                <a:ea typeface="Courier New" pitchFamily="34" charset="-122"/>
                <a:cs typeface="Courier New" pitchFamily="34" charset="-120"/>
              </a:rPr>
              <a:t>  SELECT * FROM (</a:t>
            </a:r>
            <a:endParaRPr lang="en-US" sz="1800" dirty="0"/>
          </a:p>
          <a:p>
            <a:pPr algn="l" indent="0" marL="0">
              <a:lnSpc>
                <a:spcPct val="140488"/>
              </a:lnSpc>
              <a:buNone/>
            </a:pPr>
            <a:r>
              <a:rPr lang="en-US" sz="1800" dirty="0">
                <a:solidFill>
                  <a:srgbClr val="FFB46E"/>
                </a:solidFill>
                <a:latin typeface="Courier New" pitchFamily="34" charset="0"/>
                <a:ea typeface="Courier New" pitchFamily="34" charset="-122"/>
                <a:cs typeface="Courier New" pitchFamily="34" charset="-120"/>
              </a:rPr>
              <a:t>    SELECT store, payment FROM purchases</a:t>
            </a:r>
            <a:endParaRPr lang="en-US" sz="1800" dirty="0"/>
          </a:p>
          <a:p>
            <a:pPr algn="l" indent="0" marL="0">
              <a:lnSpc>
                <a:spcPct val="140488"/>
              </a:lnSpc>
              <a:buNone/>
            </a:pPr>
            <a:r>
              <a:rPr lang="en-US" sz="1800" dirty="0">
                <a:solidFill>
                  <a:srgbClr val="FFB46E"/>
                </a:solidFill>
                <a:latin typeface="Courier New" pitchFamily="34" charset="0"/>
                <a:ea typeface="Courier New" pitchFamily="34" charset="-122"/>
                <a:cs typeface="Courier New" pitchFamily="34" charset="-120"/>
              </a:rPr>
              <a:t>  )</a:t>
            </a:r>
            <a:endParaRPr lang="en-US" sz="1800" dirty="0"/>
          </a:p>
          <a:p>
            <a:pPr algn="l" indent="0" marL="0">
              <a:lnSpc>
                <a:spcPct val="140488"/>
              </a:lnSpc>
              <a:buNone/>
            </a:pPr>
            <a:r>
              <a:rPr lang="en-US" sz="1800" dirty="0">
                <a:solidFill>
                  <a:srgbClr val="FFB46E"/>
                </a:solidFill>
                <a:latin typeface="Courier New" pitchFamily="34" charset="0"/>
                <a:ea typeface="Courier New" pitchFamily="34" charset="-122"/>
                <a:cs typeface="Courier New" pitchFamily="34" charset="-120"/>
              </a:rPr>
              <a:t>  PIVOT (</a:t>
            </a:r>
            <a:endParaRPr lang="en-US" sz="1800" dirty="0"/>
          </a:p>
          <a:p>
            <a:pPr algn="l" indent="0" marL="0">
              <a:lnSpc>
                <a:spcPct val="140488"/>
              </a:lnSpc>
              <a:buNone/>
            </a:pPr>
            <a:r>
              <a:rPr lang="en-US" sz="1800" dirty="0">
                <a:solidFill>
                  <a:srgbClr val="FFB46E"/>
                </a:solidFill>
                <a:latin typeface="Courier New" pitchFamily="34" charset="0"/>
                <a:ea typeface="Courier New" pitchFamily="34" charset="-122"/>
                <a:cs typeface="Courier New" pitchFamily="34" charset="-120"/>
              </a:rPr>
              <a:t>    COUNT(*) FOR payment IN (</a:t>
            </a:r>
            <a:endParaRPr lang="en-US" sz="1800" dirty="0"/>
          </a:p>
          <a:p>
            <a:pPr algn="l" indent="0" marL="0">
              <a:lnSpc>
                <a:spcPct val="140488"/>
              </a:lnSpc>
              <a:buNone/>
            </a:pPr>
            <a:r>
              <a:rPr lang="en-US" sz="1800" dirty="0">
                <a:solidFill>
                  <a:srgbClr val="FFB46E"/>
                </a:solidFill>
                <a:latin typeface="Courier New" pitchFamily="34" charset="0"/>
                <a:ea typeface="Courier New" pitchFamily="34" charset="-122"/>
                <a:cs typeface="Courier New" pitchFamily="34" charset="-120"/>
              </a:rPr>
              <a:t>      'Cash','Amex','Visa',</a:t>
            </a:r>
            <a:endParaRPr lang="en-US" sz="1800" dirty="0"/>
          </a:p>
          <a:p>
            <a:pPr algn="l" indent="0" marL="0">
              <a:lnSpc>
                <a:spcPct val="140488"/>
              </a:lnSpc>
              <a:buNone/>
            </a:pPr>
            <a:r>
              <a:rPr lang="en-US" sz="1800" dirty="0">
                <a:solidFill>
                  <a:srgbClr val="FFB46E"/>
                </a:solidFill>
                <a:latin typeface="Courier New" pitchFamily="34" charset="0"/>
                <a:ea typeface="Courier New" pitchFamily="34" charset="-122"/>
                <a:cs typeface="Courier New" pitchFamily="34" charset="-120"/>
              </a:rPr>
              <a:t>      'MasterCard','Discover')</a:t>
            </a:r>
            <a:endParaRPr lang="en-US" sz="1800" dirty="0"/>
          </a:p>
          <a:p>
            <a:pPr algn="l" indent="0" marL="0">
              <a:lnSpc>
                <a:spcPct val="140488"/>
              </a:lnSpc>
              <a:buNone/>
            </a:pPr>
            <a:r>
              <a:rPr lang="en-US" sz="1800" dirty="0">
                <a:solidFill>
                  <a:srgbClr val="FFB46E"/>
                </a:solidFill>
                <a:latin typeface="Courier New" pitchFamily="34" charset="0"/>
                <a:ea typeface="Courier New" pitchFamily="34" charset="-122"/>
                <a:cs typeface="Courier New" pitchFamily="34" charset="-120"/>
              </a:rPr>
              <a:t>  )</a:t>
            </a:r>
            <a:endParaRPr lang="en-US" sz="1800" dirty="0"/>
          </a:p>
          <a:p>
            <a:pPr algn="l" indent="0" marL="0">
              <a:lnSpc>
                <a:spcPct val="140488"/>
              </a:lnSpc>
              <a:buNone/>
            </a:pPr>
            <a:r>
              <a:rPr lang="en-US" sz="1800" dirty="0">
                <a:solidFill>
                  <a:srgbClr val="FFB46E"/>
                </a:solidFill>
                <a:latin typeface="Courier New" pitchFamily="34" charset="0"/>
                <a:ea typeface="Courier New" pitchFamily="34" charset="-122"/>
                <a:cs typeface="Courier New" pitchFamily="34" charset="-120"/>
              </a:rPr>
              <a:t>  ORDER BY store</a:t>
            </a:r>
            <a:endParaRPr lang="en-US" sz="1800" dirty="0"/>
          </a:p>
          <a:p>
            <a:pPr algn="l" indent="0" marL="0">
              <a:lnSpc>
                <a:spcPct val="140488"/>
              </a:lnSpc>
              <a:buNone/>
            </a:pPr>
            <a:r>
              <a:rPr lang="en-US" sz="1800" dirty="0">
                <a:solidFill>
                  <a:srgbClr val="FFB46E"/>
                </a:solidFill>
                <a:latin typeface="Courier New" pitchFamily="34" charset="0"/>
                <a:ea typeface="Courier New" pitchFamily="34" charset="-122"/>
                <a:cs typeface="Courier New" pitchFamily="34" charset="-120"/>
              </a:rPr>
              <a:t>""" </a:t>
            </a:r>
            <a:endParaRPr lang="en-US" sz="1800" dirty="0"/>
          </a:p>
          <a:p>
            <a:pPr algn="l" indent="0" marL="0">
              <a:lnSpc>
                <a:spcPct val="140488"/>
              </a:lnSpc>
              <a:buNone/>
            </a:pPr>
            <a:r>
              <a:rPr lang="en-US" sz="1800" dirty="0">
                <a:solidFill>
                  <a:srgbClr val="CDD7E3"/>
                </a:solidFill>
                <a:latin typeface="Courier New" pitchFamily="34" charset="0"/>
                <a:ea typeface="Courier New" pitchFamily="34" charset="-122"/>
                <a:cs typeface="Courier New" pitchFamily="34" charset="-120"/>
              </a:rPr>
              <a:t>).</a:t>
            </a:r>
            <a:pPr algn="l" indent="0" marL="0">
              <a:lnSpc>
                <a:spcPct val="140488"/>
              </a:lnSpc>
              <a:buNone/>
            </a:pPr>
            <a:r>
              <a:rPr lang="en-US" sz="1800" dirty="0">
                <a:solidFill>
                  <a:srgbClr val="56DBDB"/>
                </a:solidFill>
                <a:latin typeface="Courier New" pitchFamily="34" charset="0"/>
                <a:ea typeface="Courier New" pitchFamily="34" charset="-122"/>
                <a:cs typeface="Courier New" pitchFamily="34" charset="-120"/>
              </a:rPr>
              <a:t>show</a:t>
            </a:r>
            <a:pPr algn="l" indent="0" marL="0">
              <a:lnSpc>
                <a:spcPct val="140488"/>
              </a:lnSpc>
              <a:buNone/>
            </a:pPr>
            <a:r>
              <a:rPr lang="en-US" sz="1800" dirty="0">
                <a:solidFill>
                  <a:srgbClr val="CDD7E3"/>
                </a:solidFill>
                <a:latin typeface="Courier New" pitchFamily="34" charset="0"/>
                <a:ea typeface="Courier New" pitchFamily="34" charset="-122"/>
                <a:cs typeface="Courier New" pitchFamily="34" charset="-120"/>
              </a:rPr>
              <a:t>()</a:t>
            </a:r>
            <a:endParaRPr lang="en-US" sz="1800" dirty="0"/>
          </a:p>
        </p:txBody>
      </p:sp>
      <p:sp>
        <p:nvSpPr>
          <p:cNvPr id="8" name="Shape 6"/>
          <p:cNvSpPr/>
          <p:nvPr/>
        </p:nvSpPr>
        <p:spPr>
          <a:xfrm>
            <a:off x="10031313" y="4581583"/>
            <a:ext cx="7189887" cy="1739900"/>
          </a:xfrm>
          <a:prstGeom prst="roundRect">
            <a:avLst>
              <a:gd name="adj" fmla="val 7664"/>
            </a:avLst>
          </a:prstGeom>
          <a:solidFill>
            <a:srgbClr val="FFFFFF">
              <a:alpha val="3000"/>
            </a:srgbClr>
          </a:solidFill>
          <a:ln w="6350">
            <a:solidFill>
              <a:srgbClr val="FFFFFF">
                <a:alpha val="10000"/>
              </a:srgbClr>
            </a:solidFill>
            <a:prstDash val="solid"/>
          </a:ln>
        </p:spPr>
      </p:sp>
      <p:sp>
        <p:nvSpPr>
          <p:cNvPr id="9" name="Shape 7"/>
          <p:cNvSpPr/>
          <p:nvPr/>
        </p:nvSpPr>
        <p:spPr>
          <a:xfrm>
            <a:off x="10037664" y="5159432"/>
            <a:ext cx="7177187" cy="9525"/>
          </a:xfrm>
          <a:prstGeom prst="rect">
            <a:avLst/>
          </a:prstGeom>
          <a:solidFill>
            <a:srgbClr val="FFFFFF">
              <a:alpha val="10000"/>
            </a:srgbClr>
          </a:solidFill>
          <a:ln/>
        </p:spPr>
      </p:sp>
      <p:sp>
        <p:nvSpPr>
          <p:cNvPr id="10" name="Text 8"/>
          <p:cNvSpPr/>
          <p:nvPr/>
        </p:nvSpPr>
        <p:spPr>
          <a:xfrm>
            <a:off x="10228164" y="4721282"/>
            <a:ext cx="2135882"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alpha val="99000"/>
                  </a:srgbClr>
                </a:solidFill>
                <a:latin typeface="Courier New" pitchFamily="34" charset="0"/>
                <a:ea typeface="Courier New" pitchFamily="34" charset="-122"/>
                <a:cs typeface="Courier New" pitchFamily="34" charset="-120"/>
              </a:rPr>
              <a:t>Magasin</a:t>
            </a:r>
            <a:endParaRPr lang="en-US" sz="1800" dirty="0"/>
          </a:p>
        </p:txBody>
      </p:sp>
      <p:sp>
        <p:nvSpPr>
          <p:cNvPr id="11" name="Text 9"/>
          <p:cNvSpPr/>
          <p:nvPr/>
        </p:nvSpPr>
        <p:spPr>
          <a:xfrm>
            <a:off x="12169875" y="4721282"/>
            <a:ext cx="177997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alpha val="99000"/>
                  </a:srgbClr>
                </a:solidFill>
                <a:latin typeface="Courier New" pitchFamily="34" charset="0"/>
                <a:ea typeface="Courier New" pitchFamily="34" charset="-122"/>
                <a:cs typeface="Courier New" pitchFamily="34" charset="-120"/>
              </a:rPr>
              <a:t>Cash</a:t>
            </a:r>
            <a:endParaRPr lang="en-US" sz="1800" dirty="0"/>
          </a:p>
        </p:txBody>
      </p:sp>
      <p:sp>
        <p:nvSpPr>
          <p:cNvPr id="12" name="Text 10"/>
          <p:cNvSpPr/>
          <p:nvPr/>
        </p:nvSpPr>
        <p:spPr>
          <a:xfrm>
            <a:off x="13788033" y="4721282"/>
            <a:ext cx="177997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alpha val="99000"/>
                  </a:srgbClr>
                </a:solidFill>
                <a:latin typeface="Courier New" pitchFamily="34" charset="0"/>
                <a:ea typeface="Courier New" pitchFamily="34" charset="-122"/>
                <a:cs typeface="Courier New" pitchFamily="34" charset="-120"/>
              </a:rPr>
              <a:t>Visa</a:t>
            </a:r>
            <a:endParaRPr lang="en-US" sz="1800" dirty="0"/>
          </a:p>
        </p:txBody>
      </p:sp>
      <p:sp>
        <p:nvSpPr>
          <p:cNvPr id="13" name="Text 11"/>
          <p:cNvSpPr/>
          <p:nvPr/>
        </p:nvSpPr>
        <p:spPr>
          <a:xfrm>
            <a:off x="15406192" y="4721282"/>
            <a:ext cx="177997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alpha val="99000"/>
                  </a:srgbClr>
                </a:solidFill>
                <a:latin typeface="Courier New" pitchFamily="34" charset="0"/>
                <a:ea typeface="Courier New" pitchFamily="34" charset="-122"/>
                <a:cs typeface="Courier New" pitchFamily="34" charset="-120"/>
              </a:rPr>
              <a:t>Amex</a:t>
            </a:r>
            <a:endParaRPr lang="en-US" sz="1800" dirty="0"/>
          </a:p>
        </p:txBody>
      </p:sp>
      <p:sp>
        <p:nvSpPr>
          <p:cNvPr id="14" name="Shape 12"/>
          <p:cNvSpPr/>
          <p:nvPr/>
        </p:nvSpPr>
        <p:spPr>
          <a:xfrm>
            <a:off x="10037664" y="5737282"/>
            <a:ext cx="7177187" cy="9525"/>
          </a:xfrm>
          <a:prstGeom prst="rect">
            <a:avLst/>
          </a:prstGeom>
          <a:solidFill>
            <a:srgbClr val="FFFFFF">
              <a:alpha val="6000"/>
            </a:srgbClr>
          </a:solidFill>
          <a:ln/>
        </p:spPr>
      </p:sp>
      <p:sp>
        <p:nvSpPr>
          <p:cNvPr id="15" name="Text 13"/>
          <p:cNvSpPr/>
          <p:nvPr/>
        </p:nvSpPr>
        <p:spPr>
          <a:xfrm>
            <a:off x="10228164" y="5299132"/>
            <a:ext cx="2135882" cy="342900"/>
          </a:xfrm>
          <a:prstGeom prst="rect">
            <a:avLst/>
          </a:prstGeom>
          <a:noFill/>
          <a:ln/>
        </p:spPr>
        <p:txBody>
          <a:bodyPr wrap="square" lIns="25400" tIns="25400" rIns="25400" bIns="25400" rtlCol="0" anchor="t">
            <a:normAutofit/>
          </a:bodyPr>
          <a:lstStyle/>
          <a:p>
            <a:pPr algn="l" indent="0" marL="0">
              <a:buNone/>
            </a:pPr>
            <a:r>
              <a:rPr lang="en-US" sz="1800" dirty="0">
                <a:solidFill>
                  <a:srgbClr val="EEF3F9">
                    <a:alpha val="99000"/>
                  </a:srgbClr>
                </a:solidFill>
                <a:latin typeface="Courier New" pitchFamily="34" charset="0"/>
                <a:ea typeface="Courier New" pitchFamily="34" charset="-122"/>
                <a:cs typeface="Courier New" pitchFamily="34" charset="-120"/>
              </a:rPr>
              <a:t>Tampa</a:t>
            </a:r>
            <a:endParaRPr lang="en-US" sz="1800" dirty="0"/>
          </a:p>
        </p:txBody>
      </p:sp>
      <p:sp>
        <p:nvSpPr>
          <p:cNvPr id="16" name="Text 14"/>
          <p:cNvSpPr/>
          <p:nvPr/>
        </p:nvSpPr>
        <p:spPr>
          <a:xfrm>
            <a:off x="12169875" y="5299132"/>
            <a:ext cx="177997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EEF3F9">
                    <a:alpha val="99000"/>
                  </a:srgbClr>
                </a:solidFill>
                <a:latin typeface="Courier New" pitchFamily="34" charset="0"/>
                <a:ea typeface="Courier New" pitchFamily="34" charset="-122"/>
                <a:cs typeface="Courier New" pitchFamily="34" charset="-120"/>
              </a:rPr>
              <a:t>14368</a:t>
            </a:r>
            <a:endParaRPr lang="en-US" sz="1800" dirty="0"/>
          </a:p>
        </p:txBody>
      </p:sp>
      <p:sp>
        <p:nvSpPr>
          <p:cNvPr id="17" name="Text 15"/>
          <p:cNvSpPr/>
          <p:nvPr/>
        </p:nvSpPr>
        <p:spPr>
          <a:xfrm>
            <a:off x="13788033" y="5299132"/>
            <a:ext cx="177997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EEF3F9">
                    <a:alpha val="99000"/>
                  </a:srgbClr>
                </a:solidFill>
                <a:latin typeface="Courier New" pitchFamily="34" charset="0"/>
                <a:ea typeface="Courier New" pitchFamily="34" charset="-122"/>
                <a:cs typeface="Courier New" pitchFamily="34" charset="-120"/>
              </a:rPr>
              <a:t>3500</a:t>
            </a:r>
            <a:endParaRPr lang="en-US" sz="1800" dirty="0"/>
          </a:p>
        </p:txBody>
      </p:sp>
      <p:sp>
        <p:nvSpPr>
          <p:cNvPr id="18" name="Text 16"/>
          <p:cNvSpPr/>
          <p:nvPr/>
        </p:nvSpPr>
        <p:spPr>
          <a:xfrm>
            <a:off x="15406192" y="5299132"/>
            <a:ext cx="177997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EEF3F9">
                    <a:alpha val="99000"/>
                  </a:srgbClr>
                </a:solidFill>
                <a:latin typeface="Courier New" pitchFamily="34" charset="0"/>
                <a:ea typeface="Courier New" pitchFamily="34" charset="-122"/>
                <a:cs typeface="Courier New" pitchFamily="34" charset="-120"/>
              </a:rPr>
              <a:t>2000</a:t>
            </a:r>
            <a:endParaRPr lang="en-US" sz="1800" dirty="0"/>
          </a:p>
        </p:txBody>
      </p:sp>
      <p:sp>
        <p:nvSpPr>
          <p:cNvPr id="19" name="Text 17"/>
          <p:cNvSpPr/>
          <p:nvPr/>
        </p:nvSpPr>
        <p:spPr>
          <a:xfrm>
            <a:off x="10228164" y="5876983"/>
            <a:ext cx="2135882"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alpha val="99000"/>
                  </a:srgbClr>
                </a:solidFill>
                <a:latin typeface="Courier New" pitchFamily="34" charset="0"/>
                <a:ea typeface="Courier New" pitchFamily="34" charset="-122"/>
                <a:cs typeface="Courier New" pitchFamily="34" charset="-120"/>
              </a:rPr>
              <a:t>…</a:t>
            </a:r>
            <a:endParaRPr lang="en-US" sz="1800" dirty="0"/>
          </a:p>
        </p:txBody>
      </p:sp>
      <p:sp>
        <p:nvSpPr>
          <p:cNvPr id="20" name="Text 18"/>
          <p:cNvSpPr/>
          <p:nvPr/>
        </p:nvSpPr>
        <p:spPr>
          <a:xfrm>
            <a:off x="12169875" y="5876983"/>
            <a:ext cx="177997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alpha val="99000"/>
                  </a:srgbClr>
                </a:solidFill>
                <a:latin typeface="Courier New" pitchFamily="34" charset="0"/>
                <a:ea typeface="Courier New" pitchFamily="34" charset="-122"/>
                <a:cs typeface="Courier New" pitchFamily="34" charset="-120"/>
              </a:rPr>
              <a:t>…</a:t>
            </a:r>
            <a:endParaRPr lang="en-US" sz="1800" dirty="0"/>
          </a:p>
        </p:txBody>
      </p:sp>
      <p:sp>
        <p:nvSpPr>
          <p:cNvPr id="21" name="Text 19"/>
          <p:cNvSpPr/>
          <p:nvPr/>
        </p:nvSpPr>
        <p:spPr>
          <a:xfrm>
            <a:off x="13788033" y="5876983"/>
            <a:ext cx="177997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alpha val="99000"/>
                  </a:srgbClr>
                </a:solidFill>
                <a:latin typeface="Courier New" pitchFamily="34" charset="0"/>
                <a:ea typeface="Courier New" pitchFamily="34" charset="-122"/>
                <a:cs typeface="Courier New" pitchFamily="34" charset="-120"/>
              </a:rPr>
              <a:t>…</a:t>
            </a:r>
            <a:endParaRPr lang="en-US" sz="1800" dirty="0"/>
          </a:p>
        </p:txBody>
      </p:sp>
      <p:sp>
        <p:nvSpPr>
          <p:cNvPr id="22" name="Text 20"/>
          <p:cNvSpPr/>
          <p:nvPr/>
        </p:nvSpPr>
        <p:spPr>
          <a:xfrm>
            <a:off x="15406192" y="5876983"/>
            <a:ext cx="177997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alpha val="99000"/>
                  </a:srgbClr>
                </a:solidFill>
                <a:latin typeface="Courier New" pitchFamily="34" charset="0"/>
                <a:ea typeface="Courier New" pitchFamily="34" charset="-122"/>
                <a:cs typeface="Courier New" pitchFamily="34" charset="-120"/>
              </a:rPr>
              <a:t>…</a:t>
            </a:r>
            <a:endParaRPr lang="en-US" sz="1800" dirty="0"/>
          </a:p>
        </p:txBody>
      </p:sp>
      <p:sp>
        <p:nvSpPr>
          <p:cNvPr id="23" name="Text 21"/>
          <p:cNvSpPr/>
          <p:nvPr/>
        </p:nvSpPr>
        <p:spPr>
          <a:xfrm>
            <a:off x="10031313" y="6492933"/>
            <a:ext cx="7405583" cy="728663"/>
          </a:xfrm>
          <a:prstGeom prst="rect">
            <a:avLst/>
          </a:prstGeom>
          <a:noFill/>
          <a:ln/>
        </p:spPr>
        <p:txBody>
          <a:bodyPr wrap="square" lIns="25400" tIns="25400" rIns="25400" bIns="25400" rtlCol="0" anchor="t">
            <a:normAutofit/>
          </a:bodyPr>
          <a:lstStyle/>
          <a:p>
            <a:pPr algn="l" indent="0" marL="0">
              <a:lnSpc>
                <a:spcPct val="126453"/>
              </a:lnSpc>
              <a:buNone/>
            </a:pPr>
            <a:r>
              <a:rPr lang="en-US" sz="1875" dirty="0">
                <a:solidFill>
                  <a:srgbClr val="8EA0B5">
                    <a:alpha val="99000"/>
                  </a:srgbClr>
                </a:solidFill>
                <a:latin typeface="Arial" pitchFamily="34" charset="0"/>
                <a:ea typeface="Arial" pitchFamily="34" charset="-122"/>
                <a:cs typeface="Arial" pitchFamily="34" charset="-120"/>
              </a:rPr>
              <a:t>Le </a:t>
            </a:r>
            <a:pPr algn="l" indent="0" marL="0">
              <a:lnSpc>
                <a:spcPct val="126453"/>
              </a:lnSpc>
              <a:buNone/>
            </a:pPr>
            <a:r>
              <a:rPr lang="en-US" sz="1875" dirty="0">
                <a:solidFill>
                  <a:srgbClr val="EEF3F9">
                    <a:alpha val="99000"/>
                  </a:srgbClr>
                </a:solidFill>
                <a:latin typeface="Arial" pitchFamily="34" charset="0"/>
                <a:ea typeface="Arial" pitchFamily="34" charset="-122"/>
                <a:cs typeface="Arial" pitchFamily="34" charset="-120"/>
              </a:rPr>
              <a:t>PIVOT </a:t>
            </a:r>
            <a:pPr algn="l" indent="0" marL="0">
              <a:lnSpc>
                <a:spcPct val="126453"/>
              </a:lnSpc>
              <a:buNone/>
            </a:pPr>
            <a:r>
              <a:rPr lang="en-US" sz="1875" dirty="0">
                <a:solidFill>
                  <a:srgbClr val="8EA0B5">
                    <a:alpha val="99000"/>
                  </a:srgbClr>
                </a:solidFill>
                <a:latin typeface="Arial" pitchFamily="34" charset="0"/>
                <a:ea typeface="Arial" pitchFamily="34" charset="-122"/>
                <a:cs typeface="Arial" pitchFamily="34" charset="-120"/>
              </a:rPr>
              <a:t>transforme les valeurs de </a:t>
            </a:r>
            <a:pPr algn="l" indent="0" marL="0">
              <a:lnSpc>
                <a:spcPct val="126453"/>
              </a:lnSpc>
              <a:buNone/>
            </a:pPr>
            <a:r>
              <a:rPr lang="en-US" sz="1800" dirty="0">
                <a:solidFill>
                  <a:srgbClr val="8EA0B5">
                    <a:alpha val="99000"/>
                  </a:srgbClr>
                </a:solidFill>
                <a:latin typeface="Courier New" pitchFamily="34" charset="0"/>
                <a:ea typeface="Courier New" pitchFamily="34" charset="-122"/>
                <a:cs typeface="Courier New" pitchFamily="34" charset="-120"/>
              </a:rPr>
              <a:t>payment </a:t>
            </a:r>
            <a:pPr algn="l" indent="0" marL="0">
              <a:lnSpc>
                <a:spcPct val="126453"/>
              </a:lnSpc>
              <a:buNone/>
            </a:pPr>
            <a:r>
              <a:rPr lang="en-US" sz="1875" dirty="0">
                <a:solidFill>
                  <a:srgbClr val="8EA0B5">
                    <a:alpha val="99000"/>
                  </a:srgbClr>
                </a:solidFill>
                <a:latin typeface="Arial" pitchFamily="34" charset="0"/>
                <a:ea typeface="Arial" pitchFamily="34" charset="-122"/>
                <a:cs typeface="Arial" pitchFamily="34" charset="-120"/>
              </a:rPr>
              <a:t>en colonnes — élégant en SQL, plus verbeux en API DataFrame.</a:t>
            </a:r>
            <a:endParaRPr lang="en-US" sz="1875"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0C121C"/>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B895F1">
                  <a:alpha val="14000"/>
                </a:srgbClr>
              </a:gs>
              <a:gs pos="60000">
                <a:srgbClr val="B895F1">
                  <a:alpha val="0"/>
                </a:srgbClr>
              </a:gs>
            </a:gsLst>
            <a:path path="circle">
              <a:fillToRect l="50000" t="0" r="50000" b="100000"/>
            </a:path>
          </a:gradFill>
          <a:ln/>
        </p:spPr>
      </p:sp>
      <p:sp>
        <p:nvSpPr>
          <p:cNvPr id="3" name="Text 1"/>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B897F0">
                    <a:alpha val="97000"/>
                  </a:srgbClr>
                </a:solidFill>
                <a:latin typeface="Courier New" pitchFamily="34" charset="0"/>
                <a:ea typeface="Courier New" pitchFamily="34" charset="-122"/>
                <a:cs typeface="Courier New" pitchFamily="34" charset="-120"/>
              </a:rPr>
              <a:t>CHAPITRE 5 · SYNTHÈSE</a:t>
            </a:r>
            <a:endParaRPr lang="en-US" sz="1800" dirty="0"/>
          </a:p>
        </p:txBody>
      </p:sp>
      <p:sp>
        <p:nvSpPr>
          <p:cNvPr id="4" name="Text 2"/>
          <p:cNvSpPr/>
          <p:nvPr/>
        </p:nvSpPr>
        <p:spPr>
          <a:xfrm>
            <a:off x="1066800" y="1314451"/>
            <a:ext cx="17769840"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Un résultat, quatre méthodes</a:t>
            </a:r>
            <a:endParaRPr lang="en-US" sz="4800" dirty="0"/>
          </a:p>
        </p:txBody>
      </p:sp>
      <p:sp>
        <p:nvSpPr>
          <p:cNvPr id="5" name="Text 3"/>
          <p:cNvSpPr/>
          <p:nvPr/>
        </p:nvSpPr>
        <p:spPr>
          <a:xfrm>
            <a:off x="1066800" y="2157909"/>
            <a:ext cx="13185648" cy="921941"/>
          </a:xfrm>
          <a:prstGeom prst="rect">
            <a:avLst/>
          </a:prstGeom>
          <a:noFill/>
          <a:ln/>
        </p:spPr>
        <p:txBody>
          <a:bodyPr wrap="square" lIns="25400" tIns="25400" rIns="25400" bIns="25400" rtlCol="0" anchor="t">
            <a:normAutofit/>
          </a:bodyPr>
          <a:lstStyle/>
          <a:p>
            <a:pPr algn="l" indent="0" marL="0">
              <a:lnSpc>
                <a:spcPct val="126545"/>
              </a:lnSpc>
              <a:buNone/>
            </a:pPr>
            <a:r>
              <a:rPr lang="en-US" sz="2400" dirty="0">
                <a:solidFill>
                  <a:srgbClr val="8EA0B5">
                    <a:alpha val="91000"/>
                  </a:srgbClr>
                </a:solidFill>
                <a:latin typeface="Arial" pitchFamily="34" charset="0"/>
                <a:ea typeface="Arial" pitchFamily="34" charset="-122"/>
                <a:cs typeface="Arial" pitchFamily="34" charset="-120"/>
              </a:rPr>
              <a:t>La même question — </a:t>
            </a:r>
            <a:pPr algn="l" indent="0" marL="0">
              <a:lnSpc>
                <a:spcPct val="126545"/>
              </a:lnSpc>
              <a:buNone/>
            </a:pPr>
            <a:r>
              <a:rPr lang="en-US" sz="2400" dirty="0">
                <a:solidFill>
                  <a:srgbClr val="EEF3F9">
                    <a:alpha val="91000"/>
                  </a:srgbClr>
                </a:solidFill>
                <a:latin typeface="Arial" pitchFamily="34" charset="0"/>
                <a:ea typeface="Arial" pitchFamily="34" charset="-122"/>
                <a:cs typeface="Arial" pitchFamily="34" charset="-120"/>
              </a:rPr>
              <a:t>ventes par magasin </a:t>
            </a:r>
            <a:pPr algn="l" indent="0" marL="0">
              <a:lnSpc>
                <a:spcPct val="126545"/>
              </a:lnSpc>
              <a:buNone/>
            </a:pPr>
            <a:r>
              <a:rPr lang="en-US" sz="2400" dirty="0">
                <a:solidFill>
                  <a:srgbClr val="8EA0B5">
                    <a:alpha val="91000"/>
                  </a:srgbClr>
                </a:solidFill>
                <a:latin typeface="Arial" pitchFamily="34" charset="0"/>
                <a:ea typeface="Arial" pitchFamily="34" charset="-122"/>
                <a:cs typeface="Arial" pitchFamily="34" charset="-120"/>
              </a:rPr>
              <a:t>— sur le même fichier, exprimée de quatre façons pour un résultat identique.</a:t>
            </a:r>
            <a:endParaRPr lang="en-US" sz="2400" dirty="0"/>
          </a:p>
        </p:txBody>
      </p:sp>
      <p:sp>
        <p:nvSpPr>
          <p:cNvPr id="6" name="Shape 4"/>
          <p:cNvSpPr/>
          <p:nvPr/>
        </p:nvSpPr>
        <p:spPr>
          <a:xfrm>
            <a:off x="1066800" y="3498949"/>
            <a:ext cx="3681413" cy="5968901"/>
          </a:xfrm>
          <a:prstGeom prst="roundRect">
            <a:avLst>
              <a:gd name="adj" fmla="val 4140"/>
            </a:avLst>
          </a:prstGeom>
          <a:gradFill rotWithShape="1">
            <a:gsLst>
              <a:gs pos="0">
                <a:srgbClr val="FFB470">
                  <a:alpha val="16000"/>
                </a:srgbClr>
              </a:gs>
              <a:gs pos="100000">
                <a:srgbClr val="FFFFFF">
                  <a:alpha val="3000"/>
                </a:srgbClr>
              </a:gs>
            </a:gsLst>
            <a:lin ang="4200000" scaled="0"/>
          </a:gradFill>
          <a:ln w="6350">
            <a:solidFill>
              <a:srgbClr val="FFC48E">
                <a:alpha val="35000"/>
              </a:srgbClr>
            </a:solidFill>
            <a:prstDash val="solid"/>
          </a:ln>
        </p:spPr>
      </p:sp>
      <p:sp>
        <p:nvSpPr>
          <p:cNvPr id="7" name="Text 5"/>
          <p:cNvSpPr/>
          <p:nvPr/>
        </p:nvSpPr>
        <p:spPr>
          <a:xfrm>
            <a:off x="1320800" y="3810099"/>
            <a:ext cx="3490754"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FB46E"/>
                </a:solidFill>
                <a:latin typeface="Courier New" pitchFamily="34" charset="0"/>
                <a:ea typeface="Courier New" pitchFamily="34" charset="-122"/>
                <a:cs typeface="Courier New" pitchFamily="34" charset="-120"/>
              </a:rPr>
              <a:t>Atelier 4.1</a:t>
            </a:r>
            <a:endParaRPr lang="en-US" sz="1800" dirty="0"/>
          </a:p>
        </p:txBody>
      </p:sp>
      <p:sp>
        <p:nvSpPr>
          <p:cNvPr id="8" name="Text 6"/>
          <p:cNvSpPr/>
          <p:nvPr/>
        </p:nvSpPr>
        <p:spPr>
          <a:xfrm>
            <a:off x="1320800" y="4248249"/>
            <a:ext cx="3490754" cy="387350"/>
          </a:xfrm>
          <a:prstGeom prst="rect">
            <a:avLst/>
          </a:prstGeom>
          <a:noFill/>
          <a:ln/>
        </p:spPr>
        <p:txBody>
          <a:bodyPr wrap="square" lIns="25400" tIns="25400" rIns="25400" bIns="25400" rtlCol="0" anchor="t">
            <a:normAutofit/>
          </a:bodyPr>
          <a:lstStyle/>
          <a:p>
            <a:pPr algn="l" indent="0" marL="0">
              <a:buNone/>
            </a:pPr>
            <a:r>
              <a:rPr lang="en-US" sz="2400" b="1" dirty="0">
                <a:solidFill>
                  <a:srgbClr val="EEF3F9"/>
                </a:solidFill>
                <a:latin typeface="Arial" pitchFamily="34" charset="0"/>
                <a:ea typeface="Arial" pitchFamily="34" charset="-122"/>
                <a:cs typeface="Arial" pitchFamily="34" charset="-120"/>
              </a:rPr>
              <a:t>HiveQL</a:t>
            </a:r>
            <a:endParaRPr lang="en-US" sz="2400" dirty="0"/>
          </a:p>
        </p:txBody>
      </p:sp>
      <p:sp>
        <p:nvSpPr>
          <p:cNvPr id="9" name="Text 7"/>
          <p:cNvSpPr/>
          <p:nvPr/>
        </p:nvSpPr>
        <p:spPr>
          <a:xfrm>
            <a:off x="1320800" y="8858250"/>
            <a:ext cx="3268615" cy="336550"/>
          </a:xfrm>
          <a:prstGeom prst="rect">
            <a:avLst/>
          </a:prstGeom>
          <a:noFill/>
          <a:ln/>
        </p:spPr>
        <p:txBody>
          <a:bodyPr wrap="square" lIns="25400" tIns="25400" rIns="25400" bIns="25400" rtlCol="0" anchor="t">
            <a:normAutofit/>
          </a:bodyPr>
          <a:lstStyle/>
          <a:p>
            <a:pPr algn="l" indent="0" marL="0">
              <a:buNone/>
            </a:pPr>
            <a:r>
              <a:rPr lang="en-US" sz="1800" dirty="0">
                <a:solidFill>
                  <a:srgbClr val="8EA0B5"/>
                </a:solidFill>
                <a:latin typeface="Arial" pitchFamily="34" charset="0"/>
                <a:ea typeface="Arial" pitchFamily="34" charset="-122"/>
                <a:cs typeface="Arial" pitchFamily="34" charset="-120"/>
              </a:rPr>
              <a:t>SQL sur HDFS</a:t>
            </a:r>
            <a:endParaRPr lang="en-US" sz="1800" dirty="0"/>
          </a:p>
        </p:txBody>
      </p:sp>
      <p:sp>
        <p:nvSpPr>
          <p:cNvPr id="10" name="Text 8"/>
          <p:cNvSpPr/>
          <p:nvPr/>
        </p:nvSpPr>
        <p:spPr>
          <a:xfrm>
            <a:off x="4900613" y="3498949"/>
            <a:ext cx="247650" cy="6007001"/>
          </a:xfrm>
          <a:prstGeom prst="rect">
            <a:avLst/>
          </a:prstGeom>
          <a:noFill/>
          <a:ln/>
        </p:spPr>
        <p:txBody>
          <a:bodyPr wrap="square" lIns="25400" tIns="25400" rIns="25400" bIns="25400" rtlCol="0" anchor="ctr">
            <a:normAutofit/>
          </a:bodyPr>
          <a:lstStyle/>
          <a:p>
            <a:pPr algn="l" indent="0" marL="0">
              <a:buNone/>
            </a:pPr>
            <a:r>
              <a:rPr lang="en-US" sz="2250" dirty="0">
                <a:solidFill>
                  <a:srgbClr val="B897F0"/>
                </a:solidFill>
                <a:latin typeface="Arial" pitchFamily="34" charset="0"/>
                <a:ea typeface="Arial" pitchFamily="34" charset="-122"/>
                <a:cs typeface="Arial" pitchFamily="34" charset="-120"/>
              </a:rPr>
              <a:t>=</a:t>
            </a:r>
            <a:endParaRPr lang="en-US" sz="2250" dirty="0"/>
          </a:p>
        </p:txBody>
      </p:sp>
      <p:sp>
        <p:nvSpPr>
          <p:cNvPr id="11" name="Shape 9"/>
          <p:cNvSpPr/>
          <p:nvPr/>
        </p:nvSpPr>
        <p:spPr>
          <a:xfrm>
            <a:off x="5217688" y="3487965"/>
            <a:ext cx="3694962" cy="5990869"/>
          </a:xfrm>
          <a:prstGeom prst="roundRect">
            <a:avLst>
              <a:gd name="adj" fmla="val 4140"/>
            </a:avLst>
          </a:prstGeom>
          <a:solidFill>
            <a:srgbClr val="FFFFFF">
              <a:alpha val="3000"/>
            </a:srgbClr>
          </a:solidFill>
          <a:ln w="6373">
            <a:solidFill>
              <a:srgbClr val="FFFFFF">
                <a:alpha val="10000"/>
              </a:srgbClr>
            </a:solidFill>
            <a:prstDash val="solid"/>
          </a:ln>
        </p:spPr>
      </p:sp>
      <p:sp>
        <p:nvSpPr>
          <p:cNvPr id="12" name="Text 10"/>
          <p:cNvSpPr/>
          <p:nvPr/>
        </p:nvSpPr>
        <p:spPr>
          <a:xfrm>
            <a:off x="5472623" y="3800260"/>
            <a:ext cx="3503602" cy="344022"/>
          </a:xfrm>
          <a:prstGeom prst="rect">
            <a:avLst/>
          </a:prstGeom>
          <a:noFill/>
          <a:ln/>
        </p:spPr>
        <p:txBody>
          <a:bodyPr wrap="square" lIns="25400" tIns="25400" rIns="25400" bIns="25400" rtlCol="0" anchor="t">
            <a:normAutofit/>
          </a:bodyPr>
          <a:lstStyle/>
          <a:p>
            <a:pPr algn="l" indent="0" marL="0">
              <a:buNone/>
            </a:pPr>
            <a:r>
              <a:rPr lang="en-US" sz="1807" dirty="0">
                <a:solidFill>
                  <a:srgbClr val="56DBDB"/>
                </a:solidFill>
                <a:latin typeface="Courier New" pitchFamily="34" charset="0"/>
                <a:ea typeface="Courier New" pitchFamily="34" charset="-122"/>
                <a:cs typeface="Courier New" pitchFamily="34" charset="-120"/>
              </a:rPr>
              <a:t>Atelier 4.2</a:t>
            </a:r>
            <a:endParaRPr lang="en-US" sz="1807" dirty="0"/>
          </a:p>
        </p:txBody>
      </p:sp>
      <p:sp>
        <p:nvSpPr>
          <p:cNvPr id="13" name="Text 11"/>
          <p:cNvSpPr/>
          <p:nvPr/>
        </p:nvSpPr>
        <p:spPr>
          <a:xfrm>
            <a:off x="5472623" y="4240023"/>
            <a:ext cx="3503602" cy="388636"/>
          </a:xfrm>
          <a:prstGeom prst="rect">
            <a:avLst/>
          </a:prstGeom>
          <a:noFill/>
          <a:ln/>
        </p:spPr>
        <p:txBody>
          <a:bodyPr wrap="square" lIns="25400" tIns="25400" rIns="25400" bIns="25400" rtlCol="0" anchor="t">
            <a:normAutofit/>
          </a:bodyPr>
          <a:lstStyle/>
          <a:p>
            <a:pPr algn="l" indent="0" marL="0">
              <a:buNone/>
            </a:pPr>
            <a:r>
              <a:rPr lang="en-US" sz="2409" b="1" dirty="0">
                <a:solidFill>
                  <a:srgbClr val="EEF3F9"/>
                </a:solidFill>
                <a:latin typeface="Arial" pitchFamily="34" charset="0"/>
                <a:ea typeface="Arial" pitchFamily="34" charset="-122"/>
                <a:cs typeface="Arial" pitchFamily="34" charset="-120"/>
              </a:rPr>
              <a:t>RDD</a:t>
            </a:r>
            <a:endParaRPr lang="en-US" sz="2409" dirty="0"/>
          </a:p>
        </p:txBody>
      </p:sp>
      <p:sp>
        <p:nvSpPr>
          <p:cNvPr id="14" name="Text 12"/>
          <p:cNvSpPr/>
          <p:nvPr/>
        </p:nvSpPr>
        <p:spPr>
          <a:xfrm>
            <a:off x="5472623" y="8866991"/>
            <a:ext cx="3280645" cy="337648"/>
          </a:xfrm>
          <a:prstGeom prst="rect">
            <a:avLst/>
          </a:prstGeom>
          <a:noFill/>
          <a:ln/>
        </p:spPr>
        <p:txBody>
          <a:bodyPr wrap="square" lIns="25400" tIns="25400" rIns="25400" bIns="25400" rtlCol="0" anchor="t">
            <a:normAutofit/>
          </a:bodyPr>
          <a:lstStyle/>
          <a:p>
            <a:pPr algn="l" indent="0" marL="0">
              <a:buNone/>
            </a:pPr>
            <a:r>
              <a:rPr lang="en-US" sz="1807" dirty="0">
                <a:solidFill>
                  <a:srgbClr val="8EA0B5"/>
                </a:solidFill>
                <a:latin typeface="Arial" pitchFamily="34" charset="0"/>
                <a:ea typeface="Arial" pitchFamily="34" charset="-122"/>
                <a:cs typeface="Arial" pitchFamily="34" charset="-120"/>
              </a:rPr>
              <a:t>Bas niveau, clé-valeur</a:t>
            </a:r>
            <a:endParaRPr lang="en-US" sz="1807" dirty="0"/>
          </a:p>
        </p:txBody>
      </p:sp>
      <p:sp>
        <p:nvSpPr>
          <p:cNvPr id="15" name="Text 13"/>
          <p:cNvSpPr/>
          <p:nvPr/>
        </p:nvSpPr>
        <p:spPr>
          <a:xfrm>
            <a:off x="9058275" y="3498949"/>
            <a:ext cx="247650" cy="6007001"/>
          </a:xfrm>
          <a:prstGeom prst="rect">
            <a:avLst/>
          </a:prstGeom>
          <a:noFill/>
          <a:ln/>
        </p:spPr>
        <p:txBody>
          <a:bodyPr wrap="square" lIns="25400" tIns="25400" rIns="25400" bIns="25400" rtlCol="0" anchor="ctr">
            <a:normAutofit/>
          </a:bodyPr>
          <a:lstStyle/>
          <a:p>
            <a:pPr algn="l" indent="0" marL="0">
              <a:buNone/>
            </a:pPr>
            <a:r>
              <a:rPr lang="en-US" sz="2250" dirty="0">
                <a:solidFill>
                  <a:srgbClr val="B897F0"/>
                </a:solidFill>
                <a:latin typeface="Arial" pitchFamily="34" charset="0"/>
                <a:ea typeface="Arial" pitchFamily="34" charset="-122"/>
                <a:cs typeface="Arial" pitchFamily="34" charset="-120"/>
              </a:rPr>
              <a:t>=</a:t>
            </a:r>
            <a:endParaRPr lang="en-US" sz="2250" dirty="0"/>
          </a:p>
        </p:txBody>
      </p:sp>
      <p:sp>
        <p:nvSpPr>
          <p:cNvPr id="16" name="Shape 14"/>
          <p:cNvSpPr/>
          <p:nvPr/>
        </p:nvSpPr>
        <p:spPr>
          <a:xfrm>
            <a:off x="9361389" y="3465329"/>
            <a:ext cx="3722885" cy="6036142"/>
          </a:xfrm>
          <a:prstGeom prst="roundRect">
            <a:avLst>
              <a:gd name="adj" fmla="val 4140"/>
            </a:avLst>
          </a:prstGeom>
          <a:solidFill>
            <a:srgbClr val="FFFFFF">
              <a:alpha val="3000"/>
            </a:srgbClr>
          </a:solidFill>
          <a:ln w="6422">
            <a:solidFill>
              <a:srgbClr val="FFFFFF">
                <a:alpha val="10000"/>
              </a:srgbClr>
            </a:solidFill>
            <a:prstDash val="solid"/>
          </a:ln>
        </p:spPr>
      </p:sp>
      <p:sp>
        <p:nvSpPr>
          <p:cNvPr id="17" name="Text 15"/>
          <p:cNvSpPr/>
          <p:nvPr/>
        </p:nvSpPr>
        <p:spPr>
          <a:xfrm>
            <a:off x="9618250" y="3779984"/>
            <a:ext cx="3530078" cy="346334"/>
          </a:xfrm>
          <a:prstGeom prst="rect">
            <a:avLst/>
          </a:prstGeom>
          <a:noFill/>
          <a:ln/>
        </p:spPr>
        <p:txBody>
          <a:bodyPr wrap="square" lIns="25400" tIns="25400" rIns="25400" bIns="25400" rtlCol="0" anchor="t">
            <a:normAutofit/>
          </a:bodyPr>
          <a:lstStyle/>
          <a:p>
            <a:pPr algn="l" indent="0" marL="0">
              <a:buNone/>
            </a:pPr>
            <a:r>
              <a:rPr lang="en-US" sz="1820" dirty="0">
                <a:solidFill>
                  <a:srgbClr val="56DBDB"/>
                </a:solidFill>
                <a:latin typeface="Courier New" pitchFamily="34" charset="0"/>
                <a:ea typeface="Courier New" pitchFamily="34" charset="-122"/>
                <a:cs typeface="Courier New" pitchFamily="34" charset="-120"/>
              </a:rPr>
              <a:t>Atelier 4.2</a:t>
            </a:r>
            <a:endParaRPr lang="en-US" sz="1820" dirty="0"/>
          </a:p>
        </p:txBody>
      </p:sp>
      <p:sp>
        <p:nvSpPr>
          <p:cNvPr id="18" name="Text 16"/>
          <p:cNvSpPr/>
          <p:nvPr/>
        </p:nvSpPr>
        <p:spPr>
          <a:xfrm>
            <a:off x="9618250" y="4223070"/>
            <a:ext cx="3530078" cy="391284"/>
          </a:xfrm>
          <a:prstGeom prst="rect">
            <a:avLst/>
          </a:prstGeom>
          <a:noFill/>
          <a:ln/>
        </p:spPr>
        <p:txBody>
          <a:bodyPr wrap="square" lIns="25400" tIns="25400" rIns="25400" bIns="25400" rtlCol="0" anchor="t">
            <a:normAutofit/>
          </a:bodyPr>
          <a:lstStyle/>
          <a:p>
            <a:pPr algn="l" indent="0" marL="0">
              <a:buNone/>
            </a:pPr>
            <a:r>
              <a:rPr lang="en-US" sz="2427" b="1" dirty="0">
                <a:solidFill>
                  <a:srgbClr val="EEF3F9"/>
                </a:solidFill>
                <a:latin typeface="Arial" pitchFamily="34" charset="0"/>
                <a:ea typeface="Arial" pitchFamily="34" charset="-122"/>
                <a:cs typeface="Arial" pitchFamily="34" charset="-120"/>
              </a:rPr>
              <a:t>DataFrame</a:t>
            </a:r>
            <a:endParaRPr lang="en-US" sz="2427" dirty="0"/>
          </a:p>
        </p:txBody>
      </p:sp>
      <p:sp>
        <p:nvSpPr>
          <p:cNvPr id="19" name="Text 17"/>
          <p:cNvSpPr/>
          <p:nvPr/>
        </p:nvSpPr>
        <p:spPr>
          <a:xfrm>
            <a:off x="9618250" y="8885004"/>
            <a:ext cx="3305437" cy="339911"/>
          </a:xfrm>
          <a:prstGeom prst="rect">
            <a:avLst/>
          </a:prstGeom>
          <a:noFill/>
          <a:ln/>
        </p:spPr>
        <p:txBody>
          <a:bodyPr wrap="square" lIns="25400" tIns="25400" rIns="25400" bIns="25400" rtlCol="0" anchor="t">
            <a:normAutofit/>
          </a:bodyPr>
          <a:lstStyle/>
          <a:p>
            <a:pPr algn="l" indent="0" marL="0">
              <a:buNone/>
            </a:pPr>
            <a:r>
              <a:rPr lang="en-US" sz="1820" dirty="0">
                <a:solidFill>
                  <a:srgbClr val="8EA0B5"/>
                </a:solidFill>
                <a:latin typeface="Arial" pitchFamily="34" charset="0"/>
                <a:ea typeface="Arial" pitchFamily="34" charset="-122"/>
                <a:cs typeface="Arial" pitchFamily="34" charset="-120"/>
              </a:rPr>
              <a:t>Haut niveau, Catalyst</a:t>
            </a:r>
            <a:endParaRPr lang="en-US" sz="1820" dirty="0"/>
          </a:p>
        </p:txBody>
      </p:sp>
      <p:sp>
        <p:nvSpPr>
          <p:cNvPr id="20" name="Text 18"/>
          <p:cNvSpPr/>
          <p:nvPr/>
        </p:nvSpPr>
        <p:spPr>
          <a:xfrm>
            <a:off x="13215938" y="3498949"/>
            <a:ext cx="247650" cy="6007001"/>
          </a:xfrm>
          <a:prstGeom prst="rect">
            <a:avLst/>
          </a:prstGeom>
          <a:noFill/>
          <a:ln/>
        </p:spPr>
        <p:txBody>
          <a:bodyPr wrap="square" lIns="25400" tIns="25400" rIns="25400" bIns="25400" rtlCol="0" anchor="ctr">
            <a:normAutofit/>
          </a:bodyPr>
          <a:lstStyle/>
          <a:p>
            <a:pPr algn="l" indent="0" marL="0">
              <a:buNone/>
            </a:pPr>
            <a:r>
              <a:rPr lang="en-US" sz="2250" dirty="0">
                <a:solidFill>
                  <a:srgbClr val="B897F0"/>
                </a:solidFill>
                <a:latin typeface="Arial" pitchFamily="34" charset="0"/>
                <a:ea typeface="Arial" pitchFamily="34" charset="-122"/>
                <a:cs typeface="Arial" pitchFamily="34" charset="-120"/>
              </a:rPr>
              <a:t>=</a:t>
            </a:r>
            <a:endParaRPr lang="en-US" sz="2250" dirty="0"/>
          </a:p>
        </p:txBody>
      </p:sp>
      <p:sp>
        <p:nvSpPr>
          <p:cNvPr id="21" name="Shape 19"/>
          <p:cNvSpPr/>
          <p:nvPr/>
        </p:nvSpPr>
        <p:spPr>
          <a:xfrm>
            <a:off x="13519400" y="3465894"/>
            <a:ext cx="3722188" cy="6035012"/>
          </a:xfrm>
          <a:prstGeom prst="roundRect">
            <a:avLst>
              <a:gd name="adj" fmla="val 4140"/>
            </a:avLst>
          </a:prstGeom>
          <a:gradFill rotWithShape="1">
            <a:gsLst>
              <a:gs pos="0">
                <a:srgbClr val="B796EE">
                  <a:alpha val="18000"/>
                </a:srgbClr>
              </a:gs>
              <a:gs pos="100000">
                <a:srgbClr val="FFFFFF">
                  <a:alpha val="3000"/>
                </a:srgbClr>
              </a:gs>
            </a:gsLst>
            <a:lin ang="4200000" scaled="0"/>
          </a:gradFill>
          <a:ln w="6420">
            <a:solidFill>
              <a:srgbClr val="C4ACF4">
                <a:alpha val="37000"/>
              </a:srgbClr>
            </a:solidFill>
            <a:prstDash val="solid"/>
          </a:ln>
        </p:spPr>
      </p:sp>
      <p:sp>
        <p:nvSpPr>
          <p:cNvPr id="22" name="Text 20"/>
          <p:cNvSpPr/>
          <p:nvPr/>
        </p:nvSpPr>
        <p:spPr>
          <a:xfrm>
            <a:off x="13776214" y="3780490"/>
            <a:ext cx="3529417" cy="346276"/>
          </a:xfrm>
          <a:prstGeom prst="rect">
            <a:avLst/>
          </a:prstGeom>
          <a:noFill/>
          <a:ln/>
        </p:spPr>
        <p:txBody>
          <a:bodyPr wrap="square" lIns="25400" tIns="25400" rIns="25400" bIns="25400" rtlCol="0" anchor="t">
            <a:normAutofit/>
          </a:bodyPr>
          <a:lstStyle/>
          <a:p>
            <a:pPr algn="l" indent="0" marL="0">
              <a:buNone/>
            </a:pPr>
            <a:r>
              <a:rPr lang="en-US" sz="1820" dirty="0">
                <a:solidFill>
                  <a:srgbClr val="B897F0"/>
                </a:solidFill>
                <a:latin typeface="Courier New" pitchFamily="34" charset="0"/>
                <a:ea typeface="Courier New" pitchFamily="34" charset="-122"/>
                <a:cs typeface="Courier New" pitchFamily="34" charset="-120"/>
              </a:rPr>
              <a:t>Atelier 5.2</a:t>
            </a:r>
            <a:endParaRPr lang="en-US" sz="1820" dirty="0"/>
          </a:p>
        </p:txBody>
      </p:sp>
      <p:sp>
        <p:nvSpPr>
          <p:cNvPr id="23" name="Text 21"/>
          <p:cNvSpPr/>
          <p:nvPr/>
        </p:nvSpPr>
        <p:spPr>
          <a:xfrm>
            <a:off x="13776214" y="4223493"/>
            <a:ext cx="3529417" cy="391218"/>
          </a:xfrm>
          <a:prstGeom prst="rect">
            <a:avLst/>
          </a:prstGeom>
          <a:noFill/>
          <a:ln/>
        </p:spPr>
        <p:txBody>
          <a:bodyPr wrap="square" lIns="25400" tIns="25400" rIns="25400" bIns="25400" rtlCol="0" anchor="t">
            <a:normAutofit/>
          </a:bodyPr>
          <a:lstStyle/>
          <a:p>
            <a:pPr algn="l" indent="0" marL="0">
              <a:buNone/>
            </a:pPr>
            <a:r>
              <a:rPr lang="en-US" sz="2427" b="1" dirty="0">
                <a:solidFill>
                  <a:srgbClr val="EEF3F9"/>
                </a:solidFill>
                <a:latin typeface="Arial" pitchFamily="34" charset="0"/>
                <a:ea typeface="Arial" pitchFamily="34" charset="-122"/>
                <a:cs typeface="Arial" pitchFamily="34" charset="-120"/>
              </a:rPr>
              <a:t>Spark SQL</a:t>
            </a:r>
            <a:endParaRPr lang="en-US" sz="2427" dirty="0"/>
          </a:p>
        </p:txBody>
      </p:sp>
      <p:sp>
        <p:nvSpPr>
          <p:cNvPr id="24" name="Text 22"/>
          <p:cNvSpPr/>
          <p:nvPr/>
        </p:nvSpPr>
        <p:spPr>
          <a:xfrm>
            <a:off x="13776214" y="8884554"/>
            <a:ext cx="3304818" cy="339855"/>
          </a:xfrm>
          <a:prstGeom prst="rect">
            <a:avLst/>
          </a:prstGeom>
          <a:noFill/>
          <a:ln/>
        </p:spPr>
        <p:txBody>
          <a:bodyPr wrap="square" lIns="25400" tIns="25400" rIns="25400" bIns="25400" rtlCol="0" anchor="t">
            <a:normAutofit/>
          </a:bodyPr>
          <a:lstStyle/>
          <a:p>
            <a:pPr algn="l" indent="0" marL="0">
              <a:buNone/>
            </a:pPr>
            <a:r>
              <a:rPr lang="en-US" sz="1820" dirty="0">
                <a:solidFill>
                  <a:srgbClr val="8EA0B5"/>
                </a:solidFill>
                <a:latin typeface="Arial" pitchFamily="34" charset="0"/>
                <a:ea typeface="Arial" pitchFamily="34" charset="-122"/>
                <a:cs typeface="Arial" pitchFamily="34" charset="-120"/>
              </a:rPr>
              <a:t>SQL standard, session</a:t>
            </a:r>
            <a:endParaRPr lang="en-US" sz="182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0C121C"/>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B66D">
                  <a:alpha val="22000"/>
                </a:srgbClr>
              </a:gs>
              <a:gs pos="60000">
                <a:srgbClr val="FFB66D">
                  <a:alpha val="0"/>
                </a:srgbClr>
              </a:gs>
            </a:gsLst>
            <a:path path="circle">
              <a:fillToRect l="22000" t="34000" r="78000" b="66000"/>
            </a:path>
          </a:gradFill>
          <a:ln/>
        </p:spPr>
      </p:sp>
      <p:sp>
        <p:nvSpPr>
          <p:cNvPr id="3" name="Text 1"/>
          <p:cNvSpPr/>
          <p:nvPr/>
        </p:nvSpPr>
        <p:spPr>
          <a:xfrm>
            <a:off x="1066800" y="2932807"/>
            <a:ext cx="17769840" cy="368300"/>
          </a:xfrm>
          <a:prstGeom prst="rect">
            <a:avLst/>
          </a:prstGeom>
          <a:noFill/>
          <a:ln/>
        </p:spPr>
        <p:txBody>
          <a:bodyPr wrap="square" lIns="25400" tIns="25400" rIns="25400" bIns="25400" rtlCol="0" anchor="t">
            <a:normAutofit/>
          </a:bodyPr>
          <a:lstStyle/>
          <a:p>
            <a:pPr algn="l" indent="0" marL="0">
              <a:buNone/>
            </a:pPr>
            <a:r>
              <a:rPr lang="en-US" sz="1950" spc="546" kern="0" dirty="0">
                <a:solidFill>
                  <a:srgbClr val="FFB46E">
                    <a:alpha val="97000"/>
                  </a:srgbClr>
                </a:solidFill>
                <a:latin typeface="Courier New" pitchFamily="34" charset="0"/>
                <a:ea typeface="Courier New" pitchFamily="34" charset="-122"/>
                <a:cs typeface="Courier New" pitchFamily="34" charset="-120"/>
              </a:rPr>
              <a:t>ATELIER 06 · 3 HEURES</a:t>
            </a:r>
            <a:endParaRPr lang="en-US" sz="1950" dirty="0"/>
          </a:p>
        </p:txBody>
      </p:sp>
      <p:sp>
        <p:nvSpPr>
          <p:cNvPr id="4" name="Text 2"/>
          <p:cNvSpPr/>
          <p:nvPr/>
        </p:nvSpPr>
        <p:spPr>
          <a:xfrm>
            <a:off x="1066800" y="3339208"/>
            <a:ext cx="17769840" cy="1924050"/>
          </a:xfrm>
          <a:prstGeom prst="rect">
            <a:avLst/>
          </a:prstGeom>
          <a:noFill/>
          <a:ln/>
        </p:spPr>
        <p:txBody>
          <a:bodyPr wrap="square" lIns="25400" tIns="25400" rIns="25400" bIns="25400" rtlCol="0" anchor="t">
            <a:normAutofit/>
          </a:bodyPr>
          <a:lstStyle/>
          <a:p>
            <a:pPr algn="l" indent="0" marL="0">
              <a:lnSpc>
                <a:spcPct val="78158"/>
              </a:lnSpc>
              <a:buNone/>
            </a:pPr>
            <a:r>
              <a:rPr lang="en-US" sz="16500" b="1" spc="-660" kern="0" dirty="0">
                <a:solidFill>
                  <a:srgbClr val="FEC695"/>
                </a:solidFill>
                <a:latin typeface="Arial" pitchFamily="34" charset="0"/>
                <a:ea typeface="Arial" pitchFamily="34" charset="-122"/>
                <a:cs typeface="Arial" pitchFamily="34" charset="-120"/>
              </a:rPr>
              <a:t>06</a:t>
            </a:r>
            <a:endParaRPr lang="en-US" sz="16500" dirty="0"/>
          </a:p>
        </p:txBody>
      </p:sp>
      <p:sp>
        <p:nvSpPr>
          <p:cNvPr id="5" name="Text 3"/>
          <p:cNvSpPr/>
          <p:nvPr/>
        </p:nvSpPr>
        <p:spPr>
          <a:xfrm>
            <a:off x="1066800" y="5302807"/>
            <a:ext cx="17769840" cy="776387"/>
          </a:xfrm>
          <a:prstGeom prst="rect">
            <a:avLst/>
          </a:prstGeom>
          <a:noFill/>
          <a:ln/>
        </p:spPr>
        <p:txBody>
          <a:bodyPr wrap="square" lIns="25400" tIns="25400" rIns="25400" bIns="25400" rtlCol="0" anchor="t">
            <a:normAutofit/>
          </a:bodyPr>
          <a:lstStyle/>
          <a:p>
            <a:pPr algn="l" indent="0" marL="0">
              <a:lnSpc>
                <a:spcPct val="88763"/>
              </a:lnSpc>
              <a:buNone/>
            </a:pPr>
            <a:r>
              <a:rPr lang="en-US" sz="5700" b="1" spc="-114" kern="0" dirty="0">
                <a:solidFill>
                  <a:srgbClr val="EEF3F9">
                    <a:alpha val="99000"/>
                  </a:srgbClr>
                </a:solidFill>
                <a:latin typeface="Arial" pitchFamily="34" charset="0"/>
                <a:ea typeface="Arial" pitchFamily="34" charset="-122"/>
                <a:cs typeface="Arial" pitchFamily="34" charset="-120"/>
              </a:rPr>
              <a:t>Introduction au Cloud Computing</a:t>
            </a:r>
            <a:endParaRPr lang="en-US" sz="5700" dirty="0"/>
          </a:p>
        </p:txBody>
      </p:sp>
      <p:sp>
        <p:nvSpPr>
          <p:cNvPr id="6" name="Text 4"/>
          <p:cNvSpPr/>
          <p:nvPr/>
        </p:nvSpPr>
        <p:spPr>
          <a:xfrm>
            <a:off x="1066800" y="6287294"/>
            <a:ext cx="10831068" cy="1104900"/>
          </a:xfrm>
          <a:prstGeom prst="rect">
            <a:avLst/>
          </a:prstGeom>
          <a:noFill/>
          <a:ln/>
        </p:spPr>
        <p:txBody>
          <a:bodyPr wrap="square" lIns="25400" tIns="25400" rIns="25400" bIns="25400" rtlCol="0" anchor="t">
            <a:normAutofit/>
          </a:bodyPr>
          <a:lstStyle/>
          <a:p>
            <a:pPr algn="l" indent="0" marL="0">
              <a:lnSpc>
                <a:spcPct val="121739"/>
              </a:lnSpc>
              <a:buNone/>
            </a:pPr>
            <a:r>
              <a:rPr lang="en-US" sz="3000" dirty="0">
                <a:solidFill>
                  <a:srgbClr val="8EA0B5">
                    <a:alpha val="77000"/>
                  </a:srgbClr>
                </a:solidFill>
                <a:latin typeface="Arial" pitchFamily="34" charset="0"/>
                <a:ea typeface="Arial" pitchFamily="34" charset="-122"/>
                <a:cs typeface="Arial" pitchFamily="34" charset="-120"/>
              </a:rPr>
              <a:t>Des ressources à la demande, facturées à l'usage — et les briques AWS sur lesquelles reposera EMR.</a:t>
            </a:r>
            <a:endParaRPr lang="en-US" sz="30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0A0E15"/>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FFB46E">
                    <a:alpha val="97000"/>
                  </a:srgbClr>
                </a:solidFill>
                <a:latin typeface="Courier New" pitchFamily="34" charset="0"/>
                <a:ea typeface="Courier New" pitchFamily="34" charset="-122"/>
                <a:cs typeface="Courier New" pitchFamily="34" charset="-120"/>
              </a:rPr>
              <a:t>ATELIER 06 · FONDEMENTS</a:t>
            </a:r>
            <a:endParaRPr lang="en-US" sz="1800" dirty="0"/>
          </a:p>
        </p:txBody>
      </p:sp>
      <p:sp>
        <p:nvSpPr>
          <p:cNvPr id="3" name="Text 1"/>
          <p:cNvSpPr/>
          <p:nvPr/>
        </p:nvSpPr>
        <p:spPr>
          <a:xfrm>
            <a:off x="1066800" y="1314451"/>
            <a:ext cx="9079236" cy="1305917"/>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Qu'est-ce que le Cloud Computing ?</a:t>
            </a:r>
            <a:endParaRPr lang="en-US" sz="4800" dirty="0"/>
          </a:p>
        </p:txBody>
      </p:sp>
      <p:sp>
        <p:nvSpPr>
          <p:cNvPr id="4" name="Shape 2"/>
          <p:cNvSpPr/>
          <p:nvPr/>
        </p:nvSpPr>
        <p:spPr>
          <a:xfrm>
            <a:off x="1066800" y="3039469"/>
            <a:ext cx="7934325" cy="6428383"/>
          </a:xfrm>
          <a:prstGeom prst="roundRect">
            <a:avLst>
              <a:gd name="adj" fmla="val 2667"/>
            </a:avLst>
          </a:prstGeom>
          <a:solidFill>
            <a:srgbClr val="FFFFFF">
              <a:alpha val="3000"/>
            </a:srgbClr>
          </a:solidFill>
          <a:ln w="6350">
            <a:solidFill>
              <a:srgbClr val="FFFFFF">
                <a:alpha val="10000"/>
              </a:srgbClr>
            </a:solidFill>
            <a:prstDash val="solid"/>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435100" y="3426818"/>
            <a:ext cx="552450" cy="552450"/>
          </a:xfrm>
          <a:prstGeom prst="rect">
            <a:avLst/>
          </a:prstGeom>
        </p:spPr>
      </p:pic>
      <p:sp>
        <p:nvSpPr>
          <p:cNvPr id="6" name="Text 3"/>
          <p:cNvSpPr/>
          <p:nvPr/>
        </p:nvSpPr>
        <p:spPr>
          <a:xfrm>
            <a:off x="1435100" y="4188818"/>
            <a:ext cx="7917498" cy="400050"/>
          </a:xfrm>
          <a:prstGeom prst="rect">
            <a:avLst/>
          </a:prstGeom>
          <a:noFill/>
          <a:ln/>
        </p:spPr>
        <p:txBody>
          <a:bodyPr wrap="square" lIns="25400" tIns="25400" rIns="25400" bIns="25400" rtlCol="0" anchor="t">
            <a:normAutofit/>
          </a:bodyPr>
          <a:lstStyle/>
          <a:p>
            <a:pPr algn="l" indent="0" marL="0">
              <a:buNone/>
            </a:pPr>
            <a:r>
              <a:rPr lang="en-US" sz="2475" b="1" dirty="0">
                <a:solidFill>
                  <a:srgbClr val="FFB46E"/>
                </a:solidFill>
                <a:latin typeface="Arial" pitchFamily="34" charset="0"/>
                <a:ea typeface="Arial" pitchFamily="34" charset="-122"/>
                <a:cs typeface="Arial" pitchFamily="34" charset="-120"/>
              </a:rPr>
              <a:t>À la demande, via Internet</a:t>
            </a:r>
            <a:endParaRPr lang="en-US" sz="2475" dirty="0"/>
          </a:p>
        </p:txBody>
      </p:sp>
      <p:sp>
        <p:nvSpPr>
          <p:cNvPr id="7" name="Text 4"/>
          <p:cNvSpPr/>
          <p:nvPr/>
        </p:nvSpPr>
        <p:spPr>
          <a:xfrm>
            <a:off x="1435100" y="4703169"/>
            <a:ext cx="7413657" cy="809625"/>
          </a:xfrm>
          <a:prstGeom prst="rect">
            <a:avLst/>
          </a:prstGeom>
          <a:noFill/>
          <a:ln/>
        </p:spPr>
        <p:txBody>
          <a:bodyPr wrap="square" lIns="25400" tIns="25400" rIns="25400" bIns="25400" rtlCol="0" anchor="t">
            <a:normAutofit/>
          </a:bodyPr>
          <a:lstStyle/>
          <a:p>
            <a:pPr algn="l" indent="0" marL="0">
              <a:lnSpc>
                <a:spcPct val="129255"/>
              </a:lnSpc>
              <a:buNone/>
            </a:pPr>
            <a:r>
              <a:rPr lang="en-US" sz="2025" dirty="0">
                <a:solidFill>
                  <a:srgbClr val="8EA0B5"/>
                </a:solidFill>
                <a:latin typeface="Arial" pitchFamily="34" charset="0"/>
                <a:ea typeface="Arial" pitchFamily="34" charset="-122"/>
                <a:cs typeface="Arial" pitchFamily="34" charset="-120"/>
              </a:rPr>
              <a:t>Calcul, stockage, réseau, bases de données auprès d'un fournisseur — plutôt que d'acheter et gérer ses serveurs.</a:t>
            </a:r>
            <a:endParaRPr lang="en-US" sz="2025" dirty="0"/>
          </a:p>
        </p:txBody>
      </p:sp>
      <p:sp>
        <p:nvSpPr>
          <p:cNvPr id="8" name="Text 5"/>
          <p:cNvSpPr/>
          <p:nvPr/>
        </p:nvSpPr>
        <p:spPr>
          <a:xfrm>
            <a:off x="1435100" y="8775702"/>
            <a:ext cx="7413657"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FB46E"/>
                </a:solidFill>
                <a:latin typeface="Courier New" pitchFamily="34" charset="0"/>
                <a:ea typeface="Courier New" pitchFamily="34" charset="-122"/>
                <a:cs typeface="Courier New" pitchFamily="34" charset="-120"/>
              </a:rPr>
              <a:t>pay-as-you-go</a:t>
            </a:r>
            <a:endParaRPr lang="en-US" sz="1800" dirty="0"/>
          </a:p>
        </p:txBody>
      </p:sp>
      <p:sp>
        <p:nvSpPr>
          <p:cNvPr id="9" name="Shape 6"/>
          <p:cNvSpPr/>
          <p:nvPr/>
        </p:nvSpPr>
        <p:spPr>
          <a:xfrm>
            <a:off x="9286875" y="3041609"/>
            <a:ext cx="7934325" cy="6428382"/>
          </a:xfrm>
          <a:prstGeom prst="roundRect">
            <a:avLst>
              <a:gd name="adj" fmla="val 2667"/>
            </a:avLst>
          </a:prstGeom>
          <a:solidFill>
            <a:srgbClr val="FFFFFF">
              <a:alpha val="3000"/>
            </a:srgbClr>
          </a:solidFill>
          <a:ln w="6350">
            <a:solidFill>
              <a:srgbClr val="FFFFFF">
                <a:alpha val="10000"/>
              </a:srgbClr>
            </a:solidFill>
            <a:prstDash val="solid"/>
          </a:ln>
        </p:spPr>
      </p:sp>
      <p:pic>
        <p:nvPicPr>
          <p:cNvPr id="10" name="Image 1" descr="preencoded.png">    </p:cNvPr>
          <p:cNvPicPr>
            <a:picLocks noChangeAspect="1"/>
          </p:cNvPicPr>
          <p:nvPr/>
        </p:nvPicPr>
        <p:blipFill>
          <a:blip r:embed="rId3">
            <a:alphaModFix amt="99000"/>
            <a:extLst>
              <a:ext uri="{96DAC541-7B7A-43D3-8B79-37D633B846F1}">
                <asvg:svgBlip xmlns:asvg="http://schemas.microsoft.com/office/drawing/2016/SVG/main" r:embed="rId4"/>
              </a:ext>
            </a:extLst>
          </a:blip>
          <a:stretch>
            <a:fillRect/>
          </a:stretch>
        </p:blipFill>
        <p:spPr>
          <a:xfrm>
            <a:off x="9655175" y="3428959"/>
            <a:ext cx="552450" cy="552450"/>
          </a:xfrm>
          <a:prstGeom prst="rect">
            <a:avLst/>
          </a:prstGeom>
        </p:spPr>
      </p:pic>
      <p:sp>
        <p:nvSpPr>
          <p:cNvPr id="11" name="Text 7"/>
          <p:cNvSpPr/>
          <p:nvPr/>
        </p:nvSpPr>
        <p:spPr>
          <a:xfrm>
            <a:off x="9655175" y="4190959"/>
            <a:ext cx="7917498" cy="400050"/>
          </a:xfrm>
          <a:prstGeom prst="rect">
            <a:avLst/>
          </a:prstGeom>
          <a:noFill/>
          <a:ln/>
        </p:spPr>
        <p:txBody>
          <a:bodyPr wrap="square" lIns="25400" tIns="25400" rIns="25400" bIns="25400" rtlCol="0" anchor="t">
            <a:normAutofit/>
          </a:bodyPr>
          <a:lstStyle/>
          <a:p>
            <a:pPr algn="l" indent="0" marL="0">
              <a:buNone/>
            </a:pPr>
            <a:r>
              <a:rPr lang="en-US" sz="2475" b="1" dirty="0">
                <a:solidFill>
                  <a:srgbClr val="FFB46E">
                    <a:alpha val="99000"/>
                  </a:srgbClr>
                </a:solidFill>
                <a:latin typeface="Arial" pitchFamily="34" charset="0"/>
                <a:ea typeface="Arial" pitchFamily="34" charset="-122"/>
                <a:cs typeface="Arial" pitchFamily="34" charset="-120"/>
              </a:rPr>
              <a:t>La virtualisation</a:t>
            </a:r>
            <a:endParaRPr lang="en-US" sz="2475" dirty="0"/>
          </a:p>
        </p:txBody>
      </p:sp>
      <p:sp>
        <p:nvSpPr>
          <p:cNvPr id="12" name="Text 8"/>
          <p:cNvSpPr/>
          <p:nvPr/>
        </p:nvSpPr>
        <p:spPr>
          <a:xfrm>
            <a:off x="9655175" y="4705309"/>
            <a:ext cx="7413657" cy="1195388"/>
          </a:xfrm>
          <a:prstGeom prst="rect">
            <a:avLst/>
          </a:prstGeom>
          <a:noFill/>
          <a:ln/>
        </p:spPr>
        <p:txBody>
          <a:bodyPr wrap="square" lIns="25400" tIns="25400" rIns="25400" bIns="25400" rtlCol="0" anchor="t">
            <a:normAutofit/>
          </a:bodyPr>
          <a:lstStyle/>
          <a:p>
            <a:pPr algn="l" indent="0" marL="0">
              <a:lnSpc>
                <a:spcPct val="129255"/>
              </a:lnSpc>
              <a:buNone/>
            </a:pPr>
            <a:r>
              <a:rPr lang="en-US" sz="2025" dirty="0">
                <a:solidFill>
                  <a:srgbClr val="8EA0B5">
                    <a:alpha val="99000"/>
                  </a:srgbClr>
                </a:solidFill>
                <a:latin typeface="Arial" pitchFamily="34" charset="0"/>
                <a:ea typeface="Arial" pitchFamily="34" charset="-122"/>
                <a:cs typeface="Arial" pitchFamily="34" charset="-120"/>
              </a:rPr>
              <a:t>Plusieurs machines virtuelles isolées sur un même serveur physique, via un </a:t>
            </a:r>
            <a:pPr algn="l" indent="0" marL="0">
              <a:lnSpc>
                <a:spcPct val="129255"/>
              </a:lnSpc>
              <a:buNone/>
            </a:pPr>
            <a:r>
              <a:rPr lang="en-US" sz="2025" dirty="0">
                <a:solidFill>
                  <a:srgbClr val="EEF3F9">
                    <a:alpha val="99000"/>
                  </a:srgbClr>
                </a:solidFill>
                <a:latin typeface="Arial" pitchFamily="34" charset="0"/>
                <a:ea typeface="Arial" pitchFamily="34" charset="-122"/>
                <a:cs typeface="Arial" pitchFamily="34" charset="-120"/>
              </a:rPr>
              <a:t>hyperviseur </a:t>
            </a:r>
            <a:pPr algn="l" indent="0" marL="0">
              <a:lnSpc>
                <a:spcPct val="129255"/>
              </a:lnSpc>
              <a:buNone/>
            </a:pPr>
            <a:r>
              <a:rPr lang="en-US" sz="2025" dirty="0">
                <a:solidFill>
                  <a:srgbClr val="8EA0B5">
                    <a:alpha val="99000"/>
                  </a:srgbClr>
                </a:solidFill>
                <a:latin typeface="Arial" pitchFamily="34" charset="0"/>
                <a:ea typeface="Arial" pitchFamily="34" charset="-122"/>
                <a:cs typeface="Arial" pitchFamily="34" charset="-120"/>
              </a:rPr>
              <a:t>. C'est ce qui rend le Cloud possible.</a:t>
            </a:r>
            <a:endParaRPr lang="en-US" sz="2025" dirty="0"/>
          </a:p>
        </p:txBody>
      </p:sp>
      <p:sp>
        <p:nvSpPr>
          <p:cNvPr id="13" name="Text 9"/>
          <p:cNvSpPr/>
          <p:nvPr/>
        </p:nvSpPr>
        <p:spPr>
          <a:xfrm>
            <a:off x="9655175" y="8784191"/>
            <a:ext cx="7413657" cy="336550"/>
          </a:xfrm>
          <a:prstGeom prst="rect">
            <a:avLst/>
          </a:prstGeom>
          <a:noFill/>
          <a:ln/>
        </p:spPr>
        <p:txBody>
          <a:bodyPr wrap="square" lIns="25400" tIns="25400" rIns="25400" bIns="25400" rtlCol="0" anchor="t">
            <a:normAutofit/>
          </a:bodyPr>
          <a:lstStyle/>
          <a:p>
            <a:pPr algn="l" indent="0" marL="0">
              <a:buNone/>
            </a:pPr>
            <a:r>
              <a:rPr lang="en-US" sz="1800" dirty="0">
                <a:solidFill>
                  <a:srgbClr val="8EA0B5">
                    <a:alpha val="99000"/>
                  </a:srgbClr>
                </a:solidFill>
                <a:latin typeface="Arial" pitchFamily="34" charset="0"/>
                <a:ea typeface="Arial" pitchFamily="34" charset="-122"/>
                <a:cs typeface="Arial" pitchFamily="34" charset="-120"/>
              </a:rPr>
              <a:t>Un VPS = une VM louée chez un hébergeur.</a:t>
            </a:r>
            <a:endParaRPr lang="en-US" sz="18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0C121C"/>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FFB46E">
                    <a:alpha val="97000"/>
                  </a:srgbClr>
                </a:solidFill>
                <a:latin typeface="Courier New" pitchFamily="34" charset="0"/>
                <a:ea typeface="Courier New" pitchFamily="34" charset="-122"/>
                <a:cs typeface="Courier New" pitchFamily="34" charset="-120"/>
              </a:rPr>
              <a:t>ATELIER 06 · MODÈLES DE SERVICE</a:t>
            </a:r>
            <a:endParaRPr lang="en-US" sz="1800" dirty="0"/>
          </a:p>
        </p:txBody>
      </p:sp>
      <p:sp>
        <p:nvSpPr>
          <p:cNvPr id="3" name="Text 1"/>
          <p:cNvSpPr/>
          <p:nvPr/>
        </p:nvSpPr>
        <p:spPr>
          <a:xfrm>
            <a:off x="1066800" y="1314451"/>
            <a:ext cx="17769840"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IaaS, PaaS, SaaS</a:t>
            </a:r>
            <a:endParaRPr lang="en-US" sz="4800" dirty="0"/>
          </a:p>
        </p:txBody>
      </p:sp>
      <p:sp>
        <p:nvSpPr>
          <p:cNvPr id="4" name="Shape 2"/>
          <p:cNvSpPr/>
          <p:nvPr/>
        </p:nvSpPr>
        <p:spPr>
          <a:xfrm>
            <a:off x="1066800" y="2367460"/>
            <a:ext cx="5232400" cy="6547942"/>
          </a:xfrm>
          <a:prstGeom prst="roundRect">
            <a:avLst>
              <a:gd name="adj" fmla="val 3277"/>
            </a:avLst>
          </a:prstGeom>
          <a:solidFill>
            <a:srgbClr val="FFFFFF">
              <a:alpha val="3000"/>
            </a:srgbClr>
          </a:solidFill>
          <a:ln w="6350">
            <a:solidFill>
              <a:srgbClr val="FFFFFF">
                <a:alpha val="10000"/>
              </a:srgbClr>
            </a:solidFill>
            <a:prstDash val="solid"/>
          </a:ln>
        </p:spPr>
      </p:sp>
      <p:sp>
        <p:nvSpPr>
          <p:cNvPr id="5" name="Text 3"/>
          <p:cNvSpPr/>
          <p:nvPr/>
        </p:nvSpPr>
        <p:spPr>
          <a:xfrm>
            <a:off x="1358900" y="2697660"/>
            <a:ext cx="722809" cy="400050"/>
          </a:xfrm>
          <a:prstGeom prst="rect">
            <a:avLst/>
          </a:prstGeom>
          <a:noFill/>
          <a:ln/>
        </p:spPr>
        <p:txBody>
          <a:bodyPr wrap="square" lIns="25400" tIns="25400" rIns="25400" bIns="25400" rtlCol="0" anchor="t">
            <a:normAutofit/>
          </a:bodyPr>
          <a:lstStyle/>
          <a:p>
            <a:pPr algn="l" indent="0" marL="0">
              <a:buNone/>
            </a:pPr>
            <a:r>
              <a:rPr lang="en-US" sz="2475" b="1" dirty="0">
                <a:solidFill>
                  <a:srgbClr val="EEF3F9"/>
                </a:solidFill>
                <a:latin typeface="Arial" pitchFamily="34" charset="0"/>
                <a:ea typeface="Arial" pitchFamily="34" charset="-122"/>
                <a:cs typeface="Arial" pitchFamily="34" charset="-120"/>
              </a:rPr>
              <a:t>IaaS</a:t>
            </a:r>
            <a:endParaRPr lang="en-US" sz="2475" dirty="0"/>
          </a:p>
        </p:txBody>
      </p:sp>
      <p:sp>
        <p:nvSpPr>
          <p:cNvPr id="6" name="Text 4"/>
          <p:cNvSpPr/>
          <p:nvPr/>
        </p:nvSpPr>
        <p:spPr>
          <a:xfrm>
            <a:off x="4909741" y="2754810"/>
            <a:ext cx="117355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FB46E"/>
                </a:solidFill>
                <a:latin typeface="Courier New" pitchFamily="34" charset="0"/>
                <a:ea typeface="Courier New" pitchFamily="34" charset="-122"/>
                <a:cs typeface="Courier New" pitchFamily="34" charset="-120"/>
              </a:rPr>
              <a:t>EC2 · S3</a:t>
            </a:r>
            <a:endParaRPr lang="en-US" sz="1800" dirty="0"/>
          </a:p>
        </p:txBody>
      </p:sp>
      <p:sp>
        <p:nvSpPr>
          <p:cNvPr id="7" name="Text 5"/>
          <p:cNvSpPr/>
          <p:nvPr/>
        </p:nvSpPr>
        <p:spPr>
          <a:xfrm>
            <a:off x="1358900" y="3192960"/>
            <a:ext cx="5113020" cy="369491"/>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8EA0B5"/>
                </a:solidFill>
                <a:latin typeface="Arial" pitchFamily="34" charset="0"/>
                <a:ea typeface="Arial" pitchFamily="34" charset="-122"/>
                <a:cs typeface="Arial" pitchFamily="34" charset="-120"/>
              </a:rPr>
              <a:t>Serveurs virtuels, stockage, réseau.</a:t>
            </a:r>
            <a:endParaRPr lang="en-US" sz="1800" dirty="0"/>
          </a:p>
        </p:txBody>
      </p:sp>
      <p:sp>
        <p:nvSpPr>
          <p:cNvPr id="8" name="Shape 6"/>
          <p:cNvSpPr/>
          <p:nvPr/>
        </p:nvSpPr>
        <p:spPr>
          <a:xfrm>
            <a:off x="1358900" y="3752951"/>
            <a:ext cx="4648200" cy="527050"/>
          </a:xfrm>
          <a:prstGeom prst="roundRect">
            <a:avLst>
              <a:gd name="adj" fmla="val 10843"/>
            </a:avLst>
          </a:prstGeom>
          <a:solidFill>
            <a:srgbClr val="FFBE83">
              <a:alpha val="32000"/>
            </a:srgbClr>
          </a:solidFill>
          <a:ln/>
        </p:spPr>
      </p:sp>
      <p:sp>
        <p:nvSpPr>
          <p:cNvPr id="9" name="Text 7"/>
          <p:cNvSpPr/>
          <p:nvPr/>
        </p:nvSpPr>
        <p:spPr>
          <a:xfrm>
            <a:off x="1492250" y="3867251"/>
            <a:ext cx="4520946" cy="336550"/>
          </a:xfrm>
          <a:prstGeom prst="rect">
            <a:avLst/>
          </a:prstGeom>
          <a:noFill/>
          <a:ln/>
        </p:spPr>
        <p:txBody>
          <a:bodyPr wrap="square" lIns="25400" tIns="25400" rIns="25400" bIns="25400" rtlCol="0" anchor="t">
            <a:normAutofit/>
          </a:bodyPr>
          <a:lstStyle/>
          <a:p>
            <a:pPr algn="l" indent="0" marL="0">
              <a:buNone/>
            </a:pPr>
            <a:r>
              <a:rPr lang="en-US" sz="1800" dirty="0">
                <a:solidFill>
                  <a:srgbClr val="EEF3F9"/>
                </a:solidFill>
                <a:latin typeface="Arial" pitchFamily="34" charset="0"/>
                <a:ea typeface="Arial" pitchFamily="34" charset="-122"/>
                <a:cs typeface="Arial" pitchFamily="34" charset="-120"/>
              </a:rPr>
              <a:t>Vous : OS, middleware, apps, données</a:t>
            </a:r>
            <a:endParaRPr lang="en-US" sz="1800" dirty="0"/>
          </a:p>
        </p:txBody>
      </p:sp>
      <p:sp>
        <p:nvSpPr>
          <p:cNvPr id="10" name="Shape 8"/>
          <p:cNvSpPr/>
          <p:nvPr/>
        </p:nvSpPr>
        <p:spPr>
          <a:xfrm>
            <a:off x="1358900" y="4356200"/>
            <a:ext cx="4648200" cy="527050"/>
          </a:xfrm>
          <a:prstGeom prst="roundRect">
            <a:avLst>
              <a:gd name="adj" fmla="val 10843"/>
            </a:avLst>
          </a:prstGeom>
          <a:solidFill>
            <a:srgbClr val="FFFFFF">
              <a:alpha val="6000"/>
            </a:srgbClr>
          </a:solidFill>
          <a:ln/>
        </p:spPr>
      </p:sp>
      <p:sp>
        <p:nvSpPr>
          <p:cNvPr id="11" name="Text 9"/>
          <p:cNvSpPr/>
          <p:nvPr/>
        </p:nvSpPr>
        <p:spPr>
          <a:xfrm>
            <a:off x="1492250" y="4470500"/>
            <a:ext cx="4520946" cy="336550"/>
          </a:xfrm>
          <a:prstGeom prst="rect">
            <a:avLst/>
          </a:prstGeom>
          <a:noFill/>
          <a:ln/>
        </p:spPr>
        <p:txBody>
          <a:bodyPr wrap="square" lIns="25400" tIns="25400" rIns="25400" bIns="25400" rtlCol="0" anchor="t">
            <a:normAutofit/>
          </a:bodyPr>
          <a:lstStyle/>
          <a:p>
            <a:pPr algn="l" indent="0" marL="0">
              <a:buNone/>
            </a:pPr>
            <a:r>
              <a:rPr lang="en-US" sz="1800" dirty="0">
                <a:solidFill>
                  <a:srgbClr val="8EA0B5"/>
                </a:solidFill>
                <a:latin typeface="Arial" pitchFamily="34" charset="0"/>
                <a:ea typeface="Arial" pitchFamily="34" charset="-122"/>
                <a:cs typeface="Arial" pitchFamily="34" charset="-120"/>
              </a:rPr>
              <a:t>Fournisseur : virtualisation, matériel</a:t>
            </a:r>
            <a:endParaRPr lang="en-US" sz="1800" dirty="0"/>
          </a:p>
        </p:txBody>
      </p:sp>
      <p:sp>
        <p:nvSpPr>
          <p:cNvPr id="12" name="Shape 10"/>
          <p:cNvSpPr/>
          <p:nvPr/>
        </p:nvSpPr>
        <p:spPr>
          <a:xfrm>
            <a:off x="6527800" y="2368910"/>
            <a:ext cx="5232400" cy="6547942"/>
          </a:xfrm>
          <a:prstGeom prst="roundRect">
            <a:avLst>
              <a:gd name="adj" fmla="val 3277"/>
            </a:avLst>
          </a:prstGeom>
          <a:solidFill>
            <a:srgbClr val="FFFFFF">
              <a:alpha val="3000"/>
            </a:srgbClr>
          </a:solidFill>
          <a:ln w="6350">
            <a:solidFill>
              <a:srgbClr val="FFFFFF">
                <a:alpha val="10000"/>
              </a:srgbClr>
            </a:solidFill>
            <a:prstDash val="solid"/>
          </a:ln>
        </p:spPr>
      </p:sp>
      <p:sp>
        <p:nvSpPr>
          <p:cNvPr id="13" name="Text 11"/>
          <p:cNvSpPr/>
          <p:nvPr/>
        </p:nvSpPr>
        <p:spPr>
          <a:xfrm>
            <a:off x="6819900" y="2699110"/>
            <a:ext cx="845145" cy="400050"/>
          </a:xfrm>
          <a:prstGeom prst="rect">
            <a:avLst/>
          </a:prstGeom>
          <a:noFill/>
          <a:ln/>
        </p:spPr>
        <p:txBody>
          <a:bodyPr wrap="square" lIns="25400" tIns="25400" rIns="25400" bIns="25400" rtlCol="0" anchor="t">
            <a:normAutofit/>
          </a:bodyPr>
          <a:lstStyle/>
          <a:p>
            <a:pPr algn="l" indent="0" marL="0">
              <a:buNone/>
            </a:pPr>
            <a:r>
              <a:rPr lang="en-US" sz="2475" b="1" dirty="0">
                <a:solidFill>
                  <a:srgbClr val="EEF3F9">
                    <a:alpha val="99000"/>
                  </a:srgbClr>
                </a:solidFill>
                <a:latin typeface="Arial" pitchFamily="34" charset="0"/>
                <a:ea typeface="Arial" pitchFamily="34" charset="-122"/>
                <a:cs typeface="Arial" pitchFamily="34" charset="-120"/>
              </a:rPr>
              <a:t>PaaS</a:t>
            </a:r>
            <a:endParaRPr lang="en-US" sz="2475" dirty="0"/>
          </a:p>
        </p:txBody>
      </p:sp>
      <p:sp>
        <p:nvSpPr>
          <p:cNvPr id="14" name="Text 12"/>
          <p:cNvSpPr/>
          <p:nvPr/>
        </p:nvSpPr>
        <p:spPr>
          <a:xfrm>
            <a:off x="8999141" y="2756260"/>
            <a:ext cx="271585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FB46E">
                    <a:alpha val="99000"/>
                  </a:srgbClr>
                </a:solidFill>
                <a:latin typeface="Courier New" pitchFamily="34" charset="0"/>
                <a:ea typeface="Courier New" pitchFamily="34" charset="-122"/>
                <a:cs typeface="Courier New" pitchFamily="34" charset="-120"/>
              </a:rPr>
              <a:t>Beanstalk · Heroku</a:t>
            </a:r>
            <a:endParaRPr lang="en-US" sz="1800" dirty="0"/>
          </a:p>
        </p:txBody>
      </p:sp>
      <p:sp>
        <p:nvSpPr>
          <p:cNvPr id="15" name="Text 13"/>
          <p:cNvSpPr/>
          <p:nvPr/>
        </p:nvSpPr>
        <p:spPr>
          <a:xfrm>
            <a:off x="6819900" y="3194410"/>
            <a:ext cx="5113020" cy="369491"/>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8EA0B5">
                    <a:alpha val="99000"/>
                  </a:srgbClr>
                </a:solidFill>
                <a:latin typeface="Arial" pitchFamily="34" charset="0"/>
                <a:ea typeface="Arial" pitchFamily="34" charset="-122"/>
                <a:cs typeface="Arial" pitchFamily="34" charset="-120"/>
              </a:rPr>
              <a:t>+ environnement d'exécution géré.</a:t>
            </a:r>
            <a:endParaRPr lang="en-US" sz="1800" dirty="0"/>
          </a:p>
        </p:txBody>
      </p:sp>
      <p:sp>
        <p:nvSpPr>
          <p:cNvPr id="16" name="Shape 14"/>
          <p:cNvSpPr/>
          <p:nvPr/>
        </p:nvSpPr>
        <p:spPr>
          <a:xfrm>
            <a:off x="6819900" y="3754401"/>
            <a:ext cx="4648200" cy="527050"/>
          </a:xfrm>
          <a:prstGeom prst="roundRect">
            <a:avLst>
              <a:gd name="adj" fmla="val 10843"/>
            </a:avLst>
          </a:prstGeom>
          <a:solidFill>
            <a:srgbClr val="FFBE83">
              <a:alpha val="32000"/>
            </a:srgbClr>
          </a:solidFill>
          <a:ln/>
        </p:spPr>
      </p:sp>
      <p:sp>
        <p:nvSpPr>
          <p:cNvPr id="17" name="Text 15"/>
          <p:cNvSpPr/>
          <p:nvPr/>
        </p:nvSpPr>
        <p:spPr>
          <a:xfrm>
            <a:off x="6953250" y="3868701"/>
            <a:ext cx="4520946" cy="336550"/>
          </a:xfrm>
          <a:prstGeom prst="rect">
            <a:avLst/>
          </a:prstGeom>
          <a:noFill/>
          <a:ln/>
        </p:spPr>
        <p:txBody>
          <a:bodyPr wrap="square" lIns="25400" tIns="25400" rIns="25400" bIns="25400" rtlCol="0" anchor="t">
            <a:normAutofit/>
          </a:bodyPr>
          <a:lstStyle/>
          <a:p>
            <a:pPr algn="l" indent="0" marL="0">
              <a:buNone/>
            </a:pPr>
            <a:r>
              <a:rPr lang="en-US" sz="1800" dirty="0">
                <a:solidFill>
                  <a:srgbClr val="EEF3F9">
                    <a:alpha val="99000"/>
                  </a:srgbClr>
                </a:solidFill>
                <a:latin typeface="Arial" pitchFamily="34" charset="0"/>
                <a:ea typeface="Arial" pitchFamily="34" charset="-122"/>
                <a:cs typeface="Arial" pitchFamily="34" charset="-120"/>
              </a:rPr>
              <a:t>Vous : code applicatif, données</a:t>
            </a:r>
            <a:endParaRPr lang="en-US" sz="1800" dirty="0"/>
          </a:p>
        </p:txBody>
      </p:sp>
      <p:sp>
        <p:nvSpPr>
          <p:cNvPr id="18" name="Shape 16"/>
          <p:cNvSpPr/>
          <p:nvPr/>
        </p:nvSpPr>
        <p:spPr>
          <a:xfrm>
            <a:off x="6819900" y="4357650"/>
            <a:ext cx="4648200" cy="527050"/>
          </a:xfrm>
          <a:prstGeom prst="roundRect">
            <a:avLst>
              <a:gd name="adj" fmla="val 10843"/>
            </a:avLst>
          </a:prstGeom>
          <a:solidFill>
            <a:srgbClr val="FFFFFF">
              <a:alpha val="6000"/>
            </a:srgbClr>
          </a:solidFill>
          <a:ln/>
        </p:spPr>
      </p:sp>
      <p:sp>
        <p:nvSpPr>
          <p:cNvPr id="19" name="Text 17"/>
          <p:cNvSpPr/>
          <p:nvPr/>
        </p:nvSpPr>
        <p:spPr>
          <a:xfrm>
            <a:off x="6953250" y="4471950"/>
            <a:ext cx="4520946" cy="336550"/>
          </a:xfrm>
          <a:prstGeom prst="rect">
            <a:avLst/>
          </a:prstGeom>
          <a:noFill/>
          <a:ln/>
        </p:spPr>
        <p:txBody>
          <a:bodyPr wrap="square" lIns="25400" tIns="25400" rIns="25400" bIns="25400" rtlCol="0" anchor="t">
            <a:normAutofit/>
          </a:bodyPr>
          <a:lstStyle/>
          <a:p>
            <a:pPr algn="l" indent="0" marL="0">
              <a:buNone/>
            </a:pPr>
            <a:r>
              <a:rPr lang="en-US" sz="1800" dirty="0">
                <a:solidFill>
                  <a:srgbClr val="8EA0B5">
                    <a:alpha val="99000"/>
                  </a:srgbClr>
                </a:solidFill>
                <a:latin typeface="Arial" pitchFamily="34" charset="0"/>
                <a:ea typeface="Arial" pitchFamily="34" charset="-122"/>
                <a:cs typeface="Arial" pitchFamily="34" charset="-120"/>
              </a:rPr>
              <a:t>Fournisseur : tout le reste</a:t>
            </a:r>
            <a:endParaRPr lang="en-US" sz="1800" dirty="0"/>
          </a:p>
        </p:txBody>
      </p:sp>
      <p:sp>
        <p:nvSpPr>
          <p:cNvPr id="20" name="Shape 18"/>
          <p:cNvSpPr/>
          <p:nvPr/>
        </p:nvSpPr>
        <p:spPr>
          <a:xfrm>
            <a:off x="11988801" y="2374217"/>
            <a:ext cx="5232400" cy="6547942"/>
          </a:xfrm>
          <a:prstGeom prst="roundRect">
            <a:avLst>
              <a:gd name="adj" fmla="val 3277"/>
            </a:avLst>
          </a:prstGeom>
          <a:solidFill>
            <a:srgbClr val="FFFFFF">
              <a:alpha val="3000"/>
            </a:srgbClr>
          </a:solidFill>
          <a:ln w="6350">
            <a:solidFill>
              <a:srgbClr val="FFFFFF">
                <a:alpha val="10000"/>
              </a:srgbClr>
            </a:solidFill>
            <a:prstDash val="solid"/>
          </a:ln>
        </p:spPr>
      </p:sp>
      <p:sp>
        <p:nvSpPr>
          <p:cNvPr id="21" name="Text 19"/>
          <p:cNvSpPr/>
          <p:nvPr/>
        </p:nvSpPr>
        <p:spPr>
          <a:xfrm>
            <a:off x="12280900" y="2704417"/>
            <a:ext cx="845145" cy="400050"/>
          </a:xfrm>
          <a:prstGeom prst="rect">
            <a:avLst/>
          </a:prstGeom>
          <a:noFill/>
          <a:ln/>
        </p:spPr>
        <p:txBody>
          <a:bodyPr wrap="square" lIns="25400" tIns="25400" rIns="25400" bIns="25400" rtlCol="0" anchor="t">
            <a:normAutofit/>
          </a:bodyPr>
          <a:lstStyle/>
          <a:p>
            <a:pPr algn="l" indent="0" marL="0">
              <a:buNone/>
            </a:pPr>
            <a:r>
              <a:rPr lang="en-US" sz="2475" b="1" dirty="0">
                <a:solidFill>
                  <a:srgbClr val="EEF3F9">
                    <a:alpha val="98000"/>
                  </a:srgbClr>
                </a:solidFill>
                <a:latin typeface="Arial" pitchFamily="34" charset="0"/>
                <a:ea typeface="Arial" pitchFamily="34" charset="-122"/>
                <a:cs typeface="Arial" pitchFamily="34" charset="-120"/>
              </a:rPr>
              <a:t>SaaS</a:t>
            </a:r>
            <a:endParaRPr lang="en-US" sz="2475" dirty="0"/>
          </a:p>
        </p:txBody>
      </p:sp>
      <p:sp>
        <p:nvSpPr>
          <p:cNvPr id="22" name="Text 20"/>
          <p:cNvSpPr/>
          <p:nvPr/>
        </p:nvSpPr>
        <p:spPr>
          <a:xfrm>
            <a:off x="14460141" y="2761567"/>
            <a:ext cx="271585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FB46E">
                    <a:alpha val="98000"/>
                  </a:srgbClr>
                </a:solidFill>
                <a:latin typeface="Courier New" pitchFamily="34" charset="0"/>
                <a:ea typeface="Courier New" pitchFamily="34" charset="-122"/>
                <a:cs typeface="Courier New" pitchFamily="34" charset="-120"/>
              </a:rPr>
              <a:t>Gmail · Salesforce</a:t>
            </a:r>
            <a:endParaRPr lang="en-US" sz="1800" dirty="0"/>
          </a:p>
        </p:txBody>
      </p:sp>
      <p:sp>
        <p:nvSpPr>
          <p:cNvPr id="23" name="Text 21"/>
          <p:cNvSpPr/>
          <p:nvPr/>
        </p:nvSpPr>
        <p:spPr>
          <a:xfrm>
            <a:off x="12280900" y="3199717"/>
            <a:ext cx="5113020" cy="36949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8EA0B5">
                    <a:alpha val="98000"/>
                  </a:srgbClr>
                </a:solidFill>
                <a:latin typeface="Arial" pitchFamily="34" charset="0"/>
                <a:ea typeface="Arial" pitchFamily="34" charset="-122"/>
                <a:cs typeface="Arial" pitchFamily="34" charset="-120"/>
              </a:rPr>
              <a:t>Application complète, prête à l'emploi.</a:t>
            </a:r>
            <a:endParaRPr lang="en-US" sz="1800" dirty="0"/>
          </a:p>
        </p:txBody>
      </p:sp>
      <p:sp>
        <p:nvSpPr>
          <p:cNvPr id="24" name="Shape 22"/>
          <p:cNvSpPr/>
          <p:nvPr/>
        </p:nvSpPr>
        <p:spPr>
          <a:xfrm>
            <a:off x="12280900" y="3759708"/>
            <a:ext cx="4648200" cy="527050"/>
          </a:xfrm>
          <a:prstGeom prst="roundRect">
            <a:avLst>
              <a:gd name="adj" fmla="val 10843"/>
            </a:avLst>
          </a:prstGeom>
          <a:solidFill>
            <a:srgbClr val="FFBE83">
              <a:alpha val="31000"/>
            </a:srgbClr>
          </a:solidFill>
          <a:ln/>
        </p:spPr>
      </p:sp>
      <p:sp>
        <p:nvSpPr>
          <p:cNvPr id="25" name="Text 23"/>
          <p:cNvSpPr/>
          <p:nvPr/>
        </p:nvSpPr>
        <p:spPr>
          <a:xfrm>
            <a:off x="12414250" y="3874008"/>
            <a:ext cx="4520946" cy="336550"/>
          </a:xfrm>
          <a:prstGeom prst="rect">
            <a:avLst/>
          </a:prstGeom>
          <a:noFill/>
          <a:ln/>
        </p:spPr>
        <p:txBody>
          <a:bodyPr wrap="square" lIns="25400" tIns="25400" rIns="25400" bIns="25400" rtlCol="0" anchor="t">
            <a:normAutofit/>
          </a:bodyPr>
          <a:lstStyle/>
          <a:p>
            <a:pPr algn="l" indent="0" marL="0">
              <a:buNone/>
            </a:pPr>
            <a:r>
              <a:rPr lang="en-US" sz="1800" dirty="0">
                <a:solidFill>
                  <a:srgbClr val="EEF3F9">
                    <a:alpha val="98000"/>
                  </a:srgbClr>
                </a:solidFill>
                <a:latin typeface="Arial" pitchFamily="34" charset="0"/>
                <a:ea typeface="Arial" pitchFamily="34" charset="-122"/>
                <a:cs typeface="Arial" pitchFamily="34" charset="-120"/>
              </a:rPr>
              <a:t>Vous : utilisation, configuration</a:t>
            </a:r>
            <a:endParaRPr lang="en-US" sz="1800" dirty="0"/>
          </a:p>
        </p:txBody>
      </p:sp>
      <p:sp>
        <p:nvSpPr>
          <p:cNvPr id="26" name="Shape 24"/>
          <p:cNvSpPr/>
          <p:nvPr/>
        </p:nvSpPr>
        <p:spPr>
          <a:xfrm>
            <a:off x="12280900" y="4362958"/>
            <a:ext cx="4648200" cy="527050"/>
          </a:xfrm>
          <a:prstGeom prst="roundRect">
            <a:avLst>
              <a:gd name="adj" fmla="val 10843"/>
            </a:avLst>
          </a:prstGeom>
          <a:solidFill>
            <a:srgbClr val="FFFFFF">
              <a:alpha val="6000"/>
            </a:srgbClr>
          </a:solidFill>
          <a:ln/>
        </p:spPr>
      </p:sp>
      <p:sp>
        <p:nvSpPr>
          <p:cNvPr id="27" name="Text 25"/>
          <p:cNvSpPr/>
          <p:nvPr/>
        </p:nvSpPr>
        <p:spPr>
          <a:xfrm>
            <a:off x="12414250" y="4477258"/>
            <a:ext cx="4520946" cy="336550"/>
          </a:xfrm>
          <a:prstGeom prst="rect">
            <a:avLst/>
          </a:prstGeom>
          <a:noFill/>
          <a:ln/>
        </p:spPr>
        <p:txBody>
          <a:bodyPr wrap="square" lIns="25400" tIns="25400" rIns="25400" bIns="25400" rtlCol="0" anchor="t">
            <a:normAutofit/>
          </a:bodyPr>
          <a:lstStyle/>
          <a:p>
            <a:pPr algn="l" indent="0" marL="0">
              <a:buNone/>
            </a:pPr>
            <a:r>
              <a:rPr lang="en-US" sz="1800" dirty="0">
                <a:solidFill>
                  <a:srgbClr val="8EA0B5">
                    <a:alpha val="98000"/>
                  </a:srgbClr>
                </a:solidFill>
                <a:latin typeface="Arial" pitchFamily="34" charset="0"/>
                <a:ea typeface="Arial" pitchFamily="34" charset="-122"/>
                <a:cs typeface="Arial" pitchFamily="34" charset="-120"/>
              </a:rPr>
              <a:t>Fournisseur : l'application entière</a:t>
            </a:r>
            <a:endParaRPr lang="en-US" sz="1800" dirty="0"/>
          </a:p>
        </p:txBody>
      </p:sp>
      <p:sp>
        <p:nvSpPr>
          <p:cNvPr id="28" name="Text 26"/>
          <p:cNvSpPr/>
          <p:nvPr/>
        </p:nvSpPr>
        <p:spPr>
          <a:xfrm>
            <a:off x="1066800" y="9163050"/>
            <a:ext cx="17769840" cy="342900"/>
          </a:xfrm>
          <a:prstGeom prst="rect">
            <a:avLst/>
          </a:prstGeom>
          <a:noFill/>
          <a:ln/>
        </p:spPr>
        <p:txBody>
          <a:bodyPr wrap="square" lIns="25400" tIns="25400" rIns="25400" bIns="25400" rtlCol="0" anchor="t">
            <a:normAutofit/>
          </a:bodyPr>
          <a:lstStyle/>
          <a:p>
            <a:pPr algn="l" indent="0" marL="0">
              <a:buNone/>
            </a:pPr>
            <a:r>
              <a:rPr lang="en-US" sz="1875" dirty="0">
                <a:solidFill>
                  <a:srgbClr val="8EA0B5">
                    <a:alpha val="55000"/>
                  </a:srgbClr>
                </a:solidFill>
                <a:latin typeface="Arial" pitchFamily="34" charset="0"/>
                <a:ea typeface="Arial" pitchFamily="34" charset="-122"/>
                <a:cs typeface="Arial" pitchFamily="34" charset="-120"/>
              </a:rPr>
              <a:t>Amazon EMR se situe </a:t>
            </a:r>
            <a:pPr algn="l" indent="0" marL="0">
              <a:buNone/>
            </a:pPr>
            <a:r>
              <a:rPr lang="en-US" sz="1875" dirty="0">
                <a:solidFill>
                  <a:srgbClr val="EEF3F9">
                    <a:alpha val="55000"/>
                  </a:srgbClr>
                </a:solidFill>
                <a:latin typeface="Arial" pitchFamily="34" charset="0"/>
                <a:ea typeface="Arial" pitchFamily="34" charset="-122"/>
                <a:cs typeface="Arial" pitchFamily="34" charset="-120"/>
              </a:rPr>
              <a:t>entre IaaS et PaaS </a:t>
            </a:r>
            <a:pPr algn="l" indent="0" marL="0">
              <a:buNone/>
            </a:pPr>
            <a:r>
              <a:rPr lang="en-US" sz="1875" dirty="0">
                <a:solidFill>
                  <a:srgbClr val="8EA0B5">
                    <a:alpha val="55000"/>
                  </a:srgbClr>
                </a:solidFill>
                <a:latin typeface="Arial" pitchFamily="34" charset="0"/>
                <a:ea typeface="Arial" pitchFamily="34" charset="-122"/>
                <a:cs typeface="Arial" pitchFamily="34" charset="-120"/>
              </a:rPr>
              <a:t>: AWS provisionne le cluster et installe les outils, vous gérez traitements et données.</a:t>
            </a:r>
            <a:endParaRPr lang="en-US" sz="1875"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0A0E15"/>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FFB46E">
                    <a:alpha val="97000"/>
                  </a:srgbClr>
                </a:solidFill>
                <a:latin typeface="Courier New" pitchFamily="34" charset="0"/>
                <a:ea typeface="Courier New" pitchFamily="34" charset="-122"/>
                <a:cs typeface="Courier New" pitchFamily="34" charset="-120"/>
              </a:rPr>
              <a:t>ATELIER 06 · DÉPLOIEMENT</a:t>
            </a:r>
            <a:endParaRPr lang="en-US" sz="1800" dirty="0"/>
          </a:p>
        </p:txBody>
      </p:sp>
      <p:sp>
        <p:nvSpPr>
          <p:cNvPr id="3" name="Text 1"/>
          <p:cNvSpPr/>
          <p:nvPr/>
        </p:nvSpPr>
        <p:spPr>
          <a:xfrm>
            <a:off x="1066800" y="1314451"/>
            <a:ext cx="17769840"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Cloud public, privé, hybride</a:t>
            </a:r>
            <a:endParaRPr lang="en-US" sz="4800" dirty="0"/>
          </a:p>
        </p:txBody>
      </p:sp>
      <p:sp>
        <p:nvSpPr>
          <p:cNvPr id="4" name="Shape 2"/>
          <p:cNvSpPr/>
          <p:nvPr/>
        </p:nvSpPr>
        <p:spPr>
          <a:xfrm>
            <a:off x="1066800" y="2367460"/>
            <a:ext cx="5232400" cy="2408238"/>
          </a:xfrm>
          <a:prstGeom prst="roundRect">
            <a:avLst>
              <a:gd name="adj" fmla="val 7119"/>
            </a:avLst>
          </a:prstGeom>
          <a:solidFill>
            <a:srgbClr val="FFFFFF">
              <a:alpha val="3000"/>
            </a:srgbClr>
          </a:solidFill>
          <a:ln w="6350">
            <a:solidFill>
              <a:srgbClr val="FFFFFF">
                <a:alpha val="10000"/>
              </a:srgbClr>
            </a:solidFill>
            <a:prstDash val="solid"/>
          </a:ln>
        </p:spPr>
      </p:sp>
      <p:sp>
        <p:nvSpPr>
          <p:cNvPr id="5" name="Text 3"/>
          <p:cNvSpPr/>
          <p:nvPr/>
        </p:nvSpPr>
        <p:spPr>
          <a:xfrm>
            <a:off x="1397000" y="2735760"/>
            <a:ext cx="5029200" cy="400050"/>
          </a:xfrm>
          <a:prstGeom prst="rect">
            <a:avLst/>
          </a:prstGeom>
          <a:noFill/>
          <a:ln/>
        </p:spPr>
        <p:txBody>
          <a:bodyPr wrap="square" lIns="25400" tIns="25400" rIns="25400" bIns="25400" rtlCol="0" anchor="t">
            <a:normAutofit/>
          </a:bodyPr>
          <a:lstStyle/>
          <a:p>
            <a:pPr algn="l" indent="0" marL="0">
              <a:buNone/>
            </a:pPr>
            <a:r>
              <a:rPr lang="en-US" sz="2475" b="1" dirty="0">
                <a:solidFill>
                  <a:srgbClr val="EEF3F9"/>
                </a:solidFill>
                <a:latin typeface="Arial" pitchFamily="34" charset="0"/>
                <a:ea typeface="Arial" pitchFamily="34" charset="-122"/>
                <a:cs typeface="Arial" pitchFamily="34" charset="-120"/>
              </a:rPr>
              <a:t>Public</a:t>
            </a:r>
            <a:endParaRPr lang="en-US" sz="2475" dirty="0"/>
          </a:p>
        </p:txBody>
      </p:sp>
      <p:sp>
        <p:nvSpPr>
          <p:cNvPr id="6" name="Text 4"/>
          <p:cNvSpPr/>
          <p:nvPr/>
        </p:nvSpPr>
        <p:spPr>
          <a:xfrm>
            <a:off x="1397000" y="3250110"/>
            <a:ext cx="4709160" cy="1195388"/>
          </a:xfrm>
          <a:prstGeom prst="rect">
            <a:avLst/>
          </a:prstGeom>
          <a:noFill/>
          <a:ln/>
        </p:spPr>
        <p:txBody>
          <a:bodyPr wrap="square" lIns="25400" tIns="25400" rIns="25400" bIns="25400" rtlCol="0" anchor="t">
            <a:normAutofit/>
          </a:bodyPr>
          <a:lstStyle/>
          <a:p>
            <a:pPr algn="l" indent="0" marL="0">
              <a:lnSpc>
                <a:spcPct val="129255"/>
              </a:lnSpc>
              <a:buNone/>
            </a:pPr>
            <a:r>
              <a:rPr lang="en-US" sz="2025" dirty="0">
                <a:solidFill>
                  <a:srgbClr val="8EA0B5"/>
                </a:solidFill>
                <a:latin typeface="Arial" pitchFamily="34" charset="0"/>
                <a:ea typeface="Arial" pitchFamily="34" charset="-122"/>
                <a:cs typeface="Arial" pitchFamily="34" charset="-120"/>
              </a:rPr>
              <a:t>Infrastructure partagée, gérée par un tiers (AWS, Azure, GCP). Coût faible, mise en œuvre rapide.</a:t>
            </a:r>
            <a:endParaRPr lang="en-US" sz="2025" dirty="0"/>
          </a:p>
        </p:txBody>
      </p:sp>
      <p:sp>
        <p:nvSpPr>
          <p:cNvPr id="7" name="Shape 5"/>
          <p:cNvSpPr/>
          <p:nvPr/>
        </p:nvSpPr>
        <p:spPr>
          <a:xfrm>
            <a:off x="6527800" y="2368910"/>
            <a:ext cx="5232400" cy="2408238"/>
          </a:xfrm>
          <a:prstGeom prst="roundRect">
            <a:avLst>
              <a:gd name="adj" fmla="val 7119"/>
            </a:avLst>
          </a:prstGeom>
          <a:solidFill>
            <a:srgbClr val="FFFFFF">
              <a:alpha val="3000"/>
            </a:srgbClr>
          </a:solidFill>
          <a:ln w="6350">
            <a:solidFill>
              <a:srgbClr val="FFFFFF">
                <a:alpha val="10000"/>
              </a:srgbClr>
            </a:solidFill>
            <a:prstDash val="solid"/>
          </a:ln>
        </p:spPr>
      </p:sp>
      <p:sp>
        <p:nvSpPr>
          <p:cNvPr id="8" name="Text 6"/>
          <p:cNvSpPr/>
          <p:nvPr/>
        </p:nvSpPr>
        <p:spPr>
          <a:xfrm>
            <a:off x="6858000" y="2737210"/>
            <a:ext cx="5029200" cy="400050"/>
          </a:xfrm>
          <a:prstGeom prst="rect">
            <a:avLst/>
          </a:prstGeom>
          <a:noFill/>
          <a:ln/>
        </p:spPr>
        <p:txBody>
          <a:bodyPr wrap="square" lIns="25400" tIns="25400" rIns="25400" bIns="25400" rtlCol="0" anchor="t">
            <a:normAutofit/>
          </a:bodyPr>
          <a:lstStyle/>
          <a:p>
            <a:pPr algn="l" indent="0" marL="0">
              <a:buNone/>
            </a:pPr>
            <a:r>
              <a:rPr lang="en-US" sz="2475" b="1" dirty="0">
                <a:solidFill>
                  <a:srgbClr val="EEF3F9">
                    <a:alpha val="99000"/>
                  </a:srgbClr>
                </a:solidFill>
                <a:latin typeface="Arial" pitchFamily="34" charset="0"/>
                <a:ea typeface="Arial" pitchFamily="34" charset="-122"/>
                <a:cs typeface="Arial" pitchFamily="34" charset="-120"/>
              </a:rPr>
              <a:t>Privé</a:t>
            </a:r>
            <a:endParaRPr lang="en-US" sz="2475" dirty="0"/>
          </a:p>
        </p:txBody>
      </p:sp>
      <p:sp>
        <p:nvSpPr>
          <p:cNvPr id="9" name="Text 7"/>
          <p:cNvSpPr/>
          <p:nvPr/>
        </p:nvSpPr>
        <p:spPr>
          <a:xfrm>
            <a:off x="6858000" y="3251561"/>
            <a:ext cx="4709160" cy="1195388"/>
          </a:xfrm>
          <a:prstGeom prst="rect">
            <a:avLst/>
          </a:prstGeom>
          <a:noFill/>
          <a:ln/>
        </p:spPr>
        <p:txBody>
          <a:bodyPr wrap="square" lIns="25400" tIns="25400" rIns="25400" bIns="25400" rtlCol="0" anchor="t">
            <a:normAutofit/>
          </a:bodyPr>
          <a:lstStyle/>
          <a:p>
            <a:pPr algn="l" indent="0" marL="0">
              <a:lnSpc>
                <a:spcPct val="129255"/>
              </a:lnSpc>
              <a:buNone/>
            </a:pPr>
            <a:r>
              <a:rPr lang="en-US" sz="2025" dirty="0">
                <a:solidFill>
                  <a:srgbClr val="8EA0B5">
                    <a:alpha val="99000"/>
                  </a:srgbClr>
                </a:solidFill>
                <a:latin typeface="Arial" pitchFamily="34" charset="0"/>
                <a:ea typeface="Arial" pitchFamily="34" charset="-122"/>
                <a:cs typeface="Arial" pitchFamily="34" charset="-120"/>
              </a:rPr>
              <a:t>Infrastructure dédiée à une seule organisation. Contrôle et sécurité renforcés, coût plus élevé.</a:t>
            </a:r>
            <a:endParaRPr lang="en-US" sz="2025" dirty="0"/>
          </a:p>
        </p:txBody>
      </p:sp>
      <p:sp>
        <p:nvSpPr>
          <p:cNvPr id="10" name="Shape 8"/>
          <p:cNvSpPr/>
          <p:nvPr/>
        </p:nvSpPr>
        <p:spPr>
          <a:xfrm>
            <a:off x="11988801" y="2374218"/>
            <a:ext cx="5232400" cy="2408238"/>
          </a:xfrm>
          <a:prstGeom prst="roundRect">
            <a:avLst>
              <a:gd name="adj" fmla="val 7119"/>
            </a:avLst>
          </a:prstGeom>
          <a:gradFill rotWithShape="1">
            <a:gsLst>
              <a:gs pos="0">
                <a:srgbClr val="FFB470">
                  <a:alpha val="16000"/>
                </a:srgbClr>
              </a:gs>
              <a:gs pos="100000">
                <a:srgbClr val="FFFFFF">
                  <a:alpha val="3000"/>
                </a:srgbClr>
              </a:gs>
            </a:gsLst>
            <a:lin ang="4200000" scaled="0"/>
          </a:gradFill>
          <a:ln w="6350">
            <a:solidFill>
              <a:srgbClr val="FFC48E">
                <a:alpha val="34000"/>
              </a:srgbClr>
            </a:solidFill>
            <a:prstDash val="solid"/>
          </a:ln>
        </p:spPr>
      </p:sp>
      <p:sp>
        <p:nvSpPr>
          <p:cNvPr id="11" name="Text 9"/>
          <p:cNvSpPr/>
          <p:nvPr/>
        </p:nvSpPr>
        <p:spPr>
          <a:xfrm>
            <a:off x="12319000" y="2742518"/>
            <a:ext cx="5029200" cy="400050"/>
          </a:xfrm>
          <a:prstGeom prst="rect">
            <a:avLst/>
          </a:prstGeom>
          <a:noFill/>
          <a:ln/>
        </p:spPr>
        <p:txBody>
          <a:bodyPr wrap="square" lIns="25400" tIns="25400" rIns="25400" bIns="25400" rtlCol="0" anchor="t">
            <a:normAutofit/>
          </a:bodyPr>
          <a:lstStyle/>
          <a:p>
            <a:pPr algn="l" indent="0" marL="0">
              <a:buNone/>
            </a:pPr>
            <a:r>
              <a:rPr lang="en-US" sz="2475" b="1" dirty="0">
                <a:solidFill>
                  <a:srgbClr val="FFB46E">
                    <a:alpha val="98000"/>
                  </a:srgbClr>
                </a:solidFill>
                <a:latin typeface="Arial" pitchFamily="34" charset="0"/>
                <a:ea typeface="Arial" pitchFamily="34" charset="-122"/>
                <a:cs typeface="Arial" pitchFamily="34" charset="-120"/>
              </a:rPr>
              <a:t>Hybride</a:t>
            </a:r>
            <a:endParaRPr lang="en-US" sz="2475" dirty="0"/>
          </a:p>
        </p:txBody>
      </p:sp>
      <p:sp>
        <p:nvSpPr>
          <p:cNvPr id="12" name="Text 10"/>
          <p:cNvSpPr/>
          <p:nvPr/>
        </p:nvSpPr>
        <p:spPr>
          <a:xfrm>
            <a:off x="12319000" y="3256868"/>
            <a:ext cx="4709160" cy="1195388"/>
          </a:xfrm>
          <a:prstGeom prst="rect">
            <a:avLst/>
          </a:prstGeom>
          <a:noFill/>
          <a:ln/>
        </p:spPr>
        <p:txBody>
          <a:bodyPr wrap="square" lIns="25400" tIns="25400" rIns="25400" bIns="25400" rtlCol="0" anchor="t">
            <a:normAutofit/>
          </a:bodyPr>
          <a:lstStyle/>
          <a:p>
            <a:pPr algn="l" indent="0" marL="0">
              <a:lnSpc>
                <a:spcPct val="129255"/>
              </a:lnSpc>
              <a:buNone/>
            </a:pPr>
            <a:r>
              <a:rPr lang="en-US" sz="2025" dirty="0">
                <a:solidFill>
                  <a:srgbClr val="8EA0B5">
                    <a:alpha val="98000"/>
                  </a:srgbClr>
                </a:solidFill>
                <a:latin typeface="Arial" pitchFamily="34" charset="0"/>
                <a:ea typeface="Arial" pitchFamily="34" charset="-122"/>
                <a:cs typeface="Arial" pitchFamily="34" charset="-120"/>
              </a:rPr>
              <a:t>Les deux combinés : données sensibles en interne, élasticité du public pour les pics de charge.</a:t>
            </a:r>
            <a:endParaRPr lang="en-US" sz="2025" dirty="0"/>
          </a:p>
        </p:txBody>
      </p:sp>
      <p:sp>
        <p:nvSpPr>
          <p:cNvPr id="13" name="Text 11"/>
          <p:cNvSpPr/>
          <p:nvPr/>
        </p:nvSpPr>
        <p:spPr>
          <a:xfrm>
            <a:off x="1066800" y="7829550"/>
            <a:ext cx="17769840" cy="342900"/>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8EA0B5">
                    <a:alpha val="55000"/>
                  </a:srgbClr>
                </a:solidFill>
                <a:latin typeface="Courier New" pitchFamily="34" charset="0"/>
                <a:ea typeface="Courier New" pitchFamily="34" charset="-122"/>
                <a:cs typeface="Courier New" pitchFamily="34" charset="-120"/>
              </a:rPr>
              <a:t>PRINCIPAUX FOURNISSEURS DE CLOUD PUBLIC</a:t>
            </a:r>
            <a:endParaRPr lang="en-US" sz="1800" dirty="0"/>
          </a:p>
        </p:txBody>
      </p:sp>
      <p:sp>
        <p:nvSpPr>
          <p:cNvPr id="14" name="Shape 12"/>
          <p:cNvSpPr/>
          <p:nvPr/>
        </p:nvSpPr>
        <p:spPr>
          <a:xfrm>
            <a:off x="1066800" y="8324850"/>
            <a:ext cx="5270500" cy="1143000"/>
          </a:xfrm>
          <a:prstGeom prst="roundRect">
            <a:avLst>
              <a:gd name="adj" fmla="val 11667"/>
            </a:avLst>
          </a:prstGeom>
          <a:solidFill>
            <a:srgbClr val="FFFFFF">
              <a:alpha val="55000"/>
            </a:srgbClr>
          </a:solidFill>
          <a:ln w="6350">
            <a:solidFill>
              <a:srgbClr val="FFFFFF">
                <a:alpha val="6000"/>
              </a:srgbClr>
            </a:solidFill>
            <a:prstDash val="solid"/>
          </a:ln>
        </p:spPr>
      </p:sp>
      <p:sp>
        <p:nvSpPr>
          <p:cNvPr id="15" name="Shape 13"/>
          <p:cNvSpPr/>
          <p:nvPr/>
        </p:nvSpPr>
        <p:spPr>
          <a:xfrm>
            <a:off x="1206500" y="8464550"/>
            <a:ext cx="4991100" cy="863600"/>
          </a:xfrm>
          <a:prstGeom prst="rect">
            <a:avLst/>
          </a:prstGeom>
          <a:solidFill>
            <a:srgbClr val="000000">
              <a:alpha val="2000"/>
            </a:srgbClr>
          </a:solidFill>
          <a:ln/>
        </p:spPr>
      </p:sp>
      <p:pic>
        <p:nvPicPr>
          <p:cNvPr id="16" name="Image 0" descr="preencoded.png">    </p:cNvPr>
          <p:cNvPicPr>
            <a:picLocks noChangeAspect="1"/>
          </p:cNvPicPr>
          <p:nvPr/>
        </p:nvPicPr>
        <p:blipFill>
          <a:blip r:embed="rId1">
            <a:alphaModFix amt="55000"/>
          </a:blip>
          <a:srcRect l="-94485" r="-94485" t="0" b="0"/>
          <a:stretch/>
        </p:blipFill>
        <p:spPr>
          <a:xfrm>
            <a:off x="1206500" y="8464550"/>
            <a:ext cx="4991100" cy="863600"/>
          </a:xfrm>
          <a:prstGeom prst="rect">
            <a:avLst/>
          </a:prstGeom>
        </p:spPr>
      </p:pic>
      <p:sp>
        <p:nvSpPr>
          <p:cNvPr id="17" name="Shape 14"/>
          <p:cNvSpPr/>
          <p:nvPr/>
        </p:nvSpPr>
        <p:spPr>
          <a:xfrm>
            <a:off x="6508750" y="8324850"/>
            <a:ext cx="5270500" cy="1143000"/>
          </a:xfrm>
          <a:prstGeom prst="roundRect">
            <a:avLst>
              <a:gd name="adj" fmla="val 11667"/>
            </a:avLst>
          </a:prstGeom>
          <a:solidFill>
            <a:srgbClr val="FFFFFF">
              <a:alpha val="55000"/>
            </a:srgbClr>
          </a:solidFill>
          <a:ln w="6350">
            <a:solidFill>
              <a:srgbClr val="FFFFFF">
                <a:alpha val="6000"/>
              </a:srgbClr>
            </a:solidFill>
            <a:prstDash val="solid"/>
          </a:ln>
        </p:spPr>
      </p:sp>
      <p:sp>
        <p:nvSpPr>
          <p:cNvPr id="18" name="Shape 15"/>
          <p:cNvSpPr/>
          <p:nvPr/>
        </p:nvSpPr>
        <p:spPr>
          <a:xfrm>
            <a:off x="6648450" y="8464550"/>
            <a:ext cx="4991100" cy="863600"/>
          </a:xfrm>
          <a:prstGeom prst="rect">
            <a:avLst/>
          </a:prstGeom>
          <a:solidFill>
            <a:srgbClr val="000000">
              <a:alpha val="2000"/>
            </a:srgbClr>
          </a:solidFill>
          <a:ln/>
        </p:spPr>
      </p:sp>
      <p:pic>
        <p:nvPicPr>
          <p:cNvPr id="19" name="Image 1" descr="preencoded.png">    </p:cNvPr>
          <p:cNvPicPr>
            <a:picLocks noChangeAspect="1"/>
          </p:cNvPicPr>
          <p:nvPr/>
        </p:nvPicPr>
        <p:blipFill>
          <a:blip r:embed="rId2">
            <a:alphaModFix amt="55000"/>
          </a:blip>
          <a:srcRect l="-32144" r="-32144" t="0" b="0"/>
          <a:stretch/>
        </p:blipFill>
        <p:spPr>
          <a:xfrm>
            <a:off x="6648450" y="8464550"/>
            <a:ext cx="4991100" cy="863600"/>
          </a:xfrm>
          <a:prstGeom prst="rect">
            <a:avLst/>
          </a:prstGeom>
        </p:spPr>
      </p:pic>
      <p:sp>
        <p:nvSpPr>
          <p:cNvPr id="20" name="Shape 16"/>
          <p:cNvSpPr/>
          <p:nvPr/>
        </p:nvSpPr>
        <p:spPr>
          <a:xfrm>
            <a:off x="11950701" y="8324850"/>
            <a:ext cx="5270500" cy="1143000"/>
          </a:xfrm>
          <a:prstGeom prst="roundRect">
            <a:avLst>
              <a:gd name="adj" fmla="val 11667"/>
            </a:avLst>
          </a:prstGeom>
          <a:solidFill>
            <a:srgbClr val="FFFFFF">
              <a:alpha val="55000"/>
            </a:srgbClr>
          </a:solidFill>
          <a:ln w="6350">
            <a:solidFill>
              <a:srgbClr val="FFFFFF">
                <a:alpha val="6000"/>
              </a:srgbClr>
            </a:solidFill>
            <a:prstDash val="solid"/>
          </a:ln>
        </p:spPr>
      </p:sp>
      <p:sp>
        <p:nvSpPr>
          <p:cNvPr id="21" name="Shape 17"/>
          <p:cNvSpPr/>
          <p:nvPr/>
        </p:nvSpPr>
        <p:spPr>
          <a:xfrm>
            <a:off x="12090400" y="8464550"/>
            <a:ext cx="4991100" cy="863600"/>
          </a:xfrm>
          <a:prstGeom prst="rect">
            <a:avLst/>
          </a:prstGeom>
          <a:solidFill>
            <a:srgbClr val="000000">
              <a:alpha val="2000"/>
            </a:srgbClr>
          </a:solidFill>
          <a:ln/>
        </p:spPr>
      </p:sp>
      <p:pic>
        <p:nvPicPr>
          <p:cNvPr id="22" name="Image 2" descr="preencoded.png">    </p:cNvPr>
          <p:cNvPicPr>
            <a:picLocks noChangeAspect="1"/>
          </p:cNvPicPr>
          <p:nvPr/>
        </p:nvPicPr>
        <p:blipFill>
          <a:blip r:embed="rId3">
            <a:alphaModFix amt="55000"/>
          </a:blip>
          <a:srcRect l="-94485" r="-94485" t="0" b="0"/>
          <a:stretch/>
        </p:blipFill>
        <p:spPr>
          <a:xfrm>
            <a:off x="12090400" y="8464550"/>
            <a:ext cx="4991100" cy="863600"/>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0C121C"/>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FFB46E">
                    <a:alpha val="97000"/>
                  </a:srgbClr>
                </a:solidFill>
                <a:latin typeface="Courier New" pitchFamily="34" charset="0"/>
                <a:ea typeface="Courier New" pitchFamily="34" charset="-122"/>
                <a:cs typeface="Courier New" pitchFamily="34" charset="-120"/>
              </a:rPr>
              <a:t>ATELIER 06 · PROMESSES</a:t>
            </a:r>
            <a:endParaRPr lang="en-US" sz="1800" dirty="0"/>
          </a:p>
        </p:txBody>
      </p:sp>
      <p:sp>
        <p:nvSpPr>
          <p:cNvPr id="3" name="Text 1"/>
          <p:cNvSpPr/>
          <p:nvPr/>
        </p:nvSpPr>
        <p:spPr>
          <a:xfrm>
            <a:off x="1066800" y="1314450"/>
            <a:ext cx="17769840"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Élasticité et haute disponibilité</a:t>
            </a:r>
            <a:endParaRPr lang="en-US" sz="4800" dirty="0"/>
          </a:p>
        </p:txBody>
      </p:sp>
      <p:sp>
        <p:nvSpPr>
          <p:cNvPr id="4" name="Shape 2"/>
          <p:cNvSpPr/>
          <p:nvPr/>
        </p:nvSpPr>
        <p:spPr>
          <a:xfrm>
            <a:off x="1066800" y="2405559"/>
            <a:ext cx="7934325" cy="7062292"/>
          </a:xfrm>
          <a:prstGeom prst="roundRect">
            <a:avLst>
              <a:gd name="adj" fmla="val 2428"/>
            </a:avLst>
          </a:prstGeom>
          <a:solidFill>
            <a:srgbClr val="FFFFFF">
              <a:alpha val="3000"/>
            </a:srgbClr>
          </a:solidFill>
          <a:ln w="6350">
            <a:solidFill>
              <a:srgbClr val="FFFFFF">
                <a:alpha val="10000"/>
              </a:srgbClr>
            </a:solidFill>
            <a:prstDash val="solid"/>
          </a:ln>
        </p:spPr>
      </p:sp>
      <p:sp>
        <p:nvSpPr>
          <p:cNvPr id="5" name="Text 3"/>
          <p:cNvSpPr/>
          <p:nvPr/>
        </p:nvSpPr>
        <p:spPr>
          <a:xfrm>
            <a:off x="1454150" y="2811959"/>
            <a:ext cx="7875588" cy="431800"/>
          </a:xfrm>
          <a:prstGeom prst="rect">
            <a:avLst/>
          </a:prstGeom>
          <a:noFill/>
          <a:ln/>
        </p:spPr>
        <p:txBody>
          <a:bodyPr wrap="square" lIns="25400" tIns="25400" rIns="25400" bIns="25400" rtlCol="0" anchor="t">
            <a:normAutofit/>
          </a:bodyPr>
          <a:lstStyle/>
          <a:p>
            <a:pPr algn="l" indent="0" marL="0">
              <a:buNone/>
            </a:pPr>
            <a:r>
              <a:rPr lang="en-US" sz="2700" b="1" dirty="0">
                <a:solidFill>
                  <a:srgbClr val="FFB46E"/>
                </a:solidFill>
                <a:latin typeface="Arial" pitchFamily="34" charset="0"/>
                <a:ea typeface="Arial" pitchFamily="34" charset="-122"/>
                <a:cs typeface="Arial" pitchFamily="34" charset="-120"/>
              </a:rPr>
              <a:t>Élasticité</a:t>
            </a:r>
            <a:endParaRPr lang="en-US" sz="2700" dirty="0"/>
          </a:p>
        </p:txBody>
      </p:sp>
      <p:sp>
        <p:nvSpPr>
          <p:cNvPr id="6" name="Text 4"/>
          <p:cNvSpPr/>
          <p:nvPr/>
        </p:nvSpPr>
        <p:spPr>
          <a:xfrm>
            <a:off x="1454150" y="3377109"/>
            <a:ext cx="7374414" cy="1409700"/>
          </a:xfrm>
          <a:prstGeom prst="rect">
            <a:avLst/>
          </a:prstGeom>
          <a:noFill/>
          <a:ln/>
        </p:spPr>
        <p:txBody>
          <a:bodyPr wrap="square" lIns="25400" tIns="25400" rIns="25400" bIns="25400" rtlCol="0" anchor="t">
            <a:normAutofit/>
          </a:bodyPr>
          <a:lstStyle/>
          <a:p>
            <a:pPr algn="l" indent="0" marL="0">
              <a:lnSpc>
                <a:spcPct val="130909"/>
              </a:lnSpc>
              <a:buNone/>
            </a:pPr>
            <a:r>
              <a:rPr lang="en-US" sz="2400" dirty="0">
                <a:solidFill>
                  <a:srgbClr val="8EA0B5"/>
                </a:solidFill>
                <a:latin typeface="Arial" pitchFamily="34" charset="0"/>
                <a:ea typeface="Arial" pitchFamily="34" charset="-122"/>
                <a:cs typeface="Arial" pitchFamily="34" charset="-120"/>
              </a:rPr>
              <a:t>Ajuster automatiquement les ressources — à la hausse comme à la baisse — selon la charge réelle, sans intervention manuelle.</a:t>
            </a:r>
            <a:endParaRPr lang="en-US" sz="2400" dirty="0"/>
          </a:p>
        </p:txBody>
      </p:sp>
      <p:sp>
        <p:nvSpPr>
          <p:cNvPr id="7" name="Shape 5"/>
          <p:cNvSpPr/>
          <p:nvPr/>
        </p:nvSpPr>
        <p:spPr>
          <a:xfrm>
            <a:off x="1454150" y="8848130"/>
            <a:ext cx="1370906" cy="213320"/>
          </a:xfrm>
          <a:prstGeom prst="roundRect">
            <a:avLst>
              <a:gd name="adj" fmla="val 17860"/>
            </a:avLst>
          </a:prstGeom>
          <a:solidFill>
            <a:srgbClr val="FFBA7C">
              <a:alpha val="44000"/>
            </a:srgbClr>
          </a:solidFill>
          <a:ln/>
        </p:spPr>
      </p:sp>
      <p:sp>
        <p:nvSpPr>
          <p:cNvPr id="8" name="Shape 6"/>
          <p:cNvSpPr/>
          <p:nvPr/>
        </p:nvSpPr>
        <p:spPr>
          <a:xfrm>
            <a:off x="2901255" y="8688090"/>
            <a:ext cx="1371005" cy="373360"/>
          </a:xfrm>
          <a:prstGeom prst="roundRect">
            <a:avLst>
              <a:gd name="adj" fmla="val 10205"/>
            </a:avLst>
          </a:prstGeom>
          <a:solidFill>
            <a:srgbClr val="FFBA7C">
              <a:alpha val="44000"/>
            </a:srgbClr>
          </a:solidFill>
          <a:ln/>
        </p:spPr>
      </p:sp>
      <p:sp>
        <p:nvSpPr>
          <p:cNvPr id="9" name="Shape 7"/>
          <p:cNvSpPr/>
          <p:nvPr/>
        </p:nvSpPr>
        <p:spPr>
          <a:xfrm>
            <a:off x="4348460" y="8528050"/>
            <a:ext cx="1370906" cy="533400"/>
          </a:xfrm>
          <a:prstGeom prst="roundRect">
            <a:avLst>
              <a:gd name="adj" fmla="val 7143"/>
            </a:avLst>
          </a:prstGeom>
          <a:solidFill>
            <a:srgbClr val="FFB977">
              <a:alpha val="53000"/>
            </a:srgbClr>
          </a:solidFill>
          <a:ln/>
        </p:spPr>
      </p:sp>
      <p:sp>
        <p:nvSpPr>
          <p:cNvPr id="10" name="Shape 8"/>
          <p:cNvSpPr/>
          <p:nvPr/>
        </p:nvSpPr>
        <p:spPr>
          <a:xfrm>
            <a:off x="5795566" y="8768160"/>
            <a:ext cx="1371005" cy="293291"/>
          </a:xfrm>
          <a:prstGeom prst="roundRect">
            <a:avLst>
              <a:gd name="adj" fmla="val 12991"/>
            </a:avLst>
          </a:prstGeom>
          <a:solidFill>
            <a:srgbClr val="FFBA7C">
              <a:alpha val="44000"/>
            </a:srgbClr>
          </a:solidFill>
          <a:ln/>
        </p:spPr>
      </p:sp>
      <p:sp>
        <p:nvSpPr>
          <p:cNvPr id="11" name="Shape 9"/>
          <p:cNvSpPr/>
          <p:nvPr/>
        </p:nvSpPr>
        <p:spPr>
          <a:xfrm>
            <a:off x="7242771" y="8901510"/>
            <a:ext cx="1371005" cy="159941"/>
          </a:xfrm>
          <a:prstGeom prst="roundRect">
            <a:avLst>
              <a:gd name="adj" fmla="val 23821"/>
            </a:avLst>
          </a:prstGeom>
          <a:solidFill>
            <a:srgbClr val="FFBA7C">
              <a:alpha val="44000"/>
            </a:srgbClr>
          </a:solidFill>
          <a:ln/>
        </p:spPr>
      </p:sp>
      <p:sp>
        <p:nvSpPr>
          <p:cNvPr id="12" name="Shape 10"/>
          <p:cNvSpPr/>
          <p:nvPr/>
        </p:nvSpPr>
        <p:spPr>
          <a:xfrm>
            <a:off x="9286875" y="2407123"/>
            <a:ext cx="7934325" cy="7062292"/>
          </a:xfrm>
          <a:prstGeom prst="roundRect">
            <a:avLst>
              <a:gd name="adj" fmla="val 2428"/>
            </a:avLst>
          </a:prstGeom>
          <a:solidFill>
            <a:srgbClr val="FFFFFF">
              <a:alpha val="3000"/>
            </a:srgbClr>
          </a:solidFill>
          <a:ln w="6350">
            <a:solidFill>
              <a:srgbClr val="FFFFFF">
                <a:alpha val="10000"/>
              </a:srgbClr>
            </a:solidFill>
            <a:prstDash val="solid"/>
          </a:ln>
        </p:spPr>
      </p:sp>
      <p:sp>
        <p:nvSpPr>
          <p:cNvPr id="13" name="Text 11"/>
          <p:cNvSpPr/>
          <p:nvPr/>
        </p:nvSpPr>
        <p:spPr>
          <a:xfrm>
            <a:off x="9674225" y="2813523"/>
            <a:ext cx="7875588" cy="431800"/>
          </a:xfrm>
          <a:prstGeom prst="rect">
            <a:avLst/>
          </a:prstGeom>
          <a:noFill/>
          <a:ln/>
        </p:spPr>
        <p:txBody>
          <a:bodyPr wrap="square" lIns="25400" tIns="25400" rIns="25400" bIns="25400" rtlCol="0" anchor="t">
            <a:normAutofit/>
          </a:bodyPr>
          <a:lstStyle/>
          <a:p>
            <a:pPr algn="l" indent="0" marL="0">
              <a:buNone/>
            </a:pPr>
            <a:r>
              <a:rPr lang="en-US" sz="2700" b="1" dirty="0">
                <a:solidFill>
                  <a:srgbClr val="FFB46E">
                    <a:alpha val="99000"/>
                  </a:srgbClr>
                </a:solidFill>
                <a:latin typeface="Arial" pitchFamily="34" charset="0"/>
                <a:ea typeface="Arial" pitchFamily="34" charset="-122"/>
                <a:cs typeface="Arial" pitchFamily="34" charset="-120"/>
              </a:rPr>
              <a:t>Haute disponibilité</a:t>
            </a:r>
            <a:endParaRPr lang="en-US" sz="2700" dirty="0"/>
          </a:p>
        </p:txBody>
      </p:sp>
      <p:sp>
        <p:nvSpPr>
          <p:cNvPr id="14" name="Text 12"/>
          <p:cNvSpPr/>
          <p:nvPr/>
        </p:nvSpPr>
        <p:spPr>
          <a:xfrm>
            <a:off x="9674225" y="3378673"/>
            <a:ext cx="7374414" cy="1409700"/>
          </a:xfrm>
          <a:prstGeom prst="rect">
            <a:avLst/>
          </a:prstGeom>
          <a:noFill/>
          <a:ln/>
        </p:spPr>
        <p:txBody>
          <a:bodyPr wrap="square" lIns="25400" tIns="25400" rIns="25400" bIns="25400" rtlCol="0" anchor="t">
            <a:normAutofit/>
          </a:bodyPr>
          <a:lstStyle/>
          <a:p>
            <a:pPr algn="l" indent="0" marL="0">
              <a:lnSpc>
                <a:spcPct val="130909"/>
              </a:lnSpc>
              <a:buNone/>
            </a:pPr>
            <a:r>
              <a:rPr lang="en-US" sz="2400" dirty="0">
                <a:solidFill>
                  <a:srgbClr val="8EA0B5">
                    <a:alpha val="99000"/>
                  </a:srgbClr>
                </a:solidFill>
                <a:latin typeface="Arial" pitchFamily="34" charset="0"/>
                <a:ea typeface="Arial" pitchFamily="34" charset="-122"/>
                <a:cs typeface="Arial" pitchFamily="34" charset="-120"/>
              </a:rPr>
              <a:t>Rester opérationnel malgré la panne d'un composant, par réplication des ressources sur plusieurs zones physiquement séparées.</a:t>
            </a:r>
            <a:endParaRPr lang="en-US" sz="2400" dirty="0"/>
          </a:p>
        </p:txBody>
      </p:sp>
      <p:sp>
        <p:nvSpPr>
          <p:cNvPr id="15" name="Shape 13"/>
          <p:cNvSpPr/>
          <p:nvPr/>
        </p:nvSpPr>
        <p:spPr>
          <a:xfrm>
            <a:off x="9674225" y="8402614"/>
            <a:ext cx="2293342" cy="660400"/>
          </a:xfrm>
          <a:prstGeom prst="roundRect">
            <a:avLst>
              <a:gd name="adj" fmla="val 11538"/>
            </a:avLst>
          </a:prstGeom>
          <a:solidFill>
            <a:srgbClr val="FFC085">
              <a:alpha val="28000"/>
            </a:srgbClr>
          </a:solidFill>
          <a:ln/>
        </p:spPr>
      </p:sp>
      <p:sp>
        <p:nvSpPr>
          <p:cNvPr id="16" name="Text 14"/>
          <p:cNvSpPr/>
          <p:nvPr/>
        </p:nvSpPr>
        <p:spPr>
          <a:xfrm>
            <a:off x="9807575" y="8574064"/>
            <a:ext cx="2026642" cy="355600"/>
          </a:xfrm>
          <a:prstGeom prst="rect">
            <a:avLst/>
          </a:prstGeom>
          <a:noFill/>
          <a:ln/>
        </p:spPr>
        <p:txBody>
          <a:bodyPr wrap="square" lIns="25400" tIns="25400" rIns="25400" bIns="25400" rtlCol="0" anchor="t">
            <a:normAutofit/>
          </a:bodyPr>
          <a:lstStyle/>
          <a:p>
            <a:pPr algn="ctr" indent="0" marL="0">
              <a:buNone/>
            </a:pPr>
            <a:r>
              <a:rPr lang="en-US" sz="1800" dirty="0">
                <a:solidFill>
                  <a:srgbClr val="EEF3F9">
                    <a:alpha val="99000"/>
                  </a:srgbClr>
                </a:solidFill>
                <a:latin typeface="Courier New" pitchFamily="34" charset="0"/>
                <a:ea typeface="Courier New" pitchFamily="34" charset="-122"/>
                <a:cs typeface="Courier New" pitchFamily="34" charset="-120"/>
              </a:rPr>
              <a:t>Zone A</a:t>
            </a:r>
            <a:endParaRPr lang="en-US" sz="1800" dirty="0"/>
          </a:p>
        </p:txBody>
      </p:sp>
      <p:sp>
        <p:nvSpPr>
          <p:cNvPr id="17" name="Shape 15"/>
          <p:cNvSpPr/>
          <p:nvPr/>
        </p:nvSpPr>
        <p:spPr>
          <a:xfrm>
            <a:off x="12100917" y="8402614"/>
            <a:ext cx="2293441" cy="660400"/>
          </a:xfrm>
          <a:prstGeom prst="roundRect">
            <a:avLst>
              <a:gd name="adj" fmla="val 11538"/>
            </a:avLst>
          </a:prstGeom>
          <a:solidFill>
            <a:srgbClr val="FFC085">
              <a:alpha val="28000"/>
            </a:srgbClr>
          </a:solidFill>
          <a:ln/>
        </p:spPr>
      </p:sp>
      <p:sp>
        <p:nvSpPr>
          <p:cNvPr id="18" name="Text 16"/>
          <p:cNvSpPr/>
          <p:nvPr/>
        </p:nvSpPr>
        <p:spPr>
          <a:xfrm>
            <a:off x="12234267" y="8574064"/>
            <a:ext cx="2026741" cy="355600"/>
          </a:xfrm>
          <a:prstGeom prst="rect">
            <a:avLst/>
          </a:prstGeom>
          <a:noFill/>
          <a:ln/>
        </p:spPr>
        <p:txBody>
          <a:bodyPr wrap="square" lIns="25400" tIns="25400" rIns="25400" bIns="25400" rtlCol="0" anchor="t">
            <a:normAutofit/>
          </a:bodyPr>
          <a:lstStyle/>
          <a:p>
            <a:pPr algn="ctr" indent="0" marL="0">
              <a:buNone/>
            </a:pPr>
            <a:r>
              <a:rPr lang="en-US" sz="1800" dirty="0">
                <a:solidFill>
                  <a:srgbClr val="EEF3F9">
                    <a:alpha val="99000"/>
                  </a:srgbClr>
                </a:solidFill>
                <a:latin typeface="Courier New" pitchFamily="34" charset="0"/>
                <a:ea typeface="Courier New" pitchFamily="34" charset="-122"/>
                <a:cs typeface="Courier New" pitchFamily="34" charset="-120"/>
              </a:rPr>
              <a:t>Zone B</a:t>
            </a:r>
            <a:endParaRPr lang="en-US" sz="1800" dirty="0"/>
          </a:p>
        </p:txBody>
      </p:sp>
      <p:sp>
        <p:nvSpPr>
          <p:cNvPr id="19" name="Shape 17"/>
          <p:cNvSpPr/>
          <p:nvPr/>
        </p:nvSpPr>
        <p:spPr>
          <a:xfrm>
            <a:off x="14527709" y="8402614"/>
            <a:ext cx="2306142" cy="660400"/>
          </a:xfrm>
          <a:prstGeom prst="roundRect">
            <a:avLst>
              <a:gd name="adj" fmla="val 11538"/>
            </a:avLst>
          </a:prstGeom>
          <a:solidFill>
            <a:srgbClr val="FFFFFF">
              <a:alpha val="6000"/>
            </a:srgbClr>
          </a:solidFill>
          <a:ln w="6350">
            <a:solidFill>
              <a:srgbClr val="FFFFFF">
                <a:alpha val="10000"/>
              </a:srgbClr>
            </a:solidFill>
            <a:prstDash val="dash"/>
          </a:ln>
        </p:spPr>
      </p:sp>
      <p:sp>
        <p:nvSpPr>
          <p:cNvPr id="20" name="Text 18"/>
          <p:cNvSpPr/>
          <p:nvPr/>
        </p:nvSpPr>
        <p:spPr>
          <a:xfrm>
            <a:off x="14667409" y="8580414"/>
            <a:ext cx="2026741"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8EA0B5">
                    <a:alpha val="99000"/>
                  </a:srgbClr>
                </a:solidFill>
                <a:latin typeface="Courier New" pitchFamily="34" charset="0"/>
                <a:ea typeface="Courier New" pitchFamily="34" charset="-122"/>
                <a:cs typeface="Courier New" pitchFamily="34" charset="-120"/>
              </a:rPr>
              <a:t>Zone C</a:t>
            </a:r>
            <a:endParaRPr lang="en-US" sz="18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0A0E15"/>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FFB46E">
                    <a:alpha val="97000"/>
                  </a:srgbClr>
                </a:solidFill>
                <a:latin typeface="Courier New" pitchFamily="34" charset="0"/>
                <a:ea typeface="Courier New" pitchFamily="34" charset="-122"/>
                <a:cs typeface="Courier New" pitchFamily="34" charset="-120"/>
              </a:rPr>
              <a:t>ATELIER 06 · AWS</a:t>
            </a:r>
            <a:endParaRPr lang="en-US" sz="1800" dirty="0"/>
          </a:p>
        </p:txBody>
      </p:sp>
      <p:sp>
        <p:nvSpPr>
          <p:cNvPr id="3" name="Text 1"/>
          <p:cNvSpPr/>
          <p:nvPr/>
        </p:nvSpPr>
        <p:spPr>
          <a:xfrm>
            <a:off x="1066800" y="1314451"/>
            <a:ext cx="11188005"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Régions et zones de disponibilité</a:t>
            </a:r>
            <a:endParaRPr lang="en-US" sz="4800" dirty="0"/>
          </a:p>
        </p:txBody>
      </p:sp>
      <p:sp>
        <p:nvSpPr>
          <p:cNvPr id="4" name="Shape 2"/>
          <p:cNvSpPr/>
          <p:nvPr/>
        </p:nvSpPr>
        <p:spPr>
          <a:xfrm>
            <a:off x="1066800" y="2370460"/>
            <a:ext cx="16154400" cy="7100392"/>
          </a:xfrm>
          <a:prstGeom prst="roundRect">
            <a:avLst>
              <a:gd name="adj" fmla="val 2683"/>
            </a:avLst>
          </a:prstGeom>
          <a:solidFill>
            <a:srgbClr val="FFFFFF">
              <a:alpha val="3000"/>
            </a:srgbClr>
          </a:solidFill>
          <a:ln w="6350">
            <a:solidFill>
              <a:srgbClr val="FFFFFF">
                <a:alpha val="10000"/>
              </a:srgbClr>
            </a:solidFill>
            <a:prstDash val="solid"/>
          </a:ln>
        </p:spPr>
      </p:sp>
      <p:sp>
        <p:nvSpPr>
          <p:cNvPr id="5" name="Text 3"/>
          <p:cNvSpPr/>
          <p:nvPr/>
        </p:nvSpPr>
        <p:spPr>
          <a:xfrm>
            <a:off x="1492250" y="2795910"/>
            <a:ext cx="16833851" cy="368300"/>
          </a:xfrm>
          <a:prstGeom prst="rect">
            <a:avLst/>
          </a:prstGeom>
          <a:noFill/>
          <a:ln/>
        </p:spPr>
        <p:txBody>
          <a:bodyPr wrap="square" lIns="25400" tIns="25400" rIns="25400" bIns="25400" rtlCol="0" anchor="t">
            <a:normAutofit/>
          </a:bodyPr>
          <a:lstStyle/>
          <a:p>
            <a:pPr algn="l" indent="0" marL="0">
              <a:buNone/>
            </a:pPr>
            <a:r>
              <a:rPr lang="en-US" sz="1950" dirty="0">
                <a:solidFill>
                  <a:srgbClr val="FFB46E">
                    <a:alpha val="99000"/>
                  </a:srgbClr>
                </a:solidFill>
                <a:latin typeface="Courier New" pitchFamily="34" charset="0"/>
                <a:ea typeface="Courier New" pitchFamily="34" charset="-122"/>
                <a:cs typeface="Courier New" pitchFamily="34" charset="-120"/>
              </a:rPr>
              <a:t>Région eu-west-3 </a:t>
            </a:r>
            <a:pPr algn="l" indent="0" marL="0">
              <a:buNone/>
            </a:pPr>
            <a:r>
              <a:rPr lang="en-US" sz="1950" dirty="0">
                <a:solidFill>
                  <a:srgbClr val="8EA0B5">
                    <a:alpha val="99000"/>
                  </a:srgbClr>
                </a:solidFill>
                <a:latin typeface="Courier New" pitchFamily="34" charset="0"/>
                <a:ea typeface="Courier New" pitchFamily="34" charset="-122"/>
                <a:cs typeface="Courier New" pitchFamily="34" charset="-120"/>
              </a:rPr>
              <a:t>(Paris)</a:t>
            </a:r>
            <a:endParaRPr lang="en-US" sz="1950" dirty="0"/>
          </a:p>
        </p:txBody>
      </p:sp>
      <p:sp>
        <p:nvSpPr>
          <p:cNvPr id="6" name="Shape 4"/>
          <p:cNvSpPr/>
          <p:nvPr/>
        </p:nvSpPr>
        <p:spPr>
          <a:xfrm>
            <a:off x="1464454" y="3402914"/>
            <a:ext cx="4991626" cy="5027546"/>
          </a:xfrm>
          <a:prstGeom prst="roundRect">
            <a:avLst>
              <a:gd name="adj" fmla="val 2702"/>
            </a:avLst>
          </a:prstGeom>
          <a:solidFill>
            <a:srgbClr val="FFFFFF">
              <a:alpha val="6000"/>
            </a:srgbClr>
          </a:solidFill>
          <a:ln w="6422">
            <a:solidFill>
              <a:srgbClr val="FFFFFF">
                <a:alpha val="10000"/>
              </a:srgbClr>
            </a:solidFill>
            <a:prstDash val="solid"/>
          </a:ln>
        </p:spPr>
      </p:sp>
      <p:sp>
        <p:nvSpPr>
          <p:cNvPr id="7" name="Text 5"/>
          <p:cNvSpPr/>
          <p:nvPr/>
        </p:nvSpPr>
        <p:spPr>
          <a:xfrm>
            <a:off x="3647168" y="5402916"/>
            <a:ext cx="702398" cy="372019"/>
          </a:xfrm>
          <a:prstGeom prst="rect">
            <a:avLst/>
          </a:prstGeom>
          <a:noFill/>
          <a:ln/>
        </p:spPr>
        <p:txBody>
          <a:bodyPr wrap="square" lIns="25400" tIns="25400" rIns="25400" bIns="25400" rtlCol="0" anchor="t">
            <a:normAutofit/>
          </a:bodyPr>
          <a:lstStyle/>
          <a:p>
            <a:pPr algn="l" indent="0" marL="0">
              <a:buNone/>
            </a:pPr>
            <a:r>
              <a:rPr lang="en-US" sz="2275" b="1" dirty="0">
                <a:solidFill>
                  <a:srgbClr val="EEF3F9">
                    <a:alpha val="99000"/>
                  </a:srgbClr>
                </a:solidFill>
                <a:latin typeface="Arial" pitchFamily="34" charset="0"/>
                <a:ea typeface="Arial" pitchFamily="34" charset="-122"/>
                <a:cs typeface="Arial" pitchFamily="34" charset="-120"/>
              </a:rPr>
              <a:t>AZ-a</a:t>
            </a:r>
            <a:endParaRPr lang="en-US" sz="2275" dirty="0"/>
          </a:p>
        </p:txBody>
      </p:sp>
      <p:sp>
        <p:nvSpPr>
          <p:cNvPr id="8" name="Shape 6"/>
          <p:cNvSpPr/>
          <p:nvPr/>
        </p:nvSpPr>
        <p:spPr>
          <a:xfrm>
            <a:off x="1798373" y="5890951"/>
            <a:ext cx="4323788" cy="77058"/>
          </a:xfrm>
          <a:prstGeom prst="roundRect">
            <a:avLst>
              <a:gd name="adj" fmla="val 50000"/>
            </a:avLst>
          </a:prstGeom>
          <a:solidFill>
            <a:srgbClr val="FFBA7C">
              <a:alpha val="43000"/>
            </a:srgbClr>
          </a:solidFill>
          <a:ln/>
        </p:spPr>
      </p:sp>
      <p:sp>
        <p:nvSpPr>
          <p:cNvPr id="9" name="Text 7"/>
          <p:cNvSpPr/>
          <p:nvPr/>
        </p:nvSpPr>
        <p:spPr>
          <a:xfrm>
            <a:off x="3266693" y="6122126"/>
            <a:ext cx="1525752" cy="346332"/>
          </a:xfrm>
          <a:prstGeom prst="rect">
            <a:avLst/>
          </a:prstGeom>
          <a:noFill/>
          <a:ln/>
        </p:spPr>
        <p:txBody>
          <a:bodyPr wrap="square" lIns="25400" tIns="25400" rIns="25400" bIns="25400" rtlCol="0" anchor="t">
            <a:normAutofit/>
          </a:bodyPr>
          <a:lstStyle/>
          <a:p>
            <a:pPr algn="l" indent="0" marL="0">
              <a:buNone/>
            </a:pPr>
            <a:r>
              <a:rPr lang="en-US" sz="1820" dirty="0">
                <a:solidFill>
                  <a:srgbClr val="8EA0B5">
                    <a:alpha val="99000"/>
                  </a:srgbClr>
                </a:solidFill>
                <a:latin typeface="Courier New" pitchFamily="34" charset="0"/>
                <a:ea typeface="Courier New" pitchFamily="34" charset="-122"/>
                <a:cs typeface="Courier New" pitchFamily="34" charset="-120"/>
              </a:rPr>
              <a:t>Datacenter</a:t>
            </a:r>
            <a:endParaRPr lang="en-US" sz="1820" dirty="0"/>
          </a:p>
        </p:txBody>
      </p:sp>
      <p:sp>
        <p:nvSpPr>
          <p:cNvPr id="10" name="Shape 8"/>
          <p:cNvSpPr/>
          <p:nvPr/>
        </p:nvSpPr>
        <p:spPr>
          <a:xfrm>
            <a:off x="6648589" y="3403369"/>
            <a:ext cx="4990823" cy="5026636"/>
          </a:xfrm>
          <a:prstGeom prst="roundRect">
            <a:avLst>
              <a:gd name="adj" fmla="val 2702"/>
            </a:avLst>
          </a:prstGeom>
          <a:solidFill>
            <a:srgbClr val="FFFFFF">
              <a:alpha val="6000"/>
            </a:srgbClr>
          </a:solidFill>
          <a:ln w="6420">
            <a:solidFill>
              <a:srgbClr val="FFFFFF">
                <a:alpha val="10000"/>
              </a:srgbClr>
            </a:solidFill>
            <a:prstDash val="solid"/>
          </a:ln>
        </p:spPr>
      </p:sp>
      <p:sp>
        <p:nvSpPr>
          <p:cNvPr id="11" name="Text 9"/>
          <p:cNvSpPr/>
          <p:nvPr/>
        </p:nvSpPr>
        <p:spPr>
          <a:xfrm>
            <a:off x="8830907" y="5403009"/>
            <a:ext cx="702285" cy="371959"/>
          </a:xfrm>
          <a:prstGeom prst="rect">
            <a:avLst/>
          </a:prstGeom>
          <a:noFill/>
          <a:ln/>
        </p:spPr>
        <p:txBody>
          <a:bodyPr wrap="square" lIns="25400" tIns="25400" rIns="25400" bIns="25400" rtlCol="0" anchor="t">
            <a:normAutofit/>
          </a:bodyPr>
          <a:lstStyle/>
          <a:p>
            <a:pPr algn="l" indent="0" marL="0">
              <a:buNone/>
            </a:pPr>
            <a:r>
              <a:rPr lang="en-US" sz="2275" b="1" dirty="0">
                <a:solidFill>
                  <a:srgbClr val="EEF3F9">
                    <a:alpha val="99000"/>
                  </a:srgbClr>
                </a:solidFill>
                <a:latin typeface="Arial" pitchFamily="34" charset="0"/>
                <a:ea typeface="Arial" pitchFamily="34" charset="-122"/>
                <a:cs typeface="Arial" pitchFamily="34" charset="-120"/>
              </a:rPr>
              <a:t>AZ-b</a:t>
            </a:r>
            <a:endParaRPr lang="en-US" sz="2275" dirty="0"/>
          </a:p>
        </p:txBody>
      </p:sp>
      <p:sp>
        <p:nvSpPr>
          <p:cNvPr id="12" name="Shape 10"/>
          <p:cNvSpPr/>
          <p:nvPr/>
        </p:nvSpPr>
        <p:spPr>
          <a:xfrm>
            <a:off x="6982447" y="5890956"/>
            <a:ext cx="4323107" cy="77044"/>
          </a:xfrm>
          <a:prstGeom prst="roundRect">
            <a:avLst>
              <a:gd name="adj" fmla="val 50000"/>
            </a:avLst>
          </a:prstGeom>
          <a:solidFill>
            <a:srgbClr val="FFBA7C">
              <a:alpha val="43000"/>
            </a:srgbClr>
          </a:solidFill>
          <a:ln/>
        </p:spPr>
      </p:sp>
      <p:sp>
        <p:nvSpPr>
          <p:cNvPr id="13" name="Text 11"/>
          <p:cNvSpPr/>
          <p:nvPr/>
        </p:nvSpPr>
        <p:spPr>
          <a:xfrm>
            <a:off x="8450602" y="6122089"/>
            <a:ext cx="1525476" cy="346277"/>
          </a:xfrm>
          <a:prstGeom prst="rect">
            <a:avLst/>
          </a:prstGeom>
          <a:noFill/>
          <a:ln/>
        </p:spPr>
        <p:txBody>
          <a:bodyPr wrap="square" lIns="25400" tIns="25400" rIns="25400" bIns="25400" rtlCol="0" anchor="t">
            <a:normAutofit/>
          </a:bodyPr>
          <a:lstStyle/>
          <a:p>
            <a:pPr algn="l" indent="0" marL="0">
              <a:buNone/>
            </a:pPr>
            <a:r>
              <a:rPr lang="en-US" sz="1820" dirty="0">
                <a:solidFill>
                  <a:srgbClr val="8EA0B5">
                    <a:alpha val="99000"/>
                  </a:srgbClr>
                </a:solidFill>
                <a:latin typeface="Courier New" pitchFamily="34" charset="0"/>
                <a:ea typeface="Courier New" pitchFamily="34" charset="-122"/>
                <a:cs typeface="Courier New" pitchFamily="34" charset="-120"/>
              </a:rPr>
              <a:t>Datacenter</a:t>
            </a:r>
            <a:endParaRPr lang="en-US" sz="1820" dirty="0"/>
          </a:p>
        </p:txBody>
      </p:sp>
      <p:sp>
        <p:nvSpPr>
          <p:cNvPr id="14" name="Shape 12"/>
          <p:cNvSpPr/>
          <p:nvPr/>
        </p:nvSpPr>
        <p:spPr>
          <a:xfrm>
            <a:off x="11869048" y="3440307"/>
            <a:ext cx="4917374" cy="4952760"/>
          </a:xfrm>
          <a:prstGeom prst="roundRect">
            <a:avLst>
              <a:gd name="adj" fmla="val 2702"/>
            </a:avLst>
          </a:prstGeom>
          <a:solidFill>
            <a:srgbClr val="FFFFFF">
              <a:alpha val="6000"/>
            </a:srgbClr>
          </a:solidFill>
          <a:ln w="6326">
            <a:solidFill>
              <a:srgbClr val="FFFFFF">
                <a:alpha val="10000"/>
              </a:srgbClr>
            </a:solidFill>
            <a:prstDash val="solid"/>
          </a:ln>
        </p:spPr>
      </p:sp>
      <p:sp>
        <p:nvSpPr>
          <p:cNvPr id="15" name="Text 13"/>
          <p:cNvSpPr/>
          <p:nvPr/>
        </p:nvSpPr>
        <p:spPr>
          <a:xfrm>
            <a:off x="14027200" y="5410558"/>
            <a:ext cx="677170" cy="367052"/>
          </a:xfrm>
          <a:prstGeom prst="rect">
            <a:avLst/>
          </a:prstGeom>
          <a:noFill/>
          <a:ln/>
        </p:spPr>
        <p:txBody>
          <a:bodyPr wrap="square" lIns="25400" tIns="25400" rIns="25400" bIns="25400" rtlCol="0" anchor="t">
            <a:normAutofit/>
          </a:bodyPr>
          <a:lstStyle/>
          <a:p>
            <a:pPr algn="l" indent="0" marL="0">
              <a:buNone/>
            </a:pPr>
            <a:r>
              <a:rPr lang="en-US" sz="2241" b="1" dirty="0">
                <a:solidFill>
                  <a:srgbClr val="EEF3F9">
                    <a:alpha val="97000"/>
                  </a:srgbClr>
                </a:solidFill>
                <a:latin typeface="Arial" pitchFamily="34" charset="0"/>
                <a:ea typeface="Arial" pitchFamily="34" charset="-122"/>
                <a:cs typeface="Arial" pitchFamily="34" charset="-120"/>
              </a:rPr>
              <a:t>AZ-c</a:t>
            </a:r>
            <a:endParaRPr lang="en-US" sz="2241" dirty="0"/>
          </a:p>
        </p:txBody>
      </p:sp>
      <p:sp>
        <p:nvSpPr>
          <p:cNvPr id="16" name="Shape 14"/>
          <p:cNvSpPr/>
          <p:nvPr/>
        </p:nvSpPr>
        <p:spPr>
          <a:xfrm>
            <a:off x="12198000" y="5891333"/>
            <a:ext cx="4259470" cy="75912"/>
          </a:xfrm>
          <a:prstGeom prst="roundRect">
            <a:avLst>
              <a:gd name="adj" fmla="val 50000"/>
            </a:avLst>
          </a:prstGeom>
          <a:solidFill>
            <a:srgbClr val="FFBA7C">
              <a:alpha val="42000"/>
            </a:srgbClr>
          </a:solidFill>
          <a:ln/>
        </p:spPr>
      </p:sp>
      <p:sp>
        <p:nvSpPr>
          <p:cNvPr id="17" name="Text 15"/>
          <p:cNvSpPr/>
          <p:nvPr/>
        </p:nvSpPr>
        <p:spPr>
          <a:xfrm>
            <a:off x="13644476" y="6119070"/>
            <a:ext cx="1503057" cy="341748"/>
          </a:xfrm>
          <a:prstGeom prst="rect">
            <a:avLst/>
          </a:prstGeom>
          <a:noFill/>
          <a:ln/>
        </p:spPr>
        <p:txBody>
          <a:bodyPr wrap="square" lIns="25400" tIns="25400" rIns="25400" bIns="25400" rtlCol="0" anchor="t">
            <a:normAutofit/>
          </a:bodyPr>
          <a:lstStyle/>
          <a:p>
            <a:pPr algn="l" indent="0" marL="0">
              <a:buNone/>
            </a:pPr>
            <a:r>
              <a:rPr lang="en-US" sz="1793" dirty="0">
                <a:solidFill>
                  <a:srgbClr val="8EA0B5">
                    <a:alpha val="97000"/>
                  </a:srgbClr>
                </a:solidFill>
                <a:latin typeface="Courier New" pitchFamily="34" charset="0"/>
                <a:ea typeface="Courier New" pitchFamily="34" charset="-122"/>
                <a:cs typeface="Courier New" pitchFamily="34" charset="-120"/>
              </a:rPr>
              <a:t>Datacenter</a:t>
            </a:r>
            <a:endParaRPr lang="en-US" sz="1793" dirty="0"/>
          </a:p>
        </p:txBody>
      </p:sp>
      <p:sp>
        <p:nvSpPr>
          <p:cNvPr id="18" name="Text 16"/>
          <p:cNvSpPr/>
          <p:nvPr/>
        </p:nvSpPr>
        <p:spPr>
          <a:xfrm>
            <a:off x="1492250" y="8688214"/>
            <a:ext cx="16833851" cy="395288"/>
          </a:xfrm>
          <a:prstGeom prst="rect">
            <a:avLst/>
          </a:prstGeom>
          <a:noFill/>
          <a:ln/>
        </p:spPr>
        <p:txBody>
          <a:bodyPr wrap="square" lIns="25400" tIns="25400" rIns="25400" bIns="25400" rtlCol="0" anchor="t">
            <a:normAutofit/>
          </a:bodyPr>
          <a:lstStyle/>
          <a:p>
            <a:pPr algn="l" indent="0" marL="0">
              <a:lnSpc>
                <a:spcPct val="130814"/>
              </a:lnSpc>
              <a:buNone/>
            </a:pPr>
            <a:r>
              <a:rPr lang="en-US" sz="1875" dirty="0">
                <a:solidFill>
                  <a:srgbClr val="8EA0B5">
                    <a:alpha val="99000"/>
                  </a:srgbClr>
                </a:solidFill>
                <a:latin typeface="Arial" pitchFamily="34" charset="0"/>
                <a:ea typeface="Arial" pitchFamily="34" charset="-122"/>
                <a:cs typeface="Arial" pitchFamily="34" charset="-120"/>
              </a:rPr>
              <a:t>Réseau à faible latence entre AZ · répartir les ressources permet de </a:t>
            </a:r>
            <a:pPr algn="l" indent="0" marL="0">
              <a:lnSpc>
                <a:spcPct val="130814"/>
              </a:lnSpc>
              <a:buNone/>
            </a:pPr>
            <a:r>
              <a:rPr lang="en-US" sz="1875" dirty="0">
                <a:solidFill>
                  <a:srgbClr val="EEF3F9">
                    <a:alpha val="99000"/>
                  </a:srgbClr>
                </a:solidFill>
                <a:latin typeface="Arial" pitchFamily="34" charset="0"/>
                <a:ea typeface="Arial" pitchFamily="34" charset="-122"/>
                <a:cs typeface="Arial" pitchFamily="34" charset="-120"/>
              </a:rPr>
              <a:t>survivre à la panne d'un datacenter</a:t>
            </a:r>
            <a:pPr algn="l" indent="0" marL="0">
              <a:lnSpc>
                <a:spcPct val="130814"/>
              </a:lnSpc>
              <a:buNone/>
            </a:pPr>
            <a:r>
              <a:rPr lang="en-US" sz="1875" dirty="0">
                <a:solidFill>
                  <a:srgbClr val="8EA0B5">
                    <a:alpha val="99000"/>
                  </a:srgbClr>
                </a:solidFill>
                <a:latin typeface="Arial" pitchFamily="34" charset="0"/>
                <a:ea typeface="Arial" pitchFamily="34" charset="-122"/>
                <a:cs typeface="Arial" pitchFamily="34" charset="-120"/>
              </a:rPr>
              <a:t>.</a:t>
            </a:r>
            <a:endParaRPr lang="en-US" sz="1875"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0C121C"/>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FFB46E">
                    <a:alpha val="97000"/>
                  </a:srgbClr>
                </a:solidFill>
                <a:latin typeface="Courier New" pitchFamily="34" charset="0"/>
                <a:ea typeface="Courier New" pitchFamily="34" charset="-122"/>
                <a:cs typeface="Courier New" pitchFamily="34" charset="-120"/>
              </a:rPr>
              <a:t>ATELIER 06 · AWS</a:t>
            </a:r>
            <a:endParaRPr lang="en-US" sz="1800" dirty="0"/>
          </a:p>
        </p:txBody>
      </p:sp>
      <p:sp>
        <p:nvSpPr>
          <p:cNvPr id="3" name="Text 1"/>
          <p:cNvSpPr/>
          <p:nvPr/>
        </p:nvSpPr>
        <p:spPr>
          <a:xfrm>
            <a:off x="1066800" y="1314451"/>
            <a:ext cx="17769840"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Les services AWS fondamentaux</a:t>
            </a:r>
            <a:endParaRPr lang="en-US" sz="4800" dirty="0"/>
          </a:p>
        </p:txBody>
      </p:sp>
      <p:sp>
        <p:nvSpPr>
          <p:cNvPr id="4" name="Shape 2"/>
          <p:cNvSpPr/>
          <p:nvPr/>
        </p:nvSpPr>
        <p:spPr>
          <a:xfrm>
            <a:off x="1066800" y="2367460"/>
            <a:ext cx="3063180" cy="7100392"/>
          </a:xfrm>
          <a:prstGeom prst="roundRect">
            <a:avLst>
              <a:gd name="adj" fmla="val 4975"/>
            </a:avLst>
          </a:prstGeom>
          <a:gradFill rotWithShape="1">
            <a:gsLst>
              <a:gs pos="0">
                <a:srgbClr val="FFB16A">
                  <a:alpha val="14000"/>
                </a:srgbClr>
              </a:gs>
              <a:gs pos="100000">
                <a:srgbClr val="FFFFFF">
                  <a:alpha val="3000"/>
                </a:srgbClr>
              </a:gs>
            </a:gsLst>
            <a:lin ang="4200000" scaled="0"/>
          </a:gradFill>
          <a:ln w="6350">
            <a:solidFill>
              <a:srgbClr val="FFC491">
                <a:alpha val="34000"/>
              </a:srgbClr>
            </a:solidFill>
            <a:prstDash val="solid"/>
          </a:ln>
        </p:spPr>
      </p:sp>
      <p:sp>
        <p:nvSpPr>
          <p:cNvPr id="5" name="Text 3"/>
          <p:cNvSpPr/>
          <p:nvPr/>
        </p:nvSpPr>
        <p:spPr>
          <a:xfrm>
            <a:off x="1339850" y="2678610"/>
            <a:ext cx="276878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FB46E"/>
                </a:solidFill>
                <a:latin typeface="Courier New" pitchFamily="34" charset="0"/>
                <a:ea typeface="Courier New" pitchFamily="34" charset="-122"/>
                <a:cs typeface="Courier New" pitchFamily="34" charset="-120"/>
              </a:rPr>
              <a:t>EC2</a:t>
            </a:r>
            <a:endParaRPr lang="en-US" sz="1800" dirty="0"/>
          </a:p>
        </p:txBody>
      </p:sp>
      <p:sp>
        <p:nvSpPr>
          <p:cNvPr id="6" name="Text 4"/>
          <p:cNvSpPr/>
          <p:nvPr/>
        </p:nvSpPr>
        <p:spPr>
          <a:xfrm>
            <a:off x="1339850" y="3097710"/>
            <a:ext cx="2768789" cy="349250"/>
          </a:xfrm>
          <a:prstGeom prst="rect">
            <a:avLst/>
          </a:prstGeom>
          <a:noFill/>
          <a:ln/>
        </p:spPr>
        <p:txBody>
          <a:bodyPr wrap="square" lIns="25400" tIns="25400" rIns="25400" bIns="25400" rtlCol="0" anchor="t">
            <a:normAutofit/>
          </a:bodyPr>
          <a:lstStyle/>
          <a:p>
            <a:pPr algn="l" indent="0" marL="0">
              <a:buNone/>
            </a:pPr>
            <a:r>
              <a:rPr lang="en-US" sz="2175" b="1" dirty="0">
                <a:solidFill>
                  <a:srgbClr val="EEF3F9"/>
                </a:solidFill>
                <a:latin typeface="Arial" pitchFamily="34" charset="0"/>
                <a:ea typeface="Arial" pitchFamily="34" charset="-122"/>
                <a:cs typeface="Arial" pitchFamily="34" charset="-120"/>
              </a:rPr>
              <a:t>Calcul</a:t>
            </a:r>
            <a:endParaRPr lang="en-US" sz="2175" dirty="0"/>
          </a:p>
        </p:txBody>
      </p:sp>
      <p:sp>
        <p:nvSpPr>
          <p:cNvPr id="7" name="Text 5"/>
          <p:cNvSpPr/>
          <p:nvPr/>
        </p:nvSpPr>
        <p:spPr>
          <a:xfrm>
            <a:off x="1339850" y="3523160"/>
            <a:ext cx="2593281" cy="1363663"/>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8EA0B5"/>
                </a:solidFill>
                <a:latin typeface="Arial" pitchFamily="34" charset="0"/>
                <a:ea typeface="Arial" pitchFamily="34" charset="-122"/>
                <a:cs typeface="Arial" pitchFamily="34" charset="-120"/>
              </a:rPr>
              <a:t>Machines virtuelles (instances) à la demande, facturées à l'usage.</a:t>
            </a:r>
            <a:endParaRPr lang="en-US" sz="1800" dirty="0"/>
          </a:p>
        </p:txBody>
      </p:sp>
      <p:sp>
        <p:nvSpPr>
          <p:cNvPr id="8" name="Shape 6"/>
          <p:cNvSpPr/>
          <p:nvPr/>
        </p:nvSpPr>
        <p:spPr>
          <a:xfrm>
            <a:off x="4339530" y="2368373"/>
            <a:ext cx="3063280" cy="7100392"/>
          </a:xfrm>
          <a:prstGeom prst="roundRect">
            <a:avLst>
              <a:gd name="adj" fmla="val 4975"/>
            </a:avLst>
          </a:prstGeom>
          <a:gradFill rotWithShape="1">
            <a:gsLst>
              <a:gs pos="0">
                <a:srgbClr val="FFB16A">
                  <a:alpha val="14000"/>
                </a:srgbClr>
              </a:gs>
              <a:gs pos="100000">
                <a:srgbClr val="FFFFFF">
                  <a:alpha val="3000"/>
                </a:srgbClr>
              </a:gs>
            </a:gsLst>
            <a:lin ang="4200000" scaled="0"/>
          </a:gradFill>
          <a:ln w="6350">
            <a:solidFill>
              <a:srgbClr val="FFC491">
                <a:alpha val="34000"/>
              </a:srgbClr>
            </a:solidFill>
            <a:prstDash val="solid"/>
          </a:ln>
        </p:spPr>
      </p:sp>
      <p:sp>
        <p:nvSpPr>
          <p:cNvPr id="9" name="Text 7"/>
          <p:cNvSpPr/>
          <p:nvPr/>
        </p:nvSpPr>
        <p:spPr>
          <a:xfrm>
            <a:off x="4612581" y="2679522"/>
            <a:ext cx="2768898"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FB46E"/>
                </a:solidFill>
                <a:latin typeface="Courier New" pitchFamily="34" charset="0"/>
                <a:ea typeface="Courier New" pitchFamily="34" charset="-122"/>
                <a:cs typeface="Courier New" pitchFamily="34" charset="-120"/>
              </a:rPr>
              <a:t>S3</a:t>
            </a:r>
            <a:endParaRPr lang="en-US" sz="1800" dirty="0"/>
          </a:p>
        </p:txBody>
      </p:sp>
      <p:sp>
        <p:nvSpPr>
          <p:cNvPr id="10" name="Text 8"/>
          <p:cNvSpPr/>
          <p:nvPr/>
        </p:nvSpPr>
        <p:spPr>
          <a:xfrm>
            <a:off x="4612581" y="3098622"/>
            <a:ext cx="2768898" cy="349250"/>
          </a:xfrm>
          <a:prstGeom prst="rect">
            <a:avLst/>
          </a:prstGeom>
          <a:noFill/>
          <a:ln/>
        </p:spPr>
        <p:txBody>
          <a:bodyPr wrap="square" lIns="25400" tIns="25400" rIns="25400" bIns="25400" rtlCol="0" anchor="t">
            <a:normAutofit/>
          </a:bodyPr>
          <a:lstStyle/>
          <a:p>
            <a:pPr algn="l" indent="0" marL="0">
              <a:buNone/>
            </a:pPr>
            <a:r>
              <a:rPr lang="en-US" sz="2175" b="1" dirty="0">
                <a:solidFill>
                  <a:srgbClr val="EEF3F9"/>
                </a:solidFill>
                <a:latin typeface="Arial" pitchFamily="34" charset="0"/>
                <a:ea typeface="Arial" pitchFamily="34" charset="-122"/>
                <a:cs typeface="Arial" pitchFamily="34" charset="-120"/>
              </a:rPr>
              <a:t>Stockage</a:t>
            </a:r>
            <a:endParaRPr lang="en-US" sz="2175" dirty="0"/>
          </a:p>
        </p:txBody>
      </p:sp>
      <p:sp>
        <p:nvSpPr>
          <p:cNvPr id="11" name="Text 9"/>
          <p:cNvSpPr/>
          <p:nvPr/>
        </p:nvSpPr>
        <p:spPr>
          <a:xfrm>
            <a:off x="4612581" y="3524073"/>
            <a:ext cx="2593380" cy="1363663"/>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8EA0B5"/>
                </a:solidFill>
                <a:latin typeface="Arial" pitchFamily="34" charset="0"/>
                <a:ea typeface="Arial" pitchFamily="34" charset="-122"/>
                <a:cs typeface="Arial" pitchFamily="34" charset="-120"/>
              </a:rPr>
              <a:t>Objets en buckets, durable et disponible. Le socle des données Big Data.</a:t>
            </a:r>
            <a:endParaRPr lang="en-US" sz="1800" dirty="0"/>
          </a:p>
        </p:txBody>
      </p:sp>
      <p:sp>
        <p:nvSpPr>
          <p:cNvPr id="12" name="Shape 10"/>
          <p:cNvSpPr/>
          <p:nvPr/>
        </p:nvSpPr>
        <p:spPr>
          <a:xfrm>
            <a:off x="7612360" y="2371494"/>
            <a:ext cx="3063180" cy="7100392"/>
          </a:xfrm>
          <a:prstGeom prst="roundRect">
            <a:avLst>
              <a:gd name="adj" fmla="val 4975"/>
            </a:avLst>
          </a:prstGeom>
          <a:solidFill>
            <a:srgbClr val="FFFFFF">
              <a:alpha val="3000"/>
            </a:srgbClr>
          </a:solidFill>
          <a:ln w="6350">
            <a:solidFill>
              <a:srgbClr val="FFFFFF">
                <a:alpha val="10000"/>
              </a:srgbClr>
            </a:solidFill>
            <a:prstDash val="solid"/>
          </a:ln>
        </p:spPr>
      </p:sp>
      <p:sp>
        <p:nvSpPr>
          <p:cNvPr id="13" name="Text 11"/>
          <p:cNvSpPr/>
          <p:nvPr/>
        </p:nvSpPr>
        <p:spPr>
          <a:xfrm>
            <a:off x="7885411" y="2682644"/>
            <a:ext cx="276878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alpha val="99000"/>
                  </a:srgbClr>
                </a:solidFill>
                <a:latin typeface="Courier New" pitchFamily="34" charset="0"/>
                <a:ea typeface="Courier New" pitchFamily="34" charset="-122"/>
                <a:cs typeface="Courier New" pitchFamily="34" charset="-120"/>
              </a:rPr>
              <a:t>IAM</a:t>
            </a:r>
            <a:endParaRPr lang="en-US" sz="1800" dirty="0"/>
          </a:p>
        </p:txBody>
      </p:sp>
      <p:sp>
        <p:nvSpPr>
          <p:cNvPr id="14" name="Text 12"/>
          <p:cNvSpPr/>
          <p:nvPr/>
        </p:nvSpPr>
        <p:spPr>
          <a:xfrm>
            <a:off x="7885411" y="3101744"/>
            <a:ext cx="2768789" cy="349250"/>
          </a:xfrm>
          <a:prstGeom prst="rect">
            <a:avLst/>
          </a:prstGeom>
          <a:noFill/>
          <a:ln/>
        </p:spPr>
        <p:txBody>
          <a:bodyPr wrap="square" lIns="25400" tIns="25400" rIns="25400" bIns="25400" rtlCol="0" anchor="t">
            <a:normAutofit/>
          </a:bodyPr>
          <a:lstStyle/>
          <a:p>
            <a:pPr algn="l" indent="0" marL="0">
              <a:buNone/>
            </a:pPr>
            <a:r>
              <a:rPr lang="en-US" sz="2175" b="1" dirty="0">
                <a:solidFill>
                  <a:srgbClr val="EEF3F9">
                    <a:alpha val="99000"/>
                  </a:srgbClr>
                </a:solidFill>
                <a:latin typeface="Arial" pitchFamily="34" charset="0"/>
                <a:ea typeface="Arial" pitchFamily="34" charset="-122"/>
                <a:cs typeface="Arial" pitchFamily="34" charset="-120"/>
              </a:rPr>
              <a:t>Identités</a:t>
            </a:r>
            <a:endParaRPr lang="en-US" sz="2175" dirty="0"/>
          </a:p>
        </p:txBody>
      </p:sp>
      <p:sp>
        <p:nvSpPr>
          <p:cNvPr id="15" name="Text 13"/>
          <p:cNvSpPr/>
          <p:nvPr/>
        </p:nvSpPr>
        <p:spPr>
          <a:xfrm>
            <a:off x="7885411" y="3527195"/>
            <a:ext cx="2593281" cy="1032272"/>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8EA0B5">
                    <a:alpha val="99000"/>
                  </a:srgbClr>
                </a:solidFill>
                <a:latin typeface="Arial" pitchFamily="34" charset="0"/>
                <a:ea typeface="Arial" pitchFamily="34" charset="-122"/>
                <a:cs typeface="Arial" pitchFamily="34" charset="-120"/>
              </a:rPr>
              <a:t>Qui peut faire quoi, sur quelle ressource. Moindre privilège.</a:t>
            </a:r>
            <a:endParaRPr lang="en-US" sz="1800" dirty="0"/>
          </a:p>
        </p:txBody>
      </p:sp>
      <p:sp>
        <p:nvSpPr>
          <p:cNvPr id="16" name="Shape 14"/>
          <p:cNvSpPr/>
          <p:nvPr/>
        </p:nvSpPr>
        <p:spPr>
          <a:xfrm>
            <a:off x="10885091" y="2378002"/>
            <a:ext cx="3063280" cy="7100392"/>
          </a:xfrm>
          <a:prstGeom prst="roundRect">
            <a:avLst>
              <a:gd name="adj" fmla="val 4975"/>
            </a:avLst>
          </a:prstGeom>
          <a:solidFill>
            <a:srgbClr val="FFFFFF">
              <a:alpha val="3000"/>
            </a:srgbClr>
          </a:solidFill>
          <a:ln w="6350">
            <a:solidFill>
              <a:srgbClr val="FFFFFF">
                <a:alpha val="10000"/>
              </a:srgbClr>
            </a:solidFill>
            <a:prstDash val="solid"/>
          </a:ln>
        </p:spPr>
      </p:sp>
      <p:sp>
        <p:nvSpPr>
          <p:cNvPr id="17" name="Text 15"/>
          <p:cNvSpPr/>
          <p:nvPr/>
        </p:nvSpPr>
        <p:spPr>
          <a:xfrm>
            <a:off x="11158141" y="2689152"/>
            <a:ext cx="2768898"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alpha val="96000"/>
                  </a:srgbClr>
                </a:solidFill>
                <a:latin typeface="Courier New" pitchFamily="34" charset="0"/>
                <a:ea typeface="Courier New" pitchFamily="34" charset="-122"/>
                <a:cs typeface="Courier New" pitchFamily="34" charset="-120"/>
              </a:rPr>
              <a:t>VPC</a:t>
            </a:r>
            <a:endParaRPr lang="en-US" sz="1800" dirty="0"/>
          </a:p>
        </p:txBody>
      </p:sp>
      <p:sp>
        <p:nvSpPr>
          <p:cNvPr id="18" name="Text 16"/>
          <p:cNvSpPr/>
          <p:nvPr/>
        </p:nvSpPr>
        <p:spPr>
          <a:xfrm>
            <a:off x="11158141" y="3108252"/>
            <a:ext cx="2768898" cy="349250"/>
          </a:xfrm>
          <a:prstGeom prst="rect">
            <a:avLst/>
          </a:prstGeom>
          <a:noFill/>
          <a:ln/>
        </p:spPr>
        <p:txBody>
          <a:bodyPr wrap="square" lIns="25400" tIns="25400" rIns="25400" bIns="25400" rtlCol="0" anchor="t">
            <a:normAutofit/>
          </a:bodyPr>
          <a:lstStyle/>
          <a:p>
            <a:pPr algn="l" indent="0" marL="0">
              <a:buNone/>
            </a:pPr>
            <a:r>
              <a:rPr lang="en-US" sz="2175" b="1" dirty="0">
                <a:solidFill>
                  <a:srgbClr val="EEF3F9">
                    <a:alpha val="96000"/>
                  </a:srgbClr>
                </a:solidFill>
                <a:latin typeface="Arial" pitchFamily="34" charset="0"/>
                <a:ea typeface="Arial" pitchFamily="34" charset="-122"/>
                <a:cs typeface="Arial" pitchFamily="34" charset="-120"/>
              </a:rPr>
              <a:t>Réseau</a:t>
            </a:r>
            <a:endParaRPr lang="en-US" sz="2175" dirty="0"/>
          </a:p>
        </p:txBody>
      </p:sp>
      <p:sp>
        <p:nvSpPr>
          <p:cNvPr id="19" name="Text 17"/>
          <p:cNvSpPr/>
          <p:nvPr/>
        </p:nvSpPr>
        <p:spPr>
          <a:xfrm>
            <a:off x="11158141" y="3533702"/>
            <a:ext cx="2593380" cy="1363663"/>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8EA0B5">
                    <a:alpha val="96000"/>
                  </a:srgbClr>
                </a:solidFill>
                <a:latin typeface="Arial" pitchFamily="34" charset="0"/>
                <a:ea typeface="Arial" pitchFamily="34" charset="-122"/>
                <a:cs typeface="Arial" pitchFamily="34" charset="-120"/>
              </a:rPr>
              <a:t>Réseau privé isolé, découpé en sous-réseaux publics ou privés.</a:t>
            </a:r>
            <a:endParaRPr lang="en-US" sz="1800" dirty="0"/>
          </a:p>
        </p:txBody>
      </p:sp>
      <p:sp>
        <p:nvSpPr>
          <p:cNvPr id="20" name="Shape 18"/>
          <p:cNvSpPr/>
          <p:nvPr/>
        </p:nvSpPr>
        <p:spPr>
          <a:xfrm>
            <a:off x="14157921" y="2390145"/>
            <a:ext cx="3063280" cy="7100392"/>
          </a:xfrm>
          <a:prstGeom prst="roundRect">
            <a:avLst>
              <a:gd name="adj" fmla="val 4975"/>
            </a:avLst>
          </a:prstGeom>
          <a:solidFill>
            <a:srgbClr val="FFFFFF">
              <a:alpha val="3000"/>
            </a:srgbClr>
          </a:solidFill>
          <a:ln w="6350">
            <a:solidFill>
              <a:srgbClr val="FFFFFF">
                <a:alpha val="9000"/>
              </a:srgbClr>
            </a:solidFill>
            <a:prstDash val="solid"/>
          </a:ln>
        </p:spPr>
      </p:sp>
      <p:sp>
        <p:nvSpPr>
          <p:cNvPr id="21" name="Text 19"/>
          <p:cNvSpPr/>
          <p:nvPr/>
        </p:nvSpPr>
        <p:spPr>
          <a:xfrm>
            <a:off x="14430970" y="2701295"/>
            <a:ext cx="2768898"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alpha val="92000"/>
                  </a:srgbClr>
                </a:solidFill>
                <a:latin typeface="Courier New" pitchFamily="34" charset="0"/>
                <a:ea typeface="Courier New" pitchFamily="34" charset="-122"/>
                <a:cs typeface="Courier New" pitchFamily="34" charset="-120"/>
              </a:rPr>
              <a:t>Security Group</a:t>
            </a:r>
            <a:endParaRPr lang="en-US" sz="1800" dirty="0"/>
          </a:p>
        </p:txBody>
      </p:sp>
      <p:sp>
        <p:nvSpPr>
          <p:cNvPr id="22" name="Text 20"/>
          <p:cNvSpPr/>
          <p:nvPr/>
        </p:nvSpPr>
        <p:spPr>
          <a:xfrm>
            <a:off x="14430970" y="3120395"/>
            <a:ext cx="2768898" cy="349250"/>
          </a:xfrm>
          <a:prstGeom prst="rect">
            <a:avLst/>
          </a:prstGeom>
          <a:noFill/>
          <a:ln/>
        </p:spPr>
        <p:txBody>
          <a:bodyPr wrap="square" lIns="25400" tIns="25400" rIns="25400" bIns="25400" rtlCol="0" anchor="t">
            <a:normAutofit/>
          </a:bodyPr>
          <a:lstStyle/>
          <a:p>
            <a:pPr algn="l" indent="0" marL="0">
              <a:buNone/>
            </a:pPr>
            <a:r>
              <a:rPr lang="en-US" sz="2175" b="1" dirty="0">
                <a:solidFill>
                  <a:srgbClr val="EEF3F9">
                    <a:alpha val="92000"/>
                  </a:srgbClr>
                </a:solidFill>
                <a:latin typeface="Arial" pitchFamily="34" charset="0"/>
                <a:ea typeface="Arial" pitchFamily="34" charset="-122"/>
                <a:cs typeface="Arial" pitchFamily="34" charset="-120"/>
              </a:rPr>
              <a:t>Pare-feu</a:t>
            </a:r>
            <a:endParaRPr lang="en-US" sz="2175" dirty="0"/>
          </a:p>
        </p:txBody>
      </p:sp>
      <p:sp>
        <p:nvSpPr>
          <p:cNvPr id="23" name="Text 21"/>
          <p:cNvSpPr/>
          <p:nvPr/>
        </p:nvSpPr>
        <p:spPr>
          <a:xfrm>
            <a:off x="14430970" y="3545845"/>
            <a:ext cx="2593380" cy="1032272"/>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8EA0B5">
                    <a:alpha val="92000"/>
                  </a:srgbClr>
                </a:solidFill>
                <a:latin typeface="Arial" pitchFamily="34" charset="0"/>
                <a:ea typeface="Arial" pitchFamily="34" charset="-122"/>
                <a:cs typeface="Arial" pitchFamily="34" charset="-120"/>
              </a:rPr>
              <a:t>Règles de trafic entrant/sortant au niveau d'une ressource.</a:t>
            </a:r>
            <a:endParaRPr lang="en-US" sz="18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0A0E15"/>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B470">
                  <a:alpha val="16000"/>
                </a:srgbClr>
              </a:gs>
              <a:gs pos="60000">
                <a:srgbClr val="FFB470">
                  <a:alpha val="0"/>
                </a:srgbClr>
              </a:gs>
            </a:gsLst>
            <a:path path="circle">
              <a:fillToRect l="80000" t="8000" r="20000" b="92000"/>
            </a:path>
          </a:gradFill>
          <a:ln/>
        </p:spPr>
      </p:sp>
      <p:sp>
        <p:nvSpPr>
          <p:cNvPr id="3" name="Shape 1"/>
          <p:cNvSpPr/>
          <p:nvPr/>
        </p:nvSpPr>
        <p:spPr>
          <a:xfrm>
            <a:off x="1066800" y="819150"/>
            <a:ext cx="419100" cy="419100"/>
          </a:xfrm>
          <a:prstGeom prst="roundRect">
            <a:avLst>
              <a:gd name="adj" fmla="val 27273"/>
            </a:avLst>
          </a:prstGeom>
          <a:ln w="19050">
            <a:solidFill>
              <a:srgbClr val="FFB46E">
                <a:alpha val="97000"/>
              </a:srgbClr>
            </a:solidFill>
            <a:prstDash val="solid"/>
          </a:ln>
        </p:spPr>
      </p:sp>
      <p:sp>
        <p:nvSpPr>
          <p:cNvPr id="4" name="Text 2"/>
          <p:cNvSpPr/>
          <p:nvPr/>
        </p:nvSpPr>
        <p:spPr>
          <a:xfrm>
            <a:off x="1047750" y="838200"/>
            <a:ext cx="457200" cy="419100"/>
          </a:xfrm>
          <a:prstGeom prst="rect">
            <a:avLst/>
          </a:prstGeom>
          <a:noFill/>
          <a:ln/>
        </p:spPr>
        <p:txBody>
          <a:bodyPr wrap="square" lIns="25400" tIns="25400" rIns="25400" bIns="25400" rtlCol="0" anchor="ctr">
            <a:normAutofit/>
          </a:bodyPr>
          <a:lstStyle/>
          <a:p>
            <a:pPr algn="ctr" indent="0" marL="0">
              <a:buNone/>
            </a:pPr>
            <a:r>
              <a:rPr lang="en-US" sz="1950" spc="432" kern="0" dirty="0">
                <a:solidFill>
                  <a:srgbClr val="FFB46E">
                    <a:alpha val="97000"/>
                  </a:srgbClr>
                </a:solidFill>
                <a:latin typeface="Courier New" pitchFamily="34" charset="0"/>
                <a:ea typeface="Courier New" pitchFamily="34" charset="-122"/>
                <a:cs typeface="Courier New" pitchFamily="34" charset="-120"/>
              </a:rPr>
              <a:t>?</a:t>
            </a:r>
            <a:endParaRPr lang="en-US" sz="1950" dirty="0"/>
          </a:p>
        </p:txBody>
      </p:sp>
      <p:sp>
        <p:nvSpPr>
          <p:cNvPr id="5" name="Text 3"/>
          <p:cNvSpPr/>
          <p:nvPr/>
        </p:nvSpPr>
        <p:spPr>
          <a:xfrm>
            <a:off x="1638300" y="876300"/>
            <a:ext cx="3362430" cy="342900"/>
          </a:xfrm>
          <a:prstGeom prst="rect">
            <a:avLst/>
          </a:prstGeom>
          <a:noFill/>
          <a:ln/>
        </p:spPr>
        <p:txBody>
          <a:bodyPr wrap="square" lIns="0" tIns="0" rIns="0" bIns="0" rtlCol="0" anchor="t">
            <a:normAutofit/>
          </a:bodyPr>
          <a:lstStyle/>
          <a:p>
            <a:pPr algn="l" indent="0" marL="0">
              <a:buNone/>
            </a:pPr>
            <a:r>
              <a:rPr lang="en-US" sz="1800" spc="432" kern="0" dirty="0">
                <a:solidFill>
                  <a:srgbClr val="FFB46E">
                    <a:alpha val="97000"/>
                  </a:srgbClr>
                </a:solidFill>
                <a:latin typeface="Courier New" pitchFamily="34" charset="0"/>
                <a:ea typeface="Courier New" pitchFamily="34" charset="-122"/>
                <a:cs typeface="Courier New" pitchFamily="34" charset="-120"/>
              </a:rPr>
              <a:t>QUIZ · ATELIER 06</a:t>
            </a:r>
            <a:endParaRPr lang="en-US" sz="1800" dirty="0"/>
          </a:p>
        </p:txBody>
      </p:sp>
      <p:sp>
        <p:nvSpPr>
          <p:cNvPr id="6" name="Text 4"/>
          <p:cNvSpPr/>
          <p:nvPr/>
        </p:nvSpPr>
        <p:spPr>
          <a:xfrm>
            <a:off x="1066800" y="1428752"/>
            <a:ext cx="17769840"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Cloud Computing &amp; AWS</a:t>
            </a:r>
            <a:endParaRPr lang="en-US" sz="4800" dirty="0"/>
          </a:p>
        </p:txBody>
      </p:sp>
      <p:sp>
        <p:nvSpPr>
          <p:cNvPr id="7" name="Text 5"/>
          <p:cNvSpPr/>
          <p:nvPr/>
        </p:nvSpPr>
        <p:spPr>
          <a:xfrm>
            <a:off x="1066800" y="2443660"/>
            <a:ext cx="5741670" cy="346670"/>
          </a:xfrm>
          <a:prstGeom prst="rect">
            <a:avLst/>
          </a:prstGeom>
          <a:noFill/>
          <a:ln/>
        </p:spPr>
        <p:txBody>
          <a:bodyPr wrap="square" lIns="25400" tIns="25400" rIns="25400" bIns="25400" rtlCol="0" anchor="t">
            <a:normAutofit/>
          </a:bodyPr>
          <a:lstStyle/>
          <a:p>
            <a:pPr algn="l" indent="0" marL="0">
              <a:lnSpc>
                <a:spcPct val="103404"/>
              </a:lnSpc>
              <a:buNone/>
            </a:pPr>
            <a:r>
              <a:rPr lang="en-US" sz="2025" b="1" dirty="0">
                <a:solidFill>
                  <a:srgbClr val="EEF3F9"/>
                </a:solidFill>
                <a:latin typeface="Arial" pitchFamily="34" charset="0"/>
                <a:ea typeface="Arial" pitchFamily="34" charset="-122"/>
                <a:cs typeface="Arial" pitchFamily="34" charset="-120"/>
              </a:rPr>
              <a:t>Lequel correspond à de l'IaaS ?</a:t>
            </a:r>
            <a:endParaRPr lang="en-US" sz="2025" dirty="0"/>
          </a:p>
        </p:txBody>
      </p:sp>
      <p:sp>
        <p:nvSpPr>
          <p:cNvPr id="8" name="Shape 6"/>
          <p:cNvSpPr/>
          <p:nvPr/>
        </p:nvSpPr>
        <p:spPr>
          <a:xfrm>
            <a:off x="1066800" y="2923681"/>
            <a:ext cx="5219700" cy="622300"/>
          </a:xfrm>
          <a:prstGeom prst="roundRect">
            <a:avLst>
              <a:gd name="adj" fmla="val 18367"/>
            </a:avLst>
          </a:prstGeom>
          <a:solidFill>
            <a:srgbClr val="FFFFFF">
              <a:alpha val="3000"/>
            </a:srgbClr>
          </a:solidFill>
          <a:ln w="6350">
            <a:solidFill>
              <a:srgbClr val="FFFFFF">
                <a:alpha val="10000"/>
              </a:srgbClr>
            </a:solidFill>
            <a:prstDash val="solid"/>
          </a:ln>
        </p:spPr>
      </p:sp>
      <p:sp>
        <p:nvSpPr>
          <p:cNvPr id="9" name="Shape 7"/>
          <p:cNvSpPr/>
          <p:nvPr/>
        </p:nvSpPr>
        <p:spPr>
          <a:xfrm>
            <a:off x="1263650" y="3082430"/>
            <a:ext cx="304800" cy="304800"/>
          </a:xfrm>
          <a:prstGeom prst="roundRect">
            <a:avLst>
              <a:gd name="adj" fmla="val 25000"/>
            </a:avLst>
          </a:prstGeom>
          <a:solidFill>
            <a:srgbClr val="FFFFFF">
              <a:alpha val="6000"/>
            </a:srgbClr>
          </a:solidFill>
          <a:ln/>
        </p:spPr>
      </p:sp>
      <p:sp>
        <p:nvSpPr>
          <p:cNvPr id="10" name="Text 8"/>
          <p:cNvSpPr/>
          <p:nvPr/>
        </p:nvSpPr>
        <p:spPr>
          <a:xfrm>
            <a:off x="1225550" y="3082430"/>
            <a:ext cx="381000" cy="342900"/>
          </a:xfrm>
          <a:prstGeom prst="rect">
            <a:avLst/>
          </a:prstGeom>
          <a:noFill/>
          <a:ln/>
        </p:spPr>
        <p:txBody>
          <a:bodyPr wrap="square" lIns="25400" tIns="25400" rIns="25400" bIns="25400" rtlCol="0" anchor="ctr">
            <a:normAutofit/>
          </a:bodyPr>
          <a:lstStyle/>
          <a:p>
            <a:pPr algn="ctr" indent="0" marL="0">
              <a:buNone/>
            </a:pPr>
            <a:r>
              <a:rPr lang="en-US" sz="1800" b="1" dirty="0">
                <a:solidFill>
                  <a:srgbClr val="8EA0B5"/>
                </a:solidFill>
                <a:latin typeface="Arial" pitchFamily="34" charset="0"/>
                <a:ea typeface="Arial" pitchFamily="34" charset="-122"/>
                <a:cs typeface="Arial" pitchFamily="34" charset="-120"/>
              </a:rPr>
              <a:t>A</a:t>
            </a:r>
            <a:endParaRPr lang="en-US" sz="1800" dirty="0"/>
          </a:p>
        </p:txBody>
      </p:sp>
      <p:sp>
        <p:nvSpPr>
          <p:cNvPr id="11" name="Text 9"/>
          <p:cNvSpPr/>
          <p:nvPr/>
        </p:nvSpPr>
        <p:spPr>
          <a:xfrm>
            <a:off x="1701800" y="3085606"/>
            <a:ext cx="676077" cy="336550"/>
          </a:xfrm>
          <a:prstGeom prst="rect">
            <a:avLst/>
          </a:prstGeom>
          <a:noFill/>
          <a:ln/>
        </p:spPr>
        <p:txBody>
          <a:bodyPr wrap="square" lIns="25400" tIns="25400" rIns="25400" bIns="25400" rtlCol="0" anchor="t">
            <a:normAutofit/>
          </a:bodyPr>
          <a:lstStyle/>
          <a:p>
            <a:pPr algn="l" indent="0" marL="0">
              <a:buNone/>
            </a:pPr>
            <a:r>
              <a:rPr lang="en-US" sz="1800" dirty="0">
                <a:solidFill>
                  <a:srgbClr val="8EA0B5"/>
                </a:solidFill>
                <a:latin typeface="Arial" pitchFamily="34" charset="0"/>
                <a:ea typeface="Arial" pitchFamily="34" charset="-122"/>
                <a:cs typeface="Arial" pitchFamily="34" charset="-120"/>
              </a:rPr>
              <a:t>Gmail</a:t>
            </a:r>
            <a:endParaRPr lang="en-US" sz="1800" dirty="0"/>
          </a:p>
        </p:txBody>
      </p:sp>
      <p:sp>
        <p:nvSpPr>
          <p:cNvPr id="12" name="Shape 10"/>
          <p:cNvSpPr/>
          <p:nvPr/>
        </p:nvSpPr>
        <p:spPr>
          <a:xfrm>
            <a:off x="1066800" y="3660281"/>
            <a:ext cx="5219700" cy="622300"/>
          </a:xfrm>
          <a:prstGeom prst="roundRect">
            <a:avLst>
              <a:gd name="adj" fmla="val 18367"/>
            </a:avLst>
          </a:prstGeom>
          <a:solidFill>
            <a:srgbClr val="FFFFFF">
              <a:alpha val="3000"/>
            </a:srgbClr>
          </a:solidFill>
          <a:ln w="6350">
            <a:solidFill>
              <a:srgbClr val="FFFFFF">
                <a:alpha val="10000"/>
              </a:srgbClr>
            </a:solidFill>
            <a:prstDash val="solid"/>
          </a:ln>
        </p:spPr>
      </p:sp>
      <p:sp>
        <p:nvSpPr>
          <p:cNvPr id="13" name="Shape 11"/>
          <p:cNvSpPr/>
          <p:nvPr/>
        </p:nvSpPr>
        <p:spPr>
          <a:xfrm>
            <a:off x="1263650" y="3819031"/>
            <a:ext cx="304800" cy="304800"/>
          </a:xfrm>
          <a:prstGeom prst="roundRect">
            <a:avLst>
              <a:gd name="adj" fmla="val 25000"/>
            </a:avLst>
          </a:prstGeom>
          <a:solidFill>
            <a:srgbClr val="FFFFFF">
              <a:alpha val="6000"/>
            </a:srgbClr>
          </a:solidFill>
          <a:ln/>
        </p:spPr>
      </p:sp>
      <p:sp>
        <p:nvSpPr>
          <p:cNvPr id="14" name="Text 12"/>
          <p:cNvSpPr/>
          <p:nvPr/>
        </p:nvSpPr>
        <p:spPr>
          <a:xfrm>
            <a:off x="1225550" y="3819031"/>
            <a:ext cx="381000" cy="342900"/>
          </a:xfrm>
          <a:prstGeom prst="rect">
            <a:avLst/>
          </a:prstGeom>
          <a:noFill/>
          <a:ln/>
        </p:spPr>
        <p:txBody>
          <a:bodyPr wrap="square" lIns="25400" tIns="25400" rIns="25400" bIns="25400" rtlCol="0" anchor="ctr">
            <a:normAutofit/>
          </a:bodyPr>
          <a:lstStyle/>
          <a:p>
            <a:pPr algn="ctr" indent="0" marL="0">
              <a:buNone/>
            </a:pPr>
            <a:r>
              <a:rPr lang="en-US" sz="1800" b="1" dirty="0">
                <a:solidFill>
                  <a:srgbClr val="8EA0B5"/>
                </a:solidFill>
                <a:latin typeface="Arial" pitchFamily="34" charset="0"/>
                <a:ea typeface="Arial" pitchFamily="34" charset="-122"/>
                <a:cs typeface="Arial" pitchFamily="34" charset="-120"/>
              </a:rPr>
              <a:t>B</a:t>
            </a:r>
            <a:endParaRPr lang="en-US" sz="1800" dirty="0"/>
          </a:p>
        </p:txBody>
      </p:sp>
      <p:sp>
        <p:nvSpPr>
          <p:cNvPr id="15" name="Text 13"/>
          <p:cNvSpPr/>
          <p:nvPr/>
        </p:nvSpPr>
        <p:spPr>
          <a:xfrm>
            <a:off x="1701800" y="3822206"/>
            <a:ext cx="1425813" cy="336550"/>
          </a:xfrm>
          <a:prstGeom prst="rect">
            <a:avLst/>
          </a:prstGeom>
          <a:noFill/>
          <a:ln/>
        </p:spPr>
        <p:txBody>
          <a:bodyPr wrap="square" lIns="25400" tIns="25400" rIns="25400" bIns="25400" rtlCol="0" anchor="t">
            <a:normAutofit/>
          </a:bodyPr>
          <a:lstStyle/>
          <a:p>
            <a:pPr algn="l" indent="0" marL="0">
              <a:buNone/>
            </a:pPr>
            <a:r>
              <a:rPr lang="en-US" sz="1800" dirty="0">
                <a:solidFill>
                  <a:srgbClr val="8EA0B5"/>
                </a:solidFill>
                <a:latin typeface="Arial" pitchFamily="34" charset="0"/>
                <a:ea typeface="Arial" pitchFamily="34" charset="-122"/>
                <a:cs typeface="Arial" pitchFamily="34" charset="-120"/>
              </a:rPr>
              <a:t>Amazon EC2</a:t>
            </a:r>
            <a:endParaRPr lang="en-US" sz="1800" dirty="0"/>
          </a:p>
        </p:txBody>
      </p:sp>
      <p:sp>
        <p:nvSpPr>
          <p:cNvPr id="16" name="Shape 14"/>
          <p:cNvSpPr/>
          <p:nvPr/>
        </p:nvSpPr>
        <p:spPr>
          <a:xfrm>
            <a:off x="1066800" y="4396880"/>
            <a:ext cx="5219700" cy="622300"/>
          </a:xfrm>
          <a:prstGeom prst="roundRect">
            <a:avLst>
              <a:gd name="adj" fmla="val 18367"/>
            </a:avLst>
          </a:prstGeom>
          <a:solidFill>
            <a:srgbClr val="FFFFFF">
              <a:alpha val="3000"/>
            </a:srgbClr>
          </a:solidFill>
          <a:ln w="6350">
            <a:solidFill>
              <a:srgbClr val="FFFFFF">
                <a:alpha val="10000"/>
              </a:srgbClr>
            </a:solidFill>
            <a:prstDash val="solid"/>
          </a:ln>
        </p:spPr>
      </p:sp>
      <p:sp>
        <p:nvSpPr>
          <p:cNvPr id="17" name="Shape 15"/>
          <p:cNvSpPr/>
          <p:nvPr/>
        </p:nvSpPr>
        <p:spPr>
          <a:xfrm>
            <a:off x="1263650" y="4555631"/>
            <a:ext cx="304800" cy="304800"/>
          </a:xfrm>
          <a:prstGeom prst="roundRect">
            <a:avLst>
              <a:gd name="adj" fmla="val 25000"/>
            </a:avLst>
          </a:prstGeom>
          <a:solidFill>
            <a:srgbClr val="FFFFFF">
              <a:alpha val="6000"/>
            </a:srgbClr>
          </a:solidFill>
          <a:ln/>
        </p:spPr>
      </p:sp>
      <p:sp>
        <p:nvSpPr>
          <p:cNvPr id="18" name="Text 16"/>
          <p:cNvSpPr/>
          <p:nvPr/>
        </p:nvSpPr>
        <p:spPr>
          <a:xfrm>
            <a:off x="1225550" y="4555631"/>
            <a:ext cx="381000" cy="342900"/>
          </a:xfrm>
          <a:prstGeom prst="rect">
            <a:avLst/>
          </a:prstGeom>
          <a:noFill/>
          <a:ln/>
        </p:spPr>
        <p:txBody>
          <a:bodyPr wrap="square" lIns="25400" tIns="25400" rIns="25400" bIns="25400" rtlCol="0" anchor="ctr">
            <a:normAutofit/>
          </a:bodyPr>
          <a:lstStyle/>
          <a:p>
            <a:pPr algn="ctr" indent="0" marL="0">
              <a:buNone/>
            </a:pPr>
            <a:r>
              <a:rPr lang="en-US" sz="1800" b="1" dirty="0">
                <a:solidFill>
                  <a:srgbClr val="8EA0B5"/>
                </a:solidFill>
                <a:latin typeface="Arial" pitchFamily="34" charset="0"/>
                <a:ea typeface="Arial" pitchFamily="34" charset="-122"/>
                <a:cs typeface="Arial" pitchFamily="34" charset="-120"/>
              </a:rPr>
              <a:t>C</a:t>
            </a:r>
            <a:endParaRPr lang="en-US" sz="1800" dirty="0"/>
          </a:p>
        </p:txBody>
      </p:sp>
      <p:sp>
        <p:nvSpPr>
          <p:cNvPr id="19" name="Text 17"/>
          <p:cNvSpPr/>
          <p:nvPr/>
        </p:nvSpPr>
        <p:spPr>
          <a:xfrm>
            <a:off x="1701800" y="4558805"/>
            <a:ext cx="1413480" cy="336550"/>
          </a:xfrm>
          <a:prstGeom prst="rect">
            <a:avLst/>
          </a:prstGeom>
          <a:noFill/>
          <a:ln/>
        </p:spPr>
        <p:txBody>
          <a:bodyPr wrap="square" lIns="25400" tIns="25400" rIns="25400" bIns="25400" rtlCol="0" anchor="t">
            <a:normAutofit/>
          </a:bodyPr>
          <a:lstStyle/>
          <a:p>
            <a:pPr algn="l" indent="0" marL="0">
              <a:buNone/>
            </a:pPr>
            <a:r>
              <a:rPr lang="en-US" sz="1800" dirty="0">
                <a:solidFill>
                  <a:srgbClr val="8EA0B5"/>
                </a:solidFill>
                <a:latin typeface="Arial" pitchFamily="34" charset="0"/>
                <a:ea typeface="Arial" pitchFamily="34" charset="-122"/>
                <a:cs typeface="Arial" pitchFamily="34" charset="-120"/>
              </a:rPr>
              <a:t>Google Docs</a:t>
            </a:r>
            <a:endParaRPr lang="en-US" sz="1800" dirty="0"/>
          </a:p>
        </p:txBody>
      </p:sp>
      <p:sp>
        <p:nvSpPr>
          <p:cNvPr id="20" name="Shape 18"/>
          <p:cNvSpPr/>
          <p:nvPr/>
        </p:nvSpPr>
        <p:spPr>
          <a:xfrm>
            <a:off x="1066800" y="5133481"/>
            <a:ext cx="5219700" cy="622300"/>
          </a:xfrm>
          <a:prstGeom prst="roundRect">
            <a:avLst>
              <a:gd name="adj" fmla="val 18367"/>
            </a:avLst>
          </a:prstGeom>
          <a:solidFill>
            <a:srgbClr val="FFFFFF">
              <a:alpha val="3000"/>
            </a:srgbClr>
          </a:solidFill>
          <a:ln w="6350">
            <a:solidFill>
              <a:srgbClr val="FFFFFF">
                <a:alpha val="10000"/>
              </a:srgbClr>
            </a:solidFill>
            <a:prstDash val="solid"/>
          </a:ln>
        </p:spPr>
      </p:sp>
      <p:sp>
        <p:nvSpPr>
          <p:cNvPr id="21" name="Shape 19"/>
          <p:cNvSpPr/>
          <p:nvPr/>
        </p:nvSpPr>
        <p:spPr>
          <a:xfrm>
            <a:off x="1263650" y="5292230"/>
            <a:ext cx="304800" cy="304800"/>
          </a:xfrm>
          <a:prstGeom prst="roundRect">
            <a:avLst>
              <a:gd name="adj" fmla="val 25000"/>
            </a:avLst>
          </a:prstGeom>
          <a:solidFill>
            <a:srgbClr val="FFFFFF">
              <a:alpha val="6000"/>
            </a:srgbClr>
          </a:solidFill>
          <a:ln/>
        </p:spPr>
      </p:sp>
      <p:sp>
        <p:nvSpPr>
          <p:cNvPr id="22" name="Text 20"/>
          <p:cNvSpPr/>
          <p:nvPr/>
        </p:nvSpPr>
        <p:spPr>
          <a:xfrm>
            <a:off x="1225550" y="5292230"/>
            <a:ext cx="381000" cy="342900"/>
          </a:xfrm>
          <a:prstGeom prst="rect">
            <a:avLst/>
          </a:prstGeom>
          <a:noFill/>
          <a:ln/>
        </p:spPr>
        <p:txBody>
          <a:bodyPr wrap="square" lIns="25400" tIns="25400" rIns="25400" bIns="25400" rtlCol="0" anchor="ctr">
            <a:normAutofit/>
          </a:bodyPr>
          <a:lstStyle/>
          <a:p>
            <a:pPr algn="ctr" indent="0" marL="0">
              <a:buNone/>
            </a:pPr>
            <a:r>
              <a:rPr lang="en-US" sz="1800" b="1" dirty="0">
                <a:solidFill>
                  <a:srgbClr val="8EA0B5"/>
                </a:solidFill>
                <a:latin typeface="Arial" pitchFamily="34" charset="0"/>
                <a:ea typeface="Arial" pitchFamily="34" charset="-122"/>
                <a:cs typeface="Arial" pitchFamily="34" charset="-120"/>
              </a:rPr>
              <a:t>D</a:t>
            </a:r>
            <a:endParaRPr lang="en-US" sz="1800" dirty="0"/>
          </a:p>
        </p:txBody>
      </p:sp>
      <p:sp>
        <p:nvSpPr>
          <p:cNvPr id="23" name="Text 21"/>
          <p:cNvSpPr/>
          <p:nvPr/>
        </p:nvSpPr>
        <p:spPr>
          <a:xfrm>
            <a:off x="1701800" y="5295406"/>
            <a:ext cx="946745" cy="336550"/>
          </a:xfrm>
          <a:prstGeom prst="rect">
            <a:avLst/>
          </a:prstGeom>
          <a:noFill/>
          <a:ln/>
        </p:spPr>
        <p:txBody>
          <a:bodyPr wrap="square" lIns="25400" tIns="25400" rIns="25400" bIns="25400" rtlCol="0" anchor="t">
            <a:normAutofit/>
          </a:bodyPr>
          <a:lstStyle/>
          <a:p>
            <a:pPr algn="l" indent="0" marL="0">
              <a:buNone/>
            </a:pPr>
            <a:r>
              <a:rPr lang="en-US" sz="1800" dirty="0">
                <a:solidFill>
                  <a:srgbClr val="8EA0B5"/>
                </a:solidFill>
                <a:latin typeface="Arial" pitchFamily="34" charset="0"/>
                <a:ea typeface="Arial" pitchFamily="34" charset="-122"/>
                <a:cs typeface="Arial" pitchFamily="34" charset="-120"/>
              </a:rPr>
              <a:t>Dropbox</a:t>
            </a:r>
            <a:endParaRPr lang="en-US" sz="1800" dirty="0"/>
          </a:p>
        </p:txBody>
      </p:sp>
      <p:sp>
        <p:nvSpPr>
          <p:cNvPr id="24" name="Text 22"/>
          <p:cNvSpPr/>
          <p:nvPr/>
        </p:nvSpPr>
        <p:spPr>
          <a:xfrm>
            <a:off x="6534150" y="2445120"/>
            <a:ext cx="5741670" cy="346670"/>
          </a:xfrm>
          <a:prstGeom prst="rect">
            <a:avLst/>
          </a:prstGeom>
          <a:noFill/>
          <a:ln/>
        </p:spPr>
        <p:txBody>
          <a:bodyPr wrap="square" lIns="25400" tIns="25400" rIns="25400" bIns="25400" rtlCol="0" anchor="t">
            <a:normAutofit/>
          </a:bodyPr>
          <a:lstStyle/>
          <a:p>
            <a:pPr algn="l" indent="0" marL="0">
              <a:lnSpc>
                <a:spcPct val="103404"/>
              </a:lnSpc>
              <a:buNone/>
            </a:pPr>
            <a:r>
              <a:rPr lang="en-US" sz="2025" b="1" dirty="0">
                <a:solidFill>
                  <a:srgbClr val="EEF3F9">
                    <a:alpha val="99000"/>
                  </a:srgbClr>
                </a:solidFill>
                <a:latin typeface="Arial" pitchFamily="34" charset="0"/>
                <a:ea typeface="Arial" pitchFamily="34" charset="-122"/>
                <a:cs typeface="Arial" pitchFamily="34" charset="-120"/>
              </a:rPr>
              <a:t>Rôle principal d'un Security Group ?</a:t>
            </a:r>
            <a:endParaRPr lang="en-US" sz="2025" dirty="0"/>
          </a:p>
        </p:txBody>
      </p:sp>
      <p:sp>
        <p:nvSpPr>
          <p:cNvPr id="25" name="Shape 23"/>
          <p:cNvSpPr/>
          <p:nvPr/>
        </p:nvSpPr>
        <p:spPr>
          <a:xfrm>
            <a:off x="6534150" y="2925141"/>
            <a:ext cx="5219700" cy="622300"/>
          </a:xfrm>
          <a:prstGeom prst="roundRect">
            <a:avLst>
              <a:gd name="adj" fmla="val 18367"/>
            </a:avLst>
          </a:prstGeom>
          <a:solidFill>
            <a:srgbClr val="FFFFFF">
              <a:alpha val="3000"/>
            </a:srgbClr>
          </a:solidFill>
          <a:ln w="6350">
            <a:solidFill>
              <a:srgbClr val="FFFFFF">
                <a:alpha val="10000"/>
              </a:srgbClr>
            </a:solidFill>
            <a:prstDash val="solid"/>
          </a:ln>
        </p:spPr>
      </p:sp>
      <p:sp>
        <p:nvSpPr>
          <p:cNvPr id="26" name="Shape 24"/>
          <p:cNvSpPr/>
          <p:nvPr/>
        </p:nvSpPr>
        <p:spPr>
          <a:xfrm>
            <a:off x="6731000" y="3083891"/>
            <a:ext cx="304800" cy="304800"/>
          </a:xfrm>
          <a:prstGeom prst="roundRect">
            <a:avLst>
              <a:gd name="adj" fmla="val 25000"/>
            </a:avLst>
          </a:prstGeom>
          <a:solidFill>
            <a:srgbClr val="FFFFFF">
              <a:alpha val="6000"/>
            </a:srgbClr>
          </a:solidFill>
          <a:ln/>
        </p:spPr>
      </p:sp>
      <p:sp>
        <p:nvSpPr>
          <p:cNvPr id="27" name="Text 25"/>
          <p:cNvSpPr/>
          <p:nvPr/>
        </p:nvSpPr>
        <p:spPr>
          <a:xfrm>
            <a:off x="6692900" y="3083891"/>
            <a:ext cx="381000" cy="342900"/>
          </a:xfrm>
          <a:prstGeom prst="rect">
            <a:avLst/>
          </a:prstGeom>
          <a:noFill/>
          <a:ln/>
        </p:spPr>
        <p:txBody>
          <a:bodyPr wrap="square" lIns="25400" tIns="25400" rIns="25400" bIns="25400" rtlCol="0" anchor="ctr">
            <a:normAutofit/>
          </a:bodyPr>
          <a:lstStyle/>
          <a:p>
            <a:pPr algn="ctr" indent="0" marL="0">
              <a:buNone/>
            </a:pPr>
            <a:r>
              <a:rPr lang="en-US" sz="1800" b="1" dirty="0">
                <a:solidFill>
                  <a:srgbClr val="8EA0B5">
                    <a:alpha val="99000"/>
                  </a:srgbClr>
                </a:solidFill>
                <a:latin typeface="Arial" pitchFamily="34" charset="0"/>
                <a:ea typeface="Arial" pitchFamily="34" charset="-122"/>
                <a:cs typeface="Arial" pitchFamily="34" charset="-120"/>
              </a:rPr>
              <a:t>A</a:t>
            </a:r>
            <a:endParaRPr lang="en-US" sz="1800" dirty="0"/>
          </a:p>
        </p:txBody>
      </p:sp>
      <p:sp>
        <p:nvSpPr>
          <p:cNvPr id="28" name="Text 26"/>
          <p:cNvSpPr/>
          <p:nvPr/>
        </p:nvSpPr>
        <p:spPr>
          <a:xfrm>
            <a:off x="7169150" y="3087066"/>
            <a:ext cx="2264668" cy="336550"/>
          </a:xfrm>
          <a:prstGeom prst="rect">
            <a:avLst/>
          </a:prstGeom>
          <a:noFill/>
          <a:ln/>
        </p:spPr>
        <p:txBody>
          <a:bodyPr wrap="square" lIns="25400" tIns="25400" rIns="25400" bIns="25400" rtlCol="0" anchor="t">
            <a:normAutofit/>
          </a:bodyPr>
          <a:lstStyle/>
          <a:p>
            <a:pPr algn="l" indent="0" marL="0">
              <a:buNone/>
            </a:pPr>
            <a:r>
              <a:rPr lang="en-US" sz="1800" dirty="0">
                <a:solidFill>
                  <a:srgbClr val="8EA0B5">
                    <a:alpha val="99000"/>
                  </a:srgbClr>
                </a:solidFill>
                <a:latin typeface="Arial" pitchFamily="34" charset="0"/>
                <a:ea typeface="Arial" pitchFamily="34" charset="-122"/>
                <a:cs typeface="Arial" pitchFamily="34" charset="-120"/>
              </a:rPr>
              <a:t>Chiffrer les données</a:t>
            </a:r>
            <a:endParaRPr lang="en-US" sz="1800" dirty="0"/>
          </a:p>
        </p:txBody>
      </p:sp>
      <p:sp>
        <p:nvSpPr>
          <p:cNvPr id="29" name="Shape 27"/>
          <p:cNvSpPr/>
          <p:nvPr/>
        </p:nvSpPr>
        <p:spPr>
          <a:xfrm>
            <a:off x="6534150" y="3661740"/>
            <a:ext cx="5219700" cy="914400"/>
          </a:xfrm>
          <a:prstGeom prst="roundRect">
            <a:avLst>
              <a:gd name="adj" fmla="val 12500"/>
            </a:avLst>
          </a:prstGeom>
          <a:solidFill>
            <a:srgbClr val="FFFFFF">
              <a:alpha val="3000"/>
            </a:srgbClr>
          </a:solidFill>
          <a:ln w="6350">
            <a:solidFill>
              <a:srgbClr val="FFFFFF">
                <a:alpha val="10000"/>
              </a:srgbClr>
            </a:solidFill>
            <a:prstDash val="solid"/>
          </a:ln>
        </p:spPr>
      </p:sp>
      <p:sp>
        <p:nvSpPr>
          <p:cNvPr id="30" name="Shape 28"/>
          <p:cNvSpPr/>
          <p:nvPr/>
        </p:nvSpPr>
        <p:spPr>
          <a:xfrm>
            <a:off x="6731000" y="3966540"/>
            <a:ext cx="274340" cy="304800"/>
          </a:xfrm>
          <a:prstGeom prst="roundRect">
            <a:avLst>
              <a:gd name="adj" fmla="val 27776"/>
            </a:avLst>
          </a:prstGeom>
          <a:solidFill>
            <a:srgbClr val="FFFFFF">
              <a:alpha val="6000"/>
            </a:srgbClr>
          </a:solidFill>
          <a:ln/>
        </p:spPr>
      </p:sp>
      <p:sp>
        <p:nvSpPr>
          <p:cNvPr id="31" name="Text 29"/>
          <p:cNvSpPr/>
          <p:nvPr/>
        </p:nvSpPr>
        <p:spPr>
          <a:xfrm>
            <a:off x="6692900" y="3966540"/>
            <a:ext cx="350540" cy="342900"/>
          </a:xfrm>
          <a:prstGeom prst="rect">
            <a:avLst/>
          </a:prstGeom>
          <a:noFill/>
          <a:ln/>
        </p:spPr>
        <p:txBody>
          <a:bodyPr wrap="square" lIns="25400" tIns="25400" rIns="25400" bIns="25400" rtlCol="0" anchor="ctr">
            <a:normAutofit/>
          </a:bodyPr>
          <a:lstStyle/>
          <a:p>
            <a:pPr algn="ctr" indent="0" marL="0">
              <a:buNone/>
            </a:pPr>
            <a:r>
              <a:rPr lang="en-US" sz="1800" b="1" dirty="0">
                <a:solidFill>
                  <a:srgbClr val="8EA0B5">
                    <a:alpha val="99000"/>
                  </a:srgbClr>
                </a:solidFill>
                <a:latin typeface="Arial" pitchFamily="34" charset="0"/>
                <a:ea typeface="Arial" pitchFamily="34" charset="-122"/>
                <a:cs typeface="Arial" pitchFamily="34" charset="-120"/>
              </a:rPr>
              <a:t>B</a:t>
            </a:r>
            <a:endParaRPr lang="en-US" sz="1800" dirty="0"/>
          </a:p>
        </p:txBody>
      </p:sp>
      <p:sp>
        <p:nvSpPr>
          <p:cNvPr id="32" name="Text 30"/>
          <p:cNvSpPr/>
          <p:nvPr/>
        </p:nvSpPr>
        <p:spPr>
          <a:xfrm>
            <a:off x="7138690" y="3820491"/>
            <a:ext cx="4550860" cy="6350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alpha val="99000"/>
                  </a:srgbClr>
                </a:solidFill>
                <a:latin typeface="Arial" pitchFamily="34" charset="0"/>
                <a:ea typeface="Arial" pitchFamily="34" charset="-122"/>
                <a:cs typeface="Arial" pitchFamily="34" charset="-120"/>
              </a:rPr>
              <a:t>Définir le trafic entrant et sortant d'une instance</a:t>
            </a:r>
            <a:endParaRPr lang="en-US" sz="1800" dirty="0"/>
          </a:p>
        </p:txBody>
      </p:sp>
      <p:sp>
        <p:nvSpPr>
          <p:cNvPr id="33" name="Shape 31"/>
          <p:cNvSpPr/>
          <p:nvPr/>
        </p:nvSpPr>
        <p:spPr>
          <a:xfrm>
            <a:off x="6534150" y="4690440"/>
            <a:ext cx="5219700" cy="622300"/>
          </a:xfrm>
          <a:prstGeom prst="roundRect">
            <a:avLst>
              <a:gd name="adj" fmla="val 18367"/>
            </a:avLst>
          </a:prstGeom>
          <a:solidFill>
            <a:srgbClr val="FFFFFF">
              <a:alpha val="3000"/>
            </a:srgbClr>
          </a:solidFill>
          <a:ln w="6350">
            <a:solidFill>
              <a:srgbClr val="FFFFFF">
                <a:alpha val="10000"/>
              </a:srgbClr>
            </a:solidFill>
            <a:prstDash val="solid"/>
          </a:ln>
        </p:spPr>
      </p:sp>
      <p:sp>
        <p:nvSpPr>
          <p:cNvPr id="34" name="Shape 32"/>
          <p:cNvSpPr/>
          <p:nvPr/>
        </p:nvSpPr>
        <p:spPr>
          <a:xfrm>
            <a:off x="6731000" y="4849191"/>
            <a:ext cx="304800" cy="304800"/>
          </a:xfrm>
          <a:prstGeom prst="roundRect">
            <a:avLst>
              <a:gd name="adj" fmla="val 25000"/>
            </a:avLst>
          </a:prstGeom>
          <a:solidFill>
            <a:srgbClr val="FFFFFF">
              <a:alpha val="6000"/>
            </a:srgbClr>
          </a:solidFill>
          <a:ln/>
        </p:spPr>
      </p:sp>
      <p:sp>
        <p:nvSpPr>
          <p:cNvPr id="35" name="Text 33"/>
          <p:cNvSpPr/>
          <p:nvPr/>
        </p:nvSpPr>
        <p:spPr>
          <a:xfrm>
            <a:off x="6692900" y="4849191"/>
            <a:ext cx="381000" cy="342900"/>
          </a:xfrm>
          <a:prstGeom prst="rect">
            <a:avLst/>
          </a:prstGeom>
          <a:noFill/>
          <a:ln/>
        </p:spPr>
        <p:txBody>
          <a:bodyPr wrap="square" lIns="25400" tIns="25400" rIns="25400" bIns="25400" rtlCol="0" anchor="ctr">
            <a:normAutofit/>
          </a:bodyPr>
          <a:lstStyle/>
          <a:p>
            <a:pPr algn="ctr" indent="0" marL="0">
              <a:buNone/>
            </a:pPr>
            <a:r>
              <a:rPr lang="en-US" sz="1800" b="1" dirty="0">
                <a:solidFill>
                  <a:srgbClr val="8EA0B5">
                    <a:alpha val="99000"/>
                  </a:srgbClr>
                </a:solidFill>
                <a:latin typeface="Arial" pitchFamily="34" charset="0"/>
                <a:ea typeface="Arial" pitchFamily="34" charset="-122"/>
                <a:cs typeface="Arial" pitchFamily="34" charset="-120"/>
              </a:rPr>
              <a:t>C</a:t>
            </a:r>
            <a:endParaRPr lang="en-US" sz="1800" dirty="0"/>
          </a:p>
        </p:txBody>
      </p:sp>
      <p:sp>
        <p:nvSpPr>
          <p:cNvPr id="36" name="Text 34"/>
          <p:cNvSpPr/>
          <p:nvPr/>
        </p:nvSpPr>
        <p:spPr>
          <a:xfrm>
            <a:off x="7169150" y="4852365"/>
            <a:ext cx="2834710" cy="336550"/>
          </a:xfrm>
          <a:prstGeom prst="rect">
            <a:avLst/>
          </a:prstGeom>
          <a:noFill/>
          <a:ln/>
        </p:spPr>
        <p:txBody>
          <a:bodyPr wrap="square" lIns="25400" tIns="25400" rIns="25400" bIns="25400" rtlCol="0" anchor="t">
            <a:normAutofit/>
          </a:bodyPr>
          <a:lstStyle/>
          <a:p>
            <a:pPr algn="l" indent="0" marL="0">
              <a:buNone/>
            </a:pPr>
            <a:r>
              <a:rPr lang="en-US" sz="1800" dirty="0">
                <a:solidFill>
                  <a:srgbClr val="8EA0B5">
                    <a:alpha val="99000"/>
                  </a:srgbClr>
                </a:solidFill>
                <a:latin typeface="Arial" pitchFamily="34" charset="0"/>
                <a:ea typeface="Arial" pitchFamily="34" charset="-122"/>
                <a:cs typeface="Arial" pitchFamily="34" charset="-120"/>
              </a:rPr>
              <a:t>Sauvegarder les données</a:t>
            </a:r>
            <a:endParaRPr lang="en-US" sz="1800" dirty="0"/>
          </a:p>
        </p:txBody>
      </p:sp>
      <p:sp>
        <p:nvSpPr>
          <p:cNvPr id="37" name="Shape 35"/>
          <p:cNvSpPr/>
          <p:nvPr/>
        </p:nvSpPr>
        <p:spPr>
          <a:xfrm>
            <a:off x="6534150" y="5427041"/>
            <a:ext cx="5219700" cy="622300"/>
          </a:xfrm>
          <a:prstGeom prst="roundRect">
            <a:avLst>
              <a:gd name="adj" fmla="val 18367"/>
            </a:avLst>
          </a:prstGeom>
          <a:solidFill>
            <a:srgbClr val="FFFFFF">
              <a:alpha val="3000"/>
            </a:srgbClr>
          </a:solidFill>
          <a:ln w="6350">
            <a:solidFill>
              <a:srgbClr val="FFFFFF">
                <a:alpha val="10000"/>
              </a:srgbClr>
            </a:solidFill>
            <a:prstDash val="solid"/>
          </a:ln>
        </p:spPr>
      </p:sp>
      <p:sp>
        <p:nvSpPr>
          <p:cNvPr id="38" name="Shape 36"/>
          <p:cNvSpPr/>
          <p:nvPr/>
        </p:nvSpPr>
        <p:spPr>
          <a:xfrm>
            <a:off x="6731000" y="5585790"/>
            <a:ext cx="304800" cy="304800"/>
          </a:xfrm>
          <a:prstGeom prst="roundRect">
            <a:avLst>
              <a:gd name="adj" fmla="val 25000"/>
            </a:avLst>
          </a:prstGeom>
          <a:solidFill>
            <a:srgbClr val="FFFFFF">
              <a:alpha val="6000"/>
            </a:srgbClr>
          </a:solidFill>
          <a:ln/>
        </p:spPr>
      </p:sp>
      <p:sp>
        <p:nvSpPr>
          <p:cNvPr id="39" name="Text 37"/>
          <p:cNvSpPr/>
          <p:nvPr/>
        </p:nvSpPr>
        <p:spPr>
          <a:xfrm>
            <a:off x="6692900" y="5585790"/>
            <a:ext cx="381000" cy="342900"/>
          </a:xfrm>
          <a:prstGeom prst="rect">
            <a:avLst/>
          </a:prstGeom>
          <a:noFill/>
          <a:ln/>
        </p:spPr>
        <p:txBody>
          <a:bodyPr wrap="square" lIns="25400" tIns="25400" rIns="25400" bIns="25400" rtlCol="0" anchor="ctr">
            <a:normAutofit/>
          </a:bodyPr>
          <a:lstStyle/>
          <a:p>
            <a:pPr algn="ctr" indent="0" marL="0">
              <a:buNone/>
            </a:pPr>
            <a:r>
              <a:rPr lang="en-US" sz="1800" b="1" dirty="0">
                <a:solidFill>
                  <a:srgbClr val="8EA0B5">
                    <a:alpha val="99000"/>
                  </a:srgbClr>
                </a:solidFill>
                <a:latin typeface="Arial" pitchFamily="34" charset="0"/>
                <a:ea typeface="Arial" pitchFamily="34" charset="-122"/>
                <a:cs typeface="Arial" pitchFamily="34" charset="-120"/>
              </a:rPr>
              <a:t>D</a:t>
            </a:r>
            <a:endParaRPr lang="en-US" sz="1800" dirty="0"/>
          </a:p>
        </p:txBody>
      </p:sp>
      <p:sp>
        <p:nvSpPr>
          <p:cNvPr id="40" name="Text 38"/>
          <p:cNvSpPr/>
          <p:nvPr/>
        </p:nvSpPr>
        <p:spPr>
          <a:xfrm>
            <a:off x="7169150" y="5588966"/>
            <a:ext cx="3283168" cy="336550"/>
          </a:xfrm>
          <a:prstGeom prst="rect">
            <a:avLst/>
          </a:prstGeom>
          <a:noFill/>
          <a:ln/>
        </p:spPr>
        <p:txBody>
          <a:bodyPr wrap="square" lIns="25400" tIns="25400" rIns="25400" bIns="25400" rtlCol="0" anchor="t">
            <a:normAutofit/>
          </a:bodyPr>
          <a:lstStyle/>
          <a:p>
            <a:pPr algn="l" indent="0" marL="0">
              <a:buNone/>
            </a:pPr>
            <a:r>
              <a:rPr lang="en-US" sz="1800" dirty="0">
                <a:solidFill>
                  <a:srgbClr val="8EA0B5">
                    <a:alpha val="99000"/>
                  </a:srgbClr>
                </a:solidFill>
                <a:latin typeface="Arial" pitchFamily="34" charset="0"/>
                <a:ea typeface="Arial" pitchFamily="34" charset="-122"/>
                <a:cs typeface="Arial" pitchFamily="34" charset="-120"/>
              </a:rPr>
              <a:t>Héberger une base MongoDB</a:t>
            </a:r>
            <a:endParaRPr lang="en-US" sz="1800" dirty="0"/>
          </a:p>
        </p:txBody>
      </p:sp>
      <p:sp>
        <p:nvSpPr>
          <p:cNvPr id="41" name="Text 39"/>
          <p:cNvSpPr/>
          <p:nvPr/>
        </p:nvSpPr>
        <p:spPr>
          <a:xfrm>
            <a:off x="12001500" y="2450444"/>
            <a:ext cx="5376291" cy="655241"/>
          </a:xfrm>
          <a:prstGeom prst="rect">
            <a:avLst/>
          </a:prstGeom>
          <a:noFill/>
          <a:ln/>
        </p:spPr>
        <p:txBody>
          <a:bodyPr wrap="square" lIns="25400" tIns="25400" rIns="25400" bIns="25400" rtlCol="0" anchor="t">
            <a:normAutofit/>
          </a:bodyPr>
          <a:lstStyle/>
          <a:p>
            <a:pPr algn="l" indent="0" marL="0">
              <a:lnSpc>
                <a:spcPct val="103404"/>
              </a:lnSpc>
              <a:buNone/>
            </a:pPr>
            <a:r>
              <a:rPr lang="en-US" sz="2025" b="1" dirty="0">
                <a:solidFill>
                  <a:srgbClr val="EEF3F9">
                    <a:alpha val="98000"/>
                  </a:srgbClr>
                </a:solidFill>
                <a:latin typeface="Arial" pitchFamily="34" charset="0"/>
                <a:ea typeface="Arial" pitchFamily="34" charset="-122"/>
                <a:cs typeface="Arial" pitchFamily="34" charset="-120"/>
              </a:rPr>
              <a:t>Pourquoi S3 plutôt que le disque local d'EC2 ?</a:t>
            </a:r>
            <a:endParaRPr lang="en-US" sz="2025" dirty="0"/>
          </a:p>
        </p:txBody>
      </p:sp>
      <p:sp>
        <p:nvSpPr>
          <p:cNvPr id="42" name="Shape 40"/>
          <p:cNvSpPr/>
          <p:nvPr/>
        </p:nvSpPr>
        <p:spPr>
          <a:xfrm>
            <a:off x="12001500" y="3239035"/>
            <a:ext cx="5219700" cy="914400"/>
          </a:xfrm>
          <a:prstGeom prst="roundRect">
            <a:avLst>
              <a:gd name="adj" fmla="val 12500"/>
            </a:avLst>
          </a:prstGeom>
          <a:solidFill>
            <a:srgbClr val="FFFFFF">
              <a:alpha val="3000"/>
            </a:srgbClr>
          </a:solidFill>
          <a:ln w="6350">
            <a:solidFill>
              <a:srgbClr val="FFFFFF">
                <a:alpha val="10000"/>
              </a:srgbClr>
            </a:solidFill>
            <a:prstDash val="solid"/>
          </a:ln>
        </p:spPr>
      </p:sp>
      <p:sp>
        <p:nvSpPr>
          <p:cNvPr id="43" name="Shape 41"/>
          <p:cNvSpPr/>
          <p:nvPr/>
        </p:nvSpPr>
        <p:spPr>
          <a:xfrm>
            <a:off x="12198351" y="3543835"/>
            <a:ext cx="251222" cy="304800"/>
          </a:xfrm>
          <a:prstGeom prst="roundRect">
            <a:avLst>
              <a:gd name="adj" fmla="val 30332"/>
            </a:avLst>
          </a:prstGeom>
          <a:solidFill>
            <a:srgbClr val="FFFFFF">
              <a:alpha val="6000"/>
            </a:srgbClr>
          </a:solidFill>
          <a:ln/>
        </p:spPr>
      </p:sp>
      <p:sp>
        <p:nvSpPr>
          <p:cNvPr id="44" name="Text 42"/>
          <p:cNvSpPr/>
          <p:nvPr/>
        </p:nvSpPr>
        <p:spPr>
          <a:xfrm>
            <a:off x="12160251" y="3543835"/>
            <a:ext cx="327422" cy="342900"/>
          </a:xfrm>
          <a:prstGeom prst="rect">
            <a:avLst/>
          </a:prstGeom>
          <a:noFill/>
          <a:ln/>
        </p:spPr>
        <p:txBody>
          <a:bodyPr wrap="square" lIns="25400" tIns="25400" rIns="25400" bIns="25400" rtlCol="0" anchor="ctr">
            <a:normAutofit/>
          </a:bodyPr>
          <a:lstStyle/>
          <a:p>
            <a:pPr algn="ctr" indent="0" marL="0">
              <a:buNone/>
            </a:pPr>
            <a:r>
              <a:rPr lang="en-US" sz="1800" b="1" dirty="0">
                <a:solidFill>
                  <a:srgbClr val="8EA0B5">
                    <a:alpha val="98000"/>
                  </a:srgbClr>
                </a:solidFill>
                <a:latin typeface="Arial" pitchFamily="34" charset="0"/>
                <a:ea typeface="Arial" pitchFamily="34" charset="-122"/>
                <a:cs typeface="Arial" pitchFamily="34" charset="-120"/>
              </a:rPr>
              <a:t>A</a:t>
            </a:r>
            <a:endParaRPr lang="en-US" sz="1800" dirty="0"/>
          </a:p>
        </p:txBody>
      </p:sp>
      <p:sp>
        <p:nvSpPr>
          <p:cNvPr id="45" name="Text 43"/>
          <p:cNvSpPr/>
          <p:nvPr/>
        </p:nvSpPr>
        <p:spPr>
          <a:xfrm>
            <a:off x="12582923" y="3397785"/>
            <a:ext cx="4574671" cy="635000"/>
          </a:xfrm>
          <a:prstGeom prst="rect">
            <a:avLst/>
          </a:prstGeom>
          <a:noFill/>
          <a:ln/>
        </p:spPr>
        <p:txBody>
          <a:bodyPr wrap="square" lIns="25400" tIns="25400" rIns="25400" bIns="25400" rtlCol="0" anchor="t">
            <a:normAutofit/>
          </a:bodyPr>
          <a:lstStyle/>
          <a:p>
            <a:pPr algn="l" indent="0" marL="0">
              <a:buNone/>
            </a:pPr>
            <a:r>
              <a:rPr lang="en-US" sz="1800" dirty="0">
                <a:solidFill>
                  <a:srgbClr val="8EA0B5">
                    <a:alpha val="98000"/>
                  </a:srgbClr>
                </a:solidFill>
                <a:latin typeface="Arial" pitchFamily="34" charset="0"/>
                <a:ea typeface="Arial" pitchFamily="34" charset="-122"/>
                <a:cs typeface="Arial" pitchFamily="34" charset="-120"/>
              </a:rPr>
              <a:t>Stockage objet durable, scalable, indépendant d'EC2</a:t>
            </a:r>
            <a:endParaRPr lang="en-US" sz="1800" dirty="0"/>
          </a:p>
        </p:txBody>
      </p:sp>
      <p:sp>
        <p:nvSpPr>
          <p:cNvPr id="46" name="Shape 44"/>
          <p:cNvSpPr/>
          <p:nvPr/>
        </p:nvSpPr>
        <p:spPr>
          <a:xfrm>
            <a:off x="12001500" y="4267735"/>
            <a:ext cx="5219700" cy="622300"/>
          </a:xfrm>
          <a:prstGeom prst="roundRect">
            <a:avLst>
              <a:gd name="adj" fmla="val 18367"/>
            </a:avLst>
          </a:prstGeom>
          <a:solidFill>
            <a:srgbClr val="FFFFFF">
              <a:alpha val="3000"/>
            </a:srgbClr>
          </a:solidFill>
          <a:ln w="6350">
            <a:solidFill>
              <a:srgbClr val="FFFFFF">
                <a:alpha val="10000"/>
              </a:srgbClr>
            </a:solidFill>
            <a:prstDash val="solid"/>
          </a:ln>
        </p:spPr>
      </p:sp>
      <p:sp>
        <p:nvSpPr>
          <p:cNvPr id="47" name="Shape 45"/>
          <p:cNvSpPr/>
          <p:nvPr/>
        </p:nvSpPr>
        <p:spPr>
          <a:xfrm>
            <a:off x="12198351" y="4426485"/>
            <a:ext cx="304800" cy="304800"/>
          </a:xfrm>
          <a:prstGeom prst="roundRect">
            <a:avLst>
              <a:gd name="adj" fmla="val 25000"/>
            </a:avLst>
          </a:prstGeom>
          <a:solidFill>
            <a:srgbClr val="FFFFFF">
              <a:alpha val="6000"/>
            </a:srgbClr>
          </a:solidFill>
          <a:ln/>
        </p:spPr>
      </p:sp>
      <p:sp>
        <p:nvSpPr>
          <p:cNvPr id="48" name="Text 46"/>
          <p:cNvSpPr/>
          <p:nvPr/>
        </p:nvSpPr>
        <p:spPr>
          <a:xfrm>
            <a:off x="12160251" y="4426485"/>
            <a:ext cx="381000" cy="342900"/>
          </a:xfrm>
          <a:prstGeom prst="rect">
            <a:avLst/>
          </a:prstGeom>
          <a:noFill/>
          <a:ln/>
        </p:spPr>
        <p:txBody>
          <a:bodyPr wrap="square" lIns="25400" tIns="25400" rIns="25400" bIns="25400" rtlCol="0" anchor="ctr">
            <a:normAutofit/>
          </a:bodyPr>
          <a:lstStyle/>
          <a:p>
            <a:pPr algn="ctr" indent="0" marL="0">
              <a:buNone/>
            </a:pPr>
            <a:r>
              <a:rPr lang="en-US" sz="1800" b="1" dirty="0">
                <a:solidFill>
                  <a:srgbClr val="8EA0B5">
                    <a:alpha val="98000"/>
                  </a:srgbClr>
                </a:solidFill>
                <a:latin typeface="Arial" pitchFamily="34" charset="0"/>
                <a:ea typeface="Arial" pitchFamily="34" charset="-122"/>
                <a:cs typeface="Arial" pitchFamily="34" charset="-120"/>
              </a:rPr>
              <a:t>B</a:t>
            </a:r>
            <a:endParaRPr lang="en-US" sz="1800" dirty="0"/>
          </a:p>
        </p:txBody>
      </p:sp>
      <p:sp>
        <p:nvSpPr>
          <p:cNvPr id="49" name="Text 47"/>
          <p:cNvSpPr/>
          <p:nvPr/>
        </p:nvSpPr>
        <p:spPr>
          <a:xfrm>
            <a:off x="12636501" y="4429660"/>
            <a:ext cx="3353564" cy="336550"/>
          </a:xfrm>
          <a:prstGeom prst="rect">
            <a:avLst/>
          </a:prstGeom>
          <a:noFill/>
          <a:ln/>
        </p:spPr>
        <p:txBody>
          <a:bodyPr wrap="square" lIns="25400" tIns="25400" rIns="25400" bIns="25400" rtlCol="0" anchor="t">
            <a:normAutofit/>
          </a:bodyPr>
          <a:lstStyle/>
          <a:p>
            <a:pPr algn="l" indent="0" marL="0">
              <a:buNone/>
            </a:pPr>
            <a:r>
              <a:rPr lang="en-US" sz="1800" dirty="0">
                <a:solidFill>
                  <a:srgbClr val="8EA0B5">
                    <a:alpha val="98000"/>
                  </a:srgbClr>
                </a:solidFill>
                <a:latin typeface="Arial" pitchFamily="34" charset="0"/>
                <a:ea typeface="Arial" pitchFamily="34" charset="-122"/>
                <a:cs typeface="Arial" pitchFamily="34" charset="-120"/>
              </a:rPr>
              <a:t>S3 est plus rapide que la RAM</a:t>
            </a:r>
            <a:endParaRPr lang="en-US" sz="1800" dirty="0"/>
          </a:p>
        </p:txBody>
      </p:sp>
      <p:sp>
        <p:nvSpPr>
          <p:cNvPr id="50" name="Shape 48"/>
          <p:cNvSpPr/>
          <p:nvPr/>
        </p:nvSpPr>
        <p:spPr>
          <a:xfrm>
            <a:off x="12001500" y="5004335"/>
            <a:ext cx="5219700" cy="622300"/>
          </a:xfrm>
          <a:prstGeom prst="roundRect">
            <a:avLst>
              <a:gd name="adj" fmla="val 18367"/>
            </a:avLst>
          </a:prstGeom>
          <a:solidFill>
            <a:srgbClr val="FFFFFF">
              <a:alpha val="3000"/>
            </a:srgbClr>
          </a:solidFill>
          <a:ln w="6350">
            <a:solidFill>
              <a:srgbClr val="FFFFFF">
                <a:alpha val="10000"/>
              </a:srgbClr>
            </a:solidFill>
            <a:prstDash val="solid"/>
          </a:ln>
        </p:spPr>
      </p:sp>
      <p:sp>
        <p:nvSpPr>
          <p:cNvPr id="51" name="Shape 49"/>
          <p:cNvSpPr/>
          <p:nvPr/>
        </p:nvSpPr>
        <p:spPr>
          <a:xfrm>
            <a:off x="12198351" y="5163085"/>
            <a:ext cx="304800" cy="304800"/>
          </a:xfrm>
          <a:prstGeom prst="roundRect">
            <a:avLst>
              <a:gd name="adj" fmla="val 25000"/>
            </a:avLst>
          </a:prstGeom>
          <a:solidFill>
            <a:srgbClr val="FFFFFF">
              <a:alpha val="6000"/>
            </a:srgbClr>
          </a:solidFill>
          <a:ln/>
        </p:spPr>
      </p:sp>
      <p:sp>
        <p:nvSpPr>
          <p:cNvPr id="52" name="Text 50"/>
          <p:cNvSpPr/>
          <p:nvPr/>
        </p:nvSpPr>
        <p:spPr>
          <a:xfrm>
            <a:off x="12160251" y="5163085"/>
            <a:ext cx="381000" cy="342900"/>
          </a:xfrm>
          <a:prstGeom prst="rect">
            <a:avLst/>
          </a:prstGeom>
          <a:noFill/>
          <a:ln/>
        </p:spPr>
        <p:txBody>
          <a:bodyPr wrap="square" lIns="25400" tIns="25400" rIns="25400" bIns="25400" rtlCol="0" anchor="ctr">
            <a:normAutofit/>
          </a:bodyPr>
          <a:lstStyle/>
          <a:p>
            <a:pPr algn="ctr" indent="0" marL="0">
              <a:buNone/>
            </a:pPr>
            <a:r>
              <a:rPr lang="en-US" sz="1800" b="1" dirty="0">
                <a:solidFill>
                  <a:srgbClr val="8EA0B5">
                    <a:alpha val="98000"/>
                  </a:srgbClr>
                </a:solidFill>
                <a:latin typeface="Arial" pitchFamily="34" charset="0"/>
                <a:ea typeface="Arial" pitchFamily="34" charset="-122"/>
                <a:cs typeface="Arial" pitchFamily="34" charset="-120"/>
              </a:rPr>
              <a:t>C</a:t>
            </a:r>
            <a:endParaRPr lang="en-US" sz="1800" dirty="0"/>
          </a:p>
        </p:txBody>
      </p:sp>
      <p:sp>
        <p:nvSpPr>
          <p:cNvPr id="53" name="Text 51"/>
          <p:cNvSpPr/>
          <p:nvPr/>
        </p:nvSpPr>
        <p:spPr>
          <a:xfrm>
            <a:off x="12636501" y="5166260"/>
            <a:ext cx="3953510" cy="336550"/>
          </a:xfrm>
          <a:prstGeom prst="rect">
            <a:avLst/>
          </a:prstGeom>
          <a:noFill/>
          <a:ln/>
        </p:spPr>
        <p:txBody>
          <a:bodyPr wrap="square" lIns="25400" tIns="25400" rIns="25400" bIns="25400" rtlCol="0" anchor="t">
            <a:normAutofit/>
          </a:bodyPr>
          <a:lstStyle/>
          <a:p>
            <a:pPr algn="l" indent="0" marL="0">
              <a:buNone/>
            </a:pPr>
            <a:r>
              <a:rPr lang="en-US" sz="1800" dirty="0">
                <a:solidFill>
                  <a:srgbClr val="8EA0B5">
                    <a:alpha val="98000"/>
                  </a:srgbClr>
                </a:solidFill>
                <a:latin typeface="Arial" pitchFamily="34" charset="0"/>
                <a:ea typeface="Arial" pitchFamily="34" charset="-122"/>
                <a:cs typeface="Arial" pitchFamily="34" charset="-120"/>
              </a:rPr>
              <a:t>EC2 ne peut pas stocker de fichiers</a:t>
            </a:r>
            <a:endParaRPr lang="en-US" sz="1800" dirty="0"/>
          </a:p>
        </p:txBody>
      </p:sp>
      <p:sp>
        <p:nvSpPr>
          <p:cNvPr id="54" name="Shape 52"/>
          <p:cNvSpPr/>
          <p:nvPr/>
        </p:nvSpPr>
        <p:spPr>
          <a:xfrm>
            <a:off x="12001500" y="5740935"/>
            <a:ext cx="5219700" cy="622300"/>
          </a:xfrm>
          <a:prstGeom prst="roundRect">
            <a:avLst>
              <a:gd name="adj" fmla="val 18367"/>
            </a:avLst>
          </a:prstGeom>
          <a:solidFill>
            <a:srgbClr val="FFFFFF">
              <a:alpha val="3000"/>
            </a:srgbClr>
          </a:solidFill>
          <a:ln w="6350">
            <a:solidFill>
              <a:srgbClr val="FFFFFF">
                <a:alpha val="10000"/>
              </a:srgbClr>
            </a:solidFill>
            <a:prstDash val="solid"/>
          </a:ln>
        </p:spPr>
      </p:sp>
      <p:sp>
        <p:nvSpPr>
          <p:cNvPr id="55" name="Shape 53"/>
          <p:cNvSpPr/>
          <p:nvPr/>
        </p:nvSpPr>
        <p:spPr>
          <a:xfrm>
            <a:off x="12198351" y="5899685"/>
            <a:ext cx="304800" cy="304800"/>
          </a:xfrm>
          <a:prstGeom prst="roundRect">
            <a:avLst>
              <a:gd name="adj" fmla="val 25000"/>
            </a:avLst>
          </a:prstGeom>
          <a:solidFill>
            <a:srgbClr val="FFFFFF">
              <a:alpha val="6000"/>
            </a:srgbClr>
          </a:solidFill>
          <a:ln/>
        </p:spPr>
      </p:sp>
      <p:sp>
        <p:nvSpPr>
          <p:cNvPr id="56" name="Text 54"/>
          <p:cNvSpPr/>
          <p:nvPr/>
        </p:nvSpPr>
        <p:spPr>
          <a:xfrm>
            <a:off x="12160251" y="5899685"/>
            <a:ext cx="381000" cy="342900"/>
          </a:xfrm>
          <a:prstGeom prst="rect">
            <a:avLst/>
          </a:prstGeom>
          <a:noFill/>
          <a:ln/>
        </p:spPr>
        <p:txBody>
          <a:bodyPr wrap="square" lIns="25400" tIns="25400" rIns="25400" bIns="25400" rtlCol="0" anchor="ctr">
            <a:normAutofit/>
          </a:bodyPr>
          <a:lstStyle/>
          <a:p>
            <a:pPr algn="ctr" indent="0" marL="0">
              <a:buNone/>
            </a:pPr>
            <a:r>
              <a:rPr lang="en-US" sz="1800" b="1" dirty="0">
                <a:solidFill>
                  <a:srgbClr val="8EA0B5">
                    <a:alpha val="98000"/>
                  </a:srgbClr>
                </a:solidFill>
                <a:latin typeface="Arial" pitchFamily="34" charset="0"/>
                <a:ea typeface="Arial" pitchFamily="34" charset="-122"/>
                <a:cs typeface="Arial" pitchFamily="34" charset="-120"/>
              </a:rPr>
              <a:t>D</a:t>
            </a:r>
            <a:endParaRPr lang="en-US" sz="1800" dirty="0"/>
          </a:p>
        </p:txBody>
      </p:sp>
      <p:sp>
        <p:nvSpPr>
          <p:cNvPr id="57" name="Text 55"/>
          <p:cNvSpPr/>
          <p:nvPr/>
        </p:nvSpPr>
        <p:spPr>
          <a:xfrm>
            <a:off x="12636501" y="5902860"/>
            <a:ext cx="3889117" cy="336550"/>
          </a:xfrm>
          <a:prstGeom prst="rect">
            <a:avLst/>
          </a:prstGeom>
          <a:noFill/>
          <a:ln/>
        </p:spPr>
        <p:txBody>
          <a:bodyPr wrap="square" lIns="25400" tIns="25400" rIns="25400" bIns="25400" rtlCol="0" anchor="t">
            <a:normAutofit/>
          </a:bodyPr>
          <a:lstStyle/>
          <a:p>
            <a:pPr algn="l" indent="0" marL="0">
              <a:buNone/>
            </a:pPr>
            <a:r>
              <a:rPr lang="en-US" sz="1800" dirty="0">
                <a:solidFill>
                  <a:srgbClr val="8EA0B5">
                    <a:alpha val="98000"/>
                  </a:srgbClr>
                </a:solidFill>
                <a:latin typeface="Arial" pitchFamily="34" charset="0"/>
                <a:ea typeface="Arial" pitchFamily="34" charset="-122"/>
                <a:cs typeface="Arial" pitchFamily="34" charset="-120"/>
              </a:rPr>
              <a:t>S3 est uniquement pour les vidéos</a:t>
            </a:r>
            <a:endParaRPr lang="en-US" sz="18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0A0E15"/>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B470">
                  <a:alpha val="16000"/>
                </a:srgbClr>
              </a:gs>
              <a:gs pos="60000">
                <a:srgbClr val="FFB470">
                  <a:alpha val="0"/>
                </a:srgbClr>
              </a:gs>
            </a:gsLst>
            <a:path path="circle">
              <a:fillToRect l="80000" t="8000" r="20000" b="92000"/>
            </a:path>
          </a:gradFill>
          <a:ln/>
        </p:spPr>
      </p:sp>
      <p:sp>
        <p:nvSpPr>
          <p:cNvPr id="3" name="Shape 1"/>
          <p:cNvSpPr/>
          <p:nvPr/>
        </p:nvSpPr>
        <p:spPr>
          <a:xfrm>
            <a:off x="1066800" y="819150"/>
            <a:ext cx="419100" cy="419100"/>
          </a:xfrm>
          <a:prstGeom prst="roundRect">
            <a:avLst>
              <a:gd name="adj" fmla="val 27273"/>
            </a:avLst>
          </a:prstGeom>
          <a:ln w="19050">
            <a:solidFill>
              <a:srgbClr val="FFB46E">
                <a:alpha val="97000"/>
              </a:srgbClr>
            </a:solidFill>
            <a:prstDash val="solid"/>
          </a:ln>
        </p:spPr>
      </p:sp>
      <p:sp>
        <p:nvSpPr>
          <p:cNvPr id="4" name="Text 2"/>
          <p:cNvSpPr/>
          <p:nvPr/>
        </p:nvSpPr>
        <p:spPr>
          <a:xfrm>
            <a:off x="1047750" y="838200"/>
            <a:ext cx="457200" cy="419100"/>
          </a:xfrm>
          <a:prstGeom prst="rect">
            <a:avLst/>
          </a:prstGeom>
          <a:noFill/>
          <a:ln/>
        </p:spPr>
        <p:txBody>
          <a:bodyPr wrap="square" lIns="25400" tIns="25400" rIns="25400" bIns="25400" rtlCol="0" anchor="ctr">
            <a:normAutofit/>
          </a:bodyPr>
          <a:lstStyle/>
          <a:p>
            <a:pPr algn="ctr" indent="0" marL="0">
              <a:buNone/>
            </a:pPr>
            <a:r>
              <a:rPr lang="en-US" sz="1950" spc="432" kern="0" dirty="0">
                <a:solidFill>
                  <a:srgbClr val="FFB46E">
                    <a:alpha val="97000"/>
                  </a:srgbClr>
                </a:solidFill>
                <a:latin typeface="Courier New" pitchFamily="34" charset="0"/>
                <a:ea typeface="Courier New" pitchFamily="34" charset="-122"/>
                <a:cs typeface="Courier New" pitchFamily="34" charset="-120"/>
              </a:rPr>
              <a:t>?</a:t>
            </a:r>
            <a:endParaRPr lang="en-US" sz="1950" dirty="0"/>
          </a:p>
        </p:txBody>
      </p:sp>
      <p:sp>
        <p:nvSpPr>
          <p:cNvPr id="5" name="Text 3"/>
          <p:cNvSpPr/>
          <p:nvPr/>
        </p:nvSpPr>
        <p:spPr>
          <a:xfrm>
            <a:off x="1638300" y="876300"/>
            <a:ext cx="4549122" cy="342900"/>
          </a:xfrm>
          <a:prstGeom prst="rect">
            <a:avLst/>
          </a:prstGeom>
          <a:noFill/>
          <a:ln/>
        </p:spPr>
        <p:txBody>
          <a:bodyPr wrap="square" lIns="0" tIns="0" rIns="0" bIns="0" rtlCol="0" anchor="t">
            <a:normAutofit/>
          </a:bodyPr>
          <a:lstStyle/>
          <a:p>
            <a:pPr algn="l" indent="0" marL="0">
              <a:buNone/>
            </a:pPr>
            <a:r>
              <a:rPr lang="en-US" sz="1800" spc="432" kern="0" dirty="0">
                <a:solidFill>
                  <a:srgbClr val="FFB46E">
                    <a:alpha val="97000"/>
                  </a:srgbClr>
                </a:solidFill>
                <a:latin typeface="Courier New" pitchFamily="34" charset="0"/>
                <a:ea typeface="Courier New" pitchFamily="34" charset="-122"/>
                <a:cs typeface="Courier New" pitchFamily="34" charset="-120"/>
              </a:rPr>
              <a:t>CORRECTION · ATELIER 06</a:t>
            </a:r>
            <a:endParaRPr lang="en-US" sz="1800" dirty="0"/>
          </a:p>
        </p:txBody>
      </p:sp>
      <p:sp>
        <p:nvSpPr>
          <p:cNvPr id="6" name="Text 4"/>
          <p:cNvSpPr/>
          <p:nvPr/>
        </p:nvSpPr>
        <p:spPr>
          <a:xfrm>
            <a:off x="1066800" y="1428751"/>
            <a:ext cx="17769840"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Cloud Computing &amp; AWS</a:t>
            </a:r>
            <a:endParaRPr lang="en-US" sz="4800" dirty="0"/>
          </a:p>
        </p:txBody>
      </p:sp>
      <p:sp>
        <p:nvSpPr>
          <p:cNvPr id="7" name="Text 5"/>
          <p:cNvSpPr/>
          <p:nvPr/>
        </p:nvSpPr>
        <p:spPr>
          <a:xfrm>
            <a:off x="1066800" y="2443660"/>
            <a:ext cx="5741670" cy="346670"/>
          </a:xfrm>
          <a:prstGeom prst="rect">
            <a:avLst/>
          </a:prstGeom>
          <a:noFill/>
          <a:ln/>
        </p:spPr>
        <p:txBody>
          <a:bodyPr wrap="square" lIns="25400" tIns="25400" rIns="25400" bIns="25400" rtlCol="0" anchor="t">
            <a:normAutofit/>
          </a:bodyPr>
          <a:lstStyle/>
          <a:p>
            <a:pPr algn="l" indent="0" marL="0">
              <a:lnSpc>
                <a:spcPct val="103404"/>
              </a:lnSpc>
              <a:buNone/>
            </a:pPr>
            <a:r>
              <a:rPr lang="en-US" sz="2025" b="1" dirty="0">
                <a:solidFill>
                  <a:srgbClr val="EEF3F9"/>
                </a:solidFill>
                <a:latin typeface="Arial" pitchFamily="34" charset="0"/>
                <a:ea typeface="Arial" pitchFamily="34" charset="-122"/>
                <a:cs typeface="Arial" pitchFamily="34" charset="-120"/>
              </a:rPr>
              <a:t>Lequel correspond à de l'IaaS ?</a:t>
            </a:r>
            <a:endParaRPr lang="en-US" sz="2025" dirty="0"/>
          </a:p>
        </p:txBody>
      </p:sp>
      <p:sp>
        <p:nvSpPr>
          <p:cNvPr id="8" name="Shape 6"/>
          <p:cNvSpPr/>
          <p:nvPr/>
        </p:nvSpPr>
        <p:spPr>
          <a:xfrm>
            <a:off x="1066800" y="2923680"/>
            <a:ext cx="5219700" cy="622300"/>
          </a:xfrm>
          <a:prstGeom prst="roundRect">
            <a:avLst>
              <a:gd name="adj" fmla="val 18367"/>
            </a:avLst>
          </a:prstGeom>
          <a:solidFill>
            <a:srgbClr val="FFFFFF">
              <a:alpha val="3000"/>
            </a:srgbClr>
          </a:solidFill>
          <a:ln w="6350">
            <a:solidFill>
              <a:srgbClr val="FFFFFF">
                <a:alpha val="10000"/>
              </a:srgbClr>
            </a:solidFill>
            <a:prstDash val="solid"/>
          </a:ln>
        </p:spPr>
      </p:sp>
      <p:sp>
        <p:nvSpPr>
          <p:cNvPr id="9" name="Shape 7"/>
          <p:cNvSpPr/>
          <p:nvPr/>
        </p:nvSpPr>
        <p:spPr>
          <a:xfrm>
            <a:off x="1263650" y="3082430"/>
            <a:ext cx="304800" cy="304800"/>
          </a:xfrm>
          <a:prstGeom prst="roundRect">
            <a:avLst>
              <a:gd name="adj" fmla="val 25000"/>
            </a:avLst>
          </a:prstGeom>
          <a:solidFill>
            <a:srgbClr val="FFFFFF">
              <a:alpha val="6000"/>
            </a:srgbClr>
          </a:solidFill>
          <a:ln/>
        </p:spPr>
      </p:sp>
      <p:sp>
        <p:nvSpPr>
          <p:cNvPr id="10" name="Text 8"/>
          <p:cNvSpPr/>
          <p:nvPr/>
        </p:nvSpPr>
        <p:spPr>
          <a:xfrm>
            <a:off x="1225550" y="3082430"/>
            <a:ext cx="381000" cy="342900"/>
          </a:xfrm>
          <a:prstGeom prst="rect">
            <a:avLst/>
          </a:prstGeom>
          <a:noFill/>
          <a:ln/>
        </p:spPr>
        <p:txBody>
          <a:bodyPr wrap="square" lIns="25400" tIns="25400" rIns="25400" bIns="25400" rtlCol="0" anchor="ctr">
            <a:normAutofit/>
          </a:bodyPr>
          <a:lstStyle/>
          <a:p>
            <a:pPr algn="ctr" indent="0" marL="0">
              <a:buNone/>
            </a:pPr>
            <a:r>
              <a:rPr lang="en-US" sz="1800" b="1" dirty="0">
                <a:solidFill>
                  <a:srgbClr val="8EA0B5"/>
                </a:solidFill>
                <a:latin typeface="Arial" pitchFamily="34" charset="0"/>
                <a:ea typeface="Arial" pitchFamily="34" charset="-122"/>
                <a:cs typeface="Arial" pitchFamily="34" charset="-120"/>
              </a:rPr>
              <a:t>A</a:t>
            </a:r>
            <a:endParaRPr lang="en-US" sz="1800" dirty="0"/>
          </a:p>
        </p:txBody>
      </p:sp>
      <p:sp>
        <p:nvSpPr>
          <p:cNvPr id="11" name="Text 9"/>
          <p:cNvSpPr/>
          <p:nvPr/>
        </p:nvSpPr>
        <p:spPr>
          <a:xfrm>
            <a:off x="1701800" y="3085605"/>
            <a:ext cx="676077" cy="336550"/>
          </a:xfrm>
          <a:prstGeom prst="rect">
            <a:avLst/>
          </a:prstGeom>
          <a:noFill/>
          <a:ln/>
        </p:spPr>
        <p:txBody>
          <a:bodyPr wrap="square" lIns="25400" tIns="25400" rIns="25400" bIns="25400" rtlCol="0" anchor="t">
            <a:normAutofit/>
          </a:bodyPr>
          <a:lstStyle/>
          <a:p>
            <a:pPr algn="l" indent="0" marL="0">
              <a:buNone/>
            </a:pPr>
            <a:r>
              <a:rPr lang="en-US" sz="1800" dirty="0">
                <a:solidFill>
                  <a:srgbClr val="8EA0B5"/>
                </a:solidFill>
                <a:latin typeface="Arial" pitchFamily="34" charset="0"/>
                <a:ea typeface="Arial" pitchFamily="34" charset="-122"/>
                <a:cs typeface="Arial" pitchFamily="34" charset="-120"/>
              </a:rPr>
              <a:t>Gmail</a:t>
            </a:r>
            <a:endParaRPr lang="en-US" sz="1800" dirty="0"/>
          </a:p>
        </p:txBody>
      </p:sp>
      <p:sp>
        <p:nvSpPr>
          <p:cNvPr id="12" name="Shape 10"/>
          <p:cNvSpPr/>
          <p:nvPr/>
        </p:nvSpPr>
        <p:spPr>
          <a:xfrm>
            <a:off x="1066800" y="3660280"/>
            <a:ext cx="5219700" cy="628650"/>
          </a:xfrm>
          <a:prstGeom prst="roundRect">
            <a:avLst>
              <a:gd name="adj" fmla="val 18182"/>
            </a:avLst>
          </a:prstGeom>
          <a:gradFill rotWithShape="1">
            <a:gsLst>
              <a:gs pos="0">
                <a:srgbClr val="FFB46E">
                  <a:alpha val="20000"/>
                </a:srgbClr>
              </a:gs>
              <a:gs pos="100000">
                <a:srgbClr val="FFFFFF">
                  <a:alpha val="3000"/>
                </a:srgbClr>
              </a:gs>
            </a:gsLst>
            <a:lin ang="4200000" scaled="0"/>
          </a:gradFill>
          <a:ln w="6350">
            <a:solidFill>
              <a:srgbClr val="FFBE82">
                <a:alpha val="48000"/>
              </a:srgbClr>
            </a:solidFill>
            <a:prstDash val="solid"/>
          </a:ln>
        </p:spPr>
      </p:sp>
      <p:sp>
        <p:nvSpPr>
          <p:cNvPr id="13" name="Shape 11"/>
          <p:cNvSpPr/>
          <p:nvPr/>
        </p:nvSpPr>
        <p:spPr>
          <a:xfrm>
            <a:off x="1263650" y="3822205"/>
            <a:ext cx="304800" cy="304800"/>
          </a:xfrm>
          <a:prstGeom prst="roundRect">
            <a:avLst>
              <a:gd name="adj" fmla="val 25000"/>
            </a:avLst>
          </a:prstGeom>
          <a:solidFill>
            <a:srgbClr val="FFB46E"/>
          </a:solidFill>
          <a:ln/>
        </p:spPr>
      </p:sp>
      <p:sp>
        <p:nvSpPr>
          <p:cNvPr id="14" name="Text 12"/>
          <p:cNvSpPr/>
          <p:nvPr/>
        </p:nvSpPr>
        <p:spPr>
          <a:xfrm>
            <a:off x="1225550" y="3822205"/>
            <a:ext cx="381000" cy="342900"/>
          </a:xfrm>
          <a:prstGeom prst="rect">
            <a:avLst/>
          </a:prstGeom>
          <a:noFill/>
          <a:ln/>
        </p:spPr>
        <p:txBody>
          <a:bodyPr wrap="square" lIns="25400" tIns="25400" rIns="25400" bIns="25400" rtlCol="0" anchor="ctr">
            <a:normAutofit/>
          </a:bodyPr>
          <a:lstStyle/>
          <a:p>
            <a:pPr algn="ctr" indent="0" marL="0">
              <a:buNone/>
            </a:pPr>
            <a:r>
              <a:rPr lang="en-US" sz="1800" b="1" dirty="0">
                <a:solidFill>
                  <a:srgbClr val="04070C"/>
                </a:solidFill>
                <a:latin typeface="Arial" pitchFamily="34" charset="0"/>
                <a:ea typeface="Arial" pitchFamily="34" charset="-122"/>
                <a:cs typeface="Arial" pitchFamily="34" charset="-120"/>
              </a:rPr>
              <a:t>B</a:t>
            </a:r>
            <a:endParaRPr lang="en-US" sz="1800" dirty="0"/>
          </a:p>
        </p:txBody>
      </p:sp>
      <p:sp>
        <p:nvSpPr>
          <p:cNvPr id="15" name="Text 13"/>
          <p:cNvSpPr/>
          <p:nvPr/>
        </p:nvSpPr>
        <p:spPr>
          <a:xfrm>
            <a:off x="1701800" y="3825380"/>
            <a:ext cx="1425813" cy="336550"/>
          </a:xfrm>
          <a:prstGeom prst="rect">
            <a:avLst/>
          </a:prstGeom>
          <a:noFill/>
          <a:ln/>
        </p:spPr>
        <p:txBody>
          <a:bodyPr wrap="square" lIns="25400" tIns="25400" rIns="25400" bIns="25400" rtlCol="0" anchor="t">
            <a:normAutofit/>
          </a:bodyPr>
          <a:lstStyle/>
          <a:p>
            <a:pPr algn="l" indent="0" marL="0">
              <a:buNone/>
            </a:pPr>
            <a:r>
              <a:rPr lang="en-US" sz="1800" dirty="0">
                <a:solidFill>
                  <a:srgbClr val="EEF3F9"/>
                </a:solidFill>
                <a:latin typeface="Arial" pitchFamily="34" charset="0"/>
                <a:ea typeface="Arial" pitchFamily="34" charset="-122"/>
                <a:cs typeface="Arial" pitchFamily="34" charset="-120"/>
              </a:rPr>
              <a:t>Amazon EC2</a:t>
            </a:r>
            <a:endParaRPr lang="en-US" sz="1800" dirty="0"/>
          </a:p>
        </p:txBody>
      </p:sp>
      <p:sp>
        <p:nvSpPr>
          <p:cNvPr id="16" name="Text 14"/>
          <p:cNvSpPr/>
          <p:nvPr/>
        </p:nvSpPr>
        <p:spPr>
          <a:xfrm>
            <a:off x="5918399" y="3819030"/>
            <a:ext cx="247452" cy="349250"/>
          </a:xfrm>
          <a:prstGeom prst="rect">
            <a:avLst/>
          </a:prstGeom>
          <a:noFill/>
          <a:ln/>
        </p:spPr>
        <p:txBody>
          <a:bodyPr wrap="square" lIns="25400" tIns="25400" rIns="25400" bIns="25400" rtlCol="0" anchor="t">
            <a:normAutofit/>
          </a:bodyPr>
          <a:lstStyle/>
          <a:p>
            <a:pPr algn="l" indent="0" marL="0">
              <a:buNone/>
            </a:pPr>
            <a:r>
              <a:rPr lang="en-US" sz="1800" dirty="0">
                <a:solidFill>
                  <a:srgbClr val="FFB46E"/>
                </a:solidFill>
                <a:latin typeface="Arial" pitchFamily="34" charset="0"/>
                <a:ea typeface="Arial" pitchFamily="34" charset="-122"/>
                <a:cs typeface="Arial" pitchFamily="34" charset="-120"/>
              </a:rPr>
              <a:t>✓</a:t>
            </a:r>
            <a:endParaRPr lang="en-US" sz="1800" dirty="0"/>
          </a:p>
        </p:txBody>
      </p:sp>
      <p:sp>
        <p:nvSpPr>
          <p:cNvPr id="17" name="Shape 15"/>
          <p:cNvSpPr/>
          <p:nvPr/>
        </p:nvSpPr>
        <p:spPr>
          <a:xfrm>
            <a:off x="1066800" y="4403230"/>
            <a:ext cx="5219700" cy="622300"/>
          </a:xfrm>
          <a:prstGeom prst="roundRect">
            <a:avLst>
              <a:gd name="adj" fmla="val 18367"/>
            </a:avLst>
          </a:prstGeom>
          <a:solidFill>
            <a:srgbClr val="FFFFFF">
              <a:alpha val="3000"/>
            </a:srgbClr>
          </a:solidFill>
          <a:ln w="6350">
            <a:solidFill>
              <a:srgbClr val="FFFFFF">
                <a:alpha val="10000"/>
              </a:srgbClr>
            </a:solidFill>
            <a:prstDash val="solid"/>
          </a:ln>
        </p:spPr>
      </p:sp>
      <p:sp>
        <p:nvSpPr>
          <p:cNvPr id="18" name="Shape 16"/>
          <p:cNvSpPr/>
          <p:nvPr/>
        </p:nvSpPr>
        <p:spPr>
          <a:xfrm>
            <a:off x="1263650" y="4561980"/>
            <a:ext cx="304800" cy="304800"/>
          </a:xfrm>
          <a:prstGeom prst="roundRect">
            <a:avLst>
              <a:gd name="adj" fmla="val 25000"/>
            </a:avLst>
          </a:prstGeom>
          <a:solidFill>
            <a:srgbClr val="FFFFFF">
              <a:alpha val="6000"/>
            </a:srgbClr>
          </a:solidFill>
          <a:ln/>
        </p:spPr>
      </p:sp>
      <p:sp>
        <p:nvSpPr>
          <p:cNvPr id="19" name="Text 17"/>
          <p:cNvSpPr/>
          <p:nvPr/>
        </p:nvSpPr>
        <p:spPr>
          <a:xfrm>
            <a:off x="1225550" y="4561980"/>
            <a:ext cx="381000" cy="342900"/>
          </a:xfrm>
          <a:prstGeom prst="rect">
            <a:avLst/>
          </a:prstGeom>
          <a:noFill/>
          <a:ln/>
        </p:spPr>
        <p:txBody>
          <a:bodyPr wrap="square" lIns="25400" tIns="25400" rIns="25400" bIns="25400" rtlCol="0" anchor="ctr">
            <a:normAutofit/>
          </a:bodyPr>
          <a:lstStyle/>
          <a:p>
            <a:pPr algn="ctr" indent="0" marL="0">
              <a:buNone/>
            </a:pPr>
            <a:r>
              <a:rPr lang="en-US" sz="1800" b="1" dirty="0">
                <a:solidFill>
                  <a:srgbClr val="8EA0B5"/>
                </a:solidFill>
                <a:latin typeface="Arial" pitchFamily="34" charset="0"/>
                <a:ea typeface="Arial" pitchFamily="34" charset="-122"/>
                <a:cs typeface="Arial" pitchFamily="34" charset="-120"/>
              </a:rPr>
              <a:t>C</a:t>
            </a:r>
            <a:endParaRPr lang="en-US" sz="1800" dirty="0"/>
          </a:p>
        </p:txBody>
      </p:sp>
      <p:sp>
        <p:nvSpPr>
          <p:cNvPr id="20" name="Text 18"/>
          <p:cNvSpPr/>
          <p:nvPr/>
        </p:nvSpPr>
        <p:spPr>
          <a:xfrm>
            <a:off x="1701800" y="4565155"/>
            <a:ext cx="1413480" cy="336550"/>
          </a:xfrm>
          <a:prstGeom prst="rect">
            <a:avLst/>
          </a:prstGeom>
          <a:noFill/>
          <a:ln/>
        </p:spPr>
        <p:txBody>
          <a:bodyPr wrap="square" lIns="25400" tIns="25400" rIns="25400" bIns="25400" rtlCol="0" anchor="t">
            <a:normAutofit/>
          </a:bodyPr>
          <a:lstStyle/>
          <a:p>
            <a:pPr algn="l" indent="0" marL="0">
              <a:buNone/>
            </a:pPr>
            <a:r>
              <a:rPr lang="en-US" sz="1800" dirty="0">
                <a:solidFill>
                  <a:srgbClr val="8EA0B5"/>
                </a:solidFill>
                <a:latin typeface="Arial" pitchFamily="34" charset="0"/>
                <a:ea typeface="Arial" pitchFamily="34" charset="-122"/>
                <a:cs typeface="Arial" pitchFamily="34" charset="-120"/>
              </a:rPr>
              <a:t>Google Docs</a:t>
            </a:r>
            <a:endParaRPr lang="en-US" sz="1800" dirty="0"/>
          </a:p>
        </p:txBody>
      </p:sp>
      <p:sp>
        <p:nvSpPr>
          <p:cNvPr id="21" name="Shape 19"/>
          <p:cNvSpPr/>
          <p:nvPr/>
        </p:nvSpPr>
        <p:spPr>
          <a:xfrm>
            <a:off x="1066800" y="5139830"/>
            <a:ext cx="5219700" cy="622300"/>
          </a:xfrm>
          <a:prstGeom prst="roundRect">
            <a:avLst>
              <a:gd name="adj" fmla="val 18367"/>
            </a:avLst>
          </a:prstGeom>
          <a:solidFill>
            <a:srgbClr val="FFFFFF">
              <a:alpha val="3000"/>
            </a:srgbClr>
          </a:solidFill>
          <a:ln w="6350">
            <a:solidFill>
              <a:srgbClr val="FFFFFF">
                <a:alpha val="10000"/>
              </a:srgbClr>
            </a:solidFill>
            <a:prstDash val="solid"/>
          </a:ln>
        </p:spPr>
      </p:sp>
      <p:sp>
        <p:nvSpPr>
          <p:cNvPr id="22" name="Shape 20"/>
          <p:cNvSpPr/>
          <p:nvPr/>
        </p:nvSpPr>
        <p:spPr>
          <a:xfrm>
            <a:off x="1263650" y="5298580"/>
            <a:ext cx="304800" cy="304800"/>
          </a:xfrm>
          <a:prstGeom prst="roundRect">
            <a:avLst>
              <a:gd name="adj" fmla="val 25000"/>
            </a:avLst>
          </a:prstGeom>
          <a:solidFill>
            <a:srgbClr val="FFFFFF">
              <a:alpha val="6000"/>
            </a:srgbClr>
          </a:solidFill>
          <a:ln/>
        </p:spPr>
      </p:sp>
      <p:sp>
        <p:nvSpPr>
          <p:cNvPr id="23" name="Text 21"/>
          <p:cNvSpPr/>
          <p:nvPr/>
        </p:nvSpPr>
        <p:spPr>
          <a:xfrm>
            <a:off x="1225550" y="5298580"/>
            <a:ext cx="381000" cy="342900"/>
          </a:xfrm>
          <a:prstGeom prst="rect">
            <a:avLst/>
          </a:prstGeom>
          <a:noFill/>
          <a:ln/>
        </p:spPr>
        <p:txBody>
          <a:bodyPr wrap="square" lIns="25400" tIns="25400" rIns="25400" bIns="25400" rtlCol="0" anchor="ctr">
            <a:normAutofit/>
          </a:bodyPr>
          <a:lstStyle/>
          <a:p>
            <a:pPr algn="ctr" indent="0" marL="0">
              <a:buNone/>
            </a:pPr>
            <a:r>
              <a:rPr lang="en-US" sz="1800" b="1" dirty="0">
                <a:solidFill>
                  <a:srgbClr val="8EA0B5"/>
                </a:solidFill>
                <a:latin typeface="Arial" pitchFamily="34" charset="0"/>
                <a:ea typeface="Arial" pitchFamily="34" charset="-122"/>
                <a:cs typeface="Arial" pitchFamily="34" charset="-120"/>
              </a:rPr>
              <a:t>D</a:t>
            </a:r>
            <a:endParaRPr lang="en-US" sz="1800" dirty="0"/>
          </a:p>
        </p:txBody>
      </p:sp>
      <p:sp>
        <p:nvSpPr>
          <p:cNvPr id="24" name="Text 22"/>
          <p:cNvSpPr/>
          <p:nvPr/>
        </p:nvSpPr>
        <p:spPr>
          <a:xfrm>
            <a:off x="1701800" y="5301755"/>
            <a:ext cx="946745" cy="336550"/>
          </a:xfrm>
          <a:prstGeom prst="rect">
            <a:avLst/>
          </a:prstGeom>
          <a:noFill/>
          <a:ln/>
        </p:spPr>
        <p:txBody>
          <a:bodyPr wrap="square" lIns="25400" tIns="25400" rIns="25400" bIns="25400" rtlCol="0" anchor="t">
            <a:normAutofit/>
          </a:bodyPr>
          <a:lstStyle/>
          <a:p>
            <a:pPr algn="l" indent="0" marL="0">
              <a:buNone/>
            </a:pPr>
            <a:r>
              <a:rPr lang="en-US" sz="1800" dirty="0">
                <a:solidFill>
                  <a:srgbClr val="8EA0B5"/>
                </a:solidFill>
                <a:latin typeface="Arial" pitchFamily="34" charset="0"/>
                <a:ea typeface="Arial" pitchFamily="34" charset="-122"/>
                <a:cs typeface="Arial" pitchFamily="34" charset="-120"/>
              </a:rPr>
              <a:t>Dropbox</a:t>
            </a:r>
            <a:endParaRPr lang="en-US" sz="1800" dirty="0"/>
          </a:p>
        </p:txBody>
      </p:sp>
      <p:sp>
        <p:nvSpPr>
          <p:cNvPr id="25" name="Text 23"/>
          <p:cNvSpPr/>
          <p:nvPr/>
        </p:nvSpPr>
        <p:spPr>
          <a:xfrm>
            <a:off x="6534150" y="2445111"/>
            <a:ext cx="5741670" cy="346670"/>
          </a:xfrm>
          <a:prstGeom prst="rect">
            <a:avLst/>
          </a:prstGeom>
          <a:noFill/>
          <a:ln/>
        </p:spPr>
        <p:txBody>
          <a:bodyPr wrap="square" lIns="25400" tIns="25400" rIns="25400" bIns="25400" rtlCol="0" anchor="t">
            <a:normAutofit/>
          </a:bodyPr>
          <a:lstStyle/>
          <a:p>
            <a:pPr algn="l" indent="0" marL="0">
              <a:lnSpc>
                <a:spcPct val="103404"/>
              </a:lnSpc>
              <a:buNone/>
            </a:pPr>
            <a:r>
              <a:rPr lang="en-US" sz="2025" b="1" dirty="0">
                <a:solidFill>
                  <a:srgbClr val="EEF3F9">
                    <a:alpha val="99000"/>
                  </a:srgbClr>
                </a:solidFill>
                <a:latin typeface="Arial" pitchFamily="34" charset="0"/>
                <a:ea typeface="Arial" pitchFamily="34" charset="-122"/>
                <a:cs typeface="Arial" pitchFamily="34" charset="-120"/>
              </a:rPr>
              <a:t>Rôle principal d'un Security Group ?</a:t>
            </a:r>
            <a:endParaRPr lang="en-US" sz="2025" dirty="0"/>
          </a:p>
        </p:txBody>
      </p:sp>
      <p:sp>
        <p:nvSpPr>
          <p:cNvPr id="26" name="Shape 24"/>
          <p:cNvSpPr/>
          <p:nvPr/>
        </p:nvSpPr>
        <p:spPr>
          <a:xfrm>
            <a:off x="6534150" y="2925131"/>
            <a:ext cx="5219700" cy="622300"/>
          </a:xfrm>
          <a:prstGeom prst="roundRect">
            <a:avLst>
              <a:gd name="adj" fmla="val 18367"/>
            </a:avLst>
          </a:prstGeom>
          <a:solidFill>
            <a:srgbClr val="FFFFFF">
              <a:alpha val="3000"/>
            </a:srgbClr>
          </a:solidFill>
          <a:ln w="6350">
            <a:solidFill>
              <a:srgbClr val="FFFFFF">
                <a:alpha val="10000"/>
              </a:srgbClr>
            </a:solidFill>
            <a:prstDash val="solid"/>
          </a:ln>
        </p:spPr>
      </p:sp>
      <p:sp>
        <p:nvSpPr>
          <p:cNvPr id="27" name="Shape 25"/>
          <p:cNvSpPr/>
          <p:nvPr/>
        </p:nvSpPr>
        <p:spPr>
          <a:xfrm>
            <a:off x="6731000" y="3083881"/>
            <a:ext cx="304800" cy="304800"/>
          </a:xfrm>
          <a:prstGeom prst="roundRect">
            <a:avLst>
              <a:gd name="adj" fmla="val 25000"/>
            </a:avLst>
          </a:prstGeom>
          <a:solidFill>
            <a:srgbClr val="FFFFFF">
              <a:alpha val="6000"/>
            </a:srgbClr>
          </a:solidFill>
          <a:ln/>
        </p:spPr>
      </p:sp>
      <p:sp>
        <p:nvSpPr>
          <p:cNvPr id="28" name="Text 26"/>
          <p:cNvSpPr/>
          <p:nvPr/>
        </p:nvSpPr>
        <p:spPr>
          <a:xfrm>
            <a:off x="6692900" y="3083881"/>
            <a:ext cx="381000" cy="342900"/>
          </a:xfrm>
          <a:prstGeom prst="rect">
            <a:avLst/>
          </a:prstGeom>
          <a:noFill/>
          <a:ln/>
        </p:spPr>
        <p:txBody>
          <a:bodyPr wrap="square" lIns="25400" tIns="25400" rIns="25400" bIns="25400" rtlCol="0" anchor="ctr">
            <a:normAutofit/>
          </a:bodyPr>
          <a:lstStyle/>
          <a:p>
            <a:pPr algn="ctr" indent="0" marL="0">
              <a:buNone/>
            </a:pPr>
            <a:r>
              <a:rPr lang="en-US" sz="1800" b="1" dirty="0">
                <a:solidFill>
                  <a:srgbClr val="8EA0B5">
                    <a:alpha val="99000"/>
                  </a:srgbClr>
                </a:solidFill>
                <a:latin typeface="Arial" pitchFamily="34" charset="0"/>
                <a:ea typeface="Arial" pitchFamily="34" charset="-122"/>
                <a:cs typeface="Arial" pitchFamily="34" charset="-120"/>
              </a:rPr>
              <a:t>A</a:t>
            </a:r>
            <a:endParaRPr lang="en-US" sz="1800" dirty="0"/>
          </a:p>
        </p:txBody>
      </p:sp>
      <p:sp>
        <p:nvSpPr>
          <p:cNvPr id="29" name="Text 27"/>
          <p:cNvSpPr/>
          <p:nvPr/>
        </p:nvSpPr>
        <p:spPr>
          <a:xfrm>
            <a:off x="7169150" y="3087056"/>
            <a:ext cx="2264668" cy="336550"/>
          </a:xfrm>
          <a:prstGeom prst="rect">
            <a:avLst/>
          </a:prstGeom>
          <a:noFill/>
          <a:ln/>
        </p:spPr>
        <p:txBody>
          <a:bodyPr wrap="square" lIns="25400" tIns="25400" rIns="25400" bIns="25400" rtlCol="0" anchor="t">
            <a:normAutofit/>
          </a:bodyPr>
          <a:lstStyle/>
          <a:p>
            <a:pPr algn="l" indent="0" marL="0">
              <a:buNone/>
            </a:pPr>
            <a:r>
              <a:rPr lang="en-US" sz="1800" dirty="0">
                <a:solidFill>
                  <a:srgbClr val="8EA0B5">
                    <a:alpha val="99000"/>
                  </a:srgbClr>
                </a:solidFill>
                <a:latin typeface="Arial" pitchFamily="34" charset="0"/>
                <a:ea typeface="Arial" pitchFamily="34" charset="-122"/>
                <a:cs typeface="Arial" pitchFamily="34" charset="-120"/>
              </a:rPr>
              <a:t>Chiffrer les données</a:t>
            </a:r>
            <a:endParaRPr lang="en-US" sz="1800" dirty="0"/>
          </a:p>
        </p:txBody>
      </p:sp>
      <p:sp>
        <p:nvSpPr>
          <p:cNvPr id="30" name="Shape 28"/>
          <p:cNvSpPr/>
          <p:nvPr/>
        </p:nvSpPr>
        <p:spPr>
          <a:xfrm>
            <a:off x="6534150" y="3661731"/>
            <a:ext cx="5219700" cy="914400"/>
          </a:xfrm>
          <a:prstGeom prst="roundRect">
            <a:avLst>
              <a:gd name="adj" fmla="val 12500"/>
            </a:avLst>
          </a:prstGeom>
          <a:gradFill rotWithShape="1">
            <a:gsLst>
              <a:gs pos="0">
                <a:srgbClr val="FFB46E">
                  <a:alpha val="20000"/>
                </a:srgbClr>
              </a:gs>
              <a:gs pos="100000">
                <a:srgbClr val="FFFFFF">
                  <a:alpha val="3000"/>
                </a:srgbClr>
              </a:gs>
            </a:gsLst>
            <a:lin ang="4200000" scaled="0"/>
          </a:gradFill>
          <a:ln w="6350">
            <a:solidFill>
              <a:srgbClr val="FFBE82">
                <a:alpha val="48000"/>
              </a:srgbClr>
            </a:solidFill>
            <a:prstDash val="solid"/>
          </a:ln>
        </p:spPr>
      </p:sp>
      <p:sp>
        <p:nvSpPr>
          <p:cNvPr id="31" name="Shape 29"/>
          <p:cNvSpPr/>
          <p:nvPr/>
        </p:nvSpPr>
        <p:spPr>
          <a:xfrm>
            <a:off x="6731000" y="3966531"/>
            <a:ext cx="256580" cy="304800"/>
          </a:xfrm>
          <a:prstGeom prst="roundRect">
            <a:avLst>
              <a:gd name="adj" fmla="val 29698"/>
            </a:avLst>
          </a:prstGeom>
          <a:solidFill>
            <a:srgbClr val="FFB46E">
              <a:alpha val="99000"/>
            </a:srgbClr>
          </a:solidFill>
          <a:ln/>
        </p:spPr>
      </p:sp>
      <p:sp>
        <p:nvSpPr>
          <p:cNvPr id="32" name="Text 30"/>
          <p:cNvSpPr/>
          <p:nvPr/>
        </p:nvSpPr>
        <p:spPr>
          <a:xfrm>
            <a:off x="6692900" y="3966531"/>
            <a:ext cx="332780" cy="342900"/>
          </a:xfrm>
          <a:prstGeom prst="rect">
            <a:avLst/>
          </a:prstGeom>
          <a:noFill/>
          <a:ln/>
        </p:spPr>
        <p:txBody>
          <a:bodyPr wrap="square" lIns="25400" tIns="25400" rIns="25400" bIns="25400" rtlCol="0" anchor="ctr">
            <a:normAutofit/>
          </a:bodyPr>
          <a:lstStyle/>
          <a:p>
            <a:pPr algn="ctr" indent="0" marL="0">
              <a:buNone/>
            </a:pPr>
            <a:r>
              <a:rPr lang="en-US" sz="1800" b="1" dirty="0">
                <a:solidFill>
                  <a:srgbClr val="04070C">
                    <a:alpha val="99000"/>
                  </a:srgbClr>
                </a:solidFill>
                <a:latin typeface="Arial" pitchFamily="34" charset="0"/>
                <a:ea typeface="Arial" pitchFamily="34" charset="-122"/>
                <a:cs typeface="Arial" pitchFamily="34" charset="-120"/>
              </a:rPr>
              <a:t>B</a:t>
            </a:r>
            <a:endParaRPr lang="en-US" sz="1800" dirty="0"/>
          </a:p>
        </p:txBody>
      </p:sp>
      <p:sp>
        <p:nvSpPr>
          <p:cNvPr id="33" name="Text 31"/>
          <p:cNvSpPr/>
          <p:nvPr/>
        </p:nvSpPr>
        <p:spPr>
          <a:xfrm>
            <a:off x="7120930" y="3820481"/>
            <a:ext cx="4255413" cy="635000"/>
          </a:xfrm>
          <a:prstGeom prst="rect">
            <a:avLst/>
          </a:prstGeom>
          <a:noFill/>
          <a:ln/>
        </p:spPr>
        <p:txBody>
          <a:bodyPr wrap="square" lIns="25400" tIns="25400" rIns="25400" bIns="25400" rtlCol="0" anchor="t">
            <a:normAutofit/>
          </a:bodyPr>
          <a:lstStyle/>
          <a:p>
            <a:pPr algn="l" indent="0" marL="0">
              <a:buNone/>
            </a:pPr>
            <a:r>
              <a:rPr lang="en-US" sz="1800" dirty="0">
                <a:solidFill>
                  <a:srgbClr val="EEF3F9">
                    <a:alpha val="99000"/>
                  </a:srgbClr>
                </a:solidFill>
                <a:latin typeface="Arial" pitchFamily="34" charset="0"/>
                <a:ea typeface="Arial" pitchFamily="34" charset="-122"/>
                <a:cs typeface="Arial" pitchFamily="34" charset="-120"/>
              </a:rPr>
              <a:t>Définir le trafic entrant et sortant d'une instance</a:t>
            </a:r>
            <a:endParaRPr lang="en-US" sz="1800" dirty="0"/>
          </a:p>
        </p:txBody>
      </p:sp>
      <p:sp>
        <p:nvSpPr>
          <p:cNvPr id="34" name="Text 32"/>
          <p:cNvSpPr/>
          <p:nvPr/>
        </p:nvSpPr>
        <p:spPr>
          <a:xfrm>
            <a:off x="11385749" y="3963356"/>
            <a:ext cx="247452" cy="349250"/>
          </a:xfrm>
          <a:prstGeom prst="rect">
            <a:avLst/>
          </a:prstGeom>
          <a:noFill/>
          <a:ln/>
        </p:spPr>
        <p:txBody>
          <a:bodyPr wrap="square" lIns="25400" tIns="25400" rIns="25400" bIns="25400" rtlCol="0" anchor="t">
            <a:normAutofit/>
          </a:bodyPr>
          <a:lstStyle/>
          <a:p>
            <a:pPr algn="l" indent="0" marL="0">
              <a:buNone/>
            </a:pPr>
            <a:r>
              <a:rPr lang="en-US" sz="1800" dirty="0">
                <a:solidFill>
                  <a:srgbClr val="FFB46E">
                    <a:alpha val="99000"/>
                  </a:srgbClr>
                </a:solidFill>
                <a:latin typeface="Arial" pitchFamily="34" charset="0"/>
                <a:ea typeface="Arial" pitchFamily="34" charset="-122"/>
                <a:cs typeface="Arial" pitchFamily="34" charset="-120"/>
              </a:rPr>
              <a:t>✓</a:t>
            </a:r>
            <a:endParaRPr lang="en-US" sz="1800" dirty="0"/>
          </a:p>
        </p:txBody>
      </p:sp>
      <p:sp>
        <p:nvSpPr>
          <p:cNvPr id="35" name="Shape 33"/>
          <p:cNvSpPr/>
          <p:nvPr/>
        </p:nvSpPr>
        <p:spPr>
          <a:xfrm>
            <a:off x="6534150" y="4690431"/>
            <a:ext cx="5219700" cy="622300"/>
          </a:xfrm>
          <a:prstGeom prst="roundRect">
            <a:avLst>
              <a:gd name="adj" fmla="val 18367"/>
            </a:avLst>
          </a:prstGeom>
          <a:solidFill>
            <a:srgbClr val="FFFFFF">
              <a:alpha val="3000"/>
            </a:srgbClr>
          </a:solidFill>
          <a:ln w="6350">
            <a:solidFill>
              <a:srgbClr val="FFFFFF">
                <a:alpha val="10000"/>
              </a:srgbClr>
            </a:solidFill>
            <a:prstDash val="solid"/>
          </a:ln>
        </p:spPr>
      </p:sp>
      <p:sp>
        <p:nvSpPr>
          <p:cNvPr id="36" name="Shape 34"/>
          <p:cNvSpPr/>
          <p:nvPr/>
        </p:nvSpPr>
        <p:spPr>
          <a:xfrm>
            <a:off x="6731000" y="4849181"/>
            <a:ext cx="304800" cy="304800"/>
          </a:xfrm>
          <a:prstGeom prst="roundRect">
            <a:avLst>
              <a:gd name="adj" fmla="val 25000"/>
            </a:avLst>
          </a:prstGeom>
          <a:solidFill>
            <a:srgbClr val="FFFFFF">
              <a:alpha val="6000"/>
            </a:srgbClr>
          </a:solidFill>
          <a:ln/>
        </p:spPr>
      </p:sp>
      <p:sp>
        <p:nvSpPr>
          <p:cNvPr id="37" name="Text 35"/>
          <p:cNvSpPr/>
          <p:nvPr/>
        </p:nvSpPr>
        <p:spPr>
          <a:xfrm>
            <a:off x="6692900" y="4849181"/>
            <a:ext cx="381000" cy="342900"/>
          </a:xfrm>
          <a:prstGeom prst="rect">
            <a:avLst/>
          </a:prstGeom>
          <a:noFill/>
          <a:ln/>
        </p:spPr>
        <p:txBody>
          <a:bodyPr wrap="square" lIns="25400" tIns="25400" rIns="25400" bIns="25400" rtlCol="0" anchor="ctr">
            <a:normAutofit/>
          </a:bodyPr>
          <a:lstStyle/>
          <a:p>
            <a:pPr algn="ctr" indent="0" marL="0">
              <a:buNone/>
            </a:pPr>
            <a:r>
              <a:rPr lang="en-US" sz="1800" b="1" dirty="0">
                <a:solidFill>
                  <a:srgbClr val="8EA0B5">
                    <a:alpha val="99000"/>
                  </a:srgbClr>
                </a:solidFill>
                <a:latin typeface="Arial" pitchFamily="34" charset="0"/>
                <a:ea typeface="Arial" pitchFamily="34" charset="-122"/>
                <a:cs typeface="Arial" pitchFamily="34" charset="-120"/>
              </a:rPr>
              <a:t>C</a:t>
            </a:r>
            <a:endParaRPr lang="en-US" sz="1800" dirty="0"/>
          </a:p>
        </p:txBody>
      </p:sp>
      <p:sp>
        <p:nvSpPr>
          <p:cNvPr id="38" name="Text 36"/>
          <p:cNvSpPr/>
          <p:nvPr/>
        </p:nvSpPr>
        <p:spPr>
          <a:xfrm>
            <a:off x="7169150" y="4852356"/>
            <a:ext cx="2834710" cy="336550"/>
          </a:xfrm>
          <a:prstGeom prst="rect">
            <a:avLst/>
          </a:prstGeom>
          <a:noFill/>
          <a:ln/>
        </p:spPr>
        <p:txBody>
          <a:bodyPr wrap="square" lIns="25400" tIns="25400" rIns="25400" bIns="25400" rtlCol="0" anchor="t">
            <a:normAutofit/>
          </a:bodyPr>
          <a:lstStyle/>
          <a:p>
            <a:pPr algn="l" indent="0" marL="0">
              <a:buNone/>
            </a:pPr>
            <a:r>
              <a:rPr lang="en-US" sz="1800" dirty="0">
                <a:solidFill>
                  <a:srgbClr val="8EA0B5">
                    <a:alpha val="99000"/>
                  </a:srgbClr>
                </a:solidFill>
                <a:latin typeface="Arial" pitchFamily="34" charset="0"/>
                <a:ea typeface="Arial" pitchFamily="34" charset="-122"/>
                <a:cs typeface="Arial" pitchFamily="34" charset="-120"/>
              </a:rPr>
              <a:t>Sauvegarder les données</a:t>
            </a:r>
            <a:endParaRPr lang="en-US" sz="1800" dirty="0"/>
          </a:p>
        </p:txBody>
      </p:sp>
      <p:sp>
        <p:nvSpPr>
          <p:cNvPr id="39" name="Shape 37"/>
          <p:cNvSpPr/>
          <p:nvPr/>
        </p:nvSpPr>
        <p:spPr>
          <a:xfrm>
            <a:off x="6534150" y="5427032"/>
            <a:ext cx="5219700" cy="622300"/>
          </a:xfrm>
          <a:prstGeom prst="roundRect">
            <a:avLst>
              <a:gd name="adj" fmla="val 18367"/>
            </a:avLst>
          </a:prstGeom>
          <a:solidFill>
            <a:srgbClr val="FFFFFF">
              <a:alpha val="3000"/>
            </a:srgbClr>
          </a:solidFill>
          <a:ln w="6350">
            <a:solidFill>
              <a:srgbClr val="FFFFFF">
                <a:alpha val="10000"/>
              </a:srgbClr>
            </a:solidFill>
            <a:prstDash val="solid"/>
          </a:ln>
        </p:spPr>
      </p:sp>
      <p:sp>
        <p:nvSpPr>
          <p:cNvPr id="40" name="Shape 38"/>
          <p:cNvSpPr/>
          <p:nvPr/>
        </p:nvSpPr>
        <p:spPr>
          <a:xfrm>
            <a:off x="6731000" y="5585781"/>
            <a:ext cx="304800" cy="304800"/>
          </a:xfrm>
          <a:prstGeom prst="roundRect">
            <a:avLst>
              <a:gd name="adj" fmla="val 25000"/>
            </a:avLst>
          </a:prstGeom>
          <a:solidFill>
            <a:srgbClr val="FFFFFF">
              <a:alpha val="6000"/>
            </a:srgbClr>
          </a:solidFill>
          <a:ln/>
        </p:spPr>
      </p:sp>
      <p:sp>
        <p:nvSpPr>
          <p:cNvPr id="41" name="Text 39"/>
          <p:cNvSpPr/>
          <p:nvPr/>
        </p:nvSpPr>
        <p:spPr>
          <a:xfrm>
            <a:off x="6692900" y="5585781"/>
            <a:ext cx="381000" cy="342900"/>
          </a:xfrm>
          <a:prstGeom prst="rect">
            <a:avLst/>
          </a:prstGeom>
          <a:noFill/>
          <a:ln/>
        </p:spPr>
        <p:txBody>
          <a:bodyPr wrap="square" lIns="25400" tIns="25400" rIns="25400" bIns="25400" rtlCol="0" anchor="ctr">
            <a:normAutofit/>
          </a:bodyPr>
          <a:lstStyle/>
          <a:p>
            <a:pPr algn="ctr" indent="0" marL="0">
              <a:buNone/>
            </a:pPr>
            <a:r>
              <a:rPr lang="en-US" sz="1800" b="1" dirty="0">
                <a:solidFill>
                  <a:srgbClr val="8EA0B5">
                    <a:alpha val="99000"/>
                  </a:srgbClr>
                </a:solidFill>
                <a:latin typeface="Arial" pitchFamily="34" charset="0"/>
                <a:ea typeface="Arial" pitchFamily="34" charset="-122"/>
                <a:cs typeface="Arial" pitchFamily="34" charset="-120"/>
              </a:rPr>
              <a:t>D</a:t>
            </a:r>
            <a:endParaRPr lang="en-US" sz="1800" dirty="0"/>
          </a:p>
        </p:txBody>
      </p:sp>
      <p:sp>
        <p:nvSpPr>
          <p:cNvPr id="42" name="Text 40"/>
          <p:cNvSpPr/>
          <p:nvPr/>
        </p:nvSpPr>
        <p:spPr>
          <a:xfrm>
            <a:off x="7169150" y="5588957"/>
            <a:ext cx="3283168" cy="336550"/>
          </a:xfrm>
          <a:prstGeom prst="rect">
            <a:avLst/>
          </a:prstGeom>
          <a:noFill/>
          <a:ln/>
        </p:spPr>
        <p:txBody>
          <a:bodyPr wrap="square" lIns="25400" tIns="25400" rIns="25400" bIns="25400" rtlCol="0" anchor="t">
            <a:normAutofit/>
          </a:bodyPr>
          <a:lstStyle/>
          <a:p>
            <a:pPr algn="l" indent="0" marL="0">
              <a:buNone/>
            </a:pPr>
            <a:r>
              <a:rPr lang="en-US" sz="1800" dirty="0">
                <a:solidFill>
                  <a:srgbClr val="8EA0B5">
                    <a:alpha val="99000"/>
                  </a:srgbClr>
                </a:solidFill>
                <a:latin typeface="Arial" pitchFamily="34" charset="0"/>
                <a:ea typeface="Arial" pitchFamily="34" charset="-122"/>
                <a:cs typeface="Arial" pitchFamily="34" charset="-120"/>
              </a:rPr>
              <a:t>Héberger une base MongoDB</a:t>
            </a:r>
            <a:endParaRPr lang="en-US" sz="1800" dirty="0"/>
          </a:p>
        </p:txBody>
      </p:sp>
      <p:sp>
        <p:nvSpPr>
          <p:cNvPr id="43" name="Text 41"/>
          <p:cNvSpPr/>
          <p:nvPr/>
        </p:nvSpPr>
        <p:spPr>
          <a:xfrm>
            <a:off x="12001500" y="2450420"/>
            <a:ext cx="5376291" cy="655241"/>
          </a:xfrm>
          <a:prstGeom prst="rect">
            <a:avLst/>
          </a:prstGeom>
          <a:noFill/>
          <a:ln/>
        </p:spPr>
        <p:txBody>
          <a:bodyPr wrap="square" lIns="25400" tIns="25400" rIns="25400" bIns="25400" rtlCol="0" anchor="t">
            <a:normAutofit/>
          </a:bodyPr>
          <a:lstStyle/>
          <a:p>
            <a:pPr algn="l" indent="0" marL="0">
              <a:lnSpc>
                <a:spcPct val="103404"/>
              </a:lnSpc>
              <a:buNone/>
            </a:pPr>
            <a:r>
              <a:rPr lang="en-US" sz="2025" b="1" dirty="0">
                <a:solidFill>
                  <a:srgbClr val="EEF3F9">
                    <a:alpha val="98000"/>
                  </a:srgbClr>
                </a:solidFill>
                <a:latin typeface="Arial" pitchFamily="34" charset="0"/>
                <a:ea typeface="Arial" pitchFamily="34" charset="-122"/>
                <a:cs typeface="Arial" pitchFamily="34" charset="-120"/>
              </a:rPr>
              <a:t>Pourquoi S3 plutôt que le disque local d'EC2 ?</a:t>
            </a:r>
            <a:endParaRPr lang="en-US" sz="2025" dirty="0"/>
          </a:p>
        </p:txBody>
      </p:sp>
      <p:sp>
        <p:nvSpPr>
          <p:cNvPr id="44" name="Shape 42"/>
          <p:cNvSpPr/>
          <p:nvPr/>
        </p:nvSpPr>
        <p:spPr>
          <a:xfrm>
            <a:off x="12001500" y="3239010"/>
            <a:ext cx="5219700" cy="914400"/>
          </a:xfrm>
          <a:prstGeom prst="roundRect">
            <a:avLst>
              <a:gd name="adj" fmla="val 12500"/>
            </a:avLst>
          </a:prstGeom>
          <a:gradFill rotWithShape="1">
            <a:gsLst>
              <a:gs pos="0">
                <a:srgbClr val="FFB46E">
                  <a:alpha val="20000"/>
                </a:srgbClr>
              </a:gs>
              <a:gs pos="100000">
                <a:srgbClr val="FFFFFF">
                  <a:alpha val="3000"/>
                </a:srgbClr>
              </a:gs>
            </a:gsLst>
            <a:lin ang="4200000" scaled="0"/>
          </a:gradFill>
          <a:ln w="6350">
            <a:solidFill>
              <a:srgbClr val="FFBE82">
                <a:alpha val="47000"/>
              </a:srgbClr>
            </a:solidFill>
            <a:prstDash val="solid"/>
          </a:ln>
        </p:spPr>
      </p:sp>
      <p:sp>
        <p:nvSpPr>
          <p:cNvPr id="45" name="Shape 43"/>
          <p:cNvSpPr/>
          <p:nvPr/>
        </p:nvSpPr>
        <p:spPr>
          <a:xfrm>
            <a:off x="12198351" y="3543810"/>
            <a:ext cx="234950" cy="304800"/>
          </a:xfrm>
          <a:prstGeom prst="roundRect">
            <a:avLst>
              <a:gd name="adj" fmla="val 32432"/>
            </a:avLst>
          </a:prstGeom>
          <a:solidFill>
            <a:srgbClr val="FFB46E">
              <a:alpha val="98000"/>
            </a:srgbClr>
          </a:solidFill>
          <a:ln/>
        </p:spPr>
      </p:sp>
      <p:sp>
        <p:nvSpPr>
          <p:cNvPr id="46" name="Text 44"/>
          <p:cNvSpPr/>
          <p:nvPr/>
        </p:nvSpPr>
        <p:spPr>
          <a:xfrm>
            <a:off x="12160251" y="3543810"/>
            <a:ext cx="311150" cy="342900"/>
          </a:xfrm>
          <a:prstGeom prst="rect">
            <a:avLst/>
          </a:prstGeom>
          <a:noFill/>
          <a:ln/>
        </p:spPr>
        <p:txBody>
          <a:bodyPr wrap="square" lIns="25400" tIns="25400" rIns="25400" bIns="25400" rtlCol="0" anchor="ctr">
            <a:normAutofit/>
          </a:bodyPr>
          <a:lstStyle/>
          <a:p>
            <a:pPr algn="ctr" indent="0" marL="0">
              <a:buNone/>
            </a:pPr>
            <a:r>
              <a:rPr lang="en-US" sz="1800" b="1" dirty="0">
                <a:solidFill>
                  <a:srgbClr val="04070C">
                    <a:alpha val="98000"/>
                  </a:srgbClr>
                </a:solidFill>
                <a:latin typeface="Arial" pitchFamily="34" charset="0"/>
                <a:ea typeface="Arial" pitchFamily="34" charset="-122"/>
                <a:cs typeface="Arial" pitchFamily="34" charset="-120"/>
              </a:rPr>
              <a:t>A</a:t>
            </a:r>
            <a:endParaRPr lang="en-US" sz="1800" dirty="0"/>
          </a:p>
        </p:txBody>
      </p:sp>
      <p:sp>
        <p:nvSpPr>
          <p:cNvPr id="47" name="Text 45"/>
          <p:cNvSpPr/>
          <p:nvPr/>
        </p:nvSpPr>
        <p:spPr>
          <a:xfrm>
            <a:off x="12566650" y="3397761"/>
            <a:ext cx="4277691" cy="635000"/>
          </a:xfrm>
          <a:prstGeom prst="rect">
            <a:avLst/>
          </a:prstGeom>
          <a:noFill/>
          <a:ln/>
        </p:spPr>
        <p:txBody>
          <a:bodyPr wrap="square" lIns="25400" tIns="25400" rIns="25400" bIns="25400" rtlCol="0" anchor="t">
            <a:normAutofit/>
          </a:bodyPr>
          <a:lstStyle/>
          <a:p>
            <a:pPr algn="l" indent="0" marL="0">
              <a:buNone/>
            </a:pPr>
            <a:r>
              <a:rPr lang="en-US" sz="1800" dirty="0">
                <a:solidFill>
                  <a:srgbClr val="EEF3F9">
                    <a:alpha val="98000"/>
                  </a:srgbClr>
                </a:solidFill>
                <a:latin typeface="Arial" pitchFamily="34" charset="0"/>
                <a:ea typeface="Arial" pitchFamily="34" charset="-122"/>
                <a:cs typeface="Arial" pitchFamily="34" charset="-120"/>
              </a:rPr>
              <a:t>Stockage objet durable, scalable, indépendant d'EC2</a:t>
            </a:r>
            <a:endParaRPr lang="en-US" sz="1800" dirty="0"/>
          </a:p>
        </p:txBody>
      </p:sp>
      <p:sp>
        <p:nvSpPr>
          <p:cNvPr id="48" name="Text 46"/>
          <p:cNvSpPr/>
          <p:nvPr/>
        </p:nvSpPr>
        <p:spPr>
          <a:xfrm>
            <a:off x="16853099" y="3540636"/>
            <a:ext cx="247452" cy="349250"/>
          </a:xfrm>
          <a:prstGeom prst="rect">
            <a:avLst/>
          </a:prstGeom>
          <a:noFill/>
          <a:ln/>
        </p:spPr>
        <p:txBody>
          <a:bodyPr wrap="square" lIns="25400" tIns="25400" rIns="25400" bIns="25400" rtlCol="0" anchor="t">
            <a:normAutofit/>
          </a:bodyPr>
          <a:lstStyle/>
          <a:p>
            <a:pPr algn="l" indent="0" marL="0">
              <a:buNone/>
            </a:pPr>
            <a:r>
              <a:rPr lang="en-US" sz="1800" dirty="0">
                <a:solidFill>
                  <a:srgbClr val="FFB46E">
                    <a:alpha val="98000"/>
                  </a:srgbClr>
                </a:solidFill>
                <a:latin typeface="Arial" pitchFamily="34" charset="0"/>
                <a:ea typeface="Arial" pitchFamily="34" charset="-122"/>
                <a:cs typeface="Arial" pitchFamily="34" charset="-120"/>
              </a:rPr>
              <a:t>✓</a:t>
            </a:r>
            <a:endParaRPr lang="en-US" sz="1800" dirty="0"/>
          </a:p>
        </p:txBody>
      </p:sp>
      <p:sp>
        <p:nvSpPr>
          <p:cNvPr id="49" name="Shape 47"/>
          <p:cNvSpPr/>
          <p:nvPr/>
        </p:nvSpPr>
        <p:spPr>
          <a:xfrm>
            <a:off x="12001500" y="4267710"/>
            <a:ext cx="5219700" cy="622300"/>
          </a:xfrm>
          <a:prstGeom prst="roundRect">
            <a:avLst>
              <a:gd name="adj" fmla="val 18367"/>
            </a:avLst>
          </a:prstGeom>
          <a:solidFill>
            <a:srgbClr val="FFFFFF">
              <a:alpha val="3000"/>
            </a:srgbClr>
          </a:solidFill>
          <a:ln w="6350">
            <a:solidFill>
              <a:srgbClr val="FFFFFF">
                <a:alpha val="10000"/>
              </a:srgbClr>
            </a:solidFill>
            <a:prstDash val="solid"/>
          </a:ln>
        </p:spPr>
      </p:sp>
      <p:sp>
        <p:nvSpPr>
          <p:cNvPr id="50" name="Shape 48"/>
          <p:cNvSpPr/>
          <p:nvPr/>
        </p:nvSpPr>
        <p:spPr>
          <a:xfrm>
            <a:off x="12198351" y="4426461"/>
            <a:ext cx="304800" cy="304800"/>
          </a:xfrm>
          <a:prstGeom prst="roundRect">
            <a:avLst>
              <a:gd name="adj" fmla="val 25000"/>
            </a:avLst>
          </a:prstGeom>
          <a:solidFill>
            <a:srgbClr val="FFFFFF">
              <a:alpha val="6000"/>
            </a:srgbClr>
          </a:solidFill>
          <a:ln/>
        </p:spPr>
      </p:sp>
      <p:sp>
        <p:nvSpPr>
          <p:cNvPr id="51" name="Text 49"/>
          <p:cNvSpPr/>
          <p:nvPr/>
        </p:nvSpPr>
        <p:spPr>
          <a:xfrm>
            <a:off x="12160251" y="4426461"/>
            <a:ext cx="381000" cy="342900"/>
          </a:xfrm>
          <a:prstGeom prst="rect">
            <a:avLst/>
          </a:prstGeom>
          <a:noFill/>
          <a:ln/>
        </p:spPr>
        <p:txBody>
          <a:bodyPr wrap="square" lIns="25400" tIns="25400" rIns="25400" bIns="25400" rtlCol="0" anchor="ctr">
            <a:normAutofit/>
          </a:bodyPr>
          <a:lstStyle/>
          <a:p>
            <a:pPr algn="ctr" indent="0" marL="0">
              <a:buNone/>
            </a:pPr>
            <a:r>
              <a:rPr lang="en-US" sz="1800" b="1" dirty="0">
                <a:solidFill>
                  <a:srgbClr val="8EA0B5">
                    <a:alpha val="98000"/>
                  </a:srgbClr>
                </a:solidFill>
                <a:latin typeface="Arial" pitchFamily="34" charset="0"/>
                <a:ea typeface="Arial" pitchFamily="34" charset="-122"/>
                <a:cs typeface="Arial" pitchFamily="34" charset="-120"/>
              </a:rPr>
              <a:t>B</a:t>
            </a:r>
            <a:endParaRPr lang="en-US" sz="1800" dirty="0"/>
          </a:p>
        </p:txBody>
      </p:sp>
      <p:sp>
        <p:nvSpPr>
          <p:cNvPr id="52" name="Text 50"/>
          <p:cNvSpPr/>
          <p:nvPr/>
        </p:nvSpPr>
        <p:spPr>
          <a:xfrm>
            <a:off x="12636501" y="4429635"/>
            <a:ext cx="3353564" cy="336550"/>
          </a:xfrm>
          <a:prstGeom prst="rect">
            <a:avLst/>
          </a:prstGeom>
          <a:noFill/>
          <a:ln/>
        </p:spPr>
        <p:txBody>
          <a:bodyPr wrap="square" lIns="25400" tIns="25400" rIns="25400" bIns="25400" rtlCol="0" anchor="t">
            <a:normAutofit/>
          </a:bodyPr>
          <a:lstStyle/>
          <a:p>
            <a:pPr algn="l" indent="0" marL="0">
              <a:buNone/>
            </a:pPr>
            <a:r>
              <a:rPr lang="en-US" sz="1800" dirty="0">
                <a:solidFill>
                  <a:srgbClr val="8EA0B5">
                    <a:alpha val="98000"/>
                  </a:srgbClr>
                </a:solidFill>
                <a:latin typeface="Arial" pitchFamily="34" charset="0"/>
                <a:ea typeface="Arial" pitchFamily="34" charset="-122"/>
                <a:cs typeface="Arial" pitchFamily="34" charset="-120"/>
              </a:rPr>
              <a:t>S3 est plus rapide que la RAM</a:t>
            </a:r>
            <a:endParaRPr lang="en-US" sz="1800" dirty="0"/>
          </a:p>
        </p:txBody>
      </p:sp>
      <p:sp>
        <p:nvSpPr>
          <p:cNvPr id="53" name="Shape 51"/>
          <p:cNvSpPr/>
          <p:nvPr/>
        </p:nvSpPr>
        <p:spPr>
          <a:xfrm>
            <a:off x="12001500" y="5004311"/>
            <a:ext cx="5219700" cy="622300"/>
          </a:xfrm>
          <a:prstGeom prst="roundRect">
            <a:avLst>
              <a:gd name="adj" fmla="val 18367"/>
            </a:avLst>
          </a:prstGeom>
          <a:solidFill>
            <a:srgbClr val="FFFFFF">
              <a:alpha val="3000"/>
            </a:srgbClr>
          </a:solidFill>
          <a:ln w="6350">
            <a:solidFill>
              <a:srgbClr val="FFFFFF">
                <a:alpha val="10000"/>
              </a:srgbClr>
            </a:solidFill>
            <a:prstDash val="solid"/>
          </a:ln>
        </p:spPr>
      </p:sp>
      <p:sp>
        <p:nvSpPr>
          <p:cNvPr id="54" name="Shape 52"/>
          <p:cNvSpPr/>
          <p:nvPr/>
        </p:nvSpPr>
        <p:spPr>
          <a:xfrm>
            <a:off x="12198351" y="5163060"/>
            <a:ext cx="304800" cy="304800"/>
          </a:xfrm>
          <a:prstGeom prst="roundRect">
            <a:avLst>
              <a:gd name="adj" fmla="val 25000"/>
            </a:avLst>
          </a:prstGeom>
          <a:solidFill>
            <a:srgbClr val="FFFFFF">
              <a:alpha val="6000"/>
            </a:srgbClr>
          </a:solidFill>
          <a:ln/>
        </p:spPr>
      </p:sp>
      <p:sp>
        <p:nvSpPr>
          <p:cNvPr id="55" name="Text 53"/>
          <p:cNvSpPr/>
          <p:nvPr/>
        </p:nvSpPr>
        <p:spPr>
          <a:xfrm>
            <a:off x="12160251" y="5163060"/>
            <a:ext cx="381000" cy="342900"/>
          </a:xfrm>
          <a:prstGeom prst="rect">
            <a:avLst/>
          </a:prstGeom>
          <a:noFill/>
          <a:ln/>
        </p:spPr>
        <p:txBody>
          <a:bodyPr wrap="square" lIns="25400" tIns="25400" rIns="25400" bIns="25400" rtlCol="0" anchor="ctr">
            <a:normAutofit/>
          </a:bodyPr>
          <a:lstStyle/>
          <a:p>
            <a:pPr algn="ctr" indent="0" marL="0">
              <a:buNone/>
            </a:pPr>
            <a:r>
              <a:rPr lang="en-US" sz="1800" b="1" dirty="0">
                <a:solidFill>
                  <a:srgbClr val="8EA0B5">
                    <a:alpha val="98000"/>
                  </a:srgbClr>
                </a:solidFill>
                <a:latin typeface="Arial" pitchFamily="34" charset="0"/>
                <a:ea typeface="Arial" pitchFamily="34" charset="-122"/>
                <a:cs typeface="Arial" pitchFamily="34" charset="-120"/>
              </a:rPr>
              <a:t>C</a:t>
            </a:r>
            <a:endParaRPr lang="en-US" sz="1800" dirty="0"/>
          </a:p>
        </p:txBody>
      </p:sp>
      <p:sp>
        <p:nvSpPr>
          <p:cNvPr id="56" name="Text 54"/>
          <p:cNvSpPr/>
          <p:nvPr/>
        </p:nvSpPr>
        <p:spPr>
          <a:xfrm>
            <a:off x="12636501" y="5166236"/>
            <a:ext cx="3953510" cy="336550"/>
          </a:xfrm>
          <a:prstGeom prst="rect">
            <a:avLst/>
          </a:prstGeom>
          <a:noFill/>
          <a:ln/>
        </p:spPr>
        <p:txBody>
          <a:bodyPr wrap="square" lIns="25400" tIns="25400" rIns="25400" bIns="25400" rtlCol="0" anchor="t">
            <a:normAutofit/>
          </a:bodyPr>
          <a:lstStyle/>
          <a:p>
            <a:pPr algn="l" indent="0" marL="0">
              <a:buNone/>
            </a:pPr>
            <a:r>
              <a:rPr lang="en-US" sz="1800" dirty="0">
                <a:solidFill>
                  <a:srgbClr val="8EA0B5">
                    <a:alpha val="98000"/>
                  </a:srgbClr>
                </a:solidFill>
                <a:latin typeface="Arial" pitchFamily="34" charset="0"/>
                <a:ea typeface="Arial" pitchFamily="34" charset="-122"/>
                <a:cs typeface="Arial" pitchFamily="34" charset="-120"/>
              </a:rPr>
              <a:t>EC2 ne peut pas stocker de fichiers</a:t>
            </a:r>
            <a:endParaRPr lang="en-US" sz="1800" dirty="0"/>
          </a:p>
        </p:txBody>
      </p:sp>
      <p:sp>
        <p:nvSpPr>
          <p:cNvPr id="57" name="Shape 55"/>
          <p:cNvSpPr/>
          <p:nvPr/>
        </p:nvSpPr>
        <p:spPr>
          <a:xfrm>
            <a:off x="12001500" y="5740911"/>
            <a:ext cx="5219700" cy="622300"/>
          </a:xfrm>
          <a:prstGeom prst="roundRect">
            <a:avLst>
              <a:gd name="adj" fmla="val 18367"/>
            </a:avLst>
          </a:prstGeom>
          <a:solidFill>
            <a:srgbClr val="FFFFFF">
              <a:alpha val="3000"/>
            </a:srgbClr>
          </a:solidFill>
          <a:ln w="6350">
            <a:solidFill>
              <a:srgbClr val="FFFFFF">
                <a:alpha val="10000"/>
              </a:srgbClr>
            </a:solidFill>
            <a:prstDash val="solid"/>
          </a:ln>
        </p:spPr>
      </p:sp>
      <p:sp>
        <p:nvSpPr>
          <p:cNvPr id="58" name="Shape 56"/>
          <p:cNvSpPr/>
          <p:nvPr/>
        </p:nvSpPr>
        <p:spPr>
          <a:xfrm>
            <a:off x="12198351" y="5899661"/>
            <a:ext cx="304800" cy="304800"/>
          </a:xfrm>
          <a:prstGeom prst="roundRect">
            <a:avLst>
              <a:gd name="adj" fmla="val 25000"/>
            </a:avLst>
          </a:prstGeom>
          <a:solidFill>
            <a:srgbClr val="FFFFFF">
              <a:alpha val="6000"/>
            </a:srgbClr>
          </a:solidFill>
          <a:ln/>
        </p:spPr>
      </p:sp>
      <p:sp>
        <p:nvSpPr>
          <p:cNvPr id="59" name="Text 57"/>
          <p:cNvSpPr/>
          <p:nvPr/>
        </p:nvSpPr>
        <p:spPr>
          <a:xfrm>
            <a:off x="12160251" y="5899661"/>
            <a:ext cx="381000" cy="342900"/>
          </a:xfrm>
          <a:prstGeom prst="rect">
            <a:avLst/>
          </a:prstGeom>
          <a:noFill/>
          <a:ln/>
        </p:spPr>
        <p:txBody>
          <a:bodyPr wrap="square" lIns="25400" tIns="25400" rIns="25400" bIns="25400" rtlCol="0" anchor="ctr">
            <a:normAutofit/>
          </a:bodyPr>
          <a:lstStyle/>
          <a:p>
            <a:pPr algn="ctr" indent="0" marL="0">
              <a:buNone/>
            </a:pPr>
            <a:r>
              <a:rPr lang="en-US" sz="1800" b="1" dirty="0">
                <a:solidFill>
                  <a:srgbClr val="8EA0B5">
                    <a:alpha val="98000"/>
                  </a:srgbClr>
                </a:solidFill>
                <a:latin typeface="Arial" pitchFamily="34" charset="0"/>
                <a:ea typeface="Arial" pitchFamily="34" charset="-122"/>
                <a:cs typeface="Arial" pitchFamily="34" charset="-120"/>
              </a:rPr>
              <a:t>D</a:t>
            </a:r>
            <a:endParaRPr lang="en-US" sz="1800" dirty="0"/>
          </a:p>
        </p:txBody>
      </p:sp>
      <p:sp>
        <p:nvSpPr>
          <p:cNvPr id="60" name="Text 58"/>
          <p:cNvSpPr/>
          <p:nvPr/>
        </p:nvSpPr>
        <p:spPr>
          <a:xfrm>
            <a:off x="12636501" y="5902836"/>
            <a:ext cx="3889117" cy="336550"/>
          </a:xfrm>
          <a:prstGeom prst="rect">
            <a:avLst/>
          </a:prstGeom>
          <a:noFill/>
          <a:ln/>
        </p:spPr>
        <p:txBody>
          <a:bodyPr wrap="square" lIns="25400" tIns="25400" rIns="25400" bIns="25400" rtlCol="0" anchor="t">
            <a:normAutofit/>
          </a:bodyPr>
          <a:lstStyle/>
          <a:p>
            <a:pPr algn="l" indent="0" marL="0">
              <a:buNone/>
            </a:pPr>
            <a:r>
              <a:rPr lang="en-US" sz="1800" dirty="0">
                <a:solidFill>
                  <a:srgbClr val="8EA0B5">
                    <a:alpha val="98000"/>
                  </a:srgbClr>
                </a:solidFill>
                <a:latin typeface="Arial" pitchFamily="34" charset="0"/>
                <a:ea typeface="Arial" pitchFamily="34" charset="-122"/>
                <a:cs typeface="Arial" pitchFamily="34" charset="-120"/>
              </a:rPr>
              <a:t>S3 est uniquement pour les vidéos</a:t>
            </a:r>
            <a:endParaRPr lang="en-US" sz="18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0C121C"/>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55DCDC">
                  <a:alpha val="20000"/>
                </a:srgbClr>
              </a:gs>
              <a:gs pos="60000">
                <a:srgbClr val="55DCDC">
                  <a:alpha val="0"/>
                </a:srgbClr>
              </a:gs>
            </a:gsLst>
            <a:path path="circle">
              <a:fillToRect l="22000" t="34000" r="78000" b="66000"/>
            </a:path>
          </a:gradFill>
          <a:ln/>
        </p:spPr>
      </p:sp>
      <p:sp>
        <p:nvSpPr>
          <p:cNvPr id="3" name="Text 1"/>
          <p:cNvSpPr/>
          <p:nvPr/>
        </p:nvSpPr>
        <p:spPr>
          <a:xfrm>
            <a:off x="1066800" y="2932807"/>
            <a:ext cx="17769840" cy="368300"/>
          </a:xfrm>
          <a:prstGeom prst="rect">
            <a:avLst/>
          </a:prstGeom>
          <a:noFill/>
          <a:ln/>
        </p:spPr>
        <p:txBody>
          <a:bodyPr wrap="square" lIns="25400" tIns="25400" rIns="25400" bIns="25400" rtlCol="0" anchor="t">
            <a:normAutofit/>
          </a:bodyPr>
          <a:lstStyle/>
          <a:p>
            <a:pPr algn="l" indent="0" marL="0">
              <a:buNone/>
            </a:pPr>
            <a:r>
              <a:rPr lang="en-US" sz="1950" spc="546" kern="0" dirty="0">
                <a:solidFill>
                  <a:srgbClr val="56DBDB">
                    <a:alpha val="96000"/>
                  </a:srgbClr>
                </a:solidFill>
                <a:latin typeface="Courier New" pitchFamily="34" charset="0"/>
                <a:ea typeface="Courier New" pitchFamily="34" charset="-122"/>
                <a:cs typeface="Courier New" pitchFamily="34" charset="-120"/>
              </a:rPr>
              <a:t>ATELIER 07 · 4 HEURES</a:t>
            </a:r>
            <a:endParaRPr lang="en-US" sz="1950" dirty="0"/>
          </a:p>
        </p:txBody>
      </p:sp>
      <p:sp>
        <p:nvSpPr>
          <p:cNvPr id="4" name="Text 2"/>
          <p:cNvSpPr/>
          <p:nvPr/>
        </p:nvSpPr>
        <p:spPr>
          <a:xfrm>
            <a:off x="1066800" y="3339255"/>
            <a:ext cx="17769840" cy="1924050"/>
          </a:xfrm>
          <a:prstGeom prst="rect">
            <a:avLst/>
          </a:prstGeom>
          <a:noFill/>
          <a:ln/>
        </p:spPr>
        <p:txBody>
          <a:bodyPr wrap="square" lIns="25400" tIns="25400" rIns="25400" bIns="25400" rtlCol="0" anchor="t">
            <a:normAutofit/>
          </a:bodyPr>
          <a:lstStyle/>
          <a:p>
            <a:pPr algn="l" indent="0" marL="0">
              <a:lnSpc>
                <a:spcPct val="78158"/>
              </a:lnSpc>
              <a:buNone/>
            </a:pPr>
            <a:r>
              <a:rPr lang="en-US" sz="16500" b="1" spc="-660" kern="0" dirty="0">
                <a:solidFill>
                  <a:srgbClr val="8EE3E4"/>
                </a:solidFill>
                <a:latin typeface="Arial" pitchFamily="34" charset="0"/>
                <a:ea typeface="Arial" pitchFamily="34" charset="-122"/>
                <a:cs typeface="Arial" pitchFamily="34" charset="-120"/>
              </a:rPr>
              <a:t>07</a:t>
            </a:r>
            <a:endParaRPr lang="en-US" sz="16500" dirty="0"/>
          </a:p>
        </p:txBody>
      </p:sp>
      <p:sp>
        <p:nvSpPr>
          <p:cNvPr id="5" name="Text 3"/>
          <p:cNvSpPr/>
          <p:nvPr/>
        </p:nvSpPr>
        <p:spPr>
          <a:xfrm>
            <a:off x="1066800" y="5303376"/>
            <a:ext cx="17769840" cy="776387"/>
          </a:xfrm>
          <a:prstGeom prst="rect">
            <a:avLst/>
          </a:prstGeom>
          <a:noFill/>
          <a:ln/>
        </p:spPr>
        <p:txBody>
          <a:bodyPr wrap="square" lIns="25400" tIns="25400" rIns="25400" bIns="25400" rtlCol="0" anchor="t">
            <a:normAutofit/>
          </a:bodyPr>
          <a:lstStyle/>
          <a:p>
            <a:pPr algn="l" indent="0" marL="0">
              <a:lnSpc>
                <a:spcPct val="88763"/>
              </a:lnSpc>
              <a:buNone/>
            </a:pPr>
            <a:r>
              <a:rPr lang="en-US" sz="5700" b="1" spc="-114" kern="0" dirty="0">
                <a:solidFill>
                  <a:srgbClr val="EEF3F9">
                    <a:alpha val="99000"/>
                  </a:srgbClr>
                </a:solidFill>
                <a:latin typeface="Arial" pitchFamily="34" charset="0"/>
                <a:ea typeface="Arial" pitchFamily="34" charset="-122"/>
                <a:cs typeface="Arial" pitchFamily="34" charset="-120"/>
              </a:rPr>
              <a:t>Big Data sur AWS avec Amazon EMR</a:t>
            </a:r>
            <a:endParaRPr lang="en-US" sz="5700" dirty="0"/>
          </a:p>
        </p:txBody>
      </p:sp>
      <p:sp>
        <p:nvSpPr>
          <p:cNvPr id="6" name="Text 4"/>
          <p:cNvSpPr/>
          <p:nvPr/>
        </p:nvSpPr>
        <p:spPr>
          <a:xfrm>
            <a:off x="1066800" y="6287294"/>
            <a:ext cx="11301984" cy="1104900"/>
          </a:xfrm>
          <a:prstGeom prst="rect">
            <a:avLst/>
          </a:prstGeom>
          <a:noFill/>
          <a:ln/>
        </p:spPr>
        <p:txBody>
          <a:bodyPr wrap="square" lIns="25400" tIns="25400" rIns="25400" bIns="25400" rtlCol="0" anchor="t">
            <a:normAutofit/>
          </a:bodyPr>
          <a:lstStyle/>
          <a:p>
            <a:pPr algn="l" indent="0" marL="0">
              <a:lnSpc>
                <a:spcPct val="121739"/>
              </a:lnSpc>
              <a:buNone/>
            </a:pPr>
            <a:r>
              <a:rPr lang="en-US" sz="3000" dirty="0">
                <a:solidFill>
                  <a:srgbClr val="8EA0B5">
                    <a:alpha val="75000"/>
                  </a:srgbClr>
                </a:solidFill>
                <a:latin typeface="Arial" pitchFamily="34" charset="0"/>
                <a:ea typeface="Arial" pitchFamily="34" charset="-122"/>
                <a:cs typeface="Arial" pitchFamily="34" charset="-120"/>
              </a:rPr>
              <a:t>Mise en œuvre du projet fil conducteur dans un environnement Cloud managé, à grande échelle.</a:t>
            </a:r>
            <a:endParaRPr lang="en-US" sz="30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0A0E15"/>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56DBDB">
                    <a:alpha val="97000"/>
                  </a:srgbClr>
                </a:solidFill>
                <a:latin typeface="Courier New" pitchFamily="34" charset="0"/>
                <a:ea typeface="Courier New" pitchFamily="34" charset="-122"/>
                <a:cs typeface="Courier New" pitchFamily="34" charset="-120"/>
              </a:rPr>
              <a:t>ATELIER 07 · MOTIVATION</a:t>
            </a:r>
            <a:endParaRPr lang="en-US" sz="1800" dirty="0"/>
          </a:p>
        </p:txBody>
      </p:sp>
      <p:sp>
        <p:nvSpPr>
          <p:cNvPr id="3" name="Text 1"/>
          <p:cNvSpPr/>
          <p:nvPr/>
        </p:nvSpPr>
        <p:spPr>
          <a:xfrm>
            <a:off x="1066800" y="1314451"/>
            <a:ext cx="10476041" cy="1305917"/>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Justification des architectures en cluster</a:t>
            </a:r>
            <a:endParaRPr lang="en-US" sz="4800" dirty="0"/>
          </a:p>
        </p:txBody>
      </p:sp>
      <p:sp>
        <p:nvSpPr>
          <p:cNvPr id="4" name="Shape 2"/>
          <p:cNvSpPr/>
          <p:nvPr/>
        </p:nvSpPr>
        <p:spPr>
          <a:xfrm>
            <a:off x="1066800" y="3077569"/>
            <a:ext cx="5232400" cy="6390283"/>
          </a:xfrm>
          <a:prstGeom prst="roundRect">
            <a:avLst>
              <a:gd name="adj" fmla="val 3277"/>
            </a:avLst>
          </a:prstGeom>
          <a:solidFill>
            <a:srgbClr val="FFFFFF">
              <a:alpha val="3000"/>
            </a:srgbClr>
          </a:solidFill>
          <a:ln w="6350">
            <a:solidFill>
              <a:srgbClr val="FFFFFF">
                <a:alpha val="10000"/>
              </a:srgbClr>
            </a:solidFill>
            <a:prstDash val="solid"/>
          </a:ln>
        </p:spPr>
      </p:sp>
      <p:sp>
        <p:nvSpPr>
          <p:cNvPr id="5" name="Text 3"/>
          <p:cNvSpPr/>
          <p:nvPr/>
        </p:nvSpPr>
        <p:spPr>
          <a:xfrm>
            <a:off x="1416050" y="3464918"/>
            <a:ext cx="498729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6DBDB"/>
                </a:solidFill>
                <a:latin typeface="Courier New" pitchFamily="34" charset="0"/>
                <a:ea typeface="Courier New" pitchFamily="34" charset="-122"/>
                <a:cs typeface="Courier New" pitchFamily="34" charset="-120"/>
              </a:rPr>
              <a:t>01</a:t>
            </a:r>
            <a:endParaRPr lang="en-US" sz="1800" dirty="0"/>
          </a:p>
        </p:txBody>
      </p:sp>
      <p:sp>
        <p:nvSpPr>
          <p:cNvPr id="6" name="Text 4"/>
          <p:cNvSpPr/>
          <p:nvPr/>
        </p:nvSpPr>
        <p:spPr>
          <a:xfrm>
            <a:off x="1416050" y="3922118"/>
            <a:ext cx="4987290" cy="400050"/>
          </a:xfrm>
          <a:prstGeom prst="rect">
            <a:avLst/>
          </a:prstGeom>
          <a:noFill/>
          <a:ln/>
        </p:spPr>
        <p:txBody>
          <a:bodyPr wrap="square" lIns="25400" tIns="25400" rIns="25400" bIns="25400" rtlCol="0" anchor="t">
            <a:normAutofit/>
          </a:bodyPr>
          <a:lstStyle/>
          <a:p>
            <a:pPr algn="l" indent="0" marL="0">
              <a:buNone/>
            </a:pPr>
            <a:r>
              <a:rPr lang="en-US" sz="2475" b="1" dirty="0">
                <a:solidFill>
                  <a:srgbClr val="EEF3F9"/>
                </a:solidFill>
                <a:latin typeface="Arial" pitchFamily="34" charset="0"/>
                <a:ea typeface="Arial" pitchFamily="34" charset="-122"/>
                <a:cs typeface="Arial" pitchFamily="34" charset="-120"/>
              </a:rPr>
              <a:t>Scalabilité horizontale</a:t>
            </a:r>
            <a:endParaRPr lang="en-US" sz="2475" dirty="0"/>
          </a:p>
        </p:txBody>
      </p:sp>
      <p:sp>
        <p:nvSpPr>
          <p:cNvPr id="7" name="Text 5"/>
          <p:cNvSpPr/>
          <p:nvPr/>
        </p:nvSpPr>
        <p:spPr>
          <a:xfrm>
            <a:off x="1416050" y="4417418"/>
            <a:ext cx="4669917" cy="1195388"/>
          </a:xfrm>
          <a:prstGeom prst="rect">
            <a:avLst/>
          </a:prstGeom>
          <a:noFill/>
          <a:ln/>
        </p:spPr>
        <p:txBody>
          <a:bodyPr wrap="square" lIns="25400" tIns="25400" rIns="25400" bIns="25400" rtlCol="0" anchor="t">
            <a:normAutofit/>
          </a:bodyPr>
          <a:lstStyle/>
          <a:p>
            <a:pPr algn="l" indent="0" marL="0">
              <a:lnSpc>
                <a:spcPct val="129255"/>
              </a:lnSpc>
              <a:buNone/>
            </a:pPr>
            <a:r>
              <a:rPr lang="en-US" sz="2025" dirty="0">
                <a:solidFill>
                  <a:srgbClr val="8EA0B5"/>
                </a:solidFill>
                <a:latin typeface="Arial" pitchFamily="34" charset="0"/>
                <a:ea typeface="Arial" pitchFamily="34" charset="-122"/>
                <a:cs typeface="Arial" pitchFamily="34" charset="-120"/>
              </a:rPr>
              <a:t>Augmenter la capacité en ajoutant des nœuds, plutôt qu'en changeant de machine.</a:t>
            </a:r>
            <a:endParaRPr lang="en-US" sz="2025" dirty="0"/>
          </a:p>
        </p:txBody>
      </p:sp>
      <p:sp>
        <p:nvSpPr>
          <p:cNvPr id="8" name="Shape 6"/>
          <p:cNvSpPr/>
          <p:nvPr/>
        </p:nvSpPr>
        <p:spPr>
          <a:xfrm>
            <a:off x="6527800" y="3079018"/>
            <a:ext cx="5232400" cy="6390283"/>
          </a:xfrm>
          <a:prstGeom prst="roundRect">
            <a:avLst>
              <a:gd name="adj" fmla="val 3277"/>
            </a:avLst>
          </a:prstGeom>
          <a:solidFill>
            <a:srgbClr val="FFFFFF">
              <a:alpha val="3000"/>
            </a:srgbClr>
          </a:solidFill>
          <a:ln w="6350">
            <a:solidFill>
              <a:srgbClr val="FFFFFF">
                <a:alpha val="10000"/>
              </a:srgbClr>
            </a:solidFill>
            <a:prstDash val="solid"/>
          </a:ln>
        </p:spPr>
      </p:sp>
      <p:sp>
        <p:nvSpPr>
          <p:cNvPr id="9" name="Text 7"/>
          <p:cNvSpPr/>
          <p:nvPr/>
        </p:nvSpPr>
        <p:spPr>
          <a:xfrm>
            <a:off x="6877050" y="3466368"/>
            <a:ext cx="498729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6DBDB">
                    <a:alpha val="99000"/>
                  </a:srgbClr>
                </a:solidFill>
                <a:latin typeface="Courier New" pitchFamily="34" charset="0"/>
                <a:ea typeface="Courier New" pitchFamily="34" charset="-122"/>
                <a:cs typeface="Courier New" pitchFamily="34" charset="-120"/>
              </a:rPr>
              <a:t>02</a:t>
            </a:r>
            <a:endParaRPr lang="en-US" sz="1800" dirty="0"/>
          </a:p>
        </p:txBody>
      </p:sp>
      <p:sp>
        <p:nvSpPr>
          <p:cNvPr id="10" name="Text 8"/>
          <p:cNvSpPr/>
          <p:nvPr/>
        </p:nvSpPr>
        <p:spPr>
          <a:xfrm>
            <a:off x="6877050" y="3923568"/>
            <a:ext cx="4987290" cy="400050"/>
          </a:xfrm>
          <a:prstGeom prst="rect">
            <a:avLst/>
          </a:prstGeom>
          <a:noFill/>
          <a:ln/>
        </p:spPr>
        <p:txBody>
          <a:bodyPr wrap="square" lIns="25400" tIns="25400" rIns="25400" bIns="25400" rtlCol="0" anchor="t">
            <a:normAutofit/>
          </a:bodyPr>
          <a:lstStyle/>
          <a:p>
            <a:pPr algn="l" indent="0" marL="0">
              <a:buNone/>
            </a:pPr>
            <a:r>
              <a:rPr lang="en-US" sz="2475" b="1" dirty="0">
                <a:solidFill>
                  <a:srgbClr val="EEF3F9">
                    <a:alpha val="99000"/>
                  </a:srgbClr>
                </a:solidFill>
                <a:latin typeface="Arial" pitchFamily="34" charset="0"/>
                <a:ea typeface="Arial" pitchFamily="34" charset="-122"/>
                <a:cs typeface="Arial" pitchFamily="34" charset="-120"/>
              </a:rPr>
              <a:t>Parallélisme réel</a:t>
            </a:r>
            <a:endParaRPr lang="en-US" sz="2475" dirty="0"/>
          </a:p>
        </p:txBody>
      </p:sp>
      <p:sp>
        <p:nvSpPr>
          <p:cNvPr id="11" name="Text 9"/>
          <p:cNvSpPr/>
          <p:nvPr/>
        </p:nvSpPr>
        <p:spPr>
          <a:xfrm>
            <a:off x="6877050" y="4418868"/>
            <a:ext cx="4669917" cy="1195388"/>
          </a:xfrm>
          <a:prstGeom prst="rect">
            <a:avLst/>
          </a:prstGeom>
          <a:noFill/>
          <a:ln/>
        </p:spPr>
        <p:txBody>
          <a:bodyPr wrap="square" lIns="25400" tIns="25400" rIns="25400" bIns="25400" rtlCol="0" anchor="t">
            <a:normAutofit/>
          </a:bodyPr>
          <a:lstStyle/>
          <a:p>
            <a:pPr algn="l" indent="0" marL="0">
              <a:lnSpc>
                <a:spcPct val="129255"/>
              </a:lnSpc>
              <a:buNone/>
            </a:pPr>
            <a:r>
              <a:rPr lang="en-US" sz="2025" dirty="0">
                <a:solidFill>
                  <a:srgbClr val="8EA0B5">
                    <a:alpha val="99000"/>
                  </a:srgbClr>
                </a:solidFill>
                <a:latin typeface="Arial" pitchFamily="34" charset="0"/>
                <a:ea typeface="Arial" pitchFamily="34" charset="-122"/>
                <a:cs typeface="Arial" pitchFamily="34" charset="-120"/>
              </a:rPr>
              <a:t>Les traitements Spark et Hive s'exécutent simultanément sur plusieurs nœuds.</a:t>
            </a:r>
            <a:endParaRPr lang="en-US" sz="2025" dirty="0"/>
          </a:p>
        </p:txBody>
      </p:sp>
      <p:sp>
        <p:nvSpPr>
          <p:cNvPr id="12" name="Shape 10"/>
          <p:cNvSpPr/>
          <p:nvPr/>
        </p:nvSpPr>
        <p:spPr>
          <a:xfrm>
            <a:off x="11988801" y="3084325"/>
            <a:ext cx="5232400" cy="6390283"/>
          </a:xfrm>
          <a:prstGeom prst="roundRect">
            <a:avLst>
              <a:gd name="adj" fmla="val 3277"/>
            </a:avLst>
          </a:prstGeom>
          <a:solidFill>
            <a:srgbClr val="FFFFFF">
              <a:alpha val="3000"/>
            </a:srgbClr>
          </a:solidFill>
          <a:ln w="6350">
            <a:solidFill>
              <a:srgbClr val="FFFFFF">
                <a:alpha val="10000"/>
              </a:srgbClr>
            </a:solidFill>
            <a:prstDash val="solid"/>
          </a:ln>
        </p:spPr>
      </p:sp>
      <p:sp>
        <p:nvSpPr>
          <p:cNvPr id="13" name="Text 11"/>
          <p:cNvSpPr/>
          <p:nvPr/>
        </p:nvSpPr>
        <p:spPr>
          <a:xfrm>
            <a:off x="12338050" y="3471675"/>
            <a:ext cx="498729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6DBDB">
                    <a:alpha val="98000"/>
                  </a:srgbClr>
                </a:solidFill>
                <a:latin typeface="Courier New" pitchFamily="34" charset="0"/>
                <a:ea typeface="Courier New" pitchFamily="34" charset="-122"/>
                <a:cs typeface="Courier New" pitchFamily="34" charset="-120"/>
              </a:rPr>
              <a:t>03</a:t>
            </a:r>
            <a:endParaRPr lang="en-US" sz="1800" dirty="0"/>
          </a:p>
        </p:txBody>
      </p:sp>
      <p:sp>
        <p:nvSpPr>
          <p:cNvPr id="14" name="Text 12"/>
          <p:cNvSpPr/>
          <p:nvPr/>
        </p:nvSpPr>
        <p:spPr>
          <a:xfrm>
            <a:off x="12338050" y="3928875"/>
            <a:ext cx="4987290" cy="400050"/>
          </a:xfrm>
          <a:prstGeom prst="rect">
            <a:avLst/>
          </a:prstGeom>
          <a:noFill/>
          <a:ln/>
        </p:spPr>
        <p:txBody>
          <a:bodyPr wrap="square" lIns="25400" tIns="25400" rIns="25400" bIns="25400" rtlCol="0" anchor="t">
            <a:normAutofit/>
          </a:bodyPr>
          <a:lstStyle/>
          <a:p>
            <a:pPr algn="l" indent="0" marL="0">
              <a:buNone/>
            </a:pPr>
            <a:r>
              <a:rPr lang="en-US" sz="2475" b="1" dirty="0">
                <a:solidFill>
                  <a:srgbClr val="EEF3F9">
                    <a:alpha val="98000"/>
                  </a:srgbClr>
                </a:solidFill>
                <a:latin typeface="Arial" pitchFamily="34" charset="0"/>
                <a:ea typeface="Arial" pitchFamily="34" charset="-122"/>
                <a:cs typeface="Arial" pitchFamily="34" charset="-120"/>
              </a:rPr>
              <a:t>Résilience</a:t>
            </a:r>
            <a:endParaRPr lang="en-US" sz="2475" dirty="0"/>
          </a:p>
        </p:txBody>
      </p:sp>
      <p:sp>
        <p:nvSpPr>
          <p:cNvPr id="15" name="Text 13"/>
          <p:cNvSpPr/>
          <p:nvPr/>
        </p:nvSpPr>
        <p:spPr>
          <a:xfrm>
            <a:off x="12338050" y="4424175"/>
            <a:ext cx="4669917" cy="809625"/>
          </a:xfrm>
          <a:prstGeom prst="rect">
            <a:avLst/>
          </a:prstGeom>
          <a:noFill/>
          <a:ln/>
        </p:spPr>
        <p:txBody>
          <a:bodyPr wrap="square" lIns="25400" tIns="25400" rIns="25400" bIns="25400" rtlCol="0" anchor="t">
            <a:normAutofit/>
          </a:bodyPr>
          <a:lstStyle/>
          <a:p>
            <a:pPr algn="l" indent="0" marL="0">
              <a:lnSpc>
                <a:spcPct val="129255"/>
              </a:lnSpc>
              <a:buNone/>
            </a:pPr>
            <a:r>
              <a:rPr lang="en-US" sz="2025" dirty="0">
                <a:solidFill>
                  <a:srgbClr val="8EA0B5">
                    <a:alpha val="98000"/>
                  </a:srgbClr>
                </a:solidFill>
                <a:latin typeface="Arial" pitchFamily="34" charset="0"/>
                <a:ea typeface="Arial" pitchFamily="34" charset="-122"/>
                <a:cs typeface="Arial" pitchFamily="34" charset="-120"/>
              </a:rPr>
              <a:t>La perte d'un nœud ne compromet pas l'ensemble du traitement.</a:t>
            </a:r>
            <a:endParaRPr lang="en-US" sz="2025"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0C121C"/>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56DBDB">
                    <a:alpha val="97000"/>
                  </a:srgbClr>
                </a:solidFill>
                <a:latin typeface="Courier New" pitchFamily="34" charset="0"/>
                <a:ea typeface="Courier New" pitchFamily="34" charset="-122"/>
                <a:cs typeface="Courier New" pitchFamily="34" charset="-120"/>
              </a:rPr>
              <a:t>ATELIER 07 · ARCHITECTURE</a:t>
            </a:r>
            <a:endParaRPr lang="en-US" sz="1800" dirty="0"/>
          </a:p>
        </p:txBody>
      </p:sp>
      <p:sp>
        <p:nvSpPr>
          <p:cNvPr id="3" name="Text 1"/>
          <p:cNvSpPr/>
          <p:nvPr/>
        </p:nvSpPr>
        <p:spPr>
          <a:xfrm>
            <a:off x="1066800" y="1314451"/>
            <a:ext cx="10442138"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Amazon EMR et son architecture</a:t>
            </a:r>
            <a:endParaRPr lang="en-US" sz="4800" dirty="0"/>
          </a:p>
        </p:txBody>
      </p:sp>
      <p:sp>
        <p:nvSpPr>
          <p:cNvPr id="4" name="Shape 2"/>
          <p:cNvSpPr/>
          <p:nvPr/>
        </p:nvSpPr>
        <p:spPr>
          <a:xfrm>
            <a:off x="15220950" y="762000"/>
            <a:ext cx="2000250" cy="914400"/>
          </a:xfrm>
          <a:prstGeom prst="roundRect">
            <a:avLst>
              <a:gd name="adj" fmla="val 14583"/>
            </a:avLst>
          </a:prstGeom>
          <a:solidFill>
            <a:srgbClr val="FFFFFF">
              <a:alpha val="91000"/>
            </a:srgbClr>
          </a:solidFill>
          <a:ln w="6350">
            <a:solidFill>
              <a:srgbClr val="FFFFFF">
                <a:alpha val="9000"/>
              </a:srgbClr>
            </a:solidFill>
            <a:prstDash val="solid"/>
          </a:ln>
        </p:spPr>
      </p:sp>
      <p:sp>
        <p:nvSpPr>
          <p:cNvPr id="5" name="Shape 3"/>
          <p:cNvSpPr/>
          <p:nvPr/>
        </p:nvSpPr>
        <p:spPr>
          <a:xfrm>
            <a:off x="15341601" y="882650"/>
            <a:ext cx="1758950" cy="673100"/>
          </a:xfrm>
          <a:prstGeom prst="rect">
            <a:avLst/>
          </a:prstGeom>
          <a:solidFill>
            <a:srgbClr val="000000">
              <a:alpha val="4000"/>
            </a:srgbClr>
          </a:solidFill>
          <a:ln/>
        </p:spPr>
      </p:sp>
      <p:pic>
        <p:nvPicPr>
          <p:cNvPr id="6" name="Image 0" descr="preencoded.png">    </p:cNvPr>
          <p:cNvPicPr>
            <a:picLocks noChangeAspect="1"/>
          </p:cNvPicPr>
          <p:nvPr/>
        </p:nvPicPr>
        <p:blipFill>
          <a:blip r:embed="rId1">
            <a:alphaModFix amt="91000"/>
          </a:blip>
          <a:srcRect l="-27031" r="-27031" t="0" b="0"/>
          <a:stretch/>
        </p:blipFill>
        <p:spPr>
          <a:xfrm>
            <a:off x="15341601" y="882650"/>
            <a:ext cx="1758950" cy="673100"/>
          </a:xfrm>
          <a:prstGeom prst="rect">
            <a:avLst/>
          </a:prstGeom>
        </p:spPr>
      </p:pic>
      <p:sp>
        <p:nvSpPr>
          <p:cNvPr id="7" name="Shape 4"/>
          <p:cNvSpPr/>
          <p:nvPr/>
        </p:nvSpPr>
        <p:spPr>
          <a:xfrm>
            <a:off x="2451695" y="4247555"/>
            <a:ext cx="6123980" cy="1066800"/>
          </a:xfrm>
          <a:prstGeom prst="roundRect">
            <a:avLst>
              <a:gd name="adj" fmla="val 10714"/>
            </a:avLst>
          </a:prstGeom>
          <a:gradFill rotWithShape="1">
            <a:gsLst>
              <a:gs pos="0">
                <a:srgbClr val="57DBDB">
                  <a:alpha val="22000"/>
                </a:srgbClr>
              </a:gs>
              <a:gs pos="100000">
                <a:srgbClr val="FFFFFF">
                  <a:alpha val="6000"/>
                </a:srgbClr>
              </a:gs>
            </a:gsLst>
            <a:lin ang="4200000" scaled="0"/>
          </a:gradFill>
          <a:ln w="6350">
            <a:solidFill>
              <a:srgbClr val="75E1E1">
                <a:alpha val="46000"/>
              </a:srgbClr>
            </a:solidFill>
            <a:prstDash val="solid"/>
          </a:ln>
        </p:spPr>
      </p:sp>
      <p:sp>
        <p:nvSpPr>
          <p:cNvPr id="8" name="Text 5"/>
          <p:cNvSpPr/>
          <p:nvPr/>
        </p:nvSpPr>
        <p:spPr>
          <a:xfrm>
            <a:off x="4727873" y="4444405"/>
            <a:ext cx="1647825" cy="349250"/>
          </a:xfrm>
          <a:prstGeom prst="rect">
            <a:avLst/>
          </a:prstGeom>
          <a:noFill/>
          <a:ln/>
        </p:spPr>
        <p:txBody>
          <a:bodyPr wrap="square" lIns="0" tIns="0" rIns="0" bIns="0" rtlCol="0" anchor="t">
            <a:normAutofit/>
          </a:bodyPr>
          <a:lstStyle/>
          <a:p>
            <a:pPr algn="ctr" indent="0" marL="0">
              <a:buNone/>
            </a:pPr>
            <a:r>
              <a:rPr lang="en-US" sz="1875" dirty="0">
                <a:solidFill>
                  <a:srgbClr val="56DBDB"/>
                </a:solidFill>
                <a:latin typeface="Courier New" pitchFamily="34" charset="0"/>
                <a:ea typeface="Courier New" pitchFamily="34" charset="-122"/>
                <a:cs typeface="Courier New" pitchFamily="34" charset="-120"/>
              </a:rPr>
              <a:t>Nœud maître</a:t>
            </a:r>
            <a:endParaRPr lang="en-US" sz="1875" dirty="0"/>
          </a:p>
        </p:txBody>
      </p:sp>
      <p:sp>
        <p:nvSpPr>
          <p:cNvPr id="9" name="Text 6"/>
          <p:cNvSpPr/>
          <p:nvPr/>
        </p:nvSpPr>
        <p:spPr>
          <a:xfrm>
            <a:off x="2571581" y="4812705"/>
            <a:ext cx="5884208"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8EA0B5"/>
                </a:solidFill>
                <a:latin typeface="Courier New" pitchFamily="34" charset="0"/>
                <a:ea typeface="Courier New" pitchFamily="34" charset="-122"/>
                <a:cs typeface="Courier New" pitchFamily="34" charset="-120"/>
              </a:rPr>
              <a:t>YARN · NameNode · Driver · Hue/Zeppelin</a:t>
            </a:r>
            <a:endParaRPr lang="en-US" sz="1800" dirty="0"/>
          </a:p>
        </p:txBody>
      </p:sp>
      <p:sp>
        <p:nvSpPr>
          <p:cNvPr id="10" name="Shape 7"/>
          <p:cNvSpPr/>
          <p:nvPr/>
        </p:nvSpPr>
        <p:spPr>
          <a:xfrm>
            <a:off x="5504161" y="5314355"/>
            <a:ext cx="19050" cy="247650"/>
          </a:xfrm>
          <a:prstGeom prst="rect">
            <a:avLst/>
          </a:prstGeom>
          <a:solidFill>
            <a:srgbClr val="56DBDB">
              <a:alpha val="69000"/>
            </a:srgbClr>
          </a:solidFill>
          <a:ln/>
        </p:spPr>
      </p:sp>
      <p:sp>
        <p:nvSpPr>
          <p:cNvPr id="11" name="Shape 8"/>
          <p:cNvSpPr/>
          <p:nvPr/>
        </p:nvSpPr>
        <p:spPr>
          <a:xfrm>
            <a:off x="2026380" y="5556036"/>
            <a:ext cx="2239892" cy="1072387"/>
          </a:xfrm>
          <a:prstGeom prst="roundRect">
            <a:avLst>
              <a:gd name="adj" fmla="val 10778"/>
            </a:avLst>
          </a:prstGeom>
          <a:solidFill>
            <a:srgbClr val="FFFFFF">
              <a:alpha val="3000"/>
            </a:srgbClr>
          </a:solidFill>
          <a:ln w="6422">
            <a:solidFill>
              <a:srgbClr val="FFFFFF">
                <a:alpha val="10000"/>
              </a:srgbClr>
            </a:solidFill>
            <a:prstDash val="solid"/>
          </a:ln>
        </p:spPr>
      </p:sp>
      <p:sp>
        <p:nvSpPr>
          <p:cNvPr id="12" name="Text 9"/>
          <p:cNvSpPr/>
          <p:nvPr/>
        </p:nvSpPr>
        <p:spPr>
          <a:xfrm>
            <a:off x="2522138" y="5755102"/>
            <a:ext cx="1324576" cy="346331"/>
          </a:xfrm>
          <a:prstGeom prst="rect">
            <a:avLst/>
          </a:prstGeom>
          <a:noFill/>
          <a:ln/>
        </p:spPr>
        <p:txBody>
          <a:bodyPr wrap="square" lIns="0" tIns="0" rIns="0" bIns="0" rtlCol="0" anchor="t">
            <a:normAutofit/>
          </a:bodyPr>
          <a:lstStyle/>
          <a:p>
            <a:pPr algn="ctr" indent="0" marL="0">
              <a:buNone/>
            </a:pPr>
            <a:r>
              <a:rPr lang="en-US" sz="1820" dirty="0">
                <a:solidFill>
                  <a:srgbClr val="EEF3F9"/>
                </a:solidFill>
                <a:latin typeface="Courier New" pitchFamily="34" charset="0"/>
                <a:ea typeface="Courier New" pitchFamily="34" charset="-122"/>
                <a:cs typeface="Courier New" pitchFamily="34" charset="-120"/>
              </a:rPr>
              <a:t>Nœud core</a:t>
            </a:r>
            <a:endParaRPr lang="en-US" sz="1820" dirty="0"/>
          </a:p>
        </p:txBody>
      </p:sp>
      <p:sp>
        <p:nvSpPr>
          <p:cNvPr id="13" name="Text 10"/>
          <p:cNvSpPr/>
          <p:nvPr/>
        </p:nvSpPr>
        <p:spPr>
          <a:xfrm>
            <a:off x="2154549" y="6121126"/>
            <a:ext cx="1983554" cy="346331"/>
          </a:xfrm>
          <a:prstGeom prst="rect">
            <a:avLst/>
          </a:prstGeom>
          <a:noFill/>
          <a:ln/>
        </p:spPr>
        <p:txBody>
          <a:bodyPr wrap="square" lIns="25400" tIns="25400" rIns="25400" bIns="25400" rtlCol="0" anchor="t">
            <a:normAutofit/>
          </a:bodyPr>
          <a:lstStyle/>
          <a:p>
            <a:pPr algn="ctr" indent="0" marL="0">
              <a:buNone/>
            </a:pPr>
            <a:r>
              <a:rPr lang="en-US" sz="1820" dirty="0">
                <a:solidFill>
                  <a:srgbClr val="8EA0B5"/>
                </a:solidFill>
                <a:latin typeface="Courier New" pitchFamily="34" charset="0"/>
                <a:ea typeface="Courier New" pitchFamily="34" charset="-122"/>
                <a:cs typeface="Courier New" pitchFamily="34" charset="-120"/>
              </a:rPr>
              <a:t>HDFS + calcul</a:t>
            </a:r>
            <a:endParaRPr lang="en-US" sz="1820" dirty="0"/>
          </a:p>
        </p:txBody>
      </p:sp>
      <p:sp>
        <p:nvSpPr>
          <p:cNvPr id="14" name="Shape 11"/>
          <p:cNvSpPr/>
          <p:nvPr/>
        </p:nvSpPr>
        <p:spPr>
          <a:xfrm>
            <a:off x="4393927" y="5556126"/>
            <a:ext cx="2239518" cy="1072207"/>
          </a:xfrm>
          <a:prstGeom prst="roundRect">
            <a:avLst>
              <a:gd name="adj" fmla="val 10778"/>
            </a:avLst>
          </a:prstGeom>
          <a:solidFill>
            <a:srgbClr val="FFFFFF">
              <a:alpha val="3000"/>
            </a:srgbClr>
          </a:solidFill>
          <a:ln w="6420">
            <a:solidFill>
              <a:srgbClr val="FFFFFF">
                <a:alpha val="10000"/>
              </a:srgbClr>
            </a:solidFill>
            <a:prstDash val="solid"/>
          </a:ln>
        </p:spPr>
      </p:sp>
      <p:sp>
        <p:nvSpPr>
          <p:cNvPr id="15" name="Text 12"/>
          <p:cNvSpPr/>
          <p:nvPr/>
        </p:nvSpPr>
        <p:spPr>
          <a:xfrm>
            <a:off x="4889602" y="5755159"/>
            <a:ext cx="1324367" cy="346279"/>
          </a:xfrm>
          <a:prstGeom prst="rect">
            <a:avLst/>
          </a:prstGeom>
          <a:noFill/>
          <a:ln/>
        </p:spPr>
        <p:txBody>
          <a:bodyPr wrap="square" lIns="0" tIns="0" rIns="0" bIns="0" rtlCol="0" anchor="t">
            <a:normAutofit/>
          </a:bodyPr>
          <a:lstStyle/>
          <a:p>
            <a:pPr algn="ctr" indent="0" marL="0">
              <a:buNone/>
            </a:pPr>
            <a:r>
              <a:rPr lang="en-US" sz="1820" dirty="0">
                <a:solidFill>
                  <a:srgbClr val="EEF3F9"/>
                </a:solidFill>
                <a:latin typeface="Courier New" pitchFamily="34" charset="0"/>
                <a:ea typeface="Courier New" pitchFamily="34" charset="-122"/>
                <a:cs typeface="Courier New" pitchFamily="34" charset="-120"/>
              </a:rPr>
              <a:t>Nœud core</a:t>
            </a:r>
            <a:endParaRPr lang="en-US" sz="1820" dirty="0"/>
          </a:p>
        </p:txBody>
      </p:sp>
      <p:sp>
        <p:nvSpPr>
          <p:cNvPr id="16" name="Text 13"/>
          <p:cNvSpPr/>
          <p:nvPr/>
        </p:nvSpPr>
        <p:spPr>
          <a:xfrm>
            <a:off x="4522074" y="6121122"/>
            <a:ext cx="1983223" cy="346280"/>
          </a:xfrm>
          <a:prstGeom prst="rect">
            <a:avLst/>
          </a:prstGeom>
          <a:noFill/>
          <a:ln/>
        </p:spPr>
        <p:txBody>
          <a:bodyPr wrap="square" lIns="25400" tIns="25400" rIns="25400" bIns="25400" rtlCol="0" anchor="t">
            <a:normAutofit/>
          </a:bodyPr>
          <a:lstStyle/>
          <a:p>
            <a:pPr algn="ctr" indent="0" marL="0">
              <a:buNone/>
            </a:pPr>
            <a:r>
              <a:rPr lang="en-US" sz="1820" dirty="0">
                <a:solidFill>
                  <a:srgbClr val="8EA0B5"/>
                </a:solidFill>
                <a:latin typeface="Courier New" pitchFamily="34" charset="0"/>
                <a:ea typeface="Courier New" pitchFamily="34" charset="-122"/>
                <a:cs typeface="Courier New" pitchFamily="34" charset="-120"/>
              </a:rPr>
              <a:t>HDFS + calcul</a:t>
            </a:r>
            <a:endParaRPr lang="en-US" sz="1820" dirty="0"/>
          </a:p>
        </p:txBody>
      </p:sp>
      <p:sp>
        <p:nvSpPr>
          <p:cNvPr id="17" name="Shape 14"/>
          <p:cNvSpPr/>
          <p:nvPr/>
        </p:nvSpPr>
        <p:spPr>
          <a:xfrm>
            <a:off x="6777711" y="5563990"/>
            <a:ext cx="2206666" cy="1056480"/>
          </a:xfrm>
          <a:prstGeom prst="roundRect">
            <a:avLst>
              <a:gd name="adj" fmla="val 10778"/>
            </a:avLst>
          </a:prstGeom>
          <a:solidFill>
            <a:srgbClr val="FFFFFF">
              <a:alpha val="6000"/>
            </a:srgbClr>
          </a:solidFill>
          <a:ln w="6326">
            <a:solidFill>
              <a:srgbClr val="FFFFFF">
                <a:alpha val="10000"/>
              </a:srgbClr>
            </a:solidFill>
            <a:prstDash val="dash"/>
          </a:ln>
        </p:spPr>
      </p:sp>
      <p:sp>
        <p:nvSpPr>
          <p:cNvPr id="18" name="Text 15"/>
          <p:cNvSpPr/>
          <p:nvPr/>
        </p:nvSpPr>
        <p:spPr>
          <a:xfrm>
            <a:off x="7266116" y="5760103"/>
            <a:ext cx="1306057" cy="341759"/>
          </a:xfrm>
          <a:prstGeom prst="rect">
            <a:avLst/>
          </a:prstGeom>
          <a:noFill/>
          <a:ln/>
        </p:spPr>
        <p:txBody>
          <a:bodyPr wrap="square" lIns="0" tIns="0" rIns="0" bIns="0" rtlCol="0" anchor="t">
            <a:normAutofit/>
          </a:bodyPr>
          <a:lstStyle/>
          <a:p>
            <a:pPr algn="ctr" indent="0" marL="0">
              <a:buNone/>
            </a:pPr>
            <a:r>
              <a:rPr lang="en-US" sz="1793" dirty="0">
                <a:solidFill>
                  <a:srgbClr val="8EA0B5">
                    <a:alpha val="98000"/>
                  </a:srgbClr>
                </a:solidFill>
                <a:latin typeface="Courier New" pitchFamily="34" charset="0"/>
                <a:ea typeface="Courier New" pitchFamily="34" charset="-122"/>
                <a:cs typeface="Courier New" pitchFamily="34" charset="-120"/>
              </a:rPr>
              <a:t>Nœud task</a:t>
            </a:r>
            <a:endParaRPr lang="en-US" sz="1793" dirty="0"/>
          </a:p>
        </p:txBody>
      </p:sp>
      <p:sp>
        <p:nvSpPr>
          <p:cNvPr id="19" name="Text 16"/>
          <p:cNvSpPr/>
          <p:nvPr/>
        </p:nvSpPr>
        <p:spPr>
          <a:xfrm>
            <a:off x="6903979" y="6120698"/>
            <a:ext cx="1954131" cy="341759"/>
          </a:xfrm>
          <a:prstGeom prst="rect">
            <a:avLst/>
          </a:prstGeom>
          <a:noFill/>
          <a:ln/>
        </p:spPr>
        <p:txBody>
          <a:bodyPr wrap="square" lIns="25400" tIns="25400" rIns="25400" bIns="25400" rtlCol="0" anchor="t">
            <a:normAutofit/>
          </a:bodyPr>
          <a:lstStyle/>
          <a:p>
            <a:pPr algn="ctr" indent="0" marL="0">
              <a:buNone/>
            </a:pPr>
            <a:r>
              <a:rPr lang="en-US" sz="1793" dirty="0">
                <a:solidFill>
                  <a:srgbClr val="8EA0B5">
                    <a:alpha val="98000"/>
                  </a:srgbClr>
                </a:solidFill>
                <a:latin typeface="Courier New" pitchFamily="34" charset="0"/>
                <a:ea typeface="Courier New" pitchFamily="34" charset="-122"/>
                <a:cs typeface="Courier New" pitchFamily="34" charset="-120"/>
              </a:rPr>
              <a:t>calcul · Spot</a:t>
            </a:r>
            <a:endParaRPr lang="en-US" sz="1793" dirty="0"/>
          </a:p>
        </p:txBody>
      </p:sp>
      <p:sp>
        <p:nvSpPr>
          <p:cNvPr id="20" name="Shape 17"/>
          <p:cNvSpPr/>
          <p:nvPr/>
        </p:nvSpPr>
        <p:spPr>
          <a:xfrm>
            <a:off x="5504161" y="6622455"/>
            <a:ext cx="19050" cy="247650"/>
          </a:xfrm>
          <a:prstGeom prst="rect">
            <a:avLst/>
          </a:prstGeom>
          <a:solidFill>
            <a:srgbClr val="FFB46E">
              <a:alpha val="69000"/>
            </a:srgbClr>
          </a:solidFill>
          <a:ln/>
        </p:spPr>
      </p:sp>
      <p:sp>
        <p:nvSpPr>
          <p:cNvPr id="21" name="Shape 18"/>
          <p:cNvSpPr/>
          <p:nvPr/>
        </p:nvSpPr>
        <p:spPr>
          <a:xfrm>
            <a:off x="3388686" y="6886913"/>
            <a:ext cx="4250099" cy="626783"/>
          </a:xfrm>
          <a:prstGeom prst="roundRect">
            <a:avLst>
              <a:gd name="adj" fmla="val 17308"/>
            </a:avLst>
          </a:prstGeom>
          <a:solidFill>
            <a:srgbClr val="FFBF87">
              <a:alpha val="19000"/>
            </a:srgbClr>
          </a:solidFill>
          <a:ln w="6027">
            <a:solidFill>
              <a:srgbClr val="FFC287">
                <a:alpha val="29000"/>
              </a:srgbClr>
            </a:solidFill>
            <a:prstDash val="solid"/>
          </a:ln>
        </p:spPr>
      </p:sp>
      <p:sp>
        <p:nvSpPr>
          <p:cNvPr id="22" name="Text 19"/>
          <p:cNvSpPr/>
          <p:nvPr/>
        </p:nvSpPr>
        <p:spPr>
          <a:xfrm>
            <a:off x="3756319" y="7055663"/>
            <a:ext cx="3642335" cy="327384"/>
          </a:xfrm>
          <a:prstGeom prst="rect">
            <a:avLst/>
          </a:prstGeom>
          <a:noFill/>
          <a:ln/>
        </p:spPr>
        <p:txBody>
          <a:bodyPr wrap="square" lIns="25400" tIns="25400" rIns="25400" bIns="25400" rtlCol="0" anchor="t">
            <a:normAutofit/>
          </a:bodyPr>
          <a:lstStyle/>
          <a:p>
            <a:pPr algn="l" indent="0" marL="0">
              <a:buNone/>
            </a:pPr>
            <a:r>
              <a:rPr lang="en-US" sz="1708" dirty="0">
                <a:solidFill>
                  <a:srgbClr val="FFB46E">
                    <a:alpha val="72000"/>
                  </a:srgbClr>
                </a:solidFill>
                <a:highlight>
                  <a:srgbClr val="BAB0A8"/>
                </a:highlight>
                <a:latin typeface="Courier New" pitchFamily="34" charset="0"/>
                <a:ea typeface="Courier New" pitchFamily="34" charset="-122"/>
                <a:cs typeface="Courier New" pitchFamily="34" charset="-120"/>
              </a:rPr>
              <a:t>Amazon S3 </a:t>
            </a:r>
            <a:pPr algn="l" indent="0" marL="0">
              <a:buNone/>
            </a:pPr>
            <a:r>
              <a:rPr lang="en-US" sz="1708" dirty="0">
                <a:solidFill>
                  <a:srgbClr val="8EA0B5">
                    <a:alpha val="72000"/>
                  </a:srgbClr>
                </a:solidFill>
                <a:latin typeface="Courier New" pitchFamily="34" charset="0"/>
                <a:ea typeface="Courier New" pitchFamily="34" charset="-122"/>
                <a:cs typeface="Courier New" pitchFamily="34" charset="-120"/>
              </a:rPr>
              <a:t>— entrée / sortie</a:t>
            </a:r>
            <a:endParaRPr lang="en-US" sz="1708" dirty="0"/>
          </a:p>
        </p:txBody>
      </p:sp>
      <p:sp>
        <p:nvSpPr>
          <p:cNvPr id="23" name="Text 20"/>
          <p:cNvSpPr/>
          <p:nvPr/>
        </p:nvSpPr>
        <p:spPr>
          <a:xfrm>
            <a:off x="10379770" y="4039890"/>
            <a:ext cx="7046674" cy="1195388"/>
          </a:xfrm>
          <a:prstGeom prst="rect">
            <a:avLst/>
          </a:prstGeom>
          <a:noFill/>
          <a:ln/>
        </p:spPr>
        <p:txBody>
          <a:bodyPr wrap="square" lIns="25400" tIns="25400" rIns="25400" bIns="25400" rtlCol="0" anchor="t">
            <a:normAutofit/>
          </a:bodyPr>
          <a:lstStyle/>
          <a:p>
            <a:pPr algn="l" indent="0" marL="0">
              <a:lnSpc>
                <a:spcPct val="129255"/>
              </a:lnSpc>
              <a:buNone/>
            </a:pPr>
            <a:r>
              <a:rPr lang="en-US" sz="2025" dirty="0">
                <a:solidFill>
                  <a:srgbClr val="EEF3F9"/>
                </a:solidFill>
                <a:latin typeface="Arial" pitchFamily="34" charset="0"/>
                <a:ea typeface="Arial" pitchFamily="34" charset="-122"/>
                <a:cs typeface="Arial" pitchFamily="34" charset="-120"/>
              </a:rPr>
              <a:t>EMR </a:t>
            </a:r>
            <a:pPr algn="l" indent="0" marL="0">
              <a:lnSpc>
                <a:spcPct val="129255"/>
              </a:lnSpc>
              <a:buNone/>
            </a:pPr>
            <a:r>
              <a:rPr lang="en-US" sz="2025" dirty="0">
                <a:solidFill>
                  <a:srgbClr val="8EA0B5"/>
                </a:solidFill>
                <a:latin typeface="Arial" pitchFamily="34" charset="0"/>
                <a:ea typeface="Arial" pitchFamily="34" charset="-122"/>
                <a:cs typeface="Arial" pitchFamily="34" charset="-120"/>
              </a:rPr>
              <a:t>— Elastic MapReduce — provisionne les instances EC2, installe et configure les outils Big Data en quelques minutes.</a:t>
            </a:r>
            <a:endParaRPr lang="en-US" sz="2025" dirty="0"/>
          </a:p>
        </p:txBody>
      </p:sp>
      <p:sp>
        <p:nvSpPr>
          <p:cNvPr id="24" name="Shape 21"/>
          <p:cNvSpPr/>
          <p:nvPr/>
        </p:nvSpPr>
        <p:spPr>
          <a:xfrm>
            <a:off x="10379770" y="5406728"/>
            <a:ext cx="25400" cy="637480"/>
          </a:xfrm>
          <a:prstGeom prst="rect">
            <a:avLst/>
          </a:prstGeom>
          <a:solidFill>
            <a:srgbClr val="56DBDB"/>
          </a:solidFill>
          <a:ln/>
        </p:spPr>
      </p:sp>
      <p:sp>
        <p:nvSpPr>
          <p:cNvPr id="25" name="Text 22"/>
          <p:cNvSpPr/>
          <p:nvPr/>
        </p:nvSpPr>
        <p:spPr>
          <a:xfrm>
            <a:off x="10595670" y="5406728"/>
            <a:ext cx="7288084" cy="317500"/>
          </a:xfrm>
          <a:prstGeom prst="rect">
            <a:avLst/>
          </a:prstGeom>
          <a:noFill/>
          <a:ln/>
        </p:spPr>
        <p:txBody>
          <a:bodyPr wrap="square" lIns="25400" tIns="25400" rIns="25400" bIns="25400" rtlCol="0" anchor="t">
            <a:normAutofit/>
          </a:bodyPr>
          <a:lstStyle/>
          <a:p>
            <a:pPr algn="l" indent="0" marL="0">
              <a:buNone/>
            </a:pPr>
            <a:r>
              <a:rPr lang="en-US" sz="1950" b="1" dirty="0">
                <a:solidFill>
                  <a:srgbClr val="EEF3F9"/>
                </a:solidFill>
                <a:latin typeface="Arial" pitchFamily="34" charset="0"/>
                <a:ea typeface="Arial" pitchFamily="34" charset="-122"/>
                <a:cs typeface="Arial" pitchFamily="34" charset="-120"/>
              </a:rPr>
              <a:t>Maître</a:t>
            </a:r>
            <a:endParaRPr lang="en-US" sz="1950" dirty="0"/>
          </a:p>
        </p:txBody>
      </p:sp>
      <p:sp>
        <p:nvSpPr>
          <p:cNvPr id="26" name="Text 23"/>
          <p:cNvSpPr/>
          <p:nvPr/>
        </p:nvSpPr>
        <p:spPr>
          <a:xfrm>
            <a:off x="10595670" y="5724227"/>
            <a:ext cx="7288084" cy="35808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8EA0B5"/>
                </a:solidFill>
                <a:latin typeface="Arial" pitchFamily="34" charset="0"/>
                <a:ea typeface="Arial" pitchFamily="34" charset="-122"/>
                <a:cs typeface="Arial" pitchFamily="34" charset="-120"/>
              </a:rPr>
              <a:t>Coordonne le cluster, héberge Driver et interfaces.</a:t>
            </a:r>
            <a:endParaRPr lang="en-US" sz="1800" dirty="0"/>
          </a:p>
        </p:txBody>
      </p:sp>
      <p:sp>
        <p:nvSpPr>
          <p:cNvPr id="27" name="Shape 24"/>
          <p:cNvSpPr/>
          <p:nvPr/>
        </p:nvSpPr>
        <p:spPr>
          <a:xfrm>
            <a:off x="10378921" y="6253758"/>
            <a:ext cx="25400" cy="637480"/>
          </a:xfrm>
          <a:prstGeom prst="rect">
            <a:avLst/>
          </a:prstGeom>
          <a:solidFill>
            <a:srgbClr val="56DBDB"/>
          </a:solidFill>
          <a:ln/>
        </p:spPr>
      </p:sp>
      <p:sp>
        <p:nvSpPr>
          <p:cNvPr id="28" name="Text 25"/>
          <p:cNvSpPr/>
          <p:nvPr/>
        </p:nvSpPr>
        <p:spPr>
          <a:xfrm>
            <a:off x="10594821" y="6253758"/>
            <a:ext cx="7288083" cy="317500"/>
          </a:xfrm>
          <a:prstGeom prst="rect">
            <a:avLst/>
          </a:prstGeom>
          <a:noFill/>
          <a:ln/>
        </p:spPr>
        <p:txBody>
          <a:bodyPr wrap="square" lIns="25400" tIns="25400" rIns="25400" bIns="25400" rtlCol="0" anchor="t">
            <a:normAutofit/>
          </a:bodyPr>
          <a:lstStyle/>
          <a:p>
            <a:pPr algn="l" indent="0" marL="0">
              <a:buNone/>
            </a:pPr>
            <a:r>
              <a:rPr lang="en-US" sz="1950" b="1" dirty="0">
                <a:solidFill>
                  <a:srgbClr val="EEF3F9"/>
                </a:solidFill>
                <a:latin typeface="Arial" pitchFamily="34" charset="0"/>
                <a:ea typeface="Arial" pitchFamily="34" charset="-122"/>
                <a:cs typeface="Arial" pitchFamily="34" charset="-120"/>
              </a:rPr>
              <a:t>Core</a:t>
            </a:r>
            <a:endParaRPr lang="en-US" sz="1950" dirty="0"/>
          </a:p>
        </p:txBody>
      </p:sp>
      <p:sp>
        <p:nvSpPr>
          <p:cNvPr id="29" name="Text 26"/>
          <p:cNvSpPr/>
          <p:nvPr/>
        </p:nvSpPr>
        <p:spPr>
          <a:xfrm>
            <a:off x="10594821" y="6571258"/>
            <a:ext cx="7288083" cy="35808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8EA0B5"/>
                </a:solidFill>
                <a:latin typeface="Arial" pitchFamily="34" charset="0"/>
                <a:ea typeface="Arial" pitchFamily="34" charset="-122"/>
                <a:cs typeface="Arial" pitchFamily="34" charset="-120"/>
              </a:rPr>
              <a:t>Exécutent les tâches et stockent sur HDFS.</a:t>
            </a:r>
            <a:endParaRPr lang="en-US" sz="1800" dirty="0"/>
          </a:p>
        </p:txBody>
      </p:sp>
      <p:sp>
        <p:nvSpPr>
          <p:cNvPr id="30" name="Shape 27"/>
          <p:cNvSpPr/>
          <p:nvPr/>
        </p:nvSpPr>
        <p:spPr>
          <a:xfrm>
            <a:off x="10374824" y="7100789"/>
            <a:ext cx="25400" cy="637480"/>
          </a:xfrm>
          <a:prstGeom prst="rect">
            <a:avLst/>
          </a:prstGeom>
          <a:solidFill>
            <a:srgbClr val="8EA0B5">
              <a:alpha val="98000"/>
            </a:srgbClr>
          </a:solidFill>
          <a:ln/>
        </p:spPr>
      </p:sp>
      <p:sp>
        <p:nvSpPr>
          <p:cNvPr id="31" name="Text 28"/>
          <p:cNvSpPr/>
          <p:nvPr/>
        </p:nvSpPr>
        <p:spPr>
          <a:xfrm>
            <a:off x="10590723" y="7100789"/>
            <a:ext cx="7288085" cy="317500"/>
          </a:xfrm>
          <a:prstGeom prst="rect">
            <a:avLst/>
          </a:prstGeom>
          <a:noFill/>
          <a:ln/>
        </p:spPr>
        <p:txBody>
          <a:bodyPr wrap="square" lIns="25400" tIns="25400" rIns="25400" bIns="25400" rtlCol="0" anchor="t">
            <a:normAutofit/>
          </a:bodyPr>
          <a:lstStyle/>
          <a:p>
            <a:pPr algn="l" indent="0" marL="0">
              <a:buNone/>
            </a:pPr>
            <a:r>
              <a:rPr lang="en-US" sz="1950" b="1" dirty="0">
                <a:solidFill>
                  <a:srgbClr val="EEF3F9">
                    <a:alpha val="98000"/>
                  </a:srgbClr>
                </a:solidFill>
                <a:latin typeface="Arial" pitchFamily="34" charset="0"/>
                <a:ea typeface="Arial" pitchFamily="34" charset="-122"/>
                <a:cs typeface="Arial" pitchFamily="34" charset="-120"/>
              </a:rPr>
              <a:t>Task</a:t>
            </a:r>
            <a:endParaRPr lang="en-US" sz="1950" dirty="0"/>
          </a:p>
        </p:txBody>
      </p:sp>
      <p:sp>
        <p:nvSpPr>
          <p:cNvPr id="32" name="Text 29"/>
          <p:cNvSpPr/>
          <p:nvPr/>
        </p:nvSpPr>
        <p:spPr>
          <a:xfrm>
            <a:off x="10590723" y="7418288"/>
            <a:ext cx="7288085" cy="35808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8EA0B5">
                    <a:alpha val="98000"/>
                  </a:srgbClr>
                </a:solidFill>
                <a:latin typeface="Arial" pitchFamily="34" charset="0"/>
                <a:ea typeface="Arial" pitchFamily="34" charset="-122"/>
                <a:cs typeface="Arial" pitchFamily="34" charset="-120"/>
              </a:rPr>
              <a:t>Calcul supplémentaire sans stockage, souvent en Spot.</a:t>
            </a:r>
            <a:endParaRPr lang="en-US" sz="18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0A0E15"/>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56DBDB">
                    <a:alpha val="97000"/>
                  </a:srgbClr>
                </a:solidFill>
                <a:latin typeface="Courier New" pitchFamily="34" charset="0"/>
                <a:ea typeface="Courier New" pitchFamily="34" charset="-122"/>
                <a:cs typeface="Courier New" pitchFamily="34" charset="-120"/>
              </a:rPr>
              <a:t>ATELIER 07 · PRINCIPE CENTRAL</a:t>
            </a:r>
            <a:endParaRPr lang="en-US" sz="1800" dirty="0"/>
          </a:p>
        </p:txBody>
      </p:sp>
      <p:sp>
        <p:nvSpPr>
          <p:cNvPr id="3" name="Text 1"/>
          <p:cNvSpPr/>
          <p:nvPr/>
        </p:nvSpPr>
        <p:spPr>
          <a:xfrm>
            <a:off x="1066800" y="1314451"/>
            <a:ext cx="8950404"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Séparer le stockage du calcul</a:t>
            </a:r>
            <a:endParaRPr lang="en-US" sz="4800" dirty="0"/>
          </a:p>
        </p:txBody>
      </p:sp>
      <p:sp>
        <p:nvSpPr>
          <p:cNvPr id="4" name="Shape 2"/>
          <p:cNvSpPr/>
          <p:nvPr/>
        </p:nvSpPr>
        <p:spPr>
          <a:xfrm>
            <a:off x="1066800" y="2481759"/>
            <a:ext cx="3581400" cy="1739900"/>
          </a:xfrm>
          <a:prstGeom prst="roundRect">
            <a:avLst>
              <a:gd name="adj" fmla="val 8759"/>
            </a:avLst>
          </a:prstGeom>
          <a:gradFill rotWithShape="1">
            <a:gsLst>
              <a:gs pos="0">
                <a:srgbClr val="FFB470">
                  <a:alpha val="16000"/>
                </a:srgbClr>
              </a:gs>
              <a:gs pos="100000">
                <a:srgbClr val="FFFFFF">
                  <a:alpha val="3000"/>
                </a:srgbClr>
              </a:gs>
            </a:gsLst>
            <a:lin ang="4200000" scaled="0"/>
          </a:gradFill>
          <a:ln w="6350">
            <a:solidFill>
              <a:srgbClr val="FFC48E">
                <a:alpha val="35000"/>
              </a:srgbClr>
            </a:solidFill>
            <a:prstDash val="solid"/>
          </a:ln>
        </p:spPr>
      </p:sp>
      <p:sp>
        <p:nvSpPr>
          <p:cNvPr id="5" name="Text 3"/>
          <p:cNvSpPr/>
          <p:nvPr/>
        </p:nvSpPr>
        <p:spPr>
          <a:xfrm>
            <a:off x="1167130" y="2811959"/>
            <a:ext cx="3380740"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FFB46E"/>
                </a:solidFill>
                <a:latin typeface="Courier New" pitchFamily="34" charset="0"/>
                <a:ea typeface="Courier New" pitchFamily="34" charset="-122"/>
                <a:cs typeface="Courier New" pitchFamily="34" charset="-120"/>
              </a:rPr>
              <a:t>S3</a:t>
            </a:r>
            <a:endParaRPr lang="en-US" sz="1800" dirty="0"/>
          </a:p>
        </p:txBody>
      </p:sp>
      <p:sp>
        <p:nvSpPr>
          <p:cNvPr id="6" name="Text 4"/>
          <p:cNvSpPr/>
          <p:nvPr/>
        </p:nvSpPr>
        <p:spPr>
          <a:xfrm>
            <a:off x="1167130" y="3212009"/>
            <a:ext cx="3380740" cy="342900"/>
          </a:xfrm>
          <a:prstGeom prst="rect">
            <a:avLst/>
          </a:prstGeom>
          <a:noFill/>
          <a:ln/>
        </p:spPr>
        <p:txBody>
          <a:bodyPr wrap="square" lIns="25400" tIns="25400" rIns="25400" bIns="25400" rtlCol="0" anchor="t">
            <a:normAutofit/>
          </a:bodyPr>
          <a:lstStyle/>
          <a:p>
            <a:pPr algn="ctr" indent="0" marL="0">
              <a:buNone/>
            </a:pPr>
            <a:r>
              <a:rPr lang="en-US" sz="2100" b="1" dirty="0">
                <a:solidFill>
                  <a:srgbClr val="EEF3F9"/>
                </a:solidFill>
                <a:latin typeface="Arial" pitchFamily="34" charset="0"/>
                <a:ea typeface="Arial" pitchFamily="34" charset="-122"/>
                <a:cs typeface="Arial" pitchFamily="34" charset="-120"/>
              </a:rPr>
              <a:t>purchases.txt</a:t>
            </a:r>
            <a:endParaRPr lang="en-US" sz="2100" dirty="0"/>
          </a:p>
        </p:txBody>
      </p:sp>
      <p:sp>
        <p:nvSpPr>
          <p:cNvPr id="7" name="Text 5"/>
          <p:cNvSpPr/>
          <p:nvPr/>
        </p:nvSpPr>
        <p:spPr>
          <a:xfrm>
            <a:off x="1167130" y="3593009"/>
            <a:ext cx="3380740" cy="336550"/>
          </a:xfrm>
          <a:prstGeom prst="rect">
            <a:avLst/>
          </a:prstGeom>
          <a:noFill/>
          <a:ln/>
        </p:spPr>
        <p:txBody>
          <a:bodyPr wrap="square" lIns="25400" tIns="25400" rIns="25400" bIns="25400" rtlCol="0" anchor="t">
            <a:normAutofit/>
          </a:bodyPr>
          <a:lstStyle/>
          <a:p>
            <a:pPr algn="ctr" indent="0" marL="0">
              <a:buNone/>
            </a:pPr>
            <a:r>
              <a:rPr lang="en-US" sz="1800" dirty="0">
                <a:solidFill>
                  <a:srgbClr val="8EA0B5"/>
                </a:solidFill>
                <a:latin typeface="Arial" pitchFamily="34" charset="0"/>
                <a:ea typeface="Arial" pitchFamily="34" charset="-122"/>
                <a:cs typeface="Arial" pitchFamily="34" charset="-120"/>
              </a:rPr>
              <a:t>données brutes</a:t>
            </a:r>
            <a:endParaRPr lang="en-US" sz="1800" dirty="0"/>
          </a:p>
        </p:txBody>
      </p:sp>
      <p:sp>
        <p:nvSpPr>
          <p:cNvPr id="8" name="Text 6"/>
          <p:cNvSpPr/>
          <p:nvPr/>
        </p:nvSpPr>
        <p:spPr>
          <a:xfrm>
            <a:off x="4800600" y="3154859"/>
            <a:ext cx="381000" cy="431800"/>
          </a:xfrm>
          <a:prstGeom prst="rect">
            <a:avLst/>
          </a:prstGeom>
          <a:noFill/>
          <a:ln/>
        </p:spPr>
        <p:txBody>
          <a:bodyPr wrap="square" lIns="25400" tIns="25400" rIns="25400" bIns="25400" rtlCol="0" anchor="t">
            <a:normAutofit/>
          </a:bodyPr>
          <a:lstStyle/>
          <a:p>
            <a:pPr algn="l" indent="0" marL="0">
              <a:buNone/>
            </a:pPr>
            <a:r>
              <a:rPr lang="en-US" sz="2400" dirty="0">
                <a:solidFill>
                  <a:srgbClr val="56DBDB">
                    <a:alpha val="97000"/>
                  </a:srgbClr>
                </a:solidFill>
                <a:latin typeface="Arial" pitchFamily="34" charset="0"/>
                <a:ea typeface="Arial" pitchFamily="34" charset="-122"/>
                <a:cs typeface="Arial" pitchFamily="34" charset="-120"/>
              </a:rPr>
              <a:t>→</a:t>
            </a:r>
            <a:endParaRPr lang="en-US" sz="2400" dirty="0"/>
          </a:p>
        </p:txBody>
      </p:sp>
      <p:sp>
        <p:nvSpPr>
          <p:cNvPr id="9" name="Shape 7"/>
          <p:cNvSpPr/>
          <p:nvPr/>
        </p:nvSpPr>
        <p:spPr>
          <a:xfrm>
            <a:off x="5251233" y="2478568"/>
            <a:ext cx="3594535" cy="1746281"/>
          </a:xfrm>
          <a:prstGeom prst="roundRect">
            <a:avLst>
              <a:gd name="adj" fmla="val 8759"/>
            </a:avLst>
          </a:prstGeom>
          <a:gradFill rotWithShape="1">
            <a:gsLst>
              <a:gs pos="0">
                <a:srgbClr val="59DEDE">
                  <a:alpha val="18000"/>
                </a:srgbClr>
              </a:gs>
              <a:gs pos="100000">
                <a:srgbClr val="FFFFFF">
                  <a:alpha val="3000"/>
                </a:srgbClr>
              </a:gs>
            </a:gsLst>
            <a:lin ang="4200000" scaled="0"/>
          </a:gradFill>
          <a:ln w="6373">
            <a:solidFill>
              <a:srgbClr val="81E4E1">
                <a:alpha val="37000"/>
              </a:srgbClr>
            </a:solidFill>
            <a:prstDash val="solid"/>
          </a:ln>
        </p:spPr>
      </p:sp>
      <p:sp>
        <p:nvSpPr>
          <p:cNvPr id="10" name="Text 8"/>
          <p:cNvSpPr/>
          <p:nvPr/>
        </p:nvSpPr>
        <p:spPr>
          <a:xfrm>
            <a:off x="5351930" y="2809979"/>
            <a:ext cx="3393139" cy="344018"/>
          </a:xfrm>
          <a:prstGeom prst="rect">
            <a:avLst/>
          </a:prstGeom>
          <a:noFill/>
          <a:ln/>
        </p:spPr>
        <p:txBody>
          <a:bodyPr wrap="square" lIns="25400" tIns="25400" rIns="25400" bIns="25400" rtlCol="0" anchor="t">
            <a:normAutofit/>
          </a:bodyPr>
          <a:lstStyle/>
          <a:p>
            <a:pPr algn="ctr" indent="0" marL="0">
              <a:buNone/>
            </a:pPr>
            <a:r>
              <a:rPr lang="en-US" sz="1807" dirty="0">
                <a:solidFill>
                  <a:srgbClr val="56DBDB"/>
                </a:solidFill>
                <a:latin typeface="Courier New" pitchFamily="34" charset="0"/>
                <a:ea typeface="Courier New" pitchFamily="34" charset="-122"/>
                <a:cs typeface="Courier New" pitchFamily="34" charset="-120"/>
              </a:rPr>
              <a:t>Cluster EMR</a:t>
            </a:r>
            <a:endParaRPr lang="en-US" sz="1807" dirty="0"/>
          </a:p>
        </p:txBody>
      </p:sp>
      <p:sp>
        <p:nvSpPr>
          <p:cNvPr id="11" name="Text 9"/>
          <p:cNvSpPr/>
          <p:nvPr/>
        </p:nvSpPr>
        <p:spPr>
          <a:xfrm>
            <a:off x="5351930" y="3211496"/>
            <a:ext cx="3393139" cy="344018"/>
          </a:xfrm>
          <a:prstGeom prst="rect">
            <a:avLst/>
          </a:prstGeom>
          <a:noFill/>
          <a:ln/>
        </p:spPr>
        <p:txBody>
          <a:bodyPr wrap="square" lIns="25400" tIns="25400" rIns="25400" bIns="25400" rtlCol="0" anchor="t">
            <a:normAutofit/>
          </a:bodyPr>
          <a:lstStyle/>
          <a:p>
            <a:pPr algn="ctr" indent="0" marL="0">
              <a:buNone/>
            </a:pPr>
            <a:r>
              <a:rPr lang="en-US" sz="2108" b="1" dirty="0">
                <a:solidFill>
                  <a:srgbClr val="EEF3F9"/>
                </a:solidFill>
                <a:latin typeface="Arial" pitchFamily="34" charset="0"/>
                <a:ea typeface="Arial" pitchFamily="34" charset="-122"/>
                <a:cs typeface="Arial" pitchFamily="34" charset="-120"/>
              </a:rPr>
              <a:t>Spark / Hive</a:t>
            </a:r>
            <a:endParaRPr lang="en-US" sz="2108" dirty="0"/>
          </a:p>
        </p:txBody>
      </p:sp>
      <p:sp>
        <p:nvSpPr>
          <p:cNvPr id="12" name="Text 10"/>
          <p:cNvSpPr/>
          <p:nvPr/>
        </p:nvSpPr>
        <p:spPr>
          <a:xfrm>
            <a:off x="5351930" y="3593894"/>
            <a:ext cx="3393139" cy="337645"/>
          </a:xfrm>
          <a:prstGeom prst="rect">
            <a:avLst/>
          </a:prstGeom>
          <a:noFill/>
          <a:ln/>
        </p:spPr>
        <p:txBody>
          <a:bodyPr wrap="square" lIns="25400" tIns="25400" rIns="25400" bIns="25400" rtlCol="0" anchor="t">
            <a:normAutofit/>
          </a:bodyPr>
          <a:lstStyle/>
          <a:p>
            <a:pPr algn="ctr" indent="0" marL="0">
              <a:buNone/>
            </a:pPr>
            <a:r>
              <a:rPr lang="en-US" sz="1807" dirty="0">
                <a:solidFill>
                  <a:srgbClr val="8EA0B5"/>
                </a:solidFill>
                <a:latin typeface="Arial" pitchFamily="34" charset="0"/>
                <a:ea typeface="Arial" pitchFamily="34" charset="-122"/>
                <a:cs typeface="Arial" pitchFamily="34" charset="-120"/>
              </a:rPr>
              <a:t>traitement</a:t>
            </a:r>
            <a:endParaRPr lang="en-US" sz="1807" dirty="0"/>
          </a:p>
        </p:txBody>
      </p:sp>
      <p:sp>
        <p:nvSpPr>
          <p:cNvPr id="13" name="Text 11"/>
          <p:cNvSpPr/>
          <p:nvPr/>
        </p:nvSpPr>
        <p:spPr>
          <a:xfrm>
            <a:off x="8991600" y="3154859"/>
            <a:ext cx="381000" cy="431800"/>
          </a:xfrm>
          <a:prstGeom prst="rect">
            <a:avLst/>
          </a:prstGeom>
          <a:noFill/>
          <a:ln/>
        </p:spPr>
        <p:txBody>
          <a:bodyPr wrap="square" lIns="25400" tIns="25400" rIns="25400" bIns="25400" rtlCol="0" anchor="t">
            <a:normAutofit/>
          </a:bodyPr>
          <a:lstStyle/>
          <a:p>
            <a:pPr algn="l" indent="0" marL="0">
              <a:buNone/>
            </a:pPr>
            <a:r>
              <a:rPr lang="en-US" sz="2400" dirty="0">
                <a:solidFill>
                  <a:srgbClr val="56DBDB">
                    <a:alpha val="97000"/>
                  </a:srgbClr>
                </a:solidFill>
                <a:latin typeface="Arial" pitchFamily="34" charset="0"/>
                <a:ea typeface="Arial" pitchFamily="34" charset="-122"/>
                <a:cs typeface="Arial" pitchFamily="34" charset="-120"/>
              </a:rPr>
              <a:t>→</a:t>
            </a:r>
            <a:endParaRPr lang="en-US" sz="2400" dirty="0"/>
          </a:p>
        </p:txBody>
      </p:sp>
      <p:sp>
        <p:nvSpPr>
          <p:cNvPr id="14" name="Shape 12"/>
          <p:cNvSpPr/>
          <p:nvPr/>
        </p:nvSpPr>
        <p:spPr>
          <a:xfrm>
            <a:off x="9428637" y="2471963"/>
            <a:ext cx="3621726" cy="1759491"/>
          </a:xfrm>
          <a:prstGeom prst="roundRect">
            <a:avLst>
              <a:gd name="adj" fmla="val 8759"/>
            </a:avLst>
          </a:prstGeom>
          <a:gradFill rotWithShape="1">
            <a:gsLst>
              <a:gs pos="0">
                <a:srgbClr val="FFB470">
                  <a:alpha val="16000"/>
                </a:srgbClr>
              </a:gs>
              <a:gs pos="100000">
                <a:srgbClr val="FFFFFF">
                  <a:alpha val="3000"/>
                </a:srgbClr>
              </a:gs>
            </a:gsLst>
            <a:lin ang="4200000" scaled="0"/>
          </a:gradFill>
          <a:ln w="6422">
            <a:solidFill>
              <a:srgbClr val="FFC48E">
                <a:alpha val="35000"/>
              </a:srgbClr>
            </a:solidFill>
            <a:prstDash val="solid"/>
          </a:ln>
        </p:spPr>
      </p:sp>
      <p:sp>
        <p:nvSpPr>
          <p:cNvPr id="15" name="Text 13"/>
          <p:cNvSpPr/>
          <p:nvPr/>
        </p:nvSpPr>
        <p:spPr>
          <a:xfrm>
            <a:off x="9530097" y="2805881"/>
            <a:ext cx="3418806" cy="346332"/>
          </a:xfrm>
          <a:prstGeom prst="rect">
            <a:avLst/>
          </a:prstGeom>
          <a:noFill/>
          <a:ln/>
        </p:spPr>
        <p:txBody>
          <a:bodyPr wrap="square" lIns="25400" tIns="25400" rIns="25400" bIns="25400" rtlCol="0" anchor="t">
            <a:normAutofit/>
          </a:bodyPr>
          <a:lstStyle/>
          <a:p>
            <a:pPr algn="ctr" indent="0" marL="0">
              <a:buNone/>
            </a:pPr>
            <a:r>
              <a:rPr lang="en-US" sz="1820" dirty="0">
                <a:solidFill>
                  <a:srgbClr val="FFB46E"/>
                </a:solidFill>
                <a:latin typeface="Courier New" pitchFamily="34" charset="0"/>
                <a:ea typeface="Courier New" pitchFamily="34" charset="-122"/>
                <a:cs typeface="Courier New" pitchFamily="34" charset="-120"/>
              </a:rPr>
              <a:t>S3</a:t>
            </a:r>
            <a:endParaRPr lang="en-US" sz="1820" dirty="0"/>
          </a:p>
        </p:txBody>
      </p:sp>
      <p:sp>
        <p:nvSpPr>
          <p:cNvPr id="16" name="Text 14"/>
          <p:cNvSpPr/>
          <p:nvPr/>
        </p:nvSpPr>
        <p:spPr>
          <a:xfrm>
            <a:off x="9530097" y="3210436"/>
            <a:ext cx="3418806" cy="346332"/>
          </a:xfrm>
          <a:prstGeom prst="rect">
            <a:avLst/>
          </a:prstGeom>
          <a:noFill/>
          <a:ln/>
        </p:spPr>
        <p:txBody>
          <a:bodyPr wrap="square" lIns="25400" tIns="25400" rIns="25400" bIns="25400" rtlCol="0" anchor="t">
            <a:normAutofit/>
          </a:bodyPr>
          <a:lstStyle/>
          <a:p>
            <a:pPr algn="ctr" indent="0" marL="0">
              <a:buNone/>
            </a:pPr>
            <a:r>
              <a:rPr lang="en-US" sz="2124" b="1" dirty="0">
                <a:solidFill>
                  <a:srgbClr val="EEF3F9"/>
                </a:solidFill>
                <a:latin typeface="Arial" pitchFamily="34" charset="0"/>
                <a:ea typeface="Arial" pitchFamily="34" charset="-122"/>
                <a:cs typeface="Arial" pitchFamily="34" charset="-120"/>
              </a:rPr>
              <a:t>résultats</a:t>
            </a:r>
            <a:endParaRPr lang="en-US" sz="2124" dirty="0"/>
          </a:p>
        </p:txBody>
      </p:sp>
      <p:sp>
        <p:nvSpPr>
          <p:cNvPr id="17" name="Text 15"/>
          <p:cNvSpPr/>
          <p:nvPr/>
        </p:nvSpPr>
        <p:spPr>
          <a:xfrm>
            <a:off x="9530097" y="3595726"/>
            <a:ext cx="3418806" cy="339911"/>
          </a:xfrm>
          <a:prstGeom prst="rect">
            <a:avLst/>
          </a:prstGeom>
          <a:noFill/>
          <a:ln/>
        </p:spPr>
        <p:txBody>
          <a:bodyPr wrap="square" lIns="25400" tIns="25400" rIns="25400" bIns="25400" rtlCol="0" anchor="t">
            <a:normAutofit/>
          </a:bodyPr>
          <a:lstStyle/>
          <a:p>
            <a:pPr algn="ctr" indent="0" marL="0">
              <a:buNone/>
            </a:pPr>
            <a:r>
              <a:rPr lang="en-US" sz="1820" dirty="0">
                <a:solidFill>
                  <a:srgbClr val="8EA0B5"/>
                </a:solidFill>
                <a:latin typeface="Arial" pitchFamily="34" charset="0"/>
                <a:ea typeface="Arial" pitchFamily="34" charset="-122"/>
                <a:cs typeface="Arial" pitchFamily="34" charset="-120"/>
              </a:rPr>
              <a:t>rq5 · rq7 · rq8 · rq9</a:t>
            </a:r>
            <a:endParaRPr lang="en-US" sz="1820" dirty="0"/>
          </a:p>
        </p:txBody>
      </p:sp>
      <p:sp>
        <p:nvSpPr>
          <p:cNvPr id="18" name="Text 16"/>
          <p:cNvSpPr/>
          <p:nvPr/>
        </p:nvSpPr>
        <p:spPr>
          <a:xfrm>
            <a:off x="13182600" y="3154859"/>
            <a:ext cx="381000" cy="431800"/>
          </a:xfrm>
          <a:prstGeom prst="rect">
            <a:avLst/>
          </a:prstGeom>
          <a:noFill/>
          <a:ln/>
        </p:spPr>
        <p:txBody>
          <a:bodyPr wrap="square" lIns="25400" tIns="25400" rIns="25400" bIns="25400" rtlCol="0" anchor="t">
            <a:normAutofit/>
          </a:bodyPr>
          <a:lstStyle/>
          <a:p>
            <a:pPr algn="l" indent="0" marL="0">
              <a:buNone/>
            </a:pPr>
            <a:r>
              <a:rPr lang="en-US" sz="2400" dirty="0">
                <a:solidFill>
                  <a:srgbClr val="56DBDB">
                    <a:alpha val="97000"/>
                  </a:srgbClr>
                </a:solidFill>
                <a:latin typeface="Arial" pitchFamily="34" charset="0"/>
                <a:ea typeface="Arial" pitchFamily="34" charset="-122"/>
                <a:cs typeface="Arial" pitchFamily="34" charset="-120"/>
              </a:rPr>
              <a:t>→</a:t>
            </a:r>
            <a:endParaRPr lang="en-US" sz="2400" dirty="0"/>
          </a:p>
        </p:txBody>
      </p:sp>
      <p:sp>
        <p:nvSpPr>
          <p:cNvPr id="19" name="Shape 17"/>
          <p:cNvSpPr/>
          <p:nvPr/>
        </p:nvSpPr>
        <p:spPr>
          <a:xfrm>
            <a:off x="13619954" y="2472117"/>
            <a:ext cx="3621094" cy="1759184"/>
          </a:xfrm>
          <a:prstGeom prst="roundRect">
            <a:avLst>
              <a:gd name="adj" fmla="val 8759"/>
            </a:avLst>
          </a:prstGeom>
          <a:solidFill>
            <a:srgbClr val="FFFFFF">
              <a:alpha val="3000"/>
            </a:srgbClr>
          </a:solidFill>
          <a:ln w="6420">
            <a:solidFill>
              <a:srgbClr val="FFFFFF">
                <a:alpha val="10000"/>
              </a:srgbClr>
            </a:solidFill>
            <a:prstDash val="solid"/>
          </a:ln>
        </p:spPr>
      </p:sp>
      <p:sp>
        <p:nvSpPr>
          <p:cNvPr id="20" name="Text 18"/>
          <p:cNvSpPr/>
          <p:nvPr/>
        </p:nvSpPr>
        <p:spPr>
          <a:xfrm>
            <a:off x="13721396" y="2805976"/>
            <a:ext cx="3418210" cy="346278"/>
          </a:xfrm>
          <a:prstGeom prst="rect">
            <a:avLst/>
          </a:prstGeom>
          <a:noFill/>
          <a:ln/>
        </p:spPr>
        <p:txBody>
          <a:bodyPr wrap="square" lIns="25400" tIns="25400" rIns="25400" bIns="25400" rtlCol="0" anchor="t">
            <a:normAutofit/>
          </a:bodyPr>
          <a:lstStyle/>
          <a:p>
            <a:pPr algn="ctr" indent="0" marL="0">
              <a:buNone/>
            </a:pPr>
            <a:r>
              <a:rPr lang="en-US" sz="1820" dirty="0">
                <a:solidFill>
                  <a:srgbClr val="8EA0B5"/>
                </a:solidFill>
                <a:latin typeface="Courier New" pitchFamily="34" charset="0"/>
                <a:ea typeface="Courier New" pitchFamily="34" charset="-122"/>
                <a:cs typeface="Courier New" pitchFamily="34" charset="-120"/>
              </a:rPr>
              <a:t>QuickSight</a:t>
            </a:r>
            <a:endParaRPr lang="en-US" sz="1820" dirty="0"/>
          </a:p>
        </p:txBody>
      </p:sp>
      <p:sp>
        <p:nvSpPr>
          <p:cNvPr id="21" name="Text 19"/>
          <p:cNvSpPr/>
          <p:nvPr/>
        </p:nvSpPr>
        <p:spPr>
          <a:xfrm>
            <a:off x="13721396" y="3210460"/>
            <a:ext cx="3418210" cy="346278"/>
          </a:xfrm>
          <a:prstGeom prst="rect">
            <a:avLst/>
          </a:prstGeom>
          <a:noFill/>
          <a:ln/>
        </p:spPr>
        <p:txBody>
          <a:bodyPr wrap="square" lIns="25400" tIns="25400" rIns="25400" bIns="25400" rtlCol="0" anchor="t">
            <a:normAutofit/>
          </a:bodyPr>
          <a:lstStyle/>
          <a:p>
            <a:pPr algn="ctr" indent="0" marL="0">
              <a:buNone/>
            </a:pPr>
            <a:r>
              <a:rPr lang="en-US" sz="2123" b="1" dirty="0">
                <a:solidFill>
                  <a:srgbClr val="EEF3F9"/>
                </a:solidFill>
                <a:latin typeface="Arial" pitchFamily="34" charset="0"/>
                <a:ea typeface="Arial" pitchFamily="34" charset="-122"/>
                <a:cs typeface="Arial" pitchFamily="34" charset="-120"/>
              </a:rPr>
              <a:t>Athena</a:t>
            </a:r>
            <a:endParaRPr lang="en-US" sz="2123" dirty="0"/>
          </a:p>
        </p:txBody>
      </p:sp>
      <p:sp>
        <p:nvSpPr>
          <p:cNvPr id="22" name="Text 20"/>
          <p:cNvSpPr/>
          <p:nvPr/>
        </p:nvSpPr>
        <p:spPr>
          <a:xfrm>
            <a:off x="13721396" y="3595683"/>
            <a:ext cx="3418210" cy="339858"/>
          </a:xfrm>
          <a:prstGeom prst="rect">
            <a:avLst/>
          </a:prstGeom>
          <a:noFill/>
          <a:ln/>
        </p:spPr>
        <p:txBody>
          <a:bodyPr wrap="square" lIns="25400" tIns="25400" rIns="25400" bIns="25400" rtlCol="0" anchor="t">
            <a:normAutofit/>
          </a:bodyPr>
          <a:lstStyle/>
          <a:p>
            <a:pPr algn="ctr" indent="0" marL="0">
              <a:buNone/>
            </a:pPr>
            <a:r>
              <a:rPr lang="en-US" sz="1820" dirty="0">
                <a:solidFill>
                  <a:srgbClr val="8EA0B5"/>
                </a:solidFill>
                <a:latin typeface="Arial" pitchFamily="34" charset="0"/>
                <a:ea typeface="Arial" pitchFamily="34" charset="-122"/>
                <a:cs typeface="Arial" pitchFamily="34" charset="-120"/>
              </a:rPr>
              <a:t>analyse &amp; viz</a:t>
            </a:r>
            <a:endParaRPr lang="en-US" sz="1820" dirty="0"/>
          </a:p>
        </p:txBody>
      </p:sp>
      <p:sp>
        <p:nvSpPr>
          <p:cNvPr id="23" name="Shape 21"/>
          <p:cNvSpPr/>
          <p:nvPr/>
        </p:nvSpPr>
        <p:spPr>
          <a:xfrm>
            <a:off x="1066800" y="4716959"/>
            <a:ext cx="25400" cy="914400"/>
          </a:xfrm>
          <a:prstGeom prst="rect">
            <a:avLst/>
          </a:prstGeom>
          <a:solidFill>
            <a:srgbClr val="56DBDB">
              <a:alpha val="34000"/>
            </a:srgbClr>
          </a:solidFill>
          <a:ln/>
        </p:spPr>
      </p:sp>
      <p:sp>
        <p:nvSpPr>
          <p:cNvPr id="24" name="Text 22"/>
          <p:cNvSpPr/>
          <p:nvPr/>
        </p:nvSpPr>
        <p:spPr>
          <a:xfrm>
            <a:off x="1339850" y="4716959"/>
            <a:ext cx="16365982" cy="952500"/>
          </a:xfrm>
          <a:prstGeom prst="rect">
            <a:avLst/>
          </a:prstGeom>
          <a:noFill/>
          <a:ln/>
        </p:spPr>
        <p:txBody>
          <a:bodyPr wrap="square" lIns="25400" tIns="25400" rIns="25400" bIns="25400" rtlCol="0" anchor="t">
            <a:normAutofit/>
          </a:bodyPr>
          <a:lstStyle/>
          <a:p>
            <a:pPr algn="l" indent="0" marL="0">
              <a:lnSpc>
                <a:spcPct val="130909"/>
              </a:lnSpc>
              <a:buNone/>
            </a:pPr>
            <a:r>
              <a:rPr lang="en-US" sz="2400" dirty="0">
                <a:solidFill>
                  <a:srgbClr val="8EA0B5">
                    <a:alpha val="34000"/>
                  </a:srgbClr>
                </a:solidFill>
                <a:latin typeface="Arial" pitchFamily="34" charset="0"/>
                <a:ea typeface="Arial" pitchFamily="34" charset="-122"/>
                <a:cs typeface="Arial" pitchFamily="34" charset="-120"/>
              </a:rPr>
              <a:t>Stockage </a:t>
            </a:r>
            <a:pPr algn="l" indent="0" marL="0">
              <a:lnSpc>
                <a:spcPct val="130909"/>
              </a:lnSpc>
              <a:buNone/>
            </a:pPr>
            <a:r>
              <a:rPr lang="en-US" sz="2400" dirty="0">
                <a:solidFill>
                  <a:srgbClr val="EEF3F9">
                    <a:alpha val="34000"/>
                  </a:srgbClr>
                </a:solidFill>
                <a:latin typeface="Arial" pitchFamily="34" charset="0"/>
                <a:ea typeface="Arial" pitchFamily="34" charset="-122"/>
                <a:cs typeface="Arial" pitchFamily="34" charset="-120"/>
              </a:rPr>
              <a:t>permanent </a:t>
            </a:r>
            <a:pPr algn="l" indent="0" marL="0">
              <a:lnSpc>
                <a:spcPct val="130909"/>
              </a:lnSpc>
              <a:buNone/>
            </a:pPr>
            <a:r>
              <a:rPr lang="en-US" sz="2400" dirty="0">
                <a:solidFill>
                  <a:srgbClr val="8EA0B5">
                    <a:alpha val="34000"/>
                  </a:srgbClr>
                </a:solidFill>
                <a:latin typeface="Arial" pitchFamily="34" charset="0"/>
                <a:ea typeface="Arial" pitchFamily="34" charset="-122"/>
                <a:cs typeface="Arial" pitchFamily="34" charset="-120"/>
              </a:rPr>
              <a:t>sur S3, calcul </a:t>
            </a:r>
            <a:pPr algn="l" indent="0" marL="0">
              <a:lnSpc>
                <a:spcPct val="130909"/>
              </a:lnSpc>
              <a:buNone/>
            </a:pPr>
            <a:r>
              <a:rPr lang="en-US" sz="2400" dirty="0">
                <a:solidFill>
                  <a:srgbClr val="EEF3F9">
                    <a:alpha val="34000"/>
                  </a:srgbClr>
                </a:solidFill>
                <a:latin typeface="Arial" pitchFamily="34" charset="0"/>
                <a:ea typeface="Arial" pitchFamily="34" charset="-122"/>
                <a:cs typeface="Arial" pitchFamily="34" charset="-120"/>
              </a:rPr>
              <a:t>temporaire et facturé à l'usage </a:t>
            </a:r>
            <a:pPr algn="l" indent="0" marL="0">
              <a:lnSpc>
                <a:spcPct val="130909"/>
              </a:lnSpc>
              <a:buNone/>
            </a:pPr>
            <a:r>
              <a:rPr lang="en-US" sz="2400" dirty="0">
                <a:solidFill>
                  <a:srgbClr val="8EA0B5">
                    <a:alpha val="34000"/>
                  </a:srgbClr>
                </a:solidFill>
                <a:latin typeface="Arial" pitchFamily="34" charset="0"/>
                <a:ea typeface="Arial" pitchFamily="34" charset="-122"/>
                <a:cs typeface="Arial" pitchFamily="34" charset="-120"/>
              </a:rPr>
              <a:t>sur EMR : on peut supprimer un cluster sans perdre les données.</a:t>
            </a:r>
            <a:endParaRPr lang="en-US" sz="24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0C121C"/>
        </a:solidFill>
      </p:bgPr>
    </p:bg>
    <p:spTree>
      <p:nvGrpSpPr>
        <p:cNvPr id="1" name=""/>
        <p:cNvGrpSpPr/>
        <p:nvPr/>
      </p:nvGrpSpPr>
      <p:grpSpPr>
        <a:xfrm>
          <a:off x="0" y="0"/>
          <a:ext cx="0" cy="0"/>
          <a:chOff x="0" y="0"/>
          <a:chExt cx="0" cy="0"/>
        </a:xfrm>
      </p:grpSpPr>
      <p:sp>
        <p:nvSpPr>
          <p:cNvPr id="2" name="Text 0"/>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56DBDB">
                    <a:alpha val="97000"/>
                  </a:srgbClr>
                </a:solidFill>
                <a:latin typeface="Courier New" pitchFamily="34" charset="0"/>
                <a:ea typeface="Courier New" pitchFamily="34" charset="-122"/>
                <a:cs typeface="Courier New" pitchFamily="34" charset="-120"/>
              </a:rPr>
              <a:t>ATELIER 07 · EXPLOITATION</a:t>
            </a:r>
            <a:endParaRPr lang="en-US" sz="1800" dirty="0"/>
          </a:p>
        </p:txBody>
      </p:sp>
      <p:sp>
        <p:nvSpPr>
          <p:cNvPr id="3" name="Text 1"/>
          <p:cNvSpPr/>
          <p:nvPr/>
        </p:nvSpPr>
        <p:spPr>
          <a:xfrm>
            <a:off x="1066800" y="1314451"/>
            <a:ext cx="17769840"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Coûts et bonnes pratiques</a:t>
            </a:r>
            <a:endParaRPr lang="en-US" sz="4800" dirty="0"/>
          </a:p>
        </p:txBody>
      </p:sp>
      <p:sp>
        <p:nvSpPr>
          <p:cNvPr id="4" name="Text 2"/>
          <p:cNvSpPr/>
          <p:nvPr/>
        </p:nvSpPr>
        <p:spPr>
          <a:xfrm>
            <a:off x="1066800" y="4511774"/>
            <a:ext cx="276027" cy="400050"/>
          </a:xfrm>
          <a:prstGeom prst="rect">
            <a:avLst/>
          </a:prstGeom>
          <a:noFill/>
          <a:ln/>
        </p:spPr>
        <p:txBody>
          <a:bodyPr wrap="square" lIns="25400" tIns="25400" rIns="25400" bIns="25400" rtlCol="0" anchor="t">
            <a:normAutofit/>
          </a:bodyPr>
          <a:lstStyle/>
          <a:p>
            <a:pPr algn="l" indent="0" marL="0">
              <a:buNone/>
            </a:pPr>
            <a:r>
              <a:rPr lang="en-US" sz="2100" dirty="0">
                <a:solidFill>
                  <a:srgbClr val="56DBDB"/>
                </a:solidFill>
                <a:latin typeface="Arial" pitchFamily="34" charset="0"/>
                <a:ea typeface="Arial" pitchFamily="34" charset="-122"/>
                <a:cs typeface="Arial" pitchFamily="34" charset="-120"/>
              </a:rPr>
              <a:t>✓</a:t>
            </a:r>
            <a:endParaRPr lang="en-US" sz="2100" dirty="0"/>
          </a:p>
        </p:txBody>
      </p:sp>
      <p:sp>
        <p:nvSpPr>
          <p:cNvPr id="5" name="Text 3"/>
          <p:cNvSpPr/>
          <p:nvPr/>
        </p:nvSpPr>
        <p:spPr>
          <a:xfrm>
            <a:off x="1457127" y="4511774"/>
            <a:ext cx="7721265" cy="861020"/>
          </a:xfrm>
          <a:prstGeom prst="rect">
            <a:avLst/>
          </a:prstGeom>
          <a:noFill/>
          <a:ln/>
        </p:spPr>
        <p:txBody>
          <a:bodyPr wrap="square" lIns="25400" tIns="25400" rIns="25400" bIns="25400" rtlCol="0" anchor="t">
            <a:normAutofit/>
          </a:bodyPr>
          <a:lstStyle/>
          <a:p>
            <a:pPr algn="l" indent="0" marL="0">
              <a:lnSpc>
                <a:spcPct val="117818"/>
              </a:lnSpc>
              <a:buNone/>
            </a:pPr>
            <a:r>
              <a:rPr lang="en-US" sz="2400" dirty="0">
                <a:solidFill>
                  <a:srgbClr val="EEF3F9"/>
                </a:solidFill>
                <a:latin typeface="Arial" pitchFamily="34" charset="0"/>
                <a:ea typeface="Arial" pitchFamily="34" charset="-122"/>
                <a:cs typeface="Arial" pitchFamily="34" charset="-120"/>
              </a:rPr>
              <a:t>Terminer systématiquement le cluster — un cluster oublié facture même à vide</a:t>
            </a:r>
            <a:endParaRPr lang="en-US" sz="2400" dirty="0"/>
          </a:p>
        </p:txBody>
      </p:sp>
      <p:sp>
        <p:nvSpPr>
          <p:cNvPr id="6" name="Text 4"/>
          <p:cNvSpPr/>
          <p:nvPr/>
        </p:nvSpPr>
        <p:spPr>
          <a:xfrm>
            <a:off x="9334285" y="4511774"/>
            <a:ext cx="276027" cy="400050"/>
          </a:xfrm>
          <a:prstGeom prst="rect">
            <a:avLst/>
          </a:prstGeom>
          <a:noFill/>
          <a:ln/>
        </p:spPr>
        <p:txBody>
          <a:bodyPr wrap="square" lIns="25400" tIns="25400" rIns="25400" bIns="25400" rtlCol="0" anchor="t">
            <a:normAutofit/>
          </a:bodyPr>
          <a:lstStyle/>
          <a:p>
            <a:pPr algn="l" indent="0" marL="0">
              <a:buNone/>
            </a:pPr>
            <a:r>
              <a:rPr lang="en-US" sz="2100" dirty="0">
                <a:solidFill>
                  <a:srgbClr val="56DBDB"/>
                </a:solidFill>
                <a:latin typeface="Arial" pitchFamily="34" charset="0"/>
                <a:ea typeface="Arial" pitchFamily="34" charset="-122"/>
                <a:cs typeface="Arial" pitchFamily="34" charset="-120"/>
              </a:rPr>
              <a:t>✓</a:t>
            </a:r>
            <a:endParaRPr lang="en-US" sz="2100" dirty="0"/>
          </a:p>
        </p:txBody>
      </p:sp>
      <p:sp>
        <p:nvSpPr>
          <p:cNvPr id="7" name="Text 5"/>
          <p:cNvSpPr/>
          <p:nvPr/>
        </p:nvSpPr>
        <p:spPr>
          <a:xfrm>
            <a:off x="9724611" y="4511774"/>
            <a:ext cx="7721265" cy="861020"/>
          </a:xfrm>
          <a:prstGeom prst="rect">
            <a:avLst/>
          </a:prstGeom>
          <a:noFill/>
          <a:ln/>
        </p:spPr>
        <p:txBody>
          <a:bodyPr wrap="square" lIns="25400" tIns="25400" rIns="25400" bIns="25400" rtlCol="0" anchor="t">
            <a:normAutofit/>
          </a:bodyPr>
          <a:lstStyle/>
          <a:p>
            <a:pPr algn="l" indent="0" marL="0">
              <a:lnSpc>
                <a:spcPct val="117818"/>
              </a:lnSpc>
              <a:buNone/>
            </a:pPr>
            <a:r>
              <a:rPr lang="en-US" sz="2400" dirty="0">
                <a:solidFill>
                  <a:srgbClr val="EEF3F9"/>
                </a:solidFill>
                <a:latin typeface="Arial" pitchFamily="34" charset="0"/>
                <a:ea typeface="Arial" pitchFamily="34" charset="-122"/>
                <a:cs typeface="Arial" pitchFamily="34" charset="-120"/>
              </a:rPr>
              <a:t>Séparer stockage et calcul — garder les données sur S3</a:t>
            </a:r>
            <a:endParaRPr lang="en-US" sz="2400" dirty="0"/>
          </a:p>
        </p:txBody>
      </p:sp>
      <p:sp>
        <p:nvSpPr>
          <p:cNvPr id="8" name="Text 6"/>
          <p:cNvSpPr/>
          <p:nvPr/>
        </p:nvSpPr>
        <p:spPr>
          <a:xfrm>
            <a:off x="1065447" y="5525195"/>
            <a:ext cx="276027" cy="400050"/>
          </a:xfrm>
          <a:prstGeom prst="rect">
            <a:avLst/>
          </a:prstGeom>
          <a:noFill/>
          <a:ln/>
        </p:spPr>
        <p:txBody>
          <a:bodyPr wrap="square" lIns="25400" tIns="25400" rIns="25400" bIns="25400" rtlCol="0" anchor="t">
            <a:normAutofit/>
          </a:bodyPr>
          <a:lstStyle/>
          <a:p>
            <a:pPr algn="l" indent="0" marL="0">
              <a:buNone/>
            </a:pPr>
            <a:r>
              <a:rPr lang="en-US" sz="2100" dirty="0">
                <a:solidFill>
                  <a:srgbClr val="56DBDB">
                    <a:alpha val="99000"/>
                  </a:srgbClr>
                </a:solidFill>
                <a:latin typeface="Arial" pitchFamily="34" charset="0"/>
                <a:ea typeface="Arial" pitchFamily="34" charset="-122"/>
                <a:cs typeface="Arial" pitchFamily="34" charset="-120"/>
              </a:rPr>
              <a:t>✓</a:t>
            </a:r>
            <a:endParaRPr lang="en-US" sz="2100" dirty="0"/>
          </a:p>
        </p:txBody>
      </p:sp>
      <p:sp>
        <p:nvSpPr>
          <p:cNvPr id="9" name="Text 7"/>
          <p:cNvSpPr/>
          <p:nvPr/>
        </p:nvSpPr>
        <p:spPr>
          <a:xfrm>
            <a:off x="1455774" y="5525195"/>
            <a:ext cx="7721265" cy="861020"/>
          </a:xfrm>
          <a:prstGeom prst="rect">
            <a:avLst/>
          </a:prstGeom>
          <a:noFill/>
          <a:ln/>
        </p:spPr>
        <p:txBody>
          <a:bodyPr wrap="square" lIns="25400" tIns="25400" rIns="25400" bIns="25400" rtlCol="0" anchor="t">
            <a:normAutofit/>
          </a:bodyPr>
          <a:lstStyle/>
          <a:p>
            <a:pPr algn="l" indent="0" marL="0">
              <a:lnSpc>
                <a:spcPct val="117818"/>
              </a:lnSpc>
              <a:buNone/>
            </a:pPr>
            <a:r>
              <a:rPr lang="en-US" sz="2400" dirty="0">
                <a:solidFill>
                  <a:srgbClr val="EEF3F9">
                    <a:alpha val="99000"/>
                  </a:srgbClr>
                </a:solidFill>
                <a:latin typeface="Arial" pitchFamily="34" charset="0"/>
                <a:ea typeface="Arial" pitchFamily="34" charset="-122"/>
                <a:cs typeface="Arial" pitchFamily="34" charset="-120"/>
              </a:rPr>
              <a:t>Instances Spot pour les nœuds task quand l'interruption est tolérable</a:t>
            </a:r>
            <a:endParaRPr lang="en-US" sz="2400" dirty="0"/>
          </a:p>
        </p:txBody>
      </p:sp>
      <p:sp>
        <p:nvSpPr>
          <p:cNvPr id="10" name="Text 8"/>
          <p:cNvSpPr/>
          <p:nvPr/>
        </p:nvSpPr>
        <p:spPr>
          <a:xfrm>
            <a:off x="9330725" y="5525195"/>
            <a:ext cx="276027" cy="400050"/>
          </a:xfrm>
          <a:prstGeom prst="rect">
            <a:avLst/>
          </a:prstGeom>
          <a:noFill/>
          <a:ln/>
        </p:spPr>
        <p:txBody>
          <a:bodyPr wrap="square" lIns="25400" tIns="25400" rIns="25400" bIns="25400" rtlCol="0" anchor="t">
            <a:normAutofit/>
          </a:bodyPr>
          <a:lstStyle/>
          <a:p>
            <a:pPr algn="l" indent="0" marL="0">
              <a:buNone/>
            </a:pPr>
            <a:r>
              <a:rPr lang="en-US" sz="2100" dirty="0">
                <a:solidFill>
                  <a:srgbClr val="56DBDB">
                    <a:alpha val="98000"/>
                  </a:srgbClr>
                </a:solidFill>
                <a:latin typeface="Arial" pitchFamily="34" charset="0"/>
                <a:ea typeface="Arial" pitchFamily="34" charset="-122"/>
                <a:cs typeface="Arial" pitchFamily="34" charset="-120"/>
              </a:rPr>
              <a:t>✓</a:t>
            </a:r>
            <a:endParaRPr lang="en-US" sz="2100" dirty="0"/>
          </a:p>
        </p:txBody>
      </p:sp>
      <p:sp>
        <p:nvSpPr>
          <p:cNvPr id="11" name="Text 9"/>
          <p:cNvSpPr/>
          <p:nvPr/>
        </p:nvSpPr>
        <p:spPr>
          <a:xfrm>
            <a:off x="9721052" y="5525195"/>
            <a:ext cx="7721265" cy="861020"/>
          </a:xfrm>
          <a:prstGeom prst="rect">
            <a:avLst/>
          </a:prstGeom>
          <a:noFill/>
          <a:ln/>
        </p:spPr>
        <p:txBody>
          <a:bodyPr wrap="square" lIns="25400" tIns="25400" rIns="25400" bIns="25400" rtlCol="0" anchor="t">
            <a:normAutofit/>
          </a:bodyPr>
          <a:lstStyle/>
          <a:p>
            <a:pPr algn="l" indent="0" marL="0">
              <a:lnSpc>
                <a:spcPct val="117818"/>
              </a:lnSpc>
              <a:buNone/>
            </a:pPr>
            <a:r>
              <a:rPr lang="en-US" sz="2400" dirty="0">
                <a:solidFill>
                  <a:srgbClr val="EEF3F9">
                    <a:alpha val="98000"/>
                  </a:srgbClr>
                </a:solidFill>
                <a:latin typeface="Arial" pitchFamily="34" charset="0"/>
                <a:ea typeface="Arial" pitchFamily="34" charset="-122"/>
                <a:cs typeface="Arial" pitchFamily="34" charset="-120"/>
              </a:rPr>
              <a:t>Dimensionner au juste besoin plutôt que sur-provisionner</a:t>
            </a:r>
            <a:endParaRPr lang="en-US" sz="2400" dirty="0"/>
          </a:p>
        </p:txBody>
      </p:sp>
      <p:sp>
        <p:nvSpPr>
          <p:cNvPr id="12" name="Text 10"/>
          <p:cNvSpPr/>
          <p:nvPr/>
        </p:nvSpPr>
        <p:spPr>
          <a:xfrm>
            <a:off x="1058801" y="6538615"/>
            <a:ext cx="276027" cy="400050"/>
          </a:xfrm>
          <a:prstGeom prst="rect">
            <a:avLst/>
          </a:prstGeom>
          <a:noFill/>
          <a:ln/>
        </p:spPr>
        <p:txBody>
          <a:bodyPr wrap="square" lIns="25400" tIns="25400" rIns="25400" bIns="25400" rtlCol="0" anchor="t">
            <a:normAutofit/>
          </a:bodyPr>
          <a:lstStyle/>
          <a:p>
            <a:pPr algn="l" indent="0" marL="0">
              <a:buNone/>
            </a:pPr>
            <a:r>
              <a:rPr lang="en-US" sz="2100" dirty="0">
                <a:solidFill>
                  <a:srgbClr val="56DBDB">
                    <a:alpha val="97000"/>
                  </a:srgbClr>
                </a:solidFill>
                <a:latin typeface="Arial" pitchFamily="34" charset="0"/>
                <a:ea typeface="Arial" pitchFamily="34" charset="-122"/>
                <a:cs typeface="Arial" pitchFamily="34" charset="-120"/>
              </a:rPr>
              <a:t>✓</a:t>
            </a:r>
            <a:endParaRPr lang="en-US" sz="2100" dirty="0"/>
          </a:p>
        </p:txBody>
      </p:sp>
      <p:sp>
        <p:nvSpPr>
          <p:cNvPr id="13" name="Text 11"/>
          <p:cNvSpPr/>
          <p:nvPr/>
        </p:nvSpPr>
        <p:spPr>
          <a:xfrm>
            <a:off x="1449128" y="6538615"/>
            <a:ext cx="7721265" cy="861020"/>
          </a:xfrm>
          <a:prstGeom prst="rect">
            <a:avLst/>
          </a:prstGeom>
          <a:noFill/>
          <a:ln/>
        </p:spPr>
        <p:txBody>
          <a:bodyPr wrap="square" lIns="25400" tIns="25400" rIns="25400" bIns="25400" rtlCol="0" anchor="t">
            <a:normAutofit/>
          </a:bodyPr>
          <a:lstStyle/>
          <a:p>
            <a:pPr algn="l" indent="0" marL="0">
              <a:lnSpc>
                <a:spcPct val="117818"/>
              </a:lnSpc>
              <a:buNone/>
            </a:pPr>
            <a:r>
              <a:rPr lang="en-US" sz="2400" dirty="0">
                <a:solidFill>
                  <a:srgbClr val="EEF3F9">
                    <a:alpha val="97000"/>
                  </a:srgbClr>
                </a:solidFill>
                <a:latin typeface="Arial" pitchFamily="34" charset="0"/>
                <a:ea typeface="Arial" pitchFamily="34" charset="-122"/>
                <a:cs typeface="Arial" pitchFamily="34" charset="-120"/>
              </a:rPr>
              <a:t>Automatiser via des Steps pour limiter le temps de cluster actif</a:t>
            </a:r>
            <a:endParaRPr lang="en-US" sz="2400" dirty="0"/>
          </a:p>
        </p:txBody>
      </p:sp>
      <p:sp>
        <p:nvSpPr>
          <p:cNvPr id="14" name="Text 12"/>
          <p:cNvSpPr/>
          <p:nvPr/>
        </p:nvSpPr>
        <p:spPr>
          <a:xfrm>
            <a:off x="9319624" y="6538615"/>
            <a:ext cx="235744" cy="387350"/>
          </a:xfrm>
          <a:prstGeom prst="rect">
            <a:avLst/>
          </a:prstGeom>
          <a:noFill/>
          <a:ln/>
        </p:spPr>
        <p:txBody>
          <a:bodyPr wrap="square" lIns="25400" tIns="25400" rIns="25400" bIns="25400" rtlCol="0" anchor="t">
            <a:normAutofit/>
          </a:bodyPr>
          <a:lstStyle/>
          <a:p>
            <a:pPr algn="l" indent="0" marL="0">
              <a:buNone/>
            </a:pPr>
            <a:r>
              <a:rPr lang="en-US" sz="2100" dirty="0">
                <a:solidFill>
                  <a:srgbClr val="FFB46E">
                    <a:alpha val="94000"/>
                  </a:srgbClr>
                </a:solidFill>
                <a:latin typeface="Arial" pitchFamily="34" charset="0"/>
                <a:ea typeface="Arial" pitchFamily="34" charset="-122"/>
                <a:cs typeface="Arial" pitchFamily="34" charset="-120"/>
              </a:rPr>
              <a:t>$</a:t>
            </a:r>
            <a:endParaRPr lang="en-US" sz="2100" dirty="0"/>
          </a:p>
        </p:txBody>
      </p:sp>
      <p:sp>
        <p:nvSpPr>
          <p:cNvPr id="15" name="Text 13"/>
          <p:cNvSpPr/>
          <p:nvPr/>
        </p:nvSpPr>
        <p:spPr>
          <a:xfrm>
            <a:off x="9669667" y="6538615"/>
            <a:ext cx="7762756" cy="861020"/>
          </a:xfrm>
          <a:prstGeom prst="rect">
            <a:avLst/>
          </a:prstGeom>
          <a:noFill/>
          <a:ln/>
        </p:spPr>
        <p:txBody>
          <a:bodyPr wrap="square" lIns="25400" tIns="25400" rIns="25400" bIns="25400" rtlCol="0" anchor="t">
            <a:normAutofit/>
          </a:bodyPr>
          <a:lstStyle/>
          <a:p>
            <a:pPr algn="l" indent="0" marL="0">
              <a:lnSpc>
                <a:spcPct val="117818"/>
              </a:lnSpc>
              <a:buNone/>
            </a:pPr>
            <a:r>
              <a:rPr lang="en-US" sz="2400" dirty="0">
                <a:solidFill>
                  <a:srgbClr val="EEF3F9">
                    <a:alpha val="94000"/>
                  </a:srgbClr>
                </a:solidFill>
                <a:latin typeface="Arial" pitchFamily="34" charset="0"/>
                <a:ea typeface="Arial" pitchFamily="34" charset="-122"/>
                <a:cs typeface="Arial" pitchFamily="34" charset="-120"/>
              </a:rPr>
              <a:t>Facturation : EC2 + surcoût EMR à l'heure ; S3 facturé séparément</a:t>
            </a:r>
            <a:endParaRPr lang="en-US" sz="24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0C121C"/>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57DADA">
                  <a:alpha val="16000"/>
                </a:srgbClr>
              </a:gs>
              <a:gs pos="60000">
                <a:srgbClr val="57DADA">
                  <a:alpha val="0"/>
                </a:srgbClr>
              </a:gs>
            </a:gsLst>
            <a:path path="circle">
              <a:fillToRect l="78000" t="12000" r="22000" b="88000"/>
            </a:path>
          </a:gradFill>
          <a:ln/>
        </p:spPr>
      </p:sp>
      <p:sp>
        <p:nvSpPr>
          <p:cNvPr id="3" name="Shape 1"/>
          <p:cNvSpPr/>
          <p:nvPr/>
        </p:nvSpPr>
        <p:spPr>
          <a:xfrm>
            <a:off x="1066800" y="819150"/>
            <a:ext cx="419100" cy="419100"/>
          </a:xfrm>
          <a:prstGeom prst="roundRect">
            <a:avLst>
              <a:gd name="adj" fmla="val 27273"/>
            </a:avLst>
          </a:prstGeom>
          <a:ln w="19050">
            <a:solidFill>
              <a:srgbClr val="56DBDB">
                <a:alpha val="97000"/>
              </a:srgbClr>
            </a:solidFill>
            <a:prstDash val="solid"/>
          </a:ln>
        </p:spPr>
      </p:sp>
      <p:sp>
        <p:nvSpPr>
          <p:cNvPr id="4" name="Text 2"/>
          <p:cNvSpPr/>
          <p:nvPr/>
        </p:nvSpPr>
        <p:spPr>
          <a:xfrm>
            <a:off x="1047750" y="838200"/>
            <a:ext cx="457200" cy="419100"/>
          </a:xfrm>
          <a:prstGeom prst="rect">
            <a:avLst/>
          </a:prstGeom>
          <a:noFill/>
          <a:ln/>
        </p:spPr>
        <p:txBody>
          <a:bodyPr wrap="square" lIns="25400" tIns="25400" rIns="25400" bIns="25400" rtlCol="0" anchor="ctr">
            <a:normAutofit/>
          </a:bodyPr>
          <a:lstStyle/>
          <a:p>
            <a:pPr algn="ctr" indent="0" marL="0">
              <a:buNone/>
            </a:pPr>
            <a:r>
              <a:rPr lang="en-US" sz="1950" spc="432" kern="0" dirty="0">
                <a:solidFill>
                  <a:srgbClr val="56DBDB">
                    <a:alpha val="97000"/>
                  </a:srgbClr>
                </a:solidFill>
                <a:latin typeface="Courier New" pitchFamily="34" charset="0"/>
                <a:ea typeface="Courier New" pitchFamily="34" charset="-122"/>
                <a:cs typeface="Courier New" pitchFamily="34" charset="-120"/>
              </a:rPr>
              <a:t>?</a:t>
            </a:r>
            <a:endParaRPr lang="en-US" sz="1950" dirty="0"/>
          </a:p>
        </p:txBody>
      </p:sp>
      <p:sp>
        <p:nvSpPr>
          <p:cNvPr id="5" name="Text 3"/>
          <p:cNvSpPr/>
          <p:nvPr/>
        </p:nvSpPr>
        <p:spPr>
          <a:xfrm>
            <a:off x="1638300" y="876300"/>
            <a:ext cx="3362430" cy="342900"/>
          </a:xfrm>
          <a:prstGeom prst="rect">
            <a:avLst/>
          </a:prstGeom>
          <a:noFill/>
          <a:ln/>
        </p:spPr>
        <p:txBody>
          <a:bodyPr wrap="square" lIns="0" tIns="0" rIns="0" bIns="0" rtlCol="0" anchor="t">
            <a:normAutofit/>
          </a:bodyPr>
          <a:lstStyle/>
          <a:p>
            <a:pPr algn="l" indent="0" marL="0">
              <a:buNone/>
            </a:pPr>
            <a:r>
              <a:rPr lang="en-US" sz="1800" spc="432" kern="0" dirty="0">
                <a:solidFill>
                  <a:srgbClr val="56DBDB">
                    <a:alpha val="97000"/>
                  </a:srgbClr>
                </a:solidFill>
                <a:latin typeface="Courier New" pitchFamily="34" charset="0"/>
                <a:ea typeface="Courier New" pitchFamily="34" charset="-122"/>
                <a:cs typeface="Courier New" pitchFamily="34" charset="-120"/>
              </a:rPr>
              <a:t>QUIZ · ATELIER 07</a:t>
            </a:r>
            <a:endParaRPr lang="en-US" sz="1800" dirty="0"/>
          </a:p>
        </p:txBody>
      </p:sp>
      <p:sp>
        <p:nvSpPr>
          <p:cNvPr id="6" name="Text 4"/>
          <p:cNvSpPr/>
          <p:nvPr/>
        </p:nvSpPr>
        <p:spPr>
          <a:xfrm>
            <a:off x="1066800" y="1428751"/>
            <a:ext cx="9079236" cy="1305917"/>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Quel est le principal intérêt d'Amazon EMR ?</a:t>
            </a:r>
            <a:endParaRPr lang="en-US" sz="4800" dirty="0"/>
          </a:p>
        </p:txBody>
      </p:sp>
      <p:sp>
        <p:nvSpPr>
          <p:cNvPr id="7" name="Shape 5"/>
          <p:cNvSpPr/>
          <p:nvPr/>
        </p:nvSpPr>
        <p:spPr>
          <a:xfrm>
            <a:off x="1066800" y="3194017"/>
            <a:ext cx="11430000" cy="850900"/>
          </a:xfrm>
          <a:prstGeom prst="roundRect">
            <a:avLst>
              <a:gd name="adj" fmla="val 15672"/>
            </a:avLst>
          </a:prstGeom>
          <a:solidFill>
            <a:srgbClr val="FFFFFF">
              <a:alpha val="3000"/>
            </a:srgbClr>
          </a:solidFill>
          <a:ln w="6350">
            <a:solidFill>
              <a:srgbClr val="FFFFFF">
                <a:alpha val="10000"/>
              </a:srgbClr>
            </a:solidFill>
            <a:prstDash val="solid"/>
          </a:ln>
        </p:spPr>
      </p:sp>
      <p:sp>
        <p:nvSpPr>
          <p:cNvPr id="8" name="Shape 6"/>
          <p:cNvSpPr/>
          <p:nvPr/>
        </p:nvSpPr>
        <p:spPr>
          <a:xfrm>
            <a:off x="1358900" y="3428967"/>
            <a:ext cx="381000" cy="381000"/>
          </a:xfrm>
          <a:prstGeom prst="roundRect">
            <a:avLst>
              <a:gd name="adj" fmla="val 20000"/>
            </a:avLst>
          </a:prstGeom>
          <a:solidFill>
            <a:srgbClr val="FFFFFF">
              <a:alpha val="6000"/>
            </a:srgbClr>
          </a:solidFill>
          <a:ln/>
        </p:spPr>
      </p:sp>
      <p:sp>
        <p:nvSpPr>
          <p:cNvPr id="9" name="Text 7"/>
          <p:cNvSpPr/>
          <p:nvPr/>
        </p:nvSpPr>
        <p:spPr>
          <a:xfrm>
            <a:off x="1320800" y="3428967"/>
            <a:ext cx="457200" cy="419100"/>
          </a:xfrm>
          <a:prstGeom prst="rect">
            <a:avLst/>
          </a:prstGeom>
          <a:noFill/>
          <a:ln/>
        </p:spPr>
        <p:txBody>
          <a:bodyPr wrap="square" lIns="25400" tIns="25400" rIns="25400" bIns="25400" rtlCol="0" anchor="ctr">
            <a:normAutofit/>
          </a:bodyPr>
          <a:lstStyle/>
          <a:p>
            <a:pPr algn="ctr" indent="0" marL="0">
              <a:buNone/>
            </a:pPr>
            <a:r>
              <a:rPr lang="en-US" sz="2175" b="1" dirty="0">
                <a:solidFill>
                  <a:srgbClr val="8EA0B5">
                    <a:alpha val="99000"/>
                  </a:srgbClr>
                </a:solidFill>
                <a:latin typeface="Arial" pitchFamily="34" charset="0"/>
                <a:ea typeface="Arial" pitchFamily="34" charset="-122"/>
                <a:cs typeface="Arial" pitchFamily="34" charset="-120"/>
              </a:rPr>
              <a:t>A</a:t>
            </a:r>
            <a:endParaRPr lang="en-US" sz="2175" dirty="0"/>
          </a:p>
        </p:txBody>
      </p:sp>
      <p:sp>
        <p:nvSpPr>
          <p:cNvPr id="10" name="Text 8"/>
          <p:cNvSpPr/>
          <p:nvPr/>
        </p:nvSpPr>
        <p:spPr>
          <a:xfrm>
            <a:off x="1930400" y="3438492"/>
            <a:ext cx="2931845" cy="400050"/>
          </a:xfrm>
          <a:prstGeom prst="rect">
            <a:avLst/>
          </a:prstGeom>
          <a:noFill/>
          <a:ln/>
        </p:spPr>
        <p:txBody>
          <a:bodyPr wrap="square" lIns="25400" tIns="25400" rIns="25400" bIns="25400" rtlCol="0" anchor="t">
            <a:normAutofit/>
          </a:bodyPr>
          <a:lstStyle/>
          <a:p>
            <a:pPr algn="l" indent="0" marL="0">
              <a:buNone/>
            </a:pPr>
            <a:r>
              <a:rPr lang="en-US" sz="2175" dirty="0">
                <a:solidFill>
                  <a:srgbClr val="8EA0B5">
                    <a:alpha val="99000"/>
                  </a:srgbClr>
                </a:solidFill>
                <a:latin typeface="Arial" pitchFamily="34" charset="0"/>
                <a:ea typeface="Arial" pitchFamily="34" charset="-122"/>
                <a:cs typeface="Arial" pitchFamily="34" charset="-120"/>
              </a:rPr>
              <a:t>Héberger un site Web</a:t>
            </a:r>
            <a:endParaRPr lang="en-US" sz="2175" dirty="0"/>
          </a:p>
        </p:txBody>
      </p:sp>
      <p:sp>
        <p:nvSpPr>
          <p:cNvPr id="11" name="Shape 9"/>
          <p:cNvSpPr/>
          <p:nvPr/>
        </p:nvSpPr>
        <p:spPr>
          <a:xfrm>
            <a:off x="1066800" y="4216368"/>
            <a:ext cx="11430000" cy="1193800"/>
          </a:xfrm>
          <a:prstGeom prst="roundRect">
            <a:avLst>
              <a:gd name="adj" fmla="val 11170"/>
            </a:avLst>
          </a:prstGeom>
          <a:solidFill>
            <a:srgbClr val="FFFFFF">
              <a:alpha val="3000"/>
            </a:srgbClr>
          </a:solidFill>
          <a:ln w="6350">
            <a:solidFill>
              <a:srgbClr val="FFFFFF">
                <a:alpha val="10000"/>
              </a:srgbClr>
            </a:solidFill>
            <a:prstDash val="solid"/>
          </a:ln>
        </p:spPr>
      </p:sp>
      <p:sp>
        <p:nvSpPr>
          <p:cNvPr id="12" name="Shape 10"/>
          <p:cNvSpPr/>
          <p:nvPr/>
        </p:nvSpPr>
        <p:spPr>
          <a:xfrm>
            <a:off x="1358900" y="4622768"/>
            <a:ext cx="291604" cy="381000"/>
          </a:xfrm>
          <a:prstGeom prst="roundRect">
            <a:avLst>
              <a:gd name="adj" fmla="val 26131"/>
            </a:avLst>
          </a:prstGeom>
          <a:solidFill>
            <a:srgbClr val="FFFFFF">
              <a:alpha val="6000"/>
            </a:srgbClr>
          </a:solidFill>
          <a:ln/>
        </p:spPr>
      </p:sp>
      <p:sp>
        <p:nvSpPr>
          <p:cNvPr id="13" name="Text 11"/>
          <p:cNvSpPr/>
          <p:nvPr/>
        </p:nvSpPr>
        <p:spPr>
          <a:xfrm>
            <a:off x="1320800" y="4622768"/>
            <a:ext cx="367804" cy="419100"/>
          </a:xfrm>
          <a:prstGeom prst="rect">
            <a:avLst/>
          </a:prstGeom>
          <a:noFill/>
          <a:ln/>
        </p:spPr>
        <p:txBody>
          <a:bodyPr wrap="square" lIns="25400" tIns="25400" rIns="25400" bIns="25400" rtlCol="0" anchor="ctr">
            <a:normAutofit/>
          </a:bodyPr>
          <a:lstStyle/>
          <a:p>
            <a:pPr algn="ctr" indent="0" marL="0">
              <a:buNone/>
            </a:pPr>
            <a:r>
              <a:rPr lang="en-US" sz="2175" b="1" dirty="0">
                <a:solidFill>
                  <a:srgbClr val="8EA0B5">
                    <a:alpha val="99000"/>
                  </a:srgbClr>
                </a:solidFill>
                <a:latin typeface="Arial" pitchFamily="34" charset="0"/>
                <a:ea typeface="Arial" pitchFamily="34" charset="-122"/>
                <a:cs typeface="Arial" pitchFamily="34" charset="-120"/>
              </a:rPr>
              <a:t>B</a:t>
            </a:r>
            <a:endParaRPr lang="en-US" sz="2175" dirty="0"/>
          </a:p>
        </p:txBody>
      </p:sp>
      <p:sp>
        <p:nvSpPr>
          <p:cNvPr id="14" name="Text 12"/>
          <p:cNvSpPr/>
          <p:nvPr/>
        </p:nvSpPr>
        <p:spPr>
          <a:xfrm>
            <a:off x="1841004" y="4451318"/>
            <a:ext cx="10257855" cy="762000"/>
          </a:xfrm>
          <a:prstGeom prst="rect">
            <a:avLst/>
          </a:prstGeom>
          <a:noFill/>
          <a:ln/>
        </p:spPr>
        <p:txBody>
          <a:bodyPr wrap="square" lIns="25400" tIns="25400" rIns="25400" bIns="25400" rtlCol="0" anchor="t">
            <a:normAutofit/>
          </a:bodyPr>
          <a:lstStyle/>
          <a:p>
            <a:pPr algn="l" indent="0" marL="0">
              <a:buNone/>
            </a:pPr>
            <a:r>
              <a:rPr lang="en-US" sz="2175" dirty="0">
                <a:solidFill>
                  <a:srgbClr val="8EA0B5">
                    <a:alpha val="99000"/>
                  </a:srgbClr>
                </a:solidFill>
                <a:latin typeface="Arial" pitchFamily="34" charset="0"/>
                <a:ea typeface="Arial" pitchFamily="34" charset="-122"/>
                <a:cs typeface="Arial" pitchFamily="34" charset="-120"/>
              </a:rPr>
              <a:t>Déployer et gérer un cluster Big Data (Spark, Hadoop, Hive) sans configuration manuelle de chaque nœud</a:t>
            </a:r>
            <a:endParaRPr lang="en-US" sz="2175" dirty="0"/>
          </a:p>
        </p:txBody>
      </p:sp>
      <p:sp>
        <p:nvSpPr>
          <p:cNvPr id="15" name="Text 13"/>
          <p:cNvSpPr/>
          <p:nvPr/>
        </p:nvSpPr>
        <p:spPr>
          <a:xfrm>
            <a:off x="11990587" y="4619592"/>
            <a:ext cx="290314" cy="425450"/>
          </a:xfrm>
          <a:prstGeom prst="rect">
            <a:avLst/>
          </a:prstGeom>
          <a:noFill/>
          <a:ln/>
        </p:spPr>
        <p:txBody>
          <a:bodyPr wrap="square" lIns="25400" tIns="25400" rIns="25400" bIns="25400" rtlCol="0" anchor="t">
            <a:normAutofit/>
          </a:bodyPr>
          <a:lstStyle/>
          <a:p>
            <a:pPr algn="l" indent="0" marL="0">
              <a:buNone/>
            </a:pPr>
            <a:r>
              <a:rPr lang="en-US" sz="2250" dirty="0">
                <a:solidFill>
                  <a:srgbClr val="56DBDB">
                    <a:alpha val="99000"/>
                  </a:srgbClr>
                </a:solidFill>
                <a:latin typeface="Arial" pitchFamily="34" charset="0"/>
                <a:ea typeface="Arial" pitchFamily="34" charset="-122"/>
                <a:cs typeface="Arial" pitchFamily="34" charset="-120"/>
              </a:rPr>
              <a:t>✓</a:t>
            </a:r>
            <a:endParaRPr lang="en-US" sz="2250" dirty="0"/>
          </a:p>
        </p:txBody>
      </p:sp>
      <p:sp>
        <p:nvSpPr>
          <p:cNvPr id="16" name="Shape 14"/>
          <p:cNvSpPr/>
          <p:nvPr/>
        </p:nvSpPr>
        <p:spPr>
          <a:xfrm>
            <a:off x="1066800" y="5581617"/>
            <a:ext cx="11430000" cy="850900"/>
          </a:xfrm>
          <a:prstGeom prst="roundRect">
            <a:avLst>
              <a:gd name="adj" fmla="val 15672"/>
            </a:avLst>
          </a:prstGeom>
          <a:solidFill>
            <a:srgbClr val="FFFFFF">
              <a:alpha val="3000"/>
            </a:srgbClr>
          </a:solidFill>
          <a:ln w="6350">
            <a:solidFill>
              <a:srgbClr val="FFFFFF">
                <a:alpha val="10000"/>
              </a:srgbClr>
            </a:solidFill>
            <a:prstDash val="solid"/>
          </a:ln>
        </p:spPr>
      </p:sp>
      <p:sp>
        <p:nvSpPr>
          <p:cNvPr id="17" name="Shape 15"/>
          <p:cNvSpPr/>
          <p:nvPr/>
        </p:nvSpPr>
        <p:spPr>
          <a:xfrm>
            <a:off x="1358900" y="5816568"/>
            <a:ext cx="381000" cy="381000"/>
          </a:xfrm>
          <a:prstGeom prst="roundRect">
            <a:avLst>
              <a:gd name="adj" fmla="val 20000"/>
            </a:avLst>
          </a:prstGeom>
          <a:solidFill>
            <a:srgbClr val="FFFFFF">
              <a:alpha val="6000"/>
            </a:srgbClr>
          </a:solidFill>
          <a:ln/>
        </p:spPr>
      </p:sp>
      <p:sp>
        <p:nvSpPr>
          <p:cNvPr id="18" name="Text 16"/>
          <p:cNvSpPr/>
          <p:nvPr/>
        </p:nvSpPr>
        <p:spPr>
          <a:xfrm>
            <a:off x="1320800" y="5816568"/>
            <a:ext cx="457200" cy="419100"/>
          </a:xfrm>
          <a:prstGeom prst="rect">
            <a:avLst/>
          </a:prstGeom>
          <a:noFill/>
          <a:ln/>
        </p:spPr>
        <p:txBody>
          <a:bodyPr wrap="square" lIns="25400" tIns="25400" rIns="25400" bIns="25400" rtlCol="0" anchor="ctr">
            <a:normAutofit/>
          </a:bodyPr>
          <a:lstStyle/>
          <a:p>
            <a:pPr algn="ctr" indent="0" marL="0">
              <a:buNone/>
            </a:pPr>
            <a:r>
              <a:rPr lang="en-US" sz="2175" b="1" dirty="0">
                <a:solidFill>
                  <a:srgbClr val="8EA0B5">
                    <a:alpha val="99000"/>
                  </a:srgbClr>
                </a:solidFill>
                <a:latin typeface="Arial" pitchFamily="34" charset="0"/>
                <a:ea typeface="Arial" pitchFamily="34" charset="-122"/>
                <a:cs typeface="Arial" pitchFamily="34" charset="-120"/>
              </a:rPr>
              <a:t>C</a:t>
            </a:r>
            <a:endParaRPr lang="en-US" sz="2175" dirty="0"/>
          </a:p>
        </p:txBody>
      </p:sp>
      <p:sp>
        <p:nvSpPr>
          <p:cNvPr id="19" name="Text 17"/>
          <p:cNvSpPr/>
          <p:nvPr/>
        </p:nvSpPr>
        <p:spPr>
          <a:xfrm>
            <a:off x="1930400" y="5826093"/>
            <a:ext cx="2504341" cy="400050"/>
          </a:xfrm>
          <a:prstGeom prst="rect">
            <a:avLst/>
          </a:prstGeom>
          <a:noFill/>
          <a:ln/>
        </p:spPr>
        <p:txBody>
          <a:bodyPr wrap="square" lIns="25400" tIns="25400" rIns="25400" bIns="25400" rtlCol="0" anchor="t">
            <a:normAutofit/>
          </a:bodyPr>
          <a:lstStyle/>
          <a:p>
            <a:pPr algn="l" indent="0" marL="0">
              <a:buNone/>
            </a:pPr>
            <a:r>
              <a:rPr lang="en-US" sz="2175" dirty="0">
                <a:solidFill>
                  <a:srgbClr val="8EA0B5">
                    <a:alpha val="99000"/>
                  </a:srgbClr>
                </a:solidFill>
                <a:latin typeface="Arial" pitchFamily="34" charset="0"/>
                <a:ea typeface="Arial" pitchFamily="34" charset="-122"/>
                <a:cs typeface="Arial" pitchFamily="34" charset="-120"/>
              </a:rPr>
              <a:t>Remplacer Docker</a:t>
            </a:r>
            <a:endParaRPr lang="en-US" sz="2175" dirty="0"/>
          </a:p>
        </p:txBody>
      </p:sp>
      <p:sp>
        <p:nvSpPr>
          <p:cNvPr id="20" name="Shape 18"/>
          <p:cNvSpPr/>
          <p:nvPr/>
        </p:nvSpPr>
        <p:spPr>
          <a:xfrm>
            <a:off x="1066800" y="6603968"/>
            <a:ext cx="11430000" cy="850900"/>
          </a:xfrm>
          <a:prstGeom prst="roundRect">
            <a:avLst>
              <a:gd name="adj" fmla="val 15672"/>
            </a:avLst>
          </a:prstGeom>
          <a:solidFill>
            <a:srgbClr val="FFFFFF">
              <a:alpha val="3000"/>
            </a:srgbClr>
          </a:solidFill>
          <a:ln w="6350">
            <a:solidFill>
              <a:srgbClr val="FFFFFF">
                <a:alpha val="10000"/>
              </a:srgbClr>
            </a:solidFill>
            <a:prstDash val="solid"/>
          </a:ln>
        </p:spPr>
      </p:sp>
      <p:sp>
        <p:nvSpPr>
          <p:cNvPr id="21" name="Shape 19"/>
          <p:cNvSpPr/>
          <p:nvPr/>
        </p:nvSpPr>
        <p:spPr>
          <a:xfrm>
            <a:off x="1358900" y="6838917"/>
            <a:ext cx="381000" cy="381000"/>
          </a:xfrm>
          <a:prstGeom prst="roundRect">
            <a:avLst>
              <a:gd name="adj" fmla="val 20000"/>
            </a:avLst>
          </a:prstGeom>
          <a:solidFill>
            <a:srgbClr val="FFFFFF">
              <a:alpha val="6000"/>
            </a:srgbClr>
          </a:solidFill>
          <a:ln/>
        </p:spPr>
      </p:sp>
      <p:sp>
        <p:nvSpPr>
          <p:cNvPr id="22" name="Text 20"/>
          <p:cNvSpPr/>
          <p:nvPr/>
        </p:nvSpPr>
        <p:spPr>
          <a:xfrm>
            <a:off x="1320800" y="6838917"/>
            <a:ext cx="457200" cy="419100"/>
          </a:xfrm>
          <a:prstGeom prst="rect">
            <a:avLst/>
          </a:prstGeom>
          <a:noFill/>
          <a:ln/>
        </p:spPr>
        <p:txBody>
          <a:bodyPr wrap="square" lIns="25400" tIns="25400" rIns="25400" bIns="25400" rtlCol="0" anchor="ctr">
            <a:normAutofit/>
          </a:bodyPr>
          <a:lstStyle/>
          <a:p>
            <a:pPr algn="ctr" indent="0" marL="0">
              <a:buNone/>
            </a:pPr>
            <a:r>
              <a:rPr lang="en-US" sz="2175" b="1" dirty="0">
                <a:solidFill>
                  <a:srgbClr val="8EA0B5">
                    <a:alpha val="99000"/>
                  </a:srgbClr>
                </a:solidFill>
                <a:latin typeface="Arial" pitchFamily="34" charset="0"/>
                <a:ea typeface="Arial" pitchFamily="34" charset="-122"/>
                <a:cs typeface="Arial" pitchFamily="34" charset="-120"/>
              </a:rPr>
              <a:t>D</a:t>
            </a:r>
            <a:endParaRPr lang="en-US" sz="2175" dirty="0"/>
          </a:p>
        </p:txBody>
      </p:sp>
      <p:sp>
        <p:nvSpPr>
          <p:cNvPr id="23" name="Text 21"/>
          <p:cNvSpPr/>
          <p:nvPr/>
        </p:nvSpPr>
        <p:spPr>
          <a:xfrm>
            <a:off x="1930400" y="6848442"/>
            <a:ext cx="3619212" cy="400050"/>
          </a:xfrm>
          <a:prstGeom prst="rect">
            <a:avLst/>
          </a:prstGeom>
          <a:noFill/>
          <a:ln/>
        </p:spPr>
        <p:txBody>
          <a:bodyPr wrap="square" lIns="25400" tIns="25400" rIns="25400" bIns="25400" rtlCol="0" anchor="t">
            <a:normAutofit/>
          </a:bodyPr>
          <a:lstStyle/>
          <a:p>
            <a:pPr algn="l" indent="0" marL="0">
              <a:buNone/>
            </a:pPr>
            <a:r>
              <a:rPr lang="en-US" sz="2175" dirty="0">
                <a:solidFill>
                  <a:srgbClr val="8EA0B5">
                    <a:alpha val="99000"/>
                  </a:srgbClr>
                </a:solidFill>
                <a:latin typeface="Arial" pitchFamily="34" charset="0"/>
                <a:ea typeface="Arial" pitchFamily="34" charset="-122"/>
                <a:cs typeface="Arial" pitchFamily="34" charset="-120"/>
              </a:rPr>
              <a:t>Créer des utilisateurs AWS</a:t>
            </a:r>
            <a:endParaRPr lang="en-US" sz="2175"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0C121C"/>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57DADA">
                  <a:alpha val="16000"/>
                </a:srgbClr>
              </a:gs>
              <a:gs pos="60000">
                <a:srgbClr val="57DADA">
                  <a:alpha val="0"/>
                </a:srgbClr>
              </a:gs>
            </a:gsLst>
            <a:path path="circle">
              <a:fillToRect l="78000" t="12000" r="22000" b="88000"/>
            </a:path>
          </a:gradFill>
          <a:ln/>
        </p:spPr>
      </p:sp>
      <p:sp>
        <p:nvSpPr>
          <p:cNvPr id="3" name="Shape 1"/>
          <p:cNvSpPr/>
          <p:nvPr/>
        </p:nvSpPr>
        <p:spPr>
          <a:xfrm>
            <a:off x="1066800" y="819150"/>
            <a:ext cx="419100" cy="419100"/>
          </a:xfrm>
          <a:prstGeom prst="roundRect">
            <a:avLst>
              <a:gd name="adj" fmla="val 27273"/>
            </a:avLst>
          </a:prstGeom>
          <a:ln w="19050">
            <a:solidFill>
              <a:srgbClr val="56DBDB">
                <a:alpha val="97000"/>
              </a:srgbClr>
            </a:solidFill>
            <a:prstDash val="solid"/>
          </a:ln>
        </p:spPr>
      </p:sp>
      <p:sp>
        <p:nvSpPr>
          <p:cNvPr id="4" name="Text 2"/>
          <p:cNvSpPr/>
          <p:nvPr/>
        </p:nvSpPr>
        <p:spPr>
          <a:xfrm>
            <a:off x="1047750" y="838200"/>
            <a:ext cx="457200" cy="419100"/>
          </a:xfrm>
          <a:prstGeom prst="rect">
            <a:avLst/>
          </a:prstGeom>
          <a:noFill/>
          <a:ln/>
        </p:spPr>
        <p:txBody>
          <a:bodyPr wrap="square" lIns="25400" tIns="25400" rIns="25400" bIns="25400" rtlCol="0" anchor="ctr">
            <a:normAutofit/>
          </a:bodyPr>
          <a:lstStyle/>
          <a:p>
            <a:pPr algn="ctr" indent="0" marL="0">
              <a:buNone/>
            </a:pPr>
            <a:r>
              <a:rPr lang="en-US" sz="1950" spc="432" kern="0" dirty="0">
                <a:solidFill>
                  <a:srgbClr val="56DBDB">
                    <a:alpha val="97000"/>
                  </a:srgbClr>
                </a:solidFill>
                <a:latin typeface="Courier New" pitchFamily="34" charset="0"/>
                <a:ea typeface="Courier New" pitchFamily="34" charset="-122"/>
                <a:cs typeface="Courier New" pitchFamily="34" charset="-120"/>
              </a:rPr>
              <a:t>?</a:t>
            </a:r>
            <a:endParaRPr lang="en-US" sz="1950" dirty="0"/>
          </a:p>
        </p:txBody>
      </p:sp>
      <p:sp>
        <p:nvSpPr>
          <p:cNvPr id="5" name="Text 3"/>
          <p:cNvSpPr/>
          <p:nvPr/>
        </p:nvSpPr>
        <p:spPr>
          <a:xfrm>
            <a:off x="1638300" y="876300"/>
            <a:ext cx="4549122" cy="342900"/>
          </a:xfrm>
          <a:prstGeom prst="rect">
            <a:avLst/>
          </a:prstGeom>
          <a:noFill/>
          <a:ln/>
        </p:spPr>
        <p:txBody>
          <a:bodyPr wrap="square" lIns="0" tIns="0" rIns="0" bIns="0" rtlCol="0" anchor="t">
            <a:normAutofit/>
          </a:bodyPr>
          <a:lstStyle/>
          <a:p>
            <a:pPr algn="l" indent="0" marL="0">
              <a:buNone/>
            </a:pPr>
            <a:r>
              <a:rPr lang="en-US" sz="1800" spc="432" kern="0" dirty="0">
                <a:solidFill>
                  <a:srgbClr val="56DBDB">
                    <a:alpha val="97000"/>
                  </a:srgbClr>
                </a:solidFill>
                <a:latin typeface="Courier New" pitchFamily="34" charset="0"/>
                <a:ea typeface="Courier New" pitchFamily="34" charset="-122"/>
                <a:cs typeface="Courier New" pitchFamily="34" charset="-120"/>
              </a:rPr>
              <a:t>CORRECTION · ATELIER 07</a:t>
            </a:r>
            <a:endParaRPr lang="en-US" sz="1800" dirty="0"/>
          </a:p>
        </p:txBody>
      </p:sp>
      <p:sp>
        <p:nvSpPr>
          <p:cNvPr id="6" name="Text 4"/>
          <p:cNvSpPr/>
          <p:nvPr/>
        </p:nvSpPr>
        <p:spPr>
          <a:xfrm>
            <a:off x="1066800" y="1428751"/>
            <a:ext cx="9079236" cy="1305917"/>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Quel est le principal intérêt d'Amazon EMR ?</a:t>
            </a:r>
            <a:endParaRPr lang="en-US" sz="4800" dirty="0"/>
          </a:p>
        </p:txBody>
      </p:sp>
      <p:sp>
        <p:nvSpPr>
          <p:cNvPr id="7" name="Shape 5"/>
          <p:cNvSpPr/>
          <p:nvPr/>
        </p:nvSpPr>
        <p:spPr>
          <a:xfrm>
            <a:off x="1066800" y="3194006"/>
            <a:ext cx="11430000" cy="850900"/>
          </a:xfrm>
          <a:prstGeom prst="roundRect">
            <a:avLst>
              <a:gd name="adj" fmla="val 15672"/>
            </a:avLst>
          </a:prstGeom>
          <a:solidFill>
            <a:srgbClr val="FFFFFF">
              <a:alpha val="3000"/>
            </a:srgbClr>
          </a:solidFill>
          <a:ln w="6350">
            <a:solidFill>
              <a:srgbClr val="FFFFFF">
                <a:alpha val="10000"/>
              </a:srgbClr>
            </a:solidFill>
            <a:prstDash val="solid"/>
          </a:ln>
        </p:spPr>
      </p:sp>
      <p:sp>
        <p:nvSpPr>
          <p:cNvPr id="8" name="Shape 6"/>
          <p:cNvSpPr/>
          <p:nvPr/>
        </p:nvSpPr>
        <p:spPr>
          <a:xfrm>
            <a:off x="1358900" y="3428956"/>
            <a:ext cx="381000" cy="381000"/>
          </a:xfrm>
          <a:prstGeom prst="roundRect">
            <a:avLst>
              <a:gd name="adj" fmla="val 20000"/>
            </a:avLst>
          </a:prstGeom>
          <a:solidFill>
            <a:srgbClr val="FFFFFF">
              <a:alpha val="6000"/>
            </a:srgbClr>
          </a:solidFill>
          <a:ln/>
        </p:spPr>
      </p:sp>
      <p:sp>
        <p:nvSpPr>
          <p:cNvPr id="9" name="Text 7"/>
          <p:cNvSpPr/>
          <p:nvPr/>
        </p:nvSpPr>
        <p:spPr>
          <a:xfrm>
            <a:off x="1320800" y="3428956"/>
            <a:ext cx="457200" cy="419100"/>
          </a:xfrm>
          <a:prstGeom prst="rect">
            <a:avLst/>
          </a:prstGeom>
          <a:noFill/>
          <a:ln/>
        </p:spPr>
        <p:txBody>
          <a:bodyPr wrap="square" lIns="25400" tIns="25400" rIns="25400" bIns="25400" rtlCol="0" anchor="ctr">
            <a:normAutofit/>
          </a:bodyPr>
          <a:lstStyle/>
          <a:p>
            <a:pPr algn="ctr" indent="0" marL="0">
              <a:buNone/>
            </a:pPr>
            <a:r>
              <a:rPr lang="en-US" sz="2175" b="1" dirty="0">
                <a:solidFill>
                  <a:srgbClr val="8EA0B5">
                    <a:alpha val="99000"/>
                  </a:srgbClr>
                </a:solidFill>
                <a:latin typeface="Arial" pitchFamily="34" charset="0"/>
                <a:ea typeface="Arial" pitchFamily="34" charset="-122"/>
                <a:cs typeface="Arial" pitchFamily="34" charset="-120"/>
              </a:rPr>
              <a:t>A</a:t>
            </a:r>
            <a:endParaRPr lang="en-US" sz="2175" dirty="0"/>
          </a:p>
        </p:txBody>
      </p:sp>
      <p:sp>
        <p:nvSpPr>
          <p:cNvPr id="10" name="Text 8"/>
          <p:cNvSpPr/>
          <p:nvPr/>
        </p:nvSpPr>
        <p:spPr>
          <a:xfrm>
            <a:off x="1930400" y="3438481"/>
            <a:ext cx="2931845" cy="400050"/>
          </a:xfrm>
          <a:prstGeom prst="rect">
            <a:avLst/>
          </a:prstGeom>
          <a:noFill/>
          <a:ln/>
        </p:spPr>
        <p:txBody>
          <a:bodyPr wrap="square" lIns="25400" tIns="25400" rIns="25400" bIns="25400" rtlCol="0" anchor="t">
            <a:normAutofit/>
          </a:bodyPr>
          <a:lstStyle/>
          <a:p>
            <a:pPr algn="l" indent="0" marL="0">
              <a:buNone/>
            </a:pPr>
            <a:r>
              <a:rPr lang="en-US" sz="2175" dirty="0">
                <a:solidFill>
                  <a:srgbClr val="8EA0B5">
                    <a:alpha val="99000"/>
                  </a:srgbClr>
                </a:solidFill>
                <a:latin typeface="Arial" pitchFamily="34" charset="0"/>
                <a:ea typeface="Arial" pitchFamily="34" charset="-122"/>
                <a:cs typeface="Arial" pitchFamily="34" charset="-120"/>
              </a:rPr>
              <a:t>Héberger un site Web</a:t>
            </a:r>
            <a:endParaRPr lang="en-US" sz="2175" dirty="0"/>
          </a:p>
        </p:txBody>
      </p:sp>
      <p:sp>
        <p:nvSpPr>
          <p:cNvPr id="11" name="Shape 9"/>
          <p:cNvSpPr/>
          <p:nvPr/>
        </p:nvSpPr>
        <p:spPr>
          <a:xfrm>
            <a:off x="1066800" y="4216356"/>
            <a:ext cx="11430000" cy="1193800"/>
          </a:xfrm>
          <a:prstGeom prst="roundRect">
            <a:avLst>
              <a:gd name="adj" fmla="val 11170"/>
            </a:avLst>
          </a:prstGeom>
          <a:gradFill rotWithShape="1">
            <a:gsLst>
              <a:gs pos="0">
                <a:srgbClr val="55DCDC">
                  <a:alpha val="20000"/>
                </a:srgbClr>
              </a:gs>
              <a:gs pos="100000">
                <a:srgbClr val="FFFFFF">
                  <a:alpha val="3000"/>
                </a:srgbClr>
              </a:gs>
            </a:gsLst>
            <a:lin ang="4200000" scaled="0"/>
          </a:gradFill>
          <a:ln w="6350">
            <a:solidFill>
              <a:srgbClr val="73E0E0">
                <a:alpha val="47000"/>
              </a:srgbClr>
            </a:solidFill>
            <a:prstDash val="solid"/>
          </a:ln>
        </p:spPr>
      </p:sp>
      <p:sp>
        <p:nvSpPr>
          <p:cNvPr id="12" name="Shape 10"/>
          <p:cNvSpPr/>
          <p:nvPr/>
        </p:nvSpPr>
        <p:spPr>
          <a:xfrm>
            <a:off x="1358900" y="4622756"/>
            <a:ext cx="291604" cy="381000"/>
          </a:xfrm>
          <a:prstGeom prst="roundRect">
            <a:avLst>
              <a:gd name="adj" fmla="val 26131"/>
            </a:avLst>
          </a:prstGeom>
          <a:solidFill>
            <a:srgbClr val="56DBDB">
              <a:alpha val="99000"/>
            </a:srgbClr>
          </a:solidFill>
          <a:ln/>
        </p:spPr>
      </p:sp>
      <p:sp>
        <p:nvSpPr>
          <p:cNvPr id="13" name="Text 11"/>
          <p:cNvSpPr/>
          <p:nvPr/>
        </p:nvSpPr>
        <p:spPr>
          <a:xfrm>
            <a:off x="1320800" y="4622756"/>
            <a:ext cx="367804" cy="419100"/>
          </a:xfrm>
          <a:prstGeom prst="rect">
            <a:avLst/>
          </a:prstGeom>
          <a:noFill/>
          <a:ln/>
        </p:spPr>
        <p:txBody>
          <a:bodyPr wrap="square" lIns="25400" tIns="25400" rIns="25400" bIns="25400" rtlCol="0" anchor="ctr">
            <a:normAutofit/>
          </a:bodyPr>
          <a:lstStyle/>
          <a:p>
            <a:pPr algn="ctr" indent="0" marL="0">
              <a:buNone/>
            </a:pPr>
            <a:r>
              <a:rPr lang="en-US" sz="2175" b="1" dirty="0">
                <a:solidFill>
                  <a:srgbClr val="04070C">
                    <a:alpha val="99000"/>
                  </a:srgbClr>
                </a:solidFill>
                <a:latin typeface="Arial" pitchFamily="34" charset="0"/>
                <a:ea typeface="Arial" pitchFamily="34" charset="-122"/>
                <a:cs typeface="Arial" pitchFamily="34" charset="-120"/>
              </a:rPr>
              <a:t>B</a:t>
            </a:r>
            <a:endParaRPr lang="en-US" sz="2175" dirty="0"/>
          </a:p>
        </p:txBody>
      </p:sp>
      <p:sp>
        <p:nvSpPr>
          <p:cNvPr id="14" name="Text 12"/>
          <p:cNvSpPr/>
          <p:nvPr/>
        </p:nvSpPr>
        <p:spPr>
          <a:xfrm>
            <a:off x="1841004" y="4451306"/>
            <a:ext cx="10257855" cy="762000"/>
          </a:xfrm>
          <a:prstGeom prst="rect">
            <a:avLst/>
          </a:prstGeom>
          <a:noFill/>
          <a:ln/>
        </p:spPr>
        <p:txBody>
          <a:bodyPr wrap="square" lIns="25400" tIns="25400" rIns="25400" bIns="25400" rtlCol="0" anchor="t">
            <a:normAutofit/>
          </a:bodyPr>
          <a:lstStyle/>
          <a:p>
            <a:pPr algn="l" indent="0" marL="0">
              <a:buNone/>
            </a:pPr>
            <a:r>
              <a:rPr lang="en-US" sz="2175" dirty="0">
                <a:solidFill>
                  <a:srgbClr val="EEF3F9">
                    <a:alpha val="99000"/>
                  </a:srgbClr>
                </a:solidFill>
                <a:latin typeface="Arial" pitchFamily="34" charset="0"/>
                <a:ea typeface="Arial" pitchFamily="34" charset="-122"/>
                <a:cs typeface="Arial" pitchFamily="34" charset="-120"/>
              </a:rPr>
              <a:t>Déployer et gérer un cluster Big Data (Spark, Hadoop, Hive) sans configuration manuelle de chaque nœud</a:t>
            </a:r>
            <a:endParaRPr lang="en-US" sz="2175" dirty="0"/>
          </a:p>
        </p:txBody>
      </p:sp>
      <p:sp>
        <p:nvSpPr>
          <p:cNvPr id="15" name="Text 13"/>
          <p:cNvSpPr/>
          <p:nvPr/>
        </p:nvSpPr>
        <p:spPr>
          <a:xfrm>
            <a:off x="11990587" y="4619581"/>
            <a:ext cx="290314" cy="425450"/>
          </a:xfrm>
          <a:prstGeom prst="rect">
            <a:avLst/>
          </a:prstGeom>
          <a:noFill/>
          <a:ln/>
        </p:spPr>
        <p:txBody>
          <a:bodyPr wrap="square" lIns="25400" tIns="25400" rIns="25400" bIns="25400" rtlCol="0" anchor="t">
            <a:normAutofit/>
          </a:bodyPr>
          <a:lstStyle/>
          <a:p>
            <a:pPr algn="l" indent="0" marL="0">
              <a:buNone/>
            </a:pPr>
            <a:r>
              <a:rPr lang="en-US" sz="2250" dirty="0">
                <a:solidFill>
                  <a:srgbClr val="56DBDB">
                    <a:alpha val="99000"/>
                  </a:srgbClr>
                </a:solidFill>
                <a:latin typeface="Arial" pitchFamily="34" charset="0"/>
                <a:ea typeface="Arial" pitchFamily="34" charset="-122"/>
                <a:cs typeface="Arial" pitchFamily="34" charset="-120"/>
              </a:rPr>
              <a:t>✓</a:t>
            </a:r>
            <a:endParaRPr lang="en-US" sz="2250" dirty="0"/>
          </a:p>
        </p:txBody>
      </p:sp>
      <p:sp>
        <p:nvSpPr>
          <p:cNvPr id="16" name="Shape 14"/>
          <p:cNvSpPr/>
          <p:nvPr/>
        </p:nvSpPr>
        <p:spPr>
          <a:xfrm>
            <a:off x="1066800" y="5581606"/>
            <a:ext cx="11430000" cy="850900"/>
          </a:xfrm>
          <a:prstGeom prst="roundRect">
            <a:avLst>
              <a:gd name="adj" fmla="val 15672"/>
            </a:avLst>
          </a:prstGeom>
          <a:solidFill>
            <a:srgbClr val="FFFFFF">
              <a:alpha val="3000"/>
            </a:srgbClr>
          </a:solidFill>
          <a:ln w="6350">
            <a:solidFill>
              <a:srgbClr val="FFFFFF">
                <a:alpha val="10000"/>
              </a:srgbClr>
            </a:solidFill>
            <a:prstDash val="solid"/>
          </a:ln>
        </p:spPr>
      </p:sp>
      <p:sp>
        <p:nvSpPr>
          <p:cNvPr id="17" name="Shape 15"/>
          <p:cNvSpPr/>
          <p:nvPr/>
        </p:nvSpPr>
        <p:spPr>
          <a:xfrm>
            <a:off x="1358900" y="5816557"/>
            <a:ext cx="381000" cy="381000"/>
          </a:xfrm>
          <a:prstGeom prst="roundRect">
            <a:avLst>
              <a:gd name="adj" fmla="val 20000"/>
            </a:avLst>
          </a:prstGeom>
          <a:solidFill>
            <a:srgbClr val="FFFFFF">
              <a:alpha val="6000"/>
            </a:srgbClr>
          </a:solidFill>
          <a:ln/>
        </p:spPr>
      </p:sp>
      <p:sp>
        <p:nvSpPr>
          <p:cNvPr id="18" name="Text 16"/>
          <p:cNvSpPr/>
          <p:nvPr/>
        </p:nvSpPr>
        <p:spPr>
          <a:xfrm>
            <a:off x="1320800" y="5816557"/>
            <a:ext cx="457200" cy="419100"/>
          </a:xfrm>
          <a:prstGeom prst="rect">
            <a:avLst/>
          </a:prstGeom>
          <a:noFill/>
          <a:ln/>
        </p:spPr>
        <p:txBody>
          <a:bodyPr wrap="square" lIns="25400" tIns="25400" rIns="25400" bIns="25400" rtlCol="0" anchor="ctr">
            <a:normAutofit/>
          </a:bodyPr>
          <a:lstStyle/>
          <a:p>
            <a:pPr algn="ctr" indent="0" marL="0">
              <a:buNone/>
            </a:pPr>
            <a:r>
              <a:rPr lang="en-US" sz="2175" b="1" dirty="0">
                <a:solidFill>
                  <a:srgbClr val="8EA0B5">
                    <a:alpha val="99000"/>
                  </a:srgbClr>
                </a:solidFill>
                <a:latin typeface="Arial" pitchFamily="34" charset="0"/>
                <a:ea typeface="Arial" pitchFamily="34" charset="-122"/>
                <a:cs typeface="Arial" pitchFamily="34" charset="-120"/>
              </a:rPr>
              <a:t>C</a:t>
            </a:r>
            <a:endParaRPr lang="en-US" sz="2175" dirty="0"/>
          </a:p>
        </p:txBody>
      </p:sp>
      <p:sp>
        <p:nvSpPr>
          <p:cNvPr id="19" name="Text 17"/>
          <p:cNvSpPr/>
          <p:nvPr/>
        </p:nvSpPr>
        <p:spPr>
          <a:xfrm>
            <a:off x="1930400" y="5826082"/>
            <a:ext cx="2504341" cy="400050"/>
          </a:xfrm>
          <a:prstGeom prst="rect">
            <a:avLst/>
          </a:prstGeom>
          <a:noFill/>
          <a:ln/>
        </p:spPr>
        <p:txBody>
          <a:bodyPr wrap="square" lIns="25400" tIns="25400" rIns="25400" bIns="25400" rtlCol="0" anchor="t">
            <a:normAutofit/>
          </a:bodyPr>
          <a:lstStyle/>
          <a:p>
            <a:pPr algn="l" indent="0" marL="0">
              <a:buNone/>
            </a:pPr>
            <a:r>
              <a:rPr lang="en-US" sz="2175" dirty="0">
                <a:solidFill>
                  <a:srgbClr val="8EA0B5">
                    <a:alpha val="99000"/>
                  </a:srgbClr>
                </a:solidFill>
                <a:latin typeface="Arial" pitchFamily="34" charset="0"/>
                <a:ea typeface="Arial" pitchFamily="34" charset="-122"/>
                <a:cs typeface="Arial" pitchFamily="34" charset="-120"/>
              </a:rPr>
              <a:t>Remplacer Docker</a:t>
            </a:r>
            <a:endParaRPr lang="en-US" sz="2175" dirty="0"/>
          </a:p>
        </p:txBody>
      </p:sp>
      <p:sp>
        <p:nvSpPr>
          <p:cNvPr id="20" name="Shape 18"/>
          <p:cNvSpPr/>
          <p:nvPr/>
        </p:nvSpPr>
        <p:spPr>
          <a:xfrm>
            <a:off x="1066800" y="6603957"/>
            <a:ext cx="11430000" cy="850900"/>
          </a:xfrm>
          <a:prstGeom prst="roundRect">
            <a:avLst>
              <a:gd name="adj" fmla="val 15672"/>
            </a:avLst>
          </a:prstGeom>
          <a:solidFill>
            <a:srgbClr val="FFFFFF">
              <a:alpha val="3000"/>
            </a:srgbClr>
          </a:solidFill>
          <a:ln w="6350">
            <a:solidFill>
              <a:srgbClr val="FFFFFF">
                <a:alpha val="10000"/>
              </a:srgbClr>
            </a:solidFill>
            <a:prstDash val="solid"/>
          </a:ln>
        </p:spPr>
      </p:sp>
      <p:sp>
        <p:nvSpPr>
          <p:cNvPr id="21" name="Shape 19"/>
          <p:cNvSpPr/>
          <p:nvPr/>
        </p:nvSpPr>
        <p:spPr>
          <a:xfrm>
            <a:off x="1358900" y="6838907"/>
            <a:ext cx="381000" cy="381000"/>
          </a:xfrm>
          <a:prstGeom prst="roundRect">
            <a:avLst>
              <a:gd name="adj" fmla="val 20000"/>
            </a:avLst>
          </a:prstGeom>
          <a:solidFill>
            <a:srgbClr val="FFFFFF">
              <a:alpha val="6000"/>
            </a:srgbClr>
          </a:solidFill>
          <a:ln/>
        </p:spPr>
      </p:sp>
      <p:sp>
        <p:nvSpPr>
          <p:cNvPr id="22" name="Text 20"/>
          <p:cNvSpPr/>
          <p:nvPr/>
        </p:nvSpPr>
        <p:spPr>
          <a:xfrm>
            <a:off x="1320800" y="6838907"/>
            <a:ext cx="457200" cy="419100"/>
          </a:xfrm>
          <a:prstGeom prst="rect">
            <a:avLst/>
          </a:prstGeom>
          <a:noFill/>
          <a:ln/>
        </p:spPr>
        <p:txBody>
          <a:bodyPr wrap="square" lIns="25400" tIns="25400" rIns="25400" bIns="25400" rtlCol="0" anchor="ctr">
            <a:normAutofit/>
          </a:bodyPr>
          <a:lstStyle/>
          <a:p>
            <a:pPr algn="ctr" indent="0" marL="0">
              <a:buNone/>
            </a:pPr>
            <a:r>
              <a:rPr lang="en-US" sz="2175" b="1" dirty="0">
                <a:solidFill>
                  <a:srgbClr val="8EA0B5">
                    <a:alpha val="99000"/>
                  </a:srgbClr>
                </a:solidFill>
                <a:latin typeface="Arial" pitchFamily="34" charset="0"/>
                <a:ea typeface="Arial" pitchFamily="34" charset="-122"/>
                <a:cs typeface="Arial" pitchFamily="34" charset="-120"/>
              </a:rPr>
              <a:t>D</a:t>
            </a:r>
            <a:endParaRPr lang="en-US" sz="2175" dirty="0"/>
          </a:p>
        </p:txBody>
      </p:sp>
      <p:sp>
        <p:nvSpPr>
          <p:cNvPr id="23" name="Text 21"/>
          <p:cNvSpPr/>
          <p:nvPr/>
        </p:nvSpPr>
        <p:spPr>
          <a:xfrm>
            <a:off x="1930400" y="6848432"/>
            <a:ext cx="3619212" cy="400050"/>
          </a:xfrm>
          <a:prstGeom prst="rect">
            <a:avLst/>
          </a:prstGeom>
          <a:noFill/>
          <a:ln/>
        </p:spPr>
        <p:txBody>
          <a:bodyPr wrap="square" lIns="25400" tIns="25400" rIns="25400" bIns="25400" rtlCol="0" anchor="t">
            <a:normAutofit/>
          </a:bodyPr>
          <a:lstStyle/>
          <a:p>
            <a:pPr algn="l" indent="0" marL="0">
              <a:buNone/>
            </a:pPr>
            <a:r>
              <a:rPr lang="en-US" sz="2175" dirty="0">
                <a:solidFill>
                  <a:srgbClr val="8EA0B5">
                    <a:alpha val="99000"/>
                  </a:srgbClr>
                </a:solidFill>
                <a:latin typeface="Arial" pitchFamily="34" charset="0"/>
                <a:ea typeface="Arial" pitchFamily="34" charset="-122"/>
                <a:cs typeface="Arial" pitchFamily="34" charset="-120"/>
              </a:rPr>
              <a:t>Créer des utilisateurs AWS</a:t>
            </a:r>
            <a:endParaRPr lang="en-US" sz="2175"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0A0E15"/>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55DCDC">
                  <a:alpha val="14000"/>
                </a:srgbClr>
              </a:gs>
              <a:gs pos="60000">
                <a:srgbClr val="55DCDC">
                  <a:alpha val="0"/>
                </a:srgbClr>
              </a:gs>
            </a:gsLst>
            <a:path path="circle">
              <a:fillToRect l="50000" t="0" r="50000" b="100000"/>
            </a:path>
          </a:gradFill>
          <a:ln/>
        </p:spPr>
      </p:sp>
      <p:sp>
        <p:nvSpPr>
          <p:cNvPr id="3" name="Text 1"/>
          <p:cNvSpPr/>
          <p:nvPr/>
        </p:nvSpPr>
        <p:spPr>
          <a:xfrm>
            <a:off x="1066800" y="819150"/>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56DBDB">
                    <a:alpha val="97000"/>
                  </a:srgbClr>
                </a:solidFill>
                <a:latin typeface="Courier New" pitchFamily="34" charset="0"/>
                <a:ea typeface="Courier New" pitchFamily="34" charset="-122"/>
                <a:cs typeface="Courier New" pitchFamily="34" charset="-120"/>
              </a:rPr>
              <a:t>SYNTHÈSE</a:t>
            </a:r>
            <a:endParaRPr lang="en-US" sz="1800" dirty="0"/>
          </a:p>
        </p:txBody>
      </p:sp>
      <p:sp>
        <p:nvSpPr>
          <p:cNvPr id="4" name="Text 2"/>
          <p:cNvSpPr/>
          <p:nvPr/>
        </p:nvSpPr>
        <p:spPr>
          <a:xfrm>
            <a:off x="1066800" y="1314452"/>
            <a:ext cx="17769840" cy="672009"/>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Le pipeline Big Data complet sur AWS</a:t>
            </a:r>
            <a:endParaRPr lang="en-US" sz="4800" dirty="0"/>
          </a:p>
        </p:txBody>
      </p:sp>
      <p:sp>
        <p:nvSpPr>
          <p:cNvPr id="5" name="Text 3"/>
          <p:cNvSpPr/>
          <p:nvPr/>
        </p:nvSpPr>
        <p:spPr>
          <a:xfrm>
            <a:off x="1066800" y="4673005"/>
            <a:ext cx="495300" cy="368300"/>
          </a:xfrm>
          <a:prstGeom prst="rect">
            <a:avLst/>
          </a:prstGeom>
          <a:noFill/>
          <a:ln/>
        </p:spPr>
        <p:txBody>
          <a:bodyPr wrap="square" lIns="25400" tIns="25400" rIns="25400" bIns="25400" rtlCol="0" anchor="t">
            <a:normAutofit/>
          </a:bodyPr>
          <a:lstStyle/>
          <a:p>
            <a:pPr algn="l" indent="0" marL="0">
              <a:buNone/>
            </a:pPr>
            <a:r>
              <a:rPr lang="en-US" sz="1950" dirty="0">
                <a:solidFill>
                  <a:srgbClr val="56DBDB"/>
                </a:solidFill>
                <a:latin typeface="Courier New" pitchFamily="34" charset="0"/>
                <a:ea typeface="Courier New" pitchFamily="34" charset="-122"/>
                <a:cs typeface="Courier New" pitchFamily="34" charset="-120"/>
              </a:rPr>
              <a:t>01</a:t>
            </a:r>
            <a:endParaRPr lang="en-US" sz="1950" dirty="0"/>
          </a:p>
        </p:txBody>
      </p:sp>
      <p:sp>
        <p:nvSpPr>
          <p:cNvPr id="6" name="Text 4"/>
          <p:cNvSpPr/>
          <p:nvPr/>
        </p:nvSpPr>
        <p:spPr>
          <a:xfrm>
            <a:off x="1695450" y="4663480"/>
            <a:ext cx="3429308" cy="387350"/>
          </a:xfrm>
          <a:prstGeom prst="rect">
            <a:avLst/>
          </a:prstGeom>
          <a:noFill/>
          <a:ln/>
        </p:spPr>
        <p:txBody>
          <a:bodyPr wrap="square" lIns="25400" tIns="25400" rIns="25400" bIns="25400" rtlCol="0" anchor="t">
            <a:normAutofit/>
          </a:bodyPr>
          <a:lstStyle/>
          <a:p>
            <a:pPr algn="l" indent="0" marL="0">
              <a:buNone/>
            </a:pPr>
            <a:r>
              <a:rPr lang="en-US" sz="2400" b="1" dirty="0">
                <a:solidFill>
                  <a:srgbClr val="EEF3F9"/>
                </a:solidFill>
                <a:latin typeface="Arial" pitchFamily="34" charset="0"/>
                <a:ea typeface="Arial" pitchFamily="34" charset="-122"/>
                <a:cs typeface="Arial" pitchFamily="34" charset="-120"/>
              </a:rPr>
              <a:t>Données brutes sur S3</a:t>
            </a:r>
            <a:endParaRPr lang="en-US" sz="2400" dirty="0"/>
          </a:p>
        </p:txBody>
      </p:sp>
      <p:sp>
        <p:nvSpPr>
          <p:cNvPr id="7" name="Text 5"/>
          <p:cNvSpPr/>
          <p:nvPr/>
        </p:nvSpPr>
        <p:spPr>
          <a:xfrm>
            <a:off x="5022553" y="4669830"/>
            <a:ext cx="5384344" cy="374650"/>
          </a:xfrm>
          <a:prstGeom prst="rect">
            <a:avLst/>
          </a:prstGeom>
          <a:noFill/>
          <a:ln/>
        </p:spPr>
        <p:txBody>
          <a:bodyPr wrap="square" lIns="25400" tIns="25400" rIns="25400" bIns="25400" rtlCol="0" anchor="t">
            <a:normAutofit/>
          </a:bodyPr>
          <a:lstStyle/>
          <a:p>
            <a:pPr algn="l" indent="0" marL="0">
              <a:buNone/>
            </a:pPr>
            <a:r>
              <a:rPr lang="en-US" sz="2025" dirty="0">
                <a:solidFill>
                  <a:srgbClr val="8EA0B5"/>
                </a:solidFill>
                <a:latin typeface="Arial" pitchFamily="34" charset="0"/>
                <a:ea typeface="Arial" pitchFamily="34" charset="-122"/>
                <a:cs typeface="Arial" pitchFamily="34" charset="-120"/>
              </a:rPr>
              <a:t>purchases.txt, indépendant de tout cluster</a:t>
            </a:r>
            <a:endParaRPr lang="en-US" sz="2025" dirty="0"/>
          </a:p>
        </p:txBody>
      </p:sp>
      <p:sp>
        <p:nvSpPr>
          <p:cNvPr id="8" name="Text 6"/>
          <p:cNvSpPr/>
          <p:nvPr/>
        </p:nvSpPr>
        <p:spPr>
          <a:xfrm>
            <a:off x="1066320" y="5231805"/>
            <a:ext cx="495300" cy="368300"/>
          </a:xfrm>
          <a:prstGeom prst="rect">
            <a:avLst/>
          </a:prstGeom>
          <a:noFill/>
          <a:ln/>
        </p:spPr>
        <p:txBody>
          <a:bodyPr wrap="square" lIns="25400" tIns="25400" rIns="25400" bIns="25400" rtlCol="0" anchor="t">
            <a:normAutofit/>
          </a:bodyPr>
          <a:lstStyle/>
          <a:p>
            <a:pPr algn="l" indent="0" marL="0">
              <a:buNone/>
            </a:pPr>
            <a:r>
              <a:rPr lang="en-US" sz="1950" dirty="0">
                <a:solidFill>
                  <a:srgbClr val="56DBDB"/>
                </a:solidFill>
                <a:latin typeface="Courier New" pitchFamily="34" charset="0"/>
                <a:ea typeface="Courier New" pitchFamily="34" charset="-122"/>
                <a:cs typeface="Courier New" pitchFamily="34" charset="-120"/>
              </a:rPr>
              <a:t>02</a:t>
            </a:r>
            <a:endParaRPr lang="en-US" sz="1950" dirty="0"/>
          </a:p>
        </p:txBody>
      </p:sp>
      <p:sp>
        <p:nvSpPr>
          <p:cNvPr id="9" name="Text 7"/>
          <p:cNvSpPr/>
          <p:nvPr/>
        </p:nvSpPr>
        <p:spPr>
          <a:xfrm>
            <a:off x="1694970" y="5222280"/>
            <a:ext cx="4025215" cy="387350"/>
          </a:xfrm>
          <a:prstGeom prst="rect">
            <a:avLst/>
          </a:prstGeom>
          <a:noFill/>
          <a:ln/>
        </p:spPr>
        <p:txBody>
          <a:bodyPr wrap="square" lIns="25400" tIns="25400" rIns="25400" bIns="25400" rtlCol="0" anchor="t">
            <a:normAutofit/>
          </a:bodyPr>
          <a:lstStyle/>
          <a:p>
            <a:pPr algn="l" indent="0" marL="0">
              <a:buNone/>
            </a:pPr>
            <a:r>
              <a:rPr lang="en-US" sz="2400" b="1" dirty="0">
                <a:solidFill>
                  <a:srgbClr val="EEF3F9"/>
                </a:solidFill>
                <a:latin typeface="Arial" pitchFamily="34" charset="0"/>
                <a:ea typeface="Arial" pitchFamily="34" charset="-122"/>
                <a:cs typeface="Arial" pitchFamily="34" charset="-120"/>
              </a:rPr>
              <a:t>Cluster EMR à la demande</a:t>
            </a:r>
            <a:endParaRPr lang="en-US" sz="2400" dirty="0"/>
          </a:p>
        </p:txBody>
      </p:sp>
      <p:sp>
        <p:nvSpPr>
          <p:cNvPr id="10" name="Text 8"/>
          <p:cNvSpPr/>
          <p:nvPr/>
        </p:nvSpPr>
        <p:spPr>
          <a:xfrm>
            <a:off x="5563807" y="5228630"/>
            <a:ext cx="4783743" cy="374650"/>
          </a:xfrm>
          <a:prstGeom prst="rect">
            <a:avLst/>
          </a:prstGeom>
          <a:noFill/>
          <a:ln/>
        </p:spPr>
        <p:txBody>
          <a:bodyPr wrap="square" lIns="25400" tIns="25400" rIns="25400" bIns="25400" rtlCol="0" anchor="t">
            <a:normAutofit/>
          </a:bodyPr>
          <a:lstStyle/>
          <a:p>
            <a:pPr algn="l" indent="0" marL="0">
              <a:buNone/>
            </a:pPr>
            <a:r>
              <a:rPr lang="en-US" sz="2025" dirty="0">
                <a:solidFill>
                  <a:srgbClr val="8EA0B5"/>
                </a:solidFill>
                <a:latin typeface="Arial" pitchFamily="34" charset="0"/>
                <a:ea typeface="Arial" pitchFamily="34" charset="-122"/>
                <a:cs typeface="Arial" pitchFamily="34" charset="-120"/>
              </a:rPr>
              <a:t>Spark ou Hive exécutent le traitement</a:t>
            </a:r>
            <a:endParaRPr lang="en-US" sz="2025" dirty="0"/>
          </a:p>
        </p:txBody>
      </p:sp>
      <p:sp>
        <p:nvSpPr>
          <p:cNvPr id="11" name="Text 9"/>
          <p:cNvSpPr/>
          <p:nvPr/>
        </p:nvSpPr>
        <p:spPr>
          <a:xfrm>
            <a:off x="1063989" y="5790605"/>
            <a:ext cx="495300" cy="368300"/>
          </a:xfrm>
          <a:prstGeom prst="rect">
            <a:avLst/>
          </a:prstGeom>
          <a:noFill/>
          <a:ln/>
        </p:spPr>
        <p:txBody>
          <a:bodyPr wrap="square" lIns="25400" tIns="25400" rIns="25400" bIns="25400" rtlCol="0" anchor="t">
            <a:normAutofit/>
          </a:bodyPr>
          <a:lstStyle/>
          <a:p>
            <a:pPr algn="l" indent="0" marL="0">
              <a:buNone/>
            </a:pPr>
            <a:r>
              <a:rPr lang="en-US" sz="1950" dirty="0">
                <a:solidFill>
                  <a:srgbClr val="56DBDB">
                    <a:alpha val="99000"/>
                  </a:srgbClr>
                </a:solidFill>
                <a:latin typeface="Courier New" pitchFamily="34" charset="0"/>
                <a:ea typeface="Courier New" pitchFamily="34" charset="-122"/>
                <a:cs typeface="Courier New" pitchFamily="34" charset="-120"/>
              </a:rPr>
              <a:t>03</a:t>
            </a:r>
            <a:endParaRPr lang="en-US" sz="1950" dirty="0"/>
          </a:p>
        </p:txBody>
      </p:sp>
      <p:sp>
        <p:nvSpPr>
          <p:cNvPr id="12" name="Text 10"/>
          <p:cNvSpPr/>
          <p:nvPr/>
        </p:nvSpPr>
        <p:spPr>
          <a:xfrm>
            <a:off x="1692639" y="5781080"/>
            <a:ext cx="3652064" cy="387350"/>
          </a:xfrm>
          <a:prstGeom prst="rect">
            <a:avLst/>
          </a:prstGeom>
          <a:noFill/>
          <a:ln/>
        </p:spPr>
        <p:txBody>
          <a:bodyPr wrap="square" lIns="25400" tIns="25400" rIns="25400" bIns="25400" rtlCol="0" anchor="t">
            <a:normAutofit/>
          </a:bodyPr>
          <a:lstStyle/>
          <a:p>
            <a:pPr algn="l" indent="0" marL="0">
              <a:buNone/>
            </a:pPr>
            <a:r>
              <a:rPr lang="en-US" sz="2400" b="1" dirty="0">
                <a:solidFill>
                  <a:srgbClr val="EEF3F9">
                    <a:alpha val="99000"/>
                  </a:srgbClr>
                </a:solidFill>
                <a:latin typeface="Arial" pitchFamily="34" charset="0"/>
                <a:ea typeface="Arial" pitchFamily="34" charset="-122"/>
                <a:cs typeface="Arial" pitchFamily="34" charset="-120"/>
              </a:rPr>
              <a:t>Résultats réécrits sur S3</a:t>
            </a:r>
            <a:endParaRPr lang="en-US" sz="2400" dirty="0"/>
          </a:p>
        </p:txBody>
      </p:sp>
      <p:sp>
        <p:nvSpPr>
          <p:cNvPr id="13" name="Text 11"/>
          <p:cNvSpPr/>
          <p:nvPr/>
        </p:nvSpPr>
        <p:spPr>
          <a:xfrm>
            <a:off x="5222246" y="5787430"/>
            <a:ext cx="2174954" cy="374650"/>
          </a:xfrm>
          <a:prstGeom prst="rect">
            <a:avLst/>
          </a:prstGeom>
          <a:noFill/>
          <a:ln/>
        </p:spPr>
        <p:txBody>
          <a:bodyPr wrap="square" lIns="25400" tIns="25400" rIns="25400" bIns="25400" rtlCol="0" anchor="t">
            <a:normAutofit/>
          </a:bodyPr>
          <a:lstStyle/>
          <a:p>
            <a:pPr algn="l" indent="0" marL="0">
              <a:buNone/>
            </a:pPr>
            <a:r>
              <a:rPr lang="en-US" sz="2025" dirty="0">
                <a:solidFill>
                  <a:srgbClr val="8EA0B5">
                    <a:alpha val="99000"/>
                  </a:srgbClr>
                </a:solidFill>
                <a:latin typeface="Arial" pitchFamily="34" charset="0"/>
                <a:ea typeface="Arial" pitchFamily="34" charset="-122"/>
                <a:cs typeface="Arial" pitchFamily="34" charset="-120"/>
              </a:rPr>
              <a:t>rq5, rq7, rq8, rq9</a:t>
            </a:r>
            <a:endParaRPr lang="en-US" sz="2025" dirty="0"/>
          </a:p>
        </p:txBody>
      </p:sp>
      <p:sp>
        <p:nvSpPr>
          <p:cNvPr id="14" name="Text 12"/>
          <p:cNvSpPr/>
          <p:nvPr/>
        </p:nvSpPr>
        <p:spPr>
          <a:xfrm>
            <a:off x="1058775" y="6349405"/>
            <a:ext cx="495300" cy="368300"/>
          </a:xfrm>
          <a:prstGeom prst="rect">
            <a:avLst/>
          </a:prstGeom>
          <a:noFill/>
          <a:ln/>
        </p:spPr>
        <p:txBody>
          <a:bodyPr wrap="square" lIns="25400" tIns="25400" rIns="25400" bIns="25400" rtlCol="0" anchor="t">
            <a:normAutofit/>
          </a:bodyPr>
          <a:lstStyle/>
          <a:p>
            <a:pPr algn="l" indent="0" marL="0">
              <a:buNone/>
            </a:pPr>
            <a:r>
              <a:rPr lang="en-US" sz="1950" dirty="0">
                <a:solidFill>
                  <a:srgbClr val="56DBDB">
                    <a:alpha val="97000"/>
                  </a:srgbClr>
                </a:solidFill>
                <a:latin typeface="Courier New" pitchFamily="34" charset="0"/>
                <a:ea typeface="Courier New" pitchFamily="34" charset="-122"/>
                <a:cs typeface="Courier New" pitchFamily="34" charset="-120"/>
              </a:rPr>
              <a:t>04</a:t>
            </a:r>
            <a:endParaRPr lang="en-US" sz="1950" dirty="0"/>
          </a:p>
        </p:txBody>
      </p:sp>
      <p:sp>
        <p:nvSpPr>
          <p:cNvPr id="15" name="Text 13"/>
          <p:cNvSpPr/>
          <p:nvPr/>
        </p:nvSpPr>
        <p:spPr>
          <a:xfrm>
            <a:off x="1687425" y="6339880"/>
            <a:ext cx="2933700" cy="387350"/>
          </a:xfrm>
          <a:prstGeom prst="rect">
            <a:avLst/>
          </a:prstGeom>
          <a:noFill/>
          <a:ln/>
        </p:spPr>
        <p:txBody>
          <a:bodyPr wrap="square" lIns="25400" tIns="25400" rIns="25400" bIns="25400" rtlCol="0" anchor="t">
            <a:normAutofit/>
          </a:bodyPr>
          <a:lstStyle/>
          <a:p>
            <a:pPr algn="l" indent="0" marL="0">
              <a:buNone/>
            </a:pPr>
            <a:r>
              <a:rPr lang="en-US" sz="2400" b="1" dirty="0">
                <a:solidFill>
                  <a:srgbClr val="EEF3F9">
                    <a:alpha val="97000"/>
                  </a:srgbClr>
                </a:solidFill>
                <a:latin typeface="Arial" pitchFamily="34" charset="0"/>
                <a:ea typeface="Arial" pitchFamily="34" charset="-122"/>
                <a:cs typeface="Arial" pitchFamily="34" charset="-120"/>
              </a:rPr>
              <a:t>Cluster arrêté</a:t>
            </a:r>
            <a:endParaRPr lang="en-US" sz="2400" dirty="0"/>
          </a:p>
        </p:txBody>
      </p:sp>
      <p:sp>
        <p:nvSpPr>
          <p:cNvPr id="16" name="Text 14"/>
          <p:cNvSpPr/>
          <p:nvPr/>
        </p:nvSpPr>
        <p:spPr>
          <a:xfrm>
            <a:off x="4563975" y="6346230"/>
            <a:ext cx="3273673" cy="374650"/>
          </a:xfrm>
          <a:prstGeom prst="rect">
            <a:avLst/>
          </a:prstGeom>
          <a:noFill/>
          <a:ln/>
        </p:spPr>
        <p:txBody>
          <a:bodyPr wrap="square" lIns="25400" tIns="25400" rIns="25400" bIns="25400" rtlCol="0" anchor="t">
            <a:normAutofit/>
          </a:bodyPr>
          <a:lstStyle/>
          <a:p>
            <a:pPr algn="l" indent="0" marL="0">
              <a:buNone/>
            </a:pPr>
            <a:r>
              <a:rPr lang="en-US" sz="2025" dirty="0">
                <a:solidFill>
                  <a:srgbClr val="8EA0B5">
                    <a:alpha val="97000"/>
                  </a:srgbClr>
                </a:solidFill>
                <a:latin typeface="Arial" pitchFamily="34" charset="0"/>
                <a:ea typeface="Arial" pitchFamily="34" charset="-122"/>
                <a:cs typeface="Arial" pitchFamily="34" charset="-120"/>
              </a:rPr>
              <a:t>fin de la facturation calcul</a:t>
            </a:r>
            <a:endParaRPr lang="en-US" sz="2025" dirty="0"/>
          </a:p>
        </p:txBody>
      </p:sp>
      <p:sp>
        <p:nvSpPr>
          <p:cNvPr id="17" name="Text 15"/>
          <p:cNvSpPr/>
          <p:nvPr/>
        </p:nvSpPr>
        <p:spPr>
          <a:xfrm>
            <a:off x="1048757" y="6908205"/>
            <a:ext cx="495300" cy="368300"/>
          </a:xfrm>
          <a:prstGeom prst="rect">
            <a:avLst/>
          </a:prstGeom>
          <a:noFill/>
          <a:ln/>
        </p:spPr>
        <p:txBody>
          <a:bodyPr wrap="square" lIns="25400" tIns="25400" rIns="25400" bIns="25400" rtlCol="0" anchor="t">
            <a:normAutofit/>
          </a:bodyPr>
          <a:lstStyle/>
          <a:p>
            <a:pPr algn="l" indent="0" marL="0">
              <a:buNone/>
            </a:pPr>
            <a:r>
              <a:rPr lang="en-US" sz="1950" dirty="0">
                <a:solidFill>
                  <a:srgbClr val="FFB46E">
                    <a:alpha val="93000"/>
                  </a:srgbClr>
                </a:solidFill>
                <a:latin typeface="Courier New" pitchFamily="34" charset="0"/>
                <a:ea typeface="Courier New" pitchFamily="34" charset="-122"/>
                <a:cs typeface="Courier New" pitchFamily="34" charset="-120"/>
              </a:rPr>
              <a:t>05</a:t>
            </a:r>
            <a:endParaRPr lang="en-US" sz="1950" dirty="0"/>
          </a:p>
        </p:txBody>
      </p:sp>
      <p:sp>
        <p:nvSpPr>
          <p:cNvPr id="18" name="Text 16"/>
          <p:cNvSpPr/>
          <p:nvPr/>
        </p:nvSpPr>
        <p:spPr>
          <a:xfrm>
            <a:off x="1677407" y="6898680"/>
            <a:ext cx="3429089" cy="387350"/>
          </a:xfrm>
          <a:prstGeom prst="rect">
            <a:avLst/>
          </a:prstGeom>
          <a:noFill/>
          <a:ln/>
        </p:spPr>
        <p:txBody>
          <a:bodyPr wrap="square" lIns="25400" tIns="25400" rIns="25400" bIns="25400" rtlCol="0" anchor="t">
            <a:normAutofit/>
          </a:bodyPr>
          <a:lstStyle/>
          <a:p>
            <a:pPr algn="l" indent="0" marL="0">
              <a:buNone/>
            </a:pPr>
            <a:r>
              <a:rPr lang="en-US" sz="2400" b="1" dirty="0">
                <a:solidFill>
                  <a:srgbClr val="FFB46E">
                    <a:alpha val="93000"/>
                  </a:srgbClr>
                </a:solidFill>
                <a:latin typeface="Arial" pitchFamily="34" charset="0"/>
                <a:ea typeface="Arial" pitchFamily="34" charset="-122"/>
                <a:cs typeface="Arial" pitchFamily="34" charset="-120"/>
              </a:rPr>
              <a:t>Analyse &amp; visualisation</a:t>
            </a:r>
            <a:endParaRPr lang="en-US" sz="2400" dirty="0"/>
          </a:p>
        </p:txBody>
      </p:sp>
      <p:sp>
        <p:nvSpPr>
          <p:cNvPr id="19" name="Text 17"/>
          <p:cNvSpPr/>
          <p:nvPr/>
        </p:nvSpPr>
        <p:spPr>
          <a:xfrm>
            <a:off x="5004311" y="6905030"/>
            <a:ext cx="6759188" cy="374650"/>
          </a:xfrm>
          <a:prstGeom prst="rect">
            <a:avLst/>
          </a:prstGeom>
          <a:noFill/>
          <a:ln/>
        </p:spPr>
        <p:txBody>
          <a:bodyPr wrap="square" lIns="25400" tIns="25400" rIns="25400" bIns="25400" rtlCol="0" anchor="t">
            <a:normAutofit/>
          </a:bodyPr>
          <a:lstStyle/>
          <a:p>
            <a:pPr algn="l" indent="0" marL="0">
              <a:buNone/>
            </a:pPr>
            <a:r>
              <a:rPr lang="en-US" sz="2025" dirty="0">
                <a:solidFill>
                  <a:srgbClr val="8EA0B5">
                    <a:alpha val="93000"/>
                  </a:srgbClr>
                </a:solidFill>
                <a:latin typeface="Arial" pitchFamily="34" charset="0"/>
                <a:ea typeface="Arial" pitchFamily="34" charset="-122"/>
                <a:cs typeface="Arial" pitchFamily="34" charset="-120"/>
              </a:rPr>
              <a:t>QuickSight (tableaux de bord) ou Athena (SQL sur S3)</a:t>
            </a:r>
            <a:endParaRPr lang="en-US" sz="2025"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0C121C"/>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BB95F3">
                  <a:alpha val="16000"/>
                </a:srgbClr>
              </a:gs>
              <a:gs pos="60000">
                <a:srgbClr val="BB95F3">
                  <a:alpha val="0"/>
                </a:srgbClr>
              </a:gs>
            </a:gsLst>
            <a:path path="circle">
              <a:fillToRect l="82000" t="100000" r="18000" b="0"/>
            </a:path>
          </a:gradFill>
          <a:ln/>
        </p:spPr>
      </p:sp>
      <p:sp>
        <p:nvSpPr>
          <p:cNvPr id="3" name="Text 1"/>
          <p:cNvSpPr/>
          <p:nvPr/>
        </p:nvSpPr>
        <p:spPr>
          <a:xfrm>
            <a:off x="1066800" y="2680792"/>
            <a:ext cx="1776984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56DBDB">
                    <a:alpha val="97000"/>
                  </a:srgbClr>
                </a:solidFill>
                <a:latin typeface="Courier New" pitchFamily="34" charset="0"/>
                <a:ea typeface="Courier New" pitchFamily="34" charset="-122"/>
                <a:cs typeface="Courier New" pitchFamily="34" charset="-120"/>
              </a:rPr>
              <a:t>BILAN DU MODULE</a:t>
            </a:r>
            <a:endParaRPr lang="en-US" sz="1800" dirty="0"/>
          </a:p>
        </p:txBody>
      </p:sp>
      <p:sp>
        <p:nvSpPr>
          <p:cNvPr id="4" name="Text 2"/>
          <p:cNvSpPr/>
          <p:nvPr/>
        </p:nvSpPr>
        <p:spPr>
          <a:xfrm>
            <a:off x="1066800" y="3176093"/>
            <a:ext cx="9079236" cy="1305917"/>
          </a:xfrm>
          <a:prstGeom prst="rect">
            <a:avLst/>
          </a:prstGeom>
          <a:noFill/>
          <a:ln/>
        </p:spPr>
        <p:txBody>
          <a:bodyPr wrap="square" lIns="25400" tIns="25400" rIns="25400" bIns="25400" rtlCol="0" anchor="t">
            <a:normAutofit/>
          </a:bodyPr>
          <a:lstStyle/>
          <a:p>
            <a:pPr algn="l" indent="0" marL="0">
              <a:lnSpc>
                <a:spcPct val="90764"/>
              </a:lnSpc>
              <a:buNone/>
            </a:pPr>
            <a:r>
              <a:rPr lang="en-US" sz="4800" b="1" spc="-96" kern="0" dirty="0">
                <a:solidFill>
                  <a:srgbClr val="EEF3F9"/>
                </a:solidFill>
                <a:latin typeface="Arial" pitchFamily="34" charset="0"/>
                <a:ea typeface="Arial" pitchFamily="34" charset="-122"/>
                <a:cs typeface="Arial" pitchFamily="34" charset="-120"/>
              </a:rPr>
              <a:t>Le projet fil rouge, de bout en bout</a:t>
            </a:r>
            <a:endParaRPr lang="en-US" sz="4800" dirty="0"/>
          </a:p>
        </p:txBody>
      </p:sp>
      <p:sp>
        <p:nvSpPr>
          <p:cNvPr id="5" name="Shape 3"/>
          <p:cNvSpPr/>
          <p:nvPr/>
        </p:nvSpPr>
        <p:spPr>
          <a:xfrm>
            <a:off x="1066800" y="4939209"/>
            <a:ext cx="2401590" cy="571500"/>
          </a:xfrm>
          <a:prstGeom prst="roundRect">
            <a:avLst>
              <a:gd name="adj" fmla="val 50000"/>
            </a:avLst>
          </a:prstGeom>
          <a:solidFill>
            <a:srgbClr val="FFFFFF">
              <a:alpha val="6000"/>
            </a:srgbClr>
          </a:solidFill>
          <a:ln w="6350">
            <a:solidFill>
              <a:srgbClr val="FFFFFF">
                <a:alpha val="10000"/>
              </a:srgbClr>
            </a:solidFill>
            <a:prstDash val="solid"/>
          </a:ln>
        </p:spPr>
      </p:sp>
      <p:sp>
        <p:nvSpPr>
          <p:cNvPr id="6" name="Text 4"/>
          <p:cNvSpPr/>
          <p:nvPr/>
        </p:nvSpPr>
        <p:spPr>
          <a:xfrm>
            <a:off x="1301750" y="5059859"/>
            <a:ext cx="2007890" cy="368300"/>
          </a:xfrm>
          <a:prstGeom prst="rect">
            <a:avLst/>
          </a:prstGeom>
          <a:noFill/>
          <a:ln/>
        </p:spPr>
        <p:txBody>
          <a:bodyPr wrap="square" lIns="25400" tIns="25400" rIns="25400" bIns="25400" rtlCol="0" anchor="t">
            <a:normAutofit/>
          </a:bodyPr>
          <a:lstStyle/>
          <a:p>
            <a:pPr algn="l" indent="0" marL="0">
              <a:buNone/>
            </a:pPr>
            <a:r>
              <a:rPr lang="en-US" sz="1950" dirty="0">
                <a:solidFill>
                  <a:srgbClr val="EEF3F9"/>
                </a:solidFill>
                <a:latin typeface="Courier New" pitchFamily="34" charset="0"/>
                <a:ea typeface="Courier New" pitchFamily="34" charset="-122"/>
                <a:cs typeface="Courier New" pitchFamily="34" charset="-120"/>
              </a:rPr>
              <a:t>purchases.txt</a:t>
            </a:r>
            <a:endParaRPr lang="en-US" sz="1950" dirty="0"/>
          </a:p>
        </p:txBody>
      </p:sp>
      <p:sp>
        <p:nvSpPr>
          <p:cNvPr id="7" name="Text 5"/>
          <p:cNvSpPr/>
          <p:nvPr/>
        </p:nvSpPr>
        <p:spPr>
          <a:xfrm>
            <a:off x="3582690" y="5063034"/>
            <a:ext cx="323850" cy="361950"/>
          </a:xfrm>
          <a:prstGeom prst="rect">
            <a:avLst/>
          </a:prstGeom>
          <a:noFill/>
          <a:ln/>
        </p:spPr>
        <p:txBody>
          <a:bodyPr wrap="square" lIns="25400" tIns="25400" rIns="25400" bIns="25400" rtlCol="0" anchor="t">
            <a:normAutofit/>
          </a:bodyPr>
          <a:lstStyle/>
          <a:p>
            <a:pPr algn="l" indent="0" marL="0">
              <a:buNone/>
            </a:pPr>
            <a:r>
              <a:rPr lang="en-US" sz="1950" dirty="0">
                <a:solidFill>
                  <a:srgbClr val="56DBDB"/>
                </a:solidFill>
                <a:latin typeface="Arial" pitchFamily="34" charset="0"/>
                <a:ea typeface="Arial" pitchFamily="34" charset="-122"/>
                <a:cs typeface="Arial" pitchFamily="34" charset="-120"/>
              </a:rPr>
              <a:t>→</a:t>
            </a:r>
            <a:endParaRPr lang="en-US" sz="1950" dirty="0"/>
          </a:p>
        </p:txBody>
      </p:sp>
      <p:sp>
        <p:nvSpPr>
          <p:cNvPr id="8" name="Shape 6"/>
          <p:cNvSpPr/>
          <p:nvPr/>
        </p:nvSpPr>
        <p:spPr>
          <a:xfrm>
            <a:off x="3944640" y="4939209"/>
            <a:ext cx="1361480" cy="571500"/>
          </a:xfrm>
          <a:prstGeom prst="roundRect">
            <a:avLst>
              <a:gd name="adj" fmla="val 50000"/>
            </a:avLst>
          </a:prstGeom>
          <a:solidFill>
            <a:srgbClr val="FFFFFF">
              <a:alpha val="6000"/>
            </a:srgbClr>
          </a:solidFill>
          <a:ln w="6350">
            <a:solidFill>
              <a:srgbClr val="FFC287">
                <a:alpha val="41000"/>
              </a:srgbClr>
            </a:solidFill>
            <a:prstDash val="solid"/>
          </a:ln>
        </p:spPr>
      </p:sp>
      <p:sp>
        <p:nvSpPr>
          <p:cNvPr id="9" name="Text 7"/>
          <p:cNvSpPr/>
          <p:nvPr/>
        </p:nvSpPr>
        <p:spPr>
          <a:xfrm>
            <a:off x="4179590" y="5059859"/>
            <a:ext cx="967780" cy="368300"/>
          </a:xfrm>
          <a:prstGeom prst="rect">
            <a:avLst/>
          </a:prstGeom>
          <a:noFill/>
          <a:ln/>
        </p:spPr>
        <p:txBody>
          <a:bodyPr wrap="square" lIns="25400" tIns="25400" rIns="25400" bIns="25400" rtlCol="0" anchor="t">
            <a:normAutofit/>
          </a:bodyPr>
          <a:lstStyle/>
          <a:p>
            <a:pPr algn="l" indent="0" marL="0">
              <a:buNone/>
            </a:pPr>
            <a:r>
              <a:rPr lang="en-US" sz="1950" dirty="0">
                <a:solidFill>
                  <a:srgbClr val="FFB46E"/>
                </a:solidFill>
                <a:latin typeface="Courier New" pitchFamily="34" charset="0"/>
                <a:ea typeface="Courier New" pitchFamily="34" charset="-122"/>
                <a:cs typeface="Courier New" pitchFamily="34" charset="-120"/>
              </a:rPr>
              <a:t>Docker</a:t>
            </a:r>
            <a:endParaRPr lang="en-US" sz="1950" dirty="0"/>
          </a:p>
        </p:txBody>
      </p:sp>
      <p:sp>
        <p:nvSpPr>
          <p:cNvPr id="10" name="Text 8"/>
          <p:cNvSpPr/>
          <p:nvPr/>
        </p:nvSpPr>
        <p:spPr>
          <a:xfrm>
            <a:off x="5420420" y="5063034"/>
            <a:ext cx="323850" cy="361950"/>
          </a:xfrm>
          <a:prstGeom prst="rect">
            <a:avLst/>
          </a:prstGeom>
          <a:noFill/>
          <a:ln/>
        </p:spPr>
        <p:txBody>
          <a:bodyPr wrap="square" lIns="25400" tIns="25400" rIns="25400" bIns="25400" rtlCol="0" anchor="t">
            <a:normAutofit/>
          </a:bodyPr>
          <a:lstStyle/>
          <a:p>
            <a:pPr algn="l" indent="0" marL="0">
              <a:buNone/>
            </a:pPr>
            <a:r>
              <a:rPr lang="en-US" sz="1950" dirty="0">
                <a:solidFill>
                  <a:srgbClr val="56DBDB"/>
                </a:solidFill>
                <a:latin typeface="Arial" pitchFamily="34" charset="0"/>
                <a:ea typeface="Arial" pitchFamily="34" charset="-122"/>
                <a:cs typeface="Arial" pitchFamily="34" charset="-120"/>
              </a:rPr>
              <a:t>→</a:t>
            </a:r>
            <a:endParaRPr lang="en-US" sz="1950" dirty="0"/>
          </a:p>
        </p:txBody>
      </p:sp>
      <p:sp>
        <p:nvSpPr>
          <p:cNvPr id="11" name="Shape 9"/>
          <p:cNvSpPr/>
          <p:nvPr/>
        </p:nvSpPr>
        <p:spPr>
          <a:xfrm>
            <a:off x="5778125" y="4937602"/>
            <a:ext cx="1518599" cy="574713"/>
          </a:xfrm>
          <a:prstGeom prst="roundRect">
            <a:avLst>
              <a:gd name="adj" fmla="val 50000"/>
            </a:avLst>
          </a:prstGeom>
          <a:solidFill>
            <a:srgbClr val="FFFFFF">
              <a:alpha val="6000"/>
            </a:srgbClr>
          </a:solidFill>
          <a:ln w="6386">
            <a:solidFill>
              <a:srgbClr val="FFFFFF">
                <a:alpha val="10000"/>
              </a:srgbClr>
            </a:solidFill>
            <a:prstDash val="solid"/>
          </a:ln>
        </p:spPr>
      </p:sp>
      <p:sp>
        <p:nvSpPr>
          <p:cNvPr id="12" name="Text 10"/>
          <p:cNvSpPr/>
          <p:nvPr/>
        </p:nvSpPr>
        <p:spPr>
          <a:xfrm>
            <a:off x="6014396" y="5058930"/>
            <a:ext cx="1122258" cy="370156"/>
          </a:xfrm>
          <a:prstGeom prst="rect">
            <a:avLst/>
          </a:prstGeom>
          <a:noFill/>
          <a:ln/>
        </p:spPr>
        <p:txBody>
          <a:bodyPr wrap="square" lIns="25400" tIns="25400" rIns="25400" bIns="25400" rtlCol="0" anchor="t">
            <a:normAutofit/>
          </a:bodyPr>
          <a:lstStyle/>
          <a:p>
            <a:pPr algn="l" indent="0" marL="0">
              <a:buNone/>
            </a:pPr>
            <a:r>
              <a:rPr lang="en-US" sz="1961" dirty="0">
                <a:solidFill>
                  <a:srgbClr val="EEF3F9"/>
                </a:solidFill>
                <a:latin typeface="Courier New" pitchFamily="34" charset="0"/>
                <a:ea typeface="Courier New" pitchFamily="34" charset="-122"/>
                <a:cs typeface="Courier New" pitchFamily="34" charset="-120"/>
              </a:rPr>
              <a:t>MongoDB</a:t>
            </a:r>
            <a:endParaRPr lang="en-US" sz="1961" dirty="0"/>
          </a:p>
        </p:txBody>
      </p:sp>
      <p:sp>
        <p:nvSpPr>
          <p:cNvPr id="13" name="Text 11"/>
          <p:cNvSpPr/>
          <p:nvPr/>
        </p:nvSpPr>
        <p:spPr>
          <a:xfrm>
            <a:off x="7406779" y="5063034"/>
            <a:ext cx="323850" cy="361950"/>
          </a:xfrm>
          <a:prstGeom prst="rect">
            <a:avLst/>
          </a:prstGeom>
          <a:noFill/>
          <a:ln/>
        </p:spPr>
        <p:txBody>
          <a:bodyPr wrap="square" lIns="25400" tIns="25400" rIns="25400" bIns="25400" rtlCol="0" anchor="t">
            <a:normAutofit/>
          </a:bodyPr>
          <a:lstStyle/>
          <a:p>
            <a:pPr algn="l" indent="0" marL="0">
              <a:buNone/>
            </a:pPr>
            <a:r>
              <a:rPr lang="en-US" sz="1950" dirty="0">
                <a:solidFill>
                  <a:srgbClr val="56DBDB"/>
                </a:solidFill>
                <a:latin typeface="Arial" pitchFamily="34" charset="0"/>
                <a:ea typeface="Arial" pitchFamily="34" charset="-122"/>
                <a:cs typeface="Arial" pitchFamily="34" charset="-120"/>
              </a:rPr>
              <a:t>→</a:t>
            </a:r>
            <a:endParaRPr lang="en-US" sz="1950" dirty="0"/>
          </a:p>
        </p:txBody>
      </p:sp>
      <p:sp>
        <p:nvSpPr>
          <p:cNvPr id="14" name="Shape 12"/>
          <p:cNvSpPr/>
          <p:nvPr/>
        </p:nvSpPr>
        <p:spPr>
          <a:xfrm>
            <a:off x="7763979" y="4936658"/>
            <a:ext cx="1073820" cy="576601"/>
          </a:xfrm>
          <a:prstGeom prst="roundRect">
            <a:avLst>
              <a:gd name="adj" fmla="val 50000"/>
            </a:avLst>
          </a:prstGeom>
          <a:solidFill>
            <a:srgbClr val="FFFFFF">
              <a:alpha val="6000"/>
            </a:srgbClr>
          </a:solidFill>
          <a:ln w="6407">
            <a:solidFill>
              <a:srgbClr val="FFFFFF">
                <a:alpha val="10000"/>
              </a:srgbClr>
            </a:solidFill>
            <a:prstDash val="solid"/>
          </a:ln>
        </p:spPr>
      </p:sp>
      <p:sp>
        <p:nvSpPr>
          <p:cNvPr id="15" name="Text 13"/>
          <p:cNvSpPr/>
          <p:nvPr/>
        </p:nvSpPr>
        <p:spPr>
          <a:xfrm>
            <a:off x="8001027" y="5058385"/>
            <a:ext cx="675924" cy="371246"/>
          </a:xfrm>
          <a:prstGeom prst="rect">
            <a:avLst/>
          </a:prstGeom>
          <a:noFill/>
          <a:ln/>
        </p:spPr>
        <p:txBody>
          <a:bodyPr wrap="square" lIns="25400" tIns="25400" rIns="25400" bIns="25400" rtlCol="0" anchor="t">
            <a:normAutofit/>
          </a:bodyPr>
          <a:lstStyle/>
          <a:p>
            <a:pPr algn="l" indent="0" marL="0">
              <a:buNone/>
            </a:pPr>
            <a:r>
              <a:rPr lang="en-US" sz="1967" dirty="0">
                <a:solidFill>
                  <a:srgbClr val="EEF3F9"/>
                </a:solidFill>
                <a:latin typeface="Courier New" pitchFamily="34" charset="0"/>
                <a:ea typeface="Courier New" pitchFamily="34" charset="-122"/>
                <a:cs typeface="Courier New" pitchFamily="34" charset="-120"/>
              </a:rPr>
              <a:t>HDFS</a:t>
            </a:r>
            <a:endParaRPr lang="en-US" sz="1967" dirty="0"/>
          </a:p>
        </p:txBody>
      </p:sp>
      <p:sp>
        <p:nvSpPr>
          <p:cNvPr id="16" name="Text 14"/>
          <p:cNvSpPr/>
          <p:nvPr/>
        </p:nvSpPr>
        <p:spPr>
          <a:xfrm>
            <a:off x="8947349" y="5063034"/>
            <a:ext cx="323850" cy="361950"/>
          </a:xfrm>
          <a:prstGeom prst="rect">
            <a:avLst/>
          </a:prstGeom>
          <a:noFill/>
          <a:ln/>
        </p:spPr>
        <p:txBody>
          <a:bodyPr wrap="square" lIns="25400" tIns="25400" rIns="25400" bIns="25400" rtlCol="0" anchor="t">
            <a:normAutofit/>
          </a:bodyPr>
          <a:lstStyle/>
          <a:p>
            <a:pPr algn="l" indent="0" marL="0">
              <a:buNone/>
            </a:pPr>
            <a:r>
              <a:rPr lang="en-US" sz="1950" dirty="0">
                <a:solidFill>
                  <a:srgbClr val="56DBDB"/>
                </a:solidFill>
                <a:latin typeface="Arial" pitchFamily="34" charset="0"/>
                <a:ea typeface="Arial" pitchFamily="34" charset="-122"/>
                <a:cs typeface="Arial" pitchFamily="34" charset="-120"/>
              </a:rPr>
              <a:t>→</a:t>
            </a:r>
            <a:endParaRPr lang="en-US" sz="1950" dirty="0"/>
          </a:p>
        </p:txBody>
      </p:sp>
      <p:sp>
        <p:nvSpPr>
          <p:cNvPr id="17" name="Shape 15"/>
          <p:cNvSpPr/>
          <p:nvPr/>
        </p:nvSpPr>
        <p:spPr>
          <a:xfrm>
            <a:off x="9303308" y="4935992"/>
            <a:ext cx="1076299" cy="577933"/>
          </a:xfrm>
          <a:prstGeom prst="roundRect">
            <a:avLst>
              <a:gd name="adj" fmla="val 50000"/>
            </a:avLst>
          </a:prstGeom>
          <a:solidFill>
            <a:srgbClr val="FFFFFF">
              <a:alpha val="6000"/>
            </a:srgbClr>
          </a:solidFill>
          <a:ln w="6422">
            <a:solidFill>
              <a:srgbClr val="FFFFFF">
                <a:alpha val="10000"/>
              </a:srgbClr>
            </a:solidFill>
            <a:prstDash val="solid"/>
          </a:ln>
        </p:spPr>
      </p:sp>
      <p:sp>
        <p:nvSpPr>
          <p:cNvPr id="18" name="Text 16"/>
          <p:cNvSpPr/>
          <p:nvPr/>
        </p:nvSpPr>
        <p:spPr>
          <a:xfrm>
            <a:off x="9540904" y="5058001"/>
            <a:ext cx="677308" cy="372016"/>
          </a:xfrm>
          <a:prstGeom prst="rect">
            <a:avLst/>
          </a:prstGeom>
          <a:noFill/>
          <a:ln/>
        </p:spPr>
        <p:txBody>
          <a:bodyPr wrap="square" lIns="25400" tIns="25400" rIns="25400" bIns="25400" rtlCol="0" anchor="t">
            <a:normAutofit/>
          </a:bodyPr>
          <a:lstStyle/>
          <a:p>
            <a:pPr algn="l" indent="0" marL="0">
              <a:buNone/>
            </a:pPr>
            <a:r>
              <a:rPr lang="en-US" sz="1972" dirty="0">
                <a:solidFill>
                  <a:srgbClr val="EEF3F9"/>
                </a:solidFill>
                <a:latin typeface="Courier New" pitchFamily="34" charset="0"/>
                <a:ea typeface="Courier New" pitchFamily="34" charset="-122"/>
                <a:cs typeface="Courier New" pitchFamily="34" charset="-120"/>
              </a:rPr>
              <a:t>Hive</a:t>
            </a:r>
            <a:endParaRPr lang="en-US" sz="1972" dirty="0"/>
          </a:p>
        </p:txBody>
      </p:sp>
      <p:sp>
        <p:nvSpPr>
          <p:cNvPr id="19" name="Text 17"/>
          <p:cNvSpPr/>
          <p:nvPr/>
        </p:nvSpPr>
        <p:spPr>
          <a:xfrm>
            <a:off x="10487918" y="5063034"/>
            <a:ext cx="323850" cy="361950"/>
          </a:xfrm>
          <a:prstGeom prst="rect">
            <a:avLst/>
          </a:prstGeom>
          <a:noFill/>
          <a:ln/>
        </p:spPr>
        <p:txBody>
          <a:bodyPr wrap="square" lIns="25400" tIns="25400" rIns="25400" bIns="25400" rtlCol="0" anchor="t">
            <a:normAutofit/>
          </a:bodyPr>
          <a:lstStyle/>
          <a:p>
            <a:pPr algn="l" indent="0" marL="0">
              <a:buNone/>
            </a:pPr>
            <a:r>
              <a:rPr lang="en-US" sz="1950" dirty="0">
                <a:solidFill>
                  <a:srgbClr val="56DBDB"/>
                </a:solidFill>
                <a:latin typeface="Arial" pitchFamily="34" charset="0"/>
                <a:ea typeface="Arial" pitchFamily="34" charset="-122"/>
                <a:cs typeface="Arial" pitchFamily="34" charset="-120"/>
              </a:rPr>
              <a:t>→</a:t>
            </a:r>
            <a:endParaRPr lang="en-US" sz="1950" dirty="0"/>
          </a:p>
        </p:txBody>
      </p:sp>
      <p:sp>
        <p:nvSpPr>
          <p:cNvPr id="20" name="Shape 18"/>
          <p:cNvSpPr/>
          <p:nvPr/>
        </p:nvSpPr>
        <p:spPr>
          <a:xfrm>
            <a:off x="10838681" y="4935671"/>
            <a:ext cx="1829643" cy="578576"/>
          </a:xfrm>
          <a:prstGeom prst="roundRect">
            <a:avLst>
              <a:gd name="adj" fmla="val 50000"/>
            </a:avLst>
          </a:prstGeom>
          <a:solidFill>
            <a:srgbClr val="FFFFFF">
              <a:alpha val="6000"/>
            </a:srgbClr>
          </a:solidFill>
          <a:ln w="6429">
            <a:solidFill>
              <a:srgbClr val="FFFFFF">
                <a:alpha val="10000"/>
              </a:srgbClr>
            </a:solidFill>
            <a:prstDash val="solid"/>
          </a:ln>
        </p:spPr>
      </p:sp>
      <p:sp>
        <p:nvSpPr>
          <p:cNvPr id="21" name="Text 19"/>
          <p:cNvSpPr/>
          <p:nvPr/>
        </p:nvSpPr>
        <p:spPr>
          <a:xfrm>
            <a:off x="11076540" y="5057814"/>
            <a:ext cx="1430126" cy="372388"/>
          </a:xfrm>
          <a:prstGeom prst="rect">
            <a:avLst/>
          </a:prstGeom>
          <a:noFill/>
          <a:ln/>
        </p:spPr>
        <p:txBody>
          <a:bodyPr wrap="square" lIns="25400" tIns="25400" rIns="25400" bIns="25400" rtlCol="0" anchor="t">
            <a:normAutofit/>
          </a:bodyPr>
          <a:lstStyle/>
          <a:p>
            <a:pPr algn="l" indent="0" marL="0">
              <a:buNone/>
            </a:pPr>
            <a:r>
              <a:rPr lang="en-US" sz="1974" dirty="0">
                <a:solidFill>
                  <a:srgbClr val="EEF3F9"/>
                </a:solidFill>
                <a:latin typeface="Courier New" pitchFamily="34" charset="0"/>
                <a:ea typeface="Courier New" pitchFamily="34" charset="-122"/>
                <a:cs typeface="Courier New" pitchFamily="34" charset="-120"/>
              </a:rPr>
              <a:t>Spark RDD</a:t>
            </a:r>
            <a:endParaRPr lang="en-US" sz="1974" dirty="0"/>
          </a:p>
        </p:txBody>
      </p:sp>
      <p:sp>
        <p:nvSpPr>
          <p:cNvPr id="22" name="Text 20"/>
          <p:cNvSpPr/>
          <p:nvPr/>
        </p:nvSpPr>
        <p:spPr>
          <a:xfrm>
            <a:off x="12771438" y="5063034"/>
            <a:ext cx="323850" cy="361950"/>
          </a:xfrm>
          <a:prstGeom prst="rect">
            <a:avLst/>
          </a:prstGeom>
          <a:noFill/>
          <a:ln/>
        </p:spPr>
        <p:txBody>
          <a:bodyPr wrap="square" lIns="25400" tIns="25400" rIns="25400" bIns="25400" rtlCol="0" anchor="t">
            <a:normAutofit/>
          </a:bodyPr>
          <a:lstStyle/>
          <a:p>
            <a:pPr algn="l" indent="0" marL="0">
              <a:buNone/>
            </a:pPr>
            <a:r>
              <a:rPr lang="en-US" sz="1950" dirty="0">
                <a:solidFill>
                  <a:srgbClr val="56DBDB"/>
                </a:solidFill>
                <a:latin typeface="Arial" pitchFamily="34" charset="0"/>
                <a:ea typeface="Arial" pitchFamily="34" charset="-122"/>
                <a:cs typeface="Arial" pitchFamily="34" charset="-120"/>
              </a:rPr>
              <a:t>→</a:t>
            </a:r>
            <a:endParaRPr lang="en-US" sz="1950" dirty="0"/>
          </a:p>
        </p:txBody>
      </p:sp>
      <p:sp>
        <p:nvSpPr>
          <p:cNvPr id="23" name="Shape 21"/>
          <p:cNvSpPr/>
          <p:nvPr/>
        </p:nvSpPr>
        <p:spPr>
          <a:xfrm>
            <a:off x="13122557" y="4935784"/>
            <a:ext cx="1828930" cy="578349"/>
          </a:xfrm>
          <a:prstGeom prst="roundRect">
            <a:avLst>
              <a:gd name="adj" fmla="val 50000"/>
            </a:avLst>
          </a:prstGeom>
          <a:solidFill>
            <a:srgbClr val="FFFFFF">
              <a:alpha val="6000"/>
            </a:srgbClr>
          </a:solidFill>
          <a:ln w="6426">
            <a:solidFill>
              <a:srgbClr val="FFFFFF">
                <a:alpha val="10000"/>
              </a:srgbClr>
            </a:solidFill>
            <a:prstDash val="solid"/>
          </a:ln>
        </p:spPr>
      </p:sp>
      <p:sp>
        <p:nvSpPr>
          <p:cNvPr id="24" name="Text 22"/>
          <p:cNvSpPr/>
          <p:nvPr/>
        </p:nvSpPr>
        <p:spPr>
          <a:xfrm>
            <a:off x="13360324" y="5057881"/>
            <a:ext cx="1429596" cy="372256"/>
          </a:xfrm>
          <a:prstGeom prst="rect">
            <a:avLst/>
          </a:prstGeom>
          <a:noFill/>
          <a:ln/>
        </p:spPr>
        <p:txBody>
          <a:bodyPr wrap="square" lIns="25400" tIns="25400" rIns="25400" bIns="25400" rtlCol="0" anchor="t">
            <a:normAutofit/>
          </a:bodyPr>
          <a:lstStyle/>
          <a:p>
            <a:pPr algn="l" indent="0" marL="0">
              <a:buNone/>
            </a:pPr>
            <a:r>
              <a:rPr lang="en-US" sz="1973" dirty="0">
                <a:solidFill>
                  <a:srgbClr val="EEF3F9"/>
                </a:solidFill>
                <a:latin typeface="Courier New" pitchFamily="34" charset="0"/>
                <a:ea typeface="Courier New" pitchFamily="34" charset="-122"/>
                <a:cs typeface="Courier New" pitchFamily="34" charset="-120"/>
              </a:rPr>
              <a:t>DataFrame</a:t>
            </a:r>
            <a:endParaRPr lang="en-US" sz="1973" dirty="0"/>
          </a:p>
        </p:txBody>
      </p:sp>
      <p:sp>
        <p:nvSpPr>
          <p:cNvPr id="25" name="Text 23"/>
          <p:cNvSpPr/>
          <p:nvPr/>
        </p:nvSpPr>
        <p:spPr>
          <a:xfrm>
            <a:off x="15054958" y="5063034"/>
            <a:ext cx="323850" cy="361950"/>
          </a:xfrm>
          <a:prstGeom prst="rect">
            <a:avLst/>
          </a:prstGeom>
          <a:noFill/>
          <a:ln/>
        </p:spPr>
        <p:txBody>
          <a:bodyPr wrap="square" lIns="25400" tIns="25400" rIns="25400" bIns="25400" rtlCol="0" anchor="t">
            <a:normAutofit/>
          </a:bodyPr>
          <a:lstStyle/>
          <a:p>
            <a:pPr algn="l" indent="0" marL="0">
              <a:buNone/>
            </a:pPr>
            <a:r>
              <a:rPr lang="en-US" sz="1950" dirty="0">
                <a:solidFill>
                  <a:srgbClr val="56DBDB"/>
                </a:solidFill>
                <a:latin typeface="Arial" pitchFamily="34" charset="0"/>
                <a:ea typeface="Arial" pitchFamily="34" charset="-122"/>
                <a:cs typeface="Arial" pitchFamily="34" charset="-120"/>
              </a:rPr>
              <a:t>→</a:t>
            </a:r>
            <a:endParaRPr lang="en-US" sz="1950" dirty="0"/>
          </a:p>
        </p:txBody>
      </p:sp>
      <p:sp>
        <p:nvSpPr>
          <p:cNvPr id="26" name="Shape 24"/>
          <p:cNvSpPr/>
          <p:nvPr/>
        </p:nvSpPr>
        <p:spPr>
          <a:xfrm>
            <a:off x="1058094" y="5622256"/>
            <a:ext cx="1824682" cy="577006"/>
          </a:xfrm>
          <a:prstGeom prst="roundRect">
            <a:avLst>
              <a:gd name="adj" fmla="val 50000"/>
            </a:avLst>
          </a:prstGeom>
          <a:solidFill>
            <a:srgbClr val="FFFFFF">
              <a:alpha val="6000"/>
            </a:srgbClr>
          </a:solidFill>
          <a:ln w="6411">
            <a:solidFill>
              <a:srgbClr val="FFFFFF">
                <a:alpha val="10000"/>
              </a:srgbClr>
            </a:solidFill>
            <a:prstDash val="solid"/>
          </a:ln>
        </p:spPr>
      </p:sp>
      <p:sp>
        <p:nvSpPr>
          <p:cNvPr id="27" name="Text 25"/>
          <p:cNvSpPr/>
          <p:nvPr/>
        </p:nvSpPr>
        <p:spPr>
          <a:xfrm>
            <a:off x="1295307" y="5744068"/>
            <a:ext cx="1426457" cy="371482"/>
          </a:xfrm>
          <a:prstGeom prst="rect">
            <a:avLst/>
          </a:prstGeom>
          <a:noFill/>
          <a:ln/>
        </p:spPr>
        <p:txBody>
          <a:bodyPr wrap="square" lIns="25400" tIns="25400" rIns="25400" bIns="25400" rtlCol="0" anchor="t">
            <a:normAutofit/>
          </a:bodyPr>
          <a:lstStyle/>
          <a:p>
            <a:pPr algn="l" indent="0" marL="0">
              <a:buNone/>
            </a:pPr>
            <a:r>
              <a:rPr lang="en-US" sz="1969" dirty="0">
                <a:solidFill>
                  <a:srgbClr val="EEF3F9"/>
                </a:solidFill>
                <a:latin typeface="Courier New" pitchFamily="34" charset="0"/>
                <a:ea typeface="Courier New" pitchFamily="34" charset="-122"/>
                <a:cs typeface="Courier New" pitchFamily="34" charset="-120"/>
              </a:rPr>
              <a:t>Spark SQL</a:t>
            </a:r>
            <a:endParaRPr lang="en-US" sz="1969" dirty="0"/>
          </a:p>
        </p:txBody>
      </p:sp>
      <p:sp>
        <p:nvSpPr>
          <p:cNvPr id="28" name="Text 26"/>
          <p:cNvSpPr/>
          <p:nvPr/>
        </p:nvSpPr>
        <p:spPr>
          <a:xfrm>
            <a:off x="2988370" y="5748834"/>
            <a:ext cx="323850" cy="361950"/>
          </a:xfrm>
          <a:prstGeom prst="rect">
            <a:avLst/>
          </a:prstGeom>
          <a:noFill/>
          <a:ln/>
        </p:spPr>
        <p:txBody>
          <a:bodyPr wrap="square" lIns="25400" tIns="25400" rIns="25400" bIns="25400" rtlCol="0" anchor="t">
            <a:normAutofit/>
          </a:bodyPr>
          <a:lstStyle/>
          <a:p>
            <a:pPr algn="l" indent="0" marL="0">
              <a:buNone/>
            </a:pPr>
            <a:r>
              <a:rPr lang="en-US" sz="1950" dirty="0">
                <a:solidFill>
                  <a:srgbClr val="56DBDB"/>
                </a:solidFill>
                <a:latin typeface="Arial" pitchFamily="34" charset="0"/>
                <a:ea typeface="Arial" pitchFamily="34" charset="-122"/>
                <a:cs typeface="Arial" pitchFamily="34" charset="-120"/>
              </a:rPr>
              <a:t>→</a:t>
            </a:r>
            <a:endParaRPr lang="en-US" sz="1950" dirty="0"/>
          </a:p>
        </p:txBody>
      </p:sp>
      <p:sp>
        <p:nvSpPr>
          <p:cNvPr id="29" name="Shape 27"/>
          <p:cNvSpPr/>
          <p:nvPr/>
        </p:nvSpPr>
        <p:spPr>
          <a:xfrm>
            <a:off x="3346072" y="5623665"/>
            <a:ext cx="1815764" cy="574187"/>
          </a:xfrm>
          <a:prstGeom prst="roundRect">
            <a:avLst>
              <a:gd name="adj" fmla="val 50000"/>
            </a:avLst>
          </a:prstGeom>
          <a:solidFill>
            <a:srgbClr val="FFFFFF">
              <a:alpha val="6000"/>
            </a:srgbClr>
          </a:solidFill>
          <a:ln w="6380">
            <a:solidFill>
              <a:srgbClr val="FFFFFF">
                <a:alpha val="10000"/>
              </a:srgbClr>
            </a:solidFill>
            <a:prstDash val="solid"/>
          </a:ln>
        </p:spPr>
      </p:sp>
      <p:sp>
        <p:nvSpPr>
          <p:cNvPr id="30" name="Text 28"/>
          <p:cNvSpPr/>
          <p:nvPr/>
        </p:nvSpPr>
        <p:spPr>
          <a:xfrm>
            <a:off x="3582126" y="5744883"/>
            <a:ext cx="1419855" cy="369853"/>
          </a:xfrm>
          <a:prstGeom prst="rect">
            <a:avLst/>
          </a:prstGeom>
          <a:noFill/>
          <a:ln/>
        </p:spPr>
        <p:txBody>
          <a:bodyPr wrap="square" lIns="25400" tIns="25400" rIns="25400" bIns="25400" rtlCol="0" anchor="t">
            <a:normAutofit/>
          </a:bodyPr>
          <a:lstStyle/>
          <a:p>
            <a:pPr algn="l" indent="0" marL="0">
              <a:buNone/>
            </a:pPr>
            <a:r>
              <a:rPr lang="en-US" sz="1959" dirty="0">
                <a:solidFill>
                  <a:srgbClr val="EEF3F9"/>
                </a:solidFill>
                <a:latin typeface="Courier New" pitchFamily="34" charset="0"/>
                <a:ea typeface="Courier New" pitchFamily="34" charset="-122"/>
                <a:cs typeface="Courier New" pitchFamily="34" charset="-120"/>
              </a:rPr>
              <a:t>Amazon S3</a:t>
            </a:r>
            <a:endParaRPr lang="en-US" sz="1959" dirty="0"/>
          </a:p>
        </p:txBody>
      </p:sp>
      <p:sp>
        <p:nvSpPr>
          <p:cNvPr id="31" name="Text 29"/>
          <p:cNvSpPr/>
          <p:nvPr/>
        </p:nvSpPr>
        <p:spPr>
          <a:xfrm>
            <a:off x="5271889" y="5748834"/>
            <a:ext cx="323850" cy="361950"/>
          </a:xfrm>
          <a:prstGeom prst="rect">
            <a:avLst/>
          </a:prstGeom>
          <a:noFill/>
          <a:ln/>
        </p:spPr>
        <p:txBody>
          <a:bodyPr wrap="square" lIns="25400" tIns="25400" rIns="25400" bIns="25400" rtlCol="0" anchor="t">
            <a:normAutofit/>
          </a:bodyPr>
          <a:lstStyle/>
          <a:p>
            <a:pPr algn="l" indent="0" marL="0">
              <a:buNone/>
            </a:pPr>
            <a:r>
              <a:rPr lang="en-US" sz="1950" dirty="0">
                <a:solidFill>
                  <a:srgbClr val="56DBDB"/>
                </a:solidFill>
                <a:latin typeface="Arial" pitchFamily="34" charset="0"/>
                <a:ea typeface="Arial" pitchFamily="34" charset="-122"/>
                <a:cs typeface="Arial" pitchFamily="34" charset="-120"/>
              </a:rPr>
              <a:t>→</a:t>
            </a:r>
            <a:endParaRPr lang="en-US" sz="1950" dirty="0"/>
          </a:p>
        </p:txBody>
      </p:sp>
      <p:sp>
        <p:nvSpPr>
          <p:cNvPr id="32" name="Shape 30"/>
          <p:cNvSpPr/>
          <p:nvPr/>
        </p:nvSpPr>
        <p:spPr>
          <a:xfrm>
            <a:off x="5643313" y="5627777"/>
            <a:ext cx="1936852" cy="565964"/>
          </a:xfrm>
          <a:prstGeom prst="roundRect">
            <a:avLst>
              <a:gd name="adj" fmla="val 50000"/>
            </a:avLst>
          </a:prstGeom>
          <a:gradFill rotWithShape="1">
            <a:gsLst>
              <a:gs pos="0">
                <a:srgbClr val="55DCDC">
                  <a:alpha val="25000"/>
                </a:srgbClr>
              </a:gs>
              <a:gs pos="100000">
                <a:srgbClr val="FFFFFF">
                  <a:alpha val="6000"/>
                </a:srgbClr>
              </a:gs>
            </a:gsLst>
            <a:lin ang="4200000" scaled="0"/>
          </a:gradFill>
          <a:ln w="6288">
            <a:solidFill>
              <a:srgbClr val="75E1E1">
                <a:alpha val="44000"/>
              </a:srgbClr>
            </a:solidFill>
            <a:prstDash val="solid"/>
          </a:ln>
        </p:spPr>
      </p:sp>
      <p:sp>
        <p:nvSpPr>
          <p:cNvPr id="33" name="Text 31"/>
          <p:cNvSpPr/>
          <p:nvPr/>
        </p:nvSpPr>
        <p:spPr>
          <a:xfrm>
            <a:off x="5875987" y="5747259"/>
            <a:ext cx="1547705" cy="365101"/>
          </a:xfrm>
          <a:prstGeom prst="rect">
            <a:avLst/>
          </a:prstGeom>
          <a:noFill/>
          <a:ln/>
        </p:spPr>
        <p:txBody>
          <a:bodyPr wrap="square" lIns="25400" tIns="25400" rIns="25400" bIns="25400" rtlCol="0" anchor="t">
            <a:normAutofit/>
          </a:bodyPr>
          <a:lstStyle/>
          <a:p>
            <a:pPr algn="l" indent="0" marL="0">
              <a:buNone/>
            </a:pPr>
            <a:r>
              <a:rPr lang="en-US" sz="1931" dirty="0">
                <a:solidFill>
                  <a:srgbClr val="56DBDB">
                    <a:alpha val="95000"/>
                  </a:srgbClr>
                </a:solidFill>
                <a:latin typeface="Courier New" pitchFamily="34" charset="0"/>
                <a:ea typeface="Courier New" pitchFamily="34" charset="-122"/>
                <a:cs typeface="Courier New" pitchFamily="34" charset="-120"/>
              </a:rPr>
              <a:t>Amazon EMR</a:t>
            </a:r>
            <a:endParaRPr lang="en-US" sz="1931" dirty="0"/>
          </a:p>
        </p:txBody>
      </p:sp>
      <p:sp>
        <p:nvSpPr>
          <p:cNvPr id="34" name="Text 32"/>
          <p:cNvSpPr/>
          <p:nvPr/>
        </p:nvSpPr>
        <p:spPr>
          <a:xfrm>
            <a:off x="1066800" y="6691809"/>
            <a:ext cx="16639032" cy="952500"/>
          </a:xfrm>
          <a:prstGeom prst="rect">
            <a:avLst/>
          </a:prstGeom>
          <a:noFill/>
          <a:ln/>
        </p:spPr>
        <p:txBody>
          <a:bodyPr wrap="square" lIns="25400" tIns="25400" rIns="25400" bIns="25400" rtlCol="0" anchor="t">
            <a:normAutofit/>
          </a:bodyPr>
          <a:lstStyle/>
          <a:p>
            <a:pPr algn="l" indent="0" marL="0">
              <a:lnSpc>
                <a:spcPct val="130909"/>
              </a:lnSpc>
              <a:buNone/>
            </a:pPr>
            <a:r>
              <a:rPr lang="en-US" sz="2400" dirty="0">
                <a:solidFill>
                  <a:srgbClr val="8EA0B5">
                    <a:alpha val="7000"/>
                  </a:srgbClr>
                </a:solidFill>
                <a:latin typeface="Arial" pitchFamily="34" charset="0"/>
                <a:ea typeface="Arial" pitchFamily="34" charset="-122"/>
                <a:cs typeface="Arial" pitchFamily="34" charset="-120"/>
              </a:rPr>
              <a:t>Pour chaque brique : </a:t>
            </a:r>
            <a:pPr algn="l" indent="0" marL="0">
              <a:lnSpc>
                <a:spcPct val="130909"/>
              </a:lnSpc>
              <a:buNone/>
            </a:pPr>
            <a:r>
              <a:rPr lang="en-US" sz="2400" dirty="0">
                <a:solidFill>
                  <a:srgbClr val="EEF3F9">
                    <a:alpha val="7000"/>
                  </a:srgbClr>
                </a:solidFill>
                <a:latin typeface="Arial" pitchFamily="34" charset="0"/>
                <a:ea typeface="Arial" pitchFamily="34" charset="-122"/>
                <a:cs typeface="Arial" pitchFamily="34" charset="-120"/>
              </a:rPr>
              <a:t>quelle limite technique elle résout </a:t>
            </a:r>
            <a:pPr algn="l" indent="0" marL="0">
              <a:lnSpc>
                <a:spcPct val="130909"/>
              </a:lnSpc>
              <a:buNone/>
            </a:pPr>
            <a:r>
              <a:rPr lang="en-US" sz="2400" dirty="0">
                <a:solidFill>
                  <a:srgbClr val="8EA0B5">
                    <a:alpha val="7000"/>
                  </a:srgbClr>
                </a:solidFill>
                <a:latin typeface="Arial" pitchFamily="34" charset="0"/>
                <a:ea typeface="Arial" pitchFamily="34" charset="-122"/>
                <a:cs typeface="Arial" pitchFamily="34" charset="-120"/>
              </a:rPr>
              <a:t>par rapport à l'étape précédente — et un même résultat métier retrouvé par quatre méthodes : RDD, DataFrame, Spark SQL, HiveQL.</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104</Slides>
  <Notes>104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104</vt:i4>
      </vt:variant>
    </vt:vector>
  </HeadingPairs>
  <TitlesOfParts>
    <vt:vector size="10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2026-07-22T11:50:31Z</dcterms:created>
  <dcterms:modified xsi:type="dcterms:W3CDTF">2026-07-22T11:50:31Z</dcterms:modified>
</cp:coreProperties>
</file>