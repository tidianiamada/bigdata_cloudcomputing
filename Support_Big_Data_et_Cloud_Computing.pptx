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module : introduction au Big Data et au Cloud Computing, une formation de 20h construite entièrement autour d'ateliers pratiques.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module s'articule autour d'un fil conducteur unique illustrant l'évolution des architectures de données. Docker en constitue le socle technique transversal ; l'écosystème Hadoop (HDFS, YARN, Hive) fournit le cadre au sein duquel Spark s'est imposé comme moteur de calcul.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Objectifs pédagogiques : à l'issue du module l'étudiant sait expliquer les enjeux, identifier les limites du relationnel, manipuler MongoDB, développer en PySpark, comprendre Hadoop/Hive, utiliser Docker, expliquer le Cloud et déployer sur EMR.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jeux de données réels : countries.json (250 pays, atelier 2 MongoDB) et purchases.txt (tickets de caisse, fil rouge des ateliers 4, 5, 7). Les mêmes questions métier traitées successivement en RDD, DataFrame, Spark SQL, HiveQL, puis à l'échelle sur EMR.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première séance introduit les facteurs ayant conduit à l’émergence du Big Data : croissance des volumes, diversification des sources de données et apparition de nouvelles contraintes de traitement, avant de formaliser les 5V et le principe des architectures distribuées.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évolutions ont bouleversé la production de données depuis les années 2000 : Internet, les réseaux sociaux et le mobile, puis les capteurs et objets connectés. Les organisations ne traitent plus seulement leurs propres saisies, mais des flux continus, multi-sources, multi-formats.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SGBDR restent excellents pour la gestion, mais montrent des limites face aux données massives : scalabilité verticale plafonnée, schéma rigide, jointures coûteuses à grande échelle, disponibilité liée à un serveur unique. La vraie question : à partir de quel volume/vitesse/variété un autre modèle devient nécessaire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Changement de paradigme : au lieu de renforcer une seule machine (scale-up), on répartit données et calculs sur plusieurs machines (scale-out, scalabilité horizontale). Avantages : capacité extensible, tolérance aux pannes, coût maîtrisé avec des machines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5V donnent une grille de lecture pour qualifier un problème Big Data : Volume, Vélocité, Variété, Véracité, Valeur. Les 3V originels de Doug Laney (2001) ont été étendus à 5. La Valeur est l'objectif final : une donnée n'a d'intérêt que si on en extrait une information exploitable.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d'or empirique : trois questions pour trancher entre une infrastructure Big Data et un système standard. Le test de la RAM (les données tiennent-elles sur une seule machine ?), scale-up vs scale-out (peut-on simplement acheter un serveur plus puissant, ou faut-il distribuer ?), et la rupture technologique (passe-t-on plus de temps à contourner qu'à développer ?). Une seule réponse « Non/Oui » vers la distribution suffit à qualifier un problème Big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Principe d'une architecture distribuée : un coordinateur répartit données et calcul sur plusieurs nœuds, chacun stockant une partie des données et exécutant une partie du traitement. Ce principe sous-tend NoSQL, Spark, Hadoop et le Cloud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niveaux d'analytique, du plus simple au plus complexe : descriptive (que s'est-il passé ?), diagnostique (pourquoi ?), prédictive (que va-t-il se passer ?), prescriptive (que faire ?). Le module se concentre sur le descriptif à grande échelle, brique indispensable avant le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 plateforme Big Data s'organise en quatre étapes : ingestion, stockage, traitement, analyse/visualisation, jusqu'à la décision. Trois métiers interviennent : Data Engineer (infrastructure), Data Analyst (analyses), Data Scientist (modèles prédictifs). Le module place l'étudiant côté Engineer puis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même d'introduire un outil Big Data, les commandes shell standard caractérisent un jeu de données trop volumineux pour un tableur. Elles ne chargent jamais tout en mémoire : elles traitent le flux ligne par ligne — un avant-goût du principe des architectures distribuées.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question : posez la ou les questions à la classe et recueillez les réponses avant d'afficher la slide de correction qui 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de fin d'atelier 1 : vérifier la compréhension de la définition du Big Data et de ce qui distingue une plateforme distribuée d'un SGBDR classique. Réponses : B et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pratique sur les 5V : pour chaque situation, déterminer s'il s'agit d'un problème Big Data et quels V sont mobilisés. Message clé : un fort volume n'est ni nécessaire ni suffisant — la vélocité ou la variété peuvent suffire, et sans Valeur la donnée reste inexploitée.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2 : NoSQL avec MongoDB. Principe du NoSQL, théorème CAP, quatre familles de modèles, et manipulation de MongoDB dans un conteneur Docker.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NoSQL = Not Only SQL. Ces bases ne remplacent pas le relationnel : elles offrent des modèles alternatifs, plus flexibles, conçus pour un schéma souple, la scalabilité horizontale, et la priorité à la disponibilité et la rapidité — quitte à assouplir la cohérence stricte (théorème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Théorème CAP : dans un système distribué, on ne peut garantir simultanément que deux des trois propriétés — Cohérence, Disponibilité, tolérance au Partitionnement. Les bases NoSQL choisissent souvent AP ou CP ; un SGBDR classique privilégie CA sur une seule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grandes familles NoSQL : clé-valeur (Redis, DynamoDB), orienté documents (MongoDB, CouchDB), orienté colonnes (Cassandra, HBase), orienté graphes (Neo4j). Chacune répond à des cas d'usage distincts.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MongoDB est orienté documents : chaque enregistrement est un document BSON regroupé dans des collections. Pas de schéma fixe, imbrication de structures sans jointure, requêtes proches de JSON. La correspondance de vocabulaire aide à passer du SQL au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données countries.json contient 250 fiches de pays. Chaque document embarque directement ses tableaux de devises et de langues — ce que le relationnel exigerait de répartir sur des tables séparées reliées par des clés étrangères.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combine filtre et projection ; aggregate enchaîne un pipeline d'étages ($match, $group, $sum, $sort) qui correspondent aux clauses SQL WHERE, GROUP BY, agrégats et ORDER BY. Ici : population totale par région, triée.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question : posez la ou les questions à la classe et recueillez les réponses avant d'afficher la slide de correction qui 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NoSQL : MongoDB est préféré pour sa capacité à accueillir des structures hétérogènes, et convient particulièrement aux documents JSON. Réponses : B et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constitue l’environnement d’exécution utilisé tout au long du module afin d’assurer la reproductibilité des différents ateliers pratiques. Cette séance en présente les concepts fondamentaux, la comparaison avec la virtualisation et l’orchestration multi-services.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empaquette une application avec tout son environnement d'exécution dans une unité portable et reproductible : le conteneur. Fini le « ça marche sur ma machine ». Cinq concepts à maîtriser : image, conteneur, registre, volume,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conteneur partage le noyau de l'hôte : il démarre en quelques secondes et consomme peu, contre des dizaines de secondes à minutes pour une VM avec son OS invité complet. C'est cette légèreté qui rend Docker adapté aux plateformes Big Data multi-services.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Compose décrit dans un fichier unique l'ensemble des services, images, ports, volumes et réseau partagé, puis les démarre d'une seule commande. Ici une plateforme locale MongoDB + Spark (master + worker), reproduite plus tard dans le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question : posez la ou les questions à la classe et recueillez les réponses avant d'afficher la slide de correction qui 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Docker : l'intérêt central est de fournir une plateforme Big Data identique et reproductible pour tous ; une image contient les instructions permettant de créer un conteneur. Réponses : B et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4 : traitement distribué avec Apache Spark. Limites du mono-machine, du MapReduce à Spark, architecture Driver/Executors, et les deux API RDD et DataFrame sur le jeu fil rouge purchases.txt.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script pandas classique charge tout en mémoire sur une seule machine : la RAM plafonne le volume, le traitement est séquentiel, et une panne oblige à tout recommencer. Le MapReduce de Hadoop a été la première réponse ; Spark en reprend la logique mais travaille en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Spark : le Driver exécute le programme principal et planifie les tâches ; le Cluster Manager alloue les ressources (Standalone en local, YARN sur EMR) ; les Executors exécutent les tâches en parallèle et stockent les données en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RDD est la structure bas niveau, proche du MapReduce (paires clé-valeur, reduceByKey), résiliente par son lignage. Le DataFrame est l'abstraction haut niveau, optimisée automatiquement par Catalyst. Recommandé pour l'usage courant. Évaluation paresseuse : rien ne s'exécute avant une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en RDD : montant total des ventes par magasin, trié. On parse chaque ligne, on projette (magasin, coût), on agrège avec reduceByKey, on trie. L'API RDD manipule explicitement des paires clé-valeur, dans l'esprit Map/Reduce.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implémentation résout le même problème à l’aide de l’API DataFrame, qui offre un niveau d’abstraction supérieur et permet au moteur Catalyst d’optimiser automatiquement le plan d’exécution, pour un résultat identique à l’approche RDD.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question : posez la ou les questions à la classe et recueillez les réponses avant d'afficher la slide de correction qui 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Spark : Spark est plus rapide car il exploite la mémoire pour les traitements intermédiaires ; PySpark est la bibliothèque Python d'accès à Spark. Réponses : A et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5 : Spark SQL et introduction à Hive. Le métastore, le positionnement de Hive dans l'écosystème Hadoop, et la même question métier exprimée en SQL — pour aboutir à quatre méthodes équivalentes.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Spark SQL interroge des DataFrames en SQL standard, strictement équivalent à l'API programmatique (même moteur Catalyst). Le métastore est un catalogue centralisé qui décrit les tables — noms, colonnes, types, emplacement, format — indépendamment du moteur qui les interroge.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Hive interroge de grands volumes sur HDFS en HiveQL, sans écrire de MapReduce bas niveau. Écosystème : Hive au-dessus du Hive Metastore, lui-même au-dessus de YARN (ressources) et HDFS (stockage). Aujourd'hui Spark est le moteur principal ; Hive reste utile comme catalogue de métadonnées partagé.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enregistre le DataFrame comme vue temporaire, puis on exécute du SQL standard : GROUP BY, ORDER BY. spark.sql renvoie un DataFrame comme un autre — on peut y enchaîner des méthodes DataFrame. Les deux API sont interchangeables à tout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du fil rouge : sur la même question métier (ventes par magasin sur purchases.txt), RDD, DataFrame, Spark SQL et HiveQL produisent un résultat strictement identique — avec des niveaux d'abstraction et de performance différents.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6 : introduction au Cloud Computing. Virtualisation, modèles de service IaaS/PaaS/SaaS, types de déploiement, élasticité et haute disponibilité, et les services AWS fondamentaux : régions, AZ, IAM, VPC, EC2,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Cloud : accéder à des ressources (calcul, stockage, réseau, bases) à la demande via Internet, en pay-as-you-go, sans acheter de serveurs. La virtualisation rend le Cloud possible : plusieurs VM isolées sur un même serveur physique, grâce à un hyperviseur. Un VPS est une VM louée.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modèles de service selon le partage des responsabilités. IaaS : le prestataire fournit serveurs, stockage, réseau ; le client gère OS, middleware, apps, données (EC2, S3). PaaS : + environnement d'exécution, le client ne gère que code et données (Beanstalk, Heroku). SaaS : application complète prête à l'emploi (Gmail, Salesforce). EMR se situe entre IaaS et PaaS.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types de déploiement : public (infrastructure partagée, gérée par un tiers, coût faible, rapide), privé (dédié à une organisation, contrôle et sécurité renforcés, coût élevé), hybride (combinaison — garder le sensible en interne, exploiter l'élasticité du public pour les 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promesses centrales du Cloud. Élasticité : ajuster automatiquement les ressources à la hausse comme à la baisse selon la charge, sans intervention — ce qui permet de ne payer que l'utilisé. Haute disponibilité : rester opérationnel malgré la panne d'un composant, par réplication sur plusieurs zones séparées.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région AWS (ex. eu-west-3 à Paris) est une zone géographique composée de plusieurs zones de disponibilité — des datacenters physiquement distincts reliés par un réseau à faible latence. Répartir des ressources sur plusieurs AZ permet de survivre à la panne d'un datacenter.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services AWS fondamentaux : EC2 (machines virtuelles à la demande) et S3 (stockage d'objets en buckets, le plus utilisé pour le Big Data) forment la base calcul + stockage ; IAM (qui peut faire quoi, principe du moindre privilège), VPC (réseau privé isolé) et Security Groups (pare-feu par ressource) en assurent la sécurité. EMR lit et écrit typiquement depuis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question : posez la ou les questions à la classe et recueillez les réponses avant d'afficher la slide de correction qui 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Cloud : EC2 relève de l'IaaS ; un Security Group définit les règles de trafic entrant/sortant d'une instance ; S3 est un stockage objet durable, scalable et indépendant du cycle de vie des instances. Réponses : B, B et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séance transpose vers une infrastructure Cloud managée les traitements précédemment réalisés en local sur Docker, afin d’étudier les problématiques de montée en charge et d’exploitation d’un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une instance EC2 puissante reste une seule machine : RAM et cœurs plafonnés, panne = indisponibilité totale. Un cluster répartit stockage et calcul, apportant trois bénéfices : scalabilité horizontale, parallélisme réel, résilience.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Amazon EMR (Elastic MapReduce) déploie en quelques minutes un cluster préconfiguré : Spark, Hadoop, Hive, Zeppelin, Hue. Un nœud maître (YARN ResourceManager, NameNode, Driver Spark, interfaces) ; des nœuds core (Executors + stockage HDFS) ; des nœuds task optionnels (calcul supplémentaire, souvent en Spot). Les données viennent de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EMR, Spark tourne avec YARN. Le principe économique central : séparer strictement le stockage (S3, permanent) du calcul (cluster EMR, temporaire, facturé à l'usage). Les données brutes restent sur S3, on démarre un cluster à la demande, on réécrit les résultats sur S3, puis on arrête le cluster — sans perdre les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cluster EMR est facturé à l'heure/seconde : coût des instances EC2 + surcoût EMR. S3 est facturé séparément. Bonnes pratiques : terminer systématiquement le cluster, séparer stockage et calcul, utiliser des instances Spot pour les tasks, dimensionner au juste besoin, automatiser via des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question : posez la ou les questions à la classe et recueillez les réponses avant d'afficher la slide de correction qui 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Quiz EMR : l'intérêt principal est de déployer et gérer facilement un cluster Big Data (Spark, Hadoop, Hive) sans configurer manuellement chaque nœud. Réponse :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introduit à l'atelier 1 se retrouve intégralement sur AWS : données brutes sur S3, cluster EMR démarré à la demande pour traiter, résultats réécrits sur S3, cluster arrêté, puis QuickSight ou Athena pour l'analyse et la visualisation. La séparation stockage/calcul referme le pipeline ouvert à l'atelier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 : purchases.txt traverse tout le module — Docker (socle), MongoDB (NoSQL), Spark RDD puis DataFrame, Spark SQL et Hive, S3, puis EMR à l'échelle. Chaque étudiant doit expliquer, pour chaque brique, quelle limite elle résout par rapport à la précédente, et retrouver un même résultat métier obtenu par quatre méthodes.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svg"/><Relationship Id="rId5" Type="http://schemas.openxmlformats.org/officeDocument/2006/relationships/image" Target="../media/image-28-5.png"/><Relationship Id="rId6" Type="http://schemas.openxmlformats.org/officeDocument/2006/relationships/image" Target="../media/image-28-6.svg"/><Relationship Id="rId7" Type="http://schemas.openxmlformats.org/officeDocument/2006/relationships/image" Target="../media/image-28-7.png"/><Relationship Id="rId8" Type="http://schemas.openxmlformats.org/officeDocument/2006/relationships/image" Target="../media/image-28-8.svg"/><Relationship Id="rId9" Type="http://schemas.openxmlformats.org/officeDocument/2006/relationships/image" Target="../media/image-28-9.png"/><Relationship Id="rId10" Type="http://schemas.openxmlformats.org/officeDocument/2006/relationships/image" Target="../media/image-28-10.svg"/><Relationship Id="rId11" Type="http://schemas.openxmlformats.org/officeDocument/2006/relationships/slideLayout" Target="../slideLayouts/slideLayout1.xml"/><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svg"/><Relationship Id="rId3" Type="http://schemas.openxmlformats.org/officeDocument/2006/relationships/image" Target="../media/image-29-3.png"/><Relationship Id="rId4" Type="http://schemas.openxmlformats.org/officeDocument/2006/relationships/image" Target="../media/image-29-4.sv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svg"/><Relationship Id="rId3" Type="http://schemas.openxmlformats.org/officeDocument/2006/relationships/image" Target="../media/image-47-3.png"/><Relationship Id="rId4" Type="http://schemas.openxmlformats.org/officeDocument/2006/relationships/image" Target="../media/image-47-4.sv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1.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2443560"/>
            <a:ext cx="17769840" cy="342900"/>
          </a:xfrm>
          <a:prstGeom prst="rect">
            <a:avLst/>
          </a:prstGeom>
          <a:noFill/>
          <a:ln/>
        </p:spPr>
        <p:txBody>
          <a:bodyPr wrap="square" lIns="25400" tIns="25400" rIns="25400" bIns="25400" rtlCol="0" anchor="t">
            <a:normAutofit/>
          </a:bodyPr>
          <a:lstStyle/>
          <a:p>
            <a:pPr algn="l" indent="0" marL="0">
              <a:buNone/>
            </a:pPr>
            <a:r>
              <a:rPr lang="en-US" sz="1800" spc="504" kern="0" dirty="0">
                <a:solidFill>
                  <a:srgbClr val="56DBDB"/>
                </a:solidFill>
                <a:latin typeface="Courier New" pitchFamily="34" charset="0"/>
                <a:ea typeface="Courier New" pitchFamily="34" charset="-122"/>
                <a:cs typeface="Courier New" pitchFamily="34" charset="-120"/>
              </a:rPr>
              <a:t>LICENCE INFORMATIQUE 2 · SUPDECO</a:t>
            </a:r>
            <a:endParaRPr lang="en-US" sz="1800" dirty="0"/>
          </a:p>
        </p:txBody>
      </p:sp>
      <p:sp>
        <p:nvSpPr>
          <p:cNvPr id="3" name="Text 1"/>
          <p:cNvSpPr/>
          <p:nvPr/>
        </p:nvSpPr>
        <p:spPr>
          <a:xfrm>
            <a:off x="1066800" y="3072210"/>
            <a:ext cx="13204146" cy="2091531"/>
          </a:xfrm>
          <a:prstGeom prst="rect">
            <a:avLst/>
          </a:prstGeom>
          <a:noFill/>
          <a:ln/>
        </p:spPr>
        <p:txBody>
          <a:bodyPr wrap="square" lIns="25400" tIns="25400" rIns="25400" bIns="25400" rtlCol="0" anchor="t">
            <a:normAutofit/>
          </a:bodyPr>
          <a:lstStyle/>
          <a:p>
            <a:pPr algn="l" indent="0" marL="0">
              <a:lnSpc>
                <a:spcPct val="85556"/>
              </a:lnSpc>
              <a:buNone/>
            </a:pPr>
            <a:r>
              <a:rPr lang="en-US" sz="8250" b="1" spc="-247" kern="0" dirty="0">
                <a:solidFill>
                  <a:srgbClr val="EEF3F9"/>
                </a:solidFill>
                <a:latin typeface="Arial" pitchFamily="34" charset="0"/>
                <a:ea typeface="Arial" pitchFamily="34" charset="-122"/>
                <a:cs typeface="Arial" pitchFamily="34" charset="-120"/>
              </a:rPr>
              <a:t>Introduction au Big Data et au Cloud Computing</a:t>
            </a:r>
            <a:endParaRPr lang="en-US" sz="8250" dirty="0"/>
          </a:p>
        </p:txBody>
      </p:sp>
      <p:sp>
        <p:nvSpPr>
          <p:cNvPr id="4" name="Text 2"/>
          <p:cNvSpPr/>
          <p:nvPr/>
        </p:nvSpPr>
        <p:spPr>
          <a:xfrm>
            <a:off x="1066800" y="5449491"/>
            <a:ext cx="10831068" cy="1104900"/>
          </a:xfrm>
          <a:prstGeom prst="rect">
            <a:avLst/>
          </a:prstGeom>
          <a:noFill/>
          <a:ln/>
        </p:spPr>
        <p:txBody>
          <a:bodyPr wrap="square" lIns="25400" tIns="25400" rIns="25400" bIns="25400" rtlCol="0" anchor="t">
            <a:normAutofit/>
          </a:bodyPr>
          <a:lstStyle/>
          <a:p>
            <a:pPr algn="l" indent="0" marL="0">
              <a:lnSpc>
                <a:spcPct val="121739"/>
              </a:lnSpc>
              <a:buNone/>
            </a:pPr>
            <a:r>
              <a:rPr lang="en-US" sz="3000" dirty="0">
                <a:solidFill>
                  <a:srgbClr val="8EA0B5"/>
                </a:solidFill>
                <a:latin typeface="Arial" pitchFamily="34" charset="0"/>
                <a:ea typeface="Arial" pitchFamily="34" charset="-122"/>
                <a:cs typeface="Arial" pitchFamily="34" charset="-120"/>
              </a:rPr>
              <a:t>Construction progressive d’une plateforme Big Data, des bases de données au Cloud, structurée en sept ateliers.</a:t>
            </a:r>
            <a:endParaRPr lang="en-US" sz="3000" dirty="0"/>
          </a:p>
        </p:txBody>
      </p:sp>
      <p:sp>
        <p:nvSpPr>
          <p:cNvPr id="5" name="Text 3"/>
          <p:cNvSpPr/>
          <p:nvPr/>
        </p:nvSpPr>
        <p:spPr>
          <a:xfrm>
            <a:off x="1066800" y="7125891"/>
            <a:ext cx="150876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Enseignant</a:t>
            </a:r>
            <a:endParaRPr lang="en-US" sz="1800" dirty="0"/>
          </a:p>
        </p:txBody>
      </p:sp>
      <p:sp>
        <p:nvSpPr>
          <p:cNvPr id="6" name="Text 4"/>
          <p:cNvSpPr/>
          <p:nvPr/>
        </p:nvSpPr>
        <p:spPr>
          <a:xfrm>
            <a:off x="1066800" y="7506891"/>
            <a:ext cx="1508760" cy="374650"/>
          </a:xfrm>
          <a:prstGeom prst="rect">
            <a:avLst/>
          </a:prstGeom>
          <a:noFill/>
          <a:ln/>
        </p:spPr>
        <p:txBody>
          <a:bodyPr wrap="square" lIns="25400" tIns="25400" rIns="25400" bIns="25400" rtlCol="0" anchor="t">
            <a:normAutofit/>
          </a:bodyPr>
          <a:lstStyle/>
          <a:p>
            <a:pPr algn="l" indent="0" marL="0">
              <a:buNone/>
            </a:pPr>
            <a:r>
              <a:rPr lang="en-US" sz="2025" dirty="0">
                <a:solidFill>
                  <a:srgbClr val="EEF3F9"/>
                </a:solidFill>
                <a:latin typeface="Courier New" pitchFamily="34" charset="0"/>
                <a:ea typeface="Courier New" pitchFamily="34" charset="-122"/>
                <a:cs typeface="Courier New" pitchFamily="34" charset="-120"/>
              </a:rPr>
              <a:t>M. TOP</a:t>
            </a:r>
            <a:endParaRPr lang="en-US" sz="2025" dirty="0"/>
          </a:p>
        </p:txBody>
      </p:sp>
      <p:sp>
        <p:nvSpPr>
          <p:cNvPr id="7" name="Shape 5"/>
          <p:cNvSpPr/>
          <p:nvPr/>
        </p:nvSpPr>
        <p:spPr>
          <a:xfrm>
            <a:off x="2857500" y="7125891"/>
            <a:ext cx="9525" cy="717550"/>
          </a:xfrm>
          <a:prstGeom prst="rect">
            <a:avLst/>
          </a:prstGeom>
          <a:solidFill>
            <a:srgbClr val="FFFFFF">
              <a:alpha val="10000"/>
            </a:srgbClr>
          </a:solidFill>
          <a:ln/>
        </p:spPr>
      </p:sp>
      <p:sp>
        <p:nvSpPr>
          <p:cNvPr id="8" name="Text 6"/>
          <p:cNvSpPr/>
          <p:nvPr/>
        </p:nvSpPr>
        <p:spPr>
          <a:xfrm>
            <a:off x="3282950" y="7125891"/>
            <a:ext cx="152764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Volume</a:t>
            </a:r>
            <a:endParaRPr lang="en-US" sz="1800" dirty="0"/>
          </a:p>
        </p:txBody>
      </p:sp>
      <p:sp>
        <p:nvSpPr>
          <p:cNvPr id="9" name="Text 7"/>
          <p:cNvSpPr/>
          <p:nvPr/>
        </p:nvSpPr>
        <p:spPr>
          <a:xfrm>
            <a:off x="3282950" y="7506891"/>
            <a:ext cx="1527641" cy="374650"/>
          </a:xfrm>
          <a:prstGeom prst="rect">
            <a:avLst/>
          </a:prstGeom>
          <a:noFill/>
          <a:ln/>
        </p:spPr>
        <p:txBody>
          <a:bodyPr wrap="square" lIns="25400" tIns="25400" rIns="25400" bIns="25400" rtlCol="0" anchor="t">
            <a:normAutofit/>
          </a:bodyPr>
          <a:lstStyle/>
          <a:p>
            <a:pPr algn="l" indent="0" marL="0">
              <a:buNone/>
            </a:pPr>
            <a:r>
              <a:rPr lang="en-US" sz="2025" dirty="0">
                <a:solidFill>
                  <a:srgbClr val="EEF3F9"/>
                </a:solidFill>
                <a:latin typeface="Courier New" pitchFamily="34" charset="0"/>
                <a:ea typeface="Courier New" pitchFamily="34" charset="-122"/>
                <a:cs typeface="Courier New" pitchFamily="34" charset="-120"/>
              </a:rPr>
              <a:t>20 heures</a:t>
            </a:r>
            <a:endParaRPr lang="en-US" sz="2025" dirty="0"/>
          </a:p>
        </p:txBody>
      </p:sp>
      <p:sp>
        <p:nvSpPr>
          <p:cNvPr id="10" name="Shape 8"/>
          <p:cNvSpPr/>
          <p:nvPr/>
        </p:nvSpPr>
        <p:spPr>
          <a:xfrm>
            <a:off x="5090815" y="7125891"/>
            <a:ext cx="9525" cy="717550"/>
          </a:xfrm>
          <a:prstGeom prst="rect">
            <a:avLst/>
          </a:prstGeom>
          <a:solidFill>
            <a:srgbClr val="FFFFFF">
              <a:alpha val="10000"/>
            </a:srgbClr>
          </a:solidFill>
          <a:ln/>
        </p:spPr>
      </p:sp>
      <p:sp>
        <p:nvSpPr>
          <p:cNvPr id="11" name="Text 9"/>
          <p:cNvSpPr/>
          <p:nvPr/>
        </p:nvSpPr>
        <p:spPr>
          <a:xfrm>
            <a:off x="5516265" y="7125891"/>
            <a:ext cx="237631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Approche</a:t>
            </a:r>
            <a:endParaRPr lang="en-US" sz="1800" dirty="0"/>
          </a:p>
        </p:txBody>
      </p:sp>
      <p:sp>
        <p:nvSpPr>
          <p:cNvPr id="12" name="Text 10"/>
          <p:cNvSpPr/>
          <p:nvPr/>
        </p:nvSpPr>
        <p:spPr>
          <a:xfrm>
            <a:off x="5516265" y="7506891"/>
            <a:ext cx="2376319" cy="374650"/>
          </a:xfrm>
          <a:prstGeom prst="rect">
            <a:avLst/>
          </a:prstGeom>
          <a:noFill/>
          <a:ln/>
        </p:spPr>
        <p:txBody>
          <a:bodyPr wrap="square" lIns="25400" tIns="25400" rIns="25400" bIns="25400" rtlCol="0" anchor="t">
            <a:normAutofit/>
          </a:bodyPr>
          <a:lstStyle/>
          <a:p>
            <a:pPr algn="l" indent="0" marL="0">
              <a:buNone/>
            </a:pPr>
            <a:r>
              <a:rPr lang="en-US" sz="2025" dirty="0">
                <a:solidFill>
                  <a:srgbClr val="EEF3F9"/>
                </a:solidFill>
                <a:latin typeface="Courier New" pitchFamily="34" charset="0"/>
                <a:ea typeface="Courier New" pitchFamily="34" charset="-122"/>
                <a:cs typeface="Courier New" pitchFamily="34" charset="-120"/>
              </a:rPr>
              <a:t>Workshop-based</a:t>
            </a:r>
            <a:endParaRPr lang="en-US" sz="20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alpha val="97000"/>
                  </a:srgbClr>
                </a:solidFill>
                <a:latin typeface="Courier New" pitchFamily="34" charset="0"/>
                <a:ea typeface="Courier New" pitchFamily="34" charset="-122"/>
                <a:cs typeface="Courier New" pitchFamily="34" charset="-120"/>
              </a:rPr>
              <a:t>CADRE DU MODULE</a:t>
            </a:r>
            <a:endParaRPr lang="en-US" sz="1800" dirty="0"/>
          </a:p>
        </p:txBody>
      </p:sp>
      <p:sp>
        <p:nvSpPr>
          <p:cNvPr id="3" name="Text 1"/>
          <p:cNvSpPr/>
          <p:nvPr/>
        </p:nvSpPr>
        <p:spPr>
          <a:xfrm>
            <a:off x="1066800" y="1314451"/>
            <a:ext cx="8204537"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fil conducteur du module</a:t>
            </a:r>
            <a:endParaRPr lang="en-US" sz="4800" dirty="0"/>
          </a:p>
        </p:txBody>
      </p:sp>
      <p:sp>
        <p:nvSpPr>
          <p:cNvPr id="4" name="Shape 2"/>
          <p:cNvSpPr/>
          <p:nvPr/>
        </p:nvSpPr>
        <p:spPr>
          <a:xfrm>
            <a:off x="1066800" y="2557959"/>
            <a:ext cx="2565400" cy="1682353"/>
          </a:xfrm>
          <a:prstGeom prst="roundRect">
            <a:avLst>
              <a:gd name="adj" fmla="val 9059"/>
            </a:avLst>
          </a:prstGeom>
          <a:solidFill>
            <a:srgbClr val="FFFFFF">
              <a:alpha val="3000"/>
            </a:srgbClr>
          </a:solidFill>
          <a:ln w="6350">
            <a:solidFill>
              <a:srgbClr val="FFFFFF">
                <a:alpha val="10000"/>
              </a:srgbClr>
            </a:solidFill>
            <a:prstDash val="solid"/>
          </a:ln>
        </p:spPr>
      </p:sp>
      <p:sp>
        <p:nvSpPr>
          <p:cNvPr id="5" name="Text 3"/>
          <p:cNvSpPr/>
          <p:nvPr/>
        </p:nvSpPr>
        <p:spPr>
          <a:xfrm>
            <a:off x="1320800" y="2850059"/>
            <a:ext cx="226314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01</a:t>
            </a:r>
            <a:endParaRPr lang="en-US" sz="1800" dirty="0"/>
          </a:p>
        </p:txBody>
      </p:sp>
      <p:sp>
        <p:nvSpPr>
          <p:cNvPr id="6" name="Text 4"/>
          <p:cNvSpPr/>
          <p:nvPr/>
        </p:nvSpPr>
        <p:spPr>
          <a:xfrm>
            <a:off x="1320800" y="3269159"/>
            <a:ext cx="2133600" cy="717153"/>
          </a:xfrm>
          <a:prstGeom prst="rect">
            <a:avLst/>
          </a:prstGeom>
          <a:noFill/>
          <a:ln/>
        </p:spPr>
        <p:txBody>
          <a:bodyPr wrap="square" lIns="25400" tIns="25400" rIns="25400" bIns="25400" rtlCol="0" anchor="t">
            <a:normAutofit/>
          </a:bodyPr>
          <a:lstStyle/>
          <a:p>
            <a:pPr algn="l" indent="0" marL="0">
              <a:lnSpc>
                <a:spcPct val="99028"/>
              </a:lnSpc>
              <a:buNone/>
            </a:pPr>
            <a:r>
              <a:rPr lang="en-US" sz="2325" b="1" dirty="0">
                <a:solidFill>
                  <a:srgbClr val="EEF3F9"/>
                </a:solidFill>
                <a:latin typeface="Arial" pitchFamily="34" charset="0"/>
                <a:ea typeface="Arial" pitchFamily="34" charset="-122"/>
                <a:cs typeface="Arial" pitchFamily="34" charset="-120"/>
              </a:rPr>
              <a:t>Bases de données</a:t>
            </a:r>
            <a:endParaRPr lang="en-US" sz="2325" dirty="0"/>
          </a:p>
        </p:txBody>
      </p:sp>
      <p:sp>
        <p:nvSpPr>
          <p:cNvPr id="7" name="Shape 5"/>
          <p:cNvSpPr/>
          <p:nvPr/>
        </p:nvSpPr>
        <p:spPr>
          <a:xfrm>
            <a:off x="3784148" y="2557662"/>
            <a:ext cx="2566306" cy="1682947"/>
          </a:xfrm>
          <a:prstGeom prst="roundRect">
            <a:avLst>
              <a:gd name="adj" fmla="val 9059"/>
            </a:avLst>
          </a:prstGeom>
          <a:solidFill>
            <a:srgbClr val="FFFFFF">
              <a:alpha val="3000"/>
            </a:srgbClr>
          </a:solidFill>
          <a:ln w="6352">
            <a:solidFill>
              <a:srgbClr val="FFFFFF">
                <a:alpha val="10000"/>
              </a:srgbClr>
            </a:solidFill>
            <a:prstDash val="solid"/>
          </a:ln>
        </p:spPr>
      </p:sp>
      <p:sp>
        <p:nvSpPr>
          <p:cNvPr id="8" name="Text 6"/>
          <p:cNvSpPr/>
          <p:nvPr/>
        </p:nvSpPr>
        <p:spPr>
          <a:xfrm>
            <a:off x="4038237" y="2849865"/>
            <a:ext cx="2263939" cy="343008"/>
          </a:xfrm>
          <a:prstGeom prst="rect">
            <a:avLst/>
          </a:prstGeom>
          <a:noFill/>
          <a:ln/>
        </p:spPr>
        <p:txBody>
          <a:bodyPr wrap="square" lIns="25400" tIns="25400" rIns="25400" bIns="25400" rtlCol="0" anchor="t">
            <a:normAutofit/>
          </a:bodyPr>
          <a:lstStyle/>
          <a:p>
            <a:pPr algn="l" indent="0" marL="0">
              <a:buNone/>
            </a:pPr>
            <a:r>
              <a:rPr lang="en-US" sz="1801" dirty="0">
                <a:solidFill>
                  <a:srgbClr val="B897F0"/>
                </a:solidFill>
                <a:latin typeface="Courier New" pitchFamily="34" charset="0"/>
                <a:ea typeface="Courier New" pitchFamily="34" charset="-122"/>
                <a:cs typeface="Courier New" pitchFamily="34" charset="-120"/>
              </a:rPr>
              <a:t>02</a:t>
            </a:r>
            <a:endParaRPr lang="en-US" sz="1801" dirty="0"/>
          </a:p>
        </p:txBody>
      </p:sp>
      <p:sp>
        <p:nvSpPr>
          <p:cNvPr id="9" name="Text 7"/>
          <p:cNvSpPr/>
          <p:nvPr/>
        </p:nvSpPr>
        <p:spPr>
          <a:xfrm>
            <a:off x="4038237" y="3269113"/>
            <a:ext cx="2263939" cy="377746"/>
          </a:xfrm>
          <a:prstGeom prst="rect">
            <a:avLst/>
          </a:prstGeom>
          <a:noFill/>
          <a:ln/>
        </p:spPr>
        <p:txBody>
          <a:bodyPr wrap="square" lIns="25400" tIns="25400" rIns="25400" bIns="25400" rtlCol="0" anchor="t">
            <a:normAutofit/>
          </a:bodyPr>
          <a:lstStyle/>
          <a:p>
            <a:pPr algn="l" indent="0" marL="0">
              <a:lnSpc>
                <a:spcPct val="99028"/>
              </a:lnSpc>
              <a:buNone/>
            </a:pPr>
            <a:r>
              <a:rPr lang="en-US" sz="2326" b="1" dirty="0">
                <a:solidFill>
                  <a:srgbClr val="EEF3F9"/>
                </a:solidFill>
                <a:latin typeface="Arial" pitchFamily="34" charset="0"/>
                <a:ea typeface="Arial" pitchFamily="34" charset="-122"/>
                <a:cs typeface="Arial" pitchFamily="34" charset="-120"/>
              </a:rPr>
              <a:t>NoSQL</a:t>
            </a:r>
            <a:endParaRPr lang="en-US" sz="2326" dirty="0"/>
          </a:p>
        </p:txBody>
      </p:sp>
      <p:sp>
        <p:nvSpPr>
          <p:cNvPr id="10" name="Shape 8"/>
          <p:cNvSpPr/>
          <p:nvPr/>
        </p:nvSpPr>
        <p:spPr>
          <a:xfrm>
            <a:off x="6492953" y="2551763"/>
            <a:ext cx="2584295" cy="1694745"/>
          </a:xfrm>
          <a:prstGeom prst="roundRect">
            <a:avLst>
              <a:gd name="adj" fmla="val 9059"/>
            </a:avLst>
          </a:prstGeom>
          <a:solidFill>
            <a:srgbClr val="FFFFFF">
              <a:alpha val="3000"/>
            </a:srgbClr>
          </a:solidFill>
          <a:ln w="6397">
            <a:solidFill>
              <a:srgbClr val="FFFFFF">
                <a:alpha val="10000"/>
              </a:srgbClr>
            </a:solidFill>
            <a:prstDash val="solid"/>
          </a:ln>
        </p:spPr>
      </p:sp>
      <p:sp>
        <p:nvSpPr>
          <p:cNvPr id="11" name="Text 9"/>
          <p:cNvSpPr/>
          <p:nvPr/>
        </p:nvSpPr>
        <p:spPr>
          <a:xfrm>
            <a:off x="6748824" y="2846015"/>
            <a:ext cx="2279809" cy="345145"/>
          </a:xfrm>
          <a:prstGeom prst="rect">
            <a:avLst/>
          </a:prstGeom>
          <a:noFill/>
          <a:ln/>
        </p:spPr>
        <p:txBody>
          <a:bodyPr wrap="square" lIns="25400" tIns="25400" rIns="25400" bIns="25400" rtlCol="0" anchor="t">
            <a:normAutofit/>
          </a:bodyPr>
          <a:lstStyle/>
          <a:p>
            <a:pPr algn="l" indent="0" marL="0">
              <a:buNone/>
            </a:pPr>
            <a:r>
              <a:rPr lang="en-US" sz="1813" dirty="0">
                <a:solidFill>
                  <a:srgbClr val="56DBDB"/>
                </a:solidFill>
                <a:latin typeface="Courier New" pitchFamily="34" charset="0"/>
                <a:ea typeface="Courier New" pitchFamily="34" charset="-122"/>
                <a:cs typeface="Courier New" pitchFamily="34" charset="-120"/>
              </a:rPr>
              <a:t>04</a:t>
            </a:r>
            <a:endParaRPr lang="en-US" sz="1813" dirty="0"/>
          </a:p>
        </p:txBody>
      </p:sp>
      <p:sp>
        <p:nvSpPr>
          <p:cNvPr id="12" name="Text 10"/>
          <p:cNvSpPr/>
          <p:nvPr/>
        </p:nvSpPr>
        <p:spPr>
          <a:xfrm>
            <a:off x="6748824" y="3268201"/>
            <a:ext cx="2148753" cy="722154"/>
          </a:xfrm>
          <a:prstGeom prst="rect">
            <a:avLst/>
          </a:prstGeom>
          <a:noFill/>
          <a:ln/>
        </p:spPr>
        <p:txBody>
          <a:bodyPr wrap="square" lIns="25400" tIns="25400" rIns="25400" bIns="25400" rtlCol="0" anchor="t">
            <a:normAutofit/>
          </a:bodyPr>
          <a:lstStyle/>
          <a:p>
            <a:pPr algn="l" indent="0" marL="0">
              <a:lnSpc>
                <a:spcPct val="99028"/>
              </a:lnSpc>
              <a:buNone/>
            </a:pPr>
            <a:r>
              <a:rPr lang="en-US" sz="2342" b="1" dirty="0">
                <a:solidFill>
                  <a:srgbClr val="EEF3F9"/>
                </a:solidFill>
                <a:latin typeface="Arial" pitchFamily="34" charset="0"/>
                <a:ea typeface="Arial" pitchFamily="34" charset="-122"/>
                <a:cs typeface="Arial" pitchFamily="34" charset="-120"/>
              </a:rPr>
              <a:t>Traitement distribué</a:t>
            </a:r>
            <a:endParaRPr lang="en-US" sz="2342" dirty="0"/>
          </a:p>
        </p:txBody>
      </p:sp>
      <p:sp>
        <p:nvSpPr>
          <p:cNvPr id="13" name="Shape 11"/>
          <p:cNvSpPr/>
          <p:nvPr/>
        </p:nvSpPr>
        <p:spPr>
          <a:xfrm>
            <a:off x="9205254" y="2548157"/>
            <a:ext cx="2595294" cy="1701957"/>
          </a:xfrm>
          <a:prstGeom prst="roundRect">
            <a:avLst>
              <a:gd name="adj" fmla="val 9059"/>
            </a:avLst>
          </a:prstGeom>
          <a:solidFill>
            <a:srgbClr val="FFFFFF">
              <a:alpha val="3000"/>
            </a:srgbClr>
          </a:solidFill>
          <a:ln w="6424">
            <a:solidFill>
              <a:srgbClr val="FFFFFF">
                <a:alpha val="10000"/>
              </a:srgbClr>
            </a:solidFill>
            <a:prstDash val="solid"/>
          </a:ln>
        </p:spPr>
      </p:sp>
      <p:sp>
        <p:nvSpPr>
          <p:cNvPr id="14" name="Text 12"/>
          <p:cNvSpPr/>
          <p:nvPr/>
        </p:nvSpPr>
        <p:spPr>
          <a:xfrm>
            <a:off x="9462213" y="2843661"/>
            <a:ext cx="2289511" cy="346452"/>
          </a:xfrm>
          <a:prstGeom prst="rect">
            <a:avLst/>
          </a:prstGeom>
          <a:noFill/>
          <a:ln/>
        </p:spPr>
        <p:txBody>
          <a:bodyPr wrap="square" lIns="25400" tIns="25400" rIns="25400" bIns="25400" rtlCol="0" anchor="t">
            <a:normAutofit/>
          </a:bodyPr>
          <a:lstStyle/>
          <a:p>
            <a:pPr algn="l" indent="0" marL="0">
              <a:buNone/>
            </a:pPr>
            <a:r>
              <a:rPr lang="en-US" sz="1821" dirty="0">
                <a:solidFill>
                  <a:srgbClr val="FFB46E"/>
                </a:solidFill>
                <a:latin typeface="Courier New" pitchFamily="34" charset="0"/>
                <a:ea typeface="Courier New" pitchFamily="34" charset="-122"/>
                <a:cs typeface="Courier New" pitchFamily="34" charset="-120"/>
              </a:rPr>
              <a:t>03</a:t>
            </a:r>
            <a:endParaRPr lang="en-US" sz="1821" dirty="0"/>
          </a:p>
        </p:txBody>
      </p:sp>
      <p:sp>
        <p:nvSpPr>
          <p:cNvPr id="15" name="Text 13"/>
          <p:cNvSpPr/>
          <p:nvPr/>
        </p:nvSpPr>
        <p:spPr>
          <a:xfrm>
            <a:off x="9462213" y="3267644"/>
            <a:ext cx="2289511" cy="381583"/>
          </a:xfrm>
          <a:prstGeom prst="rect">
            <a:avLst/>
          </a:prstGeom>
          <a:noFill/>
          <a:ln/>
        </p:spPr>
        <p:txBody>
          <a:bodyPr wrap="square" lIns="25400" tIns="25400" rIns="25400" bIns="25400" rtlCol="0" anchor="t">
            <a:normAutofit/>
          </a:bodyPr>
          <a:lstStyle/>
          <a:p>
            <a:pPr algn="l" indent="0" marL="0">
              <a:lnSpc>
                <a:spcPct val="99028"/>
              </a:lnSpc>
              <a:buNone/>
            </a:pPr>
            <a:r>
              <a:rPr lang="en-US" sz="2352" b="1" dirty="0">
                <a:solidFill>
                  <a:srgbClr val="EEF3F9"/>
                </a:solidFill>
                <a:latin typeface="Arial" pitchFamily="34" charset="0"/>
                <a:ea typeface="Arial" pitchFamily="34" charset="-122"/>
                <a:cs typeface="Arial" pitchFamily="34" charset="-120"/>
              </a:rPr>
              <a:t>Conteneurisation</a:t>
            </a:r>
            <a:endParaRPr lang="en-US" sz="2352" dirty="0"/>
          </a:p>
        </p:txBody>
      </p:sp>
      <p:sp>
        <p:nvSpPr>
          <p:cNvPr id="16" name="Shape 14"/>
          <p:cNvSpPr/>
          <p:nvPr/>
        </p:nvSpPr>
        <p:spPr>
          <a:xfrm>
            <a:off x="11922618" y="2547871"/>
            <a:ext cx="2596165" cy="1702529"/>
          </a:xfrm>
          <a:prstGeom prst="roundRect">
            <a:avLst>
              <a:gd name="adj" fmla="val 9059"/>
            </a:avLst>
          </a:prstGeom>
          <a:solidFill>
            <a:srgbClr val="FFFFFF">
              <a:alpha val="3000"/>
            </a:srgbClr>
          </a:solidFill>
          <a:ln w="6426">
            <a:solidFill>
              <a:srgbClr val="FFFFFF">
                <a:alpha val="10000"/>
              </a:srgbClr>
            </a:solidFill>
            <a:prstDash val="solid"/>
          </a:ln>
        </p:spPr>
      </p:sp>
      <p:sp>
        <p:nvSpPr>
          <p:cNvPr id="17" name="Text 15"/>
          <p:cNvSpPr/>
          <p:nvPr/>
        </p:nvSpPr>
        <p:spPr>
          <a:xfrm>
            <a:off x="12179664" y="2843474"/>
            <a:ext cx="2290281" cy="346555"/>
          </a:xfrm>
          <a:prstGeom prst="rect">
            <a:avLst/>
          </a:prstGeom>
          <a:noFill/>
          <a:ln/>
        </p:spPr>
        <p:txBody>
          <a:bodyPr wrap="square" lIns="25400" tIns="25400" rIns="25400" bIns="25400" rtlCol="0" anchor="t">
            <a:normAutofit/>
          </a:bodyPr>
          <a:lstStyle/>
          <a:p>
            <a:pPr algn="l" indent="0" marL="0">
              <a:buNone/>
            </a:pPr>
            <a:r>
              <a:rPr lang="en-US" sz="1822" dirty="0">
                <a:solidFill>
                  <a:srgbClr val="FFB46E"/>
                </a:solidFill>
                <a:latin typeface="Courier New" pitchFamily="34" charset="0"/>
                <a:ea typeface="Courier New" pitchFamily="34" charset="-122"/>
                <a:cs typeface="Courier New" pitchFamily="34" charset="-120"/>
              </a:rPr>
              <a:t>06</a:t>
            </a:r>
            <a:endParaRPr lang="en-US" sz="1822" dirty="0"/>
          </a:p>
        </p:txBody>
      </p:sp>
      <p:sp>
        <p:nvSpPr>
          <p:cNvPr id="18" name="Text 16"/>
          <p:cNvSpPr/>
          <p:nvPr/>
        </p:nvSpPr>
        <p:spPr>
          <a:xfrm>
            <a:off x="12179664" y="3267600"/>
            <a:ext cx="2158274" cy="725297"/>
          </a:xfrm>
          <a:prstGeom prst="rect">
            <a:avLst/>
          </a:prstGeom>
          <a:noFill/>
          <a:ln/>
        </p:spPr>
        <p:txBody>
          <a:bodyPr wrap="square" lIns="25400" tIns="25400" rIns="25400" bIns="25400" rtlCol="0" anchor="t">
            <a:normAutofit/>
          </a:bodyPr>
          <a:lstStyle/>
          <a:p>
            <a:pPr algn="l" indent="0" marL="0">
              <a:lnSpc>
                <a:spcPct val="99028"/>
              </a:lnSpc>
              <a:buNone/>
            </a:pPr>
            <a:r>
              <a:rPr lang="en-US" sz="2353" b="1" dirty="0">
                <a:solidFill>
                  <a:srgbClr val="EEF3F9"/>
                </a:solidFill>
                <a:latin typeface="Arial" pitchFamily="34" charset="0"/>
                <a:ea typeface="Arial" pitchFamily="34" charset="-122"/>
                <a:cs typeface="Arial" pitchFamily="34" charset="-120"/>
              </a:rPr>
              <a:t>Cloud Computing</a:t>
            </a:r>
            <a:endParaRPr lang="en-US" sz="2353" dirty="0"/>
          </a:p>
        </p:txBody>
      </p:sp>
      <p:sp>
        <p:nvSpPr>
          <p:cNvPr id="19" name="Shape 17"/>
          <p:cNvSpPr/>
          <p:nvPr/>
        </p:nvSpPr>
        <p:spPr>
          <a:xfrm>
            <a:off x="14647780" y="2552700"/>
            <a:ext cx="2581440" cy="1692871"/>
          </a:xfrm>
          <a:prstGeom prst="roundRect">
            <a:avLst>
              <a:gd name="adj" fmla="val 9059"/>
            </a:avLst>
          </a:prstGeom>
          <a:solidFill>
            <a:srgbClr val="FFFFFF">
              <a:alpha val="3000"/>
            </a:srgbClr>
          </a:solidFill>
          <a:ln w="6390">
            <a:solidFill>
              <a:srgbClr val="75E1E1">
                <a:alpha val="46000"/>
              </a:srgbClr>
            </a:solidFill>
            <a:prstDash val="solid"/>
          </a:ln>
        </p:spPr>
      </p:sp>
      <p:sp>
        <p:nvSpPr>
          <p:cNvPr id="20" name="Text 18"/>
          <p:cNvSpPr/>
          <p:nvPr/>
        </p:nvSpPr>
        <p:spPr>
          <a:xfrm>
            <a:off x="14903368" y="2846626"/>
            <a:ext cx="2277289" cy="344806"/>
          </a:xfrm>
          <a:prstGeom prst="rect">
            <a:avLst/>
          </a:prstGeom>
          <a:noFill/>
          <a:ln/>
        </p:spPr>
        <p:txBody>
          <a:bodyPr wrap="square" lIns="25400" tIns="25400" rIns="25400" bIns="25400" rtlCol="0" anchor="t">
            <a:normAutofit/>
          </a:bodyPr>
          <a:lstStyle/>
          <a:p>
            <a:pPr algn="l" indent="0" marL="0">
              <a:buNone/>
            </a:pPr>
            <a:r>
              <a:rPr lang="en-US" sz="1811" dirty="0">
                <a:solidFill>
                  <a:srgbClr val="56DBDB"/>
                </a:solidFill>
                <a:latin typeface="Courier New" pitchFamily="34" charset="0"/>
                <a:ea typeface="Courier New" pitchFamily="34" charset="-122"/>
                <a:cs typeface="Courier New" pitchFamily="34" charset="-120"/>
              </a:rPr>
              <a:t>07</a:t>
            </a:r>
            <a:endParaRPr lang="en-US" sz="1811" dirty="0"/>
          </a:p>
        </p:txBody>
      </p:sp>
      <p:sp>
        <p:nvSpPr>
          <p:cNvPr id="21" name="Text 19"/>
          <p:cNvSpPr/>
          <p:nvPr/>
        </p:nvSpPr>
        <p:spPr>
          <a:xfrm>
            <a:off x="14903368" y="3268346"/>
            <a:ext cx="2146463" cy="721399"/>
          </a:xfrm>
          <a:prstGeom prst="rect">
            <a:avLst/>
          </a:prstGeom>
          <a:noFill/>
          <a:ln/>
        </p:spPr>
        <p:txBody>
          <a:bodyPr wrap="square" lIns="25400" tIns="25400" rIns="25400" bIns="25400" rtlCol="0" anchor="t">
            <a:normAutofit/>
          </a:bodyPr>
          <a:lstStyle/>
          <a:p>
            <a:pPr algn="l" indent="0" marL="0">
              <a:lnSpc>
                <a:spcPct val="99028"/>
              </a:lnSpc>
              <a:buNone/>
            </a:pPr>
            <a:r>
              <a:rPr lang="en-US" sz="2340" b="1" dirty="0">
                <a:solidFill>
                  <a:srgbClr val="EEF3F9"/>
                </a:solidFill>
                <a:latin typeface="Arial" pitchFamily="34" charset="0"/>
                <a:ea typeface="Arial" pitchFamily="34" charset="-122"/>
                <a:cs typeface="Arial" pitchFamily="34" charset="-120"/>
              </a:rPr>
              <a:t>Big Data sur AWS</a:t>
            </a:r>
            <a:endParaRPr lang="en-US" sz="2340" dirty="0"/>
          </a:p>
        </p:txBody>
      </p:sp>
      <p:sp>
        <p:nvSpPr>
          <p:cNvPr id="22" name="Shape 20"/>
          <p:cNvSpPr/>
          <p:nvPr/>
        </p:nvSpPr>
        <p:spPr>
          <a:xfrm>
            <a:off x="1066800" y="4773712"/>
            <a:ext cx="25400" cy="1563688"/>
          </a:xfrm>
          <a:prstGeom prst="rect">
            <a:avLst/>
          </a:prstGeom>
          <a:solidFill>
            <a:srgbClr val="FFB46E">
              <a:alpha val="18000"/>
            </a:srgbClr>
          </a:solidFill>
          <a:ln/>
        </p:spPr>
      </p:sp>
      <p:sp>
        <p:nvSpPr>
          <p:cNvPr id="23" name="Text 21"/>
          <p:cNvSpPr/>
          <p:nvPr/>
        </p:nvSpPr>
        <p:spPr>
          <a:xfrm>
            <a:off x="1339850" y="4773712"/>
            <a:ext cx="8375015"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FFB46E">
                    <a:alpha val="18000"/>
                  </a:srgbClr>
                </a:solidFill>
                <a:latin typeface="Arial" pitchFamily="34" charset="0"/>
                <a:ea typeface="Arial" pitchFamily="34" charset="-122"/>
                <a:cs typeface="Arial" pitchFamily="34" charset="-120"/>
              </a:rPr>
              <a:t>Docker, socle transversal</a:t>
            </a:r>
            <a:endParaRPr lang="en-US" sz="2175" dirty="0"/>
          </a:p>
        </p:txBody>
      </p:sp>
      <p:sp>
        <p:nvSpPr>
          <p:cNvPr id="24" name="Text 22"/>
          <p:cNvSpPr/>
          <p:nvPr/>
        </p:nvSpPr>
        <p:spPr>
          <a:xfrm>
            <a:off x="1339850" y="5180112"/>
            <a:ext cx="7842060"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alpha val="18000"/>
                  </a:srgbClr>
                </a:solidFill>
                <a:latin typeface="Arial" pitchFamily="34" charset="0"/>
                <a:ea typeface="Arial" pitchFamily="34" charset="-122"/>
                <a:cs typeface="Arial" pitchFamily="34" charset="-120"/>
              </a:rPr>
              <a:t>MongoDB puis Spark sont exécutés dans un même environnement conteneurisé dès l’atelier 2, ce qui prépare la transition vers Amazon EMR.</a:t>
            </a:r>
            <a:endParaRPr lang="en-US" sz="2025" dirty="0"/>
          </a:p>
        </p:txBody>
      </p:sp>
      <p:sp>
        <p:nvSpPr>
          <p:cNvPr id="25" name="Shape 23"/>
          <p:cNvSpPr/>
          <p:nvPr/>
        </p:nvSpPr>
        <p:spPr>
          <a:xfrm>
            <a:off x="9334500" y="4773712"/>
            <a:ext cx="25400" cy="1563688"/>
          </a:xfrm>
          <a:prstGeom prst="rect">
            <a:avLst/>
          </a:prstGeom>
          <a:solidFill>
            <a:srgbClr val="B897F0">
              <a:alpha val="18000"/>
            </a:srgbClr>
          </a:solidFill>
          <a:ln/>
        </p:spPr>
      </p:sp>
      <p:sp>
        <p:nvSpPr>
          <p:cNvPr id="26" name="Text 24"/>
          <p:cNvSpPr/>
          <p:nvPr/>
        </p:nvSpPr>
        <p:spPr>
          <a:xfrm>
            <a:off x="9607550" y="4773712"/>
            <a:ext cx="8375015"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B897F0">
                    <a:alpha val="18000"/>
                  </a:srgbClr>
                </a:solidFill>
                <a:latin typeface="Arial" pitchFamily="34" charset="0"/>
                <a:ea typeface="Arial" pitchFamily="34" charset="-122"/>
                <a:cs typeface="Arial" pitchFamily="34" charset="-120"/>
              </a:rPr>
              <a:t>Hadoop, l'écosystème historique</a:t>
            </a:r>
            <a:endParaRPr lang="en-US" sz="2175" dirty="0"/>
          </a:p>
        </p:txBody>
      </p:sp>
      <p:sp>
        <p:nvSpPr>
          <p:cNvPr id="27" name="Text 25"/>
          <p:cNvSpPr/>
          <p:nvPr/>
        </p:nvSpPr>
        <p:spPr>
          <a:xfrm>
            <a:off x="9607550" y="5180112"/>
            <a:ext cx="7842060"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alpha val="18000"/>
                  </a:srgbClr>
                </a:solidFill>
                <a:latin typeface="Arial" pitchFamily="34" charset="0"/>
                <a:ea typeface="Arial" pitchFamily="34" charset="-122"/>
                <a:cs typeface="Arial" pitchFamily="34" charset="-120"/>
              </a:rPr>
              <a:t>Présenté non comme un chapitre isolé mais comme l’écosystème (HDFS, YARN, Hive) au sein duquel Spark s’est imposé comme moteur de calcul.</a:t>
            </a:r>
            <a:endParaRPr lang="en-US" sz="20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alpha val="97000"/>
                  </a:srgbClr>
                </a:solidFill>
                <a:latin typeface="Courier New" pitchFamily="34" charset="0"/>
                <a:ea typeface="Courier New" pitchFamily="34" charset="-122"/>
                <a:cs typeface="Courier New" pitchFamily="34" charset="-120"/>
              </a:rPr>
              <a:t>CADRE DU MODULE</a:t>
            </a:r>
            <a:endParaRPr lang="en-US" sz="1800" dirty="0"/>
          </a:p>
        </p:txBody>
      </p:sp>
      <p:sp>
        <p:nvSpPr>
          <p:cNvPr id="3" name="Text 1"/>
          <p:cNvSpPr/>
          <p:nvPr/>
        </p:nvSpPr>
        <p:spPr>
          <a:xfrm>
            <a:off x="1066800" y="1314451"/>
            <a:ext cx="745867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compétences visées</a:t>
            </a:r>
            <a:endParaRPr lang="en-US" sz="4800" dirty="0"/>
          </a:p>
        </p:txBody>
      </p:sp>
      <p:sp>
        <p:nvSpPr>
          <p:cNvPr id="4" name="Text 2"/>
          <p:cNvSpPr/>
          <p:nvPr/>
        </p:nvSpPr>
        <p:spPr>
          <a:xfrm>
            <a:off x="1066800" y="2481759"/>
            <a:ext cx="419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01</a:t>
            </a:r>
            <a:endParaRPr lang="en-US" sz="1950" dirty="0"/>
          </a:p>
        </p:txBody>
      </p:sp>
      <p:sp>
        <p:nvSpPr>
          <p:cNvPr id="5" name="Text 3"/>
          <p:cNvSpPr/>
          <p:nvPr/>
        </p:nvSpPr>
        <p:spPr>
          <a:xfrm>
            <a:off x="1619250" y="2481759"/>
            <a:ext cx="7475792"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Expliquer les enjeux du Big Data et du Cloud Computing</a:t>
            </a:r>
            <a:endParaRPr lang="en-US" sz="2400" dirty="0"/>
          </a:p>
        </p:txBody>
      </p:sp>
      <p:sp>
        <p:nvSpPr>
          <p:cNvPr id="6" name="Text 4"/>
          <p:cNvSpPr/>
          <p:nvPr/>
        </p:nvSpPr>
        <p:spPr>
          <a:xfrm>
            <a:off x="9410488" y="2481759"/>
            <a:ext cx="419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05</a:t>
            </a:r>
            <a:endParaRPr lang="en-US" sz="1950" dirty="0"/>
          </a:p>
        </p:txBody>
      </p:sp>
      <p:sp>
        <p:nvSpPr>
          <p:cNvPr id="7" name="Text 5"/>
          <p:cNvSpPr/>
          <p:nvPr/>
        </p:nvSpPr>
        <p:spPr>
          <a:xfrm>
            <a:off x="9962938" y="2481759"/>
            <a:ext cx="7475793"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Décrire le rôle des composants de l’écosystème Hadoop, dont Hive</a:t>
            </a:r>
            <a:endParaRPr lang="en-US" sz="2400" dirty="0"/>
          </a:p>
        </p:txBody>
      </p:sp>
      <p:sp>
        <p:nvSpPr>
          <p:cNvPr id="8" name="Text 6"/>
          <p:cNvSpPr/>
          <p:nvPr/>
        </p:nvSpPr>
        <p:spPr>
          <a:xfrm>
            <a:off x="1065458" y="3514229"/>
            <a:ext cx="419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alpha val="99000"/>
                  </a:srgbClr>
                </a:solidFill>
                <a:latin typeface="Courier New" pitchFamily="34" charset="0"/>
                <a:ea typeface="Courier New" pitchFamily="34" charset="-122"/>
                <a:cs typeface="Courier New" pitchFamily="34" charset="-120"/>
              </a:rPr>
              <a:t>02</a:t>
            </a:r>
            <a:endParaRPr lang="en-US" sz="1950" dirty="0"/>
          </a:p>
        </p:txBody>
      </p:sp>
      <p:sp>
        <p:nvSpPr>
          <p:cNvPr id="9" name="Text 7"/>
          <p:cNvSpPr/>
          <p:nvPr/>
        </p:nvSpPr>
        <p:spPr>
          <a:xfrm>
            <a:off x="1617909" y="3514229"/>
            <a:ext cx="7475792"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alpha val="99000"/>
                  </a:srgbClr>
                </a:solidFill>
                <a:latin typeface="Arial" pitchFamily="34" charset="0"/>
                <a:ea typeface="Arial" pitchFamily="34" charset="-122"/>
                <a:cs typeface="Arial" pitchFamily="34" charset="-120"/>
              </a:rPr>
              <a:t>Identifier les limites du relationnel face aux données massives</a:t>
            </a:r>
            <a:endParaRPr lang="en-US" sz="2400" dirty="0"/>
          </a:p>
        </p:txBody>
      </p:sp>
      <p:sp>
        <p:nvSpPr>
          <p:cNvPr id="10" name="Text 8"/>
          <p:cNvSpPr/>
          <p:nvPr/>
        </p:nvSpPr>
        <p:spPr>
          <a:xfrm>
            <a:off x="9406946" y="3514229"/>
            <a:ext cx="419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alpha val="98000"/>
                  </a:srgbClr>
                </a:solidFill>
                <a:latin typeface="Courier New" pitchFamily="34" charset="0"/>
                <a:ea typeface="Courier New" pitchFamily="34" charset="-122"/>
                <a:cs typeface="Courier New" pitchFamily="34" charset="-120"/>
              </a:rPr>
              <a:t>06</a:t>
            </a:r>
            <a:endParaRPr lang="en-US" sz="1950" dirty="0"/>
          </a:p>
        </p:txBody>
      </p:sp>
      <p:sp>
        <p:nvSpPr>
          <p:cNvPr id="11" name="Text 9"/>
          <p:cNvSpPr/>
          <p:nvPr/>
        </p:nvSpPr>
        <p:spPr>
          <a:xfrm>
            <a:off x="9959397" y="3514229"/>
            <a:ext cx="7475791"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alpha val="98000"/>
                  </a:srgbClr>
                </a:solidFill>
                <a:latin typeface="Arial" pitchFamily="34" charset="0"/>
                <a:ea typeface="Arial" pitchFamily="34" charset="-122"/>
                <a:cs typeface="Arial" pitchFamily="34" charset="-120"/>
              </a:rPr>
              <a:t>Utiliser Docker pour exécuter une plateforme Big Data</a:t>
            </a:r>
            <a:endParaRPr lang="en-US" sz="2400" dirty="0"/>
          </a:p>
        </p:txBody>
      </p:sp>
      <p:sp>
        <p:nvSpPr>
          <p:cNvPr id="12" name="Text 10"/>
          <p:cNvSpPr/>
          <p:nvPr/>
        </p:nvSpPr>
        <p:spPr>
          <a:xfrm>
            <a:off x="1058837" y="4546699"/>
            <a:ext cx="419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alpha val="97000"/>
                  </a:srgbClr>
                </a:solidFill>
                <a:latin typeface="Courier New" pitchFamily="34" charset="0"/>
                <a:ea typeface="Courier New" pitchFamily="34" charset="-122"/>
                <a:cs typeface="Courier New" pitchFamily="34" charset="-120"/>
              </a:rPr>
              <a:t>03</a:t>
            </a:r>
            <a:endParaRPr lang="en-US" sz="1950" dirty="0"/>
          </a:p>
        </p:txBody>
      </p:sp>
      <p:sp>
        <p:nvSpPr>
          <p:cNvPr id="13" name="Text 11"/>
          <p:cNvSpPr/>
          <p:nvPr/>
        </p:nvSpPr>
        <p:spPr>
          <a:xfrm>
            <a:off x="1611287" y="4546699"/>
            <a:ext cx="7475792"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alpha val="97000"/>
                  </a:srgbClr>
                </a:solidFill>
                <a:latin typeface="Arial" pitchFamily="34" charset="0"/>
                <a:ea typeface="Arial" pitchFamily="34" charset="-122"/>
                <a:cs typeface="Arial" pitchFamily="34" charset="-120"/>
              </a:rPr>
              <a:t>Manipuler MongoDB et comparer les modèles NoSQL en environnement conteneurisé</a:t>
            </a:r>
            <a:endParaRPr lang="en-US" sz="2400" dirty="0"/>
          </a:p>
        </p:txBody>
      </p:sp>
      <p:sp>
        <p:nvSpPr>
          <p:cNvPr id="14" name="Text 12"/>
          <p:cNvSpPr/>
          <p:nvPr/>
        </p:nvSpPr>
        <p:spPr>
          <a:xfrm>
            <a:off x="9395880" y="4546699"/>
            <a:ext cx="419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alpha val="94000"/>
                  </a:srgbClr>
                </a:solidFill>
                <a:latin typeface="Courier New" pitchFamily="34" charset="0"/>
                <a:ea typeface="Courier New" pitchFamily="34" charset="-122"/>
                <a:cs typeface="Courier New" pitchFamily="34" charset="-120"/>
              </a:rPr>
              <a:t>07</a:t>
            </a:r>
            <a:endParaRPr lang="en-US" sz="1950" dirty="0"/>
          </a:p>
        </p:txBody>
      </p:sp>
      <p:sp>
        <p:nvSpPr>
          <p:cNvPr id="15" name="Text 13"/>
          <p:cNvSpPr/>
          <p:nvPr/>
        </p:nvSpPr>
        <p:spPr>
          <a:xfrm>
            <a:off x="9948330" y="4546699"/>
            <a:ext cx="7475791"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alpha val="94000"/>
                  </a:srgbClr>
                </a:solidFill>
                <a:latin typeface="Arial" pitchFamily="34" charset="0"/>
                <a:ea typeface="Arial" pitchFamily="34" charset="-122"/>
                <a:cs typeface="Arial" pitchFamily="34" charset="-120"/>
              </a:rPr>
              <a:t>Distinguer IaaS, PaaS et SaaS ; expliquer élasticité et haute disponibilité</a:t>
            </a:r>
            <a:endParaRPr lang="en-US" sz="2400" dirty="0"/>
          </a:p>
        </p:txBody>
      </p:sp>
      <p:sp>
        <p:nvSpPr>
          <p:cNvPr id="16" name="Text 14"/>
          <p:cNvSpPr/>
          <p:nvPr/>
        </p:nvSpPr>
        <p:spPr>
          <a:xfrm>
            <a:off x="1040954" y="5579170"/>
            <a:ext cx="419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alpha val="90000"/>
                  </a:srgbClr>
                </a:solidFill>
                <a:latin typeface="Courier New" pitchFamily="34" charset="0"/>
                <a:ea typeface="Courier New" pitchFamily="34" charset="-122"/>
                <a:cs typeface="Courier New" pitchFamily="34" charset="-120"/>
              </a:rPr>
              <a:t>04</a:t>
            </a:r>
            <a:endParaRPr lang="en-US" sz="1950" dirty="0"/>
          </a:p>
        </p:txBody>
      </p:sp>
      <p:sp>
        <p:nvSpPr>
          <p:cNvPr id="17" name="Text 15"/>
          <p:cNvSpPr/>
          <p:nvPr/>
        </p:nvSpPr>
        <p:spPr>
          <a:xfrm>
            <a:off x="1593404" y="5579170"/>
            <a:ext cx="7475792"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alpha val="90000"/>
                  </a:srgbClr>
                </a:solidFill>
                <a:latin typeface="Arial" pitchFamily="34" charset="0"/>
                <a:ea typeface="Arial" pitchFamily="34" charset="-122"/>
                <a:cs typeface="Arial" pitchFamily="34" charset="-120"/>
              </a:rPr>
              <a:t>Développer des traitements PySpark en RDD et en DataFrame</a:t>
            </a:r>
            <a:endParaRPr lang="en-US" sz="2400" dirty="0"/>
          </a:p>
        </p:txBody>
      </p:sp>
      <p:sp>
        <p:nvSpPr>
          <p:cNvPr id="18" name="Text 16"/>
          <p:cNvSpPr/>
          <p:nvPr/>
        </p:nvSpPr>
        <p:spPr>
          <a:xfrm>
            <a:off x="9366634" y="5579170"/>
            <a:ext cx="419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alpha val="82000"/>
                  </a:srgbClr>
                </a:solidFill>
                <a:latin typeface="Courier New" pitchFamily="34" charset="0"/>
                <a:ea typeface="Courier New" pitchFamily="34" charset="-122"/>
                <a:cs typeface="Courier New" pitchFamily="34" charset="-120"/>
              </a:rPr>
              <a:t>08</a:t>
            </a:r>
            <a:endParaRPr lang="en-US" sz="1950" dirty="0"/>
          </a:p>
        </p:txBody>
      </p:sp>
      <p:sp>
        <p:nvSpPr>
          <p:cNvPr id="19" name="Text 17"/>
          <p:cNvSpPr/>
          <p:nvPr/>
        </p:nvSpPr>
        <p:spPr>
          <a:xfrm>
            <a:off x="9919084" y="5579170"/>
            <a:ext cx="7475793"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alpha val="82000"/>
                  </a:srgbClr>
                </a:solidFill>
                <a:latin typeface="Arial" pitchFamily="34" charset="0"/>
                <a:ea typeface="Arial" pitchFamily="34" charset="-122"/>
                <a:cs typeface="Arial" pitchFamily="34" charset="-120"/>
              </a:rPr>
              <a:t>Déployer un cluster Spark/Hadoop sur Amazon EMR (EC2, S3, IAM, VPC)</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alpha val="97000"/>
                  </a:srgbClr>
                </a:solidFill>
                <a:latin typeface="Courier New" pitchFamily="34" charset="0"/>
                <a:ea typeface="Courier New" pitchFamily="34" charset="-122"/>
                <a:cs typeface="Courier New" pitchFamily="34" charset="-120"/>
              </a:rPr>
              <a:t>CADRE DU MODULE</a:t>
            </a:r>
            <a:endParaRPr lang="en-US" sz="1800" dirty="0"/>
          </a:p>
        </p:txBody>
      </p:sp>
      <p:sp>
        <p:nvSpPr>
          <p:cNvPr id="3" name="Text 1"/>
          <p:cNvSpPr/>
          <p:nvPr/>
        </p:nvSpPr>
        <p:spPr>
          <a:xfrm>
            <a:off x="1066800" y="1314450"/>
            <a:ext cx="8380833"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projet fil rouge : deux jeux de données</a:t>
            </a:r>
            <a:endParaRPr lang="en-US" sz="4800" dirty="0"/>
          </a:p>
        </p:txBody>
      </p:sp>
      <p:sp>
        <p:nvSpPr>
          <p:cNvPr id="4" name="Shape 2"/>
          <p:cNvSpPr/>
          <p:nvPr/>
        </p:nvSpPr>
        <p:spPr>
          <a:xfrm>
            <a:off x="1066800" y="3077567"/>
            <a:ext cx="6741021" cy="3787775"/>
          </a:xfrm>
          <a:prstGeom prst="roundRect">
            <a:avLst>
              <a:gd name="adj" fmla="val 5029"/>
            </a:avLst>
          </a:prstGeom>
          <a:solidFill>
            <a:srgbClr val="FFFFFF">
              <a:alpha val="3000"/>
            </a:srgbClr>
          </a:solidFill>
          <a:ln w="6350">
            <a:solidFill>
              <a:srgbClr val="FFFFFF">
                <a:alpha val="10000"/>
              </a:srgbClr>
            </a:solidFill>
            <a:prstDash val="solid"/>
          </a:ln>
        </p:spPr>
      </p:sp>
      <p:sp>
        <p:nvSpPr>
          <p:cNvPr id="5" name="Text 3"/>
          <p:cNvSpPr/>
          <p:nvPr/>
        </p:nvSpPr>
        <p:spPr>
          <a:xfrm>
            <a:off x="1454150" y="3464917"/>
            <a:ext cx="6562953" cy="36830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Courier New" pitchFamily="34" charset="0"/>
                <a:ea typeface="Courier New" pitchFamily="34" charset="-122"/>
                <a:cs typeface="Courier New" pitchFamily="34" charset="-120"/>
              </a:rPr>
              <a:t>countries.json</a:t>
            </a:r>
            <a:endParaRPr lang="en-US" sz="1950" dirty="0"/>
          </a:p>
        </p:txBody>
      </p:sp>
      <p:sp>
        <p:nvSpPr>
          <p:cNvPr id="6" name="Text 4"/>
          <p:cNvSpPr/>
          <p:nvPr/>
        </p:nvSpPr>
        <p:spPr>
          <a:xfrm>
            <a:off x="1454150" y="3928467"/>
            <a:ext cx="6562953" cy="412750"/>
          </a:xfrm>
          <a:prstGeom prst="rect">
            <a:avLst/>
          </a:prstGeom>
          <a:noFill/>
          <a:ln/>
        </p:spPr>
        <p:txBody>
          <a:bodyPr wrap="square" lIns="25400" tIns="25400" rIns="25400" bIns="25400" rtlCol="0" anchor="t">
            <a:normAutofit/>
          </a:bodyPr>
          <a:lstStyle/>
          <a:p>
            <a:pPr algn="l" indent="0" marL="0">
              <a:buNone/>
            </a:pPr>
            <a:r>
              <a:rPr lang="en-US" sz="2550" b="1" dirty="0">
                <a:solidFill>
                  <a:srgbClr val="EEF3F9"/>
                </a:solidFill>
                <a:latin typeface="Arial" pitchFamily="34" charset="0"/>
                <a:ea typeface="Arial" pitchFamily="34" charset="-122"/>
                <a:cs typeface="Arial" pitchFamily="34" charset="-120"/>
              </a:rPr>
              <a:t>250 fiches de pays</a:t>
            </a:r>
            <a:endParaRPr lang="en-US" sz="2550" dirty="0"/>
          </a:p>
        </p:txBody>
      </p:sp>
      <p:sp>
        <p:nvSpPr>
          <p:cNvPr id="7" name="Text 5"/>
          <p:cNvSpPr/>
          <p:nvPr/>
        </p:nvSpPr>
        <p:spPr>
          <a:xfrm>
            <a:off x="1454150" y="4436467"/>
            <a:ext cx="6145311"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Nom, capitale, région, population, devises, langues. Champs imbriqués — le terrain idéal du modèle documents de MongoDB.</a:t>
            </a:r>
            <a:endParaRPr lang="en-US" sz="2025" dirty="0"/>
          </a:p>
        </p:txBody>
      </p:sp>
      <p:sp>
        <p:nvSpPr>
          <p:cNvPr id="8" name="Text 6"/>
          <p:cNvSpPr/>
          <p:nvPr/>
        </p:nvSpPr>
        <p:spPr>
          <a:xfrm>
            <a:off x="1454150" y="6173192"/>
            <a:ext cx="614531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 Atelier 2 · MongoDB / NoSQL</a:t>
            </a:r>
            <a:endParaRPr lang="en-US" sz="1800" dirty="0"/>
          </a:p>
        </p:txBody>
      </p:sp>
      <p:sp>
        <p:nvSpPr>
          <p:cNvPr id="9" name="Shape 7"/>
          <p:cNvSpPr/>
          <p:nvPr/>
        </p:nvSpPr>
        <p:spPr>
          <a:xfrm>
            <a:off x="8093571" y="3079121"/>
            <a:ext cx="9127629" cy="3787775"/>
          </a:xfrm>
          <a:prstGeom prst="roundRect">
            <a:avLst>
              <a:gd name="adj" fmla="val 5029"/>
            </a:avLst>
          </a:prstGeom>
          <a:solidFill>
            <a:srgbClr val="FFFFFF">
              <a:alpha val="3000"/>
            </a:srgbClr>
          </a:solidFill>
          <a:ln w="6350">
            <a:solidFill>
              <a:srgbClr val="FFC491">
                <a:alpha val="34000"/>
              </a:srgbClr>
            </a:solidFill>
            <a:prstDash val="solid"/>
          </a:ln>
        </p:spPr>
      </p:sp>
      <p:sp>
        <p:nvSpPr>
          <p:cNvPr id="10" name="Text 8"/>
          <p:cNvSpPr/>
          <p:nvPr/>
        </p:nvSpPr>
        <p:spPr>
          <a:xfrm>
            <a:off x="8480921" y="3466471"/>
            <a:ext cx="9188222" cy="368300"/>
          </a:xfrm>
          <a:prstGeom prst="rect">
            <a:avLst/>
          </a:prstGeom>
          <a:noFill/>
          <a:ln/>
        </p:spPr>
        <p:txBody>
          <a:bodyPr wrap="square" lIns="25400" tIns="25400" rIns="25400" bIns="25400" rtlCol="0" anchor="t">
            <a:normAutofit/>
          </a:bodyPr>
          <a:lstStyle/>
          <a:p>
            <a:pPr algn="l" indent="0" marL="0">
              <a:buNone/>
            </a:pPr>
            <a:r>
              <a:rPr lang="en-US" sz="1950" dirty="0">
                <a:solidFill>
                  <a:srgbClr val="FFB46E">
                    <a:alpha val="99000"/>
                  </a:srgbClr>
                </a:solidFill>
                <a:latin typeface="Courier New" pitchFamily="34" charset="0"/>
                <a:ea typeface="Courier New" pitchFamily="34" charset="-122"/>
                <a:cs typeface="Courier New" pitchFamily="34" charset="-120"/>
              </a:rPr>
              <a:t>purchases.txt</a:t>
            </a:r>
            <a:endParaRPr lang="en-US" sz="1950" dirty="0"/>
          </a:p>
        </p:txBody>
      </p:sp>
      <p:sp>
        <p:nvSpPr>
          <p:cNvPr id="11" name="Text 9"/>
          <p:cNvSpPr/>
          <p:nvPr/>
        </p:nvSpPr>
        <p:spPr>
          <a:xfrm>
            <a:off x="8480921" y="3930021"/>
            <a:ext cx="9188222" cy="412750"/>
          </a:xfrm>
          <a:prstGeom prst="rect">
            <a:avLst/>
          </a:prstGeom>
          <a:noFill/>
          <a:ln/>
        </p:spPr>
        <p:txBody>
          <a:bodyPr wrap="square" lIns="25400" tIns="25400" rIns="25400" bIns="25400" rtlCol="0" anchor="t">
            <a:normAutofit/>
          </a:bodyPr>
          <a:lstStyle/>
          <a:p>
            <a:pPr algn="l" indent="0" marL="0">
              <a:buNone/>
            </a:pPr>
            <a:r>
              <a:rPr lang="en-US" sz="2550" b="1" dirty="0">
                <a:solidFill>
                  <a:srgbClr val="EEF3F9">
                    <a:alpha val="99000"/>
                  </a:srgbClr>
                </a:solidFill>
                <a:latin typeface="Arial" pitchFamily="34" charset="0"/>
                <a:ea typeface="Arial" pitchFamily="34" charset="-122"/>
                <a:cs typeface="Arial" pitchFamily="34" charset="-120"/>
              </a:rPr>
              <a:t>Historique de tickets de caisse</a:t>
            </a:r>
            <a:endParaRPr lang="en-US" sz="2550" dirty="0"/>
          </a:p>
        </p:txBody>
      </p:sp>
      <p:sp>
        <p:nvSpPr>
          <p:cNvPr id="12" name="Text 10"/>
          <p:cNvSpPr/>
          <p:nvPr/>
        </p:nvSpPr>
        <p:spPr>
          <a:xfrm>
            <a:off x="8480921" y="4438021"/>
            <a:ext cx="8603517"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alpha val="99000"/>
                  </a:srgbClr>
                </a:solidFill>
                <a:latin typeface="Arial" pitchFamily="34" charset="0"/>
                <a:ea typeface="Arial" pitchFamily="34" charset="-122"/>
                <a:cs typeface="Arial" pitchFamily="34" charset="-120"/>
              </a:rPr>
              <a:t>Les mêmes questions métier — ventes par magasin, par heure, par mode de paiement — traitées de quatre façons différentes.</a:t>
            </a:r>
            <a:endParaRPr lang="en-US" sz="2025" dirty="0"/>
          </a:p>
        </p:txBody>
      </p:sp>
      <p:sp>
        <p:nvSpPr>
          <p:cNvPr id="13" name="Shape 11"/>
          <p:cNvSpPr/>
          <p:nvPr/>
        </p:nvSpPr>
        <p:spPr>
          <a:xfrm>
            <a:off x="8480921" y="5457196"/>
            <a:ext cx="767159" cy="469900"/>
          </a:xfrm>
          <a:prstGeom prst="roundRect">
            <a:avLst>
              <a:gd name="adj" fmla="val 50000"/>
            </a:avLst>
          </a:prstGeom>
          <a:solidFill>
            <a:srgbClr val="FFFFFF">
              <a:alpha val="6000"/>
            </a:srgbClr>
          </a:solidFill>
          <a:ln w="6350">
            <a:solidFill>
              <a:srgbClr val="FFFFFF">
                <a:alpha val="10000"/>
              </a:srgbClr>
            </a:solidFill>
            <a:prstDash val="solid"/>
          </a:ln>
        </p:spPr>
      </p:sp>
      <p:sp>
        <p:nvSpPr>
          <p:cNvPr id="14" name="Text 12"/>
          <p:cNvSpPr/>
          <p:nvPr/>
        </p:nvSpPr>
        <p:spPr>
          <a:xfrm>
            <a:off x="8658721" y="5539746"/>
            <a:ext cx="4877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alpha val="99000"/>
                  </a:srgbClr>
                </a:solidFill>
                <a:latin typeface="Courier New" pitchFamily="34" charset="0"/>
                <a:ea typeface="Courier New" pitchFamily="34" charset="-122"/>
                <a:cs typeface="Courier New" pitchFamily="34" charset="-120"/>
              </a:rPr>
              <a:t>RDD</a:t>
            </a:r>
            <a:endParaRPr lang="en-US" sz="1800" dirty="0"/>
          </a:p>
        </p:txBody>
      </p:sp>
      <p:sp>
        <p:nvSpPr>
          <p:cNvPr id="15" name="Shape 13"/>
          <p:cNvSpPr/>
          <p:nvPr/>
        </p:nvSpPr>
        <p:spPr>
          <a:xfrm>
            <a:off x="9362381" y="5457196"/>
            <a:ext cx="1590080" cy="469900"/>
          </a:xfrm>
          <a:prstGeom prst="roundRect">
            <a:avLst>
              <a:gd name="adj" fmla="val 50000"/>
            </a:avLst>
          </a:prstGeom>
          <a:solidFill>
            <a:srgbClr val="FFFFFF">
              <a:alpha val="6000"/>
            </a:srgbClr>
          </a:solidFill>
          <a:ln w="6350">
            <a:solidFill>
              <a:srgbClr val="FFFFFF">
                <a:alpha val="10000"/>
              </a:srgbClr>
            </a:solidFill>
            <a:prstDash val="solid"/>
          </a:ln>
        </p:spPr>
      </p:sp>
      <p:sp>
        <p:nvSpPr>
          <p:cNvPr id="16" name="Text 14"/>
          <p:cNvSpPr/>
          <p:nvPr/>
        </p:nvSpPr>
        <p:spPr>
          <a:xfrm>
            <a:off x="9540181" y="5539746"/>
            <a:ext cx="131068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alpha val="99000"/>
                  </a:srgbClr>
                </a:solidFill>
                <a:latin typeface="Courier New" pitchFamily="34" charset="0"/>
                <a:ea typeface="Courier New" pitchFamily="34" charset="-122"/>
                <a:cs typeface="Courier New" pitchFamily="34" charset="-120"/>
              </a:rPr>
              <a:t>DataFrame</a:t>
            </a:r>
            <a:endParaRPr lang="en-US" sz="1800" dirty="0"/>
          </a:p>
        </p:txBody>
      </p:sp>
      <p:sp>
        <p:nvSpPr>
          <p:cNvPr id="17" name="Shape 15"/>
          <p:cNvSpPr/>
          <p:nvPr/>
        </p:nvSpPr>
        <p:spPr>
          <a:xfrm>
            <a:off x="11066761" y="5457196"/>
            <a:ext cx="1590080" cy="469900"/>
          </a:xfrm>
          <a:prstGeom prst="roundRect">
            <a:avLst>
              <a:gd name="adj" fmla="val 50000"/>
            </a:avLst>
          </a:prstGeom>
          <a:solidFill>
            <a:srgbClr val="FFFFFF">
              <a:alpha val="6000"/>
            </a:srgbClr>
          </a:solidFill>
          <a:ln w="6350">
            <a:solidFill>
              <a:srgbClr val="FFFFFF">
                <a:alpha val="10000"/>
              </a:srgbClr>
            </a:solidFill>
            <a:prstDash val="solid"/>
          </a:ln>
        </p:spPr>
      </p:sp>
      <p:sp>
        <p:nvSpPr>
          <p:cNvPr id="18" name="Text 16"/>
          <p:cNvSpPr/>
          <p:nvPr/>
        </p:nvSpPr>
        <p:spPr>
          <a:xfrm>
            <a:off x="11244561" y="5539746"/>
            <a:ext cx="131068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alpha val="99000"/>
                  </a:srgbClr>
                </a:solidFill>
                <a:latin typeface="Courier New" pitchFamily="34" charset="0"/>
                <a:ea typeface="Courier New" pitchFamily="34" charset="-122"/>
                <a:cs typeface="Courier New" pitchFamily="34" charset="-120"/>
              </a:rPr>
              <a:t>Spark SQL</a:t>
            </a:r>
            <a:endParaRPr lang="en-US" sz="1800" dirty="0"/>
          </a:p>
        </p:txBody>
      </p:sp>
      <p:sp>
        <p:nvSpPr>
          <p:cNvPr id="19" name="Shape 17"/>
          <p:cNvSpPr/>
          <p:nvPr/>
        </p:nvSpPr>
        <p:spPr>
          <a:xfrm>
            <a:off x="12771140" y="5457196"/>
            <a:ext cx="1178620" cy="469900"/>
          </a:xfrm>
          <a:prstGeom prst="roundRect">
            <a:avLst>
              <a:gd name="adj" fmla="val 50000"/>
            </a:avLst>
          </a:prstGeom>
          <a:solidFill>
            <a:srgbClr val="FFFFFF">
              <a:alpha val="6000"/>
            </a:srgbClr>
          </a:solidFill>
          <a:ln w="6350">
            <a:solidFill>
              <a:srgbClr val="FFFFFF">
                <a:alpha val="10000"/>
              </a:srgbClr>
            </a:solidFill>
            <a:prstDash val="solid"/>
          </a:ln>
        </p:spPr>
      </p:sp>
      <p:sp>
        <p:nvSpPr>
          <p:cNvPr id="20" name="Text 18"/>
          <p:cNvSpPr/>
          <p:nvPr/>
        </p:nvSpPr>
        <p:spPr>
          <a:xfrm>
            <a:off x="12948940" y="5539746"/>
            <a:ext cx="89922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alpha val="99000"/>
                  </a:srgbClr>
                </a:solidFill>
                <a:latin typeface="Courier New" pitchFamily="34" charset="0"/>
                <a:ea typeface="Courier New" pitchFamily="34" charset="-122"/>
                <a:cs typeface="Courier New" pitchFamily="34" charset="-120"/>
              </a:rPr>
              <a:t>HiveQL</a:t>
            </a:r>
            <a:endParaRPr lang="en-US" sz="1800" dirty="0"/>
          </a:p>
        </p:txBody>
      </p:sp>
      <p:sp>
        <p:nvSpPr>
          <p:cNvPr id="21" name="Text 19"/>
          <p:cNvSpPr/>
          <p:nvPr/>
        </p:nvSpPr>
        <p:spPr>
          <a:xfrm>
            <a:off x="8480921" y="6174746"/>
            <a:ext cx="8603517"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alpha val="99000"/>
                  </a:srgbClr>
                </a:solidFill>
                <a:latin typeface="Courier New" pitchFamily="34" charset="0"/>
                <a:ea typeface="Courier New" pitchFamily="34" charset="-122"/>
                <a:cs typeface="Courier New" pitchFamily="34" charset="-120"/>
              </a:rPr>
              <a:t>→ Ateliers 4 · 5 · 6 · 7</a:t>
            </a:r>
            <a:endParaRPr lang="en-US" sz="1800" dirty="0"/>
          </a:p>
        </p:txBody>
      </p:sp>
      <p:sp>
        <p:nvSpPr>
          <p:cNvPr id="22" name="Text 20"/>
          <p:cNvSpPr/>
          <p:nvPr/>
        </p:nvSpPr>
        <p:spPr>
          <a:xfrm>
            <a:off x="259080" y="7189193"/>
            <a:ext cx="17769840" cy="374650"/>
          </a:xfrm>
          <a:prstGeom prst="rect">
            <a:avLst/>
          </a:prstGeom>
          <a:noFill/>
          <a:ln/>
        </p:spPr>
        <p:txBody>
          <a:bodyPr wrap="square" lIns="25400" tIns="25400" rIns="25400" bIns="25400" rtlCol="0" anchor="t">
            <a:normAutofit/>
          </a:bodyPr>
          <a:lstStyle/>
          <a:p>
            <a:pPr algn="ctr" indent="0" marL="0">
              <a:buNone/>
            </a:pPr>
            <a:r>
              <a:rPr lang="en-US" sz="2025" dirty="0">
                <a:solidFill>
                  <a:srgbClr val="8EA0B5">
                    <a:alpha val="50000"/>
                  </a:srgbClr>
                </a:solidFill>
                <a:latin typeface="Arial" pitchFamily="34" charset="0"/>
                <a:ea typeface="Arial" pitchFamily="34" charset="-122"/>
                <a:cs typeface="Arial" pitchFamily="34" charset="-120"/>
              </a:rPr>
              <a:t>Le tout repose sur la plateforme Docker de l'atelier 3, reproduite dans le Cloud à l'atelier 7.</a:t>
            </a:r>
            <a:endParaRPr lang="en-US" sz="202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2666107"/>
            <a:ext cx="17769840" cy="368300"/>
          </a:xfrm>
          <a:prstGeom prst="rect">
            <a:avLst/>
          </a:prstGeom>
          <a:noFill/>
          <a:ln/>
        </p:spPr>
        <p:txBody>
          <a:bodyPr wrap="square" lIns="25400" tIns="25400" rIns="25400" bIns="25400" rtlCol="0" anchor="t">
            <a:normAutofit/>
          </a:bodyPr>
          <a:lstStyle/>
          <a:p>
            <a:pPr algn="l" indent="0" marL="0">
              <a:buNone/>
            </a:pPr>
            <a:r>
              <a:rPr lang="en-US" sz="1950" spc="546" kern="0" dirty="0">
                <a:solidFill>
                  <a:srgbClr val="56DBDB">
                    <a:alpha val="97000"/>
                  </a:srgbClr>
                </a:solidFill>
                <a:latin typeface="Courier New" pitchFamily="34" charset="0"/>
                <a:ea typeface="Courier New" pitchFamily="34" charset="-122"/>
                <a:cs typeface="Courier New" pitchFamily="34" charset="-120"/>
              </a:rPr>
              <a:t>ATELIER 01 · 2 HEURES</a:t>
            </a:r>
            <a:endParaRPr lang="en-US" sz="1950" dirty="0"/>
          </a:p>
        </p:txBody>
      </p:sp>
      <p:sp>
        <p:nvSpPr>
          <p:cNvPr id="3" name="Text 1"/>
          <p:cNvSpPr/>
          <p:nvPr/>
        </p:nvSpPr>
        <p:spPr>
          <a:xfrm>
            <a:off x="1066800" y="3072508"/>
            <a:ext cx="17769840" cy="1924050"/>
          </a:xfrm>
          <a:prstGeom prst="rect">
            <a:avLst/>
          </a:prstGeom>
          <a:noFill/>
          <a:ln/>
        </p:spPr>
        <p:txBody>
          <a:bodyPr wrap="square" lIns="25400" tIns="25400" rIns="25400" bIns="25400" rtlCol="0" anchor="t">
            <a:normAutofit/>
          </a:bodyPr>
          <a:lstStyle/>
          <a:p>
            <a:pPr algn="l" indent="0" marL="0">
              <a:lnSpc>
                <a:spcPct val="78158"/>
              </a:lnSpc>
              <a:buNone/>
            </a:pPr>
            <a:r>
              <a:rPr lang="en-US" sz="16500" b="1" spc="-660" kern="0" dirty="0">
                <a:solidFill>
                  <a:srgbClr val="8EE3E4"/>
                </a:solidFill>
                <a:latin typeface="Arial" pitchFamily="34" charset="0"/>
                <a:ea typeface="Arial" pitchFamily="34" charset="-122"/>
                <a:cs typeface="Arial" pitchFamily="34" charset="-120"/>
              </a:rPr>
              <a:t>01</a:t>
            </a:r>
            <a:endParaRPr lang="en-US" sz="16500" dirty="0"/>
          </a:p>
        </p:txBody>
      </p:sp>
      <p:sp>
        <p:nvSpPr>
          <p:cNvPr id="4" name="Text 2"/>
          <p:cNvSpPr/>
          <p:nvPr/>
        </p:nvSpPr>
        <p:spPr>
          <a:xfrm>
            <a:off x="1066800" y="5036109"/>
            <a:ext cx="17769840" cy="776387"/>
          </a:xfrm>
          <a:prstGeom prst="rect">
            <a:avLst/>
          </a:prstGeom>
          <a:noFill/>
          <a:ln/>
        </p:spPr>
        <p:txBody>
          <a:bodyPr wrap="square" lIns="25400" tIns="25400" rIns="25400" bIns="25400" rtlCol="0" anchor="t">
            <a:normAutofit/>
          </a:bodyPr>
          <a:lstStyle/>
          <a:p>
            <a:pPr algn="l" indent="0" marL="0">
              <a:lnSpc>
                <a:spcPct val="88763"/>
              </a:lnSpc>
              <a:buNone/>
            </a:pPr>
            <a:r>
              <a:rPr lang="en-US" sz="5700" b="1" spc="-114" kern="0" dirty="0">
                <a:solidFill>
                  <a:srgbClr val="EEF3F9">
                    <a:alpha val="99000"/>
                  </a:srgbClr>
                </a:solidFill>
                <a:latin typeface="Arial" pitchFamily="34" charset="0"/>
                <a:ea typeface="Arial" pitchFamily="34" charset="-122"/>
                <a:cs typeface="Arial" pitchFamily="34" charset="-120"/>
              </a:rPr>
              <a:t>Émergence du paradigme Big Data</a:t>
            </a:r>
            <a:endParaRPr lang="en-US" sz="5700" dirty="0"/>
          </a:p>
        </p:txBody>
      </p:sp>
      <p:sp>
        <p:nvSpPr>
          <p:cNvPr id="5" name="Text 3"/>
          <p:cNvSpPr/>
          <p:nvPr/>
        </p:nvSpPr>
        <p:spPr>
          <a:xfrm>
            <a:off x="1066800" y="6020594"/>
            <a:ext cx="10360152" cy="1638300"/>
          </a:xfrm>
          <a:prstGeom prst="rect">
            <a:avLst/>
          </a:prstGeom>
          <a:noFill/>
          <a:ln/>
        </p:spPr>
        <p:txBody>
          <a:bodyPr wrap="square" lIns="25400" tIns="25400" rIns="25400" bIns="25400" rtlCol="0" anchor="t">
            <a:normAutofit/>
          </a:bodyPr>
          <a:lstStyle/>
          <a:p>
            <a:pPr algn="l" indent="0" marL="0">
              <a:lnSpc>
                <a:spcPct val="121739"/>
              </a:lnSpc>
              <a:buNone/>
            </a:pPr>
            <a:r>
              <a:rPr lang="en-US" sz="3000" dirty="0">
                <a:solidFill>
                  <a:srgbClr val="8EA0B5">
                    <a:alpha val="77000"/>
                  </a:srgbClr>
                </a:solidFill>
                <a:latin typeface="Arial" pitchFamily="34" charset="0"/>
                <a:ea typeface="Arial" pitchFamily="34" charset="-122"/>
                <a:cs typeface="Arial" pitchFamily="34" charset="-120"/>
              </a:rPr>
              <a:t>L'explosion des données, les limites du relationnel, les 5V et leurs seuils, le test pratique et le passage à une architecture distribuée.</a:t>
            </a:r>
            <a:endParaRPr lang="en-US"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alpha val="97000"/>
                  </a:srgbClr>
                </a:solidFill>
                <a:latin typeface="Courier New" pitchFamily="34" charset="0"/>
                <a:ea typeface="Courier New" pitchFamily="34" charset="-122"/>
                <a:cs typeface="Courier New" pitchFamily="34" charset="-120"/>
              </a:rPr>
              <a:t>ATELIER 01 · CONTEXTE</a:t>
            </a:r>
            <a:endParaRPr lang="en-US" sz="1800" dirty="0"/>
          </a:p>
        </p:txBody>
      </p:sp>
      <p:sp>
        <p:nvSpPr>
          <p:cNvPr id="3" name="Text 1"/>
          <p:cNvSpPr/>
          <p:nvPr/>
        </p:nvSpPr>
        <p:spPr>
          <a:xfrm>
            <a:off x="1066800" y="1314452"/>
            <a:ext cx="7682430"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L'explosion des données numériques</a:t>
            </a:r>
            <a:endParaRPr lang="en-US" sz="4800" dirty="0"/>
          </a:p>
        </p:txBody>
      </p:sp>
      <p:sp>
        <p:nvSpPr>
          <p:cNvPr id="4" name="Text 2"/>
          <p:cNvSpPr/>
          <p:nvPr/>
        </p:nvSpPr>
        <p:spPr>
          <a:xfrm>
            <a:off x="1066800" y="2829917"/>
            <a:ext cx="12055369" cy="1363861"/>
          </a:xfrm>
          <a:prstGeom prst="rect">
            <a:avLst/>
          </a:prstGeom>
          <a:noFill/>
          <a:ln/>
        </p:spPr>
        <p:txBody>
          <a:bodyPr wrap="square" lIns="25400" tIns="25400" rIns="25400" bIns="25400" rtlCol="0" anchor="t">
            <a:normAutofit/>
          </a:bodyPr>
          <a:lstStyle/>
          <a:p>
            <a:pPr algn="l" indent="0" marL="0">
              <a:lnSpc>
                <a:spcPct val="126545"/>
              </a:lnSpc>
              <a:buNone/>
            </a:pPr>
            <a:r>
              <a:rPr lang="en-US" sz="2400" dirty="0">
                <a:solidFill>
                  <a:srgbClr val="8EA0B5">
                    <a:alpha val="91000"/>
                  </a:srgbClr>
                </a:solidFill>
                <a:latin typeface="Arial" pitchFamily="34" charset="0"/>
                <a:ea typeface="Arial" pitchFamily="34" charset="-122"/>
                <a:cs typeface="Arial" pitchFamily="34" charset="-120"/>
              </a:rPr>
              <a:t>Jusqu'aux années 1990, les données provenaient des systèmes internes : structurées, de volume modéré, gérées sur un seul serveur. Trois évolutions ont tout changé.</a:t>
            </a:r>
            <a:endParaRPr lang="en-US" sz="2400" dirty="0"/>
          </a:p>
        </p:txBody>
      </p:sp>
      <p:sp>
        <p:nvSpPr>
          <p:cNvPr id="5" name="Shape 3"/>
          <p:cNvSpPr/>
          <p:nvPr/>
        </p:nvSpPr>
        <p:spPr>
          <a:xfrm>
            <a:off x="1066800" y="4650980"/>
            <a:ext cx="5232400" cy="2807791"/>
          </a:xfrm>
          <a:prstGeom prst="roundRect">
            <a:avLst>
              <a:gd name="adj" fmla="val 6106"/>
            </a:avLst>
          </a:prstGeom>
          <a:solidFill>
            <a:srgbClr val="FFFFFF">
              <a:alpha val="3000"/>
            </a:srgbClr>
          </a:solidFill>
          <a:ln w="6350">
            <a:solidFill>
              <a:srgbClr val="FFFFFF">
                <a:alpha val="10000"/>
              </a:srgbClr>
            </a:solidFill>
            <a:prstDash val="solid"/>
          </a:ln>
        </p:spPr>
      </p:sp>
      <p:sp>
        <p:nvSpPr>
          <p:cNvPr id="6" name="Text 4"/>
          <p:cNvSpPr/>
          <p:nvPr/>
        </p:nvSpPr>
        <p:spPr>
          <a:xfrm>
            <a:off x="1377950" y="5000230"/>
            <a:ext cx="507111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77950" y="5457430"/>
            <a:ext cx="5071110" cy="399554"/>
          </a:xfrm>
          <a:prstGeom prst="rect">
            <a:avLst/>
          </a:prstGeom>
          <a:noFill/>
          <a:ln/>
        </p:spPr>
        <p:txBody>
          <a:bodyPr wrap="square" lIns="25400" tIns="25400" rIns="25400" bIns="25400" rtlCol="0" anchor="t">
            <a:normAutofit/>
          </a:bodyPr>
          <a:lstStyle/>
          <a:p>
            <a:pPr algn="l" indent="0" marL="0">
              <a:lnSpc>
                <a:spcPct val="99868"/>
              </a:lnSpc>
              <a:buNone/>
            </a:pPr>
            <a:r>
              <a:rPr lang="en-US" sz="2475" b="1" dirty="0">
                <a:solidFill>
                  <a:srgbClr val="EEF3F9"/>
                </a:solidFill>
                <a:latin typeface="Arial" pitchFamily="34" charset="0"/>
                <a:ea typeface="Arial" pitchFamily="34" charset="-122"/>
                <a:cs typeface="Arial" pitchFamily="34" charset="-120"/>
              </a:rPr>
              <a:t>Démocratisation d'Internet</a:t>
            </a:r>
            <a:endParaRPr lang="en-US" sz="2475" dirty="0"/>
          </a:p>
        </p:txBody>
      </p:sp>
      <p:sp>
        <p:nvSpPr>
          <p:cNvPr id="8" name="Text 6"/>
          <p:cNvSpPr/>
          <p:nvPr/>
        </p:nvSpPr>
        <p:spPr>
          <a:xfrm>
            <a:off x="1377950" y="5952234"/>
            <a:ext cx="4748403"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Chaque page, chaque clic, chaque recherche laisse une trace numérique.</a:t>
            </a:r>
            <a:endParaRPr lang="en-US" sz="2025" dirty="0"/>
          </a:p>
        </p:txBody>
      </p:sp>
      <p:sp>
        <p:nvSpPr>
          <p:cNvPr id="9" name="Shape 7"/>
          <p:cNvSpPr/>
          <p:nvPr/>
        </p:nvSpPr>
        <p:spPr>
          <a:xfrm>
            <a:off x="6527800" y="4652440"/>
            <a:ext cx="5232400" cy="2807791"/>
          </a:xfrm>
          <a:prstGeom prst="roundRect">
            <a:avLst>
              <a:gd name="adj" fmla="val 6106"/>
            </a:avLst>
          </a:prstGeom>
          <a:solidFill>
            <a:srgbClr val="FFFFFF">
              <a:alpha val="3000"/>
            </a:srgbClr>
          </a:solidFill>
          <a:ln w="6350">
            <a:solidFill>
              <a:srgbClr val="FFFFFF">
                <a:alpha val="10000"/>
              </a:srgbClr>
            </a:solidFill>
            <a:prstDash val="solid"/>
          </a:ln>
        </p:spPr>
      </p:sp>
      <p:sp>
        <p:nvSpPr>
          <p:cNvPr id="10" name="Text 8"/>
          <p:cNvSpPr/>
          <p:nvPr/>
        </p:nvSpPr>
        <p:spPr>
          <a:xfrm>
            <a:off x="6838950" y="5001690"/>
            <a:ext cx="507111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alpha val="99000"/>
                  </a:srgbClr>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6838950" y="5458890"/>
            <a:ext cx="5071110" cy="399554"/>
          </a:xfrm>
          <a:prstGeom prst="rect">
            <a:avLst/>
          </a:prstGeom>
          <a:noFill/>
          <a:ln/>
        </p:spPr>
        <p:txBody>
          <a:bodyPr wrap="square" lIns="25400" tIns="25400" rIns="25400" bIns="25400" rtlCol="0" anchor="t">
            <a:normAutofit/>
          </a:bodyPr>
          <a:lstStyle/>
          <a:p>
            <a:pPr algn="l" indent="0" marL="0">
              <a:lnSpc>
                <a:spcPct val="99868"/>
              </a:lnSpc>
              <a:buNone/>
            </a:pPr>
            <a:r>
              <a:rPr lang="en-US" sz="2475" b="1" dirty="0">
                <a:solidFill>
                  <a:srgbClr val="EEF3F9">
                    <a:alpha val="99000"/>
                  </a:srgbClr>
                </a:solidFill>
                <a:latin typeface="Arial" pitchFamily="34" charset="0"/>
                <a:ea typeface="Arial" pitchFamily="34" charset="-122"/>
                <a:cs typeface="Arial" pitchFamily="34" charset="-120"/>
              </a:rPr>
              <a:t>Réseaux sociaux &amp; mobile</a:t>
            </a:r>
            <a:endParaRPr lang="en-US" sz="2475" dirty="0"/>
          </a:p>
        </p:txBody>
      </p:sp>
      <p:sp>
        <p:nvSpPr>
          <p:cNvPr id="12" name="Text 10"/>
          <p:cNvSpPr/>
          <p:nvPr/>
        </p:nvSpPr>
        <p:spPr>
          <a:xfrm>
            <a:off x="6838950" y="5953694"/>
            <a:ext cx="4748403"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alpha val="99000"/>
                  </a:srgbClr>
                </a:solidFill>
                <a:latin typeface="Arial" pitchFamily="34" charset="0"/>
                <a:ea typeface="Arial" pitchFamily="34" charset="-122"/>
                <a:cs typeface="Arial" pitchFamily="34" charset="-120"/>
              </a:rPr>
              <a:t>Les utilisateurs deviennent producteurs : photos, vidéos, messages, géolocalisation.</a:t>
            </a:r>
            <a:endParaRPr lang="en-US" sz="2025" dirty="0"/>
          </a:p>
        </p:txBody>
      </p:sp>
      <p:sp>
        <p:nvSpPr>
          <p:cNvPr id="13" name="Shape 11"/>
          <p:cNvSpPr/>
          <p:nvPr/>
        </p:nvSpPr>
        <p:spPr>
          <a:xfrm>
            <a:off x="11988801" y="4657764"/>
            <a:ext cx="5232400" cy="2807792"/>
          </a:xfrm>
          <a:prstGeom prst="roundRect">
            <a:avLst>
              <a:gd name="adj" fmla="val 6106"/>
            </a:avLst>
          </a:prstGeom>
          <a:solidFill>
            <a:srgbClr val="FFFFFF">
              <a:alpha val="3000"/>
            </a:srgbClr>
          </a:solidFill>
          <a:ln w="6350">
            <a:solidFill>
              <a:srgbClr val="FFFFFF">
                <a:alpha val="10000"/>
              </a:srgbClr>
            </a:solidFill>
            <a:prstDash val="solid"/>
          </a:ln>
        </p:spPr>
      </p:sp>
      <p:sp>
        <p:nvSpPr>
          <p:cNvPr id="14" name="Text 12"/>
          <p:cNvSpPr/>
          <p:nvPr/>
        </p:nvSpPr>
        <p:spPr>
          <a:xfrm>
            <a:off x="12299950" y="5007015"/>
            <a:ext cx="507111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alpha val="98000"/>
                  </a:srgbClr>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2299950" y="5464215"/>
            <a:ext cx="5071110" cy="399554"/>
          </a:xfrm>
          <a:prstGeom prst="rect">
            <a:avLst/>
          </a:prstGeom>
          <a:noFill/>
          <a:ln/>
        </p:spPr>
        <p:txBody>
          <a:bodyPr wrap="square" lIns="25400" tIns="25400" rIns="25400" bIns="25400" rtlCol="0" anchor="t">
            <a:normAutofit/>
          </a:bodyPr>
          <a:lstStyle/>
          <a:p>
            <a:pPr algn="l" indent="0" marL="0">
              <a:lnSpc>
                <a:spcPct val="99868"/>
              </a:lnSpc>
              <a:buNone/>
            </a:pPr>
            <a:r>
              <a:rPr lang="en-US" sz="2475" b="1" dirty="0">
                <a:solidFill>
                  <a:srgbClr val="EEF3F9">
                    <a:alpha val="98000"/>
                  </a:srgbClr>
                </a:solidFill>
                <a:latin typeface="Arial" pitchFamily="34" charset="0"/>
                <a:ea typeface="Arial" pitchFamily="34" charset="-122"/>
                <a:cs typeface="Arial" pitchFamily="34" charset="-120"/>
              </a:rPr>
              <a:t>Capteurs &amp; IoT</a:t>
            </a:r>
            <a:endParaRPr lang="en-US" sz="2475" dirty="0"/>
          </a:p>
        </p:txBody>
      </p:sp>
      <p:sp>
        <p:nvSpPr>
          <p:cNvPr id="16" name="Text 14"/>
          <p:cNvSpPr/>
          <p:nvPr/>
        </p:nvSpPr>
        <p:spPr>
          <a:xfrm>
            <a:off x="12299950" y="5959019"/>
            <a:ext cx="4748403"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alpha val="98000"/>
                  </a:srgbClr>
                </a:solidFill>
                <a:latin typeface="Arial" pitchFamily="34" charset="0"/>
                <a:ea typeface="Arial" pitchFamily="34" charset="-122"/>
                <a:cs typeface="Arial" pitchFamily="34" charset="-120"/>
              </a:rPr>
              <a:t>Véhicules, montres, machines industrielles produisent des flux en continu.</a:t>
            </a:r>
            <a:endParaRPr lang="en-US" sz="202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alpha val="97000"/>
                  </a:srgbClr>
                </a:solidFill>
                <a:latin typeface="Courier New" pitchFamily="34" charset="0"/>
                <a:ea typeface="Courier New" pitchFamily="34" charset="-122"/>
                <a:cs typeface="Courier New" pitchFamily="34" charset="-120"/>
              </a:rPr>
              <a:t>ATELIER 01 · LE RELATIONNEL</a:t>
            </a:r>
            <a:endParaRPr lang="en-US" sz="1800" dirty="0"/>
          </a:p>
        </p:txBody>
      </p:sp>
      <p:sp>
        <p:nvSpPr>
          <p:cNvPr id="3" name="Text 1"/>
          <p:cNvSpPr/>
          <p:nvPr/>
        </p:nvSpPr>
        <p:spPr>
          <a:xfrm>
            <a:off x="1066800" y="1314451"/>
            <a:ext cx="8380833"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limites des bases relationnelles</a:t>
            </a:r>
            <a:endParaRPr lang="en-US" sz="4800" dirty="0"/>
          </a:p>
        </p:txBody>
      </p:sp>
      <p:sp>
        <p:nvSpPr>
          <p:cNvPr id="4" name="Shape 2"/>
          <p:cNvSpPr/>
          <p:nvPr/>
        </p:nvSpPr>
        <p:spPr>
          <a:xfrm>
            <a:off x="1066800" y="3039469"/>
            <a:ext cx="7972425" cy="1800225"/>
          </a:xfrm>
          <a:prstGeom prst="roundRect">
            <a:avLst>
              <a:gd name="adj" fmla="val 7407"/>
            </a:avLst>
          </a:prstGeom>
          <a:solidFill>
            <a:srgbClr val="FFFFFF">
              <a:alpha val="3000"/>
            </a:srgbClr>
          </a:solidFill>
          <a:ln/>
        </p:spPr>
      </p:sp>
      <p:sp>
        <p:nvSpPr>
          <p:cNvPr id="5" name="Shape 3"/>
          <p:cNvSpPr/>
          <p:nvPr/>
        </p:nvSpPr>
        <p:spPr>
          <a:xfrm>
            <a:off x="1066800" y="4833344"/>
            <a:ext cx="7972425" cy="9525"/>
          </a:xfrm>
          <a:prstGeom prst="rect">
            <a:avLst/>
          </a:prstGeom>
          <a:solidFill>
            <a:srgbClr val="FFFFFF">
              <a:alpha val="10000"/>
            </a:srgbClr>
          </a:solidFill>
          <a:ln/>
        </p:spPr>
      </p:sp>
      <p:sp>
        <p:nvSpPr>
          <p:cNvPr id="6" name="Shape 4"/>
          <p:cNvSpPr/>
          <p:nvPr/>
        </p:nvSpPr>
        <p:spPr>
          <a:xfrm>
            <a:off x="1066800" y="3039469"/>
            <a:ext cx="7972425" cy="9525"/>
          </a:xfrm>
          <a:prstGeom prst="rect">
            <a:avLst/>
          </a:prstGeom>
          <a:solidFill>
            <a:srgbClr val="FFFFFF">
              <a:alpha val="10000"/>
            </a:srgbClr>
          </a:solidFill>
          <a:ln/>
        </p:spPr>
      </p:sp>
      <p:sp>
        <p:nvSpPr>
          <p:cNvPr id="7" name="Shape 5"/>
          <p:cNvSpPr/>
          <p:nvPr/>
        </p:nvSpPr>
        <p:spPr>
          <a:xfrm>
            <a:off x="1066800" y="3039469"/>
            <a:ext cx="25400" cy="1800225"/>
          </a:xfrm>
          <a:prstGeom prst="rect">
            <a:avLst/>
          </a:prstGeom>
          <a:solidFill>
            <a:srgbClr val="FFB46E"/>
          </a:solidFill>
          <a:ln/>
        </p:spPr>
      </p:sp>
      <p:sp>
        <p:nvSpPr>
          <p:cNvPr id="8" name="Shape 6"/>
          <p:cNvSpPr/>
          <p:nvPr/>
        </p:nvSpPr>
        <p:spPr>
          <a:xfrm>
            <a:off x="9032875" y="3039469"/>
            <a:ext cx="9525" cy="1800225"/>
          </a:xfrm>
          <a:prstGeom prst="rect">
            <a:avLst/>
          </a:prstGeom>
          <a:solidFill>
            <a:srgbClr val="FFFFFF">
              <a:alpha val="10000"/>
            </a:srgbClr>
          </a:solidFill>
          <a:ln/>
        </p:spPr>
      </p:sp>
      <p:sp>
        <p:nvSpPr>
          <p:cNvPr id="9" name="Text 7"/>
          <p:cNvSpPr/>
          <p:nvPr/>
        </p:nvSpPr>
        <p:spPr>
          <a:xfrm>
            <a:off x="1397000" y="3331569"/>
            <a:ext cx="8064183"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Scalabilité verticale</a:t>
            </a:r>
            <a:endParaRPr lang="en-US" sz="2250" dirty="0"/>
          </a:p>
        </p:txBody>
      </p:sp>
      <p:sp>
        <p:nvSpPr>
          <p:cNvPr id="10" name="Text 8"/>
          <p:cNvSpPr/>
          <p:nvPr/>
        </p:nvSpPr>
        <p:spPr>
          <a:xfrm>
            <a:off x="1397000" y="3776069"/>
            <a:ext cx="7551007"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Une seule machine : pour encaisser plus, on ajoute RAM/CPU (scale-up) — plafond physique et financier.</a:t>
            </a:r>
            <a:endParaRPr lang="en-US" sz="2025" dirty="0"/>
          </a:p>
        </p:txBody>
      </p:sp>
      <p:sp>
        <p:nvSpPr>
          <p:cNvPr id="11" name="Shape 9"/>
          <p:cNvSpPr/>
          <p:nvPr/>
        </p:nvSpPr>
        <p:spPr>
          <a:xfrm>
            <a:off x="9248775" y="3040385"/>
            <a:ext cx="7972425" cy="1800225"/>
          </a:xfrm>
          <a:prstGeom prst="roundRect">
            <a:avLst>
              <a:gd name="adj" fmla="val 7407"/>
            </a:avLst>
          </a:prstGeom>
          <a:solidFill>
            <a:srgbClr val="FFFFFF">
              <a:alpha val="3000"/>
            </a:srgbClr>
          </a:solidFill>
          <a:ln/>
        </p:spPr>
      </p:sp>
      <p:sp>
        <p:nvSpPr>
          <p:cNvPr id="12" name="Shape 10"/>
          <p:cNvSpPr/>
          <p:nvPr/>
        </p:nvSpPr>
        <p:spPr>
          <a:xfrm>
            <a:off x="9248775" y="4834260"/>
            <a:ext cx="7972425" cy="9525"/>
          </a:xfrm>
          <a:prstGeom prst="rect">
            <a:avLst/>
          </a:prstGeom>
          <a:solidFill>
            <a:srgbClr val="FFFFFF">
              <a:alpha val="10000"/>
            </a:srgbClr>
          </a:solidFill>
          <a:ln/>
        </p:spPr>
      </p:sp>
      <p:sp>
        <p:nvSpPr>
          <p:cNvPr id="13" name="Shape 11"/>
          <p:cNvSpPr/>
          <p:nvPr/>
        </p:nvSpPr>
        <p:spPr>
          <a:xfrm>
            <a:off x="9248775" y="3040385"/>
            <a:ext cx="7972425" cy="9525"/>
          </a:xfrm>
          <a:prstGeom prst="rect">
            <a:avLst/>
          </a:prstGeom>
          <a:solidFill>
            <a:srgbClr val="FFFFFF">
              <a:alpha val="10000"/>
            </a:srgbClr>
          </a:solidFill>
          <a:ln/>
        </p:spPr>
      </p:sp>
      <p:sp>
        <p:nvSpPr>
          <p:cNvPr id="14" name="Shape 12"/>
          <p:cNvSpPr/>
          <p:nvPr/>
        </p:nvSpPr>
        <p:spPr>
          <a:xfrm>
            <a:off x="9248775" y="3040385"/>
            <a:ext cx="25400" cy="1800225"/>
          </a:xfrm>
          <a:prstGeom prst="rect">
            <a:avLst/>
          </a:prstGeom>
          <a:solidFill>
            <a:srgbClr val="FFB46E"/>
          </a:solidFill>
          <a:ln/>
        </p:spPr>
      </p:sp>
      <p:sp>
        <p:nvSpPr>
          <p:cNvPr id="15" name="Shape 13"/>
          <p:cNvSpPr/>
          <p:nvPr/>
        </p:nvSpPr>
        <p:spPr>
          <a:xfrm>
            <a:off x="17214850" y="3040385"/>
            <a:ext cx="9525" cy="1800225"/>
          </a:xfrm>
          <a:prstGeom prst="rect">
            <a:avLst/>
          </a:prstGeom>
          <a:solidFill>
            <a:srgbClr val="FFFFFF">
              <a:alpha val="10000"/>
            </a:srgbClr>
          </a:solidFill>
          <a:ln/>
        </p:spPr>
      </p:sp>
      <p:sp>
        <p:nvSpPr>
          <p:cNvPr id="16" name="Text 14"/>
          <p:cNvSpPr/>
          <p:nvPr/>
        </p:nvSpPr>
        <p:spPr>
          <a:xfrm>
            <a:off x="9578975" y="3332485"/>
            <a:ext cx="8064183"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Schéma rigide</a:t>
            </a:r>
            <a:endParaRPr lang="en-US" sz="2250" dirty="0"/>
          </a:p>
        </p:txBody>
      </p:sp>
      <p:sp>
        <p:nvSpPr>
          <p:cNvPr id="17" name="Text 15"/>
          <p:cNvSpPr/>
          <p:nvPr/>
        </p:nvSpPr>
        <p:spPr>
          <a:xfrm>
            <a:off x="9578975" y="3776985"/>
            <a:ext cx="7551007"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Tout doit entrer dans un schéma prédéfini ; le semi-structuré et le non-structuré s'y adaptent mal.</a:t>
            </a:r>
            <a:endParaRPr lang="en-US" sz="2025" dirty="0"/>
          </a:p>
        </p:txBody>
      </p:sp>
      <p:sp>
        <p:nvSpPr>
          <p:cNvPr id="18" name="Shape 16"/>
          <p:cNvSpPr/>
          <p:nvPr/>
        </p:nvSpPr>
        <p:spPr>
          <a:xfrm>
            <a:off x="1066800" y="5053288"/>
            <a:ext cx="7972425" cy="1800225"/>
          </a:xfrm>
          <a:prstGeom prst="roundRect">
            <a:avLst>
              <a:gd name="adj" fmla="val 7407"/>
            </a:avLst>
          </a:prstGeom>
          <a:solidFill>
            <a:srgbClr val="FFFFFF">
              <a:alpha val="3000"/>
            </a:srgbClr>
          </a:solidFill>
          <a:ln/>
        </p:spPr>
      </p:sp>
      <p:sp>
        <p:nvSpPr>
          <p:cNvPr id="19" name="Shape 17"/>
          <p:cNvSpPr/>
          <p:nvPr/>
        </p:nvSpPr>
        <p:spPr>
          <a:xfrm>
            <a:off x="1066800" y="6847163"/>
            <a:ext cx="7972425" cy="9525"/>
          </a:xfrm>
          <a:prstGeom prst="rect">
            <a:avLst/>
          </a:prstGeom>
          <a:solidFill>
            <a:srgbClr val="FFFFFF">
              <a:alpha val="10000"/>
            </a:srgbClr>
          </a:solidFill>
          <a:ln/>
        </p:spPr>
      </p:sp>
      <p:sp>
        <p:nvSpPr>
          <p:cNvPr id="20" name="Shape 18"/>
          <p:cNvSpPr/>
          <p:nvPr/>
        </p:nvSpPr>
        <p:spPr>
          <a:xfrm>
            <a:off x="1066800" y="5053288"/>
            <a:ext cx="7972425" cy="9525"/>
          </a:xfrm>
          <a:prstGeom prst="rect">
            <a:avLst/>
          </a:prstGeom>
          <a:solidFill>
            <a:srgbClr val="FFFFFF">
              <a:alpha val="10000"/>
            </a:srgbClr>
          </a:solidFill>
          <a:ln/>
        </p:spPr>
      </p:sp>
      <p:sp>
        <p:nvSpPr>
          <p:cNvPr id="21" name="Shape 19"/>
          <p:cNvSpPr/>
          <p:nvPr/>
        </p:nvSpPr>
        <p:spPr>
          <a:xfrm>
            <a:off x="1066800" y="5053288"/>
            <a:ext cx="25400" cy="1800225"/>
          </a:xfrm>
          <a:prstGeom prst="rect">
            <a:avLst/>
          </a:prstGeom>
          <a:solidFill>
            <a:srgbClr val="FFB46E">
              <a:alpha val="99000"/>
            </a:srgbClr>
          </a:solidFill>
          <a:ln/>
        </p:spPr>
      </p:sp>
      <p:sp>
        <p:nvSpPr>
          <p:cNvPr id="22" name="Shape 20"/>
          <p:cNvSpPr/>
          <p:nvPr/>
        </p:nvSpPr>
        <p:spPr>
          <a:xfrm>
            <a:off x="9032875" y="5053288"/>
            <a:ext cx="9525" cy="1800225"/>
          </a:xfrm>
          <a:prstGeom prst="rect">
            <a:avLst/>
          </a:prstGeom>
          <a:solidFill>
            <a:srgbClr val="FFFFFF">
              <a:alpha val="10000"/>
            </a:srgbClr>
          </a:solidFill>
          <a:ln/>
        </p:spPr>
      </p:sp>
      <p:sp>
        <p:nvSpPr>
          <p:cNvPr id="23" name="Text 21"/>
          <p:cNvSpPr/>
          <p:nvPr/>
        </p:nvSpPr>
        <p:spPr>
          <a:xfrm>
            <a:off x="1397000" y="5345388"/>
            <a:ext cx="8064183"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alpha val="99000"/>
                  </a:srgbClr>
                </a:solidFill>
                <a:latin typeface="Arial" pitchFamily="34" charset="0"/>
                <a:ea typeface="Arial" pitchFamily="34" charset="-122"/>
                <a:cs typeface="Arial" pitchFamily="34" charset="-120"/>
              </a:rPr>
              <a:t>Jointures à grande échelle</a:t>
            </a:r>
            <a:endParaRPr lang="en-US" sz="2250" dirty="0"/>
          </a:p>
        </p:txBody>
      </p:sp>
      <p:sp>
        <p:nvSpPr>
          <p:cNvPr id="24" name="Text 22"/>
          <p:cNvSpPr/>
          <p:nvPr/>
        </p:nvSpPr>
        <p:spPr>
          <a:xfrm>
            <a:off x="1397000" y="5789888"/>
            <a:ext cx="7551007"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alpha val="99000"/>
                  </a:srgbClr>
                </a:solidFill>
                <a:latin typeface="Arial" pitchFamily="34" charset="0"/>
                <a:ea typeface="Arial" pitchFamily="34" charset="-122"/>
                <a:cs typeface="Arial" pitchFamily="34" charset="-120"/>
              </a:rPr>
              <a:t>Entre très grandes tables, elles deviennent lentes et coûteuses en ressources.</a:t>
            </a:r>
            <a:endParaRPr lang="en-US" sz="2025" dirty="0"/>
          </a:p>
        </p:txBody>
      </p:sp>
      <p:sp>
        <p:nvSpPr>
          <p:cNvPr id="25" name="Shape 23"/>
          <p:cNvSpPr/>
          <p:nvPr/>
        </p:nvSpPr>
        <p:spPr>
          <a:xfrm>
            <a:off x="9248775" y="5059804"/>
            <a:ext cx="7972425" cy="1800225"/>
          </a:xfrm>
          <a:prstGeom prst="roundRect">
            <a:avLst>
              <a:gd name="adj" fmla="val 7407"/>
            </a:avLst>
          </a:prstGeom>
          <a:solidFill>
            <a:srgbClr val="FFFFFF">
              <a:alpha val="3000"/>
            </a:srgbClr>
          </a:solidFill>
          <a:ln/>
        </p:spPr>
      </p:sp>
      <p:sp>
        <p:nvSpPr>
          <p:cNvPr id="26" name="Shape 24"/>
          <p:cNvSpPr/>
          <p:nvPr/>
        </p:nvSpPr>
        <p:spPr>
          <a:xfrm>
            <a:off x="9248775" y="6853679"/>
            <a:ext cx="7972425" cy="9525"/>
          </a:xfrm>
          <a:prstGeom prst="rect">
            <a:avLst/>
          </a:prstGeom>
          <a:solidFill>
            <a:srgbClr val="FFFFFF">
              <a:alpha val="10000"/>
            </a:srgbClr>
          </a:solidFill>
          <a:ln/>
        </p:spPr>
      </p:sp>
      <p:sp>
        <p:nvSpPr>
          <p:cNvPr id="27" name="Shape 25"/>
          <p:cNvSpPr/>
          <p:nvPr/>
        </p:nvSpPr>
        <p:spPr>
          <a:xfrm>
            <a:off x="9248775" y="5059804"/>
            <a:ext cx="7972425" cy="9525"/>
          </a:xfrm>
          <a:prstGeom prst="rect">
            <a:avLst/>
          </a:prstGeom>
          <a:solidFill>
            <a:srgbClr val="FFFFFF">
              <a:alpha val="10000"/>
            </a:srgbClr>
          </a:solidFill>
          <a:ln/>
        </p:spPr>
      </p:sp>
      <p:sp>
        <p:nvSpPr>
          <p:cNvPr id="28" name="Shape 26"/>
          <p:cNvSpPr/>
          <p:nvPr/>
        </p:nvSpPr>
        <p:spPr>
          <a:xfrm>
            <a:off x="9248775" y="5059804"/>
            <a:ext cx="25400" cy="1800225"/>
          </a:xfrm>
          <a:prstGeom prst="rect">
            <a:avLst/>
          </a:prstGeom>
          <a:solidFill>
            <a:srgbClr val="FFB46E">
              <a:alpha val="96000"/>
            </a:srgbClr>
          </a:solidFill>
          <a:ln/>
        </p:spPr>
      </p:sp>
      <p:sp>
        <p:nvSpPr>
          <p:cNvPr id="29" name="Shape 27"/>
          <p:cNvSpPr/>
          <p:nvPr/>
        </p:nvSpPr>
        <p:spPr>
          <a:xfrm>
            <a:off x="17214850" y="5059804"/>
            <a:ext cx="9525" cy="1800225"/>
          </a:xfrm>
          <a:prstGeom prst="rect">
            <a:avLst/>
          </a:prstGeom>
          <a:solidFill>
            <a:srgbClr val="FFFFFF">
              <a:alpha val="10000"/>
            </a:srgbClr>
          </a:solidFill>
          <a:ln/>
        </p:spPr>
      </p:sp>
      <p:sp>
        <p:nvSpPr>
          <p:cNvPr id="30" name="Text 28"/>
          <p:cNvSpPr/>
          <p:nvPr/>
        </p:nvSpPr>
        <p:spPr>
          <a:xfrm>
            <a:off x="9578975" y="5351904"/>
            <a:ext cx="8064183"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alpha val="96000"/>
                  </a:srgbClr>
                </a:solidFill>
                <a:latin typeface="Arial" pitchFamily="34" charset="0"/>
                <a:ea typeface="Arial" pitchFamily="34" charset="-122"/>
                <a:cs typeface="Arial" pitchFamily="34" charset="-120"/>
              </a:rPr>
              <a:t>Disponibilité</a:t>
            </a:r>
            <a:endParaRPr lang="en-US" sz="2250" dirty="0"/>
          </a:p>
        </p:txBody>
      </p:sp>
      <p:sp>
        <p:nvSpPr>
          <p:cNvPr id="31" name="Text 29"/>
          <p:cNvSpPr/>
          <p:nvPr/>
        </p:nvSpPr>
        <p:spPr>
          <a:xfrm>
            <a:off x="9578975" y="5796404"/>
            <a:ext cx="7551007"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alpha val="96000"/>
                  </a:srgbClr>
                </a:solidFill>
                <a:latin typeface="Arial" pitchFamily="34" charset="0"/>
                <a:ea typeface="Arial" pitchFamily="34" charset="-122"/>
                <a:cs typeface="Arial" pitchFamily="34" charset="-120"/>
              </a:rPr>
              <a:t>Une panne du serveur unique rend le système indisponible, sauf réplication complexe.</a:t>
            </a:r>
            <a:endParaRPr lang="en-US" sz="2025" dirty="0"/>
          </a:p>
        </p:txBody>
      </p:sp>
      <p:sp>
        <p:nvSpPr>
          <p:cNvPr id="32" name="Text 30"/>
          <p:cNvSpPr/>
          <p:nvPr/>
        </p:nvSpPr>
        <p:spPr>
          <a:xfrm>
            <a:off x="1066800" y="7211417"/>
            <a:ext cx="13986144"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alpha val="45000"/>
                  </a:srgbClr>
                </a:solidFill>
                <a:latin typeface="Arial" pitchFamily="34" charset="0"/>
                <a:ea typeface="Arial" pitchFamily="34" charset="-122"/>
                <a:cs typeface="Arial" pitchFamily="34" charset="-120"/>
              </a:rPr>
              <a:t>Le relationnel n'est pas dépassé : il reste la norme pour la gestion. La question est de savoir </a:t>
            </a:r>
            <a:pPr algn="l" indent="0" marL="0">
              <a:lnSpc>
                <a:spcPct val="129255"/>
              </a:lnSpc>
              <a:buNone/>
            </a:pPr>
            <a:r>
              <a:rPr lang="en-US" sz="2025" dirty="0">
                <a:solidFill>
                  <a:srgbClr val="EEF3F9">
                    <a:alpha val="45000"/>
                  </a:srgbClr>
                </a:solidFill>
                <a:latin typeface="Arial" pitchFamily="34" charset="0"/>
                <a:ea typeface="Arial" pitchFamily="34" charset="-122"/>
                <a:cs typeface="Arial" pitchFamily="34" charset="-120"/>
              </a:rPr>
              <a:t>à partir de quel volume, quelle vitesse ou quelle variété </a:t>
            </a:r>
            <a:pPr algn="l" indent="0" marL="0">
              <a:lnSpc>
                <a:spcPct val="129255"/>
              </a:lnSpc>
              <a:buNone/>
            </a:pPr>
            <a:r>
              <a:rPr lang="en-US" sz="2025" dirty="0">
                <a:solidFill>
                  <a:srgbClr val="8EA0B5">
                    <a:alpha val="45000"/>
                  </a:srgbClr>
                </a:solidFill>
                <a:latin typeface="Arial" pitchFamily="34" charset="0"/>
                <a:ea typeface="Arial" pitchFamily="34" charset="-122"/>
                <a:cs typeface="Arial" pitchFamily="34" charset="-120"/>
              </a:rPr>
              <a:t>un autre modèle s'impose.</a:t>
            </a:r>
            <a:endParaRPr lang="en-US" sz="202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01 · PARADIGME</a:t>
            </a:r>
            <a:endParaRPr lang="en-US" sz="1800" dirty="0"/>
          </a:p>
        </p:txBody>
      </p:sp>
      <p:sp>
        <p:nvSpPr>
          <p:cNvPr id="3" name="Text 1"/>
          <p:cNvSpPr/>
          <p:nvPr/>
        </p:nvSpPr>
        <p:spPr>
          <a:xfrm>
            <a:off x="1066800" y="1314450"/>
            <a:ext cx="9696271"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Scalabilité verticale et horizontale</a:t>
            </a:r>
            <a:endParaRPr lang="en-US" sz="4800" dirty="0"/>
          </a:p>
        </p:txBody>
      </p:sp>
      <p:sp>
        <p:nvSpPr>
          <p:cNvPr id="4" name="Shape 2"/>
          <p:cNvSpPr/>
          <p:nvPr/>
        </p:nvSpPr>
        <p:spPr>
          <a:xfrm>
            <a:off x="1066800" y="2443659"/>
            <a:ext cx="7000479" cy="7024192"/>
          </a:xfrm>
          <a:prstGeom prst="roundRect">
            <a:avLst>
              <a:gd name="adj" fmla="val 2721"/>
            </a:avLst>
          </a:prstGeom>
          <a:solidFill>
            <a:srgbClr val="FFFFFF">
              <a:alpha val="3000"/>
            </a:srgbClr>
          </a:solidFill>
          <a:ln w="6350">
            <a:solidFill>
              <a:srgbClr val="FFFFFF">
                <a:alpha val="10000"/>
              </a:srgbClr>
            </a:solidFill>
            <a:prstDash val="solid"/>
          </a:ln>
        </p:spPr>
      </p:sp>
      <p:sp>
        <p:nvSpPr>
          <p:cNvPr id="5" name="Text 3"/>
          <p:cNvSpPr/>
          <p:nvPr/>
        </p:nvSpPr>
        <p:spPr>
          <a:xfrm>
            <a:off x="1454150" y="4036616"/>
            <a:ext cx="11735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scale-up</a:t>
            </a:r>
            <a:endParaRPr lang="en-US" sz="1800" dirty="0"/>
          </a:p>
        </p:txBody>
      </p:sp>
      <p:sp>
        <p:nvSpPr>
          <p:cNvPr id="6" name="Shape 4"/>
          <p:cNvSpPr/>
          <p:nvPr/>
        </p:nvSpPr>
        <p:spPr>
          <a:xfrm>
            <a:off x="3995539" y="4589066"/>
            <a:ext cx="1143000" cy="361950"/>
          </a:xfrm>
          <a:prstGeom prst="roundRect">
            <a:avLst>
              <a:gd name="adj" fmla="val 21053"/>
            </a:avLst>
          </a:prstGeom>
          <a:solidFill>
            <a:srgbClr val="FFBF81">
              <a:alpha val="34000"/>
            </a:srgbClr>
          </a:solidFill>
          <a:ln w="6350">
            <a:solidFill>
              <a:srgbClr val="FFFFFF">
                <a:alpha val="10000"/>
              </a:srgbClr>
            </a:solidFill>
            <a:prstDash val="solid"/>
          </a:ln>
        </p:spPr>
      </p:sp>
      <p:sp>
        <p:nvSpPr>
          <p:cNvPr id="7" name="Shape 5"/>
          <p:cNvSpPr/>
          <p:nvPr/>
        </p:nvSpPr>
        <p:spPr>
          <a:xfrm>
            <a:off x="3852664" y="5046266"/>
            <a:ext cx="1428750" cy="495300"/>
          </a:xfrm>
          <a:prstGeom prst="roundRect">
            <a:avLst>
              <a:gd name="adj" fmla="val 15385"/>
            </a:avLst>
          </a:prstGeom>
          <a:solidFill>
            <a:srgbClr val="FFB978">
              <a:alpha val="48000"/>
            </a:srgbClr>
          </a:solidFill>
          <a:ln w="6350">
            <a:solidFill>
              <a:srgbClr val="FFFFFF">
                <a:alpha val="10000"/>
              </a:srgbClr>
            </a:solidFill>
            <a:prstDash val="solid"/>
          </a:ln>
        </p:spPr>
      </p:sp>
      <p:sp>
        <p:nvSpPr>
          <p:cNvPr id="8" name="Shape 6"/>
          <p:cNvSpPr/>
          <p:nvPr/>
        </p:nvSpPr>
        <p:spPr>
          <a:xfrm>
            <a:off x="3662164" y="5636816"/>
            <a:ext cx="1809750" cy="666750"/>
          </a:xfrm>
          <a:prstGeom prst="roundRect">
            <a:avLst>
              <a:gd name="adj" fmla="val 11429"/>
            </a:avLst>
          </a:prstGeom>
          <a:solidFill>
            <a:srgbClr val="FFB773">
              <a:alpha val="62000"/>
            </a:srgbClr>
          </a:solidFill>
          <a:ln w="6350">
            <a:solidFill>
              <a:srgbClr val="FFFFFF">
                <a:alpha val="10000"/>
              </a:srgbClr>
            </a:solidFill>
            <a:prstDash val="solid"/>
          </a:ln>
        </p:spPr>
      </p:sp>
      <p:sp>
        <p:nvSpPr>
          <p:cNvPr id="9" name="Text 7"/>
          <p:cNvSpPr/>
          <p:nvPr/>
        </p:nvSpPr>
        <p:spPr>
          <a:xfrm>
            <a:off x="3081834" y="6551216"/>
            <a:ext cx="3267343"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Renforcer une machine</a:t>
            </a:r>
            <a:endParaRPr lang="en-US" sz="2250" dirty="0"/>
          </a:p>
        </p:txBody>
      </p:sp>
      <p:sp>
        <p:nvSpPr>
          <p:cNvPr id="10" name="Text 8"/>
          <p:cNvSpPr/>
          <p:nvPr/>
        </p:nvSpPr>
        <p:spPr>
          <a:xfrm>
            <a:off x="1360763" y="7129066"/>
            <a:ext cx="6412551" cy="783828"/>
          </a:xfrm>
          <a:prstGeom prst="rect">
            <a:avLst/>
          </a:prstGeom>
          <a:noFill/>
          <a:ln/>
        </p:spPr>
        <p:txBody>
          <a:bodyPr wrap="square" lIns="25400" tIns="25400" rIns="25400" bIns="25400" rtlCol="0" anchor="t">
            <a:normAutofit/>
          </a:bodyPr>
          <a:lstStyle/>
          <a:p>
            <a:pPr algn="ctr" indent="0" marL="0">
              <a:lnSpc>
                <a:spcPct val="124947"/>
              </a:lnSpc>
              <a:buNone/>
            </a:pPr>
            <a:r>
              <a:rPr lang="en-US" sz="2025" dirty="0">
                <a:solidFill>
                  <a:srgbClr val="8EA0B5"/>
                </a:solidFill>
                <a:latin typeface="Arial" pitchFamily="34" charset="0"/>
                <a:ea typeface="Arial" pitchFamily="34" charset="-122"/>
                <a:cs typeface="Arial" pitchFamily="34" charset="-120"/>
              </a:rPr>
              <a:t>Ajouter RAM et CPU à un serveur unique. Simple, mais plafonné.</a:t>
            </a:r>
            <a:endParaRPr lang="en-US" sz="2025" dirty="0"/>
          </a:p>
        </p:txBody>
      </p:sp>
      <p:sp>
        <p:nvSpPr>
          <p:cNvPr id="11" name="Shape 9"/>
          <p:cNvSpPr/>
          <p:nvPr/>
        </p:nvSpPr>
        <p:spPr>
          <a:xfrm>
            <a:off x="8353029" y="2443659"/>
            <a:ext cx="8868172" cy="7024192"/>
          </a:xfrm>
          <a:prstGeom prst="roundRect">
            <a:avLst>
              <a:gd name="adj" fmla="val 2712"/>
            </a:avLst>
          </a:prstGeom>
          <a:solidFill>
            <a:srgbClr val="FFFFFF">
              <a:alpha val="3000"/>
            </a:srgbClr>
          </a:solidFill>
          <a:ln w="6350">
            <a:solidFill>
              <a:srgbClr val="81E4E1">
                <a:alpha val="37000"/>
              </a:srgbClr>
            </a:solidFill>
            <a:prstDash val="solid"/>
          </a:ln>
        </p:spPr>
      </p:sp>
      <p:sp>
        <p:nvSpPr>
          <p:cNvPr id="12" name="Text 10"/>
          <p:cNvSpPr/>
          <p:nvPr/>
        </p:nvSpPr>
        <p:spPr>
          <a:xfrm>
            <a:off x="8740378" y="4474766"/>
            <a:ext cx="331929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scale-out · horizontal</a:t>
            </a:r>
            <a:endParaRPr lang="en-US" sz="1800" dirty="0"/>
          </a:p>
        </p:txBody>
      </p:sp>
      <p:sp>
        <p:nvSpPr>
          <p:cNvPr id="13" name="Shape 11"/>
          <p:cNvSpPr/>
          <p:nvPr/>
        </p:nvSpPr>
        <p:spPr>
          <a:xfrm>
            <a:off x="10882115" y="5027216"/>
            <a:ext cx="838200" cy="838200"/>
          </a:xfrm>
          <a:prstGeom prst="roundRect">
            <a:avLst>
              <a:gd name="adj" fmla="val 13636"/>
            </a:avLst>
          </a:prstGeom>
          <a:solidFill>
            <a:srgbClr val="6EDFDF">
              <a:alpha val="38000"/>
            </a:srgbClr>
          </a:solidFill>
          <a:ln w="6350">
            <a:solidFill>
              <a:srgbClr val="6BDEDE">
                <a:alpha val="55000"/>
              </a:srgbClr>
            </a:solidFill>
            <a:prstDash val="solid"/>
          </a:ln>
        </p:spPr>
      </p:sp>
      <p:sp>
        <p:nvSpPr>
          <p:cNvPr id="14" name="Shape 12"/>
          <p:cNvSpPr/>
          <p:nvPr/>
        </p:nvSpPr>
        <p:spPr>
          <a:xfrm>
            <a:off x="11872715" y="5027216"/>
            <a:ext cx="838200" cy="838200"/>
          </a:xfrm>
          <a:prstGeom prst="roundRect">
            <a:avLst>
              <a:gd name="adj" fmla="val 13636"/>
            </a:avLst>
          </a:prstGeom>
          <a:solidFill>
            <a:srgbClr val="6EDFDF">
              <a:alpha val="38000"/>
            </a:srgbClr>
          </a:solidFill>
          <a:ln w="6350">
            <a:solidFill>
              <a:srgbClr val="6BDEDE">
                <a:alpha val="55000"/>
              </a:srgbClr>
            </a:solidFill>
            <a:prstDash val="solid"/>
          </a:ln>
        </p:spPr>
      </p:sp>
      <p:sp>
        <p:nvSpPr>
          <p:cNvPr id="15" name="Shape 13"/>
          <p:cNvSpPr/>
          <p:nvPr/>
        </p:nvSpPr>
        <p:spPr>
          <a:xfrm>
            <a:off x="12863315" y="5027216"/>
            <a:ext cx="838200" cy="838200"/>
          </a:xfrm>
          <a:prstGeom prst="roundRect">
            <a:avLst>
              <a:gd name="adj" fmla="val 13636"/>
            </a:avLst>
          </a:prstGeom>
          <a:solidFill>
            <a:srgbClr val="6EDFDF">
              <a:alpha val="38000"/>
            </a:srgbClr>
          </a:solidFill>
          <a:ln w="6350">
            <a:solidFill>
              <a:srgbClr val="6BDEDE">
                <a:alpha val="55000"/>
              </a:srgbClr>
            </a:solidFill>
            <a:prstDash val="solid"/>
          </a:ln>
        </p:spPr>
      </p:sp>
      <p:sp>
        <p:nvSpPr>
          <p:cNvPr id="16" name="Shape 14"/>
          <p:cNvSpPr/>
          <p:nvPr/>
        </p:nvSpPr>
        <p:spPr>
          <a:xfrm>
            <a:off x="13853915" y="5027216"/>
            <a:ext cx="838200" cy="838200"/>
          </a:xfrm>
          <a:prstGeom prst="roundRect">
            <a:avLst>
              <a:gd name="adj" fmla="val 13636"/>
            </a:avLst>
          </a:prstGeom>
          <a:solidFill>
            <a:srgbClr val="6EDFDF">
              <a:alpha val="38000"/>
            </a:srgbClr>
          </a:solidFill>
          <a:ln w="6350">
            <a:solidFill>
              <a:srgbClr val="6BDEDE">
                <a:alpha val="55000"/>
              </a:srgbClr>
            </a:solidFill>
            <a:prstDash val="solid"/>
          </a:ln>
        </p:spPr>
      </p:sp>
      <p:sp>
        <p:nvSpPr>
          <p:cNvPr id="17" name="Text 15"/>
          <p:cNvSpPr/>
          <p:nvPr/>
        </p:nvSpPr>
        <p:spPr>
          <a:xfrm>
            <a:off x="11341894" y="6113066"/>
            <a:ext cx="3179376"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Multiplier les machines</a:t>
            </a:r>
            <a:endParaRPr lang="en-US" sz="2250" dirty="0"/>
          </a:p>
        </p:txBody>
      </p:sp>
      <p:sp>
        <p:nvSpPr>
          <p:cNvPr id="18" name="Text 16"/>
          <p:cNvSpPr/>
          <p:nvPr/>
        </p:nvSpPr>
        <p:spPr>
          <a:xfrm>
            <a:off x="8618976" y="6690916"/>
            <a:ext cx="8336276" cy="783828"/>
          </a:xfrm>
          <a:prstGeom prst="rect">
            <a:avLst/>
          </a:prstGeom>
          <a:noFill/>
          <a:ln/>
        </p:spPr>
        <p:txBody>
          <a:bodyPr wrap="square" lIns="25400" tIns="25400" rIns="25400" bIns="25400" rtlCol="0" anchor="t">
            <a:normAutofit/>
          </a:bodyPr>
          <a:lstStyle/>
          <a:p>
            <a:pPr algn="ctr" indent="0" marL="0">
              <a:lnSpc>
                <a:spcPct val="124947"/>
              </a:lnSpc>
              <a:buNone/>
            </a:pPr>
            <a:r>
              <a:rPr lang="en-US" sz="2025" dirty="0">
                <a:solidFill>
                  <a:srgbClr val="8EA0B5"/>
                </a:solidFill>
                <a:latin typeface="Arial" pitchFamily="34" charset="0"/>
                <a:ea typeface="Arial" pitchFamily="34" charset="-122"/>
                <a:cs typeface="Arial" pitchFamily="34" charset="-120"/>
              </a:rPr>
              <a:t>Répartir données et calculs. Capacité extensible, tolérance aux pannes, coût maîtrisé.</a:t>
            </a:r>
            <a:endParaRPr lang="en-US" sz="20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01 · DÉFINITION</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5V du Big Data</a:t>
            </a:r>
            <a:endParaRPr lang="en-US" sz="4800" dirty="0"/>
          </a:p>
        </p:txBody>
      </p:sp>
      <p:sp>
        <p:nvSpPr>
          <p:cNvPr id="4" name="Shape 2"/>
          <p:cNvSpPr/>
          <p:nvPr/>
        </p:nvSpPr>
        <p:spPr>
          <a:xfrm>
            <a:off x="1066800" y="2481759"/>
            <a:ext cx="3078460" cy="6433642"/>
          </a:xfrm>
          <a:prstGeom prst="roundRect">
            <a:avLst>
              <a:gd name="adj" fmla="val 5569"/>
            </a:avLst>
          </a:prstGeom>
          <a:solidFill>
            <a:srgbClr val="FFFFFF">
              <a:alpha val="3000"/>
            </a:srgbClr>
          </a:solidFill>
          <a:ln w="6350">
            <a:solidFill>
              <a:srgbClr val="FFFFFF">
                <a:alpha val="10000"/>
              </a:srgbClr>
            </a:solidFill>
            <a:prstDash val="solid"/>
          </a:ln>
        </p:spPr>
      </p:sp>
      <p:sp>
        <p:nvSpPr>
          <p:cNvPr id="5" name="Text 3"/>
          <p:cNvSpPr/>
          <p:nvPr/>
        </p:nvSpPr>
        <p:spPr>
          <a:xfrm>
            <a:off x="1320800" y="2811959"/>
            <a:ext cx="2827506" cy="654050"/>
          </a:xfrm>
          <a:prstGeom prst="rect">
            <a:avLst/>
          </a:prstGeom>
          <a:noFill/>
          <a:ln/>
        </p:spPr>
        <p:txBody>
          <a:bodyPr wrap="square" lIns="25400" tIns="25400" rIns="25400" bIns="25400" rtlCol="0" anchor="t">
            <a:normAutofit/>
          </a:bodyPr>
          <a:lstStyle/>
          <a:p>
            <a:pPr algn="l" indent="0" marL="0">
              <a:buNone/>
            </a:pPr>
            <a:r>
              <a:rPr lang="en-US" sz="4200" b="1" dirty="0">
                <a:solidFill>
                  <a:srgbClr val="56DBDB"/>
                </a:solidFill>
                <a:latin typeface="Arial" pitchFamily="34" charset="0"/>
                <a:ea typeface="Arial" pitchFamily="34" charset="-122"/>
                <a:cs typeface="Arial" pitchFamily="34" charset="-120"/>
              </a:rPr>
              <a:t>V</a:t>
            </a:r>
            <a:endParaRPr lang="en-US" sz="4200" dirty="0"/>
          </a:p>
        </p:txBody>
      </p:sp>
      <p:sp>
        <p:nvSpPr>
          <p:cNvPr id="6" name="Text 4"/>
          <p:cNvSpPr/>
          <p:nvPr/>
        </p:nvSpPr>
        <p:spPr>
          <a:xfrm>
            <a:off x="1320800" y="3504109"/>
            <a:ext cx="2827506"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Volume</a:t>
            </a:r>
            <a:endParaRPr lang="en-US" sz="2250" dirty="0"/>
          </a:p>
        </p:txBody>
      </p:sp>
      <p:sp>
        <p:nvSpPr>
          <p:cNvPr id="7" name="Text 5"/>
          <p:cNvSpPr/>
          <p:nvPr/>
        </p:nvSpPr>
        <p:spPr>
          <a:xfrm>
            <a:off x="1320800" y="3967659"/>
            <a:ext cx="2647574" cy="1038225"/>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L'échelle des données — dizaines de To jusqu'au Po.</a:t>
            </a:r>
            <a:endParaRPr lang="en-US" sz="1875" dirty="0"/>
          </a:p>
        </p:txBody>
      </p:sp>
      <p:sp>
        <p:nvSpPr>
          <p:cNvPr id="8" name="Text 6"/>
          <p:cNvSpPr/>
          <p:nvPr/>
        </p:nvSpPr>
        <p:spPr>
          <a:xfrm>
            <a:off x="1320800" y="7350919"/>
            <a:ext cx="2647574" cy="127238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56DBDB"/>
                </a:solidFill>
                <a:latin typeface="Arial" pitchFamily="34" charset="0"/>
                <a:ea typeface="Arial" pitchFamily="34" charset="-122"/>
                <a:cs typeface="Arial" pitchFamily="34" charset="-120"/>
              </a:rPr>
              <a:t>Seuil : ne tient plus sur un seul serveur → stockage distribué (HDFS, S3).</a:t>
            </a:r>
            <a:endParaRPr lang="en-US" sz="1800" dirty="0"/>
          </a:p>
        </p:txBody>
      </p:sp>
      <p:sp>
        <p:nvSpPr>
          <p:cNvPr id="9" name="Shape 7"/>
          <p:cNvSpPr/>
          <p:nvPr/>
        </p:nvSpPr>
        <p:spPr>
          <a:xfrm>
            <a:off x="4335760" y="2481759"/>
            <a:ext cx="3078559" cy="6433642"/>
          </a:xfrm>
          <a:prstGeom prst="roundRect">
            <a:avLst>
              <a:gd name="adj" fmla="val 5569"/>
            </a:avLst>
          </a:prstGeom>
          <a:solidFill>
            <a:srgbClr val="FFFFFF">
              <a:alpha val="3000"/>
            </a:srgbClr>
          </a:solidFill>
          <a:ln w="6350">
            <a:solidFill>
              <a:srgbClr val="FFFFFF">
                <a:alpha val="10000"/>
              </a:srgbClr>
            </a:solidFill>
            <a:prstDash val="solid"/>
          </a:ln>
        </p:spPr>
      </p:sp>
      <p:sp>
        <p:nvSpPr>
          <p:cNvPr id="10" name="Text 8"/>
          <p:cNvSpPr/>
          <p:nvPr/>
        </p:nvSpPr>
        <p:spPr>
          <a:xfrm>
            <a:off x="4589760" y="2811959"/>
            <a:ext cx="2827615" cy="654050"/>
          </a:xfrm>
          <a:prstGeom prst="rect">
            <a:avLst/>
          </a:prstGeom>
          <a:noFill/>
          <a:ln/>
        </p:spPr>
        <p:txBody>
          <a:bodyPr wrap="square" lIns="25400" tIns="25400" rIns="25400" bIns="25400" rtlCol="0" anchor="t">
            <a:normAutofit/>
          </a:bodyPr>
          <a:lstStyle/>
          <a:p>
            <a:pPr algn="l" indent="0" marL="0">
              <a:buNone/>
            </a:pPr>
            <a:r>
              <a:rPr lang="en-US" sz="4200" b="1" dirty="0">
                <a:solidFill>
                  <a:srgbClr val="56DBDB"/>
                </a:solidFill>
                <a:latin typeface="Arial" pitchFamily="34" charset="0"/>
                <a:ea typeface="Arial" pitchFamily="34" charset="-122"/>
                <a:cs typeface="Arial" pitchFamily="34" charset="-120"/>
              </a:rPr>
              <a:t>V</a:t>
            </a:r>
            <a:endParaRPr lang="en-US" sz="4200" dirty="0"/>
          </a:p>
        </p:txBody>
      </p:sp>
      <p:sp>
        <p:nvSpPr>
          <p:cNvPr id="11" name="Text 9"/>
          <p:cNvSpPr/>
          <p:nvPr/>
        </p:nvSpPr>
        <p:spPr>
          <a:xfrm>
            <a:off x="4589760" y="3504109"/>
            <a:ext cx="2827615"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Vélocité</a:t>
            </a:r>
            <a:endParaRPr lang="en-US" sz="2250" dirty="0"/>
          </a:p>
        </p:txBody>
      </p:sp>
      <p:sp>
        <p:nvSpPr>
          <p:cNvPr id="12" name="Text 10"/>
          <p:cNvSpPr/>
          <p:nvPr/>
        </p:nvSpPr>
        <p:spPr>
          <a:xfrm>
            <a:off x="4589760" y="3967659"/>
            <a:ext cx="2647676" cy="704850"/>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La vitesse d'arrivée, jusqu'au temps réel.</a:t>
            </a:r>
            <a:endParaRPr lang="en-US" sz="1875" dirty="0"/>
          </a:p>
        </p:txBody>
      </p:sp>
      <p:sp>
        <p:nvSpPr>
          <p:cNvPr id="13" name="Text 11"/>
          <p:cNvSpPr/>
          <p:nvPr/>
        </p:nvSpPr>
        <p:spPr>
          <a:xfrm>
            <a:off x="4589760" y="7350919"/>
            <a:ext cx="2647676" cy="127238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56DBDB"/>
                </a:solidFill>
                <a:latin typeface="Arial" pitchFamily="34" charset="0"/>
                <a:ea typeface="Arial" pitchFamily="34" charset="-122"/>
                <a:cs typeface="Arial" pitchFamily="34" charset="-120"/>
              </a:rPr>
              <a:t>Seuil : le batch de nuit ne suffit plus → flux (Kafka, Spark Streaming).</a:t>
            </a:r>
            <a:endParaRPr lang="en-US" sz="1800" dirty="0"/>
          </a:p>
        </p:txBody>
      </p:sp>
      <p:sp>
        <p:nvSpPr>
          <p:cNvPr id="14" name="Shape 12"/>
          <p:cNvSpPr/>
          <p:nvPr/>
        </p:nvSpPr>
        <p:spPr>
          <a:xfrm>
            <a:off x="7604820" y="2481759"/>
            <a:ext cx="3078460" cy="6433642"/>
          </a:xfrm>
          <a:prstGeom prst="roundRect">
            <a:avLst>
              <a:gd name="adj" fmla="val 5569"/>
            </a:avLst>
          </a:prstGeom>
          <a:solidFill>
            <a:srgbClr val="FFFFFF">
              <a:alpha val="3000"/>
            </a:srgbClr>
          </a:solidFill>
          <a:ln w="6350">
            <a:solidFill>
              <a:srgbClr val="FFFFFF">
                <a:alpha val="10000"/>
              </a:srgbClr>
            </a:solidFill>
            <a:prstDash val="solid"/>
          </a:ln>
        </p:spPr>
      </p:sp>
      <p:sp>
        <p:nvSpPr>
          <p:cNvPr id="15" name="Text 13"/>
          <p:cNvSpPr/>
          <p:nvPr/>
        </p:nvSpPr>
        <p:spPr>
          <a:xfrm>
            <a:off x="7858820" y="2811959"/>
            <a:ext cx="2827506" cy="654050"/>
          </a:xfrm>
          <a:prstGeom prst="rect">
            <a:avLst/>
          </a:prstGeom>
          <a:noFill/>
          <a:ln/>
        </p:spPr>
        <p:txBody>
          <a:bodyPr wrap="square" lIns="25400" tIns="25400" rIns="25400" bIns="25400" rtlCol="0" anchor="t">
            <a:normAutofit/>
          </a:bodyPr>
          <a:lstStyle/>
          <a:p>
            <a:pPr algn="l" indent="0" marL="0">
              <a:buNone/>
            </a:pPr>
            <a:r>
              <a:rPr lang="en-US" sz="4200" b="1" dirty="0">
                <a:solidFill>
                  <a:srgbClr val="56DBDB"/>
                </a:solidFill>
                <a:latin typeface="Arial" pitchFamily="34" charset="0"/>
                <a:ea typeface="Arial" pitchFamily="34" charset="-122"/>
                <a:cs typeface="Arial" pitchFamily="34" charset="-120"/>
              </a:rPr>
              <a:t>V</a:t>
            </a:r>
            <a:endParaRPr lang="en-US" sz="4200" dirty="0"/>
          </a:p>
        </p:txBody>
      </p:sp>
      <p:sp>
        <p:nvSpPr>
          <p:cNvPr id="16" name="Text 14"/>
          <p:cNvSpPr/>
          <p:nvPr/>
        </p:nvSpPr>
        <p:spPr>
          <a:xfrm>
            <a:off x="7858820" y="3504109"/>
            <a:ext cx="2827506"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Variété</a:t>
            </a:r>
            <a:endParaRPr lang="en-US" sz="2250" dirty="0"/>
          </a:p>
        </p:txBody>
      </p:sp>
      <p:sp>
        <p:nvSpPr>
          <p:cNvPr id="17" name="Text 15"/>
          <p:cNvSpPr/>
          <p:nvPr/>
        </p:nvSpPr>
        <p:spPr>
          <a:xfrm>
            <a:off x="7858820" y="3967659"/>
            <a:ext cx="2647574" cy="1038225"/>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Structuré, semi-structuré, non structuré.</a:t>
            </a:r>
            <a:endParaRPr lang="en-US" sz="1875" dirty="0"/>
          </a:p>
        </p:txBody>
      </p:sp>
      <p:sp>
        <p:nvSpPr>
          <p:cNvPr id="18" name="Text 16"/>
          <p:cNvSpPr/>
          <p:nvPr/>
        </p:nvSpPr>
        <p:spPr>
          <a:xfrm>
            <a:off x="7858820" y="7659489"/>
            <a:ext cx="2647574" cy="96381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56DBDB"/>
                </a:solidFill>
                <a:latin typeface="Arial" pitchFamily="34" charset="0"/>
                <a:ea typeface="Arial" pitchFamily="34" charset="-122"/>
                <a:cs typeface="Arial" pitchFamily="34" charset="-120"/>
              </a:rPr>
              <a:t>Seuil : formats multiples, schéma changeant → NoSQL, data lake.</a:t>
            </a:r>
            <a:endParaRPr lang="en-US" sz="1800" dirty="0"/>
          </a:p>
        </p:txBody>
      </p:sp>
      <p:sp>
        <p:nvSpPr>
          <p:cNvPr id="19" name="Shape 17"/>
          <p:cNvSpPr/>
          <p:nvPr/>
        </p:nvSpPr>
        <p:spPr>
          <a:xfrm>
            <a:off x="10873780" y="2481759"/>
            <a:ext cx="3078460" cy="6433642"/>
          </a:xfrm>
          <a:prstGeom prst="roundRect">
            <a:avLst>
              <a:gd name="adj" fmla="val 5569"/>
            </a:avLst>
          </a:prstGeom>
          <a:solidFill>
            <a:srgbClr val="FFFFFF">
              <a:alpha val="3000"/>
            </a:srgbClr>
          </a:solidFill>
          <a:ln w="6350">
            <a:solidFill>
              <a:srgbClr val="FFFFFF">
                <a:alpha val="10000"/>
              </a:srgbClr>
            </a:solidFill>
            <a:prstDash val="solid"/>
          </a:ln>
        </p:spPr>
      </p:sp>
      <p:sp>
        <p:nvSpPr>
          <p:cNvPr id="20" name="Text 18"/>
          <p:cNvSpPr/>
          <p:nvPr/>
        </p:nvSpPr>
        <p:spPr>
          <a:xfrm>
            <a:off x="11127780" y="2811959"/>
            <a:ext cx="2827506" cy="654050"/>
          </a:xfrm>
          <a:prstGeom prst="rect">
            <a:avLst/>
          </a:prstGeom>
          <a:noFill/>
          <a:ln/>
        </p:spPr>
        <p:txBody>
          <a:bodyPr wrap="square" lIns="25400" tIns="25400" rIns="25400" bIns="25400" rtlCol="0" anchor="t">
            <a:normAutofit/>
          </a:bodyPr>
          <a:lstStyle/>
          <a:p>
            <a:pPr algn="l" indent="0" marL="0">
              <a:buNone/>
            </a:pPr>
            <a:r>
              <a:rPr lang="en-US" sz="4200" b="1" dirty="0">
                <a:solidFill>
                  <a:srgbClr val="56DBDB"/>
                </a:solidFill>
                <a:latin typeface="Arial" pitchFamily="34" charset="0"/>
                <a:ea typeface="Arial" pitchFamily="34" charset="-122"/>
                <a:cs typeface="Arial" pitchFamily="34" charset="-120"/>
              </a:rPr>
              <a:t>V</a:t>
            </a:r>
            <a:endParaRPr lang="en-US" sz="4200" dirty="0"/>
          </a:p>
        </p:txBody>
      </p:sp>
      <p:sp>
        <p:nvSpPr>
          <p:cNvPr id="21" name="Text 19"/>
          <p:cNvSpPr/>
          <p:nvPr/>
        </p:nvSpPr>
        <p:spPr>
          <a:xfrm>
            <a:off x="11127780" y="3504109"/>
            <a:ext cx="2827506"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Véracité</a:t>
            </a:r>
            <a:endParaRPr lang="en-US" sz="2250" dirty="0"/>
          </a:p>
        </p:txBody>
      </p:sp>
      <p:sp>
        <p:nvSpPr>
          <p:cNvPr id="22" name="Text 20"/>
          <p:cNvSpPr/>
          <p:nvPr/>
        </p:nvSpPr>
        <p:spPr>
          <a:xfrm>
            <a:off x="11127780" y="3967659"/>
            <a:ext cx="2647574" cy="1038225"/>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Fiabilité : données bruitées, incomplètes, incohérentes.</a:t>
            </a:r>
            <a:endParaRPr lang="en-US" sz="1875" dirty="0"/>
          </a:p>
        </p:txBody>
      </p:sp>
      <p:sp>
        <p:nvSpPr>
          <p:cNvPr id="23" name="Text 21"/>
          <p:cNvSpPr/>
          <p:nvPr/>
        </p:nvSpPr>
        <p:spPr>
          <a:xfrm>
            <a:off x="11127780" y="7659489"/>
            <a:ext cx="2647574" cy="96381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56DBDB"/>
                </a:solidFill>
                <a:latin typeface="Arial" pitchFamily="34" charset="0"/>
                <a:ea typeface="Arial" pitchFamily="34" charset="-122"/>
                <a:cs typeface="Arial" pitchFamily="34" charset="-120"/>
              </a:rPr>
              <a:t>Seuil : nettoyage manuel impossible → pipelines ETL distribués.</a:t>
            </a:r>
            <a:endParaRPr lang="en-US" sz="1800" dirty="0"/>
          </a:p>
        </p:txBody>
      </p:sp>
      <p:sp>
        <p:nvSpPr>
          <p:cNvPr id="24" name="Shape 22"/>
          <p:cNvSpPr/>
          <p:nvPr/>
        </p:nvSpPr>
        <p:spPr>
          <a:xfrm>
            <a:off x="14142740" y="2481759"/>
            <a:ext cx="3078460" cy="6433642"/>
          </a:xfrm>
          <a:prstGeom prst="roundRect">
            <a:avLst>
              <a:gd name="adj" fmla="val 5569"/>
            </a:avLst>
          </a:prstGeom>
          <a:solidFill>
            <a:srgbClr val="FFFFFF">
              <a:alpha val="3000"/>
            </a:srgbClr>
          </a:solidFill>
          <a:ln w="6350">
            <a:solidFill>
              <a:srgbClr val="FFC18C">
                <a:alpha val="37000"/>
              </a:srgbClr>
            </a:solidFill>
            <a:prstDash val="solid"/>
          </a:ln>
        </p:spPr>
      </p:sp>
      <p:sp>
        <p:nvSpPr>
          <p:cNvPr id="25" name="Text 23"/>
          <p:cNvSpPr/>
          <p:nvPr/>
        </p:nvSpPr>
        <p:spPr>
          <a:xfrm>
            <a:off x="14396740" y="2811959"/>
            <a:ext cx="2827506" cy="654050"/>
          </a:xfrm>
          <a:prstGeom prst="rect">
            <a:avLst/>
          </a:prstGeom>
          <a:noFill/>
          <a:ln/>
        </p:spPr>
        <p:txBody>
          <a:bodyPr wrap="square" lIns="25400" tIns="25400" rIns="25400" bIns="25400" rtlCol="0" anchor="t">
            <a:normAutofit/>
          </a:bodyPr>
          <a:lstStyle/>
          <a:p>
            <a:pPr algn="l" indent="0" marL="0">
              <a:buNone/>
            </a:pPr>
            <a:r>
              <a:rPr lang="en-US" sz="4200" b="1" dirty="0">
                <a:solidFill>
                  <a:srgbClr val="FFB46E"/>
                </a:solidFill>
                <a:latin typeface="Arial" pitchFamily="34" charset="0"/>
                <a:ea typeface="Arial" pitchFamily="34" charset="-122"/>
                <a:cs typeface="Arial" pitchFamily="34" charset="-120"/>
              </a:rPr>
              <a:t>V</a:t>
            </a:r>
            <a:endParaRPr lang="en-US" sz="4200" dirty="0"/>
          </a:p>
        </p:txBody>
      </p:sp>
      <p:sp>
        <p:nvSpPr>
          <p:cNvPr id="26" name="Text 24"/>
          <p:cNvSpPr/>
          <p:nvPr/>
        </p:nvSpPr>
        <p:spPr>
          <a:xfrm>
            <a:off x="14396740" y="3504109"/>
            <a:ext cx="2827506"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Valeur</a:t>
            </a:r>
            <a:endParaRPr lang="en-US" sz="2250" dirty="0"/>
          </a:p>
        </p:txBody>
      </p:sp>
      <p:sp>
        <p:nvSpPr>
          <p:cNvPr id="27" name="Text 25"/>
          <p:cNvSpPr/>
          <p:nvPr/>
        </p:nvSpPr>
        <p:spPr>
          <a:xfrm>
            <a:off x="14396740" y="3967659"/>
            <a:ext cx="2647574" cy="704850"/>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L'utilité business — la finalité du Big Data.</a:t>
            </a:r>
            <a:endParaRPr lang="en-US" sz="1875" dirty="0"/>
          </a:p>
        </p:txBody>
      </p:sp>
      <p:sp>
        <p:nvSpPr>
          <p:cNvPr id="28" name="Text 26"/>
          <p:cNvSpPr/>
          <p:nvPr/>
        </p:nvSpPr>
        <p:spPr>
          <a:xfrm>
            <a:off x="14396740" y="7350919"/>
            <a:ext cx="2647574" cy="127238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FFB46E"/>
                </a:solidFill>
                <a:latin typeface="Arial" pitchFamily="34" charset="0"/>
                <a:ea typeface="Arial" pitchFamily="34" charset="-122"/>
                <a:cs typeface="Arial" pitchFamily="34" charset="-120"/>
              </a:rPr>
              <a:t>Seuil : le coût est compensé par des décisions concrètes (ML, reco).</a:t>
            </a:r>
            <a:endParaRPr lang="en-US" sz="1800" dirty="0"/>
          </a:p>
        </p:txBody>
      </p:sp>
      <p:sp>
        <p:nvSpPr>
          <p:cNvPr id="29" name="Text 27"/>
          <p:cNvSpPr/>
          <p:nvPr/>
        </p:nvSpPr>
        <p:spPr>
          <a:xfrm>
            <a:off x="259080" y="9163050"/>
            <a:ext cx="17769840" cy="342900"/>
          </a:xfrm>
          <a:prstGeom prst="rect">
            <a:avLst/>
          </a:prstGeom>
          <a:noFill/>
          <a:ln/>
        </p:spPr>
        <p:txBody>
          <a:bodyPr wrap="square" lIns="25400" tIns="25400" rIns="25400" bIns="25400" rtlCol="0" anchor="t">
            <a:normAutofit/>
          </a:bodyPr>
          <a:lstStyle/>
          <a:p>
            <a:pPr algn="ctr" indent="0" marL="0">
              <a:buNone/>
            </a:pPr>
            <a:r>
              <a:rPr lang="en-US" sz="1875" dirty="0">
                <a:solidFill>
                  <a:srgbClr val="8EA0B5"/>
                </a:solidFill>
                <a:latin typeface="Arial" pitchFamily="34" charset="0"/>
                <a:ea typeface="Arial" pitchFamily="34" charset="-122"/>
                <a:cs typeface="Arial" pitchFamily="34" charset="-120"/>
              </a:rPr>
              <a:t>Une seule dimension atteignant son seuil suffit à justifier une architecture Big Data — les 5V ne sont pas requises simultanément.</a:t>
            </a:r>
            <a:endParaRPr lang="en-US" sz="18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01 · RÈGLE D'OR</a:t>
            </a:r>
            <a:endParaRPr lang="en-US" sz="1800" dirty="0"/>
          </a:p>
        </p:txBody>
      </p:sp>
      <p:sp>
        <p:nvSpPr>
          <p:cNvPr id="3" name="Text 1"/>
          <p:cNvSpPr/>
          <p:nvPr/>
        </p:nvSpPr>
        <p:spPr>
          <a:xfrm>
            <a:off x="1066800" y="1314450"/>
            <a:ext cx="10442138"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test pratique en trois questions</a:t>
            </a:r>
            <a:endParaRPr lang="en-US" sz="4800" dirty="0"/>
          </a:p>
        </p:txBody>
      </p:sp>
      <p:sp>
        <p:nvSpPr>
          <p:cNvPr id="4" name="Text 2"/>
          <p:cNvSpPr/>
          <p:nvPr/>
        </p:nvSpPr>
        <p:spPr>
          <a:xfrm>
            <a:off x="1066800" y="2157909"/>
            <a:ext cx="13939033" cy="921941"/>
          </a:xfrm>
          <a:prstGeom prst="rect">
            <a:avLst/>
          </a:prstGeom>
          <a:noFill/>
          <a:ln/>
        </p:spPr>
        <p:txBody>
          <a:bodyPr wrap="square" lIns="25400" tIns="25400" rIns="25400" bIns="25400" rtlCol="0" anchor="t">
            <a:normAutofit/>
          </a:bodyPr>
          <a:lstStyle/>
          <a:p>
            <a:pPr algn="l" indent="0" marL="0">
              <a:lnSpc>
                <a:spcPct val="126545"/>
              </a:lnSpc>
              <a:buNone/>
            </a:pPr>
            <a:r>
              <a:rPr lang="en-US" sz="2400" dirty="0">
                <a:solidFill>
                  <a:srgbClr val="8EA0B5"/>
                </a:solidFill>
                <a:latin typeface="Arial" pitchFamily="34" charset="0"/>
                <a:ea typeface="Arial" pitchFamily="34" charset="-122"/>
                <a:cs typeface="Arial" pitchFamily="34" charset="-120"/>
              </a:rPr>
              <a:t>Face à un cas concret, ces trois questions tranchent entre une architecture distribuée et un simple serveur.</a:t>
            </a:r>
            <a:endParaRPr lang="en-US" sz="2400" dirty="0"/>
          </a:p>
        </p:txBody>
      </p:sp>
      <p:sp>
        <p:nvSpPr>
          <p:cNvPr id="5" name="Shape 3"/>
          <p:cNvSpPr/>
          <p:nvPr/>
        </p:nvSpPr>
        <p:spPr>
          <a:xfrm>
            <a:off x="1066800" y="3460849"/>
            <a:ext cx="3881438" cy="6007001"/>
          </a:xfrm>
          <a:prstGeom prst="roundRect">
            <a:avLst>
              <a:gd name="adj" fmla="val 4417"/>
            </a:avLst>
          </a:prstGeom>
          <a:solidFill>
            <a:srgbClr val="FFFFFF">
              <a:alpha val="3000"/>
            </a:srgbClr>
          </a:solidFill>
          <a:ln w="6350">
            <a:solidFill>
              <a:srgbClr val="FFFFFF">
                <a:alpha val="10000"/>
              </a:srgbClr>
            </a:solidFill>
            <a:prstDash val="solid"/>
          </a:ln>
        </p:spPr>
      </p:sp>
      <p:sp>
        <p:nvSpPr>
          <p:cNvPr id="6" name="Text 4"/>
          <p:cNvSpPr/>
          <p:nvPr/>
        </p:nvSpPr>
        <p:spPr>
          <a:xfrm>
            <a:off x="1358900" y="3791049"/>
            <a:ext cx="362696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58900" y="4229199"/>
            <a:ext cx="3626961" cy="377627"/>
          </a:xfrm>
          <a:prstGeom prst="rect">
            <a:avLst/>
          </a:prstGeom>
          <a:noFill/>
          <a:ln/>
        </p:spPr>
        <p:txBody>
          <a:bodyPr wrap="square" lIns="25400" tIns="25400" rIns="25400" bIns="25400" rtlCol="0" anchor="t">
            <a:normAutofit/>
          </a:bodyPr>
          <a:lstStyle/>
          <a:p>
            <a:pPr algn="l" indent="0" marL="0">
              <a:lnSpc>
                <a:spcPct val="99028"/>
              </a:lnSpc>
              <a:buNone/>
            </a:pPr>
            <a:r>
              <a:rPr lang="en-US" sz="2325" b="1" dirty="0">
                <a:solidFill>
                  <a:srgbClr val="EEF3F9"/>
                </a:solidFill>
                <a:latin typeface="Arial" pitchFamily="34" charset="0"/>
                <a:ea typeface="Arial" pitchFamily="34" charset="-122"/>
                <a:cs typeface="Arial" pitchFamily="34" charset="-120"/>
              </a:rPr>
              <a:t>Le test de la RAM</a:t>
            </a:r>
            <a:endParaRPr lang="en-US" sz="2325" dirty="0"/>
          </a:p>
        </p:txBody>
      </p:sp>
      <p:sp>
        <p:nvSpPr>
          <p:cNvPr id="8" name="Text 6"/>
          <p:cNvSpPr/>
          <p:nvPr/>
        </p:nvSpPr>
        <p:spPr>
          <a:xfrm>
            <a:off x="1358900" y="4702076"/>
            <a:ext cx="3396155" cy="4012704"/>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Les données tiennent-elles dans la mémoire d'une seule machine très performante ?</a:t>
            </a:r>
            <a:endParaRPr lang="en-US" sz="1875" dirty="0"/>
          </a:p>
        </p:txBody>
      </p:sp>
      <p:sp>
        <p:nvSpPr>
          <p:cNvPr id="9" name="Text 7"/>
          <p:cNvSpPr/>
          <p:nvPr/>
        </p:nvSpPr>
        <p:spPr>
          <a:xfrm>
            <a:off x="1358900" y="8829080"/>
            <a:ext cx="3626961" cy="34667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56DBDB"/>
                </a:solidFill>
                <a:latin typeface="Arial" pitchFamily="34" charset="0"/>
                <a:ea typeface="Arial" pitchFamily="34" charset="-122"/>
                <a:cs typeface="Arial" pitchFamily="34" charset="-120"/>
              </a:rPr>
              <a:t>Non → Big Data</a:t>
            </a:r>
            <a:endParaRPr lang="en-US" sz="1800" dirty="0"/>
          </a:p>
        </p:txBody>
      </p:sp>
      <p:sp>
        <p:nvSpPr>
          <p:cNvPr id="10" name="Shape 8"/>
          <p:cNvSpPr/>
          <p:nvPr/>
        </p:nvSpPr>
        <p:spPr>
          <a:xfrm>
            <a:off x="5157788" y="3460849"/>
            <a:ext cx="3881438" cy="6007001"/>
          </a:xfrm>
          <a:prstGeom prst="roundRect">
            <a:avLst>
              <a:gd name="adj" fmla="val 4417"/>
            </a:avLst>
          </a:prstGeom>
          <a:solidFill>
            <a:srgbClr val="FFFFFF">
              <a:alpha val="3000"/>
            </a:srgbClr>
          </a:solidFill>
          <a:ln w="6350">
            <a:solidFill>
              <a:srgbClr val="FFFFFF">
                <a:alpha val="10000"/>
              </a:srgbClr>
            </a:solidFill>
            <a:prstDash val="solid"/>
          </a:ln>
        </p:spPr>
      </p:sp>
      <p:sp>
        <p:nvSpPr>
          <p:cNvPr id="11" name="Text 9"/>
          <p:cNvSpPr/>
          <p:nvPr/>
        </p:nvSpPr>
        <p:spPr>
          <a:xfrm>
            <a:off x="5449888" y="3791049"/>
            <a:ext cx="362696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02</a:t>
            </a:r>
            <a:endParaRPr lang="en-US" sz="1800" dirty="0"/>
          </a:p>
        </p:txBody>
      </p:sp>
      <p:sp>
        <p:nvSpPr>
          <p:cNvPr id="12" name="Text 10"/>
          <p:cNvSpPr/>
          <p:nvPr/>
        </p:nvSpPr>
        <p:spPr>
          <a:xfrm>
            <a:off x="5449888" y="4229199"/>
            <a:ext cx="3626961" cy="377627"/>
          </a:xfrm>
          <a:prstGeom prst="rect">
            <a:avLst/>
          </a:prstGeom>
          <a:noFill/>
          <a:ln/>
        </p:spPr>
        <p:txBody>
          <a:bodyPr wrap="square" lIns="25400" tIns="25400" rIns="25400" bIns="25400" rtlCol="0" anchor="t">
            <a:normAutofit/>
          </a:bodyPr>
          <a:lstStyle/>
          <a:p>
            <a:pPr algn="l" indent="0" marL="0">
              <a:lnSpc>
                <a:spcPct val="99028"/>
              </a:lnSpc>
              <a:buNone/>
            </a:pPr>
            <a:r>
              <a:rPr lang="en-US" sz="2325" b="1" dirty="0">
                <a:solidFill>
                  <a:srgbClr val="EEF3F9"/>
                </a:solidFill>
                <a:latin typeface="Arial" pitchFamily="34" charset="0"/>
                <a:ea typeface="Arial" pitchFamily="34" charset="-122"/>
                <a:cs typeface="Arial" pitchFamily="34" charset="-120"/>
              </a:rPr>
              <a:t>Scale-up ou scale-out ?</a:t>
            </a:r>
            <a:endParaRPr lang="en-US" sz="2325" dirty="0"/>
          </a:p>
        </p:txBody>
      </p:sp>
      <p:sp>
        <p:nvSpPr>
          <p:cNvPr id="13" name="Text 11"/>
          <p:cNvSpPr/>
          <p:nvPr/>
        </p:nvSpPr>
        <p:spPr>
          <a:xfrm>
            <a:off x="5449888" y="4702076"/>
            <a:ext cx="3396155" cy="4012704"/>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Un serveur plus puissant suffit-il, ou faut-il obligatoirement distribuer le travail ?</a:t>
            </a:r>
            <a:endParaRPr lang="en-US" sz="1875" dirty="0"/>
          </a:p>
        </p:txBody>
      </p:sp>
      <p:sp>
        <p:nvSpPr>
          <p:cNvPr id="14" name="Text 12"/>
          <p:cNvSpPr/>
          <p:nvPr/>
        </p:nvSpPr>
        <p:spPr>
          <a:xfrm>
            <a:off x="5449888" y="8829080"/>
            <a:ext cx="3626961" cy="34667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56DBDB"/>
                </a:solidFill>
                <a:latin typeface="Arial" pitchFamily="34" charset="0"/>
                <a:ea typeface="Arial" pitchFamily="34" charset="-122"/>
                <a:cs typeface="Arial" pitchFamily="34" charset="-120"/>
              </a:rPr>
              <a:t>Distribution requise → Big Data</a:t>
            </a:r>
            <a:endParaRPr lang="en-US" sz="1800" dirty="0"/>
          </a:p>
        </p:txBody>
      </p:sp>
      <p:sp>
        <p:nvSpPr>
          <p:cNvPr id="15" name="Shape 13"/>
          <p:cNvSpPr/>
          <p:nvPr/>
        </p:nvSpPr>
        <p:spPr>
          <a:xfrm>
            <a:off x="9248775" y="3460849"/>
            <a:ext cx="3881438" cy="6007001"/>
          </a:xfrm>
          <a:prstGeom prst="roundRect">
            <a:avLst>
              <a:gd name="adj" fmla="val 4417"/>
            </a:avLst>
          </a:prstGeom>
          <a:solidFill>
            <a:srgbClr val="FFFFFF">
              <a:alpha val="3000"/>
            </a:srgbClr>
          </a:solidFill>
          <a:ln w="6350">
            <a:solidFill>
              <a:srgbClr val="FFFFFF">
                <a:alpha val="10000"/>
              </a:srgbClr>
            </a:solidFill>
            <a:prstDash val="solid"/>
          </a:ln>
        </p:spPr>
      </p:sp>
      <p:sp>
        <p:nvSpPr>
          <p:cNvPr id="16" name="Text 14"/>
          <p:cNvSpPr/>
          <p:nvPr/>
        </p:nvSpPr>
        <p:spPr>
          <a:xfrm>
            <a:off x="9540875" y="3791049"/>
            <a:ext cx="362696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03</a:t>
            </a:r>
            <a:endParaRPr lang="en-US" sz="1800" dirty="0"/>
          </a:p>
        </p:txBody>
      </p:sp>
      <p:sp>
        <p:nvSpPr>
          <p:cNvPr id="17" name="Text 15"/>
          <p:cNvSpPr/>
          <p:nvPr/>
        </p:nvSpPr>
        <p:spPr>
          <a:xfrm>
            <a:off x="9540875" y="4229199"/>
            <a:ext cx="3626961" cy="377627"/>
          </a:xfrm>
          <a:prstGeom prst="rect">
            <a:avLst/>
          </a:prstGeom>
          <a:noFill/>
          <a:ln/>
        </p:spPr>
        <p:txBody>
          <a:bodyPr wrap="square" lIns="25400" tIns="25400" rIns="25400" bIns="25400" rtlCol="0" anchor="t">
            <a:normAutofit/>
          </a:bodyPr>
          <a:lstStyle/>
          <a:p>
            <a:pPr algn="l" indent="0" marL="0">
              <a:lnSpc>
                <a:spcPct val="99028"/>
              </a:lnSpc>
              <a:buNone/>
            </a:pPr>
            <a:r>
              <a:rPr lang="en-US" sz="2325" b="1" dirty="0">
                <a:solidFill>
                  <a:srgbClr val="EEF3F9"/>
                </a:solidFill>
                <a:latin typeface="Arial" pitchFamily="34" charset="0"/>
                <a:ea typeface="Arial" pitchFamily="34" charset="-122"/>
                <a:cs typeface="Arial" pitchFamily="34" charset="-120"/>
              </a:rPr>
              <a:t>La rupture technologique</a:t>
            </a:r>
            <a:endParaRPr lang="en-US" sz="2325" dirty="0"/>
          </a:p>
        </p:txBody>
      </p:sp>
      <p:sp>
        <p:nvSpPr>
          <p:cNvPr id="18" name="Text 16"/>
          <p:cNvSpPr/>
          <p:nvPr/>
        </p:nvSpPr>
        <p:spPr>
          <a:xfrm>
            <a:off x="9540875" y="4702076"/>
            <a:ext cx="3396155" cy="4012704"/>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Passe-t-on plus de temps à contourner la base SQL qu'à développer le métier ?</a:t>
            </a:r>
            <a:endParaRPr lang="en-US" sz="1875" dirty="0"/>
          </a:p>
        </p:txBody>
      </p:sp>
      <p:sp>
        <p:nvSpPr>
          <p:cNvPr id="19" name="Text 17"/>
          <p:cNvSpPr/>
          <p:nvPr/>
        </p:nvSpPr>
        <p:spPr>
          <a:xfrm>
            <a:off x="9540875" y="8829080"/>
            <a:ext cx="3626961" cy="34667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56DBDB"/>
                </a:solidFill>
                <a:latin typeface="Arial" pitchFamily="34" charset="0"/>
                <a:ea typeface="Arial" pitchFamily="34" charset="-122"/>
                <a:cs typeface="Arial" pitchFamily="34" charset="-120"/>
              </a:rPr>
              <a:t>Oui → point de rupture</a:t>
            </a:r>
            <a:endParaRPr lang="en-US" sz="1800" dirty="0"/>
          </a:p>
        </p:txBody>
      </p:sp>
      <p:sp>
        <p:nvSpPr>
          <p:cNvPr id="20" name="Shape 18"/>
          <p:cNvSpPr/>
          <p:nvPr/>
        </p:nvSpPr>
        <p:spPr>
          <a:xfrm>
            <a:off x="13339763" y="3460849"/>
            <a:ext cx="3881438" cy="6007001"/>
          </a:xfrm>
          <a:prstGeom prst="roundRect">
            <a:avLst>
              <a:gd name="adj" fmla="val 4417"/>
            </a:avLst>
          </a:prstGeom>
          <a:solidFill>
            <a:srgbClr val="FFFFFF">
              <a:alpha val="3000"/>
            </a:srgbClr>
          </a:solidFill>
          <a:ln w="6350">
            <a:solidFill>
              <a:srgbClr val="FFC18C">
                <a:alpha val="37000"/>
              </a:srgbClr>
            </a:solidFill>
            <a:prstDash val="solid"/>
          </a:ln>
        </p:spPr>
      </p:sp>
      <p:sp>
        <p:nvSpPr>
          <p:cNvPr id="21" name="Text 19"/>
          <p:cNvSpPr/>
          <p:nvPr/>
        </p:nvSpPr>
        <p:spPr>
          <a:xfrm>
            <a:off x="13631863" y="4990704"/>
            <a:ext cx="3626961" cy="377627"/>
          </a:xfrm>
          <a:prstGeom prst="rect">
            <a:avLst/>
          </a:prstGeom>
          <a:noFill/>
          <a:ln/>
        </p:spPr>
        <p:txBody>
          <a:bodyPr wrap="square" lIns="25400" tIns="25400" rIns="25400" bIns="25400" rtlCol="0" anchor="t">
            <a:normAutofit/>
          </a:bodyPr>
          <a:lstStyle/>
          <a:p>
            <a:pPr algn="l" indent="0" marL="0">
              <a:lnSpc>
                <a:spcPct val="99028"/>
              </a:lnSpc>
              <a:buNone/>
            </a:pPr>
            <a:r>
              <a:rPr lang="en-US" sz="2325" b="1" dirty="0">
                <a:solidFill>
                  <a:srgbClr val="FFB46E"/>
                </a:solidFill>
                <a:latin typeface="Arial" pitchFamily="34" charset="0"/>
                <a:ea typeface="Arial" pitchFamily="34" charset="-122"/>
                <a:cs typeface="Arial" pitchFamily="34" charset="-120"/>
              </a:rPr>
              <a:t>Verdict</a:t>
            </a:r>
            <a:endParaRPr lang="en-US" sz="2325" dirty="0"/>
          </a:p>
        </p:txBody>
      </p:sp>
      <p:sp>
        <p:nvSpPr>
          <p:cNvPr id="22" name="Text 20"/>
          <p:cNvSpPr/>
          <p:nvPr/>
        </p:nvSpPr>
        <p:spPr>
          <a:xfrm>
            <a:off x="13631863" y="5463580"/>
            <a:ext cx="3396155" cy="1419225"/>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Une seule réponse pointant vers la distribution suffit à qualifier le problème de Big Data.</a:t>
            </a:r>
            <a:endParaRPr lang="en-US" sz="1875" dirty="0"/>
          </a:p>
        </p:txBody>
      </p:sp>
      <p:sp>
        <p:nvSpPr>
          <p:cNvPr id="23" name="Text 21"/>
          <p:cNvSpPr/>
          <p:nvPr/>
        </p:nvSpPr>
        <p:spPr>
          <a:xfrm>
            <a:off x="13631863" y="6978055"/>
            <a:ext cx="3396155" cy="998041"/>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Sinon : problème de données traditionnel — rester sur du simple.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01 · ARCHITECTURE</a:t>
            </a:r>
            <a:endParaRPr lang="en-US" sz="1800" dirty="0"/>
          </a:p>
        </p:txBody>
      </p:sp>
      <p:sp>
        <p:nvSpPr>
          <p:cNvPr id="3" name="Text 1"/>
          <p:cNvSpPr/>
          <p:nvPr/>
        </p:nvSpPr>
        <p:spPr>
          <a:xfrm>
            <a:off x="1066800" y="1314450"/>
            <a:ext cx="9079236"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principe d'une architecture distribuée</a:t>
            </a:r>
            <a:endParaRPr lang="en-US" sz="4800" dirty="0"/>
          </a:p>
        </p:txBody>
      </p:sp>
      <p:sp>
        <p:nvSpPr>
          <p:cNvPr id="4" name="Shape 2"/>
          <p:cNvSpPr/>
          <p:nvPr/>
        </p:nvSpPr>
        <p:spPr>
          <a:xfrm>
            <a:off x="3645793" y="4459784"/>
            <a:ext cx="3746500" cy="723900"/>
          </a:xfrm>
          <a:prstGeom prst="roundRect">
            <a:avLst>
              <a:gd name="adj" fmla="val 15789"/>
            </a:avLst>
          </a:prstGeom>
          <a:solidFill>
            <a:srgbClr val="FFFFFF">
              <a:alpha val="6000"/>
            </a:srgbClr>
          </a:solidFill>
          <a:ln w="6350">
            <a:solidFill>
              <a:srgbClr val="FFFFFF">
                <a:alpha val="10000"/>
              </a:srgbClr>
            </a:solidFill>
            <a:prstDash val="solid"/>
          </a:ln>
        </p:spPr>
      </p:sp>
      <p:sp>
        <p:nvSpPr>
          <p:cNvPr id="5" name="Text 3"/>
          <p:cNvSpPr/>
          <p:nvPr/>
        </p:nvSpPr>
        <p:spPr>
          <a:xfrm>
            <a:off x="4033143" y="4656634"/>
            <a:ext cx="3084195" cy="36830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Courier New" pitchFamily="34" charset="0"/>
                <a:ea typeface="Courier New" pitchFamily="34" charset="-122"/>
                <a:cs typeface="Courier New" pitchFamily="34" charset="-120"/>
              </a:rPr>
              <a:t>Client / Application</a:t>
            </a:r>
            <a:endParaRPr lang="en-US" sz="1950" dirty="0"/>
          </a:p>
        </p:txBody>
      </p:sp>
      <p:sp>
        <p:nvSpPr>
          <p:cNvPr id="6" name="Shape 4"/>
          <p:cNvSpPr/>
          <p:nvPr/>
        </p:nvSpPr>
        <p:spPr>
          <a:xfrm>
            <a:off x="5509518" y="5183684"/>
            <a:ext cx="19050" cy="323850"/>
          </a:xfrm>
          <a:prstGeom prst="rect">
            <a:avLst/>
          </a:prstGeom>
          <a:solidFill>
            <a:srgbClr val="56DBDB">
              <a:alpha val="96000"/>
            </a:srgbClr>
          </a:solidFill>
          <a:ln/>
        </p:spPr>
      </p:sp>
      <p:sp>
        <p:nvSpPr>
          <p:cNvPr id="7" name="Shape 5"/>
          <p:cNvSpPr/>
          <p:nvPr/>
        </p:nvSpPr>
        <p:spPr>
          <a:xfrm>
            <a:off x="4202013" y="5507534"/>
            <a:ext cx="2634060" cy="723900"/>
          </a:xfrm>
          <a:prstGeom prst="roundRect">
            <a:avLst>
              <a:gd name="adj" fmla="val 15789"/>
            </a:avLst>
          </a:prstGeom>
          <a:solidFill>
            <a:srgbClr val="FFFFFF">
              <a:alpha val="6000"/>
            </a:srgbClr>
          </a:solidFill>
          <a:ln w="6350">
            <a:solidFill>
              <a:srgbClr val="75E1E1">
                <a:alpha val="46000"/>
              </a:srgbClr>
            </a:solidFill>
            <a:prstDash val="solid"/>
          </a:ln>
        </p:spPr>
      </p:sp>
      <p:sp>
        <p:nvSpPr>
          <p:cNvPr id="8" name="Text 6"/>
          <p:cNvSpPr/>
          <p:nvPr/>
        </p:nvSpPr>
        <p:spPr>
          <a:xfrm>
            <a:off x="4627463" y="5704384"/>
            <a:ext cx="1862181"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Coordinateur</a:t>
            </a:r>
            <a:endParaRPr lang="en-US" sz="1950" dirty="0"/>
          </a:p>
        </p:txBody>
      </p:sp>
      <p:sp>
        <p:nvSpPr>
          <p:cNvPr id="9" name="Shape 7"/>
          <p:cNvSpPr/>
          <p:nvPr/>
        </p:nvSpPr>
        <p:spPr>
          <a:xfrm>
            <a:off x="5509518" y="6231434"/>
            <a:ext cx="19050" cy="323850"/>
          </a:xfrm>
          <a:prstGeom prst="rect">
            <a:avLst/>
          </a:prstGeom>
          <a:solidFill>
            <a:srgbClr val="56DBDB">
              <a:alpha val="96000"/>
            </a:srgbClr>
          </a:solidFill>
          <a:ln/>
        </p:spPr>
      </p:sp>
      <p:sp>
        <p:nvSpPr>
          <p:cNvPr id="10" name="Shape 8"/>
          <p:cNvSpPr/>
          <p:nvPr/>
        </p:nvSpPr>
        <p:spPr>
          <a:xfrm>
            <a:off x="2958604" y="6555284"/>
            <a:ext cx="1567259" cy="1454150"/>
          </a:xfrm>
          <a:prstGeom prst="roundRect">
            <a:avLst>
              <a:gd name="adj" fmla="val 7860"/>
            </a:avLst>
          </a:prstGeom>
          <a:solidFill>
            <a:srgbClr val="FFFFFF">
              <a:alpha val="3000"/>
            </a:srgbClr>
          </a:solidFill>
          <a:ln w="6350">
            <a:solidFill>
              <a:srgbClr val="FFFFFF">
                <a:alpha val="10000"/>
              </a:srgbClr>
            </a:solidFill>
            <a:prstDash val="solid"/>
          </a:ln>
        </p:spPr>
      </p:sp>
      <p:sp>
        <p:nvSpPr>
          <p:cNvPr id="11" name="Text 9"/>
          <p:cNvSpPr/>
          <p:nvPr/>
        </p:nvSpPr>
        <p:spPr>
          <a:xfrm>
            <a:off x="3155454" y="6790234"/>
            <a:ext cx="1173559" cy="336550"/>
          </a:xfrm>
          <a:prstGeom prst="rect">
            <a:avLst/>
          </a:prstGeom>
          <a:noFill/>
          <a:ln/>
        </p:spPr>
        <p:txBody>
          <a:bodyPr wrap="square" lIns="25400" tIns="25400" rIns="25400" bIns="25400" rtlCol="0" anchor="t">
            <a:normAutofit/>
          </a:bodyPr>
          <a:lstStyle/>
          <a:p>
            <a:pPr algn="ctr" indent="0" marL="0">
              <a:buNone/>
            </a:pPr>
            <a:r>
              <a:rPr lang="en-US" sz="2025" b="1" dirty="0">
                <a:solidFill>
                  <a:srgbClr val="EEF3F9"/>
                </a:solidFill>
                <a:latin typeface="Arial" pitchFamily="34" charset="0"/>
                <a:ea typeface="Arial" pitchFamily="34" charset="-122"/>
                <a:cs typeface="Arial" pitchFamily="34" charset="-120"/>
              </a:rPr>
              <a:t>Nœud 1</a:t>
            </a:r>
            <a:endParaRPr lang="en-US" sz="2025" dirty="0"/>
          </a:p>
        </p:txBody>
      </p:sp>
      <p:sp>
        <p:nvSpPr>
          <p:cNvPr id="12" name="Text 10"/>
          <p:cNvSpPr/>
          <p:nvPr/>
        </p:nvSpPr>
        <p:spPr>
          <a:xfrm>
            <a:off x="3155454" y="7164884"/>
            <a:ext cx="1173559" cy="6477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données + calcul</a:t>
            </a:r>
            <a:endParaRPr lang="en-US" sz="1800" dirty="0"/>
          </a:p>
        </p:txBody>
      </p:sp>
      <p:sp>
        <p:nvSpPr>
          <p:cNvPr id="13" name="Shape 11"/>
          <p:cNvSpPr/>
          <p:nvPr/>
        </p:nvSpPr>
        <p:spPr>
          <a:xfrm>
            <a:off x="4735413" y="6555284"/>
            <a:ext cx="1567259" cy="1454150"/>
          </a:xfrm>
          <a:prstGeom prst="roundRect">
            <a:avLst>
              <a:gd name="adj" fmla="val 7860"/>
            </a:avLst>
          </a:prstGeom>
          <a:solidFill>
            <a:srgbClr val="FFFFFF">
              <a:alpha val="3000"/>
            </a:srgbClr>
          </a:solidFill>
          <a:ln w="6350">
            <a:solidFill>
              <a:srgbClr val="FFFFFF">
                <a:alpha val="10000"/>
              </a:srgbClr>
            </a:solidFill>
            <a:prstDash val="solid"/>
          </a:ln>
        </p:spPr>
      </p:sp>
      <p:sp>
        <p:nvSpPr>
          <p:cNvPr id="14" name="Text 12"/>
          <p:cNvSpPr/>
          <p:nvPr/>
        </p:nvSpPr>
        <p:spPr>
          <a:xfrm>
            <a:off x="4932263" y="6790234"/>
            <a:ext cx="1173559" cy="336550"/>
          </a:xfrm>
          <a:prstGeom prst="rect">
            <a:avLst/>
          </a:prstGeom>
          <a:noFill/>
          <a:ln/>
        </p:spPr>
        <p:txBody>
          <a:bodyPr wrap="square" lIns="25400" tIns="25400" rIns="25400" bIns="25400" rtlCol="0" anchor="t">
            <a:normAutofit/>
          </a:bodyPr>
          <a:lstStyle/>
          <a:p>
            <a:pPr algn="ctr" indent="0" marL="0">
              <a:buNone/>
            </a:pPr>
            <a:r>
              <a:rPr lang="en-US" sz="2025" b="1" dirty="0">
                <a:solidFill>
                  <a:srgbClr val="EEF3F9"/>
                </a:solidFill>
                <a:latin typeface="Arial" pitchFamily="34" charset="0"/>
                <a:ea typeface="Arial" pitchFamily="34" charset="-122"/>
                <a:cs typeface="Arial" pitchFamily="34" charset="-120"/>
              </a:rPr>
              <a:t>Nœud 2</a:t>
            </a:r>
            <a:endParaRPr lang="en-US" sz="2025" dirty="0"/>
          </a:p>
        </p:txBody>
      </p:sp>
      <p:sp>
        <p:nvSpPr>
          <p:cNvPr id="15" name="Text 13"/>
          <p:cNvSpPr/>
          <p:nvPr/>
        </p:nvSpPr>
        <p:spPr>
          <a:xfrm>
            <a:off x="4932263" y="7164884"/>
            <a:ext cx="1173559" cy="6477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données + calcul</a:t>
            </a:r>
            <a:endParaRPr lang="en-US" sz="1800" dirty="0"/>
          </a:p>
        </p:txBody>
      </p:sp>
      <p:sp>
        <p:nvSpPr>
          <p:cNvPr id="16" name="Shape 14"/>
          <p:cNvSpPr/>
          <p:nvPr/>
        </p:nvSpPr>
        <p:spPr>
          <a:xfrm>
            <a:off x="6512223" y="6555284"/>
            <a:ext cx="1567259" cy="1454150"/>
          </a:xfrm>
          <a:prstGeom prst="roundRect">
            <a:avLst>
              <a:gd name="adj" fmla="val 7860"/>
            </a:avLst>
          </a:prstGeom>
          <a:solidFill>
            <a:srgbClr val="FFFFFF">
              <a:alpha val="3000"/>
            </a:srgbClr>
          </a:solidFill>
          <a:ln w="6350">
            <a:solidFill>
              <a:srgbClr val="FFFFFF">
                <a:alpha val="10000"/>
              </a:srgbClr>
            </a:solidFill>
            <a:prstDash val="solid"/>
          </a:ln>
        </p:spPr>
      </p:sp>
      <p:sp>
        <p:nvSpPr>
          <p:cNvPr id="17" name="Text 15"/>
          <p:cNvSpPr/>
          <p:nvPr/>
        </p:nvSpPr>
        <p:spPr>
          <a:xfrm>
            <a:off x="6709073" y="6790234"/>
            <a:ext cx="1173559" cy="336550"/>
          </a:xfrm>
          <a:prstGeom prst="rect">
            <a:avLst/>
          </a:prstGeom>
          <a:noFill/>
          <a:ln/>
        </p:spPr>
        <p:txBody>
          <a:bodyPr wrap="square" lIns="25400" tIns="25400" rIns="25400" bIns="25400" rtlCol="0" anchor="t">
            <a:normAutofit/>
          </a:bodyPr>
          <a:lstStyle/>
          <a:p>
            <a:pPr algn="ctr" indent="0" marL="0">
              <a:buNone/>
            </a:pPr>
            <a:r>
              <a:rPr lang="en-US" sz="2025" b="1" dirty="0">
                <a:solidFill>
                  <a:srgbClr val="EEF3F9"/>
                </a:solidFill>
                <a:latin typeface="Arial" pitchFamily="34" charset="0"/>
                <a:ea typeface="Arial" pitchFamily="34" charset="-122"/>
                <a:cs typeface="Arial" pitchFamily="34" charset="-120"/>
              </a:rPr>
              <a:t>Nœud 3</a:t>
            </a:r>
            <a:endParaRPr lang="en-US" sz="2025" dirty="0"/>
          </a:p>
        </p:txBody>
      </p:sp>
      <p:sp>
        <p:nvSpPr>
          <p:cNvPr id="18" name="Text 16"/>
          <p:cNvSpPr/>
          <p:nvPr/>
        </p:nvSpPr>
        <p:spPr>
          <a:xfrm>
            <a:off x="6709073" y="7164884"/>
            <a:ext cx="1173559" cy="6477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données + calcul</a:t>
            </a:r>
            <a:endParaRPr lang="en-US" sz="1800" dirty="0"/>
          </a:p>
        </p:txBody>
      </p:sp>
      <p:sp>
        <p:nvSpPr>
          <p:cNvPr id="19" name="Text 17"/>
          <p:cNvSpPr/>
          <p:nvPr/>
        </p:nvSpPr>
        <p:spPr>
          <a:xfrm>
            <a:off x="10542787" y="4752578"/>
            <a:ext cx="361950" cy="406400"/>
          </a:xfrm>
          <a:prstGeom prst="rect">
            <a:avLst/>
          </a:prstGeom>
          <a:noFill/>
          <a:ln/>
        </p:spPr>
        <p:txBody>
          <a:bodyPr wrap="square" lIns="25400" tIns="25400" rIns="25400" bIns="25400" rtlCol="0" anchor="t">
            <a:normAutofit/>
          </a:bodyPr>
          <a:lstStyle/>
          <a:p>
            <a:pPr algn="l" indent="0" marL="0">
              <a:buNone/>
            </a:pPr>
            <a:r>
              <a:rPr lang="en-US" sz="2250" dirty="0">
                <a:solidFill>
                  <a:srgbClr val="56DBDB"/>
                </a:solidFill>
                <a:latin typeface="Arial" pitchFamily="34" charset="0"/>
                <a:ea typeface="Arial" pitchFamily="34" charset="-122"/>
                <a:cs typeface="Arial" pitchFamily="34" charset="-120"/>
              </a:rPr>
              <a:t>→</a:t>
            </a:r>
            <a:endParaRPr lang="en-US" sz="2250" dirty="0"/>
          </a:p>
        </p:txBody>
      </p:sp>
      <p:sp>
        <p:nvSpPr>
          <p:cNvPr id="20" name="Text 18"/>
          <p:cNvSpPr/>
          <p:nvPr/>
        </p:nvSpPr>
        <p:spPr>
          <a:xfrm>
            <a:off x="10999987" y="4752578"/>
            <a:ext cx="6407851"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Capacité extensible : il suffit d'ajouter des machines</a:t>
            </a:r>
            <a:endParaRPr lang="en-US" sz="2400" dirty="0"/>
          </a:p>
        </p:txBody>
      </p:sp>
      <p:sp>
        <p:nvSpPr>
          <p:cNvPr id="21" name="Text 19"/>
          <p:cNvSpPr/>
          <p:nvPr/>
        </p:nvSpPr>
        <p:spPr>
          <a:xfrm>
            <a:off x="10542787" y="5823149"/>
            <a:ext cx="361950" cy="406400"/>
          </a:xfrm>
          <a:prstGeom prst="rect">
            <a:avLst/>
          </a:prstGeom>
          <a:noFill/>
          <a:ln/>
        </p:spPr>
        <p:txBody>
          <a:bodyPr wrap="square" lIns="25400" tIns="25400" rIns="25400" bIns="25400" rtlCol="0" anchor="t">
            <a:normAutofit/>
          </a:bodyPr>
          <a:lstStyle/>
          <a:p>
            <a:pPr algn="l" indent="0" marL="0">
              <a:buNone/>
            </a:pPr>
            <a:r>
              <a:rPr lang="en-US" sz="2250" dirty="0">
                <a:solidFill>
                  <a:srgbClr val="56DBDB"/>
                </a:solidFill>
                <a:latin typeface="Arial" pitchFamily="34" charset="0"/>
                <a:ea typeface="Arial" pitchFamily="34" charset="-122"/>
                <a:cs typeface="Arial" pitchFamily="34" charset="-120"/>
              </a:rPr>
              <a:t>→</a:t>
            </a:r>
            <a:endParaRPr lang="en-US" sz="2250" dirty="0"/>
          </a:p>
        </p:txBody>
      </p:sp>
      <p:sp>
        <p:nvSpPr>
          <p:cNvPr id="22" name="Text 20"/>
          <p:cNvSpPr/>
          <p:nvPr/>
        </p:nvSpPr>
        <p:spPr>
          <a:xfrm>
            <a:off x="10999987" y="5823149"/>
            <a:ext cx="6407851"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Tolérance aux pannes grâce à la réplication des données</a:t>
            </a:r>
            <a:endParaRPr lang="en-US" sz="2400" dirty="0"/>
          </a:p>
        </p:txBody>
      </p:sp>
      <p:sp>
        <p:nvSpPr>
          <p:cNvPr id="23" name="Text 21"/>
          <p:cNvSpPr/>
          <p:nvPr/>
        </p:nvSpPr>
        <p:spPr>
          <a:xfrm>
            <a:off x="10542787" y="6893719"/>
            <a:ext cx="361950" cy="406400"/>
          </a:xfrm>
          <a:prstGeom prst="rect">
            <a:avLst/>
          </a:prstGeom>
          <a:noFill/>
          <a:ln/>
        </p:spPr>
        <p:txBody>
          <a:bodyPr wrap="square" lIns="25400" tIns="25400" rIns="25400" bIns="25400" rtlCol="0" anchor="t">
            <a:normAutofit/>
          </a:bodyPr>
          <a:lstStyle/>
          <a:p>
            <a:pPr algn="l" indent="0" marL="0">
              <a:buNone/>
            </a:pPr>
            <a:r>
              <a:rPr lang="en-US" sz="2250" dirty="0">
                <a:solidFill>
                  <a:srgbClr val="56DBDB"/>
                </a:solidFill>
                <a:latin typeface="Arial" pitchFamily="34" charset="0"/>
                <a:ea typeface="Arial" pitchFamily="34" charset="-122"/>
                <a:cs typeface="Arial" pitchFamily="34" charset="-120"/>
              </a:rPr>
              <a:t>→</a:t>
            </a:r>
            <a:endParaRPr lang="en-US" sz="2250" dirty="0"/>
          </a:p>
        </p:txBody>
      </p:sp>
      <p:sp>
        <p:nvSpPr>
          <p:cNvPr id="24" name="Text 22"/>
          <p:cNvSpPr/>
          <p:nvPr/>
        </p:nvSpPr>
        <p:spPr>
          <a:xfrm>
            <a:off x="10999987" y="6893719"/>
            <a:ext cx="6407851"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Coût maîtrisé : des machines standard plutôt qu'un serveur surdimensionné</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01 · VALEUR</a:t>
            </a:r>
            <a:endParaRPr lang="en-US" sz="1800" dirty="0"/>
          </a:p>
        </p:txBody>
      </p:sp>
      <p:sp>
        <p:nvSpPr>
          <p:cNvPr id="3" name="Text 1"/>
          <p:cNvSpPr/>
          <p:nvPr/>
        </p:nvSpPr>
        <p:spPr>
          <a:xfrm>
            <a:off x="1066800" y="1314450"/>
            <a:ext cx="8380833"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quatre niveaux d'analytique</a:t>
            </a:r>
            <a:endParaRPr lang="en-US" sz="4800" dirty="0"/>
          </a:p>
        </p:txBody>
      </p:sp>
      <p:sp>
        <p:nvSpPr>
          <p:cNvPr id="4" name="Shape 2"/>
          <p:cNvSpPr/>
          <p:nvPr/>
        </p:nvSpPr>
        <p:spPr>
          <a:xfrm>
            <a:off x="1066800" y="5663010"/>
            <a:ext cx="3910013" cy="3290491"/>
          </a:xfrm>
          <a:prstGeom prst="roundRect">
            <a:avLst>
              <a:gd name="adj" fmla="val 4632"/>
            </a:avLst>
          </a:prstGeom>
          <a:solidFill>
            <a:srgbClr val="FFFFFF">
              <a:alpha val="3000"/>
            </a:srgbClr>
          </a:solidFill>
          <a:ln w="6350">
            <a:solidFill>
              <a:srgbClr val="78E0E0">
                <a:alpha val="42000"/>
              </a:srgbClr>
            </a:solidFill>
            <a:prstDash val="solid"/>
          </a:ln>
        </p:spPr>
      </p:sp>
      <p:sp>
        <p:nvSpPr>
          <p:cNvPr id="5" name="Text 3"/>
          <p:cNvSpPr/>
          <p:nvPr/>
        </p:nvSpPr>
        <p:spPr>
          <a:xfrm>
            <a:off x="1320800" y="7503220"/>
            <a:ext cx="374221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Que s'est-il passé ?</a:t>
            </a:r>
            <a:endParaRPr lang="en-US" sz="1800" dirty="0"/>
          </a:p>
        </p:txBody>
      </p:sp>
      <p:sp>
        <p:nvSpPr>
          <p:cNvPr id="6" name="Text 4"/>
          <p:cNvSpPr/>
          <p:nvPr/>
        </p:nvSpPr>
        <p:spPr>
          <a:xfrm>
            <a:off x="1320800" y="7903270"/>
            <a:ext cx="3742214" cy="381000"/>
          </a:xfrm>
          <a:prstGeom prst="rect">
            <a:avLst/>
          </a:prstGeom>
          <a:noFill/>
          <a:ln/>
        </p:spPr>
        <p:txBody>
          <a:bodyPr wrap="square" lIns="25400" tIns="25400" rIns="25400" bIns="25400" rtlCol="0" anchor="t">
            <a:normAutofit/>
          </a:bodyPr>
          <a:lstStyle/>
          <a:p>
            <a:pPr algn="l" indent="0" marL="0">
              <a:buNone/>
            </a:pPr>
            <a:r>
              <a:rPr lang="en-US" sz="2325" b="1" dirty="0">
                <a:solidFill>
                  <a:srgbClr val="EEF3F9"/>
                </a:solidFill>
                <a:latin typeface="Arial" pitchFamily="34" charset="0"/>
                <a:ea typeface="Arial" pitchFamily="34" charset="-122"/>
                <a:cs typeface="Arial" pitchFamily="34" charset="-120"/>
              </a:rPr>
              <a:t>Descriptive</a:t>
            </a:r>
            <a:endParaRPr lang="en-US" sz="2325" dirty="0"/>
          </a:p>
        </p:txBody>
      </p:sp>
      <p:sp>
        <p:nvSpPr>
          <p:cNvPr id="7" name="Text 5"/>
          <p:cNvSpPr/>
          <p:nvPr/>
        </p:nvSpPr>
        <p:spPr>
          <a:xfrm>
            <a:off x="1320800" y="8341420"/>
            <a:ext cx="3742214"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CA du mois par magasin</a:t>
            </a:r>
            <a:endParaRPr lang="en-US" sz="1800" dirty="0"/>
          </a:p>
        </p:txBody>
      </p:sp>
      <p:sp>
        <p:nvSpPr>
          <p:cNvPr id="8" name="Shape 6"/>
          <p:cNvSpPr/>
          <p:nvPr/>
        </p:nvSpPr>
        <p:spPr>
          <a:xfrm>
            <a:off x="5148263" y="4840387"/>
            <a:ext cx="3910013" cy="4113113"/>
          </a:xfrm>
          <a:prstGeom prst="roundRect">
            <a:avLst>
              <a:gd name="adj" fmla="val 3898"/>
            </a:avLst>
          </a:prstGeom>
          <a:solidFill>
            <a:srgbClr val="FFFFFF">
              <a:alpha val="3000"/>
            </a:srgbClr>
          </a:solidFill>
          <a:ln w="6350">
            <a:solidFill>
              <a:srgbClr val="FFFFFF">
                <a:alpha val="10000"/>
              </a:srgbClr>
            </a:solidFill>
            <a:prstDash val="solid"/>
          </a:ln>
        </p:spPr>
      </p:sp>
      <p:sp>
        <p:nvSpPr>
          <p:cNvPr id="9" name="Text 7"/>
          <p:cNvSpPr/>
          <p:nvPr/>
        </p:nvSpPr>
        <p:spPr>
          <a:xfrm>
            <a:off x="5402263" y="7503220"/>
            <a:ext cx="374221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Pourquoi ?</a:t>
            </a:r>
            <a:endParaRPr lang="en-US" sz="1800" dirty="0"/>
          </a:p>
        </p:txBody>
      </p:sp>
      <p:sp>
        <p:nvSpPr>
          <p:cNvPr id="10" name="Text 8"/>
          <p:cNvSpPr/>
          <p:nvPr/>
        </p:nvSpPr>
        <p:spPr>
          <a:xfrm>
            <a:off x="5402263" y="7903270"/>
            <a:ext cx="3742214" cy="381000"/>
          </a:xfrm>
          <a:prstGeom prst="rect">
            <a:avLst/>
          </a:prstGeom>
          <a:noFill/>
          <a:ln/>
        </p:spPr>
        <p:txBody>
          <a:bodyPr wrap="square" lIns="25400" tIns="25400" rIns="25400" bIns="25400" rtlCol="0" anchor="t">
            <a:normAutofit/>
          </a:bodyPr>
          <a:lstStyle/>
          <a:p>
            <a:pPr algn="l" indent="0" marL="0">
              <a:buNone/>
            </a:pPr>
            <a:r>
              <a:rPr lang="en-US" sz="2325" b="1" dirty="0">
                <a:solidFill>
                  <a:srgbClr val="EEF3F9"/>
                </a:solidFill>
                <a:latin typeface="Arial" pitchFamily="34" charset="0"/>
                <a:ea typeface="Arial" pitchFamily="34" charset="-122"/>
                <a:cs typeface="Arial" pitchFamily="34" charset="-120"/>
              </a:rPr>
              <a:t>Diagnostique</a:t>
            </a:r>
            <a:endParaRPr lang="en-US" sz="2325" dirty="0"/>
          </a:p>
        </p:txBody>
      </p:sp>
      <p:sp>
        <p:nvSpPr>
          <p:cNvPr id="11" name="Text 9"/>
          <p:cNvSpPr/>
          <p:nvPr/>
        </p:nvSpPr>
        <p:spPr>
          <a:xfrm>
            <a:off x="5402263" y="8341420"/>
            <a:ext cx="3742214"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Pourquoi les ventes ont chuté ?</a:t>
            </a:r>
            <a:endParaRPr lang="en-US" sz="1800" dirty="0"/>
          </a:p>
        </p:txBody>
      </p:sp>
      <p:sp>
        <p:nvSpPr>
          <p:cNvPr id="12" name="Shape 10"/>
          <p:cNvSpPr/>
          <p:nvPr/>
        </p:nvSpPr>
        <p:spPr>
          <a:xfrm>
            <a:off x="9229725" y="4017764"/>
            <a:ext cx="3910013" cy="4935736"/>
          </a:xfrm>
          <a:prstGeom prst="roundRect">
            <a:avLst>
              <a:gd name="adj" fmla="val 3898"/>
            </a:avLst>
          </a:prstGeom>
          <a:solidFill>
            <a:srgbClr val="FFFFFF">
              <a:alpha val="3000"/>
            </a:srgbClr>
          </a:solidFill>
          <a:ln w="6350">
            <a:solidFill>
              <a:srgbClr val="FFFFFF">
                <a:alpha val="10000"/>
              </a:srgbClr>
            </a:solidFill>
            <a:prstDash val="solid"/>
          </a:ln>
        </p:spPr>
      </p:sp>
      <p:sp>
        <p:nvSpPr>
          <p:cNvPr id="13" name="Text 11"/>
          <p:cNvSpPr/>
          <p:nvPr/>
        </p:nvSpPr>
        <p:spPr>
          <a:xfrm>
            <a:off x="9483725" y="7503220"/>
            <a:ext cx="374221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Que va-t-il se passer ?</a:t>
            </a:r>
            <a:endParaRPr lang="en-US" sz="1800" dirty="0"/>
          </a:p>
        </p:txBody>
      </p:sp>
      <p:sp>
        <p:nvSpPr>
          <p:cNvPr id="14" name="Text 12"/>
          <p:cNvSpPr/>
          <p:nvPr/>
        </p:nvSpPr>
        <p:spPr>
          <a:xfrm>
            <a:off x="9483725" y="7903270"/>
            <a:ext cx="3742214" cy="381000"/>
          </a:xfrm>
          <a:prstGeom prst="rect">
            <a:avLst/>
          </a:prstGeom>
          <a:noFill/>
          <a:ln/>
        </p:spPr>
        <p:txBody>
          <a:bodyPr wrap="square" lIns="25400" tIns="25400" rIns="25400" bIns="25400" rtlCol="0" anchor="t">
            <a:normAutofit/>
          </a:bodyPr>
          <a:lstStyle/>
          <a:p>
            <a:pPr algn="l" indent="0" marL="0">
              <a:buNone/>
            </a:pPr>
            <a:r>
              <a:rPr lang="en-US" sz="2325" b="1" dirty="0">
                <a:solidFill>
                  <a:srgbClr val="EEF3F9"/>
                </a:solidFill>
                <a:latin typeface="Arial" pitchFamily="34" charset="0"/>
                <a:ea typeface="Arial" pitchFamily="34" charset="-122"/>
                <a:cs typeface="Arial" pitchFamily="34" charset="-120"/>
              </a:rPr>
              <a:t>Prédictive</a:t>
            </a:r>
            <a:endParaRPr lang="en-US" sz="2325" dirty="0"/>
          </a:p>
        </p:txBody>
      </p:sp>
      <p:sp>
        <p:nvSpPr>
          <p:cNvPr id="15" name="Text 13"/>
          <p:cNvSpPr/>
          <p:nvPr/>
        </p:nvSpPr>
        <p:spPr>
          <a:xfrm>
            <a:off x="9483725" y="8341420"/>
            <a:ext cx="3742214"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Prévision du mois prochain</a:t>
            </a:r>
            <a:endParaRPr lang="en-US" sz="1800" dirty="0"/>
          </a:p>
        </p:txBody>
      </p:sp>
      <p:sp>
        <p:nvSpPr>
          <p:cNvPr id="16" name="Shape 14"/>
          <p:cNvSpPr/>
          <p:nvPr/>
        </p:nvSpPr>
        <p:spPr>
          <a:xfrm>
            <a:off x="13311188" y="3077567"/>
            <a:ext cx="3910013" cy="5875933"/>
          </a:xfrm>
          <a:prstGeom prst="roundRect">
            <a:avLst>
              <a:gd name="adj" fmla="val 3898"/>
            </a:avLst>
          </a:prstGeom>
          <a:solidFill>
            <a:srgbClr val="FFFFFF">
              <a:alpha val="3000"/>
            </a:srgbClr>
          </a:solidFill>
          <a:ln w="6350">
            <a:solidFill>
              <a:srgbClr val="FFFFFF">
                <a:alpha val="10000"/>
              </a:srgbClr>
            </a:solidFill>
            <a:prstDash val="solid"/>
          </a:ln>
        </p:spPr>
      </p:sp>
      <p:sp>
        <p:nvSpPr>
          <p:cNvPr id="17" name="Text 15"/>
          <p:cNvSpPr/>
          <p:nvPr/>
        </p:nvSpPr>
        <p:spPr>
          <a:xfrm>
            <a:off x="13565188" y="7503220"/>
            <a:ext cx="374221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Que faire ?</a:t>
            </a:r>
            <a:endParaRPr lang="en-US" sz="1800" dirty="0"/>
          </a:p>
        </p:txBody>
      </p:sp>
      <p:sp>
        <p:nvSpPr>
          <p:cNvPr id="18" name="Text 16"/>
          <p:cNvSpPr/>
          <p:nvPr/>
        </p:nvSpPr>
        <p:spPr>
          <a:xfrm>
            <a:off x="13565188" y="7903270"/>
            <a:ext cx="3742214" cy="381000"/>
          </a:xfrm>
          <a:prstGeom prst="rect">
            <a:avLst/>
          </a:prstGeom>
          <a:noFill/>
          <a:ln/>
        </p:spPr>
        <p:txBody>
          <a:bodyPr wrap="square" lIns="25400" tIns="25400" rIns="25400" bIns="25400" rtlCol="0" anchor="t">
            <a:normAutofit/>
          </a:bodyPr>
          <a:lstStyle/>
          <a:p>
            <a:pPr algn="l" indent="0" marL="0">
              <a:buNone/>
            </a:pPr>
            <a:r>
              <a:rPr lang="en-US" sz="2325" b="1" dirty="0">
                <a:solidFill>
                  <a:srgbClr val="EEF3F9"/>
                </a:solidFill>
                <a:latin typeface="Arial" pitchFamily="34" charset="0"/>
                <a:ea typeface="Arial" pitchFamily="34" charset="-122"/>
                <a:cs typeface="Arial" pitchFamily="34" charset="-120"/>
              </a:rPr>
              <a:t>Prescriptive</a:t>
            </a:r>
            <a:endParaRPr lang="en-US" sz="2325" dirty="0"/>
          </a:p>
        </p:txBody>
      </p:sp>
      <p:sp>
        <p:nvSpPr>
          <p:cNvPr id="19" name="Text 17"/>
          <p:cNvSpPr/>
          <p:nvPr/>
        </p:nvSpPr>
        <p:spPr>
          <a:xfrm>
            <a:off x="13565188" y="8341420"/>
            <a:ext cx="3742214"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Quelles actions engager ?</a:t>
            </a:r>
            <a:endParaRPr lang="en-US" sz="1800" dirty="0"/>
          </a:p>
        </p:txBody>
      </p:sp>
      <p:sp>
        <p:nvSpPr>
          <p:cNvPr id="20" name="Text 18"/>
          <p:cNvSpPr/>
          <p:nvPr/>
        </p:nvSpPr>
        <p:spPr>
          <a:xfrm>
            <a:off x="1066800" y="9163050"/>
            <a:ext cx="482805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Complexité et valeur croissantes</a:t>
            </a:r>
            <a:endParaRPr lang="en-US" sz="1800" dirty="0"/>
          </a:p>
        </p:txBody>
      </p:sp>
      <p:sp>
        <p:nvSpPr>
          <p:cNvPr id="21" name="Shape 19"/>
          <p:cNvSpPr/>
          <p:nvPr/>
        </p:nvSpPr>
        <p:spPr>
          <a:xfrm>
            <a:off x="5608340" y="9310688"/>
            <a:ext cx="11334750" cy="9525"/>
          </a:xfrm>
          <a:prstGeom prst="rect">
            <a:avLst/>
          </a:prstGeom>
          <a:solidFill>
            <a:srgbClr val="FFFFFF">
              <a:alpha val="10000"/>
            </a:srgbClr>
          </a:solidFill>
          <a:ln/>
        </p:spPr>
      </p:sp>
      <p:sp>
        <p:nvSpPr>
          <p:cNvPr id="22" name="Text 20"/>
          <p:cNvSpPr/>
          <p:nvPr/>
        </p:nvSpPr>
        <p:spPr>
          <a:xfrm>
            <a:off x="17095490" y="9163050"/>
            <a:ext cx="20191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01 · PIPELINE</a:t>
            </a:r>
            <a:endParaRPr lang="en-US" sz="1800" dirty="0"/>
          </a:p>
        </p:txBody>
      </p:sp>
      <p:sp>
        <p:nvSpPr>
          <p:cNvPr id="3" name="Text 1"/>
          <p:cNvSpPr/>
          <p:nvPr/>
        </p:nvSpPr>
        <p:spPr>
          <a:xfrm>
            <a:off x="1066800" y="1314450"/>
            <a:ext cx="9079236"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pipeline Big Data et ses métiers</a:t>
            </a:r>
            <a:endParaRPr lang="en-US" sz="4800" dirty="0"/>
          </a:p>
        </p:txBody>
      </p:sp>
      <p:sp>
        <p:nvSpPr>
          <p:cNvPr id="4" name="Shape 2"/>
          <p:cNvSpPr/>
          <p:nvPr/>
        </p:nvSpPr>
        <p:spPr>
          <a:xfrm>
            <a:off x="1066800" y="3039467"/>
            <a:ext cx="3034209" cy="1193800"/>
          </a:xfrm>
          <a:prstGeom prst="roundRect">
            <a:avLst>
              <a:gd name="adj" fmla="val 11170"/>
            </a:avLst>
          </a:prstGeom>
          <a:solidFill>
            <a:srgbClr val="FFFFFF">
              <a:alpha val="3000"/>
            </a:srgbClr>
          </a:solidFill>
          <a:ln w="6350">
            <a:solidFill>
              <a:srgbClr val="FFFFFF">
                <a:alpha val="10000"/>
              </a:srgbClr>
            </a:solidFill>
            <a:prstDash val="solid"/>
          </a:ln>
        </p:spPr>
      </p:sp>
      <p:sp>
        <p:nvSpPr>
          <p:cNvPr id="5" name="Text 3"/>
          <p:cNvSpPr/>
          <p:nvPr/>
        </p:nvSpPr>
        <p:spPr>
          <a:xfrm>
            <a:off x="1131625" y="3293467"/>
            <a:ext cx="2904559"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56DBDB"/>
                </a:solidFill>
                <a:latin typeface="Courier New" pitchFamily="34" charset="0"/>
                <a:ea typeface="Courier New" pitchFamily="34" charset="-122"/>
                <a:cs typeface="Courier New" pitchFamily="34" charset="-120"/>
              </a:rPr>
              <a:t>01</a:t>
            </a:r>
            <a:endParaRPr lang="en-US" sz="1800" dirty="0"/>
          </a:p>
        </p:txBody>
      </p:sp>
      <p:sp>
        <p:nvSpPr>
          <p:cNvPr id="6" name="Text 4"/>
          <p:cNvSpPr/>
          <p:nvPr/>
        </p:nvSpPr>
        <p:spPr>
          <a:xfrm>
            <a:off x="1131625" y="3674467"/>
            <a:ext cx="2904559"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latin typeface="Arial" pitchFamily="34" charset="0"/>
                <a:ea typeface="Arial" pitchFamily="34" charset="-122"/>
                <a:cs typeface="Arial" pitchFamily="34" charset="-120"/>
              </a:rPr>
              <a:t>Ingestion</a:t>
            </a:r>
            <a:endParaRPr lang="en-US" sz="2100" dirty="0"/>
          </a:p>
        </p:txBody>
      </p:sp>
      <p:sp>
        <p:nvSpPr>
          <p:cNvPr id="7" name="Text 5"/>
          <p:cNvSpPr/>
          <p:nvPr/>
        </p:nvSpPr>
        <p:spPr>
          <a:xfrm>
            <a:off x="4196259" y="3452217"/>
            <a:ext cx="361950" cy="406400"/>
          </a:xfrm>
          <a:prstGeom prst="rect">
            <a:avLst/>
          </a:prstGeom>
          <a:noFill/>
          <a:ln/>
        </p:spPr>
        <p:txBody>
          <a:bodyPr wrap="square" lIns="25400" tIns="25400" rIns="25400" bIns="25400" rtlCol="0" anchor="t">
            <a:normAutofit/>
          </a:bodyPr>
          <a:lstStyle/>
          <a:p>
            <a:pPr algn="l" indent="0" marL="0">
              <a:buNone/>
            </a:pPr>
            <a:r>
              <a:rPr lang="en-US" sz="2250" dirty="0">
                <a:solidFill>
                  <a:srgbClr val="56DBDB"/>
                </a:solidFill>
                <a:latin typeface="Arial" pitchFamily="34" charset="0"/>
                <a:ea typeface="Arial" pitchFamily="34" charset="-122"/>
                <a:cs typeface="Arial" pitchFamily="34" charset="-120"/>
              </a:rPr>
              <a:t>→</a:t>
            </a:r>
            <a:endParaRPr lang="en-US" sz="2250" dirty="0"/>
          </a:p>
        </p:txBody>
      </p:sp>
      <p:sp>
        <p:nvSpPr>
          <p:cNvPr id="8" name="Shape 6"/>
          <p:cNvSpPr/>
          <p:nvPr/>
        </p:nvSpPr>
        <p:spPr>
          <a:xfrm>
            <a:off x="4577259" y="3039467"/>
            <a:ext cx="3034308" cy="1193800"/>
          </a:xfrm>
          <a:prstGeom prst="roundRect">
            <a:avLst>
              <a:gd name="adj" fmla="val 11170"/>
            </a:avLst>
          </a:prstGeom>
          <a:solidFill>
            <a:srgbClr val="FFFFFF">
              <a:alpha val="3000"/>
            </a:srgbClr>
          </a:solidFill>
          <a:ln w="6350">
            <a:solidFill>
              <a:srgbClr val="FFFFFF">
                <a:alpha val="10000"/>
              </a:srgbClr>
            </a:solidFill>
            <a:prstDash val="solid"/>
          </a:ln>
        </p:spPr>
      </p:sp>
      <p:sp>
        <p:nvSpPr>
          <p:cNvPr id="9" name="Text 7"/>
          <p:cNvSpPr/>
          <p:nvPr/>
        </p:nvSpPr>
        <p:spPr>
          <a:xfrm>
            <a:off x="4642078" y="3293467"/>
            <a:ext cx="2904669"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56DBDB"/>
                </a:solidFill>
                <a:latin typeface="Courier New" pitchFamily="34" charset="0"/>
                <a:ea typeface="Courier New" pitchFamily="34" charset="-122"/>
                <a:cs typeface="Courier New" pitchFamily="34" charset="-120"/>
              </a:rPr>
              <a:t>02</a:t>
            </a:r>
            <a:endParaRPr lang="en-US" sz="1800" dirty="0"/>
          </a:p>
        </p:txBody>
      </p:sp>
      <p:sp>
        <p:nvSpPr>
          <p:cNvPr id="10" name="Text 8"/>
          <p:cNvSpPr/>
          <p:nvPr/>
        </p:nvSpPr>
        <p:spPr>
          <a:xfrm>
            <a:off x="4642078" y="3674467"/>
            <a:ext cx="2904669"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latin typeface="Arial" pitchFamily="34" charset="0"/>
                <a:ea typeface="Arial" pitchFamily="34" charset="-122"/>
                <a:cs typeface="Arial" pitchFamily="34" charset="-120"/>
              </a:rPr>
              <a:t>Stockage</a:t>
            </a:r>
            <a:endParaRPr lang="en-US" sz="2100" dirty="0"/>
          </a:p>
        </p:txBody>
      </p:sp>
      <p:sp>
        <p:nvSpPr>
          <p:cNvPr id="11" name="Text 9"/>
          <p:cNvSpPr/>
          <p:nvPr/>
        </p:nvSpPr>
        <p:spPr>
          <a:xfrm>
            <a:off x="7706817" y="3452217"/>
            <a:ext cx="361950" cy="406400"/>
          </a:xfrm>
          <a:prstGeom prst="rect">
            <a:avLst/>
          </a:prstGeom>
          <a:noFill/>
          <a:ln/>
        </p:spPr>
        <p:txBody>
          <a:bodyPr wrap="square" lIns="25400" tIns="25400" rIns="25400" bIns="25400" rtlCol="0" anchor="t">
            <a:normAutofit/>
          </a:bodyPr>
          <a:lstStyle/>
          <a:p>
            <a:pPr algn="l" indent="0" marL="0">
              <a:buNone/>
            </a:pPr>
            <a:r>
              <a:rPr lang="en-US" sz="2250" dirty="0">
                <a:solidFill>
                  <a:srgbClr val="56DBDB"/>
                </a:solidFill>
                <a:latin typeface="Arial" pitchFamily="34" charset="0"/>
                <a:ea typeface="Arial" pitchFamily="34" charset="-122"/>
                <a:cs typeface="Arial" pitchFamily="34" charset="-120"/>
              </a:rPr>
              <a:t>→</a:t>
            </a:r>
            <a:endParaRPr lang="en-US" sz="2250" dirty="0"/>
          </a:p>
        </p:txBody>
      </p:sp>
      <p:sp>
        <p:nvSpPr>
          <p:cNvPr id="12" name="Shape 10"/>
          <p:cNvSpPr/>
          <p:nvPr/>
        </p:nvSpPr>
        <p:spPr>
          <a:xfrm>
            <a:off x="8087817" y="3039467"/>
            <a:ext cx="3034209" cy="1193800"/>
          </a:xfrm>
          <a:prstGeom prst="roundRect">
            <a:avLst>
              <a:gd name="adj" fmla="val 11170"/>
            </a:avLst>
          </a:prstGeom>
          <a:solidFill>
            <a:srgbClr val="FFFFFF">
              <a:alpha val="3000"/>
            </a:srgbClr>
          </a:solidFill>
          <a:ln w="6350">
            <a:solidFill>
              <a:srgbClr val="7BE2E2">
                <a:alpha val="41000"/>
              </a:srgbClr>
            </a:solidFill>
            <a:prstDash val="solid"/>
          </a:ln>
        </p:spPr>
      </p:sp>
      <p:sp>
        <p:nvSpPr>
          <p:cNvPr id="13" name="Text 11"/>
          <p:cNvSpPr/>
          <p:nvPr/>
        </p:nvSpPr>
        <p:spPr>
          <a:xfrm>
            <a:off x="8152641" y="3293467"/>
            <a:ext cx="2904559"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56DBDB"/>
                </a:solidFill>
                <a:latin typeface="Courier New" pitchFamily="34" charset="0"/>
                <a:ea typeface="Courier New" pitchFamily="34" charset="-122"/>
                <a:cs typeface="Courier New" pitchFamily="34" charset="-120"/>
              </a:rPr>
              <a:t>03</a:t>
            </a:r>
            <a:endParaRPr lang="en-US" sz="1800" dirty="0"/>
          </a:p>
        </p:txBody>
      </p:sp>
      <p:sp>
        <p:nvSpPr>
          <p:cNvPr id="14" name="Text 12"/>
          <p:cNvSpPr/>
          <p:nvPr/>
        </p:nvSpPr>
        <p:spPr>
          <a:xfrm>
            <a:off x="8152641" y="3674467"/>
            <a:ext cx="2904559"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latin typeface="Arial" pitchFamily="34" charset="0"/>
                <a:ea typeface="Arial" pitchFamily="34" charset="-122"/>
                <a:cs typeface="Arial" pitchFamily="34" charset="-120"/>
              </a:rPr>
              <a:t>Traitement</a:t>
            </a:r>
            <a:endParaRPr lang="en-US" sz="2100" dirty="0"/>
          </a:p>
        </p:txBody>
      </p:sp>
      <p:sp>
        <p:nvSpPr>
          <p:cNvPr id="15" name="Text 13"/>
          <p:cNvSpPr/>
          <p:nvPr/>
        </p:nvSpPr>
        <p:spPr>
          <a:xfrm>
            <a:off x="11217276" y="3452217"/>
            <a:ext cx="361950" cy="406400"/>
          </a:xfrm>
          <a:prstGeom prst="rect">
            <a:avLst/>
          </a:prstGeom>
          <a:noFill/>
          <a:ln/>
        </p:spPr>
        <p:txBody>
          <a:bodyPr wrap="square" lIns="25400" tIns="25400" rIns="25400" bIns="25400" rtlCol="0" anchor="t">
            <a:normAutofit/>
          </a:bodyPr>
          <a:lstStyle/>
          <a:p>
            <a:pPr algn="l" indent="0" marL="0">
              <a:buNone/>
            </a:pPr>
            <a:r>
              <a:rPr lang="en-US" sz="2250" dirty="0">
                <a:solidFill>
                  <a:srgbClr val="56DBDB"/>
                </a:solidFill>
                <a:latin typeface="Arial" pitchFamily="34" charset="0"/>
                <a:ea typeface="Arial" pitchFamily="34" charset="-122"/>
                <a:cs typeface="Arial" pitchFamily="34" charset="-120"/>
              </a:rPr>
              <a:t>→</a:t>
            </a:r>
            <a:endParaRPr lang="en-US" sz="2250" dirty="0"/>
          </a:p>
        </p:txBody>
      </p:sp>
      <p:sp>
        <p:nvSpPr>
          <p:cNvPr id="16" name="Shape 14"/>
          <p:cNvSpPr/>
          <p:nvPr/>
        </p:nvSpPr>
        <p:spPr>
          <a:xfrm>
            <a:off x="11598276" y="3039467"/>
            <a:ext cx="3034209" cy="1193800"/>
          </a:xfrm>
          <a:prstGeom prst="roundRect">
            <a:avLst>
              <a:gd name="adj" fmla="val 11170"/>
            </a:avLst>
          </a:prstGeom>
          <a:solidFill>
            <a:srgbClr val="FFFFFF">
              <a:alpha val="3000"/>
            </a:srgbClr>
          </a:solidFill>
          <a:ln w="6350">
            <a:solidFill>
              <a:srgbClr val="FFFFFF">
                <a:alpha val="10000"/>
              </a:srgbClr>
            </a:solidFill>
            <a:prstDash val="solid"/>
          </a:ln>
        </p:spPr>
      </p:sp>
      <p:sp>
        <p:nvSpPr>
          <p:cNvPr id="17" name="Text 15"/>
          <p:cNvSpPr/>
          <p:nvPr/>
        </p:nvSpPr>
        <p:spPr>
          <a:xfrm>
            <a:off x="11663100" y="3293467"/>
            <a:ext cx="2904559"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56DBDB"/>
                </a:solidFill>
                <a:latin typeface="Courier New" pitchFamily="34" charset="0"/>
                <a:ea typeface="Courier New" pitchFamily="34" charset="-122"/>
                <a:cs typeface="Courier New" pitchFamily="34" charset="-120"/>
              </a:rPr>
              <a:t>04</a:t>
            </a:r>
            <a:endParaRPr lang="en-US" sz="1800" dirty="0"/>
          </a:p>
        </p:txBody>
      </p:sp>
      <p:sp>
        <p:nvSpPr>
          <p:cNvPr id="18" name="Text 16"/>
          <p:cNvSpPr/>
          <p:nvPr/>
        </p:nvSpPr>
        <p:spPr>
          <a:xfrm>
            <a:off x="11663100" y="3674467"/>
            <a:ext cx="2904559"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latin typeface="Arial" pitchFamily="34" charset="0"/>
                <a:ea typeface="Arial" pitchFamily="34" charset="-122"/>
                <a:cs typeface="Arial" pitchFamily="34" charset="-120"/>
              </a:rPr>
              <a:t>Analyse &amp; viz</a:t>
            </a:r>
            <a:endParaRPr lang="en-US" sz="2100" dirty="0"/>
          </a:p>
        </p:txBody>
      </p:sp>
      <p:sp>
        <p:nvSpPr>
          <p:cNvPr id="19" name="Text 17"/>
          <p:cNvSpPr/>
          <p:nvPr/>
        </p:nvSpPr>
        <p:spPr>
          <a:xfrm>
            <a:off x="14727734" y="3452217"/>
            <a:ext cx="361950" cy="406400"/>
          </a:xfrm>
          <a:prstGeom prst="rect">
            <a:avLst/>
          </a:prstGeom>
          <a:noFill/>
          <a:ln/>
        </p:spPr>
        <p:txBody>
          <a:bodyPr wrap="square" lIns="25400" tIns="25400" rIns="25400" bIns="25400" rtlCol="0" anchor="t">
            <a:normAutofit/>
          </a:bodyPr>
          <a:lstStyle/>
          <a:p>
            <a:pPr algn="l" indent="0" marL="0">
              <a:buNone/>
            </a:pPr>
            <a:r>
              <a:rPr lang="en-US" sz="2250" dirty="0">
                <a:solidFill>
                  <a:srgbClr val="8EA0B5"/>
                </a:solidFill>
                <a:latin typeface="Arial" pitchFamily="34" charset="0"/>
                <a:ea typeface="Arial" pitchFamily="34" charset="-122"/>
                <a:cs typeface="Arial" pitchFamily="34" charset="-120"/>
              </a:rPr>
              <a:t>→</a:t>
            </a:r>
            <a:endParaRPr lang="en-US" sz="2250" dirty="0"/>
          </a:p>
        </p:txBody>
      </p:sp>
      <p:sp>
        <p:nvSpPr>
          <p:cNvPr id="20" name="Text 18"/>
          <p:cNvSpPr/>
          <p:nvPr/>
        </p:nvSpPr>
        <p:spPr>
          <a:xfrm>
            <a:off x="15003110" y="3483967"/>
            <a:ext cx="2323713"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FFB46E"/>
                </a:solidFill>
                <a:latin typeface="Arial" pitchFamily="34" charset="0"/>
                <a:ea typeface="Arial" pitchFamily="34" charset="-122"/>
                <a:cs typeface="Arial" pitchFamily="34" charset="-120"/>
              </a:rPr>
              <a:t>Décision</a:t>
            </a:r>
            <a:endParaRPr lang="en-US" sz="2100" dirty="0"/>
          </a:p>
        </p:txBody>
      </p:sp>
      <p:sp>
        <p:nvSpPr>
          <p:cNvPr id="21" name="Shape 19"/>
          <p:cNvSpPr/>
          <p:nvPr/>
        </p:nvSpPr>
        <p:spPr>
          <a:xfrm>
            <a:off x="1066800" y="4728567"/>
            <a:ext cx="3910013" cy="2335213"/>
          </a:xfrm>
          <a:prstGeom prst="roundRect">
            <a:avLst>
              <a:gd name="adj" fmla="val 6526"/>
            </a:avLst>
          </a:prstGeom>
          <a:solidFill>
            <a:srgbClr val="FFFFFF">
              <a:alpha val="3000"/>
            </a:srgbClr>
          </a:solidFill>
          <a:ln w="6350">
            <a:solidFill>
              <a:srgbClr val="FFFFFF">
                <a:alpha val="10000"/>
              </a:srgbClr>
            </a:solidFill>
            <a:prstDash val="solid"/>
          </a:ln>
        </p:spPr>
      </p:sp>
      <p:sp>
        <p:nvSpPr>
          <p:cNvPr id="22" name="Text 20"/>
          <p:cNvSpPr/>
          <p:nvPr/>
        </p:nvSpPr>
        <p:spPr>
          <a:xfrm>
            <a:off x="1339850" y="5020667"/>
            <a:ext cx="3700304"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56DBDB"/>
                </a:solidFill>
                <a:latin typeface="Arial" pitchFamily="34" charset="0"/>
                <a:ea typeface="Arial" pitchFamily="34" charset="-122"/>
                <a:cs typeface="Arial" pitchFamily="34" charset="-120"/>
              </a:rPr>
              <a:t>Data Engineer</a:t>
            </a:r>
            <a:endParaRPr lang="en-US" sz="2175" dirty="0"/>
          </a:p>
        </p:txBody>
      </p:sp>
      <p:sp>
        <p:nvSpPr>
          <p:cNvPr id="23" name="Text 21"/>
          <p:cNvSpPr/>
          <p:nvPr/>
        </p:nvSpPr>
        <p:spPr>
          <a:xfrm>
            <a:off x="1339850" y="5446118"/>
            <a:ext cx="3464830" cy="1363663"/>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Construit et maintient l'infrastructure : collecte, stockage, intégration, prétraitement.</a:t>
            </a:r>
            <a:endParaRPr lang="en-US" sz="1800" dirty="0"/>
          </a:p>
        </p:txBody>
      </p:sp>
      <p:sp>
        <p:nvSpPr>
          <p:cNvPr id="24" name="Shape 22"/>
          <p:cNvSpPr/>
          <p:nvPr/>
        </p:nvSpPr>
        <p:spPr>
          <a:xfrm>
            <a:off x="5148263" y="4728567"/>
            <a:ext cx="3910013" cy="2335213"/>
          </a:xfrm>
          <a:prstGeom prst="roundRect">
            <a:avLst>
              <a:gd name="adj" fmla="val 6526"/>
            </a:avLst>
          </a:prstGeom>
          <a:solidFill>
            <a:srgbClr val="FFFFFF">
              <a:alpha val="3000"/>
            </a:srgbClr>
          </a:solidFill>
          <a:ln w="6350">
            <a:solidFill>
              <a:srgbClr val="FFFFFF">
                <a:alpha val="10000"/>
              </a:srgbClr>
            </a:solidFill>
            <a:prstDash val="solid"/>
          </a:ln>
        </p:spPr>
      </p:sp>
      <p:sp>
        <p:nvSpPr>
          <p:cNvPr id="25" name="Text 23"/>
          <p:cNvSpPr/>
          <p:nvPr/>
        </p:nvSpPr>
        <p:spPr>
          <a:xfrm>
            <a:off x="5421313" y="5020667"/>
            <a:ext cx="3700304"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56DBDB"/>
                </a:solidFill>
                <a:latin typeface="Arial" pitchFamily="34" charset="0"/>
                <a:ea typeface="Arial" pitchFamily="34" charset="-122"/>
                <a:cs typeface="Arial" pitchFamily="34" charset="-120"/>
              </a:rPr>
              <a:t>Data Analyst</a:t>
            </a:r>
            <a:endParaRPr lang="en-US" sz="2175" dirty="0"/>
          </a:p>
        </p:txBody>
      </p:sp>
      <p:sp>
        <p:nvSpPr>
          <p:cNvPr id="26" name="Text 24"/>
          <p:cNvSpPr/>
          <p:nvPr/>
        </p:nvSpPr>
        <p:spPr>
          <a:xfrm>
            <a:off x="5421313" y="5446118"/>
            <a:ext cx="3464830" cy="1032272"/>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Manipule les données préparées, produit analyses statistiques et rapports.</a:t>
            </a:r>
            <a:endParaRPr lang="en-US" sz="1800" dirty="0"/>
          </a:p>
        </p:txBody>
      </p:sp>
      <p:sp>
        <p:nvSpPr>
          <p:cNvPr id="27" name="Shape 25"/>
          <p:cNvSpPr/>
          <p:nvPr/>
        </p:nvSpPr>
        <p:spPr>
          <a:xfrm>
            <a:off x="9229725" y="4728567"/>
            <a:ext cx="3910013" cy="2335213"/>
          </a:xfrm>
          <a:prstGeom prst="roundRect">
            <a:avLst>
              <a:gd name="adj" fmla="val 6526"/>
            </a:avLst>
          </a:prstGeom>
          <a:solidFill>
            <a:srgbClr val="FFFFFF">
              <a:alpha val="3000"/>
            </a:srgbClr>
          </a:solidFill>
          <a:ln w="6350">
            <a:solidFill>
              <a:srgbClr val="FFFFFF">
                <a:alpha val="10000"/>
              </a:srgbClr>
            </a:solidFill>
            <a:prstDash val="solid"/>
          </a:ln>
        </p:spPr>
      </p:sp>
      <p:sp>
        <p:nvSpPr>
          <p:cNvPr id="28" name="Text 26"/>
          <p:cNvSpPr/>
          <p:nvPr/>
        </p:nvSpPr>
        <p:spPr>
          <a:xfrm>
            <a:off x="9502775" y="5020667"/>
            <a:ext cx="3700304"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56DBDB"/>
                </a:solidFill>
                <a:latin typeface="Arial" pitchFamily="34" charset="0"/>
                <a:ea typeface="Arial" pitchFamily="34" charset="-122"/>
                <a:cs typeface="Arial" pitchFamily="34" charset="-120"/>
              </a:rPr>
              <a:t>Data Scientist</a:t>
            </a:r>
            <a:endParaRPr lang="en-US" sz="2175" dirty="0"/>
          </a:p>
        </p:txBody>
      </p:sp>
      <p:sp>
        <p:nvSpPr>
          <p:cNvPr id="29" name="Text 27"/>
          <p:cNvSpPr/>
          <p:nvPr/>
        </p:nvSpPr>
        <p:spPr>
          <a:xfrm>
            <a:off x="9502775" y="5446118"/>
            <a:ext cx="3464830" cy="1363663"/>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Développe des modèles prédictifs avancés (apprentissage automatique, IA).</a:t>
            </a:r>
            <a:endParaRPr lang="en-US" sz="1800" dirty="0"/>
          </a:p>
        </p:txBody>
      </p:sp>
      <p:sp>
        <p:nvSpPr>
          <p:cNvPr id="30" name="Shape 28"/>
          <p:cNvSpPr/>
          <p:nvPr/>
        </p:nvSpPr>
        <p:spPr>
          <a:xfrm>
            <a:off x="13311188" y="4728567"/>
            <a:ext cx="3910013" cy="2335213"/>
          </a:xfrm>
          <a:prstGeom prst="roundRect">
            <a:avLst>
              <a:gd name="adj" fmla="val 6526"/>
            </a:avLst>
          </a:prstGeom>
          <a:solidFill>
            <a:srgbClr val="FFFFFF">
              <a:alpha val="3000"/>
            </a:srgbClr>
          </a:solidFill>
          <a:ln w="6350">
            <a:solidFill>
              <a:srgbClr val="FFFFFF">
                <a:alpha val="10000"/>
              </a:srgbClr>
            </a:solidFill>
            <a:prstDash val="solid"/>
          </a:ln>
        </p:spPr>
      </p:sp>
      <p:sp>
        <p:nvSpPr>
          <p:cNvPr id="31" name="Text 29"/>
          <p:cNvSpPr/>
          <p:nvPr/>
        </p:nvSpPr>
        <p:spPr>
          <a:xfrm>
            <a:off x="13584238" y="5020667"/>
            <a:ext cx="3700304"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56DBDB"/>
                </a:solidFill>
                <a:latin typeface="Arial" pitchFamily="34" charset="0"/>
                <a:ea typeface="Arial" pitchFamily="34" charset="-122"/>
                <a:cs typeface="Arial" pitchFamily="34" charset="-120"/>
              </a:rPr>
              <a:t>ML Engineer</a:t>
            </a:r>
            <a:endParaRPr lang="en-US" sz="2175" dirty="0"/>
          </a:p>
        </p:txBody>
      </p:sp>
      <p:sp>
        <p:nvSpPr>
          <p:cNvPr id="32" name="Text 30"/>
          <p:cNvSpPr/>
          <p:nvPr/>
        </p:nvSpPr>
        <p:spPr>
          <a:xfrm>
            <a:off x="13584238" y="5446118"/>
            <a:ext cx="3464830" cy="1032272"/>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Industrialise et déploie en production les modèles conçus par le Data Scientist.</a:t>
            </a:r>
            <a:endParaRPr lang="en-US" sz="1800" dirty="0"/>
          </a:p>
        </p:txBody>
      </p:sp>
      <p:sp>
        <p:nvSpPr>
          <p:cNvPr id="33" name="Text 31"/>
          <p:cNvSpPr/>
          <p:nvPr/>
        </p:nvSpPr>
        <p:spPr>
          <a:xfrm>
            <a:off x="1066800" y="7311430"/>
            <a:ext cx="17769840"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Ce module place l'étudiant côté </a:t>
            </a:r>
            <a:pPr algn="l" indent="0" marL="0">
              <a:buNone/>
            </a:pPr>
            <a:r>
              <a:rPr lang="en-US" sz="1875" dirty="0">
                <a:solidFill>
                  <a:srgbClr val="EEF3F9"/>
                </a:solidFill>
                <a:latin typeface="Arial" pitchFamily="34" charset="0"/>
                <a:ea typeface="Arial" pitchFamily="34" charset="-122"/>
                <a:cs typeface="Arial" pitchFamily="34" charset="-120"/>
              </a:rPr>
              <a:t>Data Engineer </a:t>
            </a:r>
            <a:pPr algn="l" indent="0" marL="0">
              <a:buNone/>
            </a:pPr>
            <a:r>
              <a:rPr lang="en-US" sz="1875" dirty="0">
                <a:solidFill>
                  <a:srgbClr val="8EA0B5"/>
                </a:solidFill>
                <a:latin typeface="Arial" pitchFamily="34" charset="0"/>
                <a:ea typeface="Arial" pitchFamily="34" charset="-122"/>
                <a:cs typeface="Arial" pitchFamily="34" charset="-120"/>
              </a:rPr>
              <a:t>(Docker, Spark, EMR) puis </a:t>
            </a:r>
            <a:pPr algn="l" indent="0" marL="0">
              <a:buNone/>
            </a:pPr>
            <a:r>
              <a:rPr lang="en-US" sz="1875" dirty="0">
                <a:solidFill>
                  <a:srgbClr val="EEF3F9"/>
                </a:solidFill>
                <a:latin typeface="Arial" pitchFamily="34" charset="0"/>
                <a:ea typeface="Arial" pitchFamily="34" charset="-122"/>
                <a:cs typeface="Arial" pitchFamily="34" charset="-120"/>
              </a:rPr>
              <a:t>Data Analyst </a:t>
            </a:r>
            <a:pPr algn="l" indent="0" marL="0">
              <a:buNone/>
            </a:pPr>
            <a:r>
              <a:rPr lang="en-US" sz="1875" dirty="0">
                <a:solidFill>
                  <a:srgbClr val="8EA0B5"/>
                </a:solidFill>
                <a:latin typeface="Arial" pitchFamily="34" charset="0"/>
                <a:ea typeface="Arial" pitchFamily="34" charset="-122"/>
                <a:cs typeface="Arial" pitchFamily="34" charset="-120"/>
              </a:rPr>
              <a:t>(requêtes et agrégations).</a:t>
            </a:r>
            <a:endParaRPr lang="en-US" sz="18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01 · PRATIQUE</a:t>
            </a:r>
            <a:endParaRPr lang="en-US" sz="1800" dirty="0"/>
          </a:p>
        </p:txBody>
      </p:sp>
      <p:sp>
        <p:nvSpPr>
          <p:cNvPr id="3" name="Text 1"/>
          <p:cNvSpPr/>
          <p:nvPr/>
        </p:nvSpPr>
        <p:spPr>
          <a:xfrm>
            <a:off x="1066800" y="1314450"/>
            <a:ext cx="10476041"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Explorer un gros fichier en ligne de commande</a:t>
            </a:r>
            <a:endParaRPr lang="en-US" sz="4800" dirty="0"/>
          </a:p>
        </p:txBody>
      </p:sp>
      <p:sp>
        <p:nvSpPr>
          <p:cNvPr id="4" name="Shape 2"/>
          <p:cNvSpPr/>
          <p:nvPr/>
        </p:nvSpPr>
        <p:spPr>
          <a:xfrm>
            <a:off x="1066800" y="3001367"/>
            <a:ext cx="9503371" cy="6466483"/>
          </a:xfrm>
          <a:prstGeom prst="roundRect">
            <a:avLst>
              <a:gd name="adj" fmla="val 2357"/>
            </a:avLst>
          </a:prstGeom>
          <a:solidFill>
            <a:srgbClr val="06090E"/>
          </a:solidFill>
          <a:ln w="6350">
            <a:solidFill>
              <a:srgbClr val="FFFFFF">
                <a:alpha val="10000"/>
              </a:srgbClr>
            </a:solidFill>
            <a:prstDash val="solid"/>
          </a:ln>
        </p:spPr>
      </p:sp>
      <p:sp>
        <p:nvSpPr>
          <p:cNvPr id="5" name="Shape 3"/>
          <p:cNvSpPr/>
          <p:nvPr/>
        </p:nvSpPr>
        <p:spPr>
          <a:xfrm>
            <a:off x="1073150" y="3617317"/>
            <a:ext cx="9490671" cy="9525"/>
          </a:xfrm>
          <a:prstGeom prst="rect">
            <a:avLst/>
          </a:prstGeom>
          <a:solidFill>
            <a:srgbClr val="FFFFFF">
              <a:alpha val="6000"/>
            </a:srgbClr>
          </a:solidFill>
          <a:ln/>
        </p:spPr>
      </p:sp>
      <p:sp>
        <p:nvSpPr>
          <p:cNvPr id="6" name="Shape 4"/>
          <p:cNvSpPr/>
          <p:nvPr/>
        </p:nvSpPr>
        <p:spPr>
          <a:xfrm>
            <a:off x="1282700" y="3250605"/>
            <a:ext cx="123825" cy="123825"/>
          </a:xfrm>
          <a:prstGeom prst="ellipse">
            <a:avLst/>
          </a:prstGeom>
          <a:solidFill>
            <a:srgbClr val="FF5F57"/>
          </a:solidFill>
          <a:ln/>
        </p:spPr>
      </p:sp>
      <p:sp>
        <p:nvSpPr>
          <p:cNvPr id="7" name="Shape 5"/>
          <p:cNvSpPr/>
          <p:nvPr/>
        </p:nvSpPr>
        <p:spPr>
          <a:xfrm>
            <a:off x="1501775" y="3250605"/>
            <a:ext cx="123825" cy="123825"/>
          </a:xfrm>
          <a:prstGeom prst="ellipse">
            <a:avLst/>
          </a:prstGeom>
          <a:solidFill>
            <a:srgbClr val="FEBC2E"/>
          </a:solidFill>
          <a:ln/>
        </p:spPr>
      </p:sp>
      <p:sp>
        <p:nvSpPr>
          <p:cNvPr id="8" name="Shape 6"/>
          <p:cNvSpPr/>
          <p:nvPr/>
        </p:nvSpPr>
        <p:spPr>
          <a:xfrm>
            <a:off x="1720850" y="3250605"/>
            <a:ext cx="123825" cy="123825"/>
          </a:xfrm>
          <a:prstGeom prst="ellipse">
            <a:avLst/>
          </a:prstGeom>
          <a:solidFill>
            <a:srgbClr val="28C840"/>
          </a:solidFill>
          <a:ln/>
        </p:spPr>
      </p:sp>
      <p:sp>
        <p:nvSpPr>
          <p:cNvPr id="9" name="Text 7"/>
          <p:cNvSpPr/>
          <p:nvPr/>
        </p:nvSpPr>
        <p:spPr>
          <a:xfrm>
            <a:off x="2054225" y="3160117"/>
            <a:ext cx="301752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bash — purchases.txt</a:t>
            </a:r>
            <a:endParaRPr lang="en-US" sz="1800" dirty="0"/>
          </a:p>
        </p:txBody>
      </p:sp>
      <p:sp>
        <p:nvSpPr>
          <p:cNvPr id="10" name="Text 8"/>
          <p:cNvSpPr/>
          <p:nvPr/>
        </p:nvSpPr>
        <p:spPr>
          <a:xfrm>
            <a:off x="1358900" y="3890367"/>
            <a:ext cx="9203891" cy="3934619"/>
          </a:xfrm>
          <a:prstGeom prst="rect">
            <a:avLst/>
          </a:prstGeom>
          <a:noFill/>
          <a:ln/>
        </p:spPr>
        <p:txBody>
          <a:bodyPr wrap="none" lIns="25400" tIns="25400" rIns="25400" bIns="25400" rtlCol="0" anchor="t">
            <a:normAutofit/>
          </a:bodyPr>
          <a:lstStyle/>
          <a:p>
            <a:pPr algn="l" indent="0" marL="0">
              <a:lnSpc>
                <a:spcPct val="156250"/>
              </a:lnSpc>
              <a:buNone/>
            </a:pPr>
            <a:r>
              <a:rPr lang="en-US" sz="1875" dirty="0">
                <a:solidFill>
                  <a:srgbClr val="8EA0B5"/>
                </a:solidFill>
                <a:latin typeface="Courier New" pitchFamily="34" charset="0"/>
                <a:ea typeface="Courier New" pitchFamily="34" charset="-122"/>
                <a:cs typeface="Courier New" pitchFamily="34" charset="-120"/>
              </a:rPr>
              <a:t># télécharger et décompresser</a:t>
            </a:r>
            <a:pPr algn="l" indent="0" marL="0">
              <a:lnSpc>
                <a:spcPct val="156250"/>
              </a:lnSpc>
              <a:buNone/>
            </a:pPr>
            <a:r>
              <a:rPr lang="en-US" sz="1875" dirty="0">
                <a:solidFill>
                  <a:srgbClr val="56DBDB"/>
                </a:solidFill>
                <a:latin typeface="Courier New" pitchFamily="34" charset="0"/>
                <a:ea typeface="Courier New" pitchFamily="34" charset="-122"/>
                <a:cs typeface="Courier New" pitchFamily="34" charset="-120"/>
              </a:rPr>
              <a:t>wget</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https://.../purchases.txt.gz </a:t>
            </a:r>
            <a:pPr algn="l" indent="0" marL="0">
              <a:lnSpc>
                <a:spcPct val="156250"/>
              </a:lnSpc>
              <a:buNone/>
            </a:pPr>
            <a:r>
              <a:rPr lang="en-US" sz="1875" dirty="0">
                <a:solidFill>
                  <a:srgbClr val="56DBDB"/>
                </a:solidFill>
                <a:latin typeface="Courier New" pitchFamily="34" charset="0"/>
                <a:ea typeface="Courier New" pitchFamily="34" charset="-122"/>
                <a:cs typeface="Courier New" pitchFamily="34" charset="-120"/>
              </a:rPr>
              <a:t>gunzip</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purchases.txt.gz </a:t>
            </a:r>
            <a:pPr algn="l" indent="0" marL="0">
              <a:lnSpc>
                <a:spcPct val="156250"/>
              </a:lnSpc>
              <a:buNone/>
            </a:pPr>
            <a:r>
              <a:rPr lang="en-US" sz="1875" dirty="0">
                <a:solidFill>
                  <a:srgbClr val="8EA0B5"/>
                </a:solidFill>
                <a:latin typeface="Courier New" pitchFamily="34" charset="0"/>
                <a:ea typeface="Courier New" pitchFamily="34" charset="-122"/>
                <a:cs typeface="Courier New" pitchFamily="34" charset="-120"/>
              </a:rPr>
              <a:t># taille et nombre de lignes</a:t>
            </a:r>
            <a:pPr algn="l" indent="0" marL="0">
              <a:lnSpc>
                <a:spcPct val="156250"/>
              </a:lnSpc>
              <a:buNone/>
            </a:pPr>
            <a:r>
              <a:rPr lang="en-US" sz="1875" dirty="0">
                <a:solidFill>
                  <a:srgbClr val="56DBDB"/>
                </a:solidFill>
                <a:latin typeface="Courier New" pitchFamily="34" charset="0"/>
                <a:ea typeface="Courier New" pitchFamily="34" charset="-122"/>
                <a:cs typeface="Courier New" pitchFamily="34" charset="-120"/>
              </a:rPr>
              <a:t>ls</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-l purchases.txt </a:t>
            </a:r>
            <a:pPr algn="l" indent="0" marL="0">
              <a:lnSpc>
                <a:spcPct val="156250"/>
              </a:lnSpc>
              <a:buNone/>
            </a:pPr>
            <a:r>
              <a:rPr lang="en-US" sz="1875" dirty="0">
                <a:solidFill>
                  <a:srgbClr val="56DBDB"/>
                </a:solidFill>
                <a:latin typeface="Courier New" pitchFamily="34" charset="0"/>
                <a:ea typeface="Courier New" pitchFamily="34" charset="-122"/>
                <a:cs typeface="Courier New" pitchFamily="34" charset="-120"/>
              </a:rPr>
              <a:t>wc</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-l purchases.txt </a:t>
            </a:r>
            <a:pPr algn="l" indent="0" marL="0">
              <a:lnSpc>
                <a:spcPct val="156250"/>
              </a:lnSpc>
              <a:buNone/>
            </a:pPr>
            <a:r>
              <a:rPr lang="en-US" sz="1875" dirty="0">
                <a:solidFill>
                  <a:srgbClr val="8EA0B5"/>
                </a:solidFill>
                <a:latin typeface="Courier New" pitchFamily="34" charset="0"/>
                <a:ea typeface="Courier New" pitchFamily="34" charset="-122"/>
                <a:cs typeface="Courier New" pitchFamily="34" charset="-120"/>
              </a:rPr>
              <a:t># homogénéité du format</a:t>
            </a:r>
            <a:pPr algn="l" indent="0" marL="0">
              <a:lnSpc>
                <a:spcPct val="156250"/>
              </a:lnSpc>
              <a:buNone/>
            </a:pPr>
            <a:r>
              <a:rPr lang="en-US" sz="1875" dirty="0">
                <a:solidFill>
                  <a:srgbClr val="56DBDB"/>
                </a:solidFill>
                <a:latin typeface="Courier New" pitchFamily="34" charset="0"/>
                <a:ea typeface="Courier New" pitchFamily="34" charset="-122"/>
                <a:cs typeface="Courier New" pitchFamily="34" charset="-120"/>
              </a:rPr>
              <a:t>awk</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-F</a:t>
            </a:r>
            <a:pPr algn="l" indent="0" marL="0">
              <a:lnSpc>
                <a:spcPct val="156250"/>
              </a:lnSpc>
              <a:buNone/>
            </a:pPr>
            <a:r>
              <a:rPr lang="en-US" sz="1875" dirty="0">
                <a:solidFill>
                  <a:srgbClr val="FFB46E"/>
                </a:solidFill>
                <a:latin typeface="Courier New" pitchFamily="34" charset="0"/>
                <a:ea typeface="Courier New" pitchFamily="34" charset="-122"/>
                <a:cs typeface="Courier New" pitchFamily="34" charset="-120"/>
              </a:rPr>
              <a:t>'\t'</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56250"/>
              </a:lnSpc>
              <a:buNone/>
            </a:pPr>
            <a:r>
              <a:rPr lang="en-US" sz="1875" dirty="0">
                <a:solidFill>
                  <a:srgbClr val="FFB46E"/>
                </a:solidFill>
                <a:latin typeface="Courier New" pitchFamily="34" charset="0"/>
                <a:ea typeface="Courier New" pitchFamily="34" charset="-122"/>
                <a:cs typeface="Courier New" pitchFamily="34" charset="-120"/>
              </a:rPr>
              <a:t>'{print NF}'</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purchases.txt | </a:t>
            </a:r>
            <a:pPr algn="l" indent="0" marL="0">
              <a:lnSpc>
                <a:spcPct val="156250"/>
              </a:lnSpc>
              <a:buNone/>
            </a:pPr>
            <a:r>
              <a:rPr lang="en-US" sz="1875" dirty="0">
                <a:solidFill>
                  <a:srgbClr val="56DBDB"/>
                </a:solidFill>
                <a:latin typeface="Courier New" pitchFamily="34" charset="0"/>
                <a:ea typeface="Courier New" pitchFamily="34" charset="-122"/>
                <a:cs typeface="Courier New" pitchFamily="34" charset="-120"/>
              </a:rPr>
              <a:t>sort</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-u </a:t>
            </a:r>
            <a:pPr algn="l" indent="0" marL="0">
              <a:lnSpc>
                <a:spcPct val="156250"/>
              </a:lnSpc>
              <a:buNone/>
            </a:pPr>
            <a:r>
              <a:rPr lang="en-US" sz="1875" dirty="0">
                <a:solidFill>
                  <a:srgbClr val="8EA0B5"/>
                </a:solidFill>
                <a:latin typeface="Courier New" pitchFamily="34" charset="0"/>
                <a:ea typeface="Courier New" pitchFamily="34" charset="-122"/>
                <a:cs typeface="Courier New" pitchFamily="34" charset="-120"/>
              </a:rPr>
              <a:t># valeurs distinctes d'une colonne</a:t>
            </a:r>
            <a:pPr algn="l" indent="0" marL="0">
              <a:lnSpc>
                <a:spcPct val="156250"/>
              </a:lnSpc>
              <a:buNone/>
            </a:pPr>
            <a:r>
              <a:rPr lang="en-US" sz="1875" dirty="0">
                <a:solidFill>
                  <a:srgbClr val="56DBDB"/>
                </a:solidFill>
                <a:latin typeface="Courier New" pitchFamily="34" charset="0"/>
                <a:ea typeface="Courier New" pitchFamily="34" charset="-122"/>
                <a:cs typeface="Courier New" pitchFamily="34" charset="-120"/>
              </a:rPr>
              <a:t>awk</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-F</a:t>
            </a:r>
            <a:pPr algn="l" indent="0" marL="0">
              <a:lnSpc>
                <a:spcPct val="156250"/>
              </a:lnSpc>
              <a:buNone/>
            </a:pPr>
            <a:r>
              <a:rPr lang="en-US" sz="1875" dirty="0">
                <a:solidFill>
                  <a:srgbClr val="FFB46E"/>
                </a:solidFill>
                <a:latin typeface="Courier New" pitchFamily="34" charset="0"/>
                <a:ea typeface="Courier New" pitchFamily="34" charset="-122"/>
                <a:cs typeface="Courier New" pitchFamily="34" charset="-120"/>
              </a:rPr>
              <a:t>'\t'</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56250"/>
              </a:lnSpc>
              <a:buNone/>
            </a:pPr>
            <a:r>
              <a:rPr lang="en-US" sz="1875" dirty="0">
                <a:solidFill>
                  <a:srgbClr val="FFB46E"/>
                </a:solidFill>
                <a:latin typeface="Courier New" pitchFamily="34" charset="0"/>
                <a:ea typeface="Courier New" pitchFamily="34" charset="-122"/>
                <a:cs typeface="Courier New" pitchFamily="34" charset="-120"/>
              </a:rPr>
              <a:t>'{print $6}'</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purchases.txt | </a:t>
            </a:r>
            <a:pPr algn="l" indent="0" marL="0">
              <a:lnSpc>
                <a:spcPct val="156250"/>
              </a:lnSpc>
              <a:buNone/>
            </a:pPr>
            <a:r>
              <a:rPr lang="en-US" sz="1875" dirty="0">
                <a:solidFill>
                  <a:srgbClr val="56DBDB"/>
                </a:solidFill>
                <a:latin typeface="Courier New" pitchFamily="34" charset="0"/>
                <a:ea typeface="Courier New" pitchFamily="34" charset="-122"/>
                <a:cs typeface="Courier New" pitchFamily="34" charset="-120"/>
              </a:rPr>
              <a:t>sort</a:t>
            </a:r>
            <a:pPr algn="l" indent="0" marL="0">
              <a:lnSpc>
                <a:spcPct val="156250"/>
              </a:lnSpc>
              <a:buNone/>
            </a:pPr>
            <a:r>
              <a:rPr lang="en-US" sz="1875" dirty="0">
                <a:solidFill>
                  <a:srgbClr val="CDD7E3"/>
                </a:solidFill>
                <a:latin typeface="Courier New" pitchFamily="34" charset="0"/>
                <a:ea typeface="Courier New" pitchFamily="34" charset="-122"/>
                <a:cs typeface="Courier New" pitchFamily="34" charset="-120"/>
              </a:rPr>
              <a:t> -u</a:t>
            </a:r>
            <a:endParaRPr lang="en-US" sz="1875" dirty="0"/>
          </a:p>
        </p:txBody>
      </p:sp>
      <p:sp>
        <p:nvSpPr>
          <p:cNvPr id="11" name="Text 9"/>
          <p:cNvSpPr/>
          <p:nvPr/>
        </p:nvSpPr>
        <p:spPr>
          <a:xfrm>
            <a:off x="10894021" y="4148137"/>
            <a:ext cx="6959898" cy="410468"/>
          </a:xfrm>
          <a:prstGeom prst="rect">
            <a:avLst/>
          </a:prstGeom>
          <a:noFill/>
          <a:ln/>
        </p:spPr>
        <p:txBody>
          <a:bodyPr wrap="square" lIns="25400" tIns="25400" rIns="25400" bIns="25400" rtlCol="0" anchor="t">
            <a:normAutofit/>
          </a:bodyPr>
          <a:lstStyle/>
          <a:p>
            <a:pPr algn="l" indent="0" marL="0">
              <a:lnSpc>
                <a:spcPct val="99407"/>
              </a:lnSpc>
              <a:buNone/>
            </a:pPr>
            <a:r>
              <a:rPr lang="en-US" sz="2550" b="1" dirty="0">
                <a:solidFill>
                  <a:srgbClr val="EEF3F9"/>
                </a:solidFill>
                <a:latin typeface="Arial" pitchFamily="34" charset="0"/>
                <a:ea typeface="Arial" pitchFamily="34" charset="-122"/>
                <a:cs typeface="Arial" pitchFamily="34" charset="-120"/>
              </a:rPr>
              <a:t>Limites d’un tableur</a:t>
            </a:r>
            <a:endParaRPr lang="en-US" sz="2550" dirty="0"/>
          </a:p>
        </p:txBody>
      </p:sp>
      <p:sp>
        <p:nvSpPr>
          <p:cNvPr id="12" name="Text 10"/>
          <p:cNvSpPr/>
          <p:nvPr/>
        </p:nvSpPr>
        <p:spPr>
          <a:xfrm>
            <a:off x="10894021" y="4787205"/>
            <a:ext cx="6516995" cy="9525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wc</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 </a:t>
            </a:r>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awk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et </a:t>
            </a:r>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sort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traitent le flux ligne par ligne — jamais tout le fichier en RAM.</a:t>
            </a:r>
            <a:endParaRPr lang="en-US" sz="2400" dirty="0"/>
          </a:p>
        </p:txBody>
      </p:sp>
      <p:sp>
        <p:nvSpPr>
          <p:cNvPr id="13" name="Text 11"/>
          <p:cNvSpPr/>
          <p:nvPr/>
        </p:nvSpPr>
        <p:spPr>
          <a:xfrm>
            <a:off x="10894021" y="5968305"/>
            <a:ext cx="6516995" cy="14097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Ils restent utilisables sur plusieurs centaines de Mo, là où un tableur charge tout avant d'afficher quoi que ce soit.</a:t>
            </a:r>
            <a:endParaRPr lang="en-US" sz="2400" dirty="0"/>
          </a:p>
        </p:txBody>
      </p:sp>
      <p:sp>
        <p:nvSpPr>
          <p:cNvPr id="14" name="Shape 12"/>
          <p:cNvSpPr/>
          <p:nvPr/>
        </p:nvSpPr>
        <p:spPr>
          <a:xfrm>
            <a:off x="10894021" y="7606605"/>
            <a:ext cx="25400" cy="714375"/>
          </a:xfrm>
          <a:prstGeom prst="rect">
            <a:avLst/>
          </a:prstGeom>
          <a:solidFill>
            <a:srgbClr val="56DBDB"/>
          </a:solidFill>
          <a:ln/>
        </p:spPr>
      </p:sp>
      <p:sp>
        <p:nvSpPr>
          <p:cNvPr id="15" name="Text 13"/>
          <p:cNvSpPr/>
          <p:nvPr/>
        </p:nvSpPr>
        <p:spPr>
          <a:xfrm>
            <a:off x="11128971" y="7606605"/>
            <a:ext cx="6282045" cy="752475"/>
          </a:xfrm>
          <a:prstGeom prst="rect">
            <a:avLst/>
          </a:prstGeom>
          <a:noFill/>
          <a:ln/>
        </p:spPr>
        <p:txBody>
          <a:bodyPr wrap="square" lIns="25400" tIns="25400" rIns="25400" bIns="25400" rtlCol="0" anchor="t">
            <a:normAutofit/>
          </a:bodyPr>
          <a:lstStyle/>
          <a:p>
            <a:pPr algn="l" indent="0" marL="0">
              <a:lnSpc>
                <a:spcPct val="130814"/>
              </a:lnSpc>
              <a:buNone/>
            </a:pPr>
            <a:r>
              <a:rPr lang="en-US" sz="1875" dirty="0">
                <a:solidFill>
                  <a:srgbClr val="8EA0B5"/>
                </a:solidFill>
                <a:latin typeface="Arial" pitchFamily="34" charset="0"/>
                <a:ea typeface="Arial" pitchFamily="34" charset="-122"/>
                <a:cs typeface="Arial" pitchFamily="34" charset="-120"/>
              </a:rPr>
              <a:t>Un premier aperçu, à petite échelle, du traitement par blocs des architectures distribuées.</a:t>
            </a:r>
            <a:endParaRPr lang="en-US" sz="18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C"/>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56DBDB"/>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56DBDB"/>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3362430" cy="342900"/>
          </a:xfrm>
          <a:prstGeom prst="rect">
            <a:avLst/>
          </a:prstGeom>
          <a:noFill/>
          <a:ln/>
        </p:spPr>
        <p:txBody>
          <a:bodyPr wrap="square" lIns="0" tIns="0" rIns="0" bIns="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QUIZ · ATELIER 01</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Testez vos connaissances</a:t>
            </a:r>
            <a:endParaRPr lang="en-US" sz="4800" dirty="0"/>
          </a:p>
        </p:txBody>
      </p:sp>
      <p:sp>
        <p:nvSpPr>
          <p:cNvPr id="6" name="Text 4"/>
          <p:cNvSpPr/>
          <p:nvPr/>
        </p:nvSpPr>
        <p:spPr>
          <a:xfrm>
            <a:off x="106680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Quelle affirmation décrit le mieux le Big Data ?</a:t>
            </a:r>
            <a:endParaRPr lang="en-US" sz="2175" dirty="0"/>
          </a:p>
        </p:txBody>
      </p:sp>
      <p:sp>
        <p:nvSpPr>
          <p:cNvPr id="7" name="Shape 5"/>
          <p:cNvSpPr/>
          <p:nvPr/>
        </p:nvSpPr>
        <p:spPr>
          <a:xfrm>
            <a:off x="106680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8" name="Shape 6"/>
          <p:cNvSpPr/>
          <p:nvPr/>
        </p:nvSpPr>
        <p:spPr>
          <a:xfrm>
            <a:off x="1282700" y="3200499"/>
            <a:ext cx="323850" cy="323850"/>
          </a:xfrm>
          <a:prstGeom prst="roundRect">
            <a:avLst>
              <a:gd name="adj" fmla="val 23529"/>
            </a:avLst>
          </a:prstGeom>
          <a:solidFill>
            <a:srgbClr val="FFFFFF">
              <a:alpha val="6000"/>
            </a:srgbClr>
          </a:solidFill>
          <a:ln/>
        </p:spPr>
      </p:sp>
      <p:sp>
        <p:nvSpPr>
          <p:cNvPr id="9" name="Text 7"/>
          <p:cNvSpPr/>
          <p:nvPr/>
        </p:nvSpPr>
        <p:spPr>
          <a:xfrm>
            <a:off x="124460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10" name="Text 8"/>
          <p:cNvSpPr/>
          <p:nvPr/>
        </p:nvSpPr>
        <p:spPr>
          <a:xfrm>
            <a:off x="1758950" y="3210024"/>
            <a:ext cx="504709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Des données très nombreuses uniquement</a:t>
            </a:r>
            <a:endParaRPr lang="en-US" sz="1875" dirty="0"/>
          </a:p>
        </p:txBody>
      </p:sp>
      <p:sp>
        <p:nvSpPr>
          <p:cNvPr id="11" name="Shape 9"/>
          <p:cNvSpPr/>
          <p:nvPr/>
        </p:nvSpPr>
        <p:spPr>
          <a:xfrm>
            <a:off x="106680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2" name="Shape 10"/>
          <p:cNvSpPr/>
          <p:nvPr/>
        </p:nvSpPr>
        <p:spPr>
          <a:xfrm>
            <a:off x="1282700" y="4013299"/>
            <a:ext cx="323850" cy="323850"/>
          </a:xfrm>
          <a:prstGeom prst="roundRect">
            <a:avLst>
              <a:gd name="adj" fmla="val 23529"/>
            </a:avLst>
          </a:prstGeom>
          <a:solidFill>
            <a:srgbClr val="FFFFFF">
              <a:alpha val="6000"/>
            </a:srgbClr>
          </a:solidFill>
          <a:ln/>
        </p:spPr>
      </p:sp>
      <p:sp>
        <p:nvSpPr>
          <p:cNvPr id="13" name="Text 11"/>
          <p:cNvSpPr/>
          <p:nvPr/>
        </p:nvSpPr>
        <p:spPr>
          <a:xfrm>
            <a:off x="124460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14" name="Text 12"/>
          <p:cNvSpPr/>
          <p:nvPr/>
        </p:nvSpPr>
        <p:spPr>
          <a:xfrm>
            <a:off x="1758950" y="4022824"/>
            <a:ext cx="7573923"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Des données qui dépassent les capacités des outils traditionnels</a:t>
            </a:r>
            <a:endParaRPr lang="en-US" sz="1875" dirty="0"/>
          </a:p>
        </p:txBody>
      </p:sp>
      <p:sp>
        <p:nvSpPr>
          <p:cNvPr id="15" name="Shape 13"/>
          <p:cNvSpPr/>
          <p:nvPr/>
        </p:nvSpPr>
        <p:spPr>
          <a:xfrm>
            <a:off x="1066800" y="46482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6" name="Shape 14"/>
          <p:cNvSpPr/>
          <p:nvPr/>
        </p:nvSpPr>
        <p:spPr>
          <a:xfrm>
            <a:off x="1282700" y="4826099"/>
            <a:ext cx="323850" cy="323850"/>
          </a:xfrm>
          <a:prstGeom prst="roundRect">
            <a:avLst>
              <a:gd name="adj" fmla="val 23529"/>
            </a:avLst>
          </a:prstGeom>
          <a:solidFill>
            <a:srgbClr val="FFFFFF">
              <a:alpha val="6000"/>
            </a:srgbClr>
          </a:solidFill>
          <a:ln/>
        </p:spPr>
      </p:sp>
      <p:sp>
        <p:nvSpPr>
          <p:cNvPr id="17" name="Text 15"/>
          <p:cNvSpPr/>
          <p:nvPr/>
        </p:nvSpPr>
        <p:spPr>
          <a:xfrm>
            <a:off x="1244600" y="48260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18" name="Text 16"/>
          <p:cNvSpPr/>
          <p:nvPr/>
        </p:nvSpPr>
        <p:spPr>
          <a:xfrm>
            <a:off x="1758950" y="4835624"/>
            <a:ext cx="372606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base de données MongoDB</a:t>
            </a:r>
            <a:endParaRPr lang="en-US" sz="1875" dirty="0"/>
          </a:p>
        </p:txBody>
      </p:sp>
      <p:sp>
        <p:nvSpPr>
          <p:cNvPr id="19" name="Shape 17"/>
          <p:cNvSpPr/>
          <p:nvPr/>
        </p:nvSpPr>
        <p:spPr>
          <a:xfrm>
            <a:off x="1066800" y="54610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0" name="Shape 18"/>
          <p:cNvSpPr/>
          <p:nvPr/>
        </p:nvSpPr>
        <p:spPr>
          <a:xfrm>
            <a:off x="1282700" y="5638899"/>
            <a:ext cx="323850" cy="323850"/>
          </a:xfrm>
          <a:prstGeom prst="roundRect">
            <a:avLst>
              <a:gd name="adj" fmla="val 23529"/>
            </a:avLst>
          </a:prstGeom>
          <a:solidFill>
            <a:srgbClr val="FFFFFF">
              <a:alpha val="6000"/>
            </a:srgbClr>
          </a:solidFill>
          <a:ln/>
        </p:spPr>
      </p:sp>
      <p:sp>
        <p:nvSpPr>
          <p:cNvPr id="21" name="Text 19"/>
          <p:cNvSpPr/>
          <p:nvPr/>
        </p:nvSpPr>
        <p:spPr>
          <a:xfrm>
            <a:off x="1244600" y="56388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22" name="Text 20"/>
          <p:cNvSpPr/>
          <p:nvPr/>
        </p:nvSpPr>
        <p:spPr>
          <a:xfrm>
            <a:off x="1758950" y="5648424"/>
            <a:ext cx="201691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 serveur Cloud</a:t>
            </a:r>
            <a:endParaRPr lang="en-US" sz="1875" dirty="0"/>
          </a:p>
        </p:txBody>
      </p:sp>
      <p:sp>
        <p:nvSpPr>
          <p:cNvPr id="23" name="Text 21"/>
          <p:cNvSpPr/>
          <p:nvPr/>
        </p:nvSpPr>
        <p:spPr>
          <a:xfrm>
            <a:off x="935355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Qu'est-ce qui distingue une plateforme Big Data d'un SGBDR ?</a:t>
            </a:r>
            <a:endParaRPr lang="en-US" sz="2175" dirty="0"/>
          </a:p>
        </p:txBody>
      </p:sp>
      <p:sp>
        <p:nvSpPr>
          <p:cNvPr id="24" name="Shape 22"/>
          <p:cNvSpPr/>
          <p:nvPr/>
        </p:nvSpPr>
        <p:spPr>
          <a:xfrm>
            <a:off x="935355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5" name="Shape 23"/>
          <p:cNvSpPr/>
          <p:nvPr/>
        </p:nvSpPr>
        <p:spPr>
          <a:xfrm>
            <a:off x="9569450" y="3200499"/>
            <a:ext cx="323850" cy="323850"/>
          </a:xfrm>
          <a:prstGeom prst="roundRect">
            <a:avLst>
              <a:gd name="adj" fmla="val 23529"/>
            </a:avLst>
          </a:prstGeom>
          <a:solidFill>
            <a:srgbClr val="FFFFFF">
              <a:alpha val="6000"/>
            </a:srgbClr>
          </a:solidFill>
          <a:ln/>
        </p:spPr>
      </p:sp>
      <p:sp>
        <p:nvSpPr>
          <p:cNvPr id="26" name="Text 24"/>
          <p:cNvSpPr/>
          <p:nvPr/>
        </p:nvSpPr>
        <p:spPr>
          <a:xfrm>
            <a:off x="953135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27" name="Text 25"/>
          <p:cNvSpPr/>
          <p:nvPr/>
        </p:nvSpPr>
        <p:spPr>
          <a:xfrm>
            <a:off x="10045701" y="3210024"/>
            <a:ext cx="202826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Le langage utilisé</a:t>
            </a:r>
            <a:endParaRPr lang="en-US" sz="1875" dirty="0"/>
          </a:p>
        </p:txBody>
      </p:sp>
      <p:sp>
        <p:nvSpPr>
          <p:cNvPr id="28" name="Shape 26"/>
          <p:cNvSpPr/>
          <p:nvPr/>
        </p:nvSpPr>
        <p:spPr>
          <a:xfrm>
            <a:off x="935355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9" name="Shape 27"/>
          <p:cNvSpPr/>
          <p:nvPr/>
        </p:nvSpPr>
        <p:spPr>
          <a:xfrm>
            <a:off x="9569450" y="4013299"/>
            <a:ext cx="323850" cy="323850"/>
          </a:xfrm>
          <a:prstGeom prst="roundRect">
            <a:avLst>
              <a:gd name="adj" fmla="val 23529"/>
            </a:avLst>
          </a:prstGeom>
          <a:solidFill>
            <a:srgbClr val="FFFFFF">
              <a:alpha val="6000"/>
            </a:srgbClr>
          </a:solidFill>
          <a:ln/>
        </p:spPr>
      </p:sp>
      <p:sp>
        <p:nvSpPr>
          <p:cNvPr id="30" name="Text 28"/>
          <p:cNvSpPr/>
          <p:nvPr/>
        </p:nvSpPr>
        <p:spPr>
          <a:xfrm>
            <a:off x="953135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31" name="Text 29"/>
          <p:cNvSpPr/>
          <p:nvPr/>
        </p:nvSpPr>
        <p:spPr>
          <a:xfrm>
            <a:off x="10045701" y="4022824"/>
            <a:ext cx="3270617"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Le nombre de développeurs</a:t>
            </a:r>
            <a:endParaRPr lang="en-US" sz="1875" dirty="0"/>
          </a:p>
        </p:txBody>
      </p:sp>
      <p:sp>
        <p:nvSpPr>
          <p:cNvPr id="32" name="Shape 30"/>
          <p:cNvSpPr/>
          <p:nvPr/>
        </p:nvSpPr>
        <p:spPr>
          <a:xfrm>
            <a:off x="9353550" y="46482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3" name="Shape 31"/>
          <p:cNvSpPr/>
          <p:nvPr/>
        </p:nvSpPr>
        <p:spPr>
          <a:xfrm>
            <a:off x="9569450" y="4826099"/>
            <a:ext cx="323850" cy="323850"/>
          </a:xfrm>
          <a:prstGeom prst="roundRect">
            <a:avLst>
              <a:gd name="adj" fmla="val 23529"/>
            </a:avLst>
          </a:prstGeom>
          <a:solidFill>
            <a:srgbClr val="FFFFFF">
              <a:alpha val="6000"/>
            </a:srgbClr>
          </a:solidFill>
          <a:ln/>
        </p:spPr>
      </p:sp>
      <p:sp>
        <p:nvSpPr>
          <p:cNvPr id="34" name="Text 32"/>
          <p:cNvSpPr/>
          <p:nvPr/>
        </p:nvSpPr>
        <p:spPr>
          <a:xfrm>
            <a:off x="9531350" y="48260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35" name="Text 33"/>
          <p:cNvSpPr/>
          <p:nvPr/>
        </p:nvSpPr>
        <p:spPr>
          <a:xfrm>
            <a:off x="10045701" y="4835624"/>
            <a:ext cx="734996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La distribution du stockage et du calcul sur plusieurs machines</a:t>
            </a:r>
            <a:endParaRPr lang="en-US" sz="1875" dirty="0"/>
          </a:p>
        </p:txBody>
      </p:sp>
      <p:sp>
        <p:nvSpPr>
          <p:cNvPr id="36" name="Shape 34"/>
          <p:cNvSpPr/>
          <p:nvPr/>
        </p:nvSpPr>
        <p:spPr>
          <a:xfrm>
            <a:off x="9353550" y="54610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7" name="Shape 35"/>
          <p:cNvSpPr/>
          <p:nvPr/>
        </p:nvSpPr>
        <p:spPr>
          <a:xfrm>
            <a:off x="9569450" y="5638899"/>
            <a:ext cx="323850" cy="323850"/>
          </a:xfrm>
          <a:prstGeom prst="roundRect">
            <a:avLst>
              <a:gd name="adj" fmla="val 23529"/>
            </a:avLst>
          </a:prstGeom>
          <a:solidFill>
            <a:srgbClr val="FFFFFF">
              <a:alpha val="6000"/>
            </a:srgbClr>
          </a:solidFill>
          <a:ln/>
        </p:spPr>
      </p:sp>
      <p:sp>
        <p:nvSpPr>
          <p:cNvPr id="38" name="Text 36"/>
          <p:cNvSpPr/>
          <p:nvPr/>
        </p:nvSpPr>
        <p:spPr>
          <a:xfrm>
            <a:off x="9531350" y="56388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39" name="Text 37"/>
          <p:cNvSpPr/>
          <p:nvPr/>
        </p:nvSpPr>
        <p:spPr>
          <a:xfrm>
            <a:off x="10045701" y="5648424"/>
            <a:ext cx="2985105"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Le système d'exploitation</a:t>
            </a:r>
            <a:endParaRPr lang="en-US" sz="18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C"/>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56DBDB"/>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56DBDB"/>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4549122" cy="342900"/>
          </a:xfrm>
          <a:prstGeom prst="rect">
            <a:avLst/>
          </a:prstGeom>
          <a:noFill/>
          <a:ln/>
        </p:spPr>
        <p:txBody>
          <a:bodyPr wrap="square" lIns="0" tIns="0" rIns="0" bIns="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CORRECTION · ATELIER 01</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Testez vos connaissances</a:t>
            </a:r>
            <a:endParaRPr lang="en-US" sz="4800" dirty="0"/>
          </a:p>
        </p:txBody>
      </p:sp>
      <p:sp>
        <p:nvSpPr>
          <p:cNvPr id="6" name="Text 4"/>
          <p:cNvSpPr/>
          <p:nvPr/>
        </p:nvSpPr>
        <p:spPr>
          <a:xfrm>
            <a:off x="106680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Quelle affirmation décrit le mieux le Big Data ?</a:t>
            </a:r>
            <a:endParaRPr lang="en-US" sz="2175" dirty="0"/>
          </a:p>
        </p:txBody>
      </p:sp>
      <p:sp>
        <p:nvSpPr>
          <p:cNvPr id="7" name="Shape 5"/>
          <p:cNvSpPr/>
          <p:nvPr/>
        </p:nvSpPr>
        <p:spPr>
          <a:xfrm>
            <a:off x="106680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8" name="Shape 6"/>
          <p:cNvSpPr/>
          <p:nvPr/>
        </p:nvSpPr>
        <p:spPr>
          <a:xfrm>
            <a:off x="1282700" y="3200499"/>
            <a:ext cx="323850" cy="323850"/>
          </a:xfrm>
          <a:prstGeom prst="roundRect">
            <a:avLst>
              <a:gd name="adj" fmla="val 23529"/>
            </a:avLst>
          </a:prstGeom>
          <a:solidFill>
            <a:srgbClr val="FFFFFF">
              <a:alpha val="6000"/>
            </a:srgbClr>
          </a:solidFill>
          <a:ln/>
        </p:spPr>
      </p:sp>
      <p:sp>
        <p:nvSpPr>
          <p:cNvPr id="9" name="Text 7"/>
          <p:cNvSpPr/>
          <p:nvPr/>
        </p:nvSpPr>
        <p:spPr>
          <a:xfrm>
            <a:off x="124460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10" name="Text 8"/>
          <p:cNvSpPr/>
          <p:nvPr/>
        </p:nvSpPr>
        <p:spPr>
          <a:xfrm>
            <a:off x="1758950" y="3210024"/>
            <a:ext cx="504709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Des données très nombreuses uniquement</a:t>
            </a:r>
            <a:endParaRPr lang="en-US" sz="1875" dirty="0"/>
          </a:p>
        </p:txBody>
      </p:sp>
      <p:sp>
        <p:nvSpPr>
          <p:cNvPr id="11" name="Shape 9"/>
          <p:cNvSpPr/>
          <p:nvPr/>
        </p:nvSpPr>
        <p:spPr>
          <a:xfrm>
            <a:off x="1066800" y="3835499"/>
            <a:ext cx="7867650" cy="965200"/>
          </a:xfrm>
          <a:prstGeom prst="roundRect">
            <a:avLst>
              <a:gd name="adj" fmla="val 11842"/>
            </a:avLst>
          </a:prstGeom>
          <a:solidFill>
            <a:srgbClr val="FFFFFF">
              <a:alpha val="3000"/>
            </a:srgbClr>
          </a:solidFill>
          <a:ln w="6350">
            <a:solidFill>
              <a:srgbClr val="73E0E0">
                <a:alpha val="48000"/>
              </a:srgbClr>
            </a:solidFill>
            <a:prstDash val="solid"/>
          </a:ln>
        </p:spPr>
      </p:sp>
      <p:sp>
        <p:nvSpPr>
          <p:cNvPr id="12" name="Shape 10"/>
          <p:cNvSpPr/>
          <p:nvPr/>
        </p:nvSpPr>
        <p:spPr>
          <a:xfrm>
            <a:off x="1282700" y="4156174"/>
            <a:ext cx="312043" cy="323850"/>
          </a:xfrm>
          <a:prstGeom prst="roundRect">
            <a:avLst>
              <a:gd name="adj" fmla="val 24420"/>
            </a:avLst>
          </a:prstGeom>
          <a:solidFill>
            <a:srgbClr val="56DBDB"/>
          </a:solidFill>
          <a:ln/>
        </p:spPr>
      </p:sp>
      <p:sp>
        <p:nvSpPr>
          <p:cNvPr id="13" name="Text 11"/>
          <p:cNvSpPr/>
          <p:nvPr/>
        </p:nvSpPr>
        <p:spPr>
          <a:xfrm>
            <a:off x="1244600" y="4156174"/>
            <a:ext cx="388243"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04070C"/>
                </a:solidFill>
                <a:latin typeface="Arial" pitchFamily="34" charset="0"/>
                <a:ea typeface="Arial" pitchFamily="34" charset="-122"/>
                <a:cs typeface="Arial" pitchFamily="34" charset="-120"/>
              </a:rPr>
              <a:t>B</a:t>
            </a:r>
            <a:endParaRPr lang="en-US" sz="1875" dirty="0"/>
          </a:p>
        </p:txBody>
      </p:sp>
      <p:sp>
        <p:nvSpPr>
          <p:cNvPr id="14" name="Text 12"/>
          <p:cNvSpPr/>
          <p:nvPr/>
        </p:nvSpPr>
        <p:spPr>
          <a:xfrm>
            <a:off x="1747143" y="4013299"/>
            <a:ext cx="6832472" cy="64770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Arial" pitchFamily="34" charset="0"/>
                <a:ea typeface="Arial" pitchFamily="34" charset="-122"/>
                <a:cs typeface="Arial" pitchFamily="34" charset="-120"/>
              </a:rPr>
              <a:t>Des données qui dépassent les capacités des outils traditionnels</a:t>
            </a:r>
            <a:endParaRPr lang="en-US" sz="1875" dirty="0"/>
          </a:p>
        </p:txBody>
      </p:sp>
      <p:sp>
        <p:nvSpPr>
          <p:cNvPr id="15" name="Text 13"/>
          <p:cNvSpPr/>
          <p:nvPr/>
        </p:nvSpPr>
        <p:spPr>
          <a:xfrm>
            <a:off x="8533011" y="4149824"/>
            <a:ext cx="261739" cy="3746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16" name="Shape 14"/>
          <p:cNvSpPr/>
          <p:nvPr/>
        </p:nvSpPr>
        <p:spPr>
          <a:xfrm>
            <a:off x="1066800" y="493404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7" name="Shape 15"/>
          <p:cNvSpPr/>
          <p:nvPr/>
        </p:nvSpPr>
        <p:spPr>
          <a:xfrm>
            <a:off x="1282700" y="5111850"/>
            <a:ext cx="323850" cy="323850"/>
          </a:xfrm>
          <a:prstGeom prst="roundRect">
            <a:avLst>
              <a:gd name="adj" fmla="val 23529"/>
            </a:avLst>
          </a:prstGeom>
          <a:solidFill>
            <a:srgbClr val="FFFFFF">
              <a:alpha val="6000"/>
            </a:srgbClr>
          </a:solidFill>
          <a:ln/>
        </p:spPr>
      </p:sp>
      <p:sp>
        <p:nvSpPr>
          <p:cNvPr id="18" name="Text 16"/>
          <p:cNvSpPr/>
          <p:nvPr/>
        </p:nvSpPr>
        <p:spPr>
          <a:xfrm>
            <a:off x="1244600" y="5111850"/>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19" name="Text 17"/>
          <p:cNvSpPr/>
          <p:nvPr/>
        </p:nvSpPr>
        <p:spPr>
          <a:xfrm>
            <a:off x="1758950" y="5121375"/>
            <a:ext cx="372606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base de données MongoDB</a:t>
            </a:r>
            <a:endParaRPr lang="en-US" sz="1875" dirty="0"/>
          </a:p>
        </p:txBody>
      </p:sp>
      <p:sp>
        <p:nvSpPr>
          <p:cNvPr id="20" name="Shape 18"/>
          <p:cNvSpPr/>
          <p:nvPr/>
        </p:nvSpPr>
        <p:spPr>
          <a:xfrm>
            <a:off x="1066800" y="574684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1" name="Shape 19"/>
          <p:cNvSpPr/>
          <p:nvPr/>
        </p:nvSpPr>
        <p:spPr>
          <a:xfrm>
            <a:off x="1282700" y="5924649"/>
            <a:ext cx="323850" cy="323850"/>
          </a:xfrm>
          <a:prstGeom prst="roundRect">
            <a:avLst>
              <a:gd name="adj" fmla="val 23529"/>
            </a:avLst>
          </a:prstGeom>
          <a:solidFill>
            <a:srgbClr val="FFFFFF">
              <a:alpha val="6000"/>
            </a:srgbClr>
          </a:solidFill>
          <a:ln/>
        </p:spPr>
      </p:sp>
      <p:sp>
        <p:nvSpPr>
          <p:cNvPr id="22" name="Text 20"/>
          <p:cNvSpPr/>
          <p:nvPr/>
        </p:nvSpPr>
        <p:spPr>
          <a:xfrm>
            <a:off x="1244600" y="59246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23" name="Text 21"/>
          <p:cNvSpPr/>
          <p:nvPr/>
        </p:nvSpPr>
        <p:spPr>
          <a:xfrm>
            <a:off x="1758950" y="5934174"/>
            <a:ext cx="201691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 serveur Cloud</a:t>
            </a:r>
            <a:endParaRPr lang="en-US" sz="1875" dirty="0"/>
          </a:p>
        </p:txBody>
      </p:sp>
      <p:sp>
        <p:nvSpPr>
          <p:cNvPr id="24" name="Text 22"/>
          <p:cNvSpPr/>
          <p:nvPr/>
        </p:nvSpPr>
        <p:spPr>
          <a:xfrm>
            <a:off x="935355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Qu'est-ce qui distingue une plateforme Big Data d'un SGBDR ?</a:t>
            </a:r>
            <a:endParaRPr lang="en-US" sz="2175" dirty="0"/>
          </a:p>
        </p:txBody>
      </p:sp>
      <p:sp>
        <p:nvSpPr>
          <p:cNvPr id="25" name="Shape 23"/>
          <p:cNvSpPr/>
          <p:nvPr/>
        </p:nvSpPr>
        <p:spPr>
          <a:xfrm>
            <a:off x="935355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6" name="Shape 24"/>
          <p:cNvSpPr/>
          <p:nvPr/>
        </p:nvSpPr>
        <p:spPr>
          <a:xfrm>
            <a:off x="9569450" y="3200499"/>
            <a:ext cx="323850" cy="323850"/>
          </a:xfrm>
          <a:prstGeom prst="roundRect">
            <a:avLst>
              <a:gd name="adj" fmla="val 23529"/>
            </a:avLst>
          </a:prstGeom>
          <a:solidFill>
            <a:srgbClr val="FFFFFF">
              <a:alpha val="6000"/>
            </a:srgbClr>
          </a:solidFill>
          <a:ln/>
        </p:spPr>
      </p:sp>
      <p:sp>
        <p:nvSpPr>
          <p:cNvPr id="27" name="Text 25"/>
          <p:cNvSpPr/>
          <p:nvPr/>
        </p:nvSpPr>
        <p:spPr>
          <a:xfrm>
            <a:off x="953135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28" name="Text 26"/>
          <p:cNvSpPr/>
          <p:nvPr/>
        </p:nvSpPr>
        <p:spPr>
          <a:xfrm>
            <a:off x="10045701" y="3210024"/>
            <a:ext cx="202826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Le langage utilisé</a:t>
            </a:r>
            <a:endParaRPr lang="en-US" sz="1875" dirty="0"/>
          </a:p>
        </p:txBody>
      </p:sp>
      <p:sp>
        <p:nvSpPr>
          <p:cNvPr id="29" name="Shape 27"/>
          <p:cNvSpPr/>
          <p:nvPr/>
        </p:nvSpPr>
        <p:spPr>
          <a:xfrm>
            <a:off x="935355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0" name="Shape 28"/>
          <p:cNvSpPr/>
          <p:nvPr/>
        </p:nvSpPr>
        <p:spPr>
          <a:xfrm>
            <a:off x="9569450" y="4013299"/>
            <a:ext cx="323850" cy="323850"/>
          </a:xfrm>
          <a:prstGeom prst="roundRect">
            <a:avLst>
              <a:gd name="adj" fmla="val 23529"/>
            </a:avLst>
          </a:prstGeom>
          <a:solidFill>
            <a:srgbClr val="FFFFFF">
              <a:alpha val="6000"/>
            </a:srgbClr>
          </a:solidFill>
          <a:ln/>
        </p:spPr>
      </p:sp>
      <p:sp>
        <p:nvSpPr>
          <p:cNvPr id="31" name="Text 29"/>
          <p:cNvSpPr/>
          <p:nvPr/>
        </p:nvSpPr>
        <p:spPr>
          <a:xfrm>
            <a:off x="953135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32" name="Text 30"/>
          <p:cNvSpPr/>
          <p:nvPr/>
        </p:nvSpPr>
        <p:spPr>
          <a:xfrm>
            <a:off x="10045701" y="4022824"/>
            <a:ext cx="3270617"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Le nombre de développeurs</a:t>
            </a:r>
            <a:endParaRPr lang="en-US" sz="1875" dirty="0"/>
          </a:p>
        </p:txBody>
      </p:sp>
      <p:sp>
        <p:nvSpPr>
          <p:cNvPr id="33" name="Shape 31"/>
          <p:cNvSpPr/>
          <p:nvPr/>
        </p:nvSpPr>
        <p:spPr>
          <a:xfrm>
            <a:off x="9353550" y="4648299"/>
            <a:ext cx="7867650" cy="965200"/>
          </a:xfrm>
          <a:prstGeom prst="roundRect">
            <a:avLst>
              <a:gd name="adj" fmla="val 11842"/>
            </a:avLst>
          </a:prstGeom>
          <a:solidFill>
            <a:srgbClr val="FFFFFF">
              <a:alpha val="3000"/>
            </a:srgbClr>
          </a:solidFill>
          <a:ln w="6350">
            <a:solidFill>
              <a:srgbClr val="73E0E0">
                <a:alpha val="48000"/>
              </a:srgbClr>
            </a:solidFill>
            <a:prstDash val="solid"/>
          </a:ln>
        </p:spPr>
      </p:sp>
      <p:sp>
        <p:nvSpPr>
          <p:cNvPr id="34" name="Shape 32"/>
          <p:cNvSpPr/>
          <p:nvPr/>
        </p:nvSpPr>
        <p:spPr>
          <a:xfrm>
            <a:off x="9569450" y="4968975"/>
            <a:ext cx="321072" cy="323850"/>
          </a:xfrm>
          <a:prstGeom prst="roundRect">
            <a:avLst>
              <a:gd name="adj" fmla="val 23733"/>
            </a:avLst>
          </a:prstGeom>
          <a:solidFill>
            <a:srgbClr val="56DBDB"/>
          </a:solidFill>
          <a:ln/>
        </p:spPr>
      </p:sp>
      <p:sp>
        <p:nvSpPr>
          <p:cNvPr id="35" name="Text 33"/>
          <p:cNvSpPr/>
          <p:nvPr/>
        </p:nvSpPr>
        <p:spPr>
          <a:xfrm>
            <a:off x="9531350" y="4968975"/>
            <a:ext cx="397272"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04070C"/>
                </a:solidFill>
                <a:latin typeface="Arial" pitchFamily="34" charset="0"/>
                <a:ea typeface="Arial" pitchFamily="34" charset="-122"/>
                <a:cs typeface="Arial" pitchFamily="34" charset="-120"/>
              </a:rPr>
              <a:t>C</a:t>
            </a:r>
            <a:endParaRPr lang="en-US" sz="1875" dirty="0"/>
          </a:p>
        </p:txBody>
      </p:sp>
      <p:sp>
        <p:nvSpPr>
          <p:cNvPr id="36" name="Text 34"/>
          <p:cNvSpPr/>
          <p:nvPr/>
        </p:nvSpPr>
        <p:spPr>
          <a:xfrm>
            <a:off x="10042922" y="4826099"/>
            <a:ext cx="6823172" cy="64770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Arial" pitchFamily="34" charset="0"/>
                <a:ea typeface="Arial" pitchFamily="34" charset="-122"/>
                <a:cs typeface="Arial" pitchFamily="34" charset="-120"/>
              </a:rPr>
              <a:t>La distribution du stockage et du calcul sur plusieurs machines</a:t>
            </a:r>
            <a:endParaRPr lang="en-US" sz="1875" dirty="0"/>
          </a:p>
        </p:txBody>
      </p:sp>
      <p:sp>
        <p:nvSpPr>
          <p:cNvPr id="37" name="Text 35"/>
          <p:cNvSpPr/>
          <p:nvPr/>
        </p:nvSpPr>
        <p:spPr>
          <a:xfrm>
            <a:off x="16819762" y="4962624"/>
            <a:ext cx="261739" cy="3746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38" name="Shape 36"/>
          <p:cNvSpPr/>
          <p:nvPr/>
        </p:nvSpPr>
        <p:spPr>
          <a:xfrm>
            <a:off x="9353550" y="574684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9" name="Shape 37"/>
          <p:cNvSpPr/>
          <p:nvPr/>
        </p:nvSpPr>
        <p:spPr>
          <a:xfrm>
            <a:off x="9569450" y="5924649"/>
            <a:ext cx="323850" cy="323850"/>
          </a:xfrm>
          <a:prstGeom prst="roundRect">
            <a:avLst>
              <a:gd name="adj" fmla="val 23529"/>
            </a:avLst>
          </a:prstGeom>
          <a:solidFill>
            <a:srgbClr val="FFFFFF">
              <a:alpha val="6000"/>
            </a:srgbClr>
          </a:solidFill>
          <a:ln/>
        </p:spPr>
      </p:sp>
      <p:sp>
        <p:nvSpPr>
          <p:cNvPr id="40" name="Text 38"/>
          <p:cNvSpPr/>
          <p:nvPr/>
        </p:nvSpPr>
        <p:spPr>
          <a:xfrm>
            <a:off x="9531350" y="59246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41" name="Text 39"/>
          <p:cNvSpPr/>
          <p:nvPr/>
        </p:nvSpPr>
        <p:spPr>
          <a:xfrm>
            <a:off x="10045701" y="5934174"/>
            <a:ext cx="2985105"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Le système d'exploitation</a:t>
            </a:r>
            <a:endParaRPr lang="en-US" sz="18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56DBDB"/>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56DBDB"/>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6329160" cy="342900"/>
          </a:xfrm>
          <a:prstGeom prst="rect">
            <a:avLst/>
          </a:prstGeom>
          <a:noFill/>
          <a:ln/>
        </p:spPr>
        <p:txBody>
          <a:bodyPr wrap="square" lIns="0" tIns="0" rIns="0" bIns="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QUIZ · ATELIER 01 — CAS PRATIQUE</a:t>
            </a:r>
            <a:endParaRPr lang="en-US" sz="1800" dirty="0"/>
          </a:p>
        </p:txBody>
      </p:sp>
      <p:sp>
        <p:nvSpPr>
          <p:cNvPr id="5" name="Text 3"/>
          <p:cNvSpPr/>
          <p:nvPr/>
        </p:nvSpPr>
        <p:spPr>
          <a:xfrm>
            <a:off x="1066800" y="1428750"/>
            <a:ext cx="11188005"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Est-ce du Big Data ? Quels « V » ?</a:t>
            </a:r>
            <a:endParaRPr lang="en-US" sz="4800" dirty="0"/>
          </a:p>
        </p:txBody>
      </p:sp>
      <p:sp>
        <p:nvSpPr>
          <p:cNvPr id="6" name="Shape 4"/>
          <p:cNvSpPr/>
          <p:nvPr/>
        </p:nvSpPr>
        <p:spPr>
          <a:xfrm>
            <a:off x="1066800" y="2443659"/>
            <a:ext cx="5270500" cy="3405386"/>
          </a:xfrm>
          <a:prstGeom prst="roundRect">
            <a:avLst>
              <a:gd name="adj" fmla="val 3916"/>
            </a:avLst>
          </a:prstGeom>
          <a:solidFill>
            <a:srgbClr val="FFFFFF">
              <a:alpha val="3000"/>
            </a:srgbClr>
          </a:solidFill>
          <a:ln w="6350">
            <a:solidFill>
              <a:srgbClr val="FFFFFF">
                <a:alpha val="10000"/>
              </a:srgbClr>
            </a:solidFill>
            <a:prstDash val="solid"/>
          </a:ln>
        </p:spPr>
      </p:sp>
      <p:sp>
        <p:nvSpPr>
          <p:cNvPr id="7" name="Text 5"/>
          <p:cNvSpPr/>
          <p:nvPr/>
        </p:nvSpPr>
        <p:spPr>
          <a:xfrm>
            <a:off x="1320800" y="2697659"/>
            <a:ext cx="4905375" cy="2363986"/>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Netflix reçoit des millions de clics par minute dans le monde entier.</a:t>
            </a:r>
            <a:endParaRPr lang="en-US" sz="1800" dirty="0"/>
          </a:p>
        </p:txBody>
      </p:sp>
      <p:sp>
        <p:nvSpPr>
          <p:cNvPr id="8" name="Shape 6"/>
          <p:cNvSpPr/>
          <p:nvPr/>
        </p:nvSpPr>
        <p:spPr>
          <a:xfrm>
            <a:off x="1320800" y="5175945"/>
            <a:ext cx="1089720" cy="419100"/>
          </a:xfrm>
          <a:prstGeom prst="roundRect">
            <a:avLst>
              <a:gd name="adj" fmla="val 50000"/>
            </a:avLst>
          </a:prstGeom>
          <a:solidFill>
            <a:srgbClr val="7CE1E1">
              <a:alpha val="27000"/>
            </a:srgbClr>
          </a:solidFill>
          <a:ln/>
        </p:spPr>
      </p:sp>
      <p:sp>
        <p:nvSpPr>
          <p:cNvPr id="9" name="Text 7"/>
          <p:cNvSpPr/>
          <p:nvPr/>
        </p:nvSpPr>
        <p:spPr>
          <a:xfrm>
            <a:off x="1454150" y="5233095"/>
            <a:ext cx="89922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Courier New" pitchFamily="34" charset="0"/>
                <a:ea typeface="Courier New" pitchFamily="34" charset="-122"/>
                <a:cs typeface="Courier New" pitchFamily="34" charset="-120"/>
              </a:rPr>
              <a:t>Volume</a:t>
            </a:r>
            <a:endParaRPr lang="en-US" sz="1800" dirty="0"/>
          </a:p>
        </p:txBody>
      </p:sp>
      <p:sp>
        <p:nvSpPr>
          <p:cNvPr id="10" name="Shape 8"/>
          <p:cNvSpPr/>
          <p:nvPr/>
        </p:nvSpPr>
        <p:spPr>
          <a:xfrm>
            <a:off x="2486720" y="5175945"/>
            <a:ext cx="1364059" cy="419100"/>
          </a:xfrm>
          <a:prstGeom prst="roundRect">
            <a:avLst>
              <a:gd name="adj" fmla="val 50000"/>
            </a:avLst>
          </a:prstGeom>
          <a:solidFill>
            <a:srgbClr val="7CE1E1">
              <a:alpha val="27000"/>
            </a:srgbClr>
          </a:solidFill>
          <a:ln/>
        </p:spPr>
      </p:sp>
      <p:sp>
        <p:nvSpPr>
          <p:cNvPr id="11" name="Text 9"/>
          <p:cNvSpPr/>
          <p:nvPr/>
        </p:nvSpPr>
        <p:spPr>
          <a:xfrm>
            <a:off x="2620070" y="5233095"/>
            <a:ext cx="11735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Courier New" pitchFamily="34" charset="0"/>
                <a:ea typeface="Courier New" pitchFamily="34" charset="-122"/>
                <a:cs typeface="Courier New" pitchFamily="34" charset="-120"/>
              </a:rPr>
              <a:t>Vélocité</a:t>
            </a:r>
            <a:endParaRPr lang="en-US" sz="1800" dirty="0"/>
          </a:p>
        </p:txBody>
      </p:sp>
      <p:sp>
        <p:nvSpPr>
          <p:cNvPr id="12" name="Shape 10"/>
          <p:cNvSpPr/>
          <p:nvPr/>
        </p:nvSpPr>
        <p:spPr>
          <a:xfrm>
            <a:off x="3926979" y="5175945"/>
            <a:ext cx="1089720" cy="419100"/>
          </a:xfrm>
          <a:prstGeom prst="roundRect">
            <a:avLst>
              <a:gd name="adj" fmla="val 50000"/>
            </a:avLst>
          </a:prstGeom>
          <a:solidFill>
            <a:srgbClr val="7CE1E1">
              <a:alpha val="27000"/>
            </a:srgbClr>
          </a:solidFill>
          <a:ln/>
        </p:spPr>
      </p:sp>
      <p:sp>
        <p:nvSpPr>
          <p:cNvPr id="13" name="Text 11"/>
          <p:cNvSpPr/>
          <p:nvPr/>
        </p:nvSpPr>
        <p:spPr>
          <a:xfrm>
            <a:off x="4060329" y="5233095"/>
            <a:ext cx="89922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Courier New" pitchFamily="34" charset="0"/>
                <a:ea typeface="Courier New" pitchFamily="34" charset="-122"/>
                <a:cs typeface="Courier New" pitchFamily="34" charset="-120"/>
              </a:rPr>
              <a:t>Valeur</a:t>
            </a:r>
            <a:endParaRPr lang="en-US" sz="1800" dirty="0"/>
          </a:p>
        </p:txBody>
      </p:sp>
      <p:sp>
        <p:nvSpPr>
          <p:cNvPr id="14" name="Shape 12"/>
          <p:cNvSpPr/>
          <p:nvPr/>
        </p:nvSpPr>
        <p:spPr>
          <a:xfrm>
            <a:off x="6508750" y="2443659"/>
            <a:ext cx="5270500" cy="3405386"/>
          </a:xfrm>
          <a:prstGeom prst="roundRect">
            <a:avLst>
              <a:gd name="adj" fmla="val 3916"/>
            </a:avLst>
          </a:prstGeom>
          <a:solidFill>
            <a:srgbClr val="FFFFFF">
              <a:alpha val="3000"/>
            </a:srgbClr>
          </a:solidFill>
          <a:ln w="6350">
            <a:solidFill>
              <a:srgbClr val="FFFFFF">
                <a:alpha val="10000"/>
              </a:srgbClr>
            </a:solidFill>
            <a:prstDash val="solid"/>
          </a:ln>
        </p:spPr>
      </p:sp>
      <p:sp>
        <p:nvSpPr>
          <p:cNvPr id="15" name="Text 13"/>
          <p:cNvSpPr/>
          <p:nvPr/>
        </p:nvSpPr>
        <p:spPr>
          <a:xfrm>
            <a:off x="6762750" y="2697659"/>
            <a:ext cx="4905375" cy="2363986"/>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Un hôpital conserve IRM, radios, vidéos, dossiers et analyses.</a:t>
            </a:r>
            <a:endParaRPr lang="en-US" sz="1800" dirty="0"/>
          </a:p>
        </p:txBody>
      </p:sp>
      <p:sp>
        <p:nvSpPr>
          <p:cNvPr id="16" name="Shape 14"/>
          <p:cNvSpPr/>
          <p:nvPr/>
        </p:nvSpPr>
        <p:spPr>
          <a:xfrm>
            <a:off x="6762750" y="5175945"/>
            <a:ext cx="1226840" cy="419100"/>
          </a:xfrm>
          <a:prstGeom prst="roundRect">
            <a:avLst>
              <a:gd name="adj" fmla="val 50000"/>
            </a:avLst>
          </a:prstGeom>
          <a:solidFill>
            <a:srgbClr val="7CE1E1">
              <a:alpha val="27000"/>
            </a:srgbClr>
          </a:solidFill>
          <a:ln/>
        </p:spPr>
      </p:sp>
      <p:sp>
        <p:nvSpPr>
          <p:cNvPr id="17" name="Text 15"/>
          <p:cNvSpPr/>
          <p:nvPr/>
        </p:nvSpPr>
        <p:spPr>
          <a:xfrm>
            <a:off x="6896100" y="5233095"/>
            <a:ext cx="103634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Courier New" pitchFamily="34" charset="0"/>
                <a:ea typeface="Courier New" pitchFamily="34" charset="-122"/>
                <a:cs typeface="Courier New" pitchFamily="34" charset="-120"/>
              </a:rPr>
              <a:t>Variété</a:t>
            </a:r>
            <a:endParaRPr lang="en-US" sz="1800" dirty="0"/>
          </a:p>
        </p:txBody>
      </p:sp>
      <p:sp>
        <p:nvSpPr>
          <p:cNvPr id="18" name="Shape 16"/>
          <p:cNvSpPr/>
          <p:nvPr/>
        </p:nvSpPr>
        <p:spPr>
          <a:xfrm>
            <a:off x="8065790" y="5175945"/>
            <a:ext cx="1089720" cy="419100"/>
          </a:xfrm>
          <a:prstGeom prst="roundRect">
            <a:avLst>
              <a:gd name="adj" fmla="val 50000"/>
            </a:avLst>
          </a:prstGeom>
          <a:solidFill>
            <a:srgbClr val="7CE1E1">
              <a:alpha val="27000"/>
            </a:srgbClr>
          </a:solidFill>
          <a:ln/>
        </p:spPr>
      </p:sp>
      <p:sp>
        <p:nvSpPr>
          <p:cNvPr id="19" name="Text 17"/>
          <p:cNvSpPr/>
          <p:nvPr/>
        </p:nvSpPr>
        <p:spPr>
          <a:xfrm>
            <a:off x="8199140" y="5233095"/>
            <a:ext cx="89922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Courier New" pitchFamily="34" charset="0"/>
                <a:ea typeface="Courier New" pitchFamily="34" charset="-122"/>
                <a:cs typeface="Courier New" pitchFamily="34" charset="-120"/>
              </a:rPr>
              <a:t>Volume</a:t>
            </a:r>
            <a:endParaRPr lang="en-US" sz="1800" dirty="0"/>
          </a:p>
        </p:txBody>
      </p:sp>
      <p:sp>
        <p:nvSpPr>
          <p:cNvPr id="20" name="Shape 18"/>
          <p:cNvSpPr/>
          <p:nvPr/>
        </p:nvSpPr>
        <p:spPr>
          <a:xfrm>
            <a:off x="9231710" y="5175945"/>
            <a:ext cx="1089720" cy="419100"/>
          </a:xfrm>
          <a:prstGeom prst="roundRect">
            <a:avLst>
              <a:gd name="adj" fmla="val 50000"/>
            </a:avLst>
          </a:prstGeom>
          <a:solidFill>
            <a:srgbClr val="7CE1E1">
              <a:alpha val="27000"/>
            </a:srgbClr>
          </a:solidFill>
          <a:ln/>
        </p:spPr>
      </p:sp>
      <p:sp>
        <p:nvSpPr>
          <p:cNvPr id="21" name="Text 19"/>
          <p:cNvSpPr/>
          <p:nvPr/>
        </p:nvSpPr>
        <p:spPr>
          <a:xfrm>
            <a:off x="9365060" y="5233095"/>
            <a:ext cx="89922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Courier New" pitchFamily="34" charset="0"/>
                <a:ea typeface="Courier New" pitchFamily="34" charset="-122"/>
                <a:cs typeface="Courier New" pitchFamily="34" charset="-120"/>
              </a:rPr>
              <a:t>Valeur</a:t>
            </a:r>
            <a:endParaRPr lang="en-US" sz="1800" dirty="0"/>
          </a:p>
        </p:txBody>
      </p:sp>
      <p:sp>
        <p:nvSpPr>
          <p:cNvPr id="22" name="Shape 20"/>
          <p:cNvSpPr/>
          <p:nvPr/>
        </p:nvSpPr>
        <p:spPr>
          <a:xfrm>
            <a:off x="11950701" y="2443659"/>
            <a:ext cx="5270500" cy="3405386"/>
          </a:xfrm>
          <a:prstGeom prst="roundRect">
            <a:avLst>
              <a:gd name="adj" fmla="val 3916"/>
            </a:avLst>
          </a:prstGeom>
          <a:solidFill>
            <a:srgbClr val="FFFFFF">
              <a:alpha val="3000"/>
            </a:srgbClr>
          </a:solidFill>
          <a:ln w="6350">
            <a:solidFill>
              <a:srgbClr val="FFFFFF">
                <a:alpha val="10000"/>
              </a:srgbClr>
            </a:solidFill>
            <a:prstDash val="solid"/>
          </a:ln>
        </p:spPr>
      </p:sp>
      <p:sp>
        <p:nvSpPr>
          <p:cNvPr id="23" name="Text 21"/>
          <p:cNvSpPr/>
          <p:nvPr/>
        </p:nvSpPr>
        <p:spPr>
          <a:xfrm>
            <a:off x="12204700" y="2697659"/>
            <a:ext cx="4905375" cy="2338586"/>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2 Go seulement, mais 80 000 arrivées par seconde.</a:t>
            </a:r>
            <a:endParaRPr lang="en-US" sz="1800" dirty="0"/>
          </a:p>
        </p:txBody>
      </p:sp>
      <p:sp>
        <p:nvSpPr>
          <p:cNvPr id="24" name="Shape 22"/>
          <p:cNvSpPr/>
          <p:nvPr/>
        </p:nvSpPr>
        <p:spPr>
          <a:xfrm>
            <a:off x="12204700" y="5150545"/>
            <a:ext cx="1685131" cy="444500"/>
          </a:xfrm>
          <a:prstGeom prst="roundRect">
            <a:avLst>
              <a:gd name="adj" fmla="val 50000"/>
            </a:avLst>
          </a:prstGeom>
          <a:solidFill>
            <a:srgbClr val="72DFDF">
              <a:alpha val="34000"/>
            </a:srgbClr>
          </a:solidFill>
          <a:ln w="6350">
            <a:solidFill>
              <a:srgbClr val="70E1DF">
                <a:alpha val="50000"/>
              </a:srgbClr>
            </a:solidFill>
            <a:prstDash val="solid"/>
          </a:ln>
        </p:spPr>
      </p:sp>
      <p:sp>
        <p:nvSpPr>
          <p:cNvPr id="25" name="Text 23"/>
          <p:cNvSpPr/>
          <p:nvPr/>
        </p:nvSpPr>
        <p:spPr>
          <a:xfrm>
            <a:off x="12344400" y="5214045"/>
            <a:ext cx="1481931" cy="3556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Big Data ✓</a:t>
            </a:r>
            <a:endParaRPr lang="en-US" sz="1800" dirty="0"/>
          </a:p>
        </p:txBody>
      </p:sp>
      <p:sp>
        <p:nvSpPr>
          <p:cNvPr id="26" name="Text 24"/>
          <p:cNvSpPr/>
          <p:nvPr/>
        </p:nvSpPr>
        <p:spPr>
          <a:xfrm>
            <a:off x="13966031" y="5223570"/>
            <a:ext cx="313823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 la vélocité, pas le volume</a:t>
            </a:r>
            <a:endParaRPr lang="en-US" sz="1800" dirty="0"/>
          </a:p>
        </p:txBody>
      </p:sp>
      <p:sp>
        <p:nvSpPr>
          <p:cNvPr id="27" name="Shape 25"/>
          <p:cNvSpPr/>
          <p:nvPr/>
        </p:nvSpPr>
        <p:spPr>
          <a:xfrm>
            <a:off x="1066800" y="6020495"/>
            <a:ext cx="5270500" cy="3447356"/>
          </a:xfrm>
          <a:prstGeom prst="roundRect">
            <a:avLst>
              <a:gd name="adj" fmla="val 3868"/>
            </a:avLst>
          </a:prstGeom>
          <a:solidFill>
            <a:srgbClr val="FFFFFF">
              <a:alpha val="3000"/>
            </a:srgbClr>
          </a:solidFill>
          <a:ln w="6350">
            <a:solidFill>
              <a:srgbClr val="FFFFFF">
                <a:alpha val="10000"/>
              </a:srgbClr>
            </a:solidFill>
            <a:prstDash val="solid"/>
          </a:ln>
        </p:spPr>
      </p:sp>
      <p:sp>
        <p:nvSpPr>
          <p:cNvPr id="28" name="Text 26"/>
          <p:cNvSpPr/>
          <p:nvPr/>
        </p:nvSpPr>
        <p:spPr>
          <a:xfrm>
            <a:off x="1320800" y="6274495"/>
            <a:ext cx="4905375" cy="2393256"/>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700 To de données propres, mais jamais exploitées.</a:t>
            </a:r>
            <a:endParaRPr lang="en-US" sz="1800" dirty="0"/>
          </a:p>
        </p:txBody>
      </p:sp>
      <p:sp>
        <p:nvSpPr>
          <p:cNvPr id="29" name="Shape 27"/>
          <p:cNvSpPr/>
          <p:nvPr/>
        </p:nvSpPr>
        <p:spPr>
          <a:xfrm>
            <a:off x="1320800" y="8782050"/>
            <a:ext cx="2199680" cy="431800"/>
          </a:xfrm>
          <a:prstGeom prst="roundRect">
            <a:avLst>
              <a:gd name="adj" fmla="val 50000"/>
            </a:avLst>
          </a:prstGeom>
          <a:solidFill>
            <a:srgbClr val="FFC084">
              <a:alpha val="30000"/>
            </a:srgbClr>
          </a:solidFill>
          <a:ln w="6350">
            <a:solidFill>
              <a:srgbClr val="FFBE82">
                <a:alpha val="46000"/>
              </a:srgbClr>
            </a:solidFill>
            <a:prstDash val="solid"/>
          </a:ln>
        </p:spPr>
      </p:sp>
      <p:sp>
        <p:nvSpPr>
          <p:cNvPr id="30" name="Text 28"/>
          <p:cNvSpPr/>
          <p:nvPr/>
        </p:nvSpPr>
        <p:spPr>
          <a:xfrm>
            <a:off x="1460500" y="8845550"/>
            <a:ext cx="199648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Valeur absente</a:t>
            </a:r>
            <a:endParaRPr lang="en-US" sz="1800" dirty="0"/>
          </a:p>
        </p:txBody>
      </p:sp>
      <p:sp>
        <p:nvSpPr>
          <p:cNvPr id="31" name="Shape 29"/>
          <p:cNvSpPr/>
          <p:nvPr/>
        </p:nvSpPr>
        <p:spPr>
          <a:xfrm>
            <a:off x="6508750" y="6020495"/>
            <a:ext cx="5270500" cy="3447356"/>
          </a:xfrm>
          <a:prstGeom prst="roundRect">
            <a:avLst>
              <a:gd name="adj" fmla="val 3868"/>
            </a:avLst>
          </a:prstGeom>
          <a:solidFill>
            <a:srgbClr val="FFFFFF">
              <a:alpha val="3000"/>
            </a:srgbClr>
          </a:solidFill>
          <a:ln w="6350">
            <a:solidFill>
              <a:srgbClr val="FFFFFF">
                <a:alpha val="10000"/>
              </a:srgbClr>
            </a:solidFill>
            <a:prstDash val="solid"/>
          </a:ln>
        </p:spPr>
      </p:sp>
      <p:sp>
        <p:nvSpPr>
          <p:cNvPr id="32" name="Text 30"/>
          <p:cNvSpPr/>
          <p:nvPr/>
        </p:nvSpPr>
        <p:spPr>
          <a:xfrm>
            <a:off x="6762750" y="6274495"/>
            <a:ext cx="4905375" cy="2393256"/>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Des millions de tweets avec fautes, spams et faux comptes.</a:t>
            </a:r>
            <a:endParaRPr lang="en-US" sz="1800" dirty="0"/>
          </a:p>
        </p:txBody>
      </p:sp>
      <p:sp>
        <p:nvSpPr>
          <p:cNvPr id="33" name="Shape 31"/>
          <p:cNvSpPr/>
          <p:nvPr/>
        </p:nvSpPr>
        <p:spPr>
          <a:xfrm>
            <a:off x="6762750" y="8782050"/>
            <a:ext cx="1376759" cy="431800"/>
          </a:xfrm>
          <a:prstGeom prst="roundRect">
            <a:avLst>
              <a:gd name="adj" fmla="val 50000"/>
            </a:avLst>
          </a:prstGeom>
          <a:solidFill>
            <a:srgbClr val="FFC084">
              <a:alpha val="30000"/>
            </a:srgbClr>
          </a:solidFill>
          <a:ln w="6350">
            <a:solidFill>
              <a:srgbClr val="FFBE82">
                <a:alpha val="46000"/>
              </a:srgbClr>
            </a:solidFill>
            <a:prstDash val="solid"/>
          </a:ln>
        </p:spPr>
      </p:sp>
      <p:sp>
        <p:nvSpPr>
          <p:cNvPr id="34" name="Text 32"/>
          <p:cNvSpPr/>
          <p:nvPr/>
        </p:nvSpPr>
        <p:spPr>
          <a:xfrm>
            <a:off x="6902450" y="8845550"/>
            <a:ext cx="11735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Véracité</a:t>
            </a:r>
            <a:endParaRPr lang="en-US" sz="1800" dirty="0"/>
          </a:p>
        </p:txBody>
      </p:sp>
      <p:sp>
        <p:nvSpPr>
          <p:cNvPr id="35" name="Shape 33"/>
          <p:cNvSpPr/>
          <p:nvPr/>
        </p:nvSpPr>
        <p:spPr>
          <a:xfrm>
            <a:off x="11950701" y="6020495"/>
            <a:ext cx="5270500" cy="3447356"/>
          </a:xfrm>
          <a:prstGeom prst="roundRect">
            <a:avLst>
              <a:gd name="adj" fmla="val 3868"/>
            </a:avLst>
          </a:prstGeom>
          <a:solidFill>
            <a:srgbClr val="FFFFFF">
              <a:alpha val="3000"/>
            </a:srgbClr>
          </a:solidFill>
          <a:ln w="6350">
            <a:solidFill>
              <a:srgbClr val="FFFFFF">
                <a:alpha val="10000"/>
              </a:srgbClr>
            </a:solidFill>
            <a:prstDash val="solid"/>
          </a:ln>
        </p:spPr>
      </p:sp>
      <p:sp>
        <p:nvSpPr>
          <p:cNvPr id="36" name="Text 34"/>
          <p:cNvSpPr/>
          <p:nvPr/>
        </p:nvSpPr>
        <p:spPr>
          <a:xfrm>
            <a:off x="12204700" y="6274495"/>
            <a:ext cx="4905375" cy="2018606"/>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Une PME possède une base Oracle de 80 Go.</a:t>
            </a:r>
            <a:endParaRPr lang="en-US" sz="1800" dirty="0"/>
          </a:p>
        </p:txBody>
      </p:sp>
      <p:sp>
        <p:nvSpPr>
          <p:cNvPr id="37" name="Shape 35"/>
          <p:cNvSpPr/>
          <p:nvPr/>
        </p:nvSpPr>
        <p:spPr>
          <a:xfrm>
            <a:off x="12204700" y="8407400"/>
            <a:ext cx="2062559" cy="431800"/>
          </a:xfrm>
          <a:prstGeom prst="roundRect">
            <a:avLst>
              <a:gd name="adj" fmla="val 50000"/>
            </a:avLst>
          </a:prstGeom>
          <a:solidFill>
            <a:srgbClr val="FFFFFF">
              <a:alpha val="6000"/>
            </a:srgbClr>
          </a:solidFill>
          <a:ln w="6350">
            <a:solidFill>
              <a:srgbClr val="FFFFFF">
                <a:alpha val="10000"/>
              </a:srgbClr>
            </a:solidFill>
            <a:prstDash val="solid"/>
          </a:ln>
        </p:spPr>
      </p:sp>
      <p:sp>
        <p:nvSpPr>
          <p:cNvPr id="38" name="Text 36"/>
          <p:cNvSpPr/>
          <p:nvPr/>
        </p:nvSpPr>
        <p:spPr>
          <a:xfrm>
            <a:off x="12344400" y="8470900"/>
            <a:ext cx="18593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Pas forcément</a:t>
            </a:r>
            <a:endParaRPr lang="en-US" sz="1800" dirty="0"/>
          </a:p>
        </p:txBody>
      </p:sp>
      <p:sp>
        <p:nvSpPr>
          <p:cNvPr id="39" name="Text 37"/>
          <p:cNvSpPr/>
          <p:nvPr/>
        </p:nvSpPr>
        <p:spPr>
          <a:xfrm>
            <a:off x="12204700" y="8915400"/>
            <a:ext cx="3378121"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 le volume seul ne suffit pas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2932807"/>
            <a:ext cx="17769840" cy="368300"/>
          </a:xfrm>
          <a:prstGeom prst="rect">
            <a:avLst/>
          </a:prstGeom>
          <a:noFill/>
          <a:ln/>
        </p:spPr>
        <p:txBody>
          <a:bodyPr wrap="square" lIns="25400" tIns="25400" rIns="25400" bIns="25400" rtlCol="0" anchor="t">
            <a:normAutofit/>
          </a:bodyPr>
          <a:lstStyle/>
          <a:p>
            <a:pPr algn="l" indent="0" marL="0">
              <a:buNone/>
            </a:pPr>
            <a:r>
              <a:rPr lang="en-US" sz="1950" spc="546" kern="0" dirty="0">
                <a:solidFill>
                  <a:srgbClr val="B897F0"/>
                </a:solidFill>
                <a:latin typeface="Courier New" pitchFamily="34" charset="0"/>
                <a:ea typeface="Courier New" pitchFamily="34" charset="-122"/>
                <a:cs typeface="Courier New" pitchFamily="34" charset="-120"/>
              </a:rPr>
              <a:t>ATELIER 02 · 2 HEURES</a:t>
            </a:r>
            <a:endParaRPr lang="en-US" sz="1950" dirty="0"/>
          </a:p>
        </p:txBody>
      </p:sp>
      <p:sp>
        <p:nvSpPr>
          <p:cNvPr id="3" name="Text 1"/>
          <p:cNvSpPr/>
          <p:nvPr/>
        </p:nvSpPr>
        <p:spPr>
          <a:xfrm>
            <a:off x="1066800" y="3339207"/>
            <a:ext cx="17769840" cy="1924050"/>
          </a:xfrm>
          <a:prstGeom prst="rect">
            <a:avLst/>
          </a:prstGeom>
          <a:noFill/>
          <a:ln/>
        </p:spPr>
        <p:txBody>
          <a:bodyPr wrap="square" lIns="25400" tIns="25400" rIns="25400" bIns="25400" rtlCol="0" anchor="t">
            <a:normAutofit/>
          </a:bodyPr>
          <a:lstStyle/>
          <a:p>
            <a:pPr algn="l" indent="0" marL="0">
              <a:lnSpc>
                <a:spcPct val="78158"/>
              </a:lnSpc>
              <a:buNone/>
            </a:pPr>
            <a:r>
              <a:rPr lang="en-US" sz="16500" b="1" spc="-660" kern="0" dirty="0">
                <a:solidFill>
                  <a:srgbClr val="C5AFF4"/>
                </a:solidFill>
                <a:latin typeface="Arial" pitchFamily="34" charset="0"/>
                <a:ea typeface="Arial" pitchFamily="34" charset="-122"/>
                <a:cs typeface="Arial" pitchFamily="34" charset="-120"/>
              </a:rPr>
              <a:t>02</a:t>
            </a:r>
            <a:endParaRPr lang="en-US" sz="16500" dirty="0"/>
          </a:p>
        </p:txBody>
      </p:sp>
      <p:sp>
        <p:nvSpPr>
          <p:cNvPr id="4" name="Text 2"/>
          <p:cNvSpPr/>
          <p:nvPr/>
        </p:nvSpPr>
        <p:spPr>
          <a:xfrm>
            <a:off x="1066800" y="5301357"/>
            <a:ext cx="17769840" cy="776387"/>
          </a:xfrm>
          <a:prstGeom prst="rect">
            <a:avLst/>
          </a:prstGeom>
          <a:noFill/>
          <a:ln/>
        </p:spPr>
        <p:txBody>
          <a:bodyPr wrap="square" lIns="25400" tIns="25400" rIns="25400" bIns="25400" rtlCol="0" anchor="t">
            <a:normAutofit/>
          </a:bodyPr>
          <a:lstStyle/>
          <a:p>
            <a:pPr algn="l" indent="0" marL="0">
              <a:lnSpc>
                <a:spcPct val="88763"/>
              </a:lnSpc>
              <a:buNone/>
            </a:pPr>
            <a:r>
              <a:rPr lang="en-US" sz="5700" b="1" spc="-114" kern="0" dirty="0">
                <a:solidFill>
                  <a:srgbClr val="EEF3F9"/>
                </a:solidFill>
                <a:latin typeface="Arial" pitchFamily="34" charset="0"/>
                <a:ea typeface="Arial" pitchFamily="34" charset="-122"/>
                <a:cs typeface="Arial" pitchFamily="34" charset="-120"/>
              </a:rPr>
              <a:t>Fondements des bases de données NoSQL</a:t>
            </a:r>
            <a:endParaRPr lang="en-US" sz="5700" dirty="0"/>
          </a:p>
        </p:txBody>
      </p:sp>
      <p:sp>
        <p:nvSpPr>
          <p:cNvPr id="5" name="Text 3"/>
          <p:cNvSpPr/>
          <p:nvPr/>
        </p:nvSpPr>
        <p:spPr>
          <a:xfrm>
            <a:off x="1066800" y="6287294"/>
            <a:ext cx="10831068" cy="1104900"/>
          </a:xfrm>
          <a:prstGeom prst="rect">
            <a:avLst/>
          </a:prstGeom>
          <a:noFill/>
          <a:ln/>
        </p:spPr>
        <p:txBody>
          <a:bodyPr wrap="square" lIns="25400" tIns="25400" rIns="25400" bIns="25400" rtlCol="0" anchor="t">
            <a:normAutofit/>
          </a:bodyPr>
          <a:lstStyle/>
          <a:p>
            <a:pPr algn="l" indent="0" marL="0">
              <a:lnSpc>
                <a:spcPct val="121739"/>
              </a:lnSpc>
              <a:buNone/>
            </a:pPr>
            <a:r>
              <a:rPr lang="en-US" sz="3000" dirty="0">
                <a:solidFill>
                  <a:srgbClr val="8EA0B5"/>
                </a:solidFill>
                <a:latin typeface="Arial" pitchFamily="34" charset="0"/>
                <a:ea typeface="Arial" pitchFamily="34" charset="-122"/>
                <a:cs typeface="Arial" pitchFamily="34" charset="-120"/>
              </a:rPr>
              <a:t>Des modèles de données flexibles pour répondre aux limites du relationnel — appliqués à une base orientée documents.</a:t>
            </a:r>
            <a:endParaRPr lang="en-US" sz="3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02 · PRINCIPE</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limites du modèle relationnel et l’émergence du NoSQL</a:t>
            </a:r>
            <a:endParaRPr lang="en-US" sz="4800" dirty="0"/>
          </a:p>
        </p:txBody>
      </p:sp>
      <p:sp>
        <p:nvSpPr>
          <p:cNvPr id="4" name="Text 2"/>
          <p:cNvSpPr/>
          <p:nvPr/>
        </p:nvSpPr>
        <p:spPr>
          <a:xfrm>
            <a:off x="1066800" y="2196009"/>
            <a:ext cx="13185648" cy="921941"/>
          </a:xfrm>
          <a:prstGeom prst="rect">
            <a:avLst/>
          </a:prstGeom>
          <a:noFill/>
          <a:ln/>
        </p:spPr>
        <p:txBody>
          <a:bodyPr wrap="square" lIns="25400" tIns="25400" rIns="25400" bIns="25400" rtlCol="0" anchor="t">
            <a:normAutofit/>
          </a:bodyPr>
          <a:lstStyle/>
          <a:p>
            <a:pPr algn="l" indent="0" marL="0">
              <a:lnSpc>
                <a:spcPct val="126545"/>
              </a:lnSpc>
              <a:buNone/>
            </a:pPr>
            <a:r>
              <a:rPr lang="en-US" sz="2400" dirty="0">
                <a:solidFill>
                  <a:srgbClr val="EEF3F9"/>
                </a:solidFill>
                <a:latin typeface="Arial" pitchFamily="34" charset="0"/>
                <a:ea typeface="Arial" pitchFamily="34" charset="-122"/>
                <a:cs typeface="Arial" pitchFamily="34" charset="-120"/>
              </a:rPr>
              <a:t>Not Only SQL </a:t>
            </a:r>
            <a:pPr algn="l" indent="0" marL="0">
              <a:lnSpc>
                <a:spcPct val="126545"/>
              </a:lnSpc>
              <a:buNone/>
            </a:pPr>
            <a:r>
              <a:rPr lang="en-US" sz="2400" dirty="0">
                <a:solidFill>
                  <a:srgbClr val="8EA0B5"/>
                </a:solidFill>
                <a:latin typeface="Arial" pitchFamily="34" charset="0"/>
                <a:ea typeface="Arial" pitchFamily="34" charset="-122"/>
                <a:cs typeface="Arial" pitchFamily="34" charset="-120"/>
              </a:rPr>
              <a:t>— pas un remplaçant du relationnel, mais une famille de modèles alternatifs, plus flexibles.</a:t>
            </a:r>
            <a:endParaRPr lang="en-US" sz="2400" dirty="0"/>
          </a:p>
        </p:txBody>
      </p:sp>
      <p:sp>
        <p:nvSpPr>
          <p:cNvPr id="5" name="Shape 3"/>
          <p:cNvSpPr/>
          <p:nvPr/>
        </p:nvSpPr>
        <p:spPr>
          <a:xfrm>
            <a:off x="1066800" y="3575149"/>
            <a:ext cx="5232400" cy="5892701"/>
          </a:xfrm>
          <a:prstGeom prst="roundRect">
            <a:avLst>
              <a:gd name="adj" fmla="val 3277"/>
            </a:avLst>
          </a:prstGeom>
          <a:solidFill>
            <a:srgbClr val="FFFFFF">
              <a:alpha val="3000"/>
            </a:srgbClr>
          </a:solidFill>
          <a:ln w="6350">
            <a:solidFill>
              <a:srgbClr val="FFFFFF">
                <a:alpha val="10000"/>
              </a:srgbClr>
            </a:solidFill>
            <a:prstDash val="solid"/>
          </a:ln>
        </p:spPr>
      </p:sp>
      <p:sp>
        <p:nvSpPr>
          <p:cNvPr id="6" name="Text 4"/>
          <p:cNvSpPr/>
          <p:nvPr/>
        </p:nvSpPr>
        <p:spPr>
          <a:xfrm>
            <a:off x="1397000" y="3943449"/>
            <a:ext cx="502920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B897F0"/>
                </a:solidFill>
                <a:latin typeface="Arial" pitchFamily="34" charset="0"/>
                <a:ea typeface="Arial" pitchFamily="34" charset="-122"/>
                <a:cs typeface="Arial" pitchFamily="34" charset="-120"/>
              </a:rPr>
              <a:t>Schéma flexible</a:t>
            </a:r>
            <a:endParaRPr lang="en-US" sz="2475" dirty="0"/>
          </a:p>
        </p:txBody>
      </p:sp>
      <p:sp>
        <p:nvSpPr>
          <p:cNvPr id="7" name="Text 5"/>
          <p:cNvSpPr/>
          <p:nvPr/>
        </p:nvSpPr>
        <p:spPr>
          <a:xfrm>
            <a:off x="1397000" y="4457799"/>
            <a:ext cx="4709160"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S'adapter à des données dont la structure varie ou évolue, voire sans schéma du tout.</a:t>
            </a:r>
            <a:endParaRPr lang="en-US" sz="2025" dirty="0"/>
          </a:p>
        </p:txBody>
      </p:sp>
      <p:sp>
        <p:nvSpPr>
          <p:cNvPr id="8" name="Shape 6"/>
          <p:cNvSpPr/>
          <p:nvPr/>
        </p:nvSpPr>
        <p:spPr>
          <a:xfrm>
            <a:off x="6527800" y="3575149"/>
            <a:ext cx="5232400" cy="5892701"/>
          </a:xfrm>
          <a:prstGeom prst="roundRect">
            <a:avLst>
              <a:gd name="adj" fmla="val 3277"/>
            </a:avLst>
          </a:prstGeom>
          <a:solidFill>
            <a:srgbClr val="FFFFFF">
              <a:alpha val="3000"/>
            </a:srgbClr>
          </a:solidFill>
          <a:ln w="6350">
            <a:solidFill>
              <a:srgbClr val="FFFFFF">
                <a:alpha val="10000"/>
              </a:srgbClr>
            </a:solidFill>
            <a:prstDash val="solid"/>
          </a:ln>
        </p:spPr>
      </p:sp>
      <p:sp>
        <p:nvSpPr>
          <p:cNvPr id="9" name="Text 7"/>
          <p:cNvSpPr/>
          <p:nvPr/>
        </p:nvSpPr>
        <p:spPr>
          <a:xfrm>
            <a:off x="6858000" y="3943449"/>
            <a:ext cx="502920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B897F0"/>
                </a:solidFill>
                <a:latin typeface="Arial" pitchFamily="34" charset="0"/>
                <a:ea typeface="Arial" pitchFamily="34" charset="-122"/>
                <a:cs typeface="Arial" pitchFamily="34" charset="-120"/>
              </a:rPr>
              <a:t>Scalabilité horizontale</a:t>
            </a:r>
            <a:endParaRPr lang="en-US" sz="2475" dirty="0"/>
          </a:p>
        </p:txBody>
      </p:sp>
      <p:sp>
        <p:nvSpPr>
          <p:cNvPr id="10" name="Text 8"/>
          <p:cNvSpPr/>
          <p:nvPr/>
        </p:nvSpPr>
        <p:spPr>
          <a:xfrm>
            <a:off x="6858000" y="4457799"/>
            <a:ext cx="4709160"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Se répartir naturellement sur plusieurs machines, dans l'esprit du scale-out.</a:t>
            </a:r>
            <a:endParaRPr lang="en-US" sz="2025" dirty="0"/>
          </a:p>
        </p:txBody>
      </p:sp>
      <p:sp>
        <p:nvSpPr>
          <p:cNvPr id="11" name="Shape 9"/>
          <p:cNvSpPr/>
          <p:nvPr/>
        </p:nvSpPr>
        <p:spPr>
          <a:xfrm>
            <a:off x="11988801" y="3575149"/>
            <a:ext cx="5232400" cy="5892701"/>
          </a:xfrm>
          <a:prstGeom prst="roundRect">
            <a:avLst>
              <a:gd name="adj" fmla="val 3277"/>
            </a:avLst>
          </a:prstGeom>
          <a:solidFill>
            <a:srgbClr val="FFFFFF">
              <a:alpha val="3000"/>
            </a:srgbClr>
          </a:solidFill>
          <a:ln w="6350">
            <a:solidFill>
              <a:srgbClr val="FFFFFF">
                <a:alpha val="10000"/>
              </a:srgbClr>
            </a:solidFill>
            <a:prstDash val="solid"/>
          </a:ln>
        </p:spPr>
      </p:sp>
      <p:sp>
        <p:nvSpPr>
          <p:cNvPr id="12" name="Text 10"/>
          <p:cNvSpPr/>
          <p:nvPr/>
        </p:nvSpPr>
        <p:spPr>
          <a:xfrm>
            <a:off x="12319000" y="3943449"/>
            <a:ext cx="502920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B897F0"/>
                </a:solidFill>
                <a:latin typeface="Arial" pitchFamily="34" charset="0"/>
                <a:ea typeface="Arial" pitchFamily="34" charset="-122"/>
                <a:cs typeface="Arial" pitchFamily="34" charset="-120"/>
              </a:rPr>
              <a:t>Disponibilité &amp; rapidité</a:t>
            </a:r>
            <a:endParaRPr lang="en-US" sz="2475" dirty="0"/>
          </a:p>
        </p:txBody>
      </p:sp>
      <p:sp>
        <p:nvSpPr>
          <p:cNvPr id="13" name="Text 11"/>
          <p:cNvSpPr/>
          <p:nvPr/>
        </p:nvSpPr>
        <p:spPr>
          <a:xfrm>
            <a:off x="12319000" y="4457799"/>
            <a:ext cx="4709160"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Privilégier la réponse rapide, quitte à assouplir certaines garanties de cohérence stricte.</a:t>
            </a:r>
            <a:endParaRPr lang="en-US" sz="202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02 · NOTION CLÉ</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théorème CAP</a:t>
            </a:r>
            <a:endParaRPr lang="en-US" sz="4800" dirty="0"/>
          </a:p>
        </p:txBody>
      </p:sp>
      <p:sp>
        <p:nvSpPr>
          <p:cNvPr id="4" name="Shape 2"/>
          <p:cNvSpPr/>
          <p:nvPr/>
        </p:nvSpPr>
        <p:spPr>
          <a:xfrm>
            <a:off x="1066800" y="3760192"/>
            <a:ext cx="7385050" cy="1298575"/>
          </a:xfrm>
          <a:prstGeom prst="roundRect">
            <a:avLst>
              <a:gd name="adj" fmla="val 10269"/>
            </a:avLst>
          </a:prstGeom>
          <a:solidFill>
            <a:srgbClr val="FFFFFF">
              <a:alpha val="3000"/>
            </a:srgbClr>
          </a:solidFill>
          <a:ln/>
        </p:spPr>
      </p:sp>
      <p:sp>
        <p:nvSpPr>
          <p:cNvPr id="5" name="Shape 3"/>
          <p:cNvSpPr/>
          <p:nvPr/>
        </p:nvSpPr>
        <p:spPr>
          <a:xfrm>
            <a:off x="1066800" y="5052417"/>
            <a:ext cx="7385050" cy="9525"/>
          </a:xfrm>
          <a:prstGeom prst="rect">
            <a:avLst/>
          </a:prstGeom>
          <a:solidFill>
            <a:srgbClr val="FFFFFF">
              <a:alpha val="10000"/>
            </a:srgbClr>
          </a:solidFill>
          <a:ln/>
        </p:spPr>
      </p:sp>
      <p:sp>
        <p:nvSpPr>
          <p:cNvPr id="6" name="Shape 4"/>
          <p:cNvSpPr/>
          <p:nvPr/>
        </p:nvSpPr>
        <p:spPr>
          <a:xfrm>
            <a:off x="1066800" y="3760192"/>
            <a:ext cx="7385050" cy="9525"/>
          </a:xfrm>
          <a:prstGeom prst="rect">
            <a:avLst/>
          </a:prstGeom>
          <a:solidFill>
            <a:srgbClr val="FFFFFF">
              <a:alpha val="10000"/>
            </a:srgbClr>
          </a:solidFill>
          <a:ln/>
        </p:spPr>
      </p:sp>
      <p:sp>
        <p:nvSpPr>
          <p:cNvPr id="7" name="Shape 5"/>
          <p:cNvSpPr/>
          <p:nvPr/>
        </p:nvSpPr>
        <p:spPr>
          <a:xfrm>
            <a:off x="1066800" y="3760192"/>
            <a:ext cx="25400" cy="1298575"/>
          </a:xfrm>
          <a:prstGeom prst="rect">
            <a:avLst/>
          </a:prstGeom>
          <a:solidFill>
            <a:srgbClr val="B897F0"/>
          </a:solidFill>
          <a:ln/>
        </p:spPr>
      </p:sp>
      <p:sp>
        <p:nvSpPr>
          <p:cNvPr id="8" name="Shape 6"/>
          <p:cNvSpPr/>
          <p:nvPr/>
        </p:nvSpPr>
        <p:spPr>
          <a:xfrm>
            <a:off x="8445500" y="3760192"/>
            <a:ext cx="9525" cy="1298575"/>
          </a:xfrm>
          <a:prstGeom prst="rect">
            <a:avLst/>
          </a:prstGeom>
          <a:solidFill>
            <a:srgbClr val="FFFFFF">
              <a:alpha val="10000"/>
            </a:srgbClr>
          </a:solidFill>
          <a:ln/>
        </p:spPr>
      </p:sp>
      <p:sp>
        <p:nvSpPr>
          <p:cNvPr id="9" name="Text 7"/>
          <p:cNvSpPr/>
          <p:nvPr/>
        </p:nvSpPr>
        <p:spPr>
          <a:xfrm>
            <a:off x="1377950" y="4033242"/>
            <a:ext cx="7459980" cy="381000"/>
          </a:xfrm>
          <a:prstGeom prst="rect">
            <a:avLst/>
          </a:prstGeom>
          <a:noFill/>
          <a:ln/>
        </p:spPr>
        <p:txBody>
          <a:bodyPr wrap="square" lIns="25400" tIns="25400" rIns="25400" bIns="25400" rtlCol="0" anchor="t">
            <a:normAutofit/>
          </a:bodyPr>
          <a:lstStyle/>
          <a:p>
            <a:pPr algn="l" indent="0" marL="0">
              <a:buNone/>
            </a:pPr>
            <a:r>
              <a:rPr lang="en-US" sz="2325" b="1" dirty="0">
                <a:solidFill>
                  <a:srgbClr val="B897F0"/>
                </a:solidFill>
                <a:latin typeface="Arial" pitchFamily="34" charset="0"/>
                <a:ea typeface="Arial" pitchFamily="34" charset="-122"/>
                <a:cs typeface="Arial" pitchFamily="34" charset="-120"/>
              </a:rPr>
              <a:t>C</a:t>
            </a:r>
            <a:pPr algn="l" indent="0" marL="0">
              <a:buNone/>
            </a:pPr>
            <a:r>
              <a:rPr lang="en-US" sz="2325" b="1" dirty="0">
                <a:solidFill>
                  <a:srgbClr val="EEF3F9"/>
                </a:solidFill>
                <a:latin typeface="Arial" pitchFamily="34" charset="0"/>
                <a:ea typeface="Arial" pitchFamily="34" charset="-122"/>
                <a:cs typeface="Arial" pitchFamily="34" charset="-120"/>
              </a:rPr>
              <a:t>ohérence</a:t>
            </a:r>
            <a:endParaRPr lang="en-US" sz="2325" dirty="0"/>
          </a:p>
        </p:txBody>
      </p:sp>
      <p:sp>
        <p:nvSpPr>
          <p:cNvPr id="10" name="Text 8"/>
          <p:cNvSpPr/>
          <p:nvPr/>
        </p:nvSpPr>
        <p:spPr>
          <a:xfrm>
            <a:off x="1377950" y="4452342"/>
            <a:ext cx="7459980" cy="371475"/>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Toute lecture renvoie la donnée la plus récente.</a:t>
            </a:r>
            <a:endParaRPr lang="en-US" sz="1875" dirty="0"/>
          </a:p>
        </p:txBody>
      </p:sp>
      <p:sp>
        <p:nvSpPr>
          <p:cNvPr id="11" name="Shape 9"/>
          <p:cNvSpPr/>
          <p:nvPr/>
        </p:nvSpPr>
        <p:spPr>
          <a:xfrm>
            <a:off x="1066800" y="5249267"/>
            <a:ext cx="7385050" cy="1298575"/>
          </a:xfrm>
          <a:prstGeom prst="roundRect">
            <a:avLst>
              <a:gd name="adj" fmla="val 10269"/>
            </a:avLst>
          </a:prstGeom>
          <a:solidFill>
            <a:srgbClr val="FFFFFF">
              <a:alpha val="3000"/>
            </a:srgbClr>
          </a:solidFill>
          <a:ln/>
        </p:spPr>
      </p:sp>
      <p:sp>
        <p:nvSpPr>
          <p:cNvPr id="12" name="Shape 10"/>
          <p:cNvSpPr/>
          <p:nvPr/>
        </p:nvSpPr>
        <p:spPr>
          <a:xfrm>
            <a:off x="1066800" y="6541492"/>
            <a:ext cx="7385050" cy="9525"/>
          </a:xfrm>
          <a:prstGeom prst="rect">
            <a:avLst/>
          </a:prstGeom>
          <a:solidFill>
            <a:srgbClr val="FFFFFF">
              <a:alpha val="10000"/>
            </a:srgbClr>
          </a:solidFill>
          <a:ln/>
        </p:spPr>
      </p:sp>
      <p:sp>
        <p:nvSpPr>
          <p:cNvPr id="13" name="Shape 11"/>
          <p:cNvSpPr/>
          <p:nvPr/>
        </p:nvSpPr>
        <p:spPr>
          <a:xfrm>
            <a:off x="1066800" y="5249267"/>
            <a:ext cx="7385050" cy="9525"/>
          </a:xfrm>
          <a:prstGeom prst="rect">
            <a:avLst/>
          </a:prstGeom>
          <a:solidFill>
            <a:srgbClr val="FFFFFF">
              <a:alpha val="10000"/>
            </a:srgbClr>
          </a:solidFill>
          <a:ln/>
        </p:spPr>
      </p:sp>
      <p:sp>
        <p:nvSpPr>
          <p:cNvPr id="14" name="Shape 12"/>
          <p:cNvSpPr/>
          <p:nvPr/>
        </p:nvSpPr>
        <p:spPr>
          <a:xfrm>
            <a:off x="1066800" y="5249267"/>
            <a:ext cx="25400" cy="1298575"/>
          </a:xfrm>
          <a:prstGeom prst="rect">
            <a:avLst/>
          </a:prstGeom>
          <a:solidFill>
            <a:srgbClr val="B897F0"/>
          </a:solidFill>
          <a:ln/>
        </p:spPr>
      </p:sp>
      <p:sp>
        <p:nvSpPr>
          <p:cNvPr id="15" name="Shape 13"/>
          <p:cNvSpPr/>
          <p:nvPr/>
        </p:nvSpPr>
        <p:spPr>
          <a:xfrm>
            <a:off x="8445500" y="5249267"/>
            <a:ext cx="9525" cy="1298575"/>
          </a:xfrm>
          <a:prstGeom prst="rect">
            <a:avLst/>
          </a:prstGeom>
          <a:solidFill>
            <a:srgbClr val="FFFFFF">
              <a:alpha val="10000"/>
            </a:srgbClr>
          </a:solidFill>
          <a:ln/>
        </p:spPr>
      </p:sp>
      <p:sp>
        <p:nvSpPr>
          <p:cNvPr id="16" name="Text 14"/>
          <p:cNvSpPr/>
          <p:nvPr/>
        </p:nvSpPr>
        <p:spPr>
          <a:xfrm>
            <a:off x="1377950" y="5522318"/>
            <a:ext cx="7459980" cy="381000"/>
          </a:xfrm>
          <a:prstGeom prst="rect">
            <a:avLst/>
          </a:prstGeom>
          <a:noFill/>
          <a:ln/>
        </p:spPr>
        <p:txBody>
          <a:bodyPr wrap="square" lIns="25400" tIns="25400" rIns="25400" bIns="25400" rtlCol="0" anchor="t">
            <a:normAutofit/>
          </a:bodyPr>
          <a:lstStyle/>
          <a:p>
            <a:pPr algn="l" indent="0" marL="0">
              <a:buNone/>
            </a:pPr>
            <a:r>
              <a:rPr lang="en-US" sz="2325" b="1" dirty="0">
                <a:solidFill>
                  <a:srgbClr val="B897F0"/>
                </a:solidFill>
                <a:latin typeface="Arial" pitchFamily="34" charset="0"/>
                <a:ea typeface="Arial" pitchFamily="34" charset="-122"/>
                <a:cs typeface="Arial" pitchFamily="34" charset="-120"/>
              </a:rPr>
              <a:t>A</a:t>
            </a:r>
            <a:pPr algn="l" indent="0" marL="0">
              <a:buNone/>
            </a:pPr>
            <a:r>
              <a:rPr lang="en-US" sz="2325" b="1" dirty="0">
                <a:solidFill>
                  <a:srgbClr val="EEF3F9"/>
                </a:solidFill>
                <a:latin typeface="Arial" pitchFamily="34" charset="0"/>
                <a:ea typeface="Arial" pitchFamily="34" charset="-122"/>
                <a:cs typeface="Arial" pitchFamily="34" charset="-120"/>
              </a:rPr>
              <a:t>vailability</a:t>
            </a:r>
            <a:endParaRPr lang="en-US" sz="2325" dirty="0"/>
          </a:p>
        </p:txBody>
      </p:sp>
      <p:sp>
        <p:nvSpPr>
          <p:cNvPr id="17" name="Text 15"/>
          <p:cNvSpPr/>
          <p:nvPr/>
        </p:nvSpPr>
        <p:spPr>
          <a:xfrm>
            <a:off x="1377950" y="5941418"/>
            <a:ext cx="7459980" cy="371475"/>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Chaque requête reçoit une réponse, même en panne partielle.</a:t>
            </a:r>
            <a:endParaRPr lang="en-US" sz="1875" dirty="0"/>
          </a:p>
        </p:txBody>
      </p:sp>
      <p:sp>
        <p:nvSpPr>
          <p:cNvPr id="18" name="Shape 16"/>
          <p:cNvSpPr/>
          <p:nvPr/>
        </p:nvSpPr>
        <p:spPr>
          <a:xfrm>
            <a:off x="1066800" y="6738342"/>
            <a:ext cx="7385050" cy="1298575"/>
          </a:xfrm>
          <a:prstGeom prst="roundRect">
            <a:avLst>
              <a:gd name="adj" fmla="val 10269"/>
            </a:avLst>
          </a:prstGeom>
          <a:solidFill>
            <a:srgbClr val="FFFFFF">
              <a:alpha val="3000"/>
            </a:srgbClr>
          </a:solidFill>
          <a:ln/>
        </p:spPr>
      </p:sp>
      <p:sp>
        <p:nvSpPr>
          <p:cNvPr id="19" name="Shape 17"/>
          <p:cNvSpPr/>
          <p:nvPr/>
        </p:nvSpPr>
        <p:spPr>
          <a:xfrm>
            <a:off x="1066800" y="8030567"/>
            <a:ext cx="7385050" cy="9525"/>
          </a:xfrm>
          <a:prstGeom prst="rect">
            <a:avLst/>
          </a:prstGeom>
          <a:solidFill>
            <a:srgbClr val="FFFFFF">
              <a:alpha val="10000"/>
            </a:srgbClr>
          </a:solidFill>
          <a:ln/>
        </p:spPr>
      </p:sp>
      <p:sp>
        <p:nvSpPr>
          <p:cNvPr id="20" name="Shape 18"/>
          <p:cNvSpPr/>
          <p:nvPr/>
        </p:nvSpPr>
        <p:spPr>
          <a:xfrm>
            <a:off x="1066800" y="6738342"/>
            <a:ext cx="7385050" cy="9525"/>
          </a:xfrm>
          <a:prstGeom prst="rect">
            <a:avLst/>
          </a:prstGeom>
          <a:solidFill>
            <a:srgbClr val="FFFFFF">
              <a:alpha val="10000"/>
            </a:srgbClr>
          </a:solidFill>
          <a:ln/>
        </p:spPr>
      </p:sp>
      <p:sp>
        <p:nvSpPr>
          <p:cNvPr id="21" name="Shape 19"/>
          <p:cNvSpPr/>
          <p:nvPr/>
        </p:nvSpPr>
        <p:spPr>
          <a:xfrm>
            <a:off x="1066800" y="6738342"/>
            <a:ext cx="25400" cy="1298575"/>
          </a:xfrm>
          <a:prstGeom prst="rect">
            <a:avLst/>
          </a:prstGeom>
          <a:solidFill>
            <a:srgbClr val="B897F0"/>
          </a:solidFill>
          <a:ln/>
        </p:spPr>
      </p:sp>
      <p:sp>
        <p:nvSpPr>
          <p:cNvPr id="22" name="Shape 20"/>
          <p:cNvSpPr/>
          <p:nvPr/>
        </p:nvSpPr>
        <p:spPr>
          <a:xfrm>
            <a:off x="8445500" y="6738342"/>
            <a:ext cx="9525" cy="1298575"/>
          </a:xfrm>
          <a:prstGeom prst="rect">
            <a:avLst/>
          </a:prstGeom>
          <a:solidFill>
            <a:srgbClr val="FFFFFF">
              <a:alpha val="10000"/>
            </a:srgbClr>
          </a:solidFill>
          <a:ln/>
        </p:spPr>
      </p:sp>
      <p:sp>
        <p:nvSpPr>
          <p:cNvPr id="23" name="Text 21"/>
          <p:cNvSpPr/>
          <p:nvPr/>
        </p:nvSpPr>
        <p:spPr>
          <a:xfrm>
            <a:off x="1377950" y="7011392"/>
            <a:ext cx="7459980" cy="381000"/>
          </a:xfrm>
          <a:prstGeom prst="rect">
            <a:avLst/>
          </a:prstGeom>
          <a:noFill/>
          <a:ln/>
        </p:spPr>
        <p:txBody>
          <a:bodyPr wrap="square" lIns="25400" tIns="25400" rIns="25400" bIns="25400" rtlCol="0" anchor="t">
            <a:normAutofit/>
          </a:bodyPr>
          <a:lstStyle/>
          <a:p>
            <a:pPr algn="l" indent="0" marL="0">
              <a:buNone/>
            </a:pPr>
            <a:r>
              <a:rPr lang="en-US" sz="2325" b="1" dirty="0">
                <a:solidFill>
                  <a:srgbClr val="B897F0"/>
                </a:solidFill>
                <a:latin typeface="Arial" pitchFamily="34" charset="0"/>
                <a:ea typeface="Arial" pitchFamily="34" charset="-122"/>
                <a:cs typeface="Arial" pitchFamily="34" charset="-120"/>
              </a:rPr>
              <a:t>P</a:t>
            </a:r>
            <a:pPr algn="l" indent="0" marL="0">
              <a:buNone/>
            </a:pPr>
            <a:r>
              <a:rPr lang="en-US" sz="2325" b="1" dirty="0">
                <a:solidFill>
                  <a:srgbClr val="EEF3F9"/>
                </a:solidFill>
                <a:latin typeface="Arial" pitchFamily="34" charset="0"/>
                <a:ea typeface="Arial" pitchFamily="34" charset="-122"/>
                <a:cs typeface="Arial" pitchFamily="34" charset="-120"/>
              </a:rPr>
              <a:t>artition tolerance</a:t>
            </a:r>
            <a:endParaRPr lang="en-US" sz="2325" dirty="0"/>
          </a:p>
        </p:txBody>
      </p:sp>
      <p:sp>
        <p:nvSpPr>
          <p:cNvPr id="24" name="Text 22"/>
          <p:cNvSpPr/>
          <p:nvPr/>
        </p:nvSpPr>
        <p:spPr>
          <a:xfrm>
            <a:off x="1377950" y="7430492"/>
            <a:ext cx="7459980" cy="371475"/>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Le système tient malgré une coupure réseau entre nœuds.</a:t>
            </a:r>
            <a:endParaRPr lang="en-US" sz="1875" dirty="0"/>
          </a:p>
        </p:txBody>
      </p:sp>
      <p:sp>
        <p:nvSpPr>
          <p:cNvPr id="25" name="Shape 23"/>
          <p:cNvSpPr/>
          <p:nvPr/>
        </p:nvSpPr>
        <p:spPr>
          <a:xfrm>
            <a:off x="8985250" y="4076105"/>
            <a:ext cx="8235950" cy="3644900"/>
          </a:xfrm>
          <a:prstGeom prst="roundRect">
            <a:avLst>
              <a:gd name="adj" fmla="val 5226"/>
            </a:avLst>
          </a:prstGeom>
          <a:solidFill>
            <a:srgbClr val="FFFFFF">
              <a:alpha val="3000"/>
            </a:srgbClr>
          </a:solidFill>
          <a:ln w="6350">
            <a:solidFill>
              <a:srgbClr val="C7AFF6">
                <a:alpha val="34000"/>
              </a:srgbClr>
            </a:solidFill>
            <a:prstDash val="solid"/>
          </a:ln>
        </p:spPr>
      </p:sp>
      <p:sp>
        <p:nvSpPr>
          <p:cNvPr id="26" name="Text 24"/>
          <p:cNvSpPr/>
          <p:nvPr/>
        </p:nvSpPr>
        <p:spPr>
          <a:xfrm>
            <a:off x="9410700" y="4520605"/>
            <a:ext cx="8123555" cy="476250"/>
          </a:xfrm>
          <a:prstGeom prst="rect">
            <a:avLst/>
          </a:prstGeom>
          <a:noFill/>
          <a:ln/>
        </p:spPr>
        <p:txBody>
          <a:bodyPr wrap="square" lIns="25400" tIns="25400" rIns="25400" bIns="25400" rtlCol="0" anchor="t">
            <a:normAutofit/>
          </a:bodyPr>
          <a:lstStyle/>
          <a:p>
            <a:pPr algn="l" indent="0" marL="0">
              <a:buNone/>
            </a:pPr>
            <a:r>
              <a:rPr lang="en-US" sz="3000" b="1" dirty="0">
                <a:solidFill>
                  <a:srgbClr val="B897F0"/>
                </a:solidFill>
                <a:latin typeface="Arial" pitchFamily="34" charset="0"/>
                <a:ea typeface="Arial" pitchFamily="34" charset="-122"/>
                <a:cs typeface="Arial" pitchFamily="34" charset="-120"/>
              </a:rPr>
              <a:t>2 sur 3</a:t>
            </a:r>
            <a:endParaRPr lang="en-US" sz="3000" dirty="0"/>
          </a:p>
        </p:txBody>
      </p:sp>
      <p:sp>
        <p:nvSpPr>
          <p:cNvPr id="27" name="Text 25"/>
          <p:cNvSpPr/>
          <p:nvPr/>
        </p:nvSpPr>
        <p:spPr>
          <a:xfrm>
            <a:off x="9410700" y="5149255"/>
            <a:ext cx="7606602" cy="9525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On ne peut garantir simultanément que </a:t>
            </a:r>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deux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des trois propriétés.</a:t>
            </a:r>
            <a:endParaRPr lang="en-US" sz="2400" dirty="0"/>
          </a:p>
        </p:txBody>
      </p:sp>
      <p:sp>
        <p:nvSpPr>
          <p:cNvPr id="28" name="Shape 26"/>
          <p:cNvSpPr/>
          <p:nvPr/>
        </p:nvSpPr>
        <p:spPr>
          <a:xfrm>
            <a:off x="9410700" y="6800255"/>
            <a:ext cx="7385050" cy="9525"/>
          </a:xfrm>
          <a:prstGeom prst="rect">
            <a:avLst/>
          </a:prstGeom>
          <a:solidFill>
            <a:srgbClr val="FFFFFF">
              <a:alpha val="6000"/>
            </a:srgbClr>
          </a:solidFill>
          <a:ln/>
        </p:spPr>
      </p:sp>
      <p:sp>
        <p:nvSpPr>
          <p:cNvPr id="29" name="Text 27"/>
          <p:cNvSpPr/>
          <p:nvPr/>
        </p:nvSpPr>
        <p:spPr>
          <a:xfrm>
            <a:off x="9410700" y="6349405"/>
            <a:ext cx="2056100"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NoSQL distribué</a:t>
            </a:r>
            <a:endParaRPr lang="en-US" sz="2025" dirty="0"/>
          </a:p>
        </p:txBody>
      </p:sp>
      <p:sp>
        <p:nvSpPr>
          <p:cNvPr id="30" name="Text 28"/>
          <p:cNvSpPr/>
          <p:nvPr/>
        </p:nvSpPr>
        <p:spPr>
          <a:xfrm>
            <a:off x="15561271" y="6349405"/>
            <a:ext cx="1357928" cy="374650"/>
          </a:xfrm>
          <a:prstGeom prst="rect">
            <a:avLst/>
          </a:prstGeom>
          <a:noFill/>
          <a:ln/>
        </p:spPr>
        <p:txBody>
          <a:bodyPr wrap="square" lIns="25400" tIns="25400" rIns="25400" bIns="25400" rtlCol="0" anchor="t">
            <a:normAutofit/>
          </a:bodyPr>
          <a:lstStyle/>
          <a:p>
            <a:pPr algn="l" indent="0" marL="0">
              <a:buNone/>
            </a:pPr>
            <a:r>
              <a:rPr lang="en-US" sz="2025" dirty="0">
                <a:solidFill>
                  <a:srgbClr val="B897F0"/>
                </a:solidFill>
                <a:latin typeface="Courier New" pitchFamily="34" charset="0"/>
                <a:ea typeface="Courier New" pitchFamily="34" charset="-122"/>
                <a:cs typeface="Courier New" pitchFamily="34" charset="-120"/>
              </a:rPr>
              <a:t>AP ou CP</a:t>
            </a:r>
            <a:endParaRPr lang="en-US" sz="2025" dirty="0"/>
          </a:p>
        </p:txBody>
      </p:sp>
      <p:sp>
        <p:nvSpPr>
          <p:cNvPr id="31" name="Text 29"/>
          <p:cNvSpPr/>
          <p:nvPr/>
        </p:nvSpPr>
        <p:spPr>
          <a:xfrm>
            <a:off x="9410700" y="6939955"/>
            <a:ext cx="2911326"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SGBDR mono-machine</a:t>
            </a:r>
            <a:endParaRPr lang="en-US" sz="2025" dirty="0"/>
          </a:p>
        </p:txBody>
      </p:sp>
      <p:sp>
        <p:nvSpPr>
          <p:cNvPr id="32" name="Text 30"/>
          <p:cNvSpPr/>
          <p:nvPr/>
        </p:nvSpPr>
        <p:spPr>
          <a:xfrm>
            <a:off x="16487081" y="6939955"/>
            <a:ext cx="384870" cy="374650"/>
          </a:xfrm>
          <a:prstGeom prst="rect">
            <a:avLst/>
          </a:prstGeom>
          <a:noFill/>
          <a:ln/>
        </p:spPr>
        <p:txBody>
          <a:bodyPr wrap="square" lIns="25400" tIns="25400" rIns="25400" bIns="25400" rtlCol="0" anchor="t">
            <a:normAutofit/>
          </a:bodyPr>
          <a:lstStyle/>
          <a:p>
            <a:pPr algn="l" indent="0" marL="0">
              <a:buNone/>
            </a:pPr>
            <a:r>
              <a:rPr lang="en-US" sz="2025" dirty="0">
                <a:solidFill>
                  <a:srgbClr val="FFB46E"/>
                </a:solidFill>
                <a:latin typeface="Courier New" pitchFamily="34" charset="0"/>
                <a:ea typeface="Courier New" pitchFamily="34" charset="-122"/>
                <a:cs typeface="Courier New" pitchFamily="34" charset="-120"/>
              </a:rPr>
              <a:t>CA</a:t>
            </a:r>
            <a:endParaRPr lang="en-US" sz="202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02 · MODÈLES</a:t>
            </a:r>
            <a:endParaRPr lang="en-US" sz="1800" dirty="0"/>
          </a:p>
        </p:txBody>
      </p:sp>
      <p:sp>
        <p:nvSpPr>
          <p:cNvPr id="3" name="Text 1"/>
          <p:cNvSpPr/>
          <p:nvPr/>
        </p:nvSpPr>
        <p:spPr>
          <a:xfrm>
            <a:off x="1066800" y="1314450"/>
            <a:ext cx="9079236"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quatre familles de modèles NoSQL</a:t>
            </a:r>
            <a:endParaRPr lang="en-US" sz="4800" dirty="0"/>
          </a:p>
        </p:txBody>
      </p:sp>
      <p:sp>
        <p:nvSpPr>
          <p:cNvPr id="4" name="Shape 2"/>
          <p:cNvSpPr/>
          <p:nvPr/>
        </p:nvSpPr>
        <p:spPr>
          <a:xfrm>
            <a:off x="1066800" y="3001367"/>
            <a:ext cx="7972425" cy="3128467"/>
          </a:xfrm>
          <a:prstGeom prst="roundRect">
            <a:avLst>
              <a:gd name="adj" fmla="val 5480"/>
            </a:avLst>
          </a:prstGeom>
          <a:solidFill>
            <a:srgbClr val="FFFFFF">
              <a:alpha val="3000"/>
            </a:srgbClr>
          </a:solidFill>
          <a:ln w="6350">
            <a:solidFill>
              <a:srgbClr val="FFFFFF">
                <a:alpha val="10000"/>
              </a:srgbClr>
            </a:solidFill>
            <a:prstDash val="solid"/>
          </a:ln>
        </p:spPr>
      </p:sp>
      <p:sp>
        <p:nvSpPr>
          <p:cNvPr id="5" name="Text 3"/>
          <p:cNvSpPr/>
          <p:nvPr/>
        </p:nvSpPr>
        <p:spPr>
          <a:xfrm>
            <a:off x="1397000" y="3312517"/>
            <a:ext cx="1527969"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Clé-valeur</a:t>
            </a:r>
            <a:endParaRPr lang="en-US" sz="2400" dirty="0"/>
          </a:p>
        </p:txBody>
      </p:sp>
      <p:sp>
        <p:nvSpPr>
          <p:cNvPr id="6" name="Text 4"/>
          <p:cNvSpPr/>
          <p:nvPr/>
        </p:nvSpPr>
        <p:spPr>
          <a:xfrm>
            <a:off x="6514406" y="3356967"/>
            <a:ext cx="241408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Courier New" pitchFamily="34" charset="0"/>
                <a:ea typeface="Courier New" pitchFamily="34" charset="-122"/>
                <a:cs typeface="Courier New" pitchFamily="34" charset="-120"/>
              </a:rPr>
              <a:t>Redis · DynamoDB</a:t>
            </a:r>
            <a:endParaRPr lang="en-US" sz="1800" dirty="0"/>
          </a:p>
        </p:txBody>
      </p:sp>
      <p:sp>
        <p:nvSpPr>
          <p:cNvPr id="7" name="Text 5"/>
          <p:cNvSpPr/>
          <p:nvPr/>
        </p:nvSpPr>
        <p:spPr>
          <a:xfrm>
            <a:off x="1397000" y="3795117"/>
            <a:ext cx="8043228" cy="383381"/>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Une clé associée à une valeur opaque. Cache, sessions, compteurs.</a:t>
            </a:r>
            <a:endParaRPr lang="en-US" sz="1875" dirty="0"/>
          </a:p>
        </p:txBody>
      </p:sp>
      <p:sp>
        <p:nvSpPr>
          <p:cNvPr id="8" name="Shape 6"/>
          <p:cNvSpPr/>
          <p:nvPr/>
        </p:nvSpPr>
        <p:spPr>
          <a:xfrm>
            <a:off x="9248775" y="3001367"/>
            <a:ext cx="7972425" cy="3128467"/>
          </a:xfrm>
          <a:prstGeom prst="roundRect">
            <a:avLst>
              <a:gd name="adj" fmla="val 5480"/>
            </a:avLst>
          </a:prstGeom>
          <a:solidFill>
            <a:srgbClr val="FFFFFF">
              <a:alpha val="3000"/>
            </a:srgbClr>
          </a:solidFill>
          <a:ln w="6350">
            <a:solidFill>
              <a:srgbClr val="C4ACF4">
                <a:alpha val="37000"/>
              </a:srgbClr>
            </a:solidFill>
            <a:prstDash val="solid"/>
          </a:ln>
        </p:spPr>
      </p:sp>
      <p:sp>
        <p:nvSpPr>
          <p:cNvPr id="9" name="Text 7"/>
          <p:cNvSpPr/>
          <p:nvPr/>
        </p:nvSpPr>
        <p:spPr>
          <a:xfrm>
            <a:off x="9578975" y="3312517"/>
            <a:ext cx="2832745"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Orienté documents</a:t>
            </a:r>
            <a:endParaRPr lang="en-US" sz="2400" dirty="0"/>
          </a:p>
        </p:txBody>
      </p:sp>
      <p:sp>
        <p:nvSpPr>
          <p:cNvPr id="10" name="Text 8"/>
          <p:cNvSpPr/>
          <p:nvPr/>
        </p:nvSpPr>
        <p:spPr>
          <a:xfrm>
            <a:off x="14559260" y="3356967"/>
            <a:ext cx="256491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Courier New" pitchFamily="34" charset="0"/>
                <a:ea typeface="Courier New" pitchFamily="34" charset="-122"/>
                <a:cs typeface="Courier New" pitchFamily="34" charset="-120"/>
              </a:rPr>
              <a:t>MongoDB · CouchDB</a:t>
            </a:r>
            <a:endParaRPr lang="en-US" sz="1800" dirty="0"/>
          </a:p>
        </p:txBody>
      </p:sp>
      <p:sp>
        <p:nvSpPr>
          <p:cNvPr id="11" name="Text 9"/>
          <p:cNvSpPr/>
          <p:nvPr/>
        </p:nvSpPr>
        <p:spPr>
          <a:xfrm>
            <a:off x="9578975" y="3795117"/>
            <a:ext cx="7531386" cy="728663"/>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Documents semi-structurés JSON/BSON. Catalogues, contenus, profils.</a:t>
            </a:r>
            <a:endParaRPr lang="en-US" sz="1875" dirty="0"/>
          </a:p>
        </p:txBody>
      </p:sp>
      <p:sp>
        <p:nvSpPr>
          <p:cNvPr id="12" name="Shape 10"/>
          <p:cNvSpPr/>
          <p:nvPr/>
        </p:nvSpPr>
        <p:spPr>
          <a:xfrm>
            <a:off x="1066800" y="6339384"/>
            <a:ext cx="7972425" cy="3128467"/>
          </a:xfrm>
          <a:prstGeom prst="roundRect">
            <a:avLst>
              <a:gd name="adj" fmla="val 5480"/>
            </a:avLst>
          </a:prstGeom>
          <a:solidFill>
            <a:srgbClr val="FFFFFF">
              <a:alpha val="3000"/>
            </a:srgbClr>
          </a:solidFill>
          <a:ln w="6350">
            <a:solidFill>
              <a:srgbClr val="FFFFFF">
                <a:alpha val="10000"/>
              </a:srgbClr>
            </a:solidFill>
            <a:prstDash val="solid"/>
          </a:ln>
        </p:spPr>
      </p:sp>
      <p:sp>
        <p:nvSpPr>
          <p:cNvPr id="13" name="Text 11"/>
          <p:cNvSpPr/>
          <p:nvPr/>
        </p:nvSpPr>
        <p:spPr>
          <a:xfrm>
            <a:off x="1397000" y="6650534"/>
            <a:ext cx="2534791"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Orienté colonnes</a:t>
            </a:r>
            <a:endParaRPr lang="en-US" sz="2400" dirty="0"/>
          </a:p>
        </p:txBody>
      </p:sp>
      <p:sp>
        <p:nvSpPr>
          <p:cNvPr id="14" name="Text 12"/>
          <p:cNvSpPr/>
          <p:nvPr/>
        </p:nvSpPr>
        <p:spPr>
          <a:xfrm>
            <a:off x="6377285" y="6694984"/>
            <a:ext cx="256491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Courier New" pitchFamily="34" charset="0"/>
                <a:ea typeface="Courier New" pitchFamily="34" charset="-122"/>
                <a:cs typeface="Courier New" pitchFamily="34" charset="-120"/>
              </a:rPr>
              <a:t>Cassandra · HBase</a:t>
            </a:r>
            <a:endParaRPr lang="en-US" sz="1800" dirty="0"/>
          </a:p>
        </p:txBody>
      </p:sp>
      <p:sp>
        <p:nvSpPr>
          <p:cNvPr id="15" name="Text 13"/>
          <p:cNvSpPr/>
          <p:nvPr/>
        </p:nvSpPr>
        <p:spPr>
          <a:xfrm>
            <a:off x="1397000" y="7133134"/>
            <a:ext cx="7531386" cy="728663"/>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Familles de colonnes stockées ensemble. Séries temporelles, gros volumes en écriture.</a:t>
            </a:r>
            <a:endParaRPr lang="en-US" sz="1875" dirty="0"/>
          </a:p>
        </p:txBody>
      </p:sp>
      <p:sp>
        <p:nvSpPr>
          <p:cNvPr id="16" name="Shape 14"/>
          <p:cNvSpPr/>
          <p:nvPr/>
        </p:nvSpPr>
        <p:spPr>
          <a:xfrm>
            <a:off x="9248775" y="6339384"/>
            <a:ext cx="7972425" cy="3128467"/>
          </a:xfrm>
          <a:prstGeom prst="roundRect">
            <a:avLst>
              <a:gd name="adj" fmla="val 5480"/>
            </a:avLst>
          </a:prstGeom>
          <a:solidFill>
            <a:srgbClr val="FFFFFF">
              <a:alpha val="3000"/>
            </a:srgbClr>
          </a:solidFill>
          <a:ln w="6350">
            <a:solidFill>
              <a:srgbClr val="FFFFFF">
                <a:alpha val="10000"/>
              </a:srgbClr>
            </a:solidFill>
            <a:prstDash val="solid"/>
          </a:ln>
        </p:spPr>
      </p:sp>
      <p:sp>
        <p:nvSpPr>
          <p:cNvPr id="17" name="Text 15"/>
          <p:cNvSpPr/>
          <p:nvPr/>
        </p:nvSpPr>
        <p:spPr>
          <a:xfrm>
            <a:off x="9578975" y="6650534"/>
            <a:ext cx="2404259"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Orienté graphes</a:t>
            </a:r>
            <a:endParaRPr lang="en-US" sz="2400" dirty="0"/>
          </a:p>
        </p:txBody>
      </p:sp>
      <p:sp>
        <p:nvSpPr>
          <p:cNvPr id="18" name="Text 16"/>
          <p:cNvSpPr/>
          <p:nvPr/>
        </p:nvSpPr>
        <p:spPr>
          <a:xfrm>
            <a:off x="16205200" y="6694984"/>
            <a:ext cx="76200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Courier New" pitchFamily="34" charset="0"/>
                <a:ea typeface="Courier New" pitchFamily="34" charset="-122"/>
                <a:cs typeface="Courier New" pitchFamily="34" charset="-120"/>
              </a:rPr>
              <a:t>Neo4j</a:t>
            </a:r>
            <a:endParaRPr lang="en-US" sz="1800" dirty="0"/>
          </a:p>
        </p:txBody>
      </p:sp>
      <p:sp>
        <p:nvSpPr>
          <p:cNvPr id="19" name="Text 17"/>
          <p:cNvSpPr/>
          <p:nvPr/>
        </p:nvSpPr>
        <p:spPr>
          <a:xfrm>
            <a:off x="9578975" y="7133134"/>
            <a:ext cx="7531386" cy="728663"/>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Nœuds et relations. Réseaux sociaux, recommandations, détection de fraude.</a:t>
            </a:r>
            <a:endParaRPr lang="en-US" sz="187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02 · MONGODB</a:t>
            </a:r>
            <a:endParaRPr lang="en-US" sz="1800" dirty="0"/>
          </a:p>
        </p:txBody>
      </p:sp>
      <p:sp>
        <p:nvSpPr>
          <p:cNvPr id="3" name="Text 1"/>
          <p:cNvSpPr/>
          <p:nvPr/>
        </p:nvSpPr>
        <p:spPr>
          <a:xfrm>
            <a:off x="1066800" y="1314450"/>
            <a:ext cx="9079236"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MongoDB, une base orientée documents</a:t>
            </a:r>
            <a:endParaRPr lang="en-US" sz="4800" dirty="0"/>
          </a:p>
        </p:txBody>
      </p:sp>
      <p:sp>
        <p:nvSpPr>
          <p:cNvPr id="4" name="Text 2"/>
          <p:cNvSpPr/>
          <p:nvPr/>
        </p:nvSpPr>
        <p:spPr>
          <a:xfrm>
            <a:off x="1066800" y="4745137"/>
            <a:ext cx="29904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B897F0"/>
                </a:solidFill>
                <a:latin typeface="Arial" pitchFamily="34" charset="0"/>
                <a:ea typeface="Arial" pitchFamily="34" charset="-122"/>
                <a:cs typeface="Arial" pitchFamily="34" charset="-120"/>
              </a:rPr>
              <a:t>▸</a:t>
            </a:r>
            <a:endParaRPr lang="en-US" sz="2100" dirty="0"/>
          </a:p>
        </p:txBody>
      </p:sp>
      <p:sp>
        <p:nvSpPr>
          <p:cNvPr id="5" name="Text 3"/>
          <p:cNvSpPr/>
          <p:nvPr/>
        </p:nvSpPr>
        <p:spPr>
          <a:xfrm>
            <a:off x="1461095" y="4745137"/>
            <a:ext cx="7686008" cy="891381"/>
          </a:xfrm>
          <a:prstGeom prst="rect">
            <a:avLst/>
          </a:prstGeom>
          <a:noFill/>
          <a:ln/>
        </p:spPr>
        <p:txBody>
          <a:bodyPr wrap="square" lIns="25400" tIns="25400" rIns="25400" bIns="25400" rtlCol="0" anchor="t">
            <a:normAutofit/>
          </a:bodyPr>
          <a:lstStyle/>
          <a:p>
            <a:pPr algn="l" indent="0" marL="0">
              <a:lnSpc>
                <a:spcPct val="122182"/>
              </a:lnSpc>
              <a:buNone/>
            </a:pPr>
            <a:r>
              <a:rPr lang="en-US" sz="2400" dirty="0">
                <a:solidFill>
                  <a:srgbClr val="EEF3F9"/>
                </a:solidFill>
                <a:latin typeface="Arial" pitchFamily="34" charset="0"/>
                <a:ea typeface="Arial" pitchFamily="34" charset="-122"/>
                <a:cs typeface="Arial" pitchFamily="34" charset="-120"/>
              </a:rPr>
              <a:t>Aucun schéma fixe : deux documents d'une même collection peuvent différer</a:t>
            </a:r>
            <a:endParaRPr lang="en-US" sz="2400" dirty="0"/>
          </a:p>
        </p:txBody>
      </p:sp>
      <p:sp>
        <p:nvSpPr>
          <p:cNvPr id="6" name="Text 4"/>
          <p:cNvSpPr/>
          <p:nvPr/>
        </p:nvSpPr>
        <p:spPr>
          <a:xfrm>
            <a:off x="1066800" y="5807968"/>
            <a:ext cx="29904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B897F0"/>
                </a:solidFill>
                <a:latin typeface="Arial" pitchFamily="34" charset="0"/>
                <a:ea typeface="Arial" pitchFamily="34" charset="-122"/>
                <a:cs typeface="Arial" pitchFamily="34" charset="-120"/>
              </a:rPr>
              <a:t>▸</a:t>
            </a:r>
            <a:endParaRPr lang="en-US" sz="2100" dirty="0"/>
          </a:p>
        </p:txBody>
      </p:sp>
      <p:sp>
        <p:nvSpPr>
          <p:cNvPr id="7" name="Text 5"/>
          <p:cNvSpPr/>
          <p:nvPr/>
        </p:nvSpPr>
        <p:spPr>
          <a:xfrm>
            <a:off x="1461095" y="5807968"/>
            <a:ext cx="7686008" cy="891381"/>
          </a:xfrm>
          <a:prstGeom prst="rect">
            <a:avLst/>
          </a:prstGeom>
          <a:noFill/>
          <a:ln/>
        </p:spPr>
        <p:txBody>
          <a:bodyPr wrap="square" lIns="25400" tIns="25400" rIns="25400" bIns="25400" rtlCol="0" anchor="t">
            <a:normAutofit/>
          </a:bodyPr>
          <a:lstStyle/>
          <a:p>
            <a:pPr algn="l" indent="0" marL="0">
              <a:lnSpc>
                <a:spcPct val="122182"/>
              </a:lnSpc>
              <a:buNone/>
            </a:pPr>
            <a:r>
              <a:rPr lang="en-US" sz="2400" dirty="0">
                <a:solidFill>
                  <a:srgbClr val="EEF3F9"/>
                </a:solidFill>
                <a:latin typeface="Arial" pitchFamily="34" charset="0"/>
                <a:ea typeface="Arial" pitchFamily="34" charset="-122"/>
                <a:cs typeface="Arial" pitchFamily="34" charset="-120"/>
              </a:rPr>
              <a:t>Structures imbriquées (sous-documents, tableaux) sans jointure</a:t>
            </a:r>
            <a:endParaRPr lang="en-US" sz="2400" dirty="0"/>
          </a:p>
        </p:txBody>
      </p:sp>
      <p:sp>
        <p:nvSpPr>
          <p:cNvPr id="8" name="Text 6"/>
          <p:cNvSpPr/>
          <p:nvPr/>
        </p:nvSpPr>
        <p:spPr>
          <a:xfrm>
            <a:off x="1066800" y="6870799"/>
            <a:ext cx="299045" cy="393700"/>
          </a:xfrm>
          <a:prstGeom prst="rect">
            <a:avLst/>
          </a:prstGeom>
          <a:noFill/>
          <a:ln/>
        </p:spPr>
        <p:txBody>
          <a:bodyPr wrap="square" lIns="25400" tIns="25400" rIns="25400" bIns="25400" rtlCol="0" anchor="t">
            <a:normAutofit/>
          </a:bodyPr>
          <a:lstStyle/>
          <a:p>
            <a:pPr algn="l" indent="0" marL="0">
              <a:buNone/>
            </a:pPr>
            <a:r>
              <a:rPr lang="en-US" sz="2100" dirty="0">
                <a:solidFill>
                  <a:srgbClr val="B897F0"/>
                </a:solidFill>
                <a:latin typeface="Arial" pitchFamily="34" charset="0"/>
                <a:ea typeface="Arial" pitchFamily="34" charset="-122"/>
                <a:cs typeface="Arial" pitchFamily="34" charset="-120"/>
              </a:rPr>
              <a:t>▸</a:t>
            </a:r>
            <a:endParaRPr lang="en-US" sz="2100" dirty="0"/>
          </a:p>
        </p:txBody>
      </p:sp>
      <p:sp>
        <p:nvSpPr>
          <p:cNvPr id="9" name="Text 7"/>
          <p:cNvSpPr/>
          <p:nvPr/>
        </p:nvSpPr>
        <p:spPr>
          <a:xfrm>
            <a:off x="1461095" y="6870799"/>
            <a:ext cx="7686008" cy="891381"/>
          </a:xfrm>
          <a:prstGeom prst="rect">
            <a:avLst/>
          </a:prstGeom>
          <a:noFill/>
          <a:ln/>
        </p:spPr>
        <p:txBody>
          <a:bodyPr wrap="square" lIns="25400" tIns="25400" rIns="25400" bIns="25400" rtlCol="0" anchor="t">
            <a:normAutofit/>
          </a:bodyPr>
          <a:lstStyle/>
          <a:p>
            <a:pPr algn="l" indent="0" marL="0">
              <a:lnSpc>
                <a:spcPct val="122182"/>
              </a:lnSpc>
              <a:buNone/>
            </a:pPr>
            <a:r>
              <a:rPr lang="en-US" sz="2400" dirty="0">
                <a:solidFill>
                  <a:srgbClr val="EEF3F9"/>
                </a:solidFill>
                <a:latin typeface="Arial" pitchFamily="34" charset="0"/>
                <a:ea typeface="Arial" pitchFamily="34" charset="-122"/>
                <a:cs typeface="Arial" pitchFamily="34" charset="-120"/>
              </a:rPr>
              <a:t>Une syntaxe de requête proche de JSON, facile à prendre en main</a:t>
            </a:r>
            <a:endParaRPr lang="en-US" sz="2400" dirty="0"/>
          </a:p>
        </p:txBody>
      </p:sp>
      <p:sp>
        <p:nvSpPr>
          <p:cNvPr id="10" name="Shape 8"/>
          <p:cNvSpPr/>
          <p:nvPr/>
        </p:nvSpPr>
        <p:spPr>
          <a:xfrm>
            <a:off x="9304238" y="3001367"/>
            <a:ext cx="7916962" cy="6466483"/>
          </a:xfrm>
          <a:prstGeom prst="roundRect">
            <a:avLst>
              <a:gd name="adj" fmla="val 2651"/>
            </a:avLst>
          </a:prstGeom>
          <a:solidFill>
            <a:srgbClr val="FFFFFF">
              <a:alpha val="3000"/>
            </a:srgbClr>
          </a:solidFill>
          <a:ln w="6350">
            <a:solidFill>
              <a:srgbClr val="FFFFFF">
                <a:alpha val="10000"/>
              </a:srgbClr>
            </a:solidFill>
            <a:prstDash val="solid"/>
          </a:ln>
        </p:spPr>
      </p:sp>
      <p:sp>
        <p:nvSpPr>
          <p:cNvPr id="11" name="Shape 9"/>
          <p:cNvSpPr/>
          <p:nvPr/>
        </p:nvSpPr>
        <p:spPr>
          <a:xfrm>
            <a:off x="9691589" y="5110659"/>
            <a:ext cx="7142262" cy="9525"/>
          </a:xfrm>
          <a:prstGeom prst="rect">
            <a:avLst/>
          </a:prstGeom>
          <a:solidFill>
            <a:srgbClr val="FFFFFF">
              <a:alpha val="10000"/>
            </a:srgbClr>
          </a:solidFill>
          <a:ln/>
        </p:spPr>
      </p:sp>
      <p:sp>
        <p:nvSpPr>
          <p:cNvPr id="12" name="Text 10"/>
          <p:cNvSpPr/>
          <p:nvPr/>
        </p:nvSpPr>
        <p:spPr>
          <a:xfrm>
            <a:off x="9691589" y="4596309"/>
            <a:ext cx="4877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SQL</a:t>
            </a:r>
            <a:endParaRPr lang="en-US" sz="1800" dirty="0"/>
          </a:p>
        </p:txBody>
      </p:sp>
      <p:sp>
        <p:nvSpPr>
          <p:cNvPr id="13" name="Text 11"/>
          <p:cNvSpPr/>
          <p:nvPr/>
        </p:nvSpPr>
        <p:spPr>
          <a:xfrm>
            <a:off x="15873710" y="4596309"/>
            <a:ext cx="103634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Courier New" pitchFamily="34" charset="0"/>
                <a:ea typeface="Courier New" pitchFamily="34" charset="-122"/>
                <a:cs typeface="Courier New" pitchFamily="34" charset="-120"/>
              </a:rPr>
              <a:t>MongoDB</a:t>
            </a:r>
            <a:endParaRPr lang="en-US" sz="1800" dirty="0"/>
          </a:p>
        </p:txBody>
      </p:sp>
      <p:sp>
        <p:nvSpPr>
          <p:cNvPr id="14" name="Shape 12"/>
          <p:cNvSpPr/>
          <p:nvPr/>
        </p:nvSpPr>
        <p:spPr>
          <a:xfrm>
            <a:off x="9691589" y="5834559"/>
            <a:ext cx="7142262" cy="9525"/>
          </a:xfrm>
          <a:prstGeom prst="rect">
            <a:avLst/>
          </a:prstGeom>
          <a:solidFill>
            <a:srgbClr val="FFFFFF">
              <a:alpha val="6000"/>
            </a:srgbClr>
          </a:solidFill>
          <a:ln/>
        </p:spPr>
      </p:sp>
      <p:sp>
        <p:nvSpPr>
          <p:cNvPr id="15" name="Text 13"/>
          <p:cNvSpPr/>
          <p:nvPr/>
        </p:nvSpPr>
        <p:spPr>
          <a:xfrm>
            <a:off x="9691589" y="5307509"/>
            <a:ext cx="702965"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Table</a:t>
            </a:r>
            <a:endParaRPr lang="en-US" sz="2025" dirty="0"/>
          </a:p>
        </p:txBody>
      </p:sp>
      <p:sp>
        <p:nvSpPr>
          <p:cNvPr id="16" name="Text 14"/>
          <p:cNvSpPr/>
          <p:nvPr/>
        </p:nvSpPr>
        <p:spPr>
          <a:xfrm>
            <a:off x="15290800" y="5307509"/>
            <a:ext cx="1697355" cy="374650"/>
          </a:xfrm>
          <a:prstGeom prst="rect">
            <a:avLst/>
          </a:prstGeom>
          <a:noFill/>
          <a:ln/>
        </p:spPr>
        <p:txBody>
          <a:bodyPr wrap="square" lIns="25400" tIns="25400" rIns="25400" bIns="25400" rtlCol="0" anchor="t">
            <a:normAutofit/>
          </a:bodyPr>
          <a:lstStyle/>
          <a:p>
            <a:pPr algn="l" indent="0" marL="0">
              <a:buNone/>
            </a:pPr>
            <a:r>
              <a:rPr lang="en-US" sz="2025" dirty="0">
                <a:solidFill>
                  <a:srgbClr val="EEF3F9"/>
                </a:solidFill>
                <a:latin typeface="Courier New" pitchFamily="34" charset="0"/>
                <a:ea typeface="Courier New" pitchFamily="34" charset="-122"/>
                <a:cs typeface="Courier New" pitchFamily="34" charset="-120"/>
              </a:rPr>
              <a:t>Collection</a:t>
            </a:r>
            <a:endParaRPr lang="en-US" sz="2025" dirty="0"/>
          </a:p>
        </p:txBody>
      </p:sp>
      <p:sp>
        <p:nvSpPr>
          <p:cNvPr id="17" name="Shape 15"/>
          <p:cNvSpPr/>
          <p:nvPr/>
        </p:nvSpPr>
        <p:spPr>
          <a:xfrm>
            <a:off x="9691589" y="6558459"/>
            <a:ext cx="7142262" cy="9525"/>
          </a:xfrm>
          <a:prstGeom prst="rect">
            <a:avLst/>
          </a:prstGeom>
          <a:solidFill>
            <a:srgbClr val="FFFFFF">
              <a:alpha val="6000"/>
            </a:srgbClr>
          </a:solidFill>
          <a:ln/>
        </p:spPr>
      </p:sp>
      <p:sp>
        <p:nvSpPr>
          <p:cNvPr id="18" name="Text 16"/>
          <p:cNvSpPr/>
          <p:nvPr/>
        </p:nvSpPr>
        <p:spPr>
          <a:xfrm>
            <a:off x="9691589" y="6031409"/>
            <a:ext cx="692448"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Ligne</a:t>
            </a:r>
            <a:endParaRPr lang="en-US" sz="2025" dirty="0"/>
          </a:p>
        </p:txBody>
      </p:sp>
      <p:sp>
        <p:nvSpPr>
          <p:cNvPr id="19" name="Text 17"/>
          <p:cNvSpPr/>
          <p:nvPr/>
        </p:nvSpPr>
        <p:spPr>
          <a:xfrm>
            <a:off x="15599371" y="6031409"/>
            <a:ext cx="1357928" cy="374650"/>
          </a:xfrm>
          <a:prstGeom prst="rect">
            <a:avLst/>
          </a:prstGeom>
          <a:noFill/>
          <a:ln/>
        </p:spPr>
        <p:txBody>
          <a:bodyPr wrap="square" lIns="25400" tIns="25400" rIns="25400" bIns="25400" rtlCol="0" anchor="t">
            <a:normAutofit/>
          </a:bodyPr>
          <a:lstStyle/>
          <a:p>
            <a:pPr algn="l" indent="0" marL="0">
              <a:buNone/>
            </a:pPr>
            <a:r>
              <a:rPr lang="en-US" sz="2025" dirty="0">
                <a:solidFill>
                  <a:srgbClr val="EEF3F9"/>
                </a:solidFill>
                <a:latin typeface="Courier New" pitchFamily="34" charset="0"/>
                <a:ea typeface="Courier New" pitchFamily="34" charset="-122"/>
                <a:cs typeface="Courier New" pitchFamily="34" charset="-120"/>
              </a:rPr>
              <a:t>Document</a:t>
            </a:r>
            <a:endParaRPr lang="en-US" sz="2025" dirty="0"/>
          </a:p>
        </p:txBody>
      </p:sp>
      <p:sp>
        <p:nvSpPr>
          <p:cNvPr id="20" name="Shape 18"/>
          <p:cNvSpPr/>
          <p:nvPr/>
        </p:nvSpPr>
        <p:spPr>
          <a:xfrm>
            <a:off x="9691589" y="7282359"/>
            <a:ext cx="7142262" cy="9525"/>
          </a:xfrm>
          <a:prstGeom prst="rect">
            <a:avLst/>
          </a:prstGeom>
          <a:solidFill>
            <a:srgbClr val="FFFFFF">
              <a:alpha val="6000"/>
            </a:srgbClr>
          </a:solidFill>
          <a:ln/>
        </p:spPr>
      </p:sp>
      <p:sp>
        <p:nvSpPr>
          <p:cNvPr id="21" name="Text 19"/>
          <p:cNvSpPr/>
          <p:nvPr/>
        </p:nvSpPr>
        <p:spPr>
          <a:xfrm>
            <a:off x="9691589" y="6755309"/>
            <a:ext cx="1027311"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Colonne</a:t>
            </a:r>
            <a:endParaRPr lang="en-US" sz="2025" dirty="0"/>
          </a:p>
        </p:txBody>
      </p:sp>
      <p:sp>
        <p:nvSpPr>
          <p:cNvPr id="22" name="Text 20"/>
          <p:cNvSpPr/>
          <p:nvPr/>
        </p:nvSpPr>
        <p:spPr>
          <a:xfrm>
            <a:off x="14827846" y="6755309"/>
            <a:ext cx="2206605" cy="374650"/>
          </a:xfrm>
          <a:prstGeom prst="rect">
            <a:avLst/>
          </a:prstGeom>
          <a:noFill/>
          <a:ln/>
        </p:spPr>
        <p:txBody>
          <a:bodyPr wrap="square" lIns="25400" tIns="25400" rIns="25400" bIns="25400" rtlCol="0" anchor="t">
            <a:normAutofit/>
          </a:bodyPr>
          <a:lstStyle/>
          <a:p>
            <a:pPr algn="l" indent="0" marL="0">
              <a:buNone/>
            </a:pPr>
            <a:r>
              <a:rPr lang="en-US" sz="2025" dirty="0">
                <a:solidFill>
                  <a:srgbClr val="EEF3F9"/>
                </a:solidFill>
                <a:latin typeface="Courier New" pitchFamily="34" charset="0"/>
                <a:ea typeface="Courier New" pitchFamily="34" charset="-122"/>
                <a:cs typeface="Courier New" pitchFamily="34" charset="-120"/>
              </a:rPr>
              <a:t>Champ (field)</a:t>
            </a:r>
            <a:endParaRPr lang="en-US" sz="2025" dirty="0"/>
          </a:p>
        </p:txBody>
      </p:sp>
      <p:sp>
        <p:nvSpPr>
          <p:cNvPr id="23" name="Text 21"/>
          <p:cNvSpPr/>
          <p:nvPr/>
        </p:nvSpPr>
        <p:spPr>
          <a:xfrm>
            <a:off x="9691589" y="7479209"/>
            <a:ext cx="1539865"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Clé primaire</a:t>
            </a:r>
            <a:endParaRPr lang="en-US" sz="2025" dirty="0"/>
          </a:p>
        </p:txBody>
      </p:sp>
      <p:sp>
        <p:nvSpPr>
          <p:cNvPr id="24" name="Text 22"/>
          <p:cNvSpPr/>
          <p:nvPr/>
        </p:nvSpPr>
        <p:spPr>
          <a:xfrm>
            <a:off x="16370896" y="7479209"/>
            <a:ext cx="539155" cy="374650"/>
          </a:xfrm>
          <a:prstGeom prst="rect">
            <a:avLst/>
          </a:prstGeom>
          <a:noFill/>
          <a:ln/>
        </p:spPr>
        <p:txBody>
          <a:bodyPr wrap="square" lIns="25400" tIns="25400" rIns="25400" bIns="25400" rtlCol="0" anchor="t">
            <a:normAutofit/>
          </a:bodyPr>
          <a:lstStyle/>
          <a:p>
            <a:pPr algn="l" indent="0" marL="0">
              <a:buNone/>
            </a:pPr>
            <a:r>
              <a:rPr lang="en-US" sz="2025" dirty="0">
                <a:solidFill>
                  <a:srgbClr val="EEF3F9"/>
                </a:solidFill>
                <a:latin typeface="Courier New" pitchFamily="34" charset="0"/>
                <a:ea typeface="Courier New" pitchFamily="34" charset="-122"/>
                <a:cs typeface="Courier New" pitchFamily="34" charset="-120"/>
              </a:rPr>
              <a:t>_id</a:t>
            </a:r>
            <a:endParaRPr lang="en-US" sz="2025"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02 · COUNTRIES.JSON</a:t>
            </a:r>
            <a:endParaRPr lang="en-US" sz="1800" dirty="0"/>
          </a:p>
        </p:txBody>
      </p:sp>
      <p:sp>
        <p:nvSpPr>
          <p:cNvPr id="3" name="Text 1"/>
          <p:cNvSpPr/>
          <p:nvPr/>
        </p:nvSpPr>
        <p:spPr>
          <a:xfrm>
            <a:off x="1066800" y="1314450"/>
            <a:ext cx="8950404"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Un document JSON imbriqué</a:t>
            </a:r>
            <a:endParaRPr lang="en-US" sz="4800" dirty="0"/>
          </a:p>
        </p:txBody>
      </p:sp>
      <p:sp>
        <p:nvSpPr>
          <p:cNvPr id="4" name="Shape 2"/>
          <p:cNvSpPr/>
          <p:nvPr/>
        </p:nvSpPr>
        <p:spPr>
          <a:xfrm>
            <a:off x="1066800" y="2329359"/>
            <a:ext cx="9503371" cy="7138492"/>
          </a:xfrm>
          <a:prstGeom prst="roundRect">
            <a:avLst>
              <a:gd name="adj" fmla="val 2135"/>
            </a:avLst>
          </a:prstGeom>
          <a:solidFill>
            <a:srgbClr val="06090E"/>
          </a:solidFill>
          <a:ln w="6350">
            <a:solidFill>
              <a:srgbClr val="FFFFFF">
                <a:alpha val="10000"/>
              </a:srgbClr>
            </a:solidFill>
            <a:prstDash val="solid"/>
          </a:ln>
        </p:spPr>
      </p:sp>
      <p:sp>
        <p:nvSpPr>
          <p:cNvPr id="5" name="Shape 3"/>
          <p:cNvSpPr/>
          <p:nvPr/>
        </p:nvSpPr>
        <p:spPr>
          <a:xfrm>
            <a:off x="1073150" y="2945309"/>
            <a:ext cx="9490671" cy="9525"/>
          </a:xfrm>
          <a:prstGeom prst="rect">
            <a:avLst/>
          </a:prstGeom>
          <a:solidFill>
            <a:srgbClr val="FFFFFF">
              <a:alpha val="6000"/>
            </a:srgbClr>
          </a:solidFill>
          <a:ln/>
        </p:spPr>
      </p:sp>
      <p:sp>
        <p:nvSpPr>
          <p:cNvPr id="6" name="Shape 4"/>
          <p:cNvSpPr/>
          <p:nvPr/>
        </p:nvSpPr>
        <p:spPr>
          <a:xfrm>
            <a:off x="1282700" y="2578596"/>
            <a:ext cx="123825" cy="123825"/>
          </a:xfrm>
          <a:prstGeom prst="ellipse">
            <a:avLst/>
          </a:prstGeom>
          <a:solidFill>
            <a:srgbClr val="FF5F57"/>
          </a:solidFill>
          <a:ln/>
        </p:spPr>
      </p:sp>
      <p:sp>
        <p:nvSpPr>
          <p:cNvPr id="7" name="Shape 5"/>
          <p:cNvSpPr/>
          <p:nvPr/>
        </p:nvSpPr>
        <p:spPr>
          <a:xfrm>
            <a:off x="1501775" y="2578596"/>
            <a:ext cx="123825" cy="123825"/>
          </a:xfrm>
          <a:prstGeom prst="ellipse">
            <a:avLst/>
          </a:prstGeom>
          <a:solidFill>
            <a:srgbClr val="FEBC2E"/>
          </a:solidFill>
          <a:ln/>
        </p:spPr>
      </p:sp>
      <p:sp>
        <p:nvSpPr>
          <p:cNvPr id="8" name="Shape 6"/>
          <p:cNvSpPr/>
          <p:nvPr/>
        </p:nvSpPr>
        <p:spPr>
          <a:xfrm>
            <a:off x="1720850" y="2578596"/>
            <a:ext cx="123825" cy="123825"/>
          </a:xfrm>
          <a:prstGeom prst="ellipse">
            <a:avLst/>
          </a:prstGeom>
          <a:solidFill>
            <a:srgbClr val="28C840"/>
          </a:solidFill>
          <a:ln/>
        </p:spPr>
      </p:sp>
      <p:sp>
        <p:nvSpPr>
          <p:cNvPr id="9" name="Text 7"/>
          <p:cNvSpPr/>
          <p:nvPr/>
        </p:nvSpPr>
        <p:spPr>
          <a:xfrm>
            <a:off x="2054225" y="2488109"/>
            <a:ext cx="377190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geodb.countries — Senegal</a:t>
            </a:r>
            <a:endParaRPr lang="en-US" sz="1800" dirty="0"/>
          </a:p>
        </p:txBody>
      </p:sp>
      <p:sp>
        <p:nvSpPr>
          <p:cNvPr id="10" name="Text 8"/>
          <p:cNvSpPr/>
          <p:nvPr/>
        </p:nvSpPr>
        <p:spPr>
          <a:xfrm>
            <a:off x="1358900" y="3199309"/>
            <a:ext cx="9203891" cy="5145881"/>
          </a:xfrm>
          <a:prstGeom prst="rect">
            <a:avLst/>
          </a:prstGeom>
          <a:noFill/>
          <a:ln/>
        </p:spPr>
        <p:txBody>
          <a:bodyPr wrap="none" lIns="25400" tIns="25400" rIns="25400" bIns="25400" rtlCol="0" anchor="t">
            <a:normAutofit/>
          </a:bodyPr>
          <a:lstStyle/>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"name"</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FFB46E"/>
                </a:solidFill>
                <a:latin typeface="Courier New" pitchFamily="34" charset="0"/>
                <a:ea typeface="Courier New" pitchFamily="34" charset="-122"/>
                <a:cs typeface="Courier New" pitchFamily="34" charset="-120"/>
              </a:rPr>
              <a:t>"Senegal"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"capital"</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FFB46E"/>
                </a:solidFill>
                <a:latin typeface="Courier New" pitchFamily="34" charset="0"/>
                <a:ea typeface="Courier New" pitchFamily="34" charset="-122"/>
                <a:cs typeface="Courier New" pitchFamily="34" charset="-120"/>
              </a:rPr>
              <a:t>"Dakar"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"region"</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FFB46E"/>
                </a:solidFill>
                <a:latin typeface="Courier New" pitchFamily="34" charset="0"/>
                <a:ea typeface="Courier New" pitchFamily="34" charset="-122"/>
                <a:cs typeface="Courier New" pitchFamily="34" charset="-120"/>
              </a:rPr>
              <a:t>"Africa"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"subregion"</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FFB46E"/>
                </a:solidFill>
                <a:latin typeface="Courier New" pitchFamily="34" charset="0"/>
                <a:ea typeface="Courier New" pitchFamily="34" charset="-122"/>
                <a:cs typeface="Courier New" pitchFamily="34" charset="-120"/>
              </a:rPr>
              <a:t>"Western Africa"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"population"</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E6C07B"/>
                </a:solidFill>
                <a:latin typeface="Courier New" pitchFamily="34" charset="0"/>
                <a:ea typeface="Courier New" pitchFamily="34" charset="-122"/>
                <a:cs typeface="Courier New" pitchFamily="34" charset="-120"/>
              </a:rPr>
              <a:t>14799859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"currencies"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"code"</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FFB46E"/>
                </a:solidFill>
                <a:latin typeface="Courier New" pitchFamily="34" charset="0"/>
                <a:ea typeface="Courier New" pitchFamily="34" charset="-122"/>
                <a:cs typeface="Courier New" pitchFamily="34" charset="-120"/>
              </a:rPr>
              <a:t>"XOF"</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"name"</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FFB46E"/>
                </a:solidFill>
                <a:latin typeface="Courier New" pitchFamily="34" charset="0"/>
                <a:ea typeface="Courier New" pitchFamily="34" charset="-122"/>
                <a:cs typeface="Courier New" pitchFamily="34" charset="-120"/>
              </a:rPr>
              <a:t>"West African CFA franc"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"languages"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  </a:t>
            </a:r>
            <a:endParaRPr lang="en-US" sz="1875" dirty="0"/>
          </a:p>
          <a:p>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"iso639_1"</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FFB46E"/>
                </a:solidFill>
                <a:latin typeface="Courier New" pitchFamily="34" charset="0"/>
                <a:ea typeface="Courier New" pitchFamily="34" charset="-122"/>
                <a:cs typeface="Courier New" pitchFamily="34" charset="-120"/>
              </a:rPr>
              <a:t>"fr"</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B897F0"/>
                </a:solidFill>
                <a:latin typeface="Courier New" pitchFamily="34" charset="0"/>
                <a:ea typeface="Courier New" pitchFamily="34" charset="-122"/>
                <a:cs typeface="Courier New" pitchFamily="34" charset="-120"/>
              </a:rPr>
              <a:t>"name"</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pPr algn="l" indent="0" marL="0">
              <a:lnSpc>
                <a:spcPct val="147321"/>
              </a:lnSpc>
              <a:buNone/>
            </a:pPr>
            <a:r>
              <a:rPr lang="en-US" sz="1875" dirty="0">
                <a:solidFill>
                  <a:srgbClr val="FFB46E"/>
                </a:solidFill>
                <a:latin typeface="Courier New" pitchFamily="34" charset="0"/>
                <a:ea typeface="Courier New" pitchFamily="34" charset="-122"/>
                <a:cs typeface="Courier New" pitchFamily="34" charset="-120"/>
              </a:rPr>
              <a:t>"French" </a:t>
            </a:r>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  ]</a:t>
            </a:r>
            <a:endParaRPr lang="en-US" sz="1875" dirty="0"/>
          </a:p>
          <a:p>
            <a:pPr algn="l" indent="0" marL="0">
              <a:lnSpc>
                <a:spcPct val="147321"/>
              </a:lnSpc>
              <a:buNone/>
            </a:pPr>
            <a:r>
              <a:rPr lang="en-US" sz="1875" dirty="0">
                <a:solidFill>
                  <a:srgbClr val="CDD7E3"/>
                </a:solidFill>
                <a:latin typeface="Courier New" pitchFamily="34" charset="0"/>
                <a:ea typeface="Courier New" pitchFamily="34" charset="-122"/>
                <a:cs typeface="Courier New" pitchFamily="34" charset="-120"/>
              </a:rPr>
              <a:t>}</a:t>
            </a:r>
            <a:endParaRPr lang="en-US" sz="1875" dirty="0"/>
          </a:p>
        </p:txBody>
      </p:sp>
      <p:sp>
        <p:nvSpPr>
          <p:cNvPr id="11" name="Text 9"/>
          <p:cNvSpPr/>
          <p:nvPr/>
        </p:nvSpPr>
        <p:spPr>
          <a:xfrm>
            <a:off x="10894021" y="4364137"/>
            <a:ext cx="6516995" cy="782836"/>
          </a:xfrm>
          <a:prstGeom prst="rect">
            <a:avLst/>
          </a:prstGeom>
          <a:noFill/>
          <a:ln/>
        </p:spPr>
        <p:txBody>
          <a:bodyPr wrap="square" lIns="25400" tIns="25400" rIns="25400" bIns="25400" rtlCol="0" anchor="t">
            <a:normAutofit/>
          </a:bodyPr>
          <a:lstStyle/>
          <a:p>
            <a:pPr algn="l" indent="0" marL="0">
              <a:lnSpc>
                <a:spcPct val="99407"/>
              </a:lnSpc>
              <a:buNone/>
            </a:pPr>
            <a:r>
              <a:rPr lang="en-US" sz="2550" b="1" dirty="0">
                <a:solidFill>
                  <a:srgbClr val="EEF3F9"/>
                </a:solidFill>
                <a:latin typeface="Arial" pitchFamily="34" charset="0"/>
                <a:ea typeface="Arial" pitchFamily="34" charset="-122"/>
                <a:cs typeface="Arial" pitchFamily="34" charset="-120"/>
              </a:rPr>
              <a:t>Structure hiérarchique d’un document BSON</a:t>
            </a:r>
            <a:endParaRPr lang="en-US" sz="2550" dirty="0"/>
          </a:p>
        </p:txBody>
      </p:sp>
      <p:sp>
        <p:nvSpPr>
          <p:cNvPr id="12" name="Text 10"/>
          <p:cNvSpPr/>
          <p:nvPr/>
        </p:nvSpPr>
        <p:spPr>
          <a:xfrm>
            <a:off x="10894021" y="5356523"/>
            <a:ext cx="6516995" cy="9525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Les champs </a:t>
            </a:r>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currencies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et </a:t>
            </a:r>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languages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sont des tableaux d'objets embarqués.</a:t>
            </a:r>
            <a:endParaRPr lang="en-US" sz="2400" dirty="0"/>
          </a:p>
        </p:txBody>
      </p:sp>
      <p:sp>
        <p:nvSpPr>
          <p:cNvPr id="13" name="Text 11"/>
          <p:cNvSpPr/>
          <p:nvPr/>
        </p:nvSpPr>
        <p:spPr>
          <a:xfrm>
            <a:off x="10894021" y="6518573"/>
            <a:ext cx="6516995" cy="9525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On filtre directement sur un champ imbriqué — </a:t>
            </a:r>
            <a:pPr algn="l" indent="0" marL="0">
              <a:lnSpc>
                <a:spcPct val="130909"/>
              </a:lnSpc>
              <a:buNone/>
            </a:pPr>
            <a:r>
              <a:rPr lang="en-US" sz="1950" dirty="0">
                <a:solidFill>
                  <a:srgbClr val="B897F0"/>
                </a:solidFill>
                <a:latin typeface="Courier New" pitchFamily="34" charset="0"/>
                <a:ea typeface="Courier New" pitchFamily="34" charset="-122"/>
                <a:cs typeface="Courier New" pitchFamily="34" charset="-120"/>
              </a:rPr>
              <a:t>"currencies.name"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 sans aucune jointure.</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02 · PRATIQUE</a:t>
            </a:r>
            <a:endParaRPr lang="en-US" sz="1800" dirty="0"/>
          </a:p>
        </p:txBody>
      </p:sp>
      <p:sp>
        <p:nvSpPr>
          <p:cNvPr id="3" name="Text 1"/>
          <p:cNvSpPr/>
          <p:nvPr/>
        </p:nvSpPr>
        <p:spPr>
          <a:xfrm>
            <a:off x="1066800" y="1314450"/>
            <a:ext cx="10476041" cy="1326753"/>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Interroger MongoDB : </a:t>
            </a:r>
            <a:pPr algn="l" indent="0" marL="0">
              <a:lnSpc>
                <a:spcPct val="90764"/>
              </a:lnSpc>
              <a:buNone/>
            </a:pPr>
            <a:r>
              <a:rPr lang="en-US" sz="3900" b="1" spc="-96" kern="0" dirty="0">
                <a:solidFill>
                  <a:srgbClr val="B897F0"/>
                </a:solidFill>
                <a:latin typeface="Courier New" pitchFamily="34" charset="0"/>
                <a:ea typeface="Courier New" pitchFamily="34" charset="-122"/>
                <a:cs typeface="Courier New" pitchFamily="34" charset="-120"/>
              </a:rPr>
              <a:t>find </a:t>
            </a:r>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et </a:t>
            </a:r>
            <a:pPr algn="l" indent="0" marL="0">
              <a:lnSpc>
                <a:spcPct val="90764"/>
              </a:lnSpc>
              <a:buNone/>
            </a:pPr>
            <a:r>
              <a:rPr lang="en-US" sz="3900" b="1" spc="-96" kern="0" dirty="0">
                <a:solidFill>
                  <a:srgbClr val="B897F0"/>
                </a:solidFill>
                <a:latin typeface="Courier New" pitchFamily="34" charset="0"/>
                <a:ea typeface="Courier New" pitchFamily="34" charset="-122"/>
                <a:cs typeface="Courier New" pitchFamily="34" charset="-120"/>
              </a:rPr>
              <a:t>aggregate</a:t>
            </a:r>
            <a:endParaRPr lang="en-US" sz="4800" dirty="0"/>
          </a:p>
        </p:txBody>
      </p:sp>
      <p:sp>
        <p:nvSpPr>
          <p:cNvPr id="4" name="Shape 2"/>
          <p:cNvSpPr/>
          <p:nvPr/>
        </p:nvSpPr>
        <p:spPr>
          <a:xfrm>
            <a:off x="1066800" y="2965053"/>
            <a:ext cx="7934325" cy="5728097"/>
          </a:xfrm>
          <a:prstGeom prst="roundRect">
            <a:avLst>
              <a:gd name="adj" fmla="val 2661"/>
            </a:avLst>
          </a:prstGeom>
          <a:solidFill>
            <a:srgbClr val="06090E"/>
          </a:solidFill>
          <a:ln w="6350">
            <a:solidFill>
              <a:srgbClr val="FFFFFF">
                <a:alpha val="10000"/>
              </a:srgbClr>
            </a:solidFill>
            <a:prstDash val="solid"/>
          </a:ln>
        </p:spPr>
      </p:sp>
      <p:sp>
        <p:nvSpPr>
          <p:cNvPr id="5" name="Shape 3"/>
          <p:cNvSpPr/>
          <p:nvPr/>
        </p:nvSpPr>
        <p:spPr>
          <a:xfrm>
            <a:off x="1073150" y="3581003"/>
            <a:ext cx="7921625" cy="9525"/>
          </a:xfrm>
          <a:prstGeom prst="rect">
            <a:avLst/>
          </a:prstGeom>
          <a:solidFill>
            <a:srgbClr val="FFFFFF">
              <a:alpha val="6000"/>
            </a:srgbClr>
          </a:solidFill>
          <a:ln/>
        </p:spPr>
      </p:sp>
      <p:sp>
        <p:nvSpPr>
          <p:cNvPr id="6" name="Text 4"/>
          <p:cNvSpPr/>
          <p:nvPr/>
        </p:nvSpPr>
        <p:spPr>
          <a:xfrm>
            <a:off x="1301750" y="3123803"/>
            <a:ext cx="770207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find · filtre + projection</a:t>
            </a:r>
            <a:endParaRPr lang="en-US" sz="1800" dirty="0"/>
          </a:p>
        </p:txBody>
      </p:sp>
      <p:sp>
        <p:nvSpPr>
          <p:cNvPr id="7" name="Text 5"/>
          <p:cNvSpPr/>
          <p:nvPr/>
        </p:nvSpPr>
        <p:spPr>
          <a:xfrm>
            <a:off x="1339850" y="3835003"/>
            <a:ext cx="7625874" cy="1980803"/>
          </a:xfrm>
          <a:prstGeom prst="rect">
            <a:avLst/>
          </a:prstGeom>
          <a:noFill/>
          <a:ln/>
        </p:spPr>
        <p:txBody>
          <a:bodyPr wrap="none" lIns="25400" tIns="25400" rIns="25400" bIns="25400" rtlCol="0" anchor="t">
            <a:normAutofit/>
          </a:bodyPr>
          <a:lstStyle/>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db.countries.</a:t>
            </a:r>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find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region:  </a:t>
            </a:r>
            <a:endParaRPr lang="en-US" sz="1800" dirty="0"/>
          </a:p>
          <a:p>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"Africa"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population: {  </a:t>
            </a:r>
            <a:endParaRPr lang="en-US" sz="1800" dirty="0"/>
          </a:p>
          <a:p>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$lt</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t>
            </a:r>
            <a:pPr algn="l" indent="0" marL="0">
              <a:lnSpc>
                <a:spcPct val="149268"/>
              </a:lnSpc>
              <a:buNone/>
            </a:pPr>
            <a:r>
              <a:rPr lang="en-US" sz="1800" dirty="0">
                <a:solidFill>
                  <a:srgbClr val="E6C07B"/>
                </a:solidFill>
                <a:latin typeface="Courier New" pitchFamily="34" charset="0"/>
                <a:ea typeface="Courier New" pitchFamily="34" charset="-122"/>
                <a:cs typeface="Courier New" pitchFamily="34" charset="-120"/>
              </a:rPr>
              <a:t>8000000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name:  </a:t>
            </a:r>
            <a:endParaRPr lang="en-US" sz="1800" dirty="0"/>
          </a:p>
          <a:p>
            <a:pPr algn="l" indent="0" marL="0">
              <a:lnSpc>
                <a:spcPct val="149268"/>
              </a:lnSpc>
              <a:buNone/>
            </a:pPr>
            <a:r>
              <a:rPr lang="en-US" sz="1800" dirty="0">
                <a:solidFill>
                  <a:srgbClr val="E6C07B"/>
                </a:solidFill>
                <a:latin typeface="Courier New" pitchFamily="34" charset="0"/>
                <a:ea typeface="Courier New" pitchFamily="34" charset="-122"/>
                <a:cs typeface="Courier New" pitchFamily="34" charset="-120"/>
              </a:rPr>
              <a:t>1</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capital: </a:t>
            </a:r>
            <a:pPr algn="l" indent="0" marL="0">
              <a:lnSpc>
                <a:spcPct val="149268"/>
              </a:lnSpc>
              <a:buNone/>
            </a:pPr>
            <a:r>
              <a:rPr lang="en-US" sz="1800" dirty="0">
                <a:solidFill>
                  <a:srgbClr val="E6C07B"/>
                </a:solidFill>
                <a:latin typeface="Courier New" pitchFamily="34" charset="0"/>
                <a:ea typeface="Courier New" pitchFamily="34" charset="-122"/>
                <a:cs typeface="Courier New" pitchFamily="34" charset="-120"/>
              </a:rPr>
              <a:t>1</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_id: </a:t>
            </a:r>
            <a:pPr algn="l" indent="0" marL="0">
              <a:lnSpc>
                <a:spcPct val="149268"/>
              </a:lnSpc>
              <a:buNone/>
            </a:pPr>
            <a:r>
              <a:rPr lang="en-US" sz="1800" dirty="0">
                <a:solidFill>
                  <a:srgbClr val="E6C07B"/>
                </a:solidFill>
                <a:latin typeface="Courier New" pitchFamily="34" charset="0"/>
                <a:ea typeface="Courier New" pitchFamily="34" charset="-122"/>
                <a:cs typeface="Courier New" pitchFamily="34" charset="-120"/>
              </a:rPr>
              <a:t>0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p:txBody>
      </p:sp>
      <p:sp>
        <p:nvSpPr>
          <p:cNvPr id="8" name="Shape 6"/>
          <p:cNvSpPr/>
          <p:nvPr/>
        </p:nvSpPr>
        <p:spPr>
          <a:xfrm>
            <a:off x="9286875" y="2965053"/>
            <a:ext cx="7934325" cy="5728097"/>
          </a:xfrm>
          <a:prstGeom prst="roundRect">
            <a:avLst>
              <a:gd name="adj" fmla="val 2661"/>
            </a:avLst>
          </a:prstGeom>
          <a:solidFill>
            <a:srgbClr val="06090E"/>
          </a:solidFill>
          <a:ln w="6350">
            <a:solidFill>
              <a:srgbClr val="FFFFFF">
                <a:alpha val="10000"/>
              </a:srgbClr>
            </a:solidFill>
            <a:prstDash val="solid"/>
          </a:ln>
        </p:spPr>
      </p:sp>
      <p:sp>
        <p:nvSpPr>
          <p:cNvPr id="9" name="Shape 7"/>
          <p:cNvSpPr/>
          <p:nvPr/>
        </p:nvSpPr>
        <p:spPr>
          <a:xfrm>
            <a:off x="9293225" y="3581003"/>
            <a:ext cx="7921625" cy="9525"/>
          </a:xfrm>
          <a:prstGeom prst="rect">
            <a:avLst/>
          </a:prstGeom>
          <a:solidFill>
            <a:srgbClr val="FFFFFF">
              <a:alpha val="6000"/>
            </a:srgbClr>
          </a:solidFill>
          <a:ln/>
        </p:spPr>
      </p:sp>
      <p:sp>
        <p:nvSpPr>
          <p:cNvPr id="10" name="Text 8"/>
          <p:cNvSpPr/>
          <p:nvPr/>
        </p:nvSpPr>
        <p:spPr>
          <a:xfrm>
            <a:off x="9521825" y="3123803"/>
            <a:ext cx="770207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aggregate · population par région</a:t>
            </a:r>
            <a:endParaRPr lang="en-US" sz="1800" dirty="0"/>
          </a:p>
        </p:txBody>
      </p:sp>
      <p:sp>
        <p:nvSpPr>
          <p:cNvPr id="11" name="Text 9"/>
          <p:cNvSpPr/>
          <p:nvPr/>
        </p:nvSpPr>
        <p:spPr>
          <a:xfrm>
            <a:off x="9559925" y="3835003"/>
            <a:ext cx="7625874" cy="1980803"/>
          </a:xfrm>
          <a:prstGeom prst="rect">
            <a:avLst/>
          </a:prstGeom>
          <a:noFill/>
          <a:ln/>
        </p:spPr>
        <p:txBody>
          <a:bodyPr wrap="none" lIns="25400" tIns="25400" rIns="25400" bIns="25400" rtlCol="0" anchor="t">
            <a:normAutofit/>
          </a:bodyPr>
          <a:lstStyle/>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db.countries.</a:t>
            </a:r>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aggregate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$group</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_id: </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"$region"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total: {  </a:t>
            </a:r>
            <a:endParaRPr lang="en-US" sz="1800" dirty="0"/>
          </a:p>
          <a:p>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$sum</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"$population"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$sort</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total: </a:t>
            </a:r>
            <a:pPr algn="l" indent="0" marL="0">
              <a:lnSpc>
                <a:spcPct val="149268"/>
              </a:lnSpc>
              <a:buNone/>
            </a:pPr>
            <a:r>
              <a:rPr lang="en-US" sz="1800" dirty="0">
                <a:solidFill>
                  <a:srgbClr val="E6C07B"/>
                </a:solidFill>
                <a:latin typeface="Courier New" pitchFamily="34" charset="0"/>
                <a:ea typeface="Courier New" pitchFamily="34" charset="-122"/>
                <a:cs typeface="Courier New" pitchFamily="34" charset="-120"/>
              </a:rPr>
              <a:t>-1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p:txBody>
      </p:sp>
      <p:sp>
        <p:nvSpPr>
          <p:cNvPr id="12" name="Text 10"/>
          <p:cNvSpPr/>
          <p:nvPr/>
        </p:nvSpPr>
        <p:spPr>
          <a:xfrm>
            <a:off x="1066800" y="9080500"/>
            <a:ext cx="150876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Pipeline :</a:t>
            </a:r>
            <a:endParaRPr lang="en-US" sz="1800" dirty="0"/>
          </a:p>
        </p:txBody>
      </p:sp>
      <p:sp>
        <p:nvSpPr>
          <p:cNvPr id="13" name="Shape 11"/>
          <p:cNvSpPr/>
          <p:nvPr/>
        </p:nvSpPr>
        <p:spPr>
          <a:xfrm>
            <a:off x="2571750" y="8997950"/>
            <a:ext cx="2237780" cy="469900"/>
          </a:xfrm>
          <a:prstGeom prst="roundRect">
            <a:avLst>
              <a:gd name="adj" fmla="val 16216"/>
            </a:avLst>
          </a:prstGeom>
          <a:solidFill>
            <a:srgbClr val="FFFFFF">
              <a:alpha val="6000"/>
            </a:srgbClr>
          </a:solidFill>
          <a:ln w="6350">
            <a:solidFill>
              <a:srgbClr val="FFFFFF">
                <a:alpha val="10000"/>
              </a:srgbClr>
            </a:solidFill>
            <a:prstDash val="solid"/>
          </a:ln>
        </p:spPr>
      </p:sp>
      <p:sp>
        <p:nvSpPr>
          <p:cNvPr id="14" name="Text 12"/>
          <p:cNvSpPr/>
          <p:nvPr/>
        </p:nvSpPr>
        <p:spPr>
          <a:xfrm>
            <a:off x="2730500" y="9080500"/>
            <a:ext cx="199648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highlight>
                  <a:srgbClr val="FFFFFF"/>
                </a:highlight>
                <a:latin typeface="Courier New" pitchFamily="34" charset="0"/>
                <a:ea typeface="Courier New" pitchFamily="34" charset="-122"/>
                <a:cs typeface="Courier New" pitchFamily="34" charset="-120"/>
              </a:rPr>
              <a:t>$match </a:t>
            </a:r>
            <a:pPr algn="l" indent="0" marL="0">
              <a:buNone/>
            </a:pPr>
            <a:r>
              <a:rPr lang="en-US" sz="1800" dirty="0">
                <a:solidFill>
                  <a:srgbClr val="8EA0B5"/>
                </a:solidFill>
                <a:latin typeface="Courier New" pitchFamily="34" charset="0"/>
                <a:ea typeface="Courier New" pitchFamily="34" charset="-122"/>
                <a:cs typeface="Courier New" pitchFamily="34" charset="-120"/>
              </a:rPr>
              <a:t>= WHERE</a:t>
            </a:r>
            <a:endParaRPr lang="en-US" sz="1800" dirty="0"/>
          </a:p>
        </p:txBody>
      </p:sp>
      <p:sp>
        <p:nvSpPr>
          <p:cNvPr id="15" name="Text 13"/>
          <p:cNvSpPr/>
          <p:nvPr/>
        </p:nvSpPr>
        <p:spPr>
          <a:xfrm>
            <a:off x="4942880" y="9070975"/>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Arial" pitchFamily="34" charset="0"/>
                <a:ea typeface="Arial" pitchFamily="34" charset="-122"/>
                <a:cs typeface="Arial" pitchFamily="34" charset="-120"/>
              </a:rPr>
              <a:t>→</a:t>
            </a:r>
            <a:endParaRPr lang="en-US" sz="1950" dirty="0"/>
          </a:p>
        </p:txBody>
      </p:sp>
      <p:sp>
        <p:nvSpPr>
          <p:cNvPr id="16" name="Shape 14"/>
          <p:cNvSpPr/>
          <p:nvPr/>
        </p:nvSpPr>
        <p:spPr>
          <a:xfrm>
            <a:off x="5323880" y="8997950"/>
            <a:ext cx="2649240" cy="469900"/>
          </a:xfrm>
          <a:prstGeom prst="roundRect">
            <a:avLst>
              <a:gd name="adj" fmla="val 16216"/>
            </a:avLst>
          </a:prstGeom>
          <a:solidFill>
            <a:srgbClr val="FFFFFF">
              <a:alpha val="6000"/>
            </a:srgbClr>
          </a:solidFill>
          <a:ln w="6350">
            <a:solidFill>
              <a:srgbClr val="FFFFFF">
                <a:alpha val="10000"/>
              </a:srgbClr>
            </a:solidFill>
            <a:prstDash val="solid"/>
          </a:ln>
        </p:spPr>
      </p:sp>
      <p:sp>
        <p:nvSpPr>
          <p:cNvPr id="17" name="Text 15"/>
          <p:cNvSpPr/>
          <p:nvPr/>
        </p:nvSpPr>
        <p:spPr>
          <a:xfrm>
            <a:off x="5482630" y="9080500"/>
            <a:ext cx="2411217"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highlight>
                  <a:srgbClr val="FFFFFF"/>
                </a:highlight>
                <a:latin typeface="Courier New" pitchFamily="34" charset="0"/>
                <a:ea typeface="Courier New" pitchFamily="34" charset="-122"/>
                <a:cs typeface="Courier New" pitchFamily="34" charset="-120"/>
              </a:rPr>
              <a:t>$group </a:t>
            </a:r>
            <a:pPr algn="l" indent="0" marL="0">
              <a:buNone/>
            </a:pPr>
            <a:r>
              <a:rPr lang="en-US" sz="1800" dirty="0">
                <a:solidFill>
                  <a:srgbClr val="8EA0B5"/>
                </a:solidFill>
                <a:latin typeface="Courier New" pitchFamily="34" charset="0"/>
                <a:ea typeface="Courier New" pitchFamily="34" charset="-122"/>
                <a:cs typeface="Courier New" pitchFamily="34" charset="-120"/>
              </a:rPr>
              <a:t>= GROUP BY</a:t>
            </a:r>
            <a:endParaRPr lang="en-US" sz="1800" dirty="0"/>
          </a:p>
        </p:txBody>
      </p:sp>
      <p:sp>
        <p:nvSpPr>
          <p:cNvPr id="18" name="Text 16"/>
          <p:cNvSpPr/>
          <p:nvPr/>
        </p:nvSpPr>
        <p:spPr>
          <a:xfrm>
            <a:off x="8106470" y="9070975"/>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Arial" pitchFamily="34" charset="0"/>
                <a:ea typeface="Arial" pitchFamily="34" charset="-122"/>
                <a:cs typeface="Arial" pitchFamily="34" charset="-120"/>
              </a:rPr>
              <a:t>→</a:t>
            </a:r>
            <a:endParaRPr lang="en-US" sz="1950" dirty="0"/>
          </a:p>
        </p:txBody>
      </p:sp>
      <p:sp>
        <p:nvSpPr>
          <p:cNvPr id="19" name="Shape 17"/>
          <p:cNvSpPr/>
          <p:nvPr/>
        </p:nvSpPr>
        <p:spPr>
          <a:xfrm>
            <a:off x="8487470" y="8997950"/>
            <a:ext cx="1689100" cy="469900"/>
          </a:xfrm>
          <a:prstGeom prst="roundRect">
            <a:avLst>
              <a:gd name="adj" fmla="val 16216"/>
            </a:avLst>
          </a:prstGeom>
          <a:solidFill>
            <a:srgbClr val="FFFFFF">
              <a:alpha val="6000"/>
            </a:srgbClr>
          </a:solidFill>
          <a:ln w="6350">
            <a:solidFill>
              <a:srgbClr val="FFFFFF">
                <a:alpha val="10000"/>
              </a:srgbClr>
            </a:solidFill>
            <a:prstDash val="solid"/>
          </a:ln>
        </p:spPr>
      </p:sp>
      <p:sp>
        <p:nvSpPr>
          <p:cNvPr id="20" name="Text 18"/>
          <p:cNvSpPr/>
          <p:nvPr/>
        </p:nvSpPr>
        <p:spPr>
          <a:xfrm>
            <a:off x="8646220" y="9080500"/>
            <a:ext cx="144780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highlight>
                  <a:srgbClr val="FFFFFF"/>
                </a:highlight>
                <a:latin typeface="Courier New" pitchFamily="34" charset="0"/>
                <a:ea typeface="Courier New" pitchFamily="34" charset="-122"/>
                <a:cs typeface="Courier New" pitchFamily="34" charset="-120"/>
              </a:rPr>
              <a:t>$sum </a:t>
            </a:r>
            <a:pPr algn="l" indent="0" marL="0">
              <a:buNone/>
            </a:pPr>
            <a:r>
              <a:rPr lang="en-US" sz="1800" dirty="0">
                <a:solidFill>
                  <a:srgbClr val="8EA0B5"/>
                </a:solidFill>
                <a:latin typeface="Courier New" pitchFamily="34" charset="0"/>
                <a:ea typeface="Courier New" pitchFamily="34" charset="-122"/>
                <a:cs typeface="Courier New" pitchFamily="34" charset="-120"/>
              </a:rPr>
              <a:t>= SUM</a:t>
            </a:r>
            <a:endParaRPr lang="en-US" sz="1800" dirty="0"/>
          </a:p>
        </p:txBody>
      </p:sp>
      <p:sp>
        <p:nvSpPr>
          <p:cNvPr id="21" name="Text 19"/>
          <p:cNvSpPr/>
          <p:nvPr/>
        </p:nvSpPr>
        <p:spPr>
          <a:xfrm>
            <a:off x="10309920" y="9070975"/>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Arial" pitchFamily="34" charset="0"/>
                <a:ea typeface="Arial" pitchFamily="34" charset="-122"/>
                <a:cs typeface="Arial" pitchFamily="34" charset="-120"/>
              </a:rPr>
              <a:t>→</a:t>
            </a:r>
            <a:endParaRPr lang="en-US" sz="1950" dirty="0"/>
          </a:p>
        </p:txBody>
      </p:sp>
      <p:sp>
        <p:nvSpPr>
          <p:cNvPr id="22" name="Shape 20"/>
          <p:cNvSpPr/>
          <p:nvPr/>
        </p:nvSpPr>
        <p:spPr>
          <a:xfrm>
            <a:off x="10690920" y="8997950"/>
            <a:ext cx="2512120" cy="469900"/>
          </a:xfrm>
          <a:prstGeom prst="roundRect">
            <a:avLst>
              <a:gd name="adj" fmla="val 16216"/>
            </a:avLst>
          </a:prstGeom>
          <a:solidFill>
            <a:srgbClr val="FFFFFF">
              <a:alpha val="6000"/>
            </a:srgbClr>
          </a:solidFill>
          <a:ln w="6350">
            <a:solidFill>
              <a:srgbClr val="FFFFFF">
                <a:alpha val="10000"/>
              </a:srgbClr>
            </a:solidFill>
            <a:prstDash val="solid"/>
          </a:ln>
        </p:spPr>
      </p:sp>
      <p:sp>
        <p:nvSpPr>
          <p:cNvPr id="23" name="Text 21"/>
          <p:cNvSpPr/>
          <p:nvPr/>
        </p:nvSpPr>
        <p:spPr>
          <a:xfrm>
            <a:off x="10849670" y="9080500"/>
            <a:ext cx="227082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highlight>
                  <a:srgbClr val="FFFFFF"/>
                </a:highlight>
                <a:latin typeface="Courier New" pitchFamily="34" charset="0"/>
                <a:ea typeface="Courier New" pitchFamily="34" charset="-122"/>
                <a:cs typeface="Courier New" pitchFamily="34" charset="-120"/>
              </a:rPr>
              <a:t>$sort </a:t>
            </a:r>
            <a:pPr algn="l" indent="0" marL="0">
              <a:buNone/>
            </a:pPr>
            <a:r>
              <a:rPr lang="en-US" sz="1800" dirty="0">
                <a:solidFill>
                  <a:srgbClr val="8EA0B5"/>
                </a:solidFill>
                <a:latin typeface="Courier New" pitchFamily="34" charset="0"/>
                <a:ea typeface="Courier New" pitchFamily="34" charset="-122"/>
                <a:cs typeface="Courier New" pitchFamily="34" charset="-120"/>
              </a:rPr>
              <a:t>= ORDER BY</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B897F0"/>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B897F0"/>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3362430" cy="342900"/>
          </a:xfrm>
          <a:prstGeom prst="rect">
            <a:avLst/>
          </a:prstGeom>
          <a:noFill/>
          <a:ln/>
        </p:spPr>
        <p:txBody>
          <a:bodyPr wrap="square" lIns="0" tIns="0" rIns="0" bIns="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QUIZ · ATELIER 02</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NoSQL &amp; MongoDB</a:t>
            </a:r>
            <a:endParaRPr lang="en-US" sz="4800" dirty="0"/>
          </a:p>
        </p:txBody>
      </p:sp>
      <p:sp>
        <p:nvSpPr>
          <p:cNvPr id="6" name="Text 4"/>
          <p:cNvSpPr/>
          <p:nvPr/>
        </p:nvSpPr>
        <p:spPr>
          <a:xfrm>
            <a:off x="106680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Pourquoi MongoDB pour stocker des documents JSON ?</a:t>
            </a:r>
            <a:endParaRPr lang="en-US" sz="2175" dirty="0"/>
          </a:p>
        </p:txBody>
      </p:sp>
      <p:sp>
        <p:nvSpPr>
          <p:cNvPr id="7" name="Shape 5"/>
          <p:cNvSpPr/>
          <p:nvPr/>
        </p:nvSpPr>
        <p:spPr>
          <a:xfrm>
            <a:off x="106680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8" name="Shape 6"/>
          <p:cNvSpPr/>
          <p:nvPr/>
        </p:nvSpPr>
        <p:spPr>
          <a:xfrm>
            <a:off x="1282700" y="3200499"/>
            <a:ext cx="323850" cy="323850"/>
          </a:xfrm>
          <a:prstGeom prst="roundRect">
            <a:avLst>
              <a:gd name="adj" fmla="val 23529"/>
            </a:avLst>
          </a:prstGeom>
          <a:solidFill>
            <a:srgbClr val="FFFFFF">
              <a:alpha val="6000"/>
            </a:srgbClr>
          </a:solidFill>
          <a:ln/>
        </p:spPr>
      </p:sp>
      <p:sp>
        <p:nvSpPr>
          <p:cNvPr id="9" name="Text 7"/>
          <p:cNvSpPr/>
          <p:nvPr/>
        </p:nvSpPr>
        <p:spPr>
          <a:xfrm>
            <a:off x="124460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10" name="Text 8"/>
          <p:cNvSpPr/>
          <p:nvPr/>
        </p:nvSpPr>
        <p:spPr>
          <a:xfrm>
            <a:off x="1758950" y="3210024"/>
            <a:ext cx="404169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est plus rapide dans tous les cas</a:t>
            </a:r>
            <a:endParaRPr lang="en-US" sz="1875" dirty="0"/>
          </a:p>
        </p:txBody>
      </p:sp>
      <p:sp>
        <p:nvSpPr>
          <p:cNvPr id="11" name="Shape 9"/>
          <p:cNvSpPr/>
          <p:nvPr/>
        </p:nvSpPr>
        <p:spPr>
          <a:xfrm>
            <a:off x="106680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2" name="Shape 10"/>
          <p:cNvSpPr/>
          <p:nvPr/>
        </p:nvSpPr>
        <p:spPr>
          <a:xfrm>
            <a:off x="1282700" y="4013299"/>
            <a:ext cx="323850" cy="323850"/>
          </a:xfrm>
          <a:prstGeom prst="roundRect">
            <a:avLst>
              <a:gd name="adj" fmla="val 23529"/>
            </a:avLst>
          </a:prstGeom>
          <a:solidFill>
            <a:srgbClr val="FFFFFF">
              <a:alpha val="6000"/>
            </a:srgbClr>
          </a:solidFill>
          <a:ln/>
        </p:spPr>
      </p:sp>
      <p:sp>
        <p:nvSpPr>
          <p:cNvPr id="13" name="Text 11"/>
          <p:cNvSpPr/>
          <p:nvPr/>
        </p:nvSpPr>
        <p:spPr>
          <a:xfrm>
            <a:off x="124460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14" name="Text 12"/>
          <p:cNvSpPr/>
          <p:nvPr/>
        </p:nvSpPr>
        <p:spPr>
          <a:xfrm>
            <a:off x="1758950" y="4022824"/>
            <a:ext cx="5984508"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accepte naturellement des structures différentes</a:t>
            </a:r>
            <a:endParaRPr lang="en-US" sz="1875" dirty="0"/>
          </a:p>
        </p:txBody>
      </p:sp>
      <p:sp>
        <p:nvSpPr>
          <p:cNvPr id="15" name="Shape 13"/>
          <p:cNvSpPr/>
          <p:nvPr/>
        </p:nvSpPr>
        <p:spPr>
          <a:xfrm>
            <a:off x="1066800" y="46482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6" name="Shape 14"/>
          <p:cNvSpPr/>
          <p:nvPr/>
        </p:nvSpPr>
        <p:spPr>
          <a:xfrm>
            <a:off x="1282700" y="4826099"/>
            <a:ext cx="323850" cy="323850"/>
          </a:xfrm>
          <a:prstGeom prst="roundRect">
            <a:avLst>
              <a:gd name="adj" fmla="val 23529"/>
            </a:avLst>
          </a:prstGeom>
          <a:solidFill>
            <a:srgbClr val="FFFFFF">
              <a:alpha val="6000"/>
            </a:srgbClr>
          </a:solidFill>
          <a:ln/>
        </p:spPr>
      </p:sp>
      <p:sp>
        <p:nvSpPr>
          <p:cNvPr id="17" name="Text 15"/>
          <p:cNvSpPr/>
          <p:nvPr/>
        </p:nvSpPr>
        <p:spPr>
          <a:xfrm>
            <a:off x="1244600" y="48260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18" name="Text 16"/>
          <p:cNvSpPr/>
          <p:nvPr/>
        </p:nvSpPr>
        <p:spPr>
          <a:xfrm>
            <a:off x="1758950" y="4835624"/>
            <a:ext cx="345681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SQL est interdit dans le Cloud</a:t>
            </a:r>
            <a:endParaRPr lang="en-US" sz="1875" dirty="0"/>
          </a:p>
        </p:txBody>
      </p:sp>
      <p:sp>
        <p:nvSpPr>
          <p:cNvPr id="19" name="Shape 17"/>
          <p:cNvSpPr/>
          <p:nvPr/>
        </p:nvSpPr>
        <p:spPr>
          <a:xfrm>
            <a:off x="1066800" y="54610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0" name="Shape 18"/>
          <p:cNvSpPr/>
          <p:nvPr/>
        </p:nvSpPr>
        <p:spPr>
          <a:xfrm>
            <a:off x="1282700" y="5638899"/>
            <a:ext cx="323850" cy="323850"/>
          </a:xfrm>
          <a:prstGeom prst="roundRect">
            <a:avLst>
              <a:gd name="adj" fmla="val 23529"/>
            </a:avLst>
          </a:prstGeom>
          <a:solidFill>
            <a:srgbClr val="FFFFFF">
              <a:alpha val="6000"/>
            </a:srgbClr>
          </a:solidFill>
          <a:ln/>
        </p:spPr>
      </p:sp>
      <p:sp>
        <p:nvSpPr>
          <p:cNvPr id="21" name="Text 19"/>
          <p:cNvSpPr/>
          <p:nvPr/>
        </p:nvSpPr>
        <p:spPr>
          <a:xfrm>
            <a:off x="1244600" y="56388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22" name="Text 20"/>
          <p:cNvSpPr/>
          <p:nvPr/>
        </p:nvSpPr>
        <p:spPr>
          <a:xfrm>
            <a:off x="1758950" y="5648424"/>
            <a:ext cx="2394982"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MongoDB est gratuit</a:t>
            </a:r>
            <a:endParaRPr lang="en-US" sz="1875" dirty="0"/>
          </a:p>
        </p:txBody>
      </p:sp>
      <p:sp>
        <p:nvSpPr>
          <p:cNvPr id="23" name="Text 21"/>
          <p:cNvSpPr/>
          <p:nvPr/>
        </p:nvSpPr>
        <p:spPr>
          <a:xfrm>
            <a:off x="935355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Quel type de données convient le mieux à MongoDB ?</a:t>
            </a:r>
            <a:endParaRPr lang="en-US" sz="2175" dirty="0"/>
          </a:p>
        </p:txBody>
      </p:sp>
      <p:sp>
        <p:nvSpPr>
          <p:cNvPr id="24" name="Shape 22"/>
          <p:cNvSpPr/>
          <p:nvPr/>
        </p:nvSpPr>
        <p:spPr>
          <a:xfrm>
            <a:off x="935355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5" name="Shape 23"/>
          <p:cNvSpPr/>
          <p:nvPr/>
        </p:nvSpPr>
        <p:spPr>
          <a:xfrm>
            <a:off x="9569450" y="3200499"/>
            <a:ext cx="323850" cy="323850"/>
          </a:xfrm>
          <a:prstGeom prst="roundRect">
            <a:avLst>
              <a:gd name="adj" fmla="val 23529"/>
            </a:avLst>
          </a:prstGeom>
          <a:solidFill>
            <a:srgbClr val="FFFFFF">
              <a:alpha val="6000"/>
            </a:srgbClr>
          </a:solidFill>
          <a:ln/>
        </p:spPr>
      </p:sp>
      <p:sp>
        <p:nvSpPr>
          <p:cNvPr id="26" name="Text 24"/>
          <p:cNvSpPr/>
          <p:nvPr/>
        </p:nvSpPr>
        <p:spPr>
          <a:xfrm>
            <a:off x="953135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27" name="Text 25"/>
          <p:cNvSpPr/>
          <p:nvPr/>
        </p:nvSpPr>
        <p:spPr>
          <a:xfrm>
            <a:off x="10045701" y="3210024"/>
            <a:ext cx="579176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Comptabilité bancaire fortement transactionnelle</a:t>
            </a:r>
            <a:endParaRPr lang="en-US" sz="1875" dirty="0"/>
          </a:p>
        </p:txBody>
      </p:sp>
      <p:sp>
        <p:nvSpPr>
          <p:cNvPr id="28" name="Shape 26"/>
          <p:cNvSpPr/>
          <p:nvPr/>
        </p:nvSpPr>
        <p:spPr>
          <a:xfrm>
            <a:off x="935355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9" name="Shape 27"/>
          <p:cNvSpPr/>
          <p:nvPr/>
        </p:nvSpPr>
        <p:spPr>
          <a:xfrm>
            <a:off x="9569450" y="4013299"/>
            <a:ext cx="323850" cy="323850"/>
          </a:xfrm>
          <a:prstGeom prst="roundRect">
            <a:avLst>
              <a:gd name="adj" fmla="val 23529"/>
            </a:avLst>
          </a:prstGeom>
          <a:solidFill>
            <a:srgbClr val="FFFFFF">
              <a:alpha val="6000"/>
            </a:srgbClr>
          </a:solidFill>
          <a:ln/>
        </p:spPr>
      </p:sp>
      <p:sp>
        <p:nvSpPr>
          <p:cNvPr id="30" name="Text 28"/>
          <p:cNvSpPr/>
          <p:nvPr/>
        </p:nvSpPr>
        <p:spPr>
          <a:xfrm>
            <a:off x="953135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31" name="Text 29"/>
          <p:cNvSpPr/>
          <p:nvPr/>
        </p:nvSpPr>
        <p:spPr>
          <a:xfrm>
            <a:off x="10045701" y="4022824"/>
            <a:ext cx="2061994"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Documents JSON</a:t>
            </a:r>
            <a:endParaRPr lang="en-US" sz="1875" dirty="0"/>
          </a:p>
        </p:txBody>
      </p:sp>
      <p:sp>
        <p:nvSpPr>
          <p:cNvPr id="32" name="Shape 30"/>
          <p:cNvSpPr/>
          <p:nvPr/>
        </p:nvSpPr>
        <p:spPr>
          <a:xfrm>
            <a:off x="9353550" y="46482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3" name="Shape 31"/>
          <p:cNvSpPr/>
          <p:nvPr/>
        </p:nvSpPr>
        <p:spPr>
          <a:xfrm>
            <a:off x="9569450" y="4826099"/>
            <a:ext cx="323850" cy="323850"/>
          </a:xfrm>
          <a:prstGeom prst="roundRect">
            <a:avLst>
              <a:gd name="adj" fmla="val 23529"/>
            </a:avLst>
          </a:prstGeom>
          <a:solidFill>
            <a:srgbClr val="FFFFFF">
              <a:alpha val="6000"/>
            </a:srgbClr>
          </a:solidFill>
          <a:ln/>
        </p:spPr>
      </p:sp>
      <p:sp>
        <p:nvSpPr>
          <p:cNvPr id="34" name="Text 32"/>
          <p:cNvSpPr/>
          <p:nvPr/>
        </p:nvSpPr>
        <p:spPr>
          <a:xfrm>
            <a:off x="9531350" y="48260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35" name="Text 33"/>
          <p:cNvSpPr/>
          <p:nvPr/>
        </p:nvSpPr>
        <p:spPr>
          <a:xfrm>
            <a:off x="10045701" y="4835624"/>
            <a:ext cx="236398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Images uniquement</a:t>
            </a:r>
            <a:endParaRPr lang="en-US" sz="1875" dirty="0"/>
          </a:p>
        </p:txBody>
      </p:sp>
      <p:sp>
        <p:nvSpPr>
          <p:cNvPr id="36" name="Shape 34"/>
          <p:cNvSpPr/>
          <p:nvPr/>
        </p:nvSpPr>
        <p:spPr>
          <a:xfrm>
            <a:off x="9353550" y="54610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7" name="Shape 35"/>
          <p:cNvSpPr/>
          <p:nvPr/>
        </p:nvSpPr>
        <p:spPr>
          <a:xfrm>
            <a:off x="9569450" y="5638899"/>
            <a:ext cx="323850" cy="323850"/>
          </a:xfrm>
          <a:prstGeom prst="roundRect">
            <a:avLst>
              <a:gd name="adj" fmla="val 23529"/>
            </a:avLst>
          </a:prstGeom>
          <a:solidFill>
            <a:srgbClr val="FFFFFF">
              <a:alpha val="6000"/>
            </a:srgbClr>
          </a:solidFill>
          <a:ln/>
        </p:spPr>
      </p:sp>
      <p:sp>
        <p:nvSpPr>
          <p:cNvPr id="38" name="Text 36"/>
          <p:cNvSpPr/>
          <p:nvPr/>
        </p:nvSpPr>
        <p:spPr>
          <a:xfrm>
            <a:off x="9531350" y="56388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39" name="Text 37"/>
          <p:cNvSpPr/>
          <p:nvPr/>
        </p:nvSpPr>
        <p:spPr>
          <a:xfrm>
            <a:off x="10045701" y="5648424"/>
            <a:ext cx="2277547"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Vidéos uniquement</a:t>
            </a:r>
            <a:endParaRPr lang="en-US" sz="187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B897F0"/>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B897F0"/>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4549122" cy="342900"/>
          </a:xfrm>
          <a:prstGeom prst="rect">
            <a:avLst/>
          </a:prstGeom>
          <a:noFill/>
          <a:ln/>
        </p:spPr>
        <p:txBody>
          <a:bodyPr wrap="square" lIns="0" tIns="0" rIns="0" bIns="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CORRECTION · ATELIER 02</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NoSQL &amp; MongoDB</a:t>
            </a:r>
            <a:endParaRPr lang="en-US" sz="4800" dirty="0"/>
          </a:p>
        </p:txBody>
      </p:sp>
      <p:sp>
        <p:nvSpPr>
          <p:cNvPr id="6" name="Text 4"/>
          <p:cNvSpPr/>
          <p:nvPr/>
        </p:nvSpPr>
        <p:spPr>
          <a:xfrm>
            <a:off x="106680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Pourquoi MongoDB pour stocker des documents JSON ?</a:t>
            </a:r>
            <a:endParaRPr lang="en-US" sz="2175" dirty="0"/>
          </a:p>
        </p:txBody>
      </p:sp>
      <p:sp>
        <p:nvSpPr>
          <p:cNvPr id="7" name="Shape 5"/>
          <p:cNvSpPr/>
          <p:nvPr/>
        </p:nvSpPr>
        <p:spPr>
          <a:xfrm>
            <a:off x="106680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8" name="Shape 6"/>
          <p:cNvSpPr/>
          <p:nvPr/>
        </p:nvSpPr>
        <p:spPr>
          <a:xfrm>
            <a:off x="1282700" y="3200499"/>
            <a:ext cx="323850" cy="323850"/>
          </a:xfrm>
          <a:prstGeom prst="roundRect">
            <a:avLst>
              <a:gd name="adj" fmla="val 23529"/>
            </a:avLst>
          </a:prstGeom>
          <a:solidFill>
            <a:srgbClr val="FFFFFF">
              <a:alpha val="6000"/>
            </a:srgbClr>
          </a:solidFill>
          <a:ln/>
        </p:spPr>
      </p:sp>
      <p:sp>
        <p:nvSpPr>
          <p:cNvPr id="9" name="Text 7"/>
          <p:cNvSpPr/>
          <p:nvPr/>
        </p:nvSpPr>
        <p:spPr>
          <a:xfrm>
            <a:off x="124460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10" name="Text 8"/>
          <p:cNvSpPr/>
          <p:nvPr/>
        </p:nvSpPr>
        <p:spPr>
          <a:xfrm>
            <a:off x="1758950" y="3210024"/>
            <a:ext cx="404169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est plus rapide dans tous les cas</a:t>
            </a:r>
            <a:endParaRPr lang="en-US" sz="1875" dirty="0"/>
          </a:p>
        </p:txBody>
      </p:sp>
      <p:sp>
        <p:nvSpPr>
          <p:cNvPr id="11" name="Shape 9"/>
          <p:cNvSpPr/>
          <p:nvPr/>
        </p:nvSpPr>
        <p:spPr>
          <a:xfrm>
            <a:off x="1066800" y="3835499"/>
            <a:ext cx="7867650" cy="692150"/>
          </a:xfrm>
          <a:prstGeom prst="roundRect">
            <a:avLst>
              <a:gd name="adj" fmla="val 16514"/>
            </a:avLst>
          </a:prstGeom>
          <a:solidFill>
            <a:srgbClr val="FFFFFF">
              <a:alpha val="3000"/>
            </a:srgbClr>
          </a:solidFill>
          <a:ln w="6350">
            <a:solidFill>
              <a:srgbClr val="C0A3F2">
                <a:alpha val="48000"/>
              </a:srgbClr>
            </a:solidFill>
            <a:prstDash val="solid"/>
          </a:ln>
        </p:spPr>
      </p:sp>
      <p:sp>
        <p:nvSpPr>
          <p:cNvPr id="12" name="Shape 10"/>
          <p:cNvSpPr/>
          <p:nvPr/>
        </p:nvSpPr>
        <p:spPr>
          <a:xfrm>
            <a:off x="1282700" y="4019649"/>
            <a:ext cx="323850" cy="323850"/>
          </a:xfrm>
          <a:prstGeom prst="roundRect">
            <a:avLst>
              <a:gd name="adj" fmla="val 23529"/>
            </a:avLst>
          </a:prstGeom>
          <a:solidFill>
            <a:srgbClr val="B897F0"/>
          </a:solidFill>
          <a:ln/>
        </p:spPr>
      </p:sp>
      <p:sp>
        <p:nvSpPr>
          <p:cNvPr id="13" name="Text 11"/>
          <p:cNvSpPr/>
          <p:nvPr/>
        </p:nvSpPr>
        <p:spPr>
          <a:xfrm>
            <a:off x="1244600" y="40196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04070C"/>
                </a:solidFill>
                <a:latin typeface="Arial" pitchFamily="34" charset="0"/>
                <a:ea typeface="Arial" pitchFamily="34" charset="-122"/>
                <a:cs typeface="Arial" pitchFamily="34" charset="-120"/>
              </a:rPr>
              <a:t>B</a:t>
            </a:r>
            <a:endParaRPr lang="en-US" sz="1875" dirty="0"/>
          </a:p>
        </p:txBody>
      </p:sp>
      <p:sp>
        <p:nvSpPr>
          <p:cNvPr id="14" name="Text 12"/>
          <p:cNvSpPr/>
          <p:nvPr/>
        </p:nvSpPr>
        <p:spPr>
          <a:xfrm>
            <a:off x="1758950" y="4029174"/>
            <a:ext cx="5984508" cy="34290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Arial" pitchFamily="34" charset="0"/>
                <a:ea typeface="Arial" pitchFamily="34" charset="-122"/>
                <a:cs typeface="Arial" pitchFamily="34" charset="-120"/>
              </a:rPr>
              <a:t>Il accepte naturellement des structures différentes</a:t>
            </a:r>
            <a:endParaRPr lang="en-US" sz="1875" dirty="0"/>
          </a:p>
        </p:txBody>
      </p:sp>
      <p:sp>
        <p:nvSpPr>
          <p:cNvPr id="15" name="Text 13"/>
          <p:cNvSpPr/>
          <p:nvPr/>
        </p:nvSpPr>
        <p:spPr>
          <a:xfrm>
            <a:off x="8533011" y="4013299"/>
            <a:ext cx="261739" cy="37465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Arial" pitchFamily="34" charset="0"/>
                <a:ea typeface="Arial" pitchFamily="34" charset="-122"/>
                <a:cs typeface="Arial" pitchFamily="34" charset="-120"/>
              </a:rPr>
              <a:t>✓</a:t>
            </a:r>
            <a:endParaRPr lang="en-US" sz="1950" dirty="0"/>
          </a:p>
        </p:txBody>
      </p:sp>
      <p:sp>
        <p:nvSpPr>
          <p:cNvPr id="16" name="Shape 14"/>
          <p:cNvSpPr/>
          <p:nvPr/>
        </p:nvSpPr>
        <p:spPr>
          <a:xfrm>
            <a:off x="1066800" y="46609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7" name="Shape 15"/>
          <p:cNvSpPr/>
          <p:nvPr/>
        </p:nvSpPr>
        <p:spPr>
          <a:xfrm>
            <a:off x="1282700" y="4838799"/>
            <a:ext cx="323850" cy="323850"/>
          </a:xfrm>
          <a:prstGeom prst="roundRect">
            <a:avLst>
              <a:gd name="adj" fmla="val 23529"/>
            </a:avLst>
          </a:prstGeom>
          <a:solidFill>
            <a:srgbClr val="FFFFFF">
              <a:alpha val="6000"/>
            </a:srgbClr>
          </a:solidFill>
          <a:ln/>
        </p:spPr>
      </p:sp>
      <p:sp>
        <p:nvSpPr>
          <p:cNvPr id="18" name="Text 16"/>
          <p:cNvSpPr/>
          <p:nvPr/>
        </p:nvSpPr>
        <p:spPr>
          <a:xfrm>
            <a:off x="1244600" y="48387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19" name="Text 17"/>
          <p:cNvSpPr/>
          <p:nvPr/>
        </p:nvSpPr>
        <p:spPr>
          <a:xfrm>
            <a:off x="1758950" y="4848324"/>
            <a:ext cx="345681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SQL est interdit dans le Cloud</a:t>
            </a:r>
            <a:endParaRPr lang="en-US" sz="1875" dirty="0"/>
          </a:p>
        </p:txBody>
      </p:sp>
      <p:sp>
        <p:nvSpPr>
          <p:cNvPr id="20" name="Shape 18"/>
          <p:cNvSpPr/>
          <p:nvPr/>
        </p:nvSpPr>
        <p:spPr>
          <a:xfrm>
            <a:off x="1066800" y="5473800"/>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1" name="Shape 19"/>
          <p:cNvSpPr/>
          <p:nvPr/>
        </p:nvSpPr>
        <p:spPr>
          <a:xfrm>
            <a:off x="1282700" y="5651599"/>
            <a:ext cx="323850" cy="323850"/>
          </a:xfrm>
          <a:prstGeom prst="roundRect">
            <a:avLst>
              <a:gd name="adj" fmla="val 23529"/>
            </a:avLst>
          </a:prstGeom>
          <a:solidFill>
            <a:srgbClr val="FFFFFF">
              <a:alpha val="6000"/>
            </a:srgbClr>
          </a:solidFill>
          <a:ln/>
        </p:spPr>
      </p:sp>
      <p:sp>
        <p:nvSpPr>
          <p:cNvPr id="22" name="Text 20"/>
          <p:cNvSpPr/>
          <p:nvPr/>
        </p:nvSpPr>
        <p:spPr>
          <a:xfrm>
            <a:off x="1244600" y="56515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23" name="Text 21"/>
          <p:cNvSpPr/>
          <p:nvPr/>
        </p:nvSpPr>
        <p:spPr>
          <a:xfrm>
            <a:off x="1758950" y="5661124"/>
            <a:ext cx="2394982"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MongoDB est gratuit</a:t>
            </a:r>
            <a:endParaRPr lang="en-US" sz="1875" dirty="0"/>
          </a:p>
        </p:txBody>
      </p:sp>
      <p:sp>
        <p:nvSpPr>
          <p:cNvPr id="24" name="Text 22"/>
          <p:cNvSpPr/>
          <p:nvPr/>
        </p:nvSpPr>
        <p:spPr>
          <a:xfrm>
            <a:off x="935355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Quel type de données convient le mieux à MongoDB ?</a:t>
            </a:r>
            <a:endParaRPr lang="en-US" sz="2175" dirty="0"/>
          </a:p>
        </p:txBody>
      </p:sp>
      <p:sp>
        <p:nvSpPr>
          <p:cNvPr id="25" name="Shape 23"/>
          <p:cNvSpPr/>
          <p:nvPr/>
        </p:nvSpPr>
        <p:spPr>
          <a:xfrm>
            <a:off x="935355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6" name="Shape 24"/>
          <p:cNvSpPr/>
          <p:nvPr/>
        </p:nvSpPr>
        <p:spPr>
          <a:xfrm>
            <a:off x="9569450" y="3200499"/>
            <a:ext cx="323850" cy="323850"/>
          </a:xfrm>
          <a:prstGeom prst="roundRect">
            <a:avLst>
              <a:gd name="adj" fmla="val 23529"/>
            </a:avLst>
          </a:prstGeom>
          <a:solidFill>
            <a:srgbClr val="FFFFFF">
              <a:alpha val="6000"/>
            </a:srgbClr>
          </a:solidFill>
          <a:ln/>
        </p:spPr>
      </p:sp>
      <p:sp>
        <p:nvSpPr>
          <p:cNvPr id="27" name="Text 25"/>
          <p:cNvSpPr/>
          <p:nvPr/>
        </p:nvSpPr>
        <p:spPr>
          <a:xfrm>
            <a:off x="953135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28" name="Text 26"/>
          <p:cNvSpPr/>
          <p:nvPr/>
        </p:nvSpPr>
        <p:spPr>
          <a:xfrm>
            <a:off x="10045701" y="3210024"/>
            <a:ext cx="579176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Comptabilité bancaire fortement transactionnelle</a:t>
            </a:r>
            <a:endParaRPr lang="en-US" sz="1875" dirty="0"/>
          </a:p>
        </p:txBody>
      </p:sp>
      <p:sp>
        <p:nvSpPr>
          <p:cNvPr id="29" name="Shape 27"/>
          <p:cNvSpPr/>
          <p:nvPr/>
        </p:nvSpPr>
        <p:spPr>
          <a:xfrm>
            <a:off x="9353550" y="3835499"/>
            <a:ext cx="7867650" cy="692150"/>
          </a:xfrm>
          <a:prstGeom prst="roundRect">
            <a:avLst>
              <a:gd name="adj" fmla="val 16514"/>
            </a:avLst>
          </a:prstGeom>
          <a:solidFill>
            <a:srgbClr val="FFFFFF">
              <a:alpha val="3000"/>
            </a:srgbClr>
          </a:solidFill>
          <a:ln w="6350">
            <a:solidFill>
              <a:srgbClr val="C0A3F2">
                <a:alpha val="48000"/>
              </a:srgbClr>
            </a:solidFill>
            <a:prstDash val="solid"/>
          </a:ln>
        </p:spPr>
      </p:sp>
      <p:sp>
        <p:nvSpPr>
          <p:cNvPr id="30" name="Shape 28"/>
          <p:cNvSpPr/>
          <p:nvPr/>
        </p:nvSpPr>
        <p:spPr>
          <a:xfrm>
            <a:off x="9569450" y="4019649"/>
            <a:ext cx="323850" cy="323850"/>
          </a:xfrm>
          <a:prstGeom prst="roundRect">
            <a:avLst>
              <a:gd name="adj" fmla="val 23529"/>
            </a:avLst>
          </a:prstGeom>
          <a:solidFill>
            <a:srgbClr val="B897F0"/>
          </a:solidFill>
          <a:ln/>
        </p:spPr>
      </p:sp>
      <p:sp>
        <p:nvSpPr>
          <p:cNvPr id="31" name="Text 29"/>
          <p:cNvSpPr/>
          <p:nvPr/>
        </p:nvSpPr>
        <p:spPr>
          <a:xfrm>
            <a:off x="9531350" y="40196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04070C"/>
                </a:solidFill>
                <a:latin typeface="Arial" pitchFamily="34" charset="0"/>
                <a:ea typeface="Arial" pitchFamily="34" charset="-122"/>
                <a:cs typeface="Arial" pitchFamily="34" charset="-120"/>
              </a:rPr>
              <a:t>B</a:t>
            </a:r>
            <a:endParaRPr lang="en-US" sz="1875" dirty="0"/>
          </a:p>
        </p:txBody>
      </p:sp>
      <p:sp>
        <p:nvSpPr>
          <p:cNvPr id="32" name="Text 30"/>
          <p:cNvSpPr/>
          <p:nvPr/>
        </p:nvSpPr>
        <p:spPr>
          <a:xfrm>
            <a:off x="10045701" y="4029174"/>
            <a:ext cx="2061994" cy="34290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Arial" pitchFamily="34" charset="0"/>
                <a:ea typeface="Arial" pitchFamily="34" charset="-122"/>
                <a:cs typeface="Arial" pitchFamily="34" charset="-120"/>
              </a:rPr>
              <a:t>Documents JSON</a:t>
            </a:r>
            <a:endParaRPr lang="en-US" sz="1875" dirty="0"/>
          </a:p>
        </p:txBody>
      </p:sp>
      <p:sp>
        <p:nvSpPr>
          <p:cNvPr id="33" name="Text 31"/>
          <p:cNvSpPr/>
          <p:nvPr/>
        </p:nvSpPr>
        <p:spPr>
          <a:xfrm>
            <a:off x="16819762" y="4013299"/>
            <a:ext cx="261739" cy="37465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Arial" pitchFamily="34" charset="0"/>
                <a:ea typeface="Arial" pitchFamily="34" charset="-122"/>
                <a:cs typeface="Arial" pitchFamily="34" charset="-120"/>
              </a:rPr>
              <a:t>✓</a:t>
            </a:r>
            <a:endParaRPr lang="en-US" sz="1950" dirty="0"/>
          </a:p>
        </p:txBody>
      </p:sp>
      <p:sp>
        <p:nvSpPr>
          <p:cNvPr id="34" name="Shape 32"/>
          <p:cNvSpPr/>
          <p:nvPr/>
        </p:nvSpPr>
        <p:spPr>
          <a:xfrm>
            <a:off x="9353550" y="46609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5" name="Shape 33"/>
          <p:cNvSpPr/>
          <p:nvPr/>
        </p:nvSpPr>
        <p:spPr>
          <a:xfrm>
            <a:off x="9569450" y="4838799"/>
            <a:ext cx="323850" cy="323850"/>
          </a:xfrm>
          <a:prstGeom prst="roundRect">
            <a:avLst>
              <a:gd name="adj" fmla="val 23529"/>
            </a:avLst>
          </a:prstGeom>
          <a:solidFill>
            <a:srgbClr val="FFFFFF">
              <a:alpha val="6000"/>
            </a:srgbClr>
          </a:solidFill>
          <a:ln/>
        </p:spPr>
      </p:sp>
      <p:sp>
        <p:nvSpPr>
          <p:cNvPr id="36" name="Text 34"/>
          <p:cNvSpPr/>
          <p:nvPr/>
        </p:nvSpPr>
        <p:spPr>
          <a:xfrm>
            <a:off x="9531350" y="48387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37" name="Text 35"/>
          <p:cNvSpPr/>
          <p:nvPr/>
        </p:nvSpPr>
        <p:spPr>
          <a:xfrm>
            <a:off x="10045701" y="4848324"/>
            <a:ext cx="236398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Images uniquement</a:t>
            </a:r>
            <a:endParaRPr lang="en-US" sz="1875" dirty="0"/>
          </a:p>
        </p:txBody>
      </p:sp>
      <p:sp>
        <p:nvSpPr>
          <p:cNvPr id="38" name="Shape 36"/>
          <p:cNvSpPr/>
          <p:nvPr/>
        </p:nvSpPr>
        <p:spPr>
          <a:xfrm>
            <a:off x="9353550" y="5473800"/>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9" name="Shape 37"/>
          <p:cNvSpPr/>
          <p:nvPr/>
        </p:nvSpPr>
        <p:spPr>
          <a:xfrm>
            <a:off x="9569450" y="5651599"/>
            <a:ext cx="323850" cy="323850"/>
          </a:xfrm>
          <a:prstGeom prst="roundRect">
            <a:avLst>
              <a:gd name="adj" fmla="val 23529"/>
            </a:avLst>
          </a:prstGeom>
          <a:solidFill>
            <a:srgbClr val="FFFFFF">
              <a:alpha val="6000"/>
            </a:srgbClr>
          </a:solidFill>
          <a:ln/>
        </p:spPr>
      </p:sp>
      <p:sp>
        <p:nvSpPr>
          <p:cNvPr id="40" name="Text 38"/>
          <p:cNvSpPr/>
          <p:nvPr/>
        </p:nvSpPr>
        <p:spPr>
          <a:xfrm>
            <a:off x="9531350" y="56515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41" name="Text 39"/>
          <p:cNvSpPr/>
          <p:nvPr/>
        </p:nvSpPr>
        <p:spPr>
          <a:xfrm>
            <a:off x="10045701" y="5661124"/>
            <a:ext cx="2277547"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Vidéos uniquement</a:t>
            </a:r>
            <a:endParaRPr lang="en-US" sz="1875"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2563713"/>
            <a:ext cx="17769840" cy="368300"/>
          </a:xfrm>
          <a:prstGeom prst="rect">
            <a:avLst/>
          </a:prstGeom>
          <a:noFill/>
          <a:ln/>
        </p:spPr>
        <p:txBody>
          <a:bodyPr wrap="square" lIns="25400" tIns="25400" rIns="25400" bIns="25400" rtlCol="0" anchor="t">
            <a:normAutofit/>
          </a:bodyPr>
          <a:lstStyle/>
          <a:p>
            <a:pPr algn="l" indent="0" marL="0">
              <a:buNone/>
            </a:pPr>
            <a:r>
              <a:rPr lang="en-US" sz="1950" spc="546" kern="0" dirty="0">
                <a:solidFill>
                  <a:srgbClr val="FFB46E"/>
                </a:solidFill>
                <a:latin typeface="Courier New" pitchFamily="34" charset="0"/>
                <a:ea typeface="Courier New" pitchFamily="34" charset="-122"/>
                <a:cs typeface="Courier New" pitchFamily="34" charset="-120"/>
              </a:rPr>
              <a:t>ATELIER 03 · 2 HEURES</a:t>
            </a:r>
            <a:endParaRPr lang="en-US" sz="1950" dirty="0"/>
          </a:p>
        </p:txBody>
      </p:sp>
      <p:sp>
        <p:nvSpPr>
          <p:cNvPr id="3" name="Text 1"/>
          <p:cNvSpPr/>
          <p:nvPr/>
        </p:nvSpPr>
        <p:spPr>
          <a:xfrm>
            <a:off x="1066800" y="2970113"/>
            <a:ext cx="17769840" cy="1924050"/>
          </a:xfrm>
          <a:prstGeom prst="rect">
            <a:avLst/>
          </a:prstGeom>
          <a:noFill/>
          <a:ln/>
        </p:spPr>
        <p:txBody>
          <a:bodyPr wrap="square" lIns="25400" tIns="25400" rIns="25400" bIns="25400" rtlCol="0" anchor="t">
            <a:normAutofit/>
          </a:bodyPr>
          <a:lstStyle/>
          <a:p>
            <a:pPr algn="l" indent="0" marL="0">
              <a:lnSpc>
                <a:spcPct val="78158"/>
              </a:lnSpc>
              <a:buNone/>
            </a:pPr>
            <a:r>
              <a:rPr lang="en-US" sz="16500" b="1" spc="-660" kern="0" dirty="0">
                <a:solidFill>
                  <a:srgbClr val="FEC695"/>
                </a:solidFill>
                <a:latin typeface="Arial" pitchFamily="34" charset="0"/>
                <a:ea typeface="Arial" pitchFamily="34" charset="-122"/>
                <a:cs typeface="Arial" pitchFamily="34" charset="-120"/>
              </a:rPr>
              <a:t>03</a:t>
            </a:r>
            <a:endParaRPr lang="en-US" sz="16500" dirty="0"/>
          </a:p>
        </p:txBody>
      </p:sp>
      <p:sp>
        <p:nvSpPr>
          <p:cNvPr id="4" name="Text 2"/>
          <p:cNvSpPr/>
          <p:nvPr/>
        </p:nvSpPr>
        <p:spPr>
          <a:xfrm>
            <a:off x="1066800" y="4932263"/>
            <a:ext cx="16639032" cy="1514674"/>
          </a:xfrm>
          <a:prstGeom prst="rect">
            <a:avLst/>
          </a:prstGeom>
          <a:noFill/>
          <a:ln/>
        </p:spPr>
        <p:txBody>
          <a:bodyPr wrap="square" lIns="25400" tIns="25400" rIns="25400" bIns="25400" rtlCol="0" anchor="t">
            <a:normAutofit/>
          </a:bodyPr>
          <a:lstStyle/>
          <a:p>
            <a:pPr algn="l" indent="0" marL="0">
              <a:lnSpc>
                <a:spcPct val="88763"/>
              </a:lnSpc>
              <a:buNone/>
            </a:pPr>
            <a:r>
              <a:rPr lang="en-US" sz="5700" b="1" spc="-114" kern="0" dirty="0">
                <a:solidFill>
                  <a:srgbClr val="EEF3F9"/>
                </a:solidFill>
                <a:latin typeface="Arial" pitchFamily="34" charset="0"/>
                <a:ea typeface="Arial" pitchFamily="34" charset="-122"/>
                <a:cs typeface="Arial" pitchFamily="34" charset="-120"/>
              </a:rPr>
              <a:t>Conteneurisation des environnements Big Data avec Docker</a:t>
            </a:r>
            <a:endParaRPr lang="en-US" sz="5700" dirty="0"/>
          </a:p>
        </p:txBody>
      </p:sp>
      <p:sp>
        <p:nvSpPr>
          <p:cNvPr id="5" name="Text 3"/>
          <p:cNvSpPr/>
          <p:nvPr/>
        </p:nvSpPr>
        <p:spPr>
          <a:xfrm>
            <a:off x="1066800" y="6656487"/>
            <a:ext cx="10831068" cy="1104900"/>
          </a:xfrm>
          <a:prstGeom prst="rect">
            <a:avLst/>
          </a:prstGeom>
          <a:noFill/>
          <a:ln/>
        </p:spPr>
        <p:txBody>
          <a:bodyPr wrap="square" lIns="25400" tIns="25400" rIns="25400" bIns="25400" rtlCol="0" anchor="t">
            <a:normAutofit/>
          </a:bodyPr>
          <a:lstStyle/>
          <a:p>
            <a:pPr algn="l" indent="0" marL="0">
              <a:lnSpc>
                <a:spcPct val="121739"/>
              </a:lnSpc>
              <a:buNone/>
            </a:pPr>
            <a:r>
              <a:rPr lang="en-US" sz="3000" dirty="0">
                <a:solidFill>
                  <a:srgbClr val="8EA0B5"/>
                </a:solidFill>
                <a:latin typeface="Arial" pitchFamily="34" charset="0"/>
                <a:ea typeface="Arial" pitchFamily="34" charset="-122"/>
                <a:cs typeface="Arial" pitchFamily="34" charset="-120"/>
              </a:rPr>
              <a:t>Le socle technique transversal du module — de MongoDB à Spark, jusqu'à Amazon EMR.</a:t>
            </a:r>
            <a:endParaRPr lang="en-US" sz="3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03 · CONCEPTS</a:t>
            </a:r>
            <a:endParaRPr lang="en-US" sz="1800" dirty="0"/>
          </a:p>
        </p:txBody>
      </p:sp>
      <p:sp>
        <p:nvSpPr>
          <p:cNvPr id="3" name="Text 1"/>
          <p:cNvSpPr/>
          <p:nvPr/>
        </p:nvSpPr>
        <p:spPr>
          <a:xfrm>
            <a:off x="1066800" y="1314450"/>
            <a:ext cx="9696271"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enjeux de la conteneurisation</a:t>
            </a:r>
            <a:endParaRPr lang="en-US" sz="4800" dirty="0"/>
          </a:p>
        </p:txBody>
      </p:sp>
      <p:sp>
        <p:nvSpPr>
          <p:cNvPr id="4" name="Text 2"/>
          <p:cNvSpPr/>
          <p:nvPr/>
        </p:nvSpPr>
        <p:spPr>
          <a:xfrm>
            <a:off x="1066800" y="2176959"/>
            <a:ext cx="13939033" cy="1363861"/>
          </a:xfrm>
          <a:prstGeom prst="rect">
            <a:avLst/>
          </a:prstGeom>
          <a:noFill/>
          <a:ln/>
        </p:spPr>
        <p:txBody>
          <a:bodyPr wrap="square" lIns="25400" tIns="25400" rIns="25400" bIns="25400" rtlCol="0" anchor="t">
            <a:normAutofit/>
          </a:bodyPr>
          <a:lstStyle/>
          <a:p>
            <a:pPr algn="l" indent="0" marL="0">
              <a:lnSpc>
                <a:spcPct val="126545"/>
              </a:lnSpc>
              <a:buNone/>
            </a:pPr>
            <a:r>
              <a:rPr lang="en-US" sz="2400" dirty="0">
                <a:solidFill>
                  <a:srgbClr val="8EA0B5"/>
                </a:solidFill>
                <a:latin typeface="Arial" pitchFamily="34" charset="0"/>
                <a:ea typeface="Arial" pitchFamily="34" charset="-122"/>
                <a:cs typeface="Arial" pitchFamily="34" charset="-120"/>
              </a:rPr>
              <a:t>Empaqueter une application avec son environnement d’exécution dans une unité portable et reproductible, indépendante de la machine hôte. Cinq notions suffisent à en décrire le fonctionnement.</a:t>
            </a:r>
            <a:endParaRPr lang="en-US" sz="2400" dirty="0"/>
          </a:p>
        </p:txBody>
      </p:sp>
      <p:sp>
        <p:nvSpPr>
          <p:cNvPr id="5" name="Shape 3"/>
          <p:cNvSpPr/>
          <p:nvPr/>
        </p:nvSpPr>
        <p:spPr>
          <a:xfrm>
            <a:off x="1066800" y="3959920"/>
            <a:ext cx="3093641" cy="5507931"/>
          </a:xfrm>
          <a:prstGeom prst="roundRect">
            <a:avLst>
              <a:gd name="adj" fmla="val 4926"/>
            </a:avLst>
          </a:prstGeom>
          <a:solidFill>
            <a:srgbClr val="FFFFFF">
              <a:alpha val="3000"/>
            </a:srgbClr>
          </a:solidFill>
          <a:ln w="6350">
            <a:solidFill>
              <a:srgbClr val="FFFFFF">
                <a:alpha val="10000"/>
              </a:srgbClr>
            </a:solidFill>
            <a:prstDash val="solid"/>
          </a:ln>
        </p:spPr>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320800" y="4252020"/>
            <a:ext cx="438150" cy="438150"/>
          </a:xfrm>
          <a:prstGeom prst="rect">
            <a:avLst/>
          </a:prstGeom>
        </p:spPr>
      </p:pic>
      <p:sp>
        <p:nvSpPr>
          <p:cNvPr id="7" name="Text 4"/>
          <p:cNvSpPr/>
          <p:nvPr/>
        </p:nvSpPr>
        <p:spPr>
          <a:xfrm>
            <a:off x="1320800" y="4861620"/>
            <a:ext cx="2844205"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FFB46E"/>
                </a:solidFill>
                <a:latin typeface="Arial" pitchFamily="34" charset="0"/>
                <a:ea typeface="Arial" pitchFamily="34" charset="-122"/>
                <a:cs typeface="Arial" pitchFamily="34" charset="-120"/>
              </a:rPr>
              <a:t>Image</a:t>
            </a:r>
            <a:endParaRPr lang="en-US" sz="2250" dirty="0"/>
          </a:p>
        </p:txBody>
      </p:sp>
      <p:sp>
        <p:nvSpPr>
          <p:cNvPr id="8" name="Text 5"/>
          <p:cNvSpPr/>
          <p:nvPr/>
        </p:nvSpPr>
        <p:spPr>
          <a:xfrm>
            <a:off x="1320800" y="5325170"/>
            <a:ext cx="2663210" cy="1032272"/>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Modèle en lecture seule : code, dépendances, configuration.</a:t>
            </a:r>
            <a:endParaRPr lang="en-US" sz="1800" dirty="0"/>
          </a:p>
        </p:txBody>
      </p:sp>
      <p:sp>
        <p:nvSpPr>
          <p:cNvPr id="9" name="Shape 6"/>
          <p:cNvSpPr/>
          <p:nvPr/>
        </p:nvSpPr>
        <p:spPr>
          <a:xfrm>
            <a:off x="4331891" y="3959920"/>
            <a:ext cx="3093740" cy="5507931"/>
          </a:xfrm>
          <a:prstGeom prst="roundRect">
            <a:avLst>
              <a:gd name="adj" fmla="val 4926"/>
            </a:avLst>
          </a:prstGeom>
          <a:solidFill>
            <a:srgbClr val="FFFFFF">
              <a:alpha val="3000"/>
            </a:srgbClr>
          </a:solidFill>
          <a:ln w="6350">
            <a:solidFill>
              <a:srgbClr val="FFFFFF">
                <a:alpha val="10000"/>
              </a:srgbClr>
            </a:solidFill>
            <a:prstDash val="solid"/>
          </a:ln>
        </p:spPr>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85891" y="4252020"/>
            <a:ext cx="438150" cy="438150"/>
          </a:xfrm>
          <a:prstGeom prst="rect">
            <a:avLst/>
          </a:prstGeom>
        </p:spPr>
      </p:pic>
      <p:sp>
        <p:nvSpPr>
          <p:cNvPr id="11" name="Text 7"/>
          <p:cNvSpPr/>
          <p:nvPr/>
        </p:nvSpPr>
        <p:spPr>
          <a:xfrm>
            <a:off x="4585891" y="4861620"/>
            <a:ext cx="2844314"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FFB46E"/>
                </a:solidFill>
                <a:latin typeface="Arial" pitchFamily="34" charset="0"/>
                <a:ea typeface="Arial" pitchFamily="34" charset="-122"/>
                <a:cs typeface="Arial" pitchFamily="34" charset="-120"/>
              </a:rPr>
              <a:t>Conteneur</a:t>
            </a:r>
            <a:endParaRPr lang="en-US" sz="2250" dirty="0"/>
          </a:p>
        </p:txBody>
      </p:sp>
      <p:sp>
        <p:nvSpPr>
          <p:cNvPr id="12" name="Text 8"/>
          <p:cNvSpPr/>
          <p:nvPr/>
        </p:nvSpPr>
        <p:spPr>
          <a:xfrm>
            <a:off x="4585891" y="5325170"/>
            <a:ext cx="2663312" cy="1032272"/>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Instance en exécution d'une image, isolée et légère.</a:t>
            </a:r>
            <a:endParaRPr lang="en-US" sz="1800" dirty="0"/>
          </a:p>
        </p:txBody>
      </p:sp>
      <p:sp>
        <p:nvSpPr>
          <p:cNvPr id="13" name="Shape 9"/>
          <p:cNvSpPr/>
          <p:nvPr/>
        </p:nvSpPr>
        <p:spPr>
          <a:xfrm>
            <a:off x="7597080" y="3959920"/>
            <a:ext cx="3093740" cy="5507931"/>
          </a:xfrm>
          <a:prstGeom prst="roundRect">
            <a:avLst>
              <a:gd name="adj" fmla="val 4926"/>
            </a:avLst>
          </a:prstGeom>
          <a:solidFill>
            <a:srgbClr val="FFFFFF">
              <a:alpha val="3000"/>
            </a:srgbClr>
          </a:solidFill>
          <a:ln w="6350">
            <a:solidFill>
              <a:srgbClr val="FFFFFF">
                <a:alpha val="10000"/>
              </a:srgbClr>
            </a:solidFill>
            <a:prstDash val="solid"/>
          </a:ln>
        </p:spPr>
      </p:sp>
      <p:pic>
        <p:nvPicPr>
          <p:cNvPr id="14"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851081" y="4252020"/>
            <a:ext cx="438150" cy="438150"/>
          </a:xfrm>
          <a:prstGeom prst="rect">
            <a:avLst/>
          </a:prstGeom>
        </p:spPr>
      </p:pic>
      <p:sp>
        <p:nvSpPr>
          <p:cNvPr id="15" name="Text 10"/>
          <p:cNvSpPr/>
          <p:nvPr/>
        </p:nvSpPr>
        <p:spPr>
          <a:xfrm>
            <a:off x="7851081" y="4861620"/>
            <a:ext cx="2844314"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FFB46E"/>
                </a:solidFill>
                <a:latin typeface="Arial" pitchFamily="34" charset="0"/>
                <a:ea typeface="Arial" pitchFamily="34" charset="-122"/>
                <a:cs typeface="Arial" pitchFamily="34" charset="-120"/>
              </a:rPr>
              <a:t>Registre</a:t>
            </a:r>
            <a:endParaRPr lang="en-US" sz="2250" dirty="0"/>
          </a:p>
        </p:txBody>
      </p:sp>
      <p:sp>
        <p:nvSpPr>
          <p:cNvPr id="16" name="Text 11"/>
          <p:cNvSpPr/>
          <p:nvPr/>
        </p:nvSpPr>
        <p:spPr>
          <a:xfrm>
            <a:off x="7851081" y="5325170"/>
            <a:ext cx="2663312" cy="700881"/>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Dépôt d'images, public (Docker Hub) ou privé.</a:t>
            </a:r>
            <a:endParaRPr lang="en-US" sz="1800" dirty="0"/>
          </a:p>
        </p:txBody>
      </p:sp>
      <p:sp>
        <p:nvSpPr>
          <p:cNvPr id="17" name="Shape 12"/>
          <p:cNvSpPr/>
          <p:nvPr/>
        </p:nvSpPr>
        <p:spPr>
          <a:xfrm>
            <a:off x="10862271" y="3959920"/>
            <a:ext cx="3093740" cy="5507931"/>
          </a:xfrm>
          <a:prstGeom prst="roundRect">
            <a:avLst>
              <a:gd name="adj" fmla="val 4926"/>
            </a:avLst>
          </a:prstGeom>
          <a:solidFill>
            <a:srgbClr val="FFFFFF">
              <a:alpha val="3000"/>
            </a:srgbClr>
          </a:solidFill>
          <a:ln w="6350">
            <a:solidFill>
              <a:srgbClr val="FFFFFF">
                <a:alpha val="10000"/>
              </a:srgbClr>
            </a:solidFill>
            <a:prstDash val="solid"/>
          </a:ln>
        </p:spPr>
      </p:sp>
      <p:pic>
        <p:nvPicPr>
          <p:cNvPr id="18"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1116270" y="4252020"/>
            <a:ext cx="438150" cy="438150"/>
          </a:xfrm>
          <a:prstGeom prst="rect">
            <a:avLst/>
          </a:prstGeom>
        </p:spPr>
      </p:pic>
      <p:sp>
        <p:nvSpPr>
          <p:cNvPr id="19" name="Text 13"/>
          <p:cNvSpPr/>
          <p:nvPr/>
        </p:nvSpPr>
        <p:spPr>
          <a:xfrm>
            <a:off x="11116270" y="4861620"/>
            <a:ext cx="2844314"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FFB46E"/>
                </a:solidFill>
                <a:latin typeface="Arial" pitchFamily="34" charset="0"/>
                <a:ea typeface="Arial" pitchFamily="34" charset="-122"/>
                <a:cs typeface="Arial" pitchFamily="34" charset="-120"/>
              </a:rPr>
              <a:t>Volume</a:t>
            </a:r>
            <a:endParaRPr lang="en-US" sz="2250" dirty="0"/>
          </a:p>
        </p:txBody>
      </p:sp>
      <p:sp>
        <p:nvSpPr>
          <p:cNvPr id="20" name="Text 14"/>
          <p:cNvSpPr/>
          <p:nvPr/>
        </p:nvSpPr>
        <p:spPr>
          <a:xfrm>
            <a:off x="11116270" y="5325170"/>
            <a:ext cx="2663312" cy="1032272"/>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Persistance des données hors du cycle de vie du conteneur.</a:t>
            </a:r>
            <a:endParaRPr lang="en-US" sz="1800" dirty="0"/>
          </a:p>
        </p:txBody>
      </p:sp>
      <p:sp>
        <p:nvSpPr>
          <p:cNvPr id="21" name="Shape 15"/>
          <p:cNvSpPr/>
          <p:nvPr/>
        </p:nvSpPr>
        <p:spPr>
          <a:xfrm>
            <a:off x="14127461" y="3959920"/>
            <a:ext cx="3093740" cy="5507931"/>
          </a:xfrm>
          <a:prstGeom prst="roundRect">
            <a:avLst>
              <a:gd name="adj" fmla="val 4926"/>
            </a:avLst>
          </a:prstGeom>
          <a:solidFill>
            <a:srgbClr val="FFFFFF">
              <a:alpha val="3000"/>
            </a:srgbClr>
          </a:solidFill>
          <a:ln w="6350">
            <a:solidFill>
              <a:srgbClr val="FFFFFF">
                <a:alpha val="10000"/>
              </a:srgbClr>
            </a:solidFill>
            <a:prstDash val="solid"/>
          </a:ln>
        </p:spPr>
      </p:sp>
      <p:pic>
        <p:nvPicPr>
          <p:cNvPr id="22"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381461" y="4252020"/>
            <a:ext cx="438150" cy="438150"/>
          </a:xfrm>
          <a:prstGeom prst="rect">
            <a:avLst/>
          </a:prstGeom>
        </p:spPr>
      </p:pic>
      <p:sp>
        <p:nvSpPr>
          <p:cNvPr id="23" name="Text 16"/>
          <p:cNvSpPr/>
          <p:nvPr/>
        </p:nvSpPr>
        <p:spPr>
          <a:xfrm>
            <a:off x="14381461" y="4861620"/>
            <a:ext cx="2844314"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FFB46E"/>
                </a:solidFill>
                <a:latin typeface="Arial" pitchFamily="34" charset="0"/>
                <a:ea typeface="Arial" pitchFamily="34" charset="-122"/>
                <a:cs typeface="Arial" pitchFamily="34" charset="-120"/>
              </a:rPr>
              <a:t>Réseau</a:t>
            </a:r>
            <a:endParaRPr lang="en-US" sz="2250" dirty="0"/>
          </a:p>
        </p:txBody>
      </p:sp>
      <p:sp>
        <p:nvSpPr>
          <p:cNvPr id="24" name="Text 17"/>
          <p:cNvSpPr/>
          <p:nvPr/>
        </p:nvSpPr>
        <p:spPr>
          <a:xfrm>
            <a:off x="14381461" y="5325170"/>
            <a:ext cx="2663312" cy="1363663"/>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Réseaux virtuels : les conteneurs communiquent par leur nom.</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03 · COMPARAISON</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Conteneur ou machine virtuelle ?</a:t>
            </a:r>
            <a:endParaRPr lang="en-US" sz="4800"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66800" y="2376984"/>
            <a:ext cx="285750" cy="285750"/>
          </a:xfrm>
          <a:prstGeom prst="rect">
            <a:avLst/>
          </a:prstGeom>
        </p:spPr>
      </p:pic>
      <p:sp>
        <p:nvSpPr>
          <p:cNvPr id="5" name="Text 2"/>
          <p:cNvSpPr/>
          <p:nvPr/>
        </p:nvSpPr>
        <p:spPr>
          <a:xfrm>
            <a:off x="1466850" y="2367459"/>
            <a:ext cx="256491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Machine virtuelle</a:t>
            </a:r>
            <a:endParaRPr lang="en-US" sz="1800" dirty="0"/>
          </a:p>
        </p:txBody>
      </p:sp>
      <p:sp>
        <p:nvSpPr>
          <p:cNvPr id="6" name="Shape 3"/>
          <p:cNvSpPr/>
          <p:nvPr/>
        </p:nvSpPr>
        <p:spPr>
          <a:xfrm>
            <a:off x="1066800" y="2824659"/>
            <a:ext cx="7915275" cy="673100"/>
          </a:xfrm>
          <a:prstGeom prst="roundRect">
            <a:avLst>
              <a:gd name="adj" fmla="val 14151"/>
            </a:avLst>
          </a:prstGeom>
          <a:solidFill>
            <a:srgbClr val="FFBE83">
              <a:alpha val="32000"/>
            </a:srgbClr>
          </a:solidFill>
          <a:ln w="6350">
            <a:solidFill>
              <a:srgbClr val="FFFFFF">
                <a:alpha val="10000"/>
              </a:srgbClr>
            </a:solidFill>
            <a:prstDash val="solid"/>
          </a:ln>
        </p:spPr>
      </p:sp>
      <p:sp>
        <p:nvSpPr>
          <p:cNvPr id="7" name="Text 4"/>
          <p:cNvSpPr/>
          <p:nvPr/>
        </p:nvSpPr>
        <p:spPr>
          <a:xfrm>
            <a:off x="1144921" y="3021509"/>
            <a:ext cx="7759033" cy="317500"/>
          </a:xfrm>
          <a:prstGeom prst="rect">
            <a:avLst/>
          </a:prstGeom>
          <a:noFill/>
          <a:ln/>
        </p:spPr>
        <p:txBody>
          <a:bodyPr wrap="square" lIns="25400" tIns="25400" rIns="25400" bIns="25400" rtlCol="0" anchor="t">
            <a:normAutofit/>
          </a:bodyPr>
          <a:lstStyle/>
          <a:p>
            <a:pPr algn="ctr" indent="0" marL="0">
              <a:buNone/>
            </a:pPr>
            <a:r>
              <a:rPr lang="en-US" sz="1950" b="1" dirty="0">
                <a:solidFill>
                  <a:srgbClr val="EEF3F9"/>
                </a:solidFill>
                <a:latin typeface="Arial" pitchFamily="34" charset="0"/>
                <a:ea typeface="Arial" pitchFamily="34" charset="-122"/>
                <a:cs typeface="Arial" pitchFamily="34" charset="-120"/>
              </a:rPr>
              <a:t>Application</a:t>
            </a:r>
            <a:endParaRPr lang="en-US" sz="1950" dirty="0"/>
          </a:p>
        </p:txBody>
      </p:sp>
      <p:sp>
        <p:nvSpPr>
          <p:cNvPr id="8" name="Shape 5"/>
          <p:cNvSpPr/>
          <p:nvPr/>
        </p:nvSpPr>
        <p:spPr>
          <a:xfrm>
            <a:off x="1066800" y="3593009"/>
            <a:ext cx="7915275" cy="717550"/>
          </a:xfrm>
          <a:prstGeom prst="roundRect">
            <a:avLst>
              <a:gd name="adj" fmla="val 13274"/>
            </a:avLst>
          </a:prstGeom>
          <a:solidFill>
            <a:srgbClr val="FFFFFF">
              <a:alpha val="6000"/>
            </a:srgbClr>
          </a:solidFill>
          <a:ln w="6350">
            <a:solidFill>
              <a:srgbClr val="FFFFFF">
                <a:alpha val="10000"/>
              </a:srgbClr>
            </a:solidFill>
            <a:prstDash val="solid"/>
          </a:ln>
        </p:spPr>
      </p:sp>
      <p:sp>
        <p:nvSpPr>
          <p:cNvPr id="9" name="Text 6"/>
          <p:cNvSpPr/>
          <p:nvPr/>
        </p:nvSpPr>
        <p:spPr>
          <a:xfrm>
            <a:off x="1144921" y="3789859"/>
            <a:ext cx="7759033" cy="361950"/>
          </a:xfrm>
          <a:prstGeom prst="rect">
            <a:avLst/>
          </a:prstGeom>
          <a:noFill/>
          <a:ln/>
        </p:spPr>
        <p:txBody>
          <a:bodyPr wrap="square" lIns="25400" tIns="25400" rIns="25400" bIns="25400" rtlCol="0" anchor="t">
            <a:normAutofit/>
          </a:bodyPr>
          <a:lstStyle/>
          <a:p>
            <a:pPr algn="ctr" indent="0" marL="0">
              <a:buNone/>
            </a:pPr>
            <a:r>
              <a:rPr lang="en-US" sz="1950" dirty="0">
                <a:solidFill>
                  <a:srgbClr val="EEF3F9"/>
                </a:solidFill>
                <a:latin typeface="Arial" pitchFamily="34" charset="0"/>
                <a:ea typeface="Arial" pitchFamily="34" charset="-122"/>
                <a:cs typeface="Arial" pitchFamily="34" charset="-120"/>
              </a:rPr>
              <a:t>OS invité complet</a:t>
            </a:r>
            <a:endParaRPr lang="en-US" sz="1950" dirty="0"/>
          </a:p>
        </p:txBody>
      </p:sp>
      <p:sp>
        <p:nvSpPr>
          <p:cNvPr id="10" name="Shape 7"/>
          <p:cNvSpPr/>
          <p:nvPr/>
        </p:nvSpPr>
        <p:spPr>
          <a:xfrm>
            <a:off x="1066800" y="4405809"/>
            <a:ext cx="7915275" cy="717550"/>
          </a:xfrm>
          <a:prstGeom prst="roundRect">
            <a:avLst>
              <a:gd name="adj" fmla="val 13274"/>
            </a:avLst>
          </a:prstGeom>
          <a:solidFill>
            <a:srgbClr val="FFFFFF">
              <a:alpha val="6000"/>
            </a:srgbClr>
          </a:solidFill>
          <a:ln w="6350">
            <a:solidFill>
              <a:srgbClr val="FFFFFF">
                <a:alpha val="10000"/>
              </a:srgbClr>
            </a:solidFill>
            <a:prstDash val="solid"/>
          </a:ln>
        </p:spPr>
      </p:sp>
      <p:sp>
        <p:nvSpPr>
          <p:cNvPr id="11" name="Text 8"/>
          <p:cNvSpPr/>
          <p:nvPr/>
        </p:nvSpPr>
        <p:spPr>
          <a:xfrm>
            <a:off x="1144921" y="4602659"/>
            <a:ext cx="7759033" cy="361950"/>
          </a:xfrm>
          <a:prstGeom prst="rect">
            <a:avLst/>
          </a:prstGeom>
          <a:noFill/>
          <a:ln/>
        </p:spPr>
        <p:txBody>
          <a:bodyPr wrap="square" lIns="25400" tIns="25400" rIns="25400" bIns="25400" rtlCol="0" anchor="t">
            <a:normAutofit/>
          </a:bodyPr>
          <a:lstStyle/>
          <a:p>
            <a:pPr algn="ctr" indent="0" marL="0">
              <a:buNone/>
            </a:pPr>
            <a:r>
              <a:rPr lang="en-US" sz="1950" dirty="0">
                <a:solidFill>
                  <a:srgbClr val="EEF3F9"/>
                </a:solidFill>
                <a:latin typeface="Arial" pitchFamily="34" charset="0"/>
                <a:ea typeface="Arial" pitchFamily="34" charset="-122"/>
                <a:cs typeface="Arial" pitchFamily="34" charset="-120"/>
              </a:rPr>
              <a:t>Hyperviseur</a:t>
            </a:r>
            <a:endParaRPr lang="en-US" sz="1950" dirty="0"/>
          </a:p>
        </p:txBody>
      </p:sp>
      <p:sp>
        <p:nvSpPr>
          <p:cNvPr id="12" name="Shape 9"/>
          <p:cNvSpPr/>
          <p:nvPr/>
        </p:nvSpPr>
        <p:spPr>
          <a:xfrm>
            <a:off x="1066800" y="5218609"/>
            <a:ext cx="7915275" cy="717550"/>
          </a:xfrm>
          <a:prstGeom prst="roundRect">
            <a:avLst>
              <a:gd name="adj" fmla="val 13274"/>
            </a:avLst>
          </a:prstGeom>
          <a:solidFill>
            <a:srgbClr val="FFFFFF">
              <a:alpha val="6000"/>
            </a:srgbClr>
          </a:solidFill>
          <a:ln w="6350">
            <a:solidFill>
              <a:srgbClr val="FFFFFF">
                <a:alpha val="10000"/>
              </a:srgbClr>
            </a:solidFill>
            <a:prstDash val="solid"/>
          </a:ln>
        </p:spPr>
      </p:sp>
      <p:sp>
        <p:nvSpPr>
          <p:cNvPr id="13" name="Text 10"/>
          <p:cNvSpPr/>
          <p:nvPr/>
        </p:nvSpPr>
        <p:spPr>
          <a:xfrm>
            <a:off x="1144921" y="5415459"/>
            <a:ext cx="7759033" cy="361950"/>
          </a:xfrm>
          <a:prstGeom prst="rect">
            <a:avLst/>
          </a:prstGeom>
          <a:noFill/>
          <a:ln/>
        </p:spPr>
        <p:txBody>
          <a:bodyPr wrap="square" lIns="25400" tIns="25400" rIns="25400" bIns="25400" rtlCol="0" anchor="t">
            <a:normAutofit/>
          </a:bodyPr>
          <a:lstStyle/>
          <a:p>
            <a:pPr algn="ctr" indent="0" marL="0">
              <a:buNone/>
            </a:pPr>
            <a:r>
              <a:rPr lang="en-US" sz="1950" dirty="0">
                <a:solidFill>
                  <a:srgbClr val="EEF3F9"/>
                </a:solidFill>
                <a:latin typeface="Arial" pitchFamily="34" charset="0"/>
                <a:ea typeface="Arial" pitchFamily="34" charset="-122"/>
                <a:cs typeface="Arial" pitchFamily="34" charset="-120"/>
              </a:rPr>
              <a:t>OS hôte</a:t>
            </a:r>
            <a:endParaRPr lang="en-US" sz="1950" dirty="0"/>
          </a:p>
        </p:txBody>
      </p:sp>
      <p:sp>
        <p:nvSpPr>
          <p:cNvPr id="14" name="Text 11"/>
          <p:cNvSpPr/>
          <p:nvPr/>
        </p:nvSpPr>
        <p:spPr>
          <a:xfrm>
            <a:off x="671036" y="6164759"/>
            <a:ext cx="8706803" cy="33655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Arial" pitchFamily="34" charset="0"/>
                <a:ea typeface="Arial" pitchFamily="34" charset="-122"/>
                <a:cs typeface="Arial" pitchFamily="34" charset="-120"/>
              </a:rPr>
              <a:t>Démarrage : dizaines de secondes → minutes</a:t>
            </a:r>
            <a:endParaRPr lang="en-US" sz="1800" dirty="0"/>
          </a:p>
        </p:txBody>
      </p:sp>
      <p:pic>
        <p:nvPicPr>
          <p:cNvPr id="15"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05925" y="2376984"/>
            <a:ext cx="285750" cy="285750"/>
          </a:xfrm>
          <a:prstGeom prst="rect">
            <a:avLst/>
          </a:prstGeom>
        </p:spPr>
      </p:pic>
      <p:sp>
        <p:nvSpPr>
          <p:cNvPr id="16" name="Text 12"/>
          <p:cNvSpPr/>
          <p:nvPr/>
        </p:nvSpPr>
        <p:spPr>
          <a:xfrm>
            <a:off x="9705975" y="2367459"/>
            <a:ext cx="241408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Conteneur Docker</a:t>
            </a:r>
            <a:endParaRPr lang="en-US" sz="1800" dirty="0"/>
          </a:p>
        </p:txBody>
      </p:sp>
      <p:sp>
        <p:nvSpPr>
          <p:cNvPr id="17" name="Shape 13"/>
          <p:cNvSpPr/>
          <p:nvPr/>
        </p:nvSpPr>
        <p:spPr>
          <a:xfrm>
            <a:off x="9305925" y="2824659"/>
            <a:ext cx="7915275" cy="673100"/>
          </a:xfrm>
          <a:prstGeom prst="roundRect">
            <a:avLst>
              <a:gd name="adj" fmla="val 14151"/>
            </a:avLst>
          </a:prstGeom>
          <a:solidFill>
            <a:srgbClr val="FFBC80">
              <a:alpha val="36000"/>
            </a:srgbClr>
          </a:solidFill>
          <a:ln w="6350">
            <a:solidFill>
              <a:srgbClr val="FFBE82">
                <a:alpha val="46000"/>
              </a:srgbClr>
            </a:solidFill>
            <a:prstDash val="solid"/>
          </a:ln>
        </p:spPr>
      </p:sp>
      <p:sp>
        <p:nvSpPr>
          <p:cNvPr id="18" name="Text 14"/>
          <p:cNvSpPr/>
          <p:nvPr/>
        </p:nvSpPr>
        <p:spPr>
          <a:xfrm>
            <a:off x="9384046" y="3021509"/>
            <a:ext cx="7759033" cy="317500"/>
          </a:xfrm>
          <a:prstGeom prst="rect">
            <a:avLst/>
          </a:prstGeom>
          <a:noFill/>
          <a:ln/>
        </p:spPr>
        <p:txBody>
          <a:bodyPr wrap="square" lIns="25400" tIns="25400" rIns="25400" bIns="25400" rtlCol="0" anchor="t">
            <a:normAutofit/>
          </a:bodyPr>
          <a:lstStyle/>
          <a:p>
            <a:pPr algn="ctr" indent="0" marL="0">
              <a:buNone/>
            </a:pPr>
            <a:r>
              <a:rPr lang="en-US" sz="1950" b="1" dirty="0">
                <a:solidFill>
                  <a:srgbClr val="EEF3F9"/>
                </a:solidFill>
                <a:latin typeface="Arial" pitchFamily="34" charset="0"/>
                <a:ea typeface="Arial" pitchFamily="34" charset="-122"/>
                <a:cs typeface="Arial" pitchFamily="34" charset="-120"/>
              </a:rPr>
              <a:t>Application</a:t>
            </a:r>
            <a:endParaRPr lang="en-US" sz="1950" dirty="0"/>
          </a:p>
        </p:txBody>
      </p:sp>
      <p:sp>
        <p:nvSpPr>
          <p:cNvPr id="19" name="Shape 15"/>
          <p:cNvSpPr/>
          <p:nvPr/>
        </p:nvSpPr>
        <p:spPr>
          <a:xfrm>
            <a:off x="9305925" y="3593009"/>
            <a:ext cx="7915275" cy="717550"/>
          </a:xfrm>
          <a:prstGeom prst="roundRect">
            <a:avLst>
              <a:gd name="adj" fmla="val 13274"/>
            </a:avLst>
          </a:prstGeom>
          <a:solidFill>
            <a:srgbClr val="FFFFFF">
              <a:alpha val="6000"/>
            </a:srgbClr>
          </a:solidFill>
          <a:ln w="6350">
            <a:solidFill>
              <a:srgbClr val="FFFFFF">
                <a:alpha val="10000"/>
              </a:srgbClr>
            </a:solidFill>
            <a:prstDash val="solid"/>
          </a:ln>
        </p:spPr>
      </p:sp>
      <p:sp>
        <p:nvSpPr>
          <p:cNvPr id="20" name="Text 16"/>
          <p:cNvSpPr/>
          <p:nvPr/>
        </p:nvSpPr>
        <p:spPr>
          <a:xfrm>
            <a:off x="9384046" y="3789859"/>
            <a:ext cx="7759033" cy="361950"/>
          </a:xfrm>
          <a:prstGeom prst="rect">
            <a:avLst/>
          </a:prstGeom>
          <a:noFill/>
          <a:ln/>
        </p:spPr>
        <p:txBody>
          <a:bodyPr wrap="square" lIns="25400" tIns="25400" rIns="25400" bIns="25400" rtlCol="0" anchor="t">
            <a:normAutofit/>
          </a:bodyPr>
          <a:lstStyle/>
          <a:p>
            <a:pPr algn="ctr" indent="0" marL="0">
              <a:buNone/>
            </a:pPr>
            <a:r>
              <a:rPr lang="en-US" sz="1950" dirty="0">
                <a:solidFill>
                  <a:srgbClr val="EEF3F9"/>
                </a:solidFill>
                <a:latin typeface="Arial" pitchFamily="34" charset="0"/>
                <a:ea typeface="Arial" pitchFamily="34" charset="-122"/>
                <a:cs typeface="Arial" pitchFamily="34" charset="-120"/>
              </a:rPr>
              <a:t>Librairies</a:t>
            </a:r>
            <a:endParaRPr lang="en-US" sz="1950" dirty="0"/>
          </a:p>
        </p:txBody>
      </p:sp>
      <p:sp>
        <p:nvSpPr>
          <p:cNvPr id="21" name="Shape 17"/>
          <p:cNvSpPr/>
          <p:nvPr/>
        </p:nvSpPr>
        <p:spPr>
          <a:xfrm>
            <a:off x="9305925" y="4405809"/>
            <a:ext cx="7915275" cy="717550"/>
          </a:xfrm>
          <a:prstGeom prst="roundRect">
            <a:avLst>
              <a:gd name="adj" fmla="val 13274"/>
            </a:avLst>
          </a:prstGeom>
          <a:solidFill>
            <a:srgbClr val="FFFFFF">
              <a:alpha val="6000"/>
            </a:srgbClr>
          </a:solidFill>
          <a:ln w="6350">
            <a:solidFill>
              <a:srgbClr val="FFFFFF">
                <a:alpha val="10000"/>
              </a:srgbClr>
            </a:solidFill>
            <a:prstDash val="solid"/>
          </a:ln>
        </p:spPr>
      </p:sp>
      <p:sp>
        <p:nvSpPr>
          <p:cNvPr id="22" name="Text 18"/>
          <p:cNvSpPr/>
          <p:nvPr/>
        </p:nvSpPr>
        <p:spPr>
          <a:xfrm>
            <a:off x="9384046" y="4602659"/>
            <a:ext cx="7759033" cy="361950"/>
          </a:xfrm>
          <a:prstGeom prst="rect">
            <a:avLst/>
          </a:prstGeom>
          <a:noFill/>
          <a:ln/>
        </p:spPr>
        <p:txBody>
          <a:bodyPr wrap="square" lIns="25400" tIns="25400" rIns="25400" bIns="25400" rtlCol="0" anchor="t">
            <a:normAutofit/>
          </a:bodyPr>
          <a:lstStyle/>
          <a:p>
            <a:pPr algn="ctr" indent="0" marL="0">
              <a:buNone/>
            </a:pPr>
            <a:r>
              <a:rPr lang="en-US" sz="1950" dirty="0">
                <a:solidFill>
                  <a:srgbClr val="EEF3F9"/>
                </a:solidFill>
                <a:latin typeface="Arial" pitchFamily="34" charset="0"/>
                <a:ea typeface="Arial" pitchFamily="34" charset="-122"/>
                <a:cs typeface="Arial" pitchFamily="34" charset="-120"/>
              </a:rPr>
              <a:t>Moteur Docker</a:t>
            </a:r>
            <a:endParaRPr lang="en-US" sz="1950" dirty="0"/>
          </a:p>
        </p:txBody>
      </p:sp>
      <p:sp>
        <p:nvSpPr>
          <p:cNvPr id="23" name="Shape 19"/>
          <p:cNvSpPr/>
          <p:nvPr/>
        </p:nvSpPr>
        <p:spPr>
          <a:xfrm>
            <a:off x="9305925" y="5218609"/>
            <a:ext cx="7915275" cy="717550"/>
          </a:xfrm>
          <a:prstGeom prst="roundRect">
            <a:avLst>
              <a:gd name="adj" fmla="val 13274"/>
            </a:avLst>
          </a:prstGeom>
          <a:solidFill>
            <a:srgbClr val="FFFFFF">
              <a:alpha val="6000"/>
            </a:srgbClr>
          </a:solidFill>
          <a:ln w="6350">
            <a:solidFill>
              <a:srgbClr val="FFFFFF">
                <a:alpha val="10000"/>
              </a:srgbClr>
            </a:solidFill>
            <a:prstDash val="solid"/>
          </a:ln>
        </p:spPr>
      </p:sp>
      <p:sp>
        <p:nvSpPr>
          <p:cNvPr id="24" name="Text 20"/>
          <p:cNvSpPr/>
          <p:nvPr/>
        </p:nvSpPr>
        <p:spPr>
          <a:xfrm>
            <a:off x="9384046" y="5415459"/>
            <a:ext cx="7759033" cy="361950"/>
          </a:xfrm>
          <a:prstGeom prst="rect">
            <a:avLst/>
          </a:prstGeom>
          <a:noFill/>
          <a:ln/>
        </p:spPr>
        <p:txBody>
          <a:bodyPr wrap="square" lIns="25400" tIns="25400" rIns="25400" bIns="25400" rtlCol="0" anchor="t">
            <a:normAutofit/>
          </a:bodyPr>
          <a:lstStyle/>
          <a:p>
            <a:pPr algn="ctr" indent="0" marL="0">
              <a:buNone/>
            </a:pPr>
            <a:r>
              <a:rPr lang="en-US" sz="1950" dirty="0">
                <a:solidFill>
                  <a:srgbClr val="EEF3F9"/>
                </a:solidFill>
                <a:highlight>
                  <a:srgbClr val="FFFFFF"/>
                </a:highlight>
                <a:latin typeface="Arial" pitchFamily="34" charset="0"/>
                <a:ea typeface="Arial" pitchFamily="34" charset="-122"/>
                <a:cs typeface="Arial" pitchFamily="34" charset="-120"/>
              </a:rPr>
              <a:t>OS hôte </a:t>
            </a:r>
            <a:pPr algn="ctr" indent="0" marL="0">
              <a:buNone/>
            </a:pPr>
            <a:r>
              <a:rPr lang="en-US" sz="1950" dirty="0">
                <a:solidFill>
                  <a:srgbClr val="FFB46E"/>
                </a:solidFill>
                <a:latin typeface="Arial" pitchFamily="34" charset="0"/>
                <a:ea typeface="Arial" pitchFamily="34" charset="-122"/>
                <a:cs typeface="Arial" pitchFamily="34" charset="-120"/>
              </a:rPr>
              <a:t>(noyau partagé)</a:t>
            </a:r>
            <a:endParaRPr lang="en-US" sz="1950" dirty="0"/>
          </a:p>
        </p:txBody>
      </p:sp>
      <p:sp>
        <p:nvSpPr>
          <p:cNvPr id="25" name="Text 21"/>
          <p:cNvSpPr/>
          <p:nvPr/>
        </p:nvSpPr>
        <p:spPr>
          <a:xfrm>
            <a:off x="8910161" y="6164759"/>
            <a:ext cx="8706803" cy="336550"/>
          </a:xfrm>
          <a:prstGeom prst="rect">
            <a:avLst/>
          </a:prstGeom>
          <a:noFill/>
          <a:ln/>
        </p:spPr>
        <p:txBody>
          <a:bodyPr wrap="square" lIns="25400" tIns="25400" rIns="25400" bIns="25400" rtlCol="0" anchor="t">
            <a:normAutofit/>
          </a:bodyPr>
          <a:lstStyle/>
          <a:p>
            <a:pPr algn="ctr" indent="0" marL="0">
              <a:buNone/>
            </a:pPr>
            <a:r>
              <a:rPr lang="en-US" sz="1800" dirty="0">
                <a:solidFill>
                  <a:srgbClr val="FFB46E"/>
                </a:solidFill>
                <a:latin typeface="Arial" pitchFamily="34" charset="0"/>
                <a:ea typeface="Arial" pitchFamily="34" charset="-122"/>
                <a:cs typeface="Arial" pitchFamily="34" charset="-120"/>
              </a:rPr>
              <a:t>Démarrage : quelques secondes</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03 · PRATIQUE</a:t>
            </a:r>
            <a:endParaRPr lang="en-US" sz="1800" dirty="0"/>
          </a:p>
        </p:txBody>
      </p:sp>
      <p:sp>
        <p:nvSpPr>
          <p:cNvPr id="3" name="Text 1"/>
          <p:cNvSpPr/>
          <p:nvPr/>
        </p:nvSpPr>
        <p:spPr>
          <a:xfrm>
            <a:off x="1066800" y="1314450"/>
            <a:ext cx="10476041"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Orchestrer une plateforme avec Docker Compose</a:t>
            </a:r>
            <a:endParaRPr lang="en-US" sz="4800" dirty="0"/>
          </a:p>
        </p:txBody>
      </p:sp>
      <p:sp>
        <p:nvSpPr>
          <p:cNvPr id="4" name="Shape 2"/>
          <p:cNvSpPr/>
          <p:nvPr/>
        </p:nvSpPr>
        <p:spPr>
          <a:xfrm>
            <a:off x="1066800" y="2944217"/>
            <a:ext cx="9239746" cy="6523633"/>
          </a:xfrm>
          <a:prstGeom prst="roundRect">
            <a:avLst>
              <a:gd name="adj" fmla="val 2336"/>
            </a:avLst>
          </a:prstGeom>
          <a:solidFill>
            <a:srgbClr val="06090E"/>
          </a:solidFill>
          <a:ln w="6350">
            <a:solidFill>
              <a:srgbClr val="FFFFFF">
                <a:alpha val="10000"/>
              </a:srgbClr>
            </a:solidFill>
            <a:prstDash val="solid"/>
          </a:ln>
        </p:spPr>
      </p:sp>
      <p:sp>
        <p:nvSpPr>
          <p:cNvPr id="5" name="Shape 3"/>
          <p:cNvSpPr/>
          <p:nvPr/>
        </p:nvSpPr>
        <p:spPr>
          <a:xfrm>
            <a:off x="1073150" y="3560167"/>
            <a:ext cx="9227046" cy="9525"/>
          </a:xfrm>
          <a:prstGeom prst="rect">
            <a:avLst/>
          </a:prstGeom>
          <a:solidFill>
            <a:srgbClr val="FFFFFF">
              <a:alpha val="6000"/>
            </a:srgbClr>
          </a:solidFill>
          <a:ln/>
        </p:spPr>
      </p:sp>
      <p:sp>
        <p:nvSpPr>
          <p:cNvPr id="6" name="Shape 4"/>
          <p:cNvSpPr/>
          <p:nvPr/>
        </p:nvSpPr>
        <p:spPr>
          <a:xfrm>
            <a:off x="1282700" y="3193455"/>
            <a:ext cx="123825" cy="123825"/>
          </a:xfrm>
          <a:prstGeom prst="ellipse">
            <a:avLst/>
          </a:prstGeom>
          <a:solidFill>
            <a:srgbClr val="FF5F57"/>
          </a:solidFill>
          <a:ln/>
        </p:spPr>
      </p:sp>
      <p:sp>
        <p:nvSpPr>
          <p:cNvPr id="7" name="Shape 5"/>
          <p:cNvSpPr/>
          <p:nvPr/>
        </p:nvSpPr>
        <p:spPr>
          <a:xfrm>
            <a:off x="1501775" y="3193455"/>
            <a:ext cx="123825" cy="123825"/>
          </a:xfrm>
          <a:prstGeom prst="ellipse">
            <a:avLst/>
          </a:prstGeom>
          <a:solidFill>
            <a:srgbClr val="FEBC2E"/>
          </a:solidFill>
          <a:ln/>
        </p:spPr>
      </p:sp>
      <p:sp>
        <p:nvSpPr>
          <p:cNvPr id="8" name="Shape 6"/>
          <p:cNvSpPr/>
          <p:nvPr/>
        </p:nvSpPr>
        <p:spPr>
          <a:xfrm>
            <a:off x="1720850" y="3193455"/>
            <a:ext cx="123825" cy="123825"/>
          </a:xfrm>
          <a:prstGeom prst="ellipse">
            <a:avLst/>
          </a:prstGeom>
          <a:solidFill>
            <a:srgbClr val="28C840"/>
          </a:solidFill>
          <a:ln/>
        </p:spPr>
      </p:sp>
      <p:sp>
        <p:nvSpPr>
          <p:cNvPr id="9" name="Text 7"/>
          <p:cNvSpPr/>
          <p:nvPr/>
        </p:nvSpPr>
        <p:spPr>
          <a:xfrm>
            <a:off x="2054225" y="3102967"/>
            <a:ext cx="271585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docker-compose.yml</a:t>
            </a:r>
            <a:endParaRPr lang="en-US" sz="1800" dirty="0"/>
          </a:p>
        </p:txBody>
      </p:sp>
      <p:sp>
        <p:nvSpPr>
          <p:cNvPr id="10" name="Text 8"/>
          <p:cNvSpPr/>
          <p:nvPr/>
        </p:nvSpPr>
        <p:spPr>
          <a:xfrm>
            <a:off x="1358900" y="3795117"/>
            <a:ext cx="8932357" cy="4998443"/>
          </a:xfrm>
          <a:prstGeom prst="rect">
            <a:avLst/>
          </a:prstGeom>
          <a:noFill/>
          <a:ln/>
        </p:spPr>
        <p:txBody>
          <a:bodyPr wrap="none" lIns="25400" tIns="25400" rIns="25400" bIns="25400" rtlCol="0" anchor="t">
            <a:normAutofit/>
          </a:bodyPr>
          <a:lstStyle/>
          <a:p>
            <a:pPr algn="l" indent="0" marL="0">
              <a:lnSpc>
                <a:spcPct val="136098"/>
              </a:lnSpc>
              <a:buNone/>
            </a:pPr>
            <a:r>
              <a:rPr lang="en-US" sz="1800" dirty="0">
                <a:solidFill>
                  <a:srgbClr val="B897F0"/>
                </a:solidFill>
                <a:latin typeface="Courier New" pitchFamily="34" charset="0"/>
                <a:ea typeface="Courier New" pitchFamily="34" charset="-122"/>
                <a:cs typeface="Courier New" pitchFamily="34" charset="-120"/>
              </a:rPr>
              <a:t>services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a:t>
            </a:r>
            <a:endParaRPr lang="en-US" sz="1800" dirty="0"/>
          </a:p>
          <a:p>
            <a:pPr algn="l" indent="0" marL="0">
              <a:lnSpc>
                <a:spcPct val="136098"/>
              </a:lnSpc>
              <a:buNone/>
            </a:pPr>
            <a:r>
              <a:rPr lang="en-US" sz="1800" dirty="0">
                <a:solidFill>
                  <a:srgbClr val="56DBDB"/>
                </a:solidFill>
                <a:latin typeface="Courier New" pitchFamily="34" charset="0"/>
                <a:ea typeface="Courier New" pitchFamily="34" charset="-122"/>
                <a:cs typeface="Courier New" pitchFamily="34" charset="-120"/>
              </a:rPr>
              <a:t>mongodb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image: </a:t>
            </a:r>
            <a:endParaRPr lang="en-US" sz="1800" dirty="0"/>
          </a:p>
          <a:p>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mongo:latest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ports: [</a:t>
            </a:r>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"27017:27017"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volumes: [ </a:t>
            </a:r>
            <a:endParaRPr lang="en-US" sz="1800" dirty="0"/>
          </a:p>
          <a:p>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mongo_data:/data/db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networks: [ </a:t>
            </a:r>
            <a:endParaRPr lang="en-US" sz="1800" dirty="0"/>
          </a:p>
          <a:p>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bigdata_net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a:t>
            </a:r>
            <a:endParaRPr lang="en-US" sz="1800" dirty="0"/>
          </a:p>
          <a:p>
            <a:pPr algn="l" indent="0" marL="0">
              <a:lnSpc>
                <a:spcPct val="136098"/>
              </a:lnSpc>
              <a:buNone/>
            </a:pPr>
            <a:r>
              <a:rPr lang="en-US" sz="1800" dirty="0">
                <a:solidFill>
                  <a:srgbClr val="56DBDB"/>
                </a:solidFill>
                <a:latin typeface="Courier New" pitchFamily="34" charset="0"/>
                <a:ea typeface="Courier New" pitchFamily="34" charset="-122"/>
                <a:cs typeface="Courier New" pitchFamily="34" charset="-120"/>
              </a:rPr>
              <a:t>spark-master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image:  </a:t>
            </a:r>
            <a:endParaRPr lang="en-US" sz="1800" dirty="0"/>
          </a:p>
          <a:p>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bitnami/spark:latest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environment: [</a:t>
            </a:r>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SPARK_MODE=master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ports: [ </a:t>
            </a:r>
            <a:endParaRPr lang="en-US" sz="1800" dirty="0"/>
          </a:p>
          <a:p>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"8080:8080"</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a:t>
            </a:r>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"7077:7077"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a:t>
            </a:r>
            <a:endParaRPr lang="en-US" sz="1800" dirty="0"/>
          </a:p>
          <a:p>
            <a:pPr algn="l" indent="0" marL="0">
              <a:lnSpc>
                <a:spcPct val="136098"/>
              </a:lnSpc>
              <a:buNone/>
            </a:pPr>
            <a:r>
              <a:rPr lang="en-US" sz="1800" dirty="0">
                <a:solidFill>
                  <a:srgbClr val="56DBDB"/>
                </a:solidFill>
                <a:latin typeface="Courier New" pitchFamily="34" charset="0"/>
                <a:ea typeface="Courier New" pitchFamily="34" charset="-122"/>
                <a:cs typeface="Courier New" pitchFamily="34" charset="-120"/>
              </a:rPr>
              <a:t>spark-worker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image:  </a:t>
            </a:r>
            <a:endParaRPr lang="en-US" sz="1800" dirty="0"/>
          </a:p>
          <a:p>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bitnami/spark:latest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environment: [</a:t>
            </a:r>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SPARK_MODE=worker </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    depends_on: [ </a:t>
            </a:r>
            <a:endParaRPr lang="en-US" sz="1800" dirty="0"/>
          </a:p>
          <a:p>
            <a:pPr algn="l" indent="0" marL="0">
              <a:lnSpc>
                <a:spcPct val="136098"/>
              </a:lnSpc>
              <a:buNone/>
            </a:pPr>
            <a:r>
              <a:rPr lang="en-US" sz="1800" dirty="0">
                <a:solidFill>
                  <a:srgbClr val="FFB46E"/>
                </a:solidFill>
                <a:latin typeface="Courier New" pitchFamily="34" charset="0"/>
                <a:ea typeface="Courier New" pitchFamily="34" charset="-122"/>
                <a:cs typeface="Courier New" pitchFamily="34" charset="-120"/>
              </a:rPr>
              <a:t>spark-master</a:t>
            </a:r>
            <a:pPr algn="l" indent="0" marL="0">
              <a:lnSpc>
                <a:spcPct val="13609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p:txBody>
      </p:sp>
      <p:sp>
        <p:nvSpPr>
          <p:cNvPr id="11" name="Text 9"/>
          <p:cNvSpPr/>
          <p:nvPr/>
        </p:nvSpPr>
        <p:spPr>
          <a:xfrm>
            <a:off x="10630396" y="4821734"/>
            <a:ext cx="7249885"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Une seule commande</a:t>
            </a:r>
            <a:endParaRPr lang="en-US" sz="2400" dirty="0"/>
          </a:p>
        </p:txBody>
      </p:sp>
      <p:sp>
        <p:nvSpPr>
          <p:cNvPr id="12" name="Shape 10"/>
          <p:cNvSpPr/>
          <p:nvPr/>
        </p:nvSpPr>
        <p:spPr>
          <a:xfrm>
            <a:off x="10630396" y="5380534"/>
            <a:ext cx="6590804" cy="762000"/>
          </a:xfrm>
          <a:prstGeom prst="roundRect">
            <a:avLst>
              <a:gd name="adj" fmla="val 15000"/>
            </a:avLst>
          </a:prstGeom>
          <a:solidFill>
            <a:srgbClr val="06090E"/>
          </a:solidFill>
          <a:ln w="6350">
            <a:solidFill>
              <a:srgbClr val="FFFFFF">
                <a:alpha val="10000"/>
              </a:srgbClr>
            </a:solidFill>
            <a:prstDash val="solid"/>
          </a:ln>
        </p:spPr>
      </p:sp>
      <p:sp>
        <p:nvSpPr>
          <p:cNvPr id="13" name="Text 11"/>
          <p:cNvSpPr/>
          <p:nvPr/>
        </p:nvSpPr>
        <p:spPr>
          <a:xfrm>
            <a:off x="10884396" y="5596434"/>
            <a:ext cx="6280528"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docker compose </a:t>
            </a:r>
            <a:pPr algn="l" indent="0" marL="0">
              <a:buNone/>
            </a:pPr>
            <a:r>
              <a:rPr lang="en-US" sz="1950" dirty="0">
                <a:solidFill>
                  <a:srgbClr val="EEF3F9"/>
                </a:solidFill>
                <a:highlight>
                  <a:srgbClr val="06090E"/>
                </a:highlight>
                <a:latin typeface="Courier New" pitchFamily="34" charset="0"/>
                <a:ea typeface="Courier New" pitchFamily="34" charset="-122"/>
                <a:cs typeface="Courier New" pitchFamily="34" charset="-120"/>
              </a:rPr>
              <a:t>up -d</a:t>
            </a:r>
            <a:endParaRPr lang="en-US" sz="1950" dirty="0"/>
          </a:p>
        </p:txBody>
      </p:sp>
      <p:sp>
        <p:nvSpPr>
          <p:cNvPr id="14" name="Text 12"/>
          <p:cNvSpPr/>
          <p:nvPr/>
        </p:nvSpPr>
        <p:spPr>
          <a:xfrm>
            <a:off x="10630396" y="6352084"/>
            <a:ext cx="275233" cy="349250"/>
          </a:xfrm>
          <a:prstGeom prst="rect">
            <a:avLst/>
          </a:prstGeom>
          <a:noFill/>
          <a:ln/>
        </p:spPr>
        <p:txBody>
          <a:bodyPr wrap="square" lIns="25400" tIns="25400" rIns="25400" bIns="25400" rtlCol="0" anchor="t">
            <a:normAutofit/>
          </a:bodyPr>
          <a:lstStyle/>
          <a:p>
            <a:pPr algn="l" indent="0" marL="0">
              <a:buNone/>
            </a:pPr>
            <a:r>
              <a:rPr lang="en-US" sz="1875" dirty="0">
                <a:solidFill>
                  <a:srgbClr val="FFB46E"/>
                </a:solidFill>
                <a:latin typeface="Arial" pitchFamily="34" charset="0"/>
                <a:ea typeface="Arial" pitchFamily="34" charset="-122"/>
                <a:cs typeface="Arial" pitchFamily="34" charset="-120"/>
              </a:rPr>
              <a:t>▸</a:t>
            </a:r>
            <a:endParaRPr lang="en-US" sz="1875" dirty="0"/>
          </a:p>
        </p:txBody>
      </p:sp>
      <p:sp>
        <p:nvSpPr>
          <p:cNvPr id="15" name="Text 13"/>
          <p:cNvSpPr/>
          <p:nvPr/>
        </p:nvSpPr>
        <p:spPr>
          <a:xfrm>
            <a:off x="10962780" y="6352084"/>
            <a:ext cx="4002951" cy="34925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Trois services démarrés d'un coup</a:t>
            </a:r>
            <a:endParaRPr lang="en-US" sz="1875" dirty="0"/>
          </a:p>
        </p:txBody>
      </p:sp>
      <p:sp>
        <p:nvSpPr>
          <p:cNvPr id="16" name="Text 14"/>
          <p:cNvSpPr/>
          <p:nvPr/>
        </p:nvSpPr>
        <p:spPr>
          <a:xfrm>
            <a:off x="10630396" y="6815634"/>
            <a:ext cx="275233" cy="349250"/>
          </a:xfrm>
          <a:prstGeom prst="rect">
            <a:avLst/>
          </a:prstGeom>
          <a:noFill/>
          <a:ln/>
        </p:spPr>
        <p:txBody>
          <a:bodyPr wrap="square" lIns="25400" tIns="25400" rIns="25400" bIns="25400" rtlCol="0" anchor="t">
            <a:normAutofit/>
          </a:bodyPr>
          <a:lstStyle/>
          <a:p>
            <a:pPr algn="l" indent="0" marL="0">
              <a:buNone/>
            </a:pPr>
            <a:r>
              <a:rPr lang="en-US" sz="1875" dirty="0">
                <a:solidFill>
                  <a:srgbClr val="FFB46E"/>
                </a:solidFill>
                <a:latin typeface="Arial" pitchFamily="34" charset="0"/>
                <a:ea typeface="Arial" pitchFamily="34" charset="-122"/>
                <a:cs typeface="Arial" pitchFamily="34" charset="-120"/>
              </a:rPr>
              <a:t>▸</a:t>
            </a:r>
            <a:endParaRPr lang="en-US" sz="1875" dirty="0"/>
          </a:p>
        </p:txBody>
      </p:sp>
      <p:sp>
        <p:nvSpPr>
          <p:cNvPr id="17" name="Text 15"/>
          <p:cNvSpPr/>
          <p:nvPr/>
        </p:nvSpPr>
        <p:spPr>
          <a:xfrm>
            <a:off x="10962780" y="6815634"/>
            <a:ext cx="4787454" cy="34925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Réseau partagé : joignables par leur nom</a:t>
            </a:r>
            <a:endParaRPr lang="en-US" sz="1875" dirty="0"/>
          </a:p>
        </p:txBody>
      </p:sp>
      <p:sp>
        <p:nvSpPr>
          <p:cNvPr id="18" name="Text 16"/>
          <p:cNvSpPr/>
          <p:nvPr/>
        </p:nvSpPr>
        <p:spPr>
          <a:xfrm>
            <a:off x="10630396" y="7279184"/>
            <a:ext cx="275233" cy="349250"/>
          </a:xfrm>
          <a:prstGeom prst="rect">
            <a:avLst/>
          </a:prstGeom>
          <a:noFill/>
          <a:ln/>
        </p:spPr>
        <p:txBody>
          <a:bodyPr wrap="square" lIns="25400" tIns="25400" rIns="25400" bIns="25400" rtlCol="0" anchor="t">
            <a:normAutofit/>
          </a:bodyPr>
          <a:lstStyle/>
          <a:p>
            <a:pPr algn="l" indent="0" marL="0">
              <a:buNone/>
            </a:pPr>
            <a:r>
              <a:rPr lang="en-US" sz="1875" dirty="0">
                <a:solidFill>
                  <a:srgbClr val="FFB46E"/>
                </a:solidFill>
                <a:latin typeface="Arial" pitchFamily="34" charset="0"/>
                <a:ea typeface="Arial" pitchFamily="34" charset="-122"/>
                <a:cs typeface="Arial" pitchFamily="34" charset="-120"/>
              </a:rPr>
              <a:t>▸</a:t>
            </a:r>
            <a:endParaRPr lang="en-US" sz="1875" dirty="0"/>
          </a:p>
        </p:txBody>
      </p:sp>
      <p:sp>
        <p:nvSpPr>
          <p:cNvPr id="19" name="Text 17"/>
          <p:cNvSpPr/>
          <p:nvPr/>
        </p:nvSpPr>
        <p:spPr>
          <a:xfrm>
            <a:off x="10962780" y="7279184"/>
            <a:ext cx="5539542" cy="34925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Volume nommé : la donnée survit au conteneur</a:t>
            </a:r>
            <a:endParaRPr lang="en-US" sz="1875"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FFB46E"/>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FFB46E"/>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3362430" cy="342900"/>
          </a:xfrm>
          <a:prstGeom prst="rect">
            <a:avLst/>
          </a:prstGeom>
          <a:noFill/>
          <a:ln/>
        </p:spPr>
        <p:txBody>
          <a:bodyPr wrap="square" lIns="0" tIns="0" rIns="0" bIns="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QUIZ · ATELIER 03</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Docker</a:t>
            </a:r>
            <a:endParaRPr lang="en-US" sz="4800" dirty="0"/>
          </a:p>
        </p:txBody>
      </p:sp>
      <p:sp>
        <p:nvSpPr>
          <p:cNvPr id="6" name="Text 4"/>
          <p:cNvSpPr/>
          <p:nvPr/>
        </p:nvSpPr>
        <p:spPr>
          <a:xfrm>
            <a:off x="106680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Le principal avantage de Docker dans ce cours ?</a:t>
            </a:r>
            <a:endParaRPr lang="en-US" sz="2175" dirty="0"/>
          </a:p>
        </p:txBody>
      </p:sp>
      <p:sp>
        <p:nvSpPr>
          <p:cNvPr id="7" name="Shape 5"/>
          <p:cNvSpPr/>
          <p:nvPr/>
        </p:nvSpPr>
        <p:spPr>
          <a:xfrm>
            <a:off x="106680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8" name="Shape 6"/>
          <p:cNvSpPr/>
          <p:nvPr/>
        </p:nvSpPr>
        <p:spPr>
          <a:xfrm>
            <a:off x="1282700" y="3200499"/>
            <a:ext cx="323850" cy="323850"/>
          </a:xfrm>
          <a:prstGeom prst="roundRect">
            <a:avLst>
              <a:gd name="adj" fmla="val 23529"/>
            </a:avLst>
          </a:prstGeom>
          <a:solidFill>
            <a:srgbClr val="FFFFFF">
              <a:alpha val="6000"/>
            </a:srgbClr>
          </a:solidFill>
          <a:ln/>
        </p:spPr>
      </p:sp>
      <p:sp>
        <p:nvSpPr>
          <p:cNvPr id="9" name="Text 7"/>
          <p:cNvSpPr/>
          <p:nvPr/>
        </p:nvSpPr>
        <p:spPr>
          <a:xfrm>
            <a:off x="124460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10" name="Text 8"/>
          <p:cNvSpPr/>
          <p:nvPr/>
        </p:nvSpPr>
        <p:spPr>
          <a:xfrm>
            <a:off x="1758950" y="3210024"/>
            <a:ext cx="2152690"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Accélérer Internet</a:t>
            </a:r>
            <a:endParaRPr lang="en-US" sz="1875" dirty="0"/>
          </a:p>
        </p:txBody>
      </p:sp>
      <p:sp>
        <p:nvSpPr>
          <p:cNvPr id="11" name="Shape 9"/>
          <p:cNvSpPr/>
          <p:nvPr/>
        </p:nvSpPr>
        <p:spPr>
          <a:xfrm>
            <a:off x="106680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2" name="Shape 10"/>
          <p:cNvSpPr/>
          <p:nvPr/>
        </p:nvSpPr>
        <p:spPr>
          <a:xfrm>
            <a:off x="1282700" y="4013299"/>
            <a:ext cx="323850" cy="323850"/>
          </a:xfrm>
          <a:prstGeom prst="roundRect">
            <a:avLst>
              <a:gd name="adj" fmla="val 23529"/>
            </a:avLst>
          </a:prstGeom>
          <a:solidFill>
            <a:srgbClr val="FFFFFF">
              <a:alpha val="6000"/>
            </a:srgbClr>
          </a:solidFill>
          <a:ln/>
        </p:spPr>
      </p:sp>
      <p:sp>
        <p:nvSpPr>
          <p:cNvPr id="13" name="Text 11"/>
          <p:cNvSpPr/>
          <p:nvPr/>
        </p:nvSpPr>
        <p:spPr>
          <a:xfrm>
            <a:off x="124460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14" name="Text 12"/>
          <p:cNvSpPr/>
          <p:nvPr/>
        </p:nvSpPr>
        <p:spPr>
          <a:xfrm>
            <a:off x="1758950" y="4022824"/>
            <a:ext cx="625484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Installer une plateforme Big Data identique pour tous</a:t>
            </a:r>
            <a:endParaRPr lang="en-US" sz="1875" dirty="0"/>
          </a:p>
        </p:txBody>
      </p:sp>
      <p:sp>
        <p:nvSpPr>
          <p:cNvPr id="15" name="Shape 13"/>
          <p:cNvSpPr/>
          <p:nvPr/>
        </p:nvSpPr>
        <p:spPr>
          <a:xfrm>
            <a:off x="1066800" y="46482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6" name="Shape 14"/>
          <p:cNvSpPr/>
          <p:nvPr/>
        </p:nvSpPr>
        <p:spPr>
          <a:xfrm>
            <a:off x="1282700" y="4826099"/>
            <a:ext cx="323850" cy="323850"/>
          </a:xfrm>
          <a:prstGeom prst="roundRect">
            <a:avLst>
              <a:gd name="adj" fmla="val 23529"/>
            </a:avLst>
          </a:prstGeom>
          <a:solidFill>
            <a:srgbClr val="FFFFFF">
              <a:alpha val="6000"/>
            </a:srgbClr>
          </a:solidFill>
          <a:ln/>
        </p:spPr>
      </p:sp>
      <p:sp>
        <p:nvSpPr>
          <p:cNvPr id="17" name="Text 15"/>
          <p:cNvSpPr/>
          <p:nvPr/>
        </p:nvSpPr>
        <p:spPr>
          <a:xfrm>
            <a:off x="1244600" y="48260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18" name="Text 16"/>
          <p:cNvSpPr/>
          <p:nvPr/>
        </p:nvSpPr>
        <p:spPr>
          <a:xfrm>
            <a:off x="1758950" y="4835624"/>
            <a:ext cx="271007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Programmer en Python</a:t>
            </a:r>
            <a:endParaRPr lang="en-US" sz="1875" dirty="0"/>
          </a:p>
        </p:txBody>
      </p:sp>
      <p:sp>
        <p:nvSpPr>
          <p:cNvPr id="19" name="Shape 17"/>
          <p:cNvSpPr/>
          <p:nvPr/>
        </p:nvSpPr>
        <p:spPr>
          <a:xfrm>
            <a:off x="1066800" y="54610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0" name="Shape 18"/>
          <p:cNvSpPr/>
          <p:nvPr/>
        </p:nvSpPr>
        <p:spPr>
          <a:xfrm>
            <a:off x="1282700" y="5638899"/>
            <a:ext cx="323850" cy="323850"/>
          </a:xfrm>
          <a:prstGeom prst="roundRect">
            <a:avLst>
              <a:gd name="adj" fmla="val 23529"/>
            </a:avLst>
          </a:prstGeom>
          <a:solidFill>
            <a:srgbClr val="FFFFFF">
              <a:alpha val="6000"/>
            </a:srgbClr>
          </a:solidFill>
          <a:ln/>
        </p:spPr>
      </p:sp>
      <p:sp>
        <p:nvSpPr>
          <p:cNvPr id="21" name="Text 19"/>
          <p:cNvSpPr/>
          <p:nvPr/>
        </p:nvSpPr>
        <p:spPr>
          <a:xfrm>
            <a:off x="1244600" y="56388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22" name="Text 20"/>
          <p:cNvSpPr/>
          <p:nvPr/>
        </p:nvSpPr>
        <p:spPr>
          <a:xfrm>
            <a:off x="1758950" y="5648424"/>
            <a:ext cx="1883658"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Remplacer AWS</a:t>
            </a:r>
            <a:endParaRPr lang="en-US" sz="1875" dirty="0"/>
          </a:p>
        </p:txBody>
      </p:sp>
      <p:sp>
        <p:nvSpPr>
          <p:cNvPr id="23" name="Text 21"/>
          <p:cNvSpPr/>
          <p:nvPr/>
        </p:nvSpPr>
        <p:spPr>
          <a:xfrm>
            <a:off x="935355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Que contient une image Docker ?</a:t>
            </a:r>
            <a:endParaRPr lang="en-US" sz="2175" dirty="0"/>
          </a:p>
        </p:txBody>
      </p:sp>
      <p:sp>
        <p:nvSpPr>
          <p:cNvPr id="24" name="Shape 22"/>
          <p:cNvSpPr/>
          <p:nvPr/>
        </p:nvSpPr>
        <p:spPr>
          <a:xfrm>
            <a:off x="935355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5" name="Shape 23"/>
          <p:cNvSpPr/>
          <p:nvPr/>
        </p:nvSpPr>
        <p:spPr>
          <a:xfrm>
            <a:off x="9569450" y="3200499"/>
            <a:ext cx="323850" cy="323850"/>
          </a:xfrm>
          <a:prstGeom prst="roundRect">
            <a:avLst>
              <a:gd name="adj" fmla="val 23529"/>
            </a:avLst>
          </a:prstGeom>
          <a:solidFill>
            <a:srgbClr val="FFFFFF">
              <a:alpha val="6000"/>
            </a:srgbClr>
          </a:solidFill>
          <a:ln/>
        </p:spPr>
      </p:sp>
      <p:sp>
        <p:nvSpPr>
          <p:cNvPr id="26" name="Text 24"/>
          <p:cNvSpPr/>
          <p:nvPr/>
        </p:nvSpPr>
        <p:spPr>
          <a:xfrm>
            <a:off x="953135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27" name="Text 25"/>
          <p:cNvSpPr/>
          <p:nvPr/>
        </p:nvSpPr>
        <p:spPr>
          <a:xfrm>
            <a:off x="10045701" y="3210024"/>
            <a:ext cx="3731082"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machine virtuelle complète</a:t>
            </a:r>
            <a:endParaRPr lang="en-US" sz="1875" dirty="0"/>
          </a:p>
        </p:txBody>
      </p:sp>
      <p:sp>
        <p:nvSpPr>
          <p:cNvPr id="28" name="Shape 26"/>
          <p:cNvSpPr/>
          <p:nvPr/>
        </p:nvSpPr>
        <p:spPr>
          <a:xfrm>
            <a:off x="935355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9" name="Shape 27"/>
          <p:cNvSpPr/>
          <p:nvPr/>
        </p:nvSpPr>
        <p:spPr>
          <a:xfrm>
            <a:off x="9569450" y="4013299"/>
            <a:ext cx="323850" cy="323850"/>
          </a:xfrm>
          <a:prstGeom prst="roundRect">
            <a:avLst>
              <a:gd name="adj" fmla="val 23529"/>
            </a:avLst>
          </a:prstGeom>
          <a:solidFill>
            <a:srgbClr val="FFFFFF">
              <a:alpha val="6000"/>
            </a:srgbClr>
          </a:solidFill>
          <a:ln/>
        </p:spPr>
      </p:sp>
      <p:sp>
        <p:nvSpPr>
          <p:cNvPr id="30" name="Text 28"/>
          <p:cNvSpPr/>
          <p:nvPr/>
        </p:nvSpPr>
        <p:spPr>
          <a:xfrm>
            <a:off x="953135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31" name="Text 29"/>
          <p:cNvSpPr/>
          <p:nvPr/>
        </p:nvSpPr>
        <p:spPr>
          <a:xfrm>
            <a:off x="10045701" y="4022824"/>
            <a:ext cx="588791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Les instructions permettant de créer un conteneur</a:t>
            </a:r>
            <a:endParaRPr lang="en-US" sz="1875" dirty="0"/>
          </a:p>
        </p:txBody>
      </p:sp>
      <p:sp>
        <p:nvSpPr>
          <p:cNvPr id="32" name="Shape 30"/>
          <p:cNvSpPr/>
          <p:nvPr/>
        </p:nvSpPr>
        <p:spPr>
          <a:xfrm>
            <a:off x="9353550" y="46482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3" name="Shape 31"/>
          <p:cNvSpPr/>
          <p:nvPr/>
        </p:nvSpPr>
        <p:spPr>
          <a:xfrm>
            <a:off x="9569450" y="4826099"/>
            <a:ext cx="323850" cy="323850"/>
          </a:xfrm>
          <a:prstGeom prst="roundRect">
            <a:avLst>
              <a:gd name="adj" fmla="val 23529"/>
            </a:avLst>
          </a:prstGeom>
          <a:solidFill>
            <a:srgbClr val="FFFFFF">
              <a:alpha val="6000"/>
            </a:srgbClr>
          </a:solidFill>
          <a:ln/>
        </p:spPr>
      </p:sp>
      <p:sp>
        <p:nvSpPr>
          <p:cNvPr id="34" name="Text 32"/>
          <p:cNvSpPr/>
          <p:nvPr/>
        </p:nvSpPr>
        <p:spPr>
          <a:xfrm>
            <a:off x="9531350" y="48260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35" name="Text 33"/>
          <p:cNvSpPr/>
          <p:nvPr/>
        </p:nvSpPr>
        <p:spPr>
          <a:xfrm>
            <a:off x="10045701" y="4835624"/>
            <a:ext cx="252595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base de données</a:t>
            </a:r>
            <a:endParaRPr lang="en-US" sz="1875" dirty="0"/>
          </a:p>
        </p:txBody>
      </p:sp>
      <p:sp>
        <p:nvSpPr>
          <p:cNvPr id="36" name="Shape 34"/>
          <p:cNvSpPr/>
          <p:nvPr/>
        </p:nvSpPr>
        <p:spPr>
          <a:xfrm>
            <a:off x="9353550" y="54610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7" name="Shape 35"/>
          <p:cNvSpPr/>
          <p:nvPr/>
        </p:nvSpPr>
        <p:spPr>
          <a:xfrm>
            <a:off x="9569450" y="5638899"/>
            <a:ext cx="323850" cy="323850"/>
          </a:xfrm>
          <a:prstGeom prst="roundRect">
            <a:avLst>
              <a:gd name="adj" fmla="val 23529"/>
            </a:avLst>
          </a:prstGeom>
          <a:solidFill>
            <a:srgbClr val="FFFFFF">
              <a:alpha val="6000"/>
            </a:srgbClr>
          </a:solidFill>
          <a:ln/>
        </p:spPr>
      </p:sp>
      <p:sp>
        <p:nvSpPr>
          <p:cNvPr id="38" name="Text 36"/>
          <p:cNvSpPr/>
          <p:nvPr/>
        </p:nvSpPr>
        <p:spPr>
          <a:xfrm>
            <a:off x="9531350" y="56388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39" name="Text 37"/>
          <p:cNvSpPr/>
          <p:nvPr/>
        </p:nvSpPr>
        <p:spPr>
          <a:xfrm>
            <a:off x="10045701" y="5648424"/>
            <a:ext cx="2401530"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 serveur physique</a:t>
            </a:r>
            <a:endParaRPr lang="en-US" sz="1875"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FFB46E"/>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FFB46E"/>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4549122" cy="342900"/>
          </a:xfrm>
          <a:prstGeom prst="rect">
            <a:avLst/>
          </a:prstGeom>
          <a:noFill/>
          <a:ln/>
        </p:spPr>
        <p:txBody>
          <a:bodyPr wrap="square" lIns="0" tIns="0" rIns="0" bIns="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CORRECTION · ATELIER 03</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Docker</a:t>
            </a:r>
            <a:endParaRPr lang="en-US" sz="4800" dirty="0"/>
          </a:p>
        </p:txBody>
      </p:sp>
      <p:sp>
        <p:nvSpPr>
          <p:cNvPr id="6" name="Text 4"/>
          <p:cNvSpPr/>
          <p:nvPr/>
        </p:nvSpPr>
        <p:spPr>
          <a:xfrm>
            <a:off x="106680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Le principal avantage de Docker dans ce cours ?</a:t>
            </a:r>
            <a:endParaRPr lang="en-US" sz="2175" dirty="0"/>
          </a:p>
        </p:txBody>
      </p:sp>
      <p:sp>
        <p:nvSpPr>
          <p:cNvPr id="7" name="Shape 5"/>
          <p:cNvSpPr/>
          <p:nvPr/>
        </p:nvSpPr>
        <p:spPr>
          <a:xfrm>
            <a:off x="106680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8" name="Shape 6"/>
          <p:cNvSpPr/>
          <p:nvPr/>
        </p:nvSpPr>
        <p:spPr>
          <a:xfrm>
            <a:off x="1282700" y="3200499"/>
            <a:ext cx="323850" cy="323850"/>
          </a:xfrm>
          <a:prstGeom prst="roundRect">
            <a:avLst>
              <a:gd name="adj" fmla="val 23529"/>
            </a:avLst>
          </a:prstGeom>
          <a:solidFill>
            <a:srgbClr val="FFFFFF">
              <a:alpha val="6000"/>
            </a:srgbClr>
          </a:solidFill>
          <a:ln/>
        </p:spPr>
      </p:sp>
      <p:sp>
        <p:nvSpPr>
          <p:cNvPr id="9" name="Text 7"/>
          <p:cNvSpPr/>
          <p:nvPr/>
        </p:nvSpPr>
        <p:spPr>
          <a:xfrm>
            <a:off x="124460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10" name="Text 8"/>
          <p:cNvSpPr/>
          <p:nvPr/>
        </p:nvSpPr>
        <p:spPr>
          <a:xfrm>
            <a:off x="1758950" y="3210024"/>
            <a:ext cx="2152690"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Accélérer Internet</a:t>
            </a:r>
            <a:endParaRPr lang="en-US" sz="1875" dirty="0"/>
          </a:p>
        </p:txBody>
      </p:sp>
      <p:sp>
        <p:nvSpPr>
          <p:cNvPr id="11" name="Shape 9"/>
          <p:cNvSpPr/>
          <p:nvPr/>
        </p:nvSpPr>
        <p:spPr>
          <a:xfrm>
            <a:off x="1066800" y="3835499"/>
            <a:ext cx="7867650" cy="692150"/>
          </a:xfrm>
          <a:prstGeom prst="roundRect">
            <a:avLst>
              <a:gd name="adj" fmla="val 16514"/>
            </a:avLst>
          </a:prstGeom>
          <a:solidFill>
            <a:srgbClr val="FFFFFF">
              <a:alpha val="3000"/>
            </a:srgbClr>
          </a:solidFill>
          <a:ln w="6350">
            <a:solidFill>
              <a:srgbClr val="FFBE82">
                <a:alpha val="48000"/>
              </a:srgbClr>
            </a:solidFill>
            <a:prstDash val="solid"/>
          </a:ln>
        </p:spPr>
      </p:sp>
      <p:sp>
        <p:nvSpPr>
          <p:cNvPr id="12" name="Shape 10"/>
          <p:cNvSpPr/>
          <p:nvPr/>
        </p:nvSpPr>
        <p:spPr>
          <a:xfrm>
            <a:off x="1282700" y="4019649"/>
            <a:ext cx="323850" cy="323850"/>
          </a:xfrm>
          <a:prstGeom prst="roundRect">
            <a:avLst>
              <a:gd name="adj" fmla="val 23529"/>
            </a:avLst>
          </a:prstGeom>
          <a:solidFill>
            <a:srgbClr val="FFB46E"/>
          </a:solidFill>
          <a:ln/>
        </p:spPr>
      </p:sp>
      <p:sp>
        <p:nvSpPr>
          <p:cNvPr id="13" name="Text 11"/>
          <p:cNvSpPr/>
          <p:nvPr/>
        </p:nvSpPr>
        <p:spPr>
          <a:xfrm>
            <a:off x="1244600" y="40196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04070C"/>
                </a:solidFill>
                <a:latin typeface="Arial" pitchFamily="34" charset="0"/>
                <a:ea typeface="Arial" pitchFamily="34" charset="-122"/>
                <a:cs typeface="Arial" pitchFamily="34" charset="-120"/>
              </a:rPr>
              <a:t>B</a:t>
            </a:r>
            <a:endParaRPr lang="en-US" sz="1875" dirty="0"/>
          </a:p>
        </p:txBody>
      </p:sp>
      <p:sp>
        <p:nvSpPr>
          <p:cNvPr id="14" name="Text 12"/>
          <p:cNvSpPr/>
          <p:nvPr/>
        </p:nvSpPr>
        <p:spPr>
          <a:xfrm>
            <a:off x="1758950" y="4029174"/>
            <a:ext cx="625484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Arial" pitchFamily="34" charset="0"/>
                <a:ea typeface="Arial" pitchFamily="34" charset="-122"/>
                <a:cs typeface="Arial" pitchFamily="34" charset="-120"/>
              </a:rPr>
              <a:t>Installer une plateforme Big Data identique pour tous</a:t>
            </a:r>
            <a:endParaRPr lang="en-US" sz="1875" dirty="0"/>
          </a:p>
        </p:txBody>
      </p:sp>
      <p:sp>
        <p:nvSpPr>
          <p:cNvPr id="15" name="Text 13"/>
          <p:cNvSpPr/>
          <p:nvPr/>
        </p:nvSpPr>
        <p:spPr>
          <a:xfrm>
            <a:off x="8533011" y="4013299"/>
            <a:ext cx="261739" cy="374650"/>
          </a:xfrm>
          <a:prstGeom prst="rect">
            <a:avLst/>
          </a:prstGeom>
          <a:noFill/>
          <a:ln/>
        </p:spPr>
        <p:txBody>
          <a:bodyPr wrap="square" lIns="25400" tIns="25400" rIns="25400" bIns="25400" rtlCol="0" anchor="t">
            <a:normAutofit/>
          </a:bodyPr>
          <a:lstStyle/>
          <a:p>
            <a:pPr algn="l" indent="0" marL="0">
              <a:buNone/>
            </a:pPr>
            <a:r>
              <a:rPr lang="en-US" sz="1950" dirty="0">
                <a:solidFill>
                  <a:srgbClr val="FFB46E"/>
                </a:solidFill>
                <a:latin typeface="Arial" pitchFamily="34" charset="0"/>
                <a:ea typeface="Arial" pitchFamily="34" charset="-122"/>
                <a:cs typeface="Arial" pitchFamily="34" charset="-120"/>
              </a:rPr>
              <a:t>✓</a:t>
            </a:r>
            <a:endParaRPr lang="en-US" sz="1950" dirty="0"/>
          </a:p>
        </p:txBody>
      </p:sp>
      <p:sp>
        <p:nvSpPr>
          <p:cNvPr id="16" name="Shape 14"/>
          <p:cNvSpPr/>
          <p:nvPr/>
        </p:nvSpPr>
        <p:spPr>
          <a:xfrm>
            <a:off x="1066800" y="46609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7" name="Shape 15"/>
          <p:cNvSpPr/>
          <p:nvPr/>
        </p:nvSpPr>
        <p:spPr>
          <a:xfrm>
            <a:off x="1282700" y="4838799"/>
            <a:ext cx="323850" cy="323850"/>
          </a:xfrm>
          <a:prstGeom prst="roundRect">
            <a:avLst>
              <a:gd name="adj" fmla="val 23529"/>
            </a:avLst>
          </a:prstGeom>
          <a:solidFill>
            <a:srgbClr val="FFFFFF">
              <a:alpha val="6000"/>
            </a:srgbClr>
          </a:solidFill>
          <a:ln/>
        </p:spPr>
      </p:sp>
      <p:sp>
        <p:nvSpPr>
          <p:cNvPr id="18" name="Text 16"/>
          <p:cNvSpPr/>
          <p:nvPr/>
        </p:nvSpPr>
        <p:spPr>
          <a:xfrm>
            <a:off x="1244600" y="48387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19" name="Text 17"/>
          <p:cNvSpPr/>
          <p:nvPr/>
        </p:nvSpPr>
        <p:spPr>
          <a:xfrm>
            <a:off x="1758950" y="4848324"/>
            <a:ext cx="271007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Programmer en Python</a:t>
            </a:r>
            <a:endParaRPr lang="en-US" sz="1875" dirty="0"/>
          </a:p>
        </p:txBody>
      </p:sp>
      <p:sp>
        <p:nvSpPr>
          <p:cNvPr id="20" name="Shape 18"/>
          <p:cNvSpPr/>
          <p:nvPr/>
        </p:nvSpPr>
        <p:spPr>
          <a:xfrm>
            <a:off x="1066800" y="5473800"/>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1" name="Shape 19"/>
          <p:cNvSpPr/>
          <p:nvPr/>
        </p:nvSpPr>
        <p:spPr>
          <a:xfrm>
            <a:off x="1282700" y="5651599"/>
            <a:ext cx="323850" cy="323850"/>
          </a:xfrm>
          <a:prstGeom prst="roundRect">
            <a:avLst>
              <a:gd name="adj" fmla="val 23529"/>
            </a:avLst>
          </a:prstGeom>
          <a:solidFill>
            <a:srgbClr val="FFFFFF">
              <a:alpha val="6000"/>
            </a:srgbClr>
          </a:solidFill>
          <a:ln/>
        </p:spPr>
      </p:sp>
      <p:sp>
        <p:nvSpPr>
          <p:cNvPr id="22" name="Text 20"/>
          <p:cNvSpPr/>
          <p:nvPr/>
        </p:nvSpPr>
        <p:spPr>
          <a:xfrm>
            <a:off x="1244600" y="56515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23" name="Text 21"/>
          <p:cNvSpPr/>
          <p:nvPr/>
        </p:nvSpPr>
        <p:spPr>
          <a:xfrm>
            <a:off x="1758950" y="5661124"/>
            <a:ext cx="1883658"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Remplacer AWS</a:t>
            </a:r>
            <a:endParaRPr lang="en-US" sz="1875" dirty="0"/>
          </a:p>
        </p:txBody>
      </p:sp>
      <p:sp>
        <p:nvSpPr>
          <p:cNvPr id="24" name="Text 22"/>
          <p:cNvSpPr/>
          <p:nvPr/>
        </p:nvSpPr>
        <p:spPr>
          <a:xfrm>
            <a:off x="935355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Que contient une image Docker ?</a:t>
            </a:r>
            <a:endParaRPr lang="en-US" sz="2175" dirty="0"/>
          </a:p>
        </p:txBody>
      </p:sp>
      <p:sp>
        <p:nvSpPr>
          <p:cNvPr id="25" name="Shape 23"/>
          <p:cNvSpPr/>
          <p:nvPr/>
        </p:nvSpPr>
        <p:spPr>
          <a:xfrm>
            <a:off x="935355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6" name="Shape 24"/>
          <p:cNvSpPr/>
          <p:nvPr/>
        </p:nvSpPr>
        <p:spPr>
          <a:xfrm>
            <a:off x="9569450" y="3200499"/>
            <a:ext cx="323850" cy="323850"/>
          </a:xfrm>
          <a:prstGeom prst="roundRect">
            <a:avLst>
              <a:gd name="adj" fmla="val 23529"/>
            </a:avLst>
          </a:prstGeom>
          <a:solidFill>
            <a:srgbClr val="FFFFFF">
              <a:alpha val="6000"/>
            </a:srgbClr>
          </a:solidFill>
          <a:ln/>
        </p:spPr>
      </p:sp>
      <p:sp>
        <p:nvSpPr>
          <p:cNvPr id="27" name="Text 25"/>
          <p:cNvSpPr/>
          <p:nvPr/>
        </p:nvSpPr>
        <p:spPr>
          <a:xfrm>
            <a:off x="953135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28" name="Text 26"/>
          <p:cNvSpPr/>
          <p:nvPr/>
        </p:nvSpPr>
        <p:spPr>
          <a:xfrm>
            <a:off x="10045701" y="3210024"/>
            <a:ext cx="3731082"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machine virtuelle complète</a:t>
            </a:r>
            <a:endParaRPr lang="en-US" sz="1875" dirty="0"/>
          </a:p>
        </p:txBody>
      </p:sp>
      <p:sp>
        <p:nvSpPr>
          <p:cNvPr id="29" name="Shape 27"/>
          <p:cNvSpPr/>
          <p:nvPr/>
        </p:nvSpPr>
        <p:spPr>
          <a:xfrm>
            <a:off x="9353550" y="3835499"/>
            <a:ext cx="7867650" cy="692150"/>
          </a:xfrm>
          <a:prstGeom prst="roundRect">
            <a:avLst>
              <a:gd name="adj" fmla="val 16514"/>
            </a:avLst>
          </a:prstGeom>
          <a:solidFill>
            <a:srgbClr val="FFFFFF">
              <a:alpha val="3000"/>
            </a:srgbClr>
          </a:solidFill>
          <a:ln w="6350">
            <a:solidFill>
              <a:srgbClr val="FFBE82">
                <a:alpha val="48000"/>
              </a:srgbClr>
            </a:solidFill>
            <a:prstDash val="solid"/>
          </a:ln>
        </p:spPr>
      </p:sp>
      <p:sp>
        <p:nvSpPr>
          <p:cNvPr id="30" name="Shape 28"/>
          <p:cNvSpPr/>
          <p:nvPr/>
        </p:nvSpPr>
        <p:spPr>
          <a:xfrm>
            <a:off x="9569450" y="4019649"/>
            <a:ext cx="323850" cy="323850"/>
          </a:xfrm>
          <a:prstGeom prst="roundRect">
            <a:avLst>
              <a:gd name="adj" fmla="val 23529"/>
            </a:avLst>
          </a:prstGeom>
          <a:solidFill>
            <a:srgbClr val="FFB46E"/>
          </a:solidFill>
          <a:ln/>
        </p:spPr>
      </p:sp>
      <p:sp>
        <p:nvSpPr>
          <p:cNvPr id="31" name="Text 29"/>
          <p:cNvSpPr/>
          <p:nvPr/>
        </p:nvSpPr>
        <p:spPr>
          <a:xfrm>
            <a:off x="9531350" y="40196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04070C"/>
                </a:solidFill>
                <a:latin typeface="Arial" pitchFamily="34" charset="0"/>
                <a:ea typeface="Arial" pitchFamily="34" charset="-122"/>
                <a:cs typeface="Arial" pitchFamily="34" charset="-120"/>
              </a:rPr>
              <a:t>B</a:t>
            </a:r>
            <a:endParaRPr lang="en-US" sz="1875" dirty="0"/>
          </a:p>
        </p:txBody>
      </p:sp>
      <p:sp>
        <p:nvSpPr>
          <p:cNvPr id="32" name="Text 30"/>
          <p:cNvSpPr/>
          <p:nvPr/>
        </p:nvSpPr>
        <p:spPr>
          <a:xfrm>
            <a:off x="10045701" y="4029174"/>
            <a:ext cx="5887919" cy="34290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Arial" pitchFamily="34" charset="0"/>
                <a:ea typeface="Arial" pitchFamily="34" charset="-122"/>
                <a:cs typeface="Arial" pitchFamily="34" charset="-120"/>
              </a:rPr>
              <a:t>Les instructions permettant de créer un conteneur</a:t>
            </a:r>
            <a:endParaRPr lang="en-US" sz="1875" dirty="0"/>
          </a:p>
        </p:txBody>
      </p:sp>
      <p:sp>
        <p:nvSpPr>
          <p:cNvPr id="33" name="Text 31"/>
          <p:cNvSpPr/>
          <p:nvPr/>
        </p:nvSpPr>
        <p:spPr>
          <a:xfrm>
            <a:off x="16819762" y="4013299"/>
            <a:ext cx="261739" cy="374650"/>
          </a:xfrm>
          <a:prstGeom prst="rect">
            <a:avLst/>
          </a:prstGeom>
          <a:noFill/>
          <a:ln/>
        </p:spPr>
        <p:txBody>
          <a:bodyPr wrap="square" lIns="25400" tIns="25400" rIns="25400" bIns="25400" rtlCol="0" anchor="t">
            <a:normAutofit/>
          </a:bodyPr>
          <a:lstStyle/>
          <a:p>
            <a:pPr algn="l" indent="0" marL="0">
              <a:buNone/>
            </a:pPr>
            <a:r>
              <a:rPr lang="en-US" sz="1950" dirty="0">
                <a:solidFill>
                  <a:srgbClr val="FFB46E"/>
                </a:solidFill>
                <a:latin typeface="Arial" pitchFamily="34" charset="0"/>
                <a:ea typeface="Arial" pitchFamily="34" charset="-122"/>
                <a:cs typeface="Arial" pitchFamily="34" charset="-120"/>
              </a:rPr>
              <a:t>✓</a:t>
            </a:r>
            <a:endParaRPr lang="en-US" sz="1950" dirty="0"/>
          </a:p>
        </p:txBody>
      </p:sp>
      <p:sp>
        <p:nvSpPr>
          <p:cNvPr id="34" name="Shape 32"/>
          <p:cNvSpPr/>
          <p:nvPr/>
        </p:nvSpPr>
        <p:spPr>
          <a:xfrm>
            <a:off x="9353550" y="46609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5" name="Shape 33"/>
          <p:cNvSpPr/>
          <p:nvPr/>
        </p:nvSpPr>
        <p:spPr>
          <a:xfrm>
            <a:off x="9569450" y="4838799"/>
            <a:ext cx="323850" cy="323850"/>
          </a:xfrm>
          <a:prstGeom prst="roundRect">
            <a:avLst>
              <a:gd name="adj" fmla="val 23529"/>
            </a:avLst>
          </a:prstGeom>
          <a:solidFill>
            <a:srgbClr val="FFFFFF">
              <a:alpha val="6000"/>
            </a:srgbClr>
          </a:solidFill>
          <a:ln/>
        </p:spPr>
      </p:sp>
      <p:sp>
        <p:nvSpPr>
          <p:cNvPr id="36" name="Text 34"/>
          <p:cNvSpPr/>
          <p:nvPr/>
        </p:nvSpPr>
        <p:spPr>
          <a:xfrm>
            <a:off x="9531350" y="48387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37" name="Text 35"/>
          <p:cNvSpPr/>
          <p:nvPr/>
        </p:nvSpPr>
        <p:spPr>
          <a:xfrm>
            <a:off x="10045701" y="4848324"/>
            <a:ext cx="252595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base de données</a:t>
            </a:r>
            <a:endParaRPr lang="en-US" sz="1875" dirty="0"/>
          </a:p>
        </p:txBody>
      </p:sp>
      <p:sp>
        <p:nvSpPr>
          <p:cNvPr id="38" name="Shape 36"/>
          <p:cNvSpPr/>
          <p:nvPr/>
        </p:nvSpPr>
        <p:spPr>
          <a:xfrm>
            <a:off x="9353550" y="5473800"/>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9" name="Shape 37"/>
          <p:cNvSpPr/>
          <p:nvPr/>
        </p:nvSpPr>
        <p:spPr>
          <a:xfrm>
            <a:off x="9569450" y="5651599"/>
            <a:ext cx="323850" cy="323850"/>
          </a:xfrm>
          <a:prstGeom prst="roundRect">
            <a:avLst>
              <a:gd name="adj" fmla="val 23529"/>
            </a:avLst>
          </a:prstGeom>
          <a:solidFill>
            <a:srgbClr val="FFFFFF">
              <a:alpha val="6000"/>
            </a:srgbClr>
          </a:solidFill>
          <a:ln/>
        </p:spPr>
      </p:sp>
      <p:sp>
        <p:nvSpPr>
          <p:cNvPr id="40" name="Text 38"/>
          <p:cNvSpPr/>
          <p:nvPr/>
        </p:nvSpPr>
        <p:spPr>
          <a:xfrm>
            <a:off x="9531350" y="56515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41" name="Text 39"/>
          <p:cNvSpPr/>
          <p:nvPr/>
        </p:nvSpPr>
        <p:spPr>
          <a:xfrm>
            <a:off x="10045701" y="5661124"/>
            <a:ext cx="2401530"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 serveur physique</a:t>
            </a:r>
            <a:endParaRPr lang="en-US" sz="1875"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2932807"/>
            <a:ext cx="17769840" cy="368300"/>
          </a:xfrm>
          <a:prstGeom prst="rect">
            <a:avLst/>
          </a:prstGeom>
          <a:noFill/>
          <a:ln/>
        </p:spPr>
        <p:txBody>
          <a:bodyPr wrap="square" lIns="25400" tIns="25400" rIns="25400" bIns="25400" rtlCol="0" anchor="t">
            <a:normAutofit/>
          </a:bodyPr>
          <a:lstStyle/>
          <a:p>
            <a:pPr algn="l" indent="0" marL="0">
              <a:buNone/>
            </a:pPr>
            <a:r>
              <a:rPr lang="en-US" sz="1950" spc="546" kern="0" dirty="0">
                <a:solidFill>
                  <a:srgbClr val="56DBDB"/>
                </a:solidFill>
                <a:latin typeface="Courier New" pitchFamily="34" charset="0"/>
                <a:ea typeface="Courier New" pitchFamily="34" charset="-122"/>
                <a:cs typeface="Courier New" pitchFamily="34" charset="-120"/>
              </a:rPr>
              <a:t>ATELIER 04 · 3 HEURES</a:t>
            </a:r>
            <a:endParaRPr lang="en-US" sz="1950" dirty="0"/>
          </a:p>
        </p:txBody>
      </p:sp>
      <p:sp>
        <p:nvSpPr>
          <p:cNvPr id="3" name="Text 1"/>
          <p:cNvSpPr/>
          <p:nvPr/>
        </p:nvSpPr>
        <p:spPr>
          <a:xfrm>
            <a:off x="1066800" y="3339207"/>
            <a:ext cx="17769840" cy="1924050"/>
          </a:xfrm>
          <a:prstGeom prst="rect">
            <a:avLst/>
          </a:prstGeom>
          <a:noFill/>
          <a:ln/>
        </p:spPr>
        <p:txBody>
          <a:bodyPr wrap="square" lIns="25400" tIns="25400" rIns="25400" bIns="25400" rtlCol="0" anchor="t">
            <a:normAutofit/>
          </a:bodyPr>
          <a:lstStyle/>
          <a:p>
            <a:pPr algn="l" indent="0" marL="0">
              <a:lnSpc>
                <a:spcPct val="78158"/>
              </a:lnSpc>
              <a:buNone/>
            </a:pPr>
            <a:r>
              <a:rPr lang="en-US" sz="16500" b="1" spc="-660" kern="0" dirty="0">
                <a:solidFill>
                  <a:srgbClr val="8EE3E4"/>
                </a:solidFill>
                <a:latin typeface="Arial" pitchFamily="34" charset="0"/>
                <a:ea typeface="Arial" pitchFamily="34" charset="-122"/>
                <a:cs typeface="Arial" pitchFamily="34" charset="-120"/>
              </a:rPr>
              <a:t>04</a:t>
            </a:r>
            <a:endParaRPr lang="en-US" sz="16500" dirty="0"/>
          </a:p>
        </p:txBody>
      </p:sp>
      <p:sp>
        <p:nvSpPr>
          <p:cNvPr id="4" name="Text 2"/>
          <p:cNvSpPr/>
          <p:nvPr/>
        </p:nvSpPr>
        <p:spPr>
          <a:xfrm>
            <a:off x="1066800" y="5301357"/>
            <a:ext cx="17769840" cy="776387"/>
          </a:xfrm>
          <a:prstGeom prst="rect">
            <a:avLst/>
          </a:prstGeom>
          <a:noFill/>
          <a:ln/>
        </p:spPr>
        <p:txBody>
          <a:bodyPr wrap="square" lIns="25400" tIns="25400" rIns="25400" bIns="25400" rtlCol="0" anchor="t">
            <a:normAutofit/>
          </a:bodyPr>
          <a:lstStyle/>
          <a:p>
            <a:pPr algn="l" indent="0" marL="0">
              <a:lnSpc>
                <a:spcPct val="88763"/>
              </a:lnSpc>
              <a:buNone/>
            </a:pPr>
            <a:r>
              <a:rPr lang="en-US" sz="5700" b="1" spc="-114" kern="0" dirty="0">
                <a:solidFill>
                  <a:srgbClr val="EEF3F9"/>
                </a:solidFill>
                <a:latin typeface="Arial" pitchFamily="34" charset="0"/>
                <a:ea typeface="Arial" pitchFamily="34" charset="-122"/>
                <a:cs typeface="Arial" pitchFamily="34" charset="-120"/>
              </a:rPr>
              <a:t>Apache Spark : principes du traitement distribué</a:t>
            </a:r>
            <a:endParaRPr lang="en-US" sz="5700" dirty="0"/>
          </a:p>
        </p:txBody>
      </p:sp>
      <p:sp>
        <p:nvSpPr>
          <p:cNvPr id="5" name="Text 3"/>
          <p:cNvSpPr/>
          <p:nvPr/>
        </p:nvSpPr>
        <p:spPr>
          <a:xfrm>
            <a:off x="1066800" y="6287294"/>
            <a:ext cx="10831068" cy="1104900"/>
          </a:xfrm>
          <a:prstGeom prst="rect">
            <a:avLst/>
          </a:prstGeom>
          <a:noFill/>
          <a:ln/>
        </p:spPr>
        <p:txBody>
          <a:bodyPr wrap="square" lIns="25400" tIns="25400" rIns="25400" bIns="25400" rtlCol="0" anchor="t">
            <a:normAutofit/>
          </a:bodyPr>
          <a:lstStyle/>
          <a:p>
            <a:pPr algn="l" indent="0" marL="0">
              <a:lnSpc>
                <a:spcPct val="121739"/>
              </a:lnSpc>
              <a:buNone/>
            </a:pPr>
            <a:r>
              <a:rPr lang="en-US" sz="3000" dirty="0">
                <a:solidFill>
                  <a:srgbClr val="8EA0B5"/>
                </a:solidFill>
                <a:latin typeface="Arial" pitchFamily="34" charset="0"/>
                <a:ea typeface="Arial" pitchFamily="34" charset="-122"/>
                <a:cs typeface="Arial" pitchFamily="34" charset="-120"/>
              </a:rPr>
              <a:t>Les mêmes traitements, en RDD puis en DataFrame, pour comparer deux niveaux d'abstraction.</a:t>
            </a:r>
            <a:endParaRPr lang="en-US" sz="3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04 · MOTIVATION</a:t>
            </a:r>
            <a:endParaRPr lang="en-US" sz="1800" dirty="0"/>
          </a:p>
        </p:txBody>
      </p:sp>
      <p:sp>
        <p:nvSpPr>
          <p:cNvPr id="3" name="Text 1"/>
          <p:cNvSpPr/>
          <p:nvPr/>
        </p:nvSpPr>
        <p:spPr>
          <a:xfrm>
            <a:off x="1066800" y="1314450"/>
            <a:ext cx="10442138"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Du MapReduce à Spark</a:t>
            </a:r>
            <a:endParaRPr lang="en-US" sz="4800" dirty="0"/>
          </a:p>
        </p:txBody>
      </p:sp>
      <p:sp>
        <p:nvSpPr>
          <p:cNvPr id="4" name="Shape 2"/>
          <p:cNvSpPr/>
          <p:nvPr/>
        </p:nvSpPr>
        <p:spPr>
          <a:xfrm>
            <a:off x="1066800" y="2367459"/>
            <a:ext cx="5232400" cy="1710531"/>
          </a:xfrm>
          <a:prstGeom prst="roundRect">
            <a:avLst>
              <a:gd name="adj" fmla="val 8910"/>
            </a:avLst>
          </a:prstGeom>
          <a:solidFill>
            <a:srgbClr val="FFFFFF">
              <a:alpha val="3000"/>
            </a:srgbClr>
          </a:solidFill>
          <a:ln w="6350">
            <a:solidFill>
              <a:srgbClr val="FFFFFF">
                <a:alpha val="10000"/>
              </a:srgbClr>
            </a:solidFill>
            <a:prstDash val="solid"/>
          </a:ln>
        </p:spPr>
      </p:sp>
      <p:sp>
        <p:nvSpPr>
          <p:cNvPr id="5" name="Text 3"/>
          <p:cNvSpPr/>
          <p:nvPr/>
        </p:nvSpPr>
        <p:spPr>
          <a:xfrm>
            <a:off x="1358900" y="2678609"/>
            <a:ext cx="5113020"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EEF3F9"/>
                </a:solidFill>
                <a:latin typeface="Arial" pitchFamily="34" charset="0"/>
                <a:ea typeface="Arial" pitchFamily="34" charset="-122"/>
                <a:cs typeface="Arial" pitchFamily="34" charset="-120"/>
              </a:rPr>
              <a:t>RAM plafonnée</a:t>
            </a:r>
            <a:endParaRPr lang="en-US" sz="2175" dirty="0"/>
          </a:p>
        </p:txBody>
      </p:sp>
      <p:sp>
        <p:nvSpPr>
          <p:cNvPr id="6" name="Text 4"/>
          <p:cNvSpPr/>
          <p:nvPr/>
        </p:nvSpPr>
        <p:spPr>
          <a:xfrm>
            <a:off x="1358900" y="3104059"/>
            <a:ext cx="5113020" cy="369491"/>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Une seule machine limite le volume traitable.</a:t>
            </a:r>
            <a:endParaRPr lang="en-US" sz="1800" dirty="0"/>
          </a:p>
        </p:txBody>
      </p:sp>
      <p:sp>
        <p:nvSpPr>
          <p:cNvPr id="7" name="Shape 5"/>
          <p:cNvSpPr/>
          <p:nvPr/>
        </p:nvSpPr>
        <p:spPr>
          <a:xfrm>
            <a:off x="6527800" y="2367459"/>
            <a:ext cx="5232400" cy="1710531"/>
          </a:xfrm>
          <a:prstGeom prst="roundRect">
            <a:avLst>
              <a:gd name="adj" fmla="val 8910"/>
            </a:avLst>
          </a:prstGeom>
          <a:solidFill>
            <a:srgbClr val="FFFFFF">
              <a:alpha val="3000"/>
            </a:srgbClr>
          </a:solidFill>
          <a:ln w="6350">
            <a:solidFill>
              <a:srgbClr val="FFFFFF">
                <a:alpha val="10000"/>
              </a:srgbClr>
            </a:solidFill>
            <a:prstDash val="solid"/>
          </a:ln>
        </p:spPr>
      </p:sp>
      <p:sp>
        <p:nvSpPr>
          <p:cNvPr id="8" name="Text 6"/>
          <p:cNvSpPr/>
          <p:nvPr/>
        </p:nvSpPr>
        <p:spPr>
          <a:xfrm>
            <a:off x="6819900" y="2678609"/>
            <a:ext cx="5113020"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EEF3F9"/>
                </a:solidFill>
                <a:latin typeface="Arial" pitchFamily="34" charset="0"/>
                <a:ea typeface="Arial" pitchFamily="34" charset="-122"/>
                <a:cs typeface="Arial" pitchFamily="34" charset="-120"/>
              </a:rPr>
              <a:t>Traitement séquentiel</a:t>
            </a:r>
            <a:endParaRPr lang="en-US" sz="2175" dirty="0"/>
          </a:p>
        </p:txBody>
      </p:sp>
      <p:sp>
        <p:nvSpPr>
          <p:cNvPr id="9" name="Text 7"/>
          <p:cNvSpPr/>
          <p:nvPr/>
        </p:nvSpPr>
        <p:spPr>
          <a:xfrm>
            <a:off x="6819900" y="3104059"/>
            <a:ext cx="4787646" cy="700881"/>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Pas de parallélisme réel : une seule unité de calcul.</a:t>
            </a:r>
            <a:endParaRPr lang="en-US" sz="1800" dirty="0"/>
          </a:p>
        </p:txBody>
      </p:sp>
      <p:sp>
        <p:nvSpPr>
          <p:cNvPr id="10" name="Shape 8"/>
          <p:cNvSpPr/>
          <p:nvPr/>
        </p:nvSpPr>
        <p:spPr>
          <a:xfrm>
            <a:off x="11988801" y="2367459"/>
            <a:ext cx="5232400" cy="1710531"/>
          </a:xfrm>
          <a:prstGeom prst="roundRect">
            <a:avLst>
              <a:gd name="adj" fmla="val 8910"/>
            </a:avLst>
          </a:prstGeom>
          <a:solidFill>
            <a:srgbClr val="FFFFFF">
              <a:alpha val="3000"/>
            </a:srgbClr>
          </a:solidFill>
          <a:ln w="6350">
            <a:solidFill>
              <a:srgbClr val="FFFFFF">
                <a:alpha val="10000"/>
              </a:srgbClr>
            </a:solidFill>
            <a:prstDash val="solid"/>
          </a:ln>
        </p:spPr>
      </p:sp>
      <p:sp>
        <p:nvSpPr>
          <p:cNvPr id="11" name="Text 9"/>
          <p:cNvSpPr/>
          <p:nvPr/>
        </p:nvSpPr>
        <p:spPr>
          <a:xfrm>
            <a:off x="12280900" y="2678609"/>
            <a:ext cx="5113020"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EEF3F9"/>
                </a:solidFill>
                <a:latin typeface="Arial" pitchFamily="34" charset="0"/>
                <a:ea typeface="Arial" pitchFamily="34" charset="-122"/>
                <a:cs typeface="Arial" pitchFamily="34" charset="-120"/>
              </a:rPr>
              <a:t>Aucune résilience</a:t>
            </a:r>
            <a:endParaRPr lang="en-US" sz="2175" dirty="0"/>
          </a:p>
        </p:txBody>
      </p:sp>
      <p:sp>
        <p:nvSpPr>
          <p:cNvPr id="12" name="Text 10"/>
          <p:cNvSpPr/>
          <p:nvPr/>
        </p:nvSpPr>
        <p:spPr>
          <a:xfrm>
            <a:off x="12280900" y="3104059"/>
            <a:ext cx="4787646" cy="700881"/>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Une panne pendant le traitement : tout est à refaire.</a:t>
            </a:r>
            <a:endParaRPr lang="en-US" sz="1800" dirty="0"/>
          </a:p>
        </p:txBody>
      </p:sp>
      <p:sp>
        <p:nvSpPr>
          <p:cNvPr id="13" name="Shape 11"/>
          <p:cNvSpPr/>
          <p:nvPr/>
        </p:nvSpPr>
        <p:spPr>
          <a:xfrm>
            <a:off x="1066800" y="4497090"/>
            <a:ext cx="16154400" cy="1806178"/>
          </a:xfrm>
          <a:prstGeom prst="roundRect">
            <a:avLst>
              <a:gd name="adj" fmla="val 9492"/>
            </a:avLst>
          </a:prstGeom>
          <a:solidFill>
            <a:srgbClr val="FFFFFF">
              <a:alpha val="3000"/>
            </a:srgbClr>
          </a:solidFill>
          <a:ln w="6350">
            <a:solidFill>
              <a:srgbClr val="85E4E4">
                <a:alpha val="34000"/>
              </a:srgbClr>
            </a:solidFill>
            <a:prstDash val="solid"/>
          </a:ln>
        </p:spPr>
      </p:sp>
      <p:sp>
        <p:nvSpPr>
          <p:cNvPr id="14" name="Text 12"/>
          <p:cNvSpPr/>
          <p:nvPr/>
        </p:nvSpPr>
        <p:spPr>
          <a:xfrm>
            <a:off x="1454150" y="4827290"/>
            <a:ext cx="801878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MapReduce (Hadoop)</a:t>
            </a:r>
            <a:endParaRPr lang="en-US" sz="1800" dirty="0"/>
          </a:p>
        </p:txBody>
      </p:sp>
      <p:sp>
        <p:nvSpPr>
          <p:cNvPr id="15" name="Text 13"/>
          <p:cNvSpPr/>
          <p:nvPr/>
        </p:nvSpPr>
        <p:spPr>
          <a:xfrm>
            <a:off x="1454150" y="5227340"/>
            <a:ext cx="7508494" cy="783828"/>
          </a:xfrm>
          <a:prstGeom prst="rect">
            <a:avLst/>
          </a:prstGeom>
          <a:noFill/>
          <a:ln/>
        </p:spPr>
        <p:txBody>
          <a:bodyPr wrap="square" lIns="25400" tIns="25400" rIns="25400" bIns="25400" rtlCol="0" anchor="t">
            <a:normAutofit/>
          </a:bodyPr>
          <a:lstStyle/>
          <a:p>
            <a:pPr algn="l" indent="0" marL="0">
              <a:lnSpc>
                <a:spcPct val="124947"/>
              </a:lnSpc>
              <a:buNone/>
            </a:pPr>
            <a:r>
              <a:rPr lang="en-US" sz="2025" dirty="0">
                <a:solidFill>
                  <a:srgbClr val="8EA0B5"/>
                </a:solidFill>
                <a:latin typeface="Arial" pitchFamily="34" charset="0"/>
                <a:ea typeface="Arial" pitchFamily="34" charset="-122"/>
                <a:cs typeface="Arial" pitchFamily="34" charset="-120"/>
              </a:rPr>
              <a:t>Map puis Reduce, résultats intermédiaires écrits sur disque (HDFS) — robuste mais lent sur les traitements enchaînés.</a:t>
            </a:r>
            <a:endParaRPr lang="en-US" sz="2025" dirty="0"/>
          </a:p>
        </p:txBody>
      </p:sp>
      <p:sp>
        <p:nvSpPr>
          <p:cNvPr id="16" name="Text 14"/>
          <p:cNvSpPr/>
          <p:nvPr/>
        </p:nvSpPr>
        <p:spPr>
          <a:xfrm>
            <a:off x="8934450" y="5127129"/>
            <a:ext cx="495300" cy="584200"/>
          </a:xfrm>
          <a:prstGeom prst="rect">
            <a:avLst/>
          </a:prstGeom>
          <a:noFill/>
          <a:ln/>
        </p:spPr>
        <p:txBody>
          <a:bodyPr wrap="square" lIns="25400" tIns="25400" rIns="25400" bIns="25400" rtlCol="0" anchor="t">
            <a:normAutofit/>
          </a:bodyPr>
          <a:lstStyle/>
          <a:p>
            <a:pPr algn="l" indent="0" marL="0">
              <a:buNone/>
            </a:pPr>
            <a:r>
              <a:rPr lang="en-US" sz="3300" dirty="0">
                <a:solidFill>
                  <a:srgbClr val="56DBDB"/>
                </a:solidFill>
                <a:latin typeface="Arial" pitchFamily="34" charset="0"/>
                <a:ea typeface="Arial" pitchFamily="34" charset="-122"/>
                <a:cs typeface="Arial" pitchFamily="34" charset="-120"/>
              </a:rPr>
              <a:t>→</a:t>
            </a:r>
            <a:endParaRPr lang="en-US" sz="3300" dirty="0"/>
          </a:p>
        </p:txBody>
      </p:sp>
      <p:sp>
        <p:nvSpPr>
          <p:cNvPr id="17" name="Text 15"/>
          <p:cNvSpPr/>
          <p:nvPr/>
        </p:nvSpPr>
        <p:spPr>
          <a:xfrm>
            <a:off x="9544050" y="4827290"/>
            <a:ext cx="801878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Apache Spark</a:t>
            </a:r>
            <a:endParaRPr lang="en-US" sz="1800" dirty="0"/>
          </a:p>
        </p:txBody>
      </p:sp>
      <p:sp>
        <p:nvSpPr>
          <p:cNvPr id="18" name="Text 16"/>
          <p:cNvSpPr/>
          <p:nvPr/>
        </p:nvSpPr>
        <p:spPr>
          <a:xfrm>
            <a:off x="9544050" y="5227340"/>
            <a:ext cx="7508494" cy="783828"/>
          </a:xfrm>
          <a:prstGeom prst="rect">
            <a:avLst/>
          </a:prstGeom>
          <a:noFill/>
          <a:ln/>
        </p:spPr>
        <p:txBody>
          <a:bodyPr wrap="square" lIns="25400" tIns="25400" rIns="25400" bIns="25400" rtlCol="0" anchor="t">
            <a:normAutofit/>
          </a:bodyPr>
          <a:lstStyle/>
          <a:p>
            <a:pPr algn="l" indent="0" marL="0">
              <a:lnSpc>
                <a:spcPct val="124947"/>
              </a:lnSpc>
              <a:buNone/>
            </a:pPr>
            <a:r>
              <a:rPr lang="en-US" sz="2025" dirty="0">
                <a:solidFill>
                  <a:srgbClr val="8EA0B5"/>
                </a:solidFill>
                <a:latin typeface="Arial" pitchFamily="34" charset="0"/>
                <a:ea typeface="Arial" pitchFamily="34" charset="-122"/>
                <a:cs typeface="Arial" pitchFamily="34" charset="-120"/>
              </a:rPr>
              <a:t>Même logique de distribution, mais traitement </a:t>
            </a:r>
            <a:pPr algn="l" indent="0" marL="0">
              <a:lnSpc>
                <a:spcPct val="124947"/>
              </a:lnSpc>
              <a:buNone/>
            </a:pPr>
            <a:r>
              <a:rPr lang="en-US" sz="2025" dirty="0">
                <a:solidFill>
                  <a:srgbClr val="EEF3F9"/>
                </a:solidFill>
                <a:latin typeface="Arial" pitchFamily="34" charset="0"/>
                <a:ea typeface="Arial" pitchFamily="34" charset="-122"/>
                <a:cs typeface="Arial" pitchFamily="34" charset="-120"/>
              </a:rPr>
              <a:t>en mémoire </a:t>
            </a:r>
            <a:pPr algn="l" indent="0" marL="0">
              <a:lnSpc>
                <a:spcPct val="124947"/>
              </a:lnSpc>
              <a:buNone/>
            </a:pPr>
            <a:r>
              <a:rPr lang="en-US" sz="2025" dirty="0">
                <a:solidFill>
                  <a:srgbClr val="8EA0B5"/>
                </a:solidFill>
                <a:latin typeface="Arial" pitchFamily="34" charset="0"/>
                <a:ea typeface="Arial" pitchFamily="34" charset="-122"/>
                <a:cs typeface="Arial" pitchFamily="34" charset="-120"/>
              </a:rPr>
              <a:t>entre les étapes — nettement plus rapide.</a:t>
            </a:r>
            <a:endParaRPr lang="en-US" sz="2025"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04 · ARCHITECTURE</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L'architecture d'Apache Spark</a:t>
            </a:r>
            <a:endParaRPr lang="en-US" sz="4800" dirty="0"/>
          </a:p>
        </p:txBody>
      </p:sp>
      <p:sp>
        <p:nvSpPr>
          <p:cNvPr id="4" name="Shape 2"/>
          <p:cNvSpPr/>
          <p:nvPr/>
        </p:nvSpPr>
        <p:spPr>
          <a:xfrm>
            <a:off x="4436765" y="4530130"/>
            <a:ext cx="1780580" cy="723900"/>
          </a:xfrm>
          <a:prstGeom prst="roundRect">
            <a:avLst>
              <a:gd name="adj" fmla="val 15789"/>
            </a:avLst>
          </a:prstGeom>
          <a:solidFill>
            <a:srgbClr val="FFFFFF">
              <a:alpha val="6000"/>
            </a:srgbClr>
          </a:solidFill>
          <a:ln w="6350">
            <a:solidFill>
              <a:srgbClr val="75E1E1">
                <a:alpha val="46000"/>
              </a:srgbClr>
            </a:solidFill>
            <a:prstDash val="solid"/>
          </a:ln>
        </p:spPr>
      </p:sp>
      <p:sp>
        <p:nvSpPr>
          <p:cNvPr id="5" name="Text 3"/>
          <p:cNvSpPr/>
          <p:nvPr/>
        </p:nvSpPr>
        <p:spPr>
          <a:xfrm>
            <a:off x="4881265" y="4726980"/>
            <a:ext cx="96778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Driver</a:t>
            </a:r>
            <a:endParaRPr lang="en-US" sz="1950" dirty="0"/>
          </a:p>
        </p:txBody>
      </p:sp>
      <p:sp>
        <p:nvSpPr>
          <p:cNvPr id="6" name="Shape 4"/>
          <p:cNvSpPr/>
          <p:nvPr/>
        </p:nvSpPr>
        <p:spPr>
          <a:xfrm>
            <a:off x="5317530" y="5254030"/>
            <a:ext cx="19050" cy="285750"/>
          </a:xfrm>
          <a:prstGeom prst="rect">
            <a:avLst/>
          </a:prstGeom>
          <a:solidFill>
            <a:srgbClr val="56DBDB">
              <a:alpha val="51000"/>
            </a:srgbClr>
          </a:solidFill>
          <a:ln/>
        </p:spPr>
      </p:sp>
      <p:sp>
        <p:nvSpPr>
          <p:cNvPr id="7" name="Shape 5"/>
          <p:cNvSpPr/>
          <p:nvPr/>
        </p:nvSpPr>
        <p:spPr>
          <a:xfrm>
            <a:off x="3868142" y="5539780"/>
            <a:ext cx="2917825" cy="704850"/>
          </a:xfrm>
          <a:prstGeom prst="roundRect">
            <a:avLst>
              <a:gd name="adj" fmla="val 16216"/>
            </a:avLst>
          </a:prstGeom>
          <a:solidFill>
            <a:srgbClr val="FFFFFF">
              <a:alpha val="6000"/>
            </a:srgbClr>
          </a:solidFill>
          <a:ln w="6350">
            <a:solidFill>
              <a:srgbClr val="FFFFFF">
                <a:alpha val="10000"/>
              </a:srgbClr>
            </a:solidFill>
            <a:prstDash val="solid"/>
          </a:ln>
        </p:spPr>
      </p:sp>
      <p:sp>
        <p:nvSpPr>
          <p:cNvPr id="8" name="Text 6"/>
          <p:cNvSpPr/>
          <p:nvPr/>
        </p:nvSpPr>
        <p:spPr>
          <a:xfrm>
            <a:off x="4255492" y="5736630"/>
            <a:ext cx="2230660" cy="34925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Courier New" pitchFamily="34" charset="0"/>
                <a:ea typeface="Courier New" pitchFamily="34" charset="-122"/>
                <a:cs typeface="Courier New" pitchFamily="34" charset="-120"/>
              </a:rPr>
              <a:t>Cluster Manager</a:t>
            </a:r>
            <a:endParaRPr lang="en-US" sz="1875" dirty="0"/>
          </a:p>
        </p:txBody>
      </p:sp>
      <p:sp>
        <p:nvSpPr>
          <p:cNvPr id="9" name="Shape 7"/>
          <p:cNvSpPr/>
          <p:nvPr/>
        </p:nvSpPr>
        <p:spPr>
          <a:xfrm>
            <a:off x="5317530" y="6244630"/>
            <a:ext cx="19050" cy="285750"/>
          </a:xfrm>
          <a:prstGeom prst="rect">
            <a:avLst/>
          </a:prstGeom>
          <a:solidFill>
            <a:srgbClr val="56DBDB">
              <a:alpha val="51000"/>
            </a:srgbClr>
          </a:solidFill>
          <a:ln/>
        </p:spPr>
      </p:sp>
      <p:sp>
        <p:nvSpPr>
          <p:cNvPr id="10" name="Shape 8"/>
          <p:cNvSpPr/>
          <p:nvPr/>
        </p:nvSpPr>
        <p:spPr>
          <a:xfrm>
            <a:off x="2507655" y="6530380"/>
            <a:ext cx="1765300" cy="736600"/>
          </a:xfrm>
          <a:prstGeom prst="roundRect">
            <a:avLst>
              <a:gd name="adj" fmla="val 15517"/>
            </a:avLst>
          </a:prstGeom>
          <a:solidFill>
            <a:srgbClr val="FFFFFF">
              <a:alpha val="3000"/>
            </a:srgbClr>
          </a:solidFill>
          <a:ln w="6350">
            <a:solidFill>
              <a:srgbClr val="FFFFFF">
                <a:alpha val="10000"/>
              </a:srgbClr>
            </a:solidFill>
            <a:prstDash val="solid"/>
          </a:ln>
        </p:spPr>
      </p:sp>
      <p:sp>
        <p:nvSpPr>
          <p:cNvPr id="11" name="Text 9"/>
          <p:cNvSpPr/>
          <p:nvPr/>
        </p:nvSpPr>
        <p:spPr>
          <a:xfrm>
            <a:off x="2666405" y="6746280"/>
            <a:ext cx="144780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EEF3F9"/>
                </a:solidFill>
                <a:latin typeface="Courier New" pitchFamily="34" charset="0"/>
                <a:ea typeface="Courier New" pitchFamily="34" charset="-122"/>
                <a:cs typeface="Courier New" pitchFamily="34" charset="-120"/>
              </a:rPr>
              <a:t>Executor 1</a:t>
            </a:r>
            <a:endParaRPr lang="en-US" sz="1800" dirty="0"/>
          </a:p>
        </p:txBody>
      </p:sp>
      <p:sp>
        <p:nvSpPr>
          <p:cNvPr id="12" name="Shape 10"/>
          <p:cNvSpPr/>
          <p:nvPr/>
        </p:nvSpPr>
        <p:spPr>
          <a:xfrm>
            <a:off x="4444405" y="6530380"/>
            <a:ext cx="1765300" cy="736600"/>
          </a:xfrm>
          <a:prstGeom prst="roundRect">
            <a:avLst>
              <a:gd name="adj" fmla="val 15517"/>
            </a:avLst>
          </a:prstGeom>
          <a:solidFill>
            <a:srgbClr val="FFFFFF">
              <a:alpha val="3000"/>
            </a:srgbClr>
          </a:solidFill>
          <a:ln w="6350">
            <a:solidFill>
              <a:srgbClr val="FFFFFF">
                <a:alpha val="10000"/>
              </a:srgbClr>
            </a:solidFill>
            <a:prstDash val="solid"/>
          </a:ln>
        </p:spPr>
      </p:sp>
      <p:sp>
        <p:nvSpPr>
          <p:cNvPr id="13" name="Text 11"/>
          <p:cNvSpPr/>
          <p:nvPr/>
        </p:nvSpPr>
        <p:spPr>
          <a:xfrm>
            <a:off x="4603155" y="6746280"/>
            <a:ext cx="144780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EEF3F9"/>
                </a:solidFill>
                <a:latin typeface="Courier New" pitchFamily="34" charset="0"/>
                <a:ea typeface="Courier New" pitchFamily="34" charset="-122"/>
                <a:cs typeface="Courier New" pitchFamily="34" charset="-120"/>
              </a:rPr>
              <a:t>Executor 2</a:t>
            </a:r>
            <a:endParaRPr lang="en-US" sz="1800" dirty="0"/>
          </a:p>
        </p:txBody>
      </p:sp>
      <p:sp>
        <p:nvSpPr>
          <p:cNvPr id="14" name="Shape 12"/>
          <p:cNvSpPr/>
          <p:nvPr/>
        </p:nvSpPr>
        <p:spPr>
          <a:xfrm>
            <a:off x="6381155" y="6530380"/>
            <a:ext cx="1765300" cy="736600"/>
          </a:xfrm>
          <a:prstGeom prst="roundRect">
            <a:avLst>
              <a:gd name="adj" fmla="val 15517"/>
            </a:avLst>
          </a:prstGeom>
          <a:solidFill>
            <a:srgbClr val="FFFFFF">
              <a:alpha val="3000"/>
            </a:srgbClr>
          </a:solidFill>
          <a:ln w="6350">
            <a:solidFill>
              <a:srgbClr val="FFFFFF">
                <a:alpha val="10000"/>
              </a:srgbClr>
            </a:solidFill>
            <a:prstDash val="solid"/>
          </a:ln>
        </p:spPr>
      </p:sp>
      <p:sp>
        <p:nvSpPr>
          <p:cNvPr id="15" name="Text 13"/>
          <p:cNvSpPr/>
          <p:nvPr/>
        </p:nvSpPr>
        <p:spPr>
          <a:xfrm>
            <a:off x="6539905" y="6746280"/>
            <a:ext cx="144780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EEF3F9"/>
                </a:solidFill>
                <a:latin typeface="Courier New" pitchFamily="34" charset="0"/>
                <a:ea typeface="Courier New" pitchFamily="34" charset="-122"/>
                <a:cs typeface="Courier New" pitchFamily="34" charset="-120"/>
              </a:rPr>
              <a:t>Executor 3</a:t>
            </a:r>
            <a:endParaRPr lang="en-US" sz="1800" dirty="0"/>
          </a:p>
        </p:txBody>
      </p:sp>
      <p:sp>
        <p:nvSpPr>
          <p:cNvPr id="16" name="Shape 14"/>
          <p:cNvSpPr/>
          <p:nvPr/>
        </p:nvSpPr>
        <p:spPr>
          <a:xfrm>
            <a:off x="10120710" y="4647109"/>
            <a:ext cx="25400" cy="681930"/>
          </a:xfrm>
          <a:prstGeom prst="rect">
            <a:avLst/>
          </a:prstGeom>
          <a:solidFill>
            <a:srgbClr val="56DBDB"/>
          </a:solidFill>
          <a:ln/>
        </p:spPr>
      </p:sp>
      <p:sp>
        <p:nvSpPr>
          <p:cNvPr id="17" name="Text 15"/>
          <p:cNvSpPr/>
          <p:nvPr/>
        </p:nvSpPr>
        <p:spPr>
          <a:xfrm>
            <a:off x="10355660" y="4647109"/>
            <a:ext cx="7552095" cy="342900"/>
          </a:xfrm>
          <a:prstGeom prst="rect">
            <a:avLst/>
          </a:prstGeom>
          <a:noFill/>
          <a:ln/>
        </p:spPr>
        <p:txBody>
          <a:bodyPr wrap="square" lIns="25400" tIns="25400" rIns="25400" bIns="25400" rtlCol="0" anchor="t">
            <a:normAutofit/>
          </a:bodyPr>
          <a:lstStyle/>
          <a:p>
            <a:pPr algn="l" indent="0" marL="0">
              <a:buNone/>
            </a:pPr>
            <a:r>
              <a:rPr lang="en-US" sz="2100" b="1" dirty="0">
                <a:solidFill>
                  <a:srgbClr val="EEF3F9"/>
                </a:solidFill>
                <a:latin typeface="Arial" pitchFamily="34" charset="0"/>
                <a:ea typeface="Arial" pitchFamily="34" charset="-122"/>
                <a:cs typeface="Arial" pitchFamily="34" charset="-120"/>
              </a:rPr>
              <a:t>Driver</a:t>
            </a:r>
            <a:endParaRPr lang="en-US" sz="2100" dirty="0"/>
          </a:p>
        </p:txBody>
      </p:sp>
      <p:sp>
        <p:nvSpPr>
          <p:cNvPr id="18" name="Text 16"/>
          <p:cNvSpPr/>
          <p:nvPr/>
        </p:nvSpPr>
        <p:spPr>
          <a:xfrm>
            <a:off x="10355660" y="5009059"/>
            <a:ext cx="7552095"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Exécute le main, construit le plan, distribue les tâches.</a:t>
            </a:r>
            <a:endParaRPr lang="en-US" sz="1800" dirty="0"/>
          </a:p>
        </p:txBody>
      </p:sp>
      <p:sp>
        <p:nvSpPr>
          <p:cNvPr id="19" name="Shape 17"/>
          <p:cNvSpPr/>
          <p:nvPr/>
        </p:nvSpPr>
        <p:spPr>
          <a:xfrm>
            <a:off x="10120710" y="5557639"/>
            <a:ext cx="25400" cy="681930"/>
          </a:xfrm>
          <a:prstGeom prst="rect">
            <a:avLst/>
          </a:prstGeom>
          <a:solidFill>
            <a:srgbClr val="56DBDB"/>
          </a:solidFill>
          <a:ln/>
        </p:spPr>
      </p:sp>
      <p:sp>
        <p:nvSpPr>
          <p:cNvPr id="20" name="Text 18"/>
          <p:cNvSpPr/>
          <p:nvPr/>
        </p:nvSpPr>
        <p:spPr>
          <a:xfrm>
            <a:off x="10355660" y="5557639"/>
            <a:ext cx="7552095" cy="342900"/>
          </a:xfrm>
          <a:prstGeom prst="rect">
            <a:avLst/>
          </a:prstGeom>
          <a:noFill/>
          <a:ln/>
        </p:spPr>
        <p:txBody>
          <a:bodyPr wrap="square" lIns="25400" tIns="25400" rIns="25400" bIns="25400" rtlCol="0" anchor="t">
            <a:normAutofit/>
          </a:bodyPr>
          <a:lstStyle/>
          <a:p>
            <a:pPr algn="l" indent="0" marL="0">
              <a:buNone/>
            </a:pPr>
            <a:r>
              <a:rPr lang="en-US" sz="2100" b="1" dirty="0">
                <a:solidFill>
                  <a:srgbClr val="EEF3F9"/>
                </a:solidFill>
                <a:latin typeface="Arial" pitchFamily="34" charset="0"/>
                <a:ea typeface="Arial" pitchFamily="34" charset="-122"/>
                <a:cs typeface="Arial" pitchFamily="34" charset="-120"/>
              </a:rPr>
              <a:t>Cluster Manager</a:t>
            </a:r>
            <a:endParaRPr lang="en-US" sz="2100" dirty="0"/>
          </a:p>
        </p:txBody>
      </p:sp>
      <p:sp>
        <p:nvSpPr>
          <p:cNvPr id="21" name="Text 19"/>
          <p:cNvSpPr/>
          <p:nvPr/>
        </p:nvSpPr>
        <p:spPr>
          <a:xfrm>
            <a:off x="10355660" y="5919589"/>
            <a:ext cx="7552095"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Alloue CPU et mémoire — Standalone en local, YARN sur EMR.</a:t>
            </a:r>
            <a:endParaRPr lang="en-US" sz="1800" dirty="0"/>
          </a:p>
        </p:txBody>
      </p:sp>
      <p:sp>
        <p:nvSpPr>
          <p:cNvPr id="22" name="Shape 20"/>
          <p:cNvSpPr/>
          <p:nvPr/>
        </p:nvSpPr>
        <p:spPr>
          <a:xfrm>
            <a:off x="10120710" y="6468170"/>
            <a:ext cx="25400" cy="681930"/>
          </a:xfrm>
          <a:prstGeom prst="rect">
            <a:avLst/>
          </a:prstGeom>
          <a:solidFill>
            <a:srgbClr val="56DBDB"/>
          </a:solidFill>
          <a:ln/>
        </p:spPr>
      </p:sp>
      <p:sp>
        <p:nvSpPr>
          <p:cNvPr id="23" name="Text 21"/>
          <p:cNvSpPr/>
          <p:nvPr/>
        </p:nvSpPr>
        <p:spPr>
          <a:xfrm>
            <a:off x="10355660" y="6468170"/>
            <a:ext cx="7552095" cy="342900"/>
          </a:xfrm>
          <a:prstGeom prst="rect">
            <a:avLst/>
          </a:prstGeom>
          <a:noFill/>
          <a:ln/>
        </p:spPr>
        <p:txBody>
          <a:bodyPr wrap="square" lIns="25400" tIns="25400" rIns="25400" bIns="25400" rtlCol="0" anchor="t">
            <a:normAutofit/>
          </a:bodyPr>
          <a:lstStyle/>
          <a:p>
            <a:pPr algn="l" indent="0" marL="0">
              <a:buNone/>
            </a:pPr>
            <a:r>
              <a:rPr lang="en-US" sz="2100" b="1" dirty="0">
                <a:solidFill>
                  <a:srgbClr val="EEF3F9"/>
                </a:solidFill>
                <a:latin typeface="Arial" pitchFamily="34" charset="0"/>
                <a:ea typeface="Arial" pitchFamily="34" charset="-122"/>
                <a:cs typeface="Arial" pitchFamily="34" charset="-120"/>
              </a:rPr>
              <a:t>Executors</a:t>
            </a:r>
            <a:endParaRPr lang="en-US" sz="2100" dirty="0"/>
          </a:p>
        </p:txBody>
      </p:sp>
      <p:sp>
        <p:nvSpPr>
          <p:cNvPr id="24" name="Text 22"/>
          <p:cNvSpPr/>
          <p:nvPr/>
        </p:nvSpPr>
        <p:spPr>
          <a:xfrm>
            <a:off x="10355660" y="6830120"/>
            <a:ext cx="7552095"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Exécutent les tâches en parallèle, stockent en mémoire.</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04 · DEUX API</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RDD ou DataFrame ?</a:t>
            </a:r>
            <a:endParaRPr lang="en-US" sz="4800" dirty="0"/>
          </a:p>
        </p:txBody>
      </p:sp>
      <p:sp>
        <p:nvSpPr>
          <p:cNvPr id="4" name="Shape 2"/>
          <p:cNvSpPr/>
          <p:nvPr/>
        </p:nvSpPr>
        <p:spPr>
          <a:xfrm>
            <a:off x="1066800" y="2367459"/>
            <a:ext cx="16154400" cy="3771900"/>
          </a:xfrm>
          <a:prstGeom prst="roundRect">
            <a:avLst>
              <a:gd name="adj" fmla="val 4545"/>
            </a:avLst>
          </a:prstGeom>
          <a:solidFill>
            <a:srgbClr val="FFFFFF">
              <a:alpha val="3000"/>
            </a:srgbClr>
          </a:solidFill>
          <a:ln w="6350">
            <a:solidFill>
              <a:srgbClr val="FFFFFF">
                <a:alpha val="10000"/>
              </a:srgbClr>
            </a:solidFill>
            <a:prstDash val="solid"/>
          </a:ln>
        </p:spPr>
      </p:sp>
      <p:sp>
        <p:nvSpPr>
          <p:cNvPr id="5" name="Shape 3"/>
          <p:cNvSpPr/>
          <p:nvPr/>
        </p:nvSpPr>
        <p:spPr>
          <a:xfrm>
            <a:off x="1073150" y="3135809"/>
            <a:ext cx="16141701" cy="9525"/>
          </a:xfrm>
          <a:prstGeom prst="rect">
            <a:avLst/>
          </a:prstGeom>
          <a:solidFill>
            <a:srgbClr val="FFFFFF">
              <a:alpha val="10000"/>
            </a:srgbClr>
          </a:solidFill>
          <a:ln/>
        </p:spPr>
      </p:sp>
      <p:sp>
        <p:nvSpPr>
          <p:cNvPr id="6" name="Text 4"/>
          <p:cNvSpPr/>
          <p:nvPr/>
        </p:nvSpPr>
        <p:spPr>
          <a:xfrm>
            <a:off x="7786886" y="2602409"/>
            <a:ext cx="497583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RDD</a:t>
            </a:r>
            <a:endParaRPr lang="en-US" sz="1800" dirty="0"/>
          </a:p>
        </p:txBody>
      </p:sp>
      <p:sp>
        <p:nvSpPr>
          <p:cNvPr id="7" name="Text 5"/>
          <p:cNvSpPr/>
          <p:nvPr/>
        </p:nvSpPr>
        <p:spPr>
          <a:xfrm>
            <a:off x="12310368" y="2602409"/>
            <a:ext cx="497572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DataFrame</a:t>
            </a:r>
            <a:endParaRPr lang="en-US" sz="1800" dirty="0"/>
          </a:p>
        </p:txBody>
      </p:sp>
      <p:sp>
        <p:nvSpPr>
          <p:cNvPr id="8" name="Shape 6"/>
          <p:cNvSpPr/>
          <p:nvPr/>
        </p:nvSpPr>
        <p:spPr>
          <a:xfrm>
            <a:off x="1073150" y="3885109"/>
            <a:ext cx="16141701" cy="9525"/>
          </a:xfrm>
          <a:prstGeom prst="rect">
            <a:avLst/>
          </a:prstGeom>
          <a:solidFill>
            <a:srgbClr val="FFFFFF">
              <a:alpha val="6000"/>
            </a:srgbClr>
          </a:solidFill>
          <a:ln/>
        </p:spPr>
      </p:sp>
      <p:sp>
        <p:nvSpPr>
          <p:cNvPr id="9" name="Text 7"/>
          <p:cNvSpPr/>
          <p:nvPr/>
        </p:nvSpPr>
        <p:spPr>
          <a:xfrm>
            <a:off x="1454150" y="3351709"/>
            <a:ext cx="696601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8EA0B5"/>
                </a:solidFill>
                <a:latin typeface="Arial" pitchFamily="34" charset="0"/>
                <a:ea typeface="Arial" pitchFamily="34" charset="-122"/>
                <a:cs typeface="Arial" pitchFamily="34" charset="-120"/>
              </a:rPr>
              <a:t>Niveau d'abstraction</a:t>
            </a:r>
            <a:endParaRPr lang="en-US" sz="1950" dirty="0"/>
          </a:p>
        </p:txBody>
      </p:sp>
      <p:sp>
        <p:nvSpPr>
          <p:cNvPr id="10" name="Text 8"/>
          <p:cNvSpPr/>
          <p:nvPr/>
        </p:nvSpPr>
        <p:spPr>
          <a:xfrm>
            <a:off x="7786886" y="3351709"/>
            <a:ext cx="497583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Arial" pitchFamily="34" charset="0"/>
                <a:ea typeface="Arial" pitchFamily="34" charset="-122"/>
                <a:cs typeface="Arial" pitchFamily="34" charset="-120"/>
              </a:rPr>
              <a:t>Bas, proche MapReduce</a:t>
            </a:r>
            <a:endParaRPr lang="en-US" sz="1950" dirty="0"/>
          </a:p>
        </p:txBody>
      </p:sp>
      <p:sp>
        <p:nvSpPr>
          <p:cNvPr id="11" name="Text 9"/>
          <p:cNvSpPr/>
          <p:nvPr/>
        </p:nvSpPr>
        <p:spPr>
          <a:xfrm>
            <a:off x="12310368" y="3351709"/>
            <a:ext cx="4975721" cy="36195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Arial" pitchFamily="34" charset="0"/>
                <a:ea typeface="Arial" pitchFamily="34" charset="-122"/>
                <a:cs typeface="Arial" pitchFamily="34" charset="-120"/>
              </a:rPr>
              <a:t>Haut, proche SQL</a:t>
            </a:r>
            <a:endParaRPr lang="en-US" sz="1950" dirty="0"/>
          </a:p>
        </p:txBody>
      </p:sp>
      <p:sp>
        <p:nvSpPr>
          <p:cNvPr id="12" name="Shape 10"/>
          <p:cNvSpPr/>
          <p:nvPr/>
        </p:nvSpPr>
        <p:spPr>
          <a:xfrm>
            <a:off x="1073150" y="4634409"/>
            <a:ext cx="16141701" cy="9525"/>
          </a:xfrm>
          <a:prstGeom prst="rect">
            <a:avLst/>
          </a:prstGeom>
          <a:solidFill>
            <a:srgbClr val="FFFFFF">
              <a:alpha val="6000"/>
            </a:srgbClr>
          </a:solidFill>
          <a:ln/>
        </p:spPr>
      </p:sp>
      <p:sp>
        <p:nvSpPr>
          <p:cNvPr id="13" name="Text 11"/>
          <p:cNvSpPr/>
          <p:nvPr/>
        </p:nvSpPr>
        <p:spPr>
          <a:xfrm>
            <a:off x="1454150" y="4101009"/>
            <a:ext cx="696601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8EA0B5"/>
                </a:solidFill>
                <a:latin typeface="Arial" pitchFamily="34" charset="0"/>
                <a:ea typeface="Arial" pitchFamily="34" charset="-122"/>
                <a:cs typeface="Arial" pitchFamily="34" charset="-120"/>
              </a:rPr>
              <a:t>Optimisation auto</a:t>
            </a:r>
            <a:endParaRPr lang="en-US" sz="1950" dirty="0"/>
          </a:p>
        </p:txBody>
      </p:sp>
      <p:sp>
        <p:nvSpPr>
          <p:cNvPr id="14" name="Text 12"/>
          <p:cNvSpPr/>
          <p:nvPr/>
        </p:nvSpPr>
        <p:spPr>
          <a:xfrm>
            <a:off x="7786886" y="4101009"/>
            <a:ext cx="497583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Arial" pitchFamily="34" charset="0"/>
                <a:ea typeface="Arial" pitchFamily="34" charset="-122"/>
                <a:cs typeface="Arial" pitchFamily="34" charset="-120"/>
              </a:rPr>
              <a:t>Non</a:t>
            </a:r>
            <a:endParaRPr lang="en-US" sz="1950" dirty="0"/>
          </a:p>
        </p:txBody>
      </p:sp>
      <p:sp>
        <p:nvSpPr>
          <p:cNvPr id="15" name="Text 13"/>
          <p:cNvSpPr/>
          <p:nvPr/>
        </p:nvSpPr>
        <p:spPr>
          <a:xfrm>
            <a:off x="12310368" y="4101009"/>
            <a:ext cx="4975721"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Oui (Catalyst)</a:t>
            </a:r>
            <a:endParaRPr lang="en-US" sz="1950" dirty="0"/>
          </a:p>
        </p:txBody>
      </p:sp>
      <p:sp>
        <p:nvSpPr>
          <p:cNvPr id="16" name="Shape 14"/>
          <p:cNvSpPr/>
          <p:nvPr/>
        </p:nvSpPr>
        <p:spPr>
          <a:xfrm>
            <a:off x="1073150" y="5383709"/>
            <a:ext cx="16141701" cy="9525"/>
          </a:xfrm>
          <a:prstGeom prst="rect">
            <a:avLst/>
          </a:prstGeom>
          <a:solidFill>
            <a:srgbClr val="FFFFFF">
              <a:alpha val="6000"/>
            </a:srgbClr>
          </a:solidFill>
          <a:ln/>
        </p:spPr>
      </p:sp>
      <p:sp>
        <p:nvSpPr>
          <p:cNvPr id="17" name="Text 15"/>
          <p:cNvSpPr/>
          <p:nvPr/>
        </p:nvSpPr>
        <p:spPr>
          <a:xfrm>
            <a:off x="1454150" y="4850309"/>
            <a:ext cx="696601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8EA0B5"/>
                </a:solidFill>
                <a:latin typeface="Arial" pitchFamily="34" charset="0"/>
                <a:ea typeface="Arial" pitchFamily="34" charset="-122"/>
                <a:cs typeface="Arial" pitchFamily="34" charset="-120"/>
              </a:rPr>
              <a:t>Facilité d'usage</a:t>
            </a:r>
            <a:endParaRPr lang="en-US" sz="1950" dirty="0"/>
          </a:p>
        </p:txBody>
      </p:sp>
      <p:sp>
        <p:nvSpPr>
          <p:cNvPr id="18" name="Text 16"/>
          <p:cNvSpPr/>
          <p:nvPr/>
        </p:nvSpPr>
        <p:spPr>
          <a:xfrm>
            <a:off x="7786886" y="4850309"/>
            <a:ext cx="497583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Arial" pitchFamily="34" charset="0"/>
                <a:ea typeface="Arial" pitchFamily="34" charset="-122"/>
                <a:cs typeface="Arial" pitchFamily="34" charset="-120"/>
              </a:rPr>
              <a:t>Plus verbeux</a:t>
            </a:r>
            <a:endParaRPr lang="en-US" sz="1950" dirty="0"/>
          </a:p>
        </p:txBody>
      </p:sp>
      <p:sp>
        <p:nvSpPr>
          <p:cNvPr id="19" name="Text 17"/>
          <p:cNvSpPr/>
          <p:nvPr/>
        </p:nvSpPr>
        <p:spPr>
          <a:xfrm>
            <a:off x="12310368" y="4850309"/>
            <a:ext cx="4975721" cy="36195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Arial" pitchFamily="34" charset="0"/>
                <a:ea typeface="Arial" pitchFamily="34" charset="-122"/>
                <a:cs typeface="Arial" pitchFamily="34" charset="-120"/>
              </a:rPr>
              <a:t>Plus concis</a:t>
            </a:r>
            <a:endParaRPr lang="en-US" sz="1950" dirty="0"/>
          </a:p>
        </p:txBody>
      </p:sp>
      <p:sp>
        <p:nvSpPr>
          <p:cNvPr id="20" name="Text 18"/>
          <p:cNvSpPr/>
          <p:nvPr/>
        </p:nvSpPr>
        <p:spPr>
          <a:xfrm>
            <a:off x="1454150" y="5599609"/>
            <a:ext cx="696601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8EA0B5"/>
                </a:solidFill>
                <a:latin typeface="Arial" pitchFamily="34" charset="0"/>
                <a:ea typeface="Arial" pitchFamily="34" charset="-122"/>
                <a:cs typeface="Arial" pitchFamily="34" charset="-120"/>
              </a:rPr>
              <a:t>Usage recommandé</a:t>
            </a:r>
            <a:endParaRPr lang="en-US" sz="1950" dirty="0"/>
          </a:p>
        </p:txBody>
      </p:sp>
      <p:sp>
        <p:nvSpPr>
          <p:cNvPr id="21" name="Text 19"/>
          <p:cNvSpPr/>
          <p:nvPr/>
        </p:nvSpPr>
        <p:spPr>
          <a:xfrm>
            <a:off x="7786886" y="5599609"/>
            <a:ext cx="497583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Arial" pitchFamily="34" charset="0"/>
                <a:ea typeface="Arial" pitchFamily="34" charset="-122"/>
                <a:cs typeface="Arial" pitchFamily="34" charset="-120"/>
              </a:rPr>
              <a:t>Contrôle fin</a:t>
            </a:r>
            <a:endParaRPr lang="en-US" sz="1950" dirty="0"/>
          </a:p>
        </p:txBody>
      </p:sp>
      <p:sp>
        <p:nvSpPr>
          <p:cNvPr id="22" name="Text 20"/>
          <p:cNvSpPr/>
          <p:nvPr/>
        </p:nvSpPr>
        <p:spPr>
          <a:xfrm>
            <a:off x="12310368" y="5599609"/>
            <a:ext cx="4975721"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Usage général</a:t>
            </a:r>
            <a:endParaRPr lang="en-US" sz="1950" dirty="0"/>
          </a:p>
        </p:txBody>
      </p:sp>
      <p:sp>
        <p:nvSpPr>
          <p:cNvPr id="23" name="Shape 21"/>
          <p:cNvSpPr/>
          <p:nvPr/>
        </p:nvSpPr>
        <p:spPr>
          <a:xfrm>
            <a:off x="1066800" y="6425109"/>
            <a:ext cx="25400" cy="771525"/>
          </a:xfrm>
          <a:prstGeom prst="rect">
            <a:avLst/>
          </a:prstGeom>
          <a:solidFill>
            <a:srgbClr val="56DBDB"/>
          </a:solidFill>
          <a:ln/>
        </p:spPr>
      </p:sp>
      <p:sp>
        <p:nvSpPr>
          <p:cNvPr id="24" name="Text 22"/>
          <p:cNvSpPr/>
          <p:nvPr/>
        </p:nvSpPr>
        <p:spPr>
          <a:xfrm>
            <a:off x="1320800" y="6425109"/>
            <a:ext cx="15003659"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EEF3F9"/>
                </a:solidFill>
                <a:latin typeface="Arial" pitchFamily="34" charset="0"/>
                <a:ea typeface="Arial" pitchFamily="34" charset="-122"/>
                <a:cs typeface="Arial" pitchFamily="34" charset="-120"/>
              </a:rPr>
              <a:t>Évaluation paresseuse </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 </a:t>
            </a:r>
            <a:pPr algn="l" indent="0" marL="0">
              <a:lnSpc>
                <a:spcPct val="129255"/>
              </a:lnSpc>
              <a:buNone/>
            </a:pPr>
            <a:r>
              <a:rPr lang="en-US" sz="1800" dirty="0">
                <a:solidFill>
                  <a:srgbClr val="8EA0B5"/>
                </a:solidFill>
                <a:latin typeface="Courier New" pitchFamily="34" charset="0"/>
                <a:ea typeface="Courier New" pitchFamily="34" charset="-122"/>
                <a:cs typeface="Courier New" pitchFamily="34" charset="-120"/>
              </a:rPr>
              <a:t>map</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 </a:t>
            </a:r>
            <a:pPr algn="l" indent="0" marL="0">
              <a:lnSpc>
                <a:spcPct val="129255"/>
              </a:lnSpc>
              <a:buNone/>
            </a:pPr>
            <a:r>
              <a:rPr lang="en-US" sz="1800" dirty="0">
                <a:solidFill>
                  <a:srgbClr val="8EA0B5"/>
                </a:solidFill>
                <a:latin typeface="Courier New" pitchFamily="34" charset="0"/>
                <a:ea typeface="Courier New" pitchFamily="34" charset="-122"/>
                <a:cs typeface="Courier New" pitchFamily="34" charset="-120"/>
              </a:rPr>
              <a:t>filter</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 </a:t>
            </a:r>
            <a:pPr algn="l" indent="0" marL="0">
              <a:lnSpc>
                <a:spcPct val="129255"/>
              </a:lnSpc>
              <a:buNone/>
            </a:pPr>
            <a:r>
              <a:rPr lang="en-US" sz="1800" dirty="0">
                <a:solidFill>
                  <a:srgbClr val="8EA0B5"/>
                </a:solidFill>
                <a:latin typeface="Courier New" pitchFamily="34" charset="0"/>
                <a:ea typeface="Courier New" pitchFamily="34" charset="-122"/>
                <a:cs typeface="Courier New" pitchFamily="34" charset="-120"/>
              </a:rPr>
              <a:t>groupBy </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ne font que décrire des transformations. Rien ne s'exécute avant une action comme </a:t>
            </a:r>
            <a:pPr algn="l" indent="0" marL="0">
              <a:lnSpc>
                <a:spcPct val="129255"/>
              </a:lnSpc>
              <a:buNone/>
            </a:pPr>
            <a:r>
              <a:rPr lang="en-US" sz="1800" dirty="0">
                <a:solidFill>
                  <a:srgbClr val="8EA0B5"/>
                </a:solidFill>
                <a:latin typeface="Courier New" pitchFamily="34" charset="0"/>
                <a:ea typeface="Courier New" pitchFamily="34" charset="-122"/>
                <a:cs typeface="Courier New" pitchFamily="34" charset="-120"/>
              </a:rPr>
              <a:t>collect() </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ou </a:t>
            </a:r>
            <a:pPr algn="l" indent="0" marL="0">
              <a:lnSpc>
                <a:spcPct val="129255"/>
              </a:lnSpc>
              <a:buNone/>
            </a:pPr>
            <a:r>
              <a:rPr lang="en-US" sz="1800" dirty="0">
                <a:solidFill>
                  <a:srgbClr val="8EA0B5"/>
                </a:solidFill>
                <a:latin typeface="Courier New" pitchFamily="34" charset="0"/>
                <a:ea typeface="Courier New" pitchFamily="34" charset="-122"/>
                <a:cs typeface="Courier New" pitchFamily="34" charset="-120"/>
              </a:rPr>
              <a:t>show()</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a:t>
            </a:r>
            <a:endParaRPr lang="en-US" sz="2025"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04 · PARTIE A</a:t>
            </a:r>
            <a:endParaRPr lang="en-US" sz="1800" dirty="0"/>
          </a:p>
        </p:txBody>
      </p:sp>
      <p:sp>
        <p:nvSpPr>
          <p:cNvPr id="3" name="Text 1"/>
          <p:cNvSpPr/>
          <p:nvPr/>
        </p:nvSpPr>
        <p:spPr>
          <a:xfrm>
            <a:off x="1066800" y="1314450"/>
            <a:ext cx="12679740" cy="692845"/>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Traitement RDD sur </a:t>
            </a:r>
            <a:pPr algn="l" indent="0" marL="0">
              <a:lnSpc>
                <a:spcPct val="90764"/>
              </a:lnSpc>
              <a:buNone/>
            </a:pPr>
            <a:r>
              <a:rPr lang="en-US" sz="3900" b="1" spc="-96" kern="0" dirty="0">
                <a:solidFill>
                  <a:srgbClr val="56DBDB"/>
                </a:solidFill>
                <a:latin typeface="Courier New" pitchFamily="34" charset="0"/>
                <a:ea typeface="Courier New" pitchFamily="34" charset="-122"/>
                <a:cs typeface="Courier New" pitchFamily="34" charset="-120"/>
              </a:rPr>
              <a:t>purchases.txt</a:t>
            </a:r>
            <a:endParaRPr lang="en-US" sz="4800" dirty="0"/>
          </a:p>
        </p:txBody>
      </p:sp>
      <p:sp>
        <p:nvSpPr>
          <p:cNvPr id="4" name="Shape 2"/>
          <p:cNvSpPr/>
          <p:nvPr/>
        </p:nvSpPr>
        <p:spPr>
          <a:xfrm>
            <a:off x="1066800" y="2312095"/>
            <a:ext cx="9503371" cy="7155756"/>
          </a:xfrm>
          <a:prstGeom prst="roundRect">
            <a:avLst>
              <a:gd name="adj" fmla="val 2130"/>
            </a:avLst>
          </a:prstGeom>
          <a:solidFill>
            <a:srgbClr val="06090E"/>
          </a:solidFill>
          <a:ln w="6350">
            <a:solidFill>
              <a:srgbClr val="FFFFFF">
                <a:alpha val="10000"/>
              </a:srgbClr>
            </a:solidFill>
            <a:prstDash val="solid"/>
          </a:ln>
        </p:spPr>
      </p:sp>
      <p:sp>
        <p:nvSpPr>
          <p:cNvPr id="5" name="Shape 3"/>
          <p:cNvSpPr/>
          <p:nvPr/>
        </p:nvSpPr>
        <p:spPr>
          <a:xfrm>
            <a:off x="1073150" y="2928045"/>
            <a:ext cx="9490671" cy="9525"/>
          </a:xfrm>
          <a:prstGeom prst="rect">
            <a:avLst/>
          </a:prstGeom>
          <a:solidFill>
            <a:srgbClr val="FFFFFF">
              <a:alpha val="6000"/>
            </a:srgbClr>
          </a:solidFill>
          <a:ln/>
        </p:spPr>
      </p:sp>
      <p:sp>
        <p:nvSpPr>
          <p:cNvPr id="6" name="Text 4"/>
          <p:cNvSpPr/>
          <p:nvPr/>
        </p:nvSpPr>
        <p:spPr>
          <a:xfrm>
            <a:off x="1301750" y="2470845"/>
            <a:ext cx="931819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pyspark — ventes par magasin</a:t>
            </a:r>
            <a:endParaRPr lang="en-US" sz="1800" dirty="0"/>
          </a:p>
        </p:txBody>
      </p:sp>
      <p:sp>
        <p:nvSpPr>
          <p:cNvPr id="7" name="Text 5"/>
          <p:cNvSpPr/>
          <p:nvPr/>
        </p:nvSpPr>
        <p:spPr>
          <a:xfrm>
            <a:off x="1358900" y="3182045"/>
            <a:ext cx="9203891" cy="3923506"/>
          </a:xfrm>
          <a:prstGeom prst="rect">
            <a:avLst/>
          </a:prstGeom>
          <a:noFill/>
          <a:ln/>
        </p:spPr>
        <p:txBody>
          <a:bodyPr wrap="none" lIns="25400" tIns="25400" rIns="25400" bIns="25400" rtlCol="0" anchor="t">
            <a:normAutofit/>
          </a:bodyPr>
          <a:lstStyle/>
          <a:p>
            <a:pPr algn="l" indent="0" marL="0">
              <a:lnSpc>
                <a:spcPct val="149268"/>
              </a:lnSpc>
              <a:buNone/>
            </a:pPr>
            <a:r>
              <a:rPr lang="en-US" sz="1800" dirty="0">
                <a:solidFill>
                  <a:srgbClr val="8EA0B5"/>
                </a:solidFill>
                <a:latin typeface="Courier New" pitchFamily="34" charset="0"/>
                <a:ea typeface="Courier New" pitchFamily="34" charset="-122"/>
                <a:cs typeface="Courier New" pitchFamily="34" charset="-120"/>
              </a:rPr>
              <a:t># évaluation paresseuse : aucune donnée n'est lue ici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purchases = sc.</a:t>
            </a:r>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textFile</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"purchases.txt"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parsed = purchases.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map</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lambda</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l: l.split(</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"\t"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sales = parsed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map</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lambda</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f: (f[</a:t>
            </a:r>
            <a:pPr algn="l" indent="0" marL="0">
              <a:lnSpc>
                <a:spcPct val="149268"/>
              </a:lnSpc>
              <a:buNone/>
            </a:pPr>
            <a:r>
              <a:rPr lang="en-US" sz="1800" dirty="0">
                <a:solidFill>
                  <a:srgbClr val="E6C07B"/>
                </a:solidFill>
                <a:latin typeface="Courier New" pitchFamily="34" charset="0"/>
                <a:ea typeface="Courier New" pitchFamily="34" charset="-122"/>
                <a:cs typeface="Courier New" pitchFamily="34" charset="-120"/>
              </a:rPr>
              <a:t>2</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t>
            </a:r>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float</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(f[</a:t>
            </a:r>
            <a:pPr algn="l" indent="0" marL="0">
              <a:lnSpc>
                <a:spcPct val="149268"/>
              </a:lnSpc>
              <a:buNone/>
            </a:pPr>
            <a:r>
              <a:rPr lang="en-US" sz="1800" dirty="0">
                <a:solidFill>
                  <a:srgbClr val="E6C07B"/>
                </a:solidFill>
                <a:latin typeface="Courier New" pitchFamily="34" charset="0"/>
                <a:ea typeface="Courier New" pitchFamily="34" charset="-122"/>
                <a:cs typeface="Courier New" pitchFamily="34" charset="-120"/>
              </a:rPr>
              <a:t>4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reduceByKey</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lambda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 b: a + b)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sortBy</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lambda</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x: x[</a:t>
            </a:r>
            <a:pPr algn="l" indent="0" marL="0">
              <a:lnSpc>
                <a:spcPct val="149268"/>
              </a:lnSpc>
              <a:buNone/>
            </a:pPr>
            <a:r>
              <a:rPr lang="en-US" sz="1800" dirty="0">
                <a:solidFill>
                  <a:srgbClr val="E6C07B"/>
                </a:solidFill>
                <a:latin typeface="Courier New" pitchFamily="34" charset="0"/>
                <a:ea typeface="Courier New" pitchFamily="34" charset="-122"/>
                <a:cs typeface="Courier New" pitchFamily="34" charset="-120"/>
              </a:rPr>
              <a:t>1</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ascending=</a:t>
            </a:r>
            <a:pPr algn="l" indent="0" marL="0">
              <a:lnSpc>
                <a:spcPct val="149268"/>
              </a:lnSpc>
              <a:buNone/>
            </a:pPr>
            <a:r>
              <a:rPr lang="en-US" sz="1800" dirty="0">
                <a:solidFill>
                  <a:srgbClr val="B897F0"/>
                </a:solidFill>
                <a:latin typeface="Courier New" pitchFamily="34" charset="0"/>
                <a:ea typeface="Courier New" pitchFamily="34" charset="-122"/>
                <a:cs typeface="Courier New" pitchFamily="34" charset="-120"/>
              </a:rPr>
              <a:t>False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sales.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collect</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p:txBody>
      </p:sp>
      <p:sp>
        <p:nvSpPr>
          <p:cNvPr id="8" name="Text 6"/>
          <p:cNvSpPr/>
          <p:nvPr/>
        </p:nvSpPr>
        <p:spPr>
          <a:xfrm>
            <a:off x="10894021" y="4546898"/>
            <a:ext cx="136207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map</a:t>
            </a:r>
            <a:endParaRPr lang="en-US" sz="1800" dirty="0"/>
          </a:p>
        </p:txBody>
      </p:sp>
      <p:sp>
        <p:nvSpPr>
          <p:cNvPr id="9" name="Text 7"/>
          <p:cNvSpPr/>
          <p:nvPr/>
        </p:nvSpPr>
        <p:spPr>
          <a:xfrm>
            <a:off x="12284671" y="4546898"/>
            <a:ext cx="5084626" cy="704850"/>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Projette chaque ticket en paire (magasin, coût)</a:t>
            </a:r>
            <a:endParaRPr lang="en-US" sz="1875" dirty="0"/>
          </a:p>
        </p:txBody>
      </p:sp>
      <p:sp>
        <p:nvSpPr>
          <p:cNvPr id="10" name="Text 8"/>
          <p:cNvSpPr/>
          <p:nvPr/>
        </p:nvSpPr>
        <p:spPr>
          <a:xfrm>
            <a:off x="10894021" y="5442248"/>
            <a:ext cx="1391107"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reduceByKey</a:t>
            </a:r>
            <a:endParaRPr lang="en-US" sz="1800" dirty="0"/>
          </a:p>
        </p:txBody>
      </p:sp>
      <p:sp>
        <p:nvSpPr>
          <p:cNvPr id="11" name="Text 9"/>
          <p:cNvSpPr/>
          <p:nvPr/>
        </p:nvSpPr>
        <p:spPr>
          <a:xfrm>
            <a:off x="12311063" y="5442248"/>
            <a:ext cx="5057442" cy="704850"/>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Agrège les montants par magasin (= GROUP BY + SUM)</a:t>
            </a:r>
            <a:endParaRPr lang="en-US" sz="1875" dirty="0"/>
          </a:p>
        </p:txBody>
      </p:sp>
      <p:sp>
        <p:nvSpPr>
          <p:cNvPr id="12" name="Text 10"/>
          <p:cNvSpPr/>
          <p:nvPr/>
        </p:nvSpPr>
        <p:spPr>
          <a:xfrm>
            <a:off x="10894021" y="6337598"/>
            <a:ext cx="136207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sortBy</a:t>
            </a:r>
            <a:endParaRPr lang="en-US" sz="1800" dirty="0"/>
          </a:p>
        </p:txBody>
      </p:sp>
      <p:sp>
        <p:nvSpPr>
          <p:cNvPr id="13" name="Text 11"/>
          <p:cNvSpPr/>
          <p:nvPr/>
        </p:nvSpPr>
        <p:spPr>
          <a:xfrm>
            <a:off x="12284671" y="6337598"/>
            <a:ext cx="3382159" cy="371475"/>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Trie par montant décroissant</a:t>
            </a:r>
            <a:endParaRPr lang="en-US" sz="1875" dirty="0"/>
          </a:p>
        </p:txBody>
      </p:sp>
      <p:sp>
        <p:nvSpPr>
          <p:cNvPr id="14" name="Text 12"/>
          <p:cNvSpPr/>
          <p:nvPr/>
        </p:nvSpPr>
        <p:spPr>
          <a:xfrm>
            <a:off x="10894021" y="6899573"/>
            <a:ext cx="136207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collect</a:t>
            </a:r>
            <a:endParaRPr lang="en-US" sz="1800" dirty="0"/>
          </a:p>
        </p:txBody>
      </p:sp>
      <p:sp>
        <p:nvSpPr>
          <p:cNvPr id="15" name="Text 13"/>
          <p:cNvSpPr/>
          <p:nvPr/>
        </p:nvSpPr>
        <p:spPr>
          <a:xfrm>
            <a:off x="12284671" y="6899573"/>
            <a:ext cx="3853428" cy="371475"/>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8EA0B5"/>
                </a:solidFill>
                <a:latin typeface="Arial" pitchFamily="34" charset="0"/>
                <a:ea typeface="Arial" pitchFamily="34" charset="-122"/>
                <a:cs typeface="Arial" pitchFamily="34" charset="-120"/>
              </a:rPr>
              <a:t>Action : déclenche enfin le calcul</a:t>
            </a:r>
            <a:endParaRPr lang="en-US" sz="1875"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04 · PARTIE B</a:t>
            </a:r>
            <a:endParaRPr lang="en-US" sz="1800" dirty="0"/>
          </a:p>
        </p:txBody>
      </p:sp>
      <p:sp>
        <p:nvSpPr>
          <p:cNvPr id="3" name="Text 1"/>
          <p:cNvSpPr/>
          <p:nvPr/>
        </p:nvSpPr>
        <p:spPr>
          <a:xfrm>
            <a:off x="1066800" y="1314450"/>
            <a:ext cx="126797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même traitement en DataFrame</a:t>
            </a:r>
            <a:endParaRPr lang="en-US" sz="4800" dirty="0"/>
          </a:p>
        </p:txBody>
      </p:sp>
      <p:sp>
        <p:nvSpPr>
          <p:cNvPr id="4" name="Shape 2"/>
          <p:cNvSpPr/>
          <p:nvPr/>
        </p:nvSpPr>
        <p:spPr>
          <a:xfrm>
            <a:off x="1066800" y="2291259"/>
            <a:ext cx="9503371" cy="7176592"/>
          </a:xfrm>
          <a:prstGeom prst="roundRect">
            <a:avLst>
              <a:gd name="adj" fmla="val 2124"/>
            </a:avLst>
          </a:prstGeom>
          <a:solidFill>
            <a:srgbClr val="06090E"/>
          </a:solidFill>
          <a:ln w="6350">
            <a:solidFill>
              <a:srgbClr val="FFFFFF">
                <a:alpha val="10000"/>
              </a:srgbClr>
            </a:solidFill>
            <a:prstDash val="solid"/>
          </a:ln>
        </p:spPr>
      </p:sp>
      <p:sp>
        <p:nvSpPr>
          <p:cNvPr id="5" name="Shape 3"/>
          <p:cNvSpPr/>
          <p:nvPr/>
        </p:nvSpPr>
        <p:spPr>
          <a:xfrm>
            <a:off x="1073150" y="2907209"/>
            <a:ext cx="9490671" cy="9525"/>
          </a:xfrm>
          <a:prstGeom prst="rect">
            <a:avLst/>
          </a:prstGeom>
          <a:solidFill>
            <a:srgbClr val="FFFFFF">
              <a:alpha val="6000"/>
            </a:srgbClr>
          </a:solidFill>
          <a:ln/>
        </p:spPr>
      </p:sp>
      <p:sp>
        <p:nvSpPr>
          <p:cNvPr id="6" name="Text 4"/>
          <p:cNvSpPr/>
          <p:nvPr/>
        </p:nvSpPr>
        <p:spPr>
          <a:xfrm>
            <a:off x="1301750" y="2450009"/>
            <a:ext cx="931819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Zeppelin — ventes par magasin</a:t>
            </a:r>
            <a:endParaRPr lang="en-US" sz="1800" dirty="0"/>
          </a:p>
        </p:txBody>
      </p:sp>
      <p:sp>
        <p:nvSpPr>
          <p:cNvPr id="7" name="Text 5"/>
          <p:cNvSpPr/>
          <p:nvPr/>
        </p:nvSpPr>
        <p:spPr>
          <a:xfrm>
            <a:off x="1358900" y="3161209"/>
            <a:ext cx="9203891" cy="3923506"/>
          </a:xfrm>
          <a:prstGeom prst="rect">
            <a:avLst/>
          </a:prstGeom>
          <a:noFill/>
          <a:ln/>
        </p:spPr>
        <p:txBody>
          <a:bodyPr wrap="none" lIns="25400" tIns="25400" rIns="25400" bIns="25400" rtlCol="0" anchor="t">
            <a:normAutofit/>
          </a:bodyPr>
          <a:lstStyle/>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schema =  </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"pdate DATE, ptime STRING, store STRING,</a:t>
            </a:r>
            <a:endParaRPr lang="en-US" sz="1800" dirty="0"/>
          </a:p>
          <a:p>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  product STRING, cost DOUBLE, payment STRING"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df = spark.read.</a:t>
            </a:r>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csv</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"purchases.txt"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sep= </a:t>
            </a:r>
            <a:endParaRPr lang="en-US" sz="1800" dirty="0"/>
          </a:p>
          <a:p>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"\t"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schema=schema)</a:t>
            </a:r>
            <a:endParaRPr lang="en-US" sz="1800" dirty="0"/>
          </a:p>
          <a:p>
            <a:pPr algn="l" indent="0" marL="0">
              <a:lnSpc>
                <a:spcPct val="149268"/>
              </a:lnSpc>
              <a:buNone/>
            </a:pP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df.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groupBy</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"store"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agg</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_sum</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"cost"</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).alias(</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"total"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orderBy</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(col(</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"total"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).desc())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show</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p:txBody>
      </p:sp>
      <p:sp>
        <p:nvSpPr>
          <p:cNvPr id="8" name="Text 6"/>
          <p:cNvSpPr/>
          <p:nvPr/>
        </p:nvSpPr>
        <p:spPr>
          <a:xfrm>
            <a:off x="10894021" y="4377333"/>
            <a:ext cx="6959898" cy="410468"/>
          </a:xfrm>
          <a:prstGeom prst="rect">
            <a:avLst/>
          </a:prstGeom>
          <a:noFill/>
          <a:ln/>
        </p:spPr>
        <p:txBody>
          <a:bodyPr wrap="square" lIns="25400" tIns="25400" rIns="25400" bIns="25400" rtlCol="0" anchor="t">
            <a:normAutofit/>
          </a:bodyPr>
          <a:lstStyle/>
          <a:p>
            <a:pPr algn="l" indent="0" marL="0">
              <a:lnSpc>
                <a:spcPct val="99407"/>
              </a:lnSpc>
              <a:buNone/>
            </a:pPr>
            <a:r>
              <a:rPr lang="en-US" sz="2550" b="1" dirty="0">
                <a:solidFill>
                  <a:srgbClr val="EEF3F9"/>
                </a:solidFill>
                <a:latin typeface="Arial" pitchFamily="34" charset="0"/>
                <a:ea typeface="Arial" pitchFamily="34" charset="-122"/>
                <a:cs typeface="Arial" pitchFamily="34" charset="-120"/>
              </a:rPr>
              <a:t>Un niveau d’abstraction supérieur</a:t>
            </a:r>
            <a:endParaRPr lang="en-US" sz="2550" dirty="0"/>
          </a:p>
        </p:txBody>
      </p:sp>
      <p:sp>
        <p:nvSpPr>
          <p:cNvPr id="9" name="Text 7"/>
          <p:cNvSpPr/>
          <p:nvPr/>
        </p:nvSpPr>
        <p:spPr>
          <a:xfrm>
            <a:off x="10894021" y="4997351"/>
            <a:ext cx="6516995" cy="9525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Une syntaxe proche du SQL, sans manipuler explicitement des paires clé-valeur.</a:t>
            </a:r>
            <a:endParaRPr lang="en-US" sz="2400" dirty="0"/>
          </a:p>
        </p:txBody>
      </p:sp>
      <p:sp>
        <p:nvSpPr>
          <p:cNvPr id="10" name="Shape 8"/>
          <p:cNvSpPr/>
          <p:nvPr/>
        </p:nvSpPr>
        <p:spPr>
          <a:xfrm>
            <a:off x="10894021" y="6159401"/>
            <a:ext cx="6327180" cy="1222375"/>
          </a:xfrm>
          <a:prstGeom prst="roundRect">
            <a:avLst>
              <a:gd name="adj" fmla="val 10909"/>
            </a:avLst>
          </a:prstGeom>
          <a:solidFill>
            <a:srgbClr val="FFFFFF">
              <a:alpha val="3000"/>
            </a:srgbClr>
          </a:solidFill>
          <a:ln w="6350">
            <a:solidFill>
              <a:srgbClr val="82E3E3">
                <a:alpha val="35000"/>
              </a:srgbClr>
            </a:solidFill>
            <a:prstDash val="solid"/>
          </a:ln>
        </p:spPr>
      </p:sp>
      <p:sp>
        <p:nvSpPr>
          <p:cNvPr id="11" name="Text 9"/>
          <p:cNvSpPr/>
          <p:nvPr/>
        </p:nvSpPr>
        <p:spPr>
          <a:xfrm>
            <a:off x="11186121" y="6413401"/>
            <a:ext cx="5932795" cy="752475"/>
          </a:xfrm>
          <a:prstGeom prst="rect">
            <a:avLst/>
          </a:prstGeom>
          <a:noFill/>
          <a:ln/>
        </p:spPr>
        <p:txBody>
          <a:bodyPr wrap="square" lIns="25400" tIns="25400" rIns="25400" bIns="25400" rtlCol="0" anchor="t">
            <a:normAutofit/>
          </a:bodyPr>
          <a:lstStyle/>
          <a:p>
            <a:pPr algn="l" indent="0" marL="0">
              <a:lnSpc>
                <a:spcPct val="130814"/>
              </a:lnSpc>
              <a:buNone/>
            </a:pPr>
            <a:r>
              <a:rPr lang="en-US" sz="1875" dirty="0">
                <a:solidFill>
                  <a:srgbClr val="8EA0B5"/>
                </a:solidFill>
                <a:latin typeface="Arial" pitchFamily="34" charset="0"/>
                <a:ea typeface="Arial" pitchFamily="34" charset="-122"/>
                <a:cs typeface="Arial" pitchFamily="34" charset="-120"/>
              </a:rPr>
              <a:t>Résultat </a:t>
            </a:r>
            <a:pPr algn="l" indent="0" marL="0">
              <a:lnSpc>
                <a:spcPct val="130814"/>
              </a:lnSpc>
              <a:buNone/>
            </a:pPr>
            <a:r>
              <a:rPr lang="en-US" sz="1875" dirty="0">
                <a:solidFill>
                  <a:srgbClr val="EEF3F9"/>
                </a:solidFill>
                <a:latin typeface="Arial" pitchFamily="34" charset="0"/>
                <a:ea typeface="Arial" pitchFamily="34" charset="-122"/>
                <a:cs typeface="Arial" pitchFamily="34" charset="-120"/>
              </a:rPr>
              <a:t>strictement identique </a:t>
            </a:r>
            <a:pPr algn="l" indent="0" marL="0">
              <a:lnSpc>
                <a:spcPct val="130814"/>
              </a:lnSpc>
              <a:buNone/>
            </a:pPr>
            <a:r>
              <a:rPr lang="en-US" sz="1875" dirty="0">
                <a:solidFill>
                  <a:srgbClr val="8EA0B5"/>
                </a:solidFill>
                <a:latin typeface="Arial" pitchFamily="34" charset="0"/>
                <a:ea typeface="Arial" pitchFamily="34" charset="-122"/>
                <a:cs typeface="Arial" pitchFamily="34" charset="-120"/>
              </a:rPr>
              <a:t>au RDD — optimisé automatiquement par le moteur Catalyst.</a:t>
            </a:r>
            <a:endParaRPr lang="en-US" sz="1875"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56DBDB"/>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56DBDB"/>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3362430" cy="342900"/>
          </a:xfrm>
          <a:prstGeom prst="rect">
            <a:avLst/>
          </a:prstGeom>
          <a:noFill/>
          <a:ln/>
        </p:spPr>
        <p:txBody>
          <a:bodyPr wrap="square" lIns="0" tIns="0" rIns="0" bIns="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QUIZ · ATELIER 04</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Apache Spark</a:t>
            </a:r>
            <a:endParaRPr lang="en-US" sz="4800" dirty="0"/>
          </a:p>
        </p:txBody>
      </p:sp>
      <p:sp>
        <p:nvSpPr>
          <p:cNvPr id="6" name="Text 4"/>
          <p:cNvSpPr/>
          <p:nvPr/>
        </p:nvSpPr>
        <p:spPr>
          <a:xfrm>
            <a:off x="106680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Pourquoi Spark est-il souvent plus rapide que MapReduce ?</a:t>
            </a:r>
            <a:endParaRPr lang="en-US" sz="2175" dirty="0"/>
          </a:p>
        </p:txBody>
      </p:sp>
      <p:sp>
        <p:nvSpPr>
          <p:cNvPr id="7" name="Shape 5"/>
          <p:cNvSpPr/>
          <p:nvPr/>
        </p:nvSpPr>
        <p:spPr>
          <a:xfrm>
            <a:off x="106680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8" name="Shape 6"/>
          <p:cNvSpPr/>
          <p:nvPr/>
        </p:nvSpPr>
        <p:spPr>
          <a:xfrm>
            <a:off x="1282700" y="3200499"/>
            <a:ext cx="323850" cy="323850"/>
          </a:xfrm>
          <a:prstGeom prst="roundRect">
            <a:avLst>
              <a:gd name="adj" fmla="val 23529"/>
            </a:avLst>
          </a:prstGeom>
          <a:solidFill>
            <a:srgbClr val="FFFFFF">
              <a:alpha val="6000"/>
            </a:srgbClr>
          </a:solidFill>
          <a:ln/>
        </p:spPr>
      </p:sp>
      <p:sp>
        <p:nvSpPr>
          <p:cNvPr id="9" name="Text 7"/>
          <p:cNvSpPr/>
          <p:nvPr/>
        </p:nvSpPr>
        <p:spPr>
          <a:xfrm>
            <a:off x="124460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10" name="Text 8"/>
          <p:cNvSpPr/>
          <p:nvPr/>
        </p:nvSpPr>
        <p:spPr>
          <a:xfrm>
            <a:off x="1758950" y="3210024"/>
            <a:ext cx="7346583"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utilise principalement la mémoire (RAM) pour l'intermédiaire</a:t>
            </a:r>
            <a:endParaRPr lang="en-US" sz="1875" dirty="0"/>
          </a:p>
        </p:txBody>
      </p:sp>
      <p:sp>
        <p:nvSpPr>
          <p:cNvPr id="11" name="Shape 9"/>
          <p:cNvSpPr/>
          <p:nvPr/>
        </p:nvSpPr>
        <p:spPr>
          <a:xfrm>
            <a:off x="106680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2" name="Shape 10"/>
          <p:cNvSpPr/>
          <p:nvPr/>
        </p:nvSpPr>
        <p:spPr>
          <a:xfrm>
            <a:off x="1282700" y="4013299"/>
            <a:ext cx="323850" cy="323850"/>
          </a:xfrm>
          <a:prstGeom prst="roundRect">
            <a:avLst>
              <a:gd name="adj" fmla="val 23529"/>
            </a:avLst>
          </a:prstGeom>
          <a:solidFill>
            <a:srgbClr val="FFFFFF">
              <a:alpha val="6000"/>
            </a:srgbClr>
          </a:solidFill>
          <a:ln/>
        </p:spPr>
      </p:sp>
      <p:sp>
        <p:nvSpPr>
          <p:cNvPr id="13" name="Text 11"/>
          <p:cNvSpPr/>
          <p:nvPr/>
        </p:nvSpPr>
        <p:spPr>
          <a:xfrm>
            <a:off x="124460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14" name="Text 12"/>
          <p:cNvSpPr/>
          <p:nvPr/>
        </p:nvSpPr>
        <p:spPr>
          <a:xfrm>
            <a:off x="1758950" y="4022824"/>
            <a:ext cx="2326332"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remplace Hadoop</a:t>
            </a:r>
            <a:endParaRPr lang="en-US" sz="1875" dirty="0"/>
          </a:p>
        </p:txBody>
      </p:sp>
      <p:sp>
        <p:nvSpPr>
          <p:cNvPr id="15" name="Shape 13"/>
          <p:cNvSpPr/>
          <p:nvPr/>
        </p:nvSpPr>
        <p:spPr>
          <a:xfrm>
            <a:off x="1066800" y="46482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6" name="Shape 14"/>
          <p:cNvSpPr/>
          <p:nvPr/>
        </p:nvSpPr>
        <p:spPr>
          <a:xfrm>
            <a:off x="1282700" y="4826099"/>
            <a:ext cx="323850" cy="323850"/>
          </a:xfrm>
          <a:prstGeom prst="roundRect">
            <a:avLst>
              <a:gd name="adj" fmla="val 23529"/>
            </a:avLst>
          </a:prstGeom>
          <a:solidFill>
            <a:srgbClr val="FFFFFF">
              <a:alpha val="6000"/>
            </a:srgbClr>
          </a:solidFill>
          <a:ln/>
        </p:spPr>
      </p:sp>
      <p:sp>
        <p:nvSpPr>
          <p:cNvPr id="17" name="Text 15"/>
          <p:cNvSpPr/>
          <p:nvPr/>
        </p:nvSpPr>
        <p:spPr>
          <a:xfrm>
            <a:off x="1244600" y="48260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18" name="Text 16"/>
          <p:cNvSpPr/>
          <p:nvPr/>
        </p:nvSpPr>
        <p:spPr>
          <a:xfrm>
            <a:off x="1758950" y="4835624"/>
            <a:ext cx="332224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utilise uniquement Python</a:t>
            </a:r>
            <a:endParaRPr lang="en-US" sz="1875" dirty="0"/>
          </a:p>
        </p:txBody>
      </p:sp>
      <p:sp>
        <p:nvSpPr>
          <p:cNvPr id="19" name="Shape 17"/>
          <p:cNvSpPr/>
          <p:nvPr/>
        </p:nvSpPr>
        <p:spPr>
          <a:xfrm>
            <a:off x="1066800" y="54610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0" name="Shape 18"/>
          <p:cNvSpPr/>
          <p:nvPr/>
        </p:nvSpPr>
        <p:spPr>
          <a:xfrm>
            <a:off x="1282700" y="5638899"/>
            <a:ext cx="323850" cy="323850"/>
          </a:xfrm>
          <a:prstGeom prst="roundRect">
            <a:avLst>
              <a:gd name="adj" fmla="val 23529"/>
            </a:avLst>
          </a:prstGeom>
          <a:solidFill>
            <a:srgbClr val="FFFFFF">
              <a:alpha val="6000"/>
            </a:srgbClr>
          </a:solidFill>
          <a:ln/>
        </p:spPr>
      </p:sp>
      <p:sp>
        <p:nvSpPr>
          <p:cNvPr id="21" name="Text 19"/>
          <p:cNvSpPr/>
          <p:nvPr/>
        </p:nvSpPr>
        <p:spPr>
          <a:xfrm>
            <a:off x="1244600" y="56388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22" name="Text 20"/>
          <p:cNvSpPr/>
          <p:nvPr/>
        </p:nvSpPr>
        <p:spPr>
          <a:xfrm>
            <a:off x="1758950" y="5648424"/>
            <a:ext cx="2779703"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ne lit pas les données</a:t>
            </a:r>
            <a:endParaRPr lang="en-US" sz="1875" dirty="0"/>
          </a:p>
        </p:txBody>
      </p:sp>
      <p:sp>
        <p:nvSpPr>
          <p:cNvPr id="23" name="Text 21"/>
          <p:cNvSpPr/>
          <p:nvPr/>
        </p:nvSpPr>
        <p:spPr>
          <a:xfrm>
            <a:off x="935355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PySpark est…</a:t>
            </a:r>
            <a:endParaRPr lang="en-US" sz="2175" dirty="0"/>
          </a:p>
        </p:txBody>
      </p:sp>
      <p:sp>
        <p:nvSpPr>
          <p:cNvPr id="24" name="Shape 22"/>
          <p:cNvSpPr/>
          <p:nvPr/>
        </p:nvSpPr>
        <p:spPr>
          <a:xfrm>
            <a:off x="935355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5" name="Shape 23"/>
          <p:cNvSpPr/>
          <p:nvPr/>
        </p:nvSpPr>
        <p:spPr>
          <a:xfrm>
            <a:off x="9569450" y="3200499"/>
            <a:ext cx="323850" cy="323850"/>
          </a:xfrm>
          <a:prstGeom prst="roundRect">
            <a:avLst>
              <a:gd name="adj" fmla="val 23529"/>
            </a:avLst>
          </a:prstGeom>
          <a:solidFill>
            <a:srgbClr val="FFFFFF">
              <a:alpha val="6000"/>
            </a:srgbClr>
          </a:solidFill>
          <a:ln/>
        </p:spPr>
      </p:sp>
      <p:sp>
        <p:nvSpPr>
          <p:cNvPr id="26" name="Text 24"/>
          <p:cNvSpPr/>
          <p:nvPr/>
        </p:nvSpPr>
        <p:spPr>
          <a:xfrm>
            <a:off x="953135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27" name="Text 25"/>
          <p:cNvSpPr/>
          <p:nvPr/>
        </p:nvSpPr>
        <p:spPr>
          <a:xfrm>
            <a:off x="10045701" y="3210024"/>
            <a:ext cx="79682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 IDE</a:t>
            </a:r>
            <a:endParaRPr lang="en-US" sz="1875" dirty="0"/>
          </a:p>
        </p:txBody>
      </p:sp>
      <p:sp>
        <p:nvSpPr>
          <p:cNvPr id="28" name="Shape 26"/>
          <p:cNvSpPr/>
          <p:nvPr/>
        </p:nvSpPr>
        <p:spPr>
          <a:xfrm>
            <a:off x="9353550" y="38354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9" name="Shape 27"/>
          <p:cNvSpPr/>
          <p:nvPr/>
        </p:nvSpPr>
        <p:spPr>
          <a:xfrm>
            <a:off x="9569450" y="4013299"/>
            <a:ext cx="323850" cy="323850"/>
          </a:xfrm>
          <a:prstGeom prst="roundRect">
            <a:avLst>
              <a:gd name="adj" fmla="val 23529"/>
            </a:avLst>
          </a:prstGeom>
          <a:solidFill>
            <a:srgbClr val="FFFFFF">
              <a:alpha val="6000"/>
            </a:srgbClr>
          </a:solidFill>
          <a:ln/>
        </p:spPr>
      </p:sp>
      <p:sp>
        <p:nvSpPr>
          <p:cNvPr id="30" name="Text 28"/>
          <p:cNvSpPr/>
          <p:nvPr/>
        </p:nvSpPr>
        <p:spPr>
          <a:xfrm>
            <a:off x="9531350" y="40132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31" name="Text 29"/>
          <p:cNvSpPr/>
          <p:nvPr/>
        </p:nvSpPr>
        <p:spPr>
          <a:xfrm>
            <a:off x="10045701" y="4022824"/>
            <a:ext cx="6035914"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bibliothèque Python pour utiliser Apache Spark</a:t>
            </a:r>
            <a:endParaRPr lang="en-US" sz="1875" dirty="0"/>
          </a:p>
        </p:txBody>
      </p:sp>
      <p:sp>
        <p:nvSpPr>
          <p:cNvPr id="32" name="Shape 30"/>
          <p:cNvSpPr/>
          <p:nvPr/>
        </p:nvSpPr>
        <p:spPr>
          <a:xfrm>
            <a:off x="9353550" y="46482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3" name="Shape 31"/>
          <p:cNvSpPr/>
          <p:nvPr/>
        </p:nvSpPr>
        <p:spPr>
          <a:xfrm>
            <a:off x="9569450" y="4826099"/>
            <a:ext cx="323850" cy="323850"/>
          </a:xfrm>
          <a:prstGeom prst="roundRect">
            <a:avLst>
              <a:gd name="adj" fmla="val 23529"/>
            </a:avLst>
          </a:prstGeom>
          <a:solidFill>
            <a:srgbClr val="FFFFFF">
              <a:alpha val="6000"/>
            </a:srgbClr>
          </a:solidFill>
          <a:ln/>
        </p:spPr>
      </p:sp>
      <p:sp>
        <p:nvSpPr>
          <p:cNvPr id="34" name="Text 32"/>
          <p:cNvSpPr/>
          <p:nvPr/>
        </p:nvSpPr>
        <p:spPr>
          <a:xfrm>
            <a:off x="9531350" y="48260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35" name="Text 33"/>
          <p:cNvSpPr/>
          <p:nvPr/>
        </p:nvSpPr>
        <p:spPr>
          <a:xfrm>
            <a:off x="10045701" y="4835624"/>
            <a:ext cx="2497138"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base de données</a:t>
            </a:r>
            <a:endParaRPr lang="en-US" sz="1875" dirty="0"/>
          </a:p>
        </p:txBody>
      </p:sp>
      <p:sp>
        <p:nvSpPr>
          <p:cNvPr id="36" name="Shape 34"/>
          <p:cNvSpPr/>
          <p:nvPr/>
        </p:nvSpPr>
        <p:spPr>
          <a:xfrm>
            <a:off x="9353550" y="54610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7" name="Shape 35"/>
          <p:cNvSpPr/>
          <p:nvPr/>
        </p:nvSpPr>
        <p:spPr>
          <a:xfrm>
            <a:off x="9569450" y="5638899"/>
            <a:ext cx="323850" cy="323850"/>
          </a:xfrm>
          <a:prstGeom prst="roundRect">
            <a:avLst>
              <a:gd name="adj" fmla="val 23529"/>
            </a:avLst>
          </a:prstGeom>
          <a:solidFill>
            <a:srgbClr val="FFFFFF">
              <a:alpha val="6000"/>
            </a:srgbClr>
          </a:solidFill>
          <a:ln/>
        </p:spPr>
      </p:sp>
      <p:sp>
        <p:nvSpPr>
          <p:cNvPr id="38" name="Text 36"/>
          <p:cNvSpPr/>
          <p:nvPr/>
        </p:nvSpPr>
        <p:spPr>
          <a:xfrm>
            <a:off x="9531350" y="56388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39" name="Text 37"/>
          <p:cNvSpPr/>
          <p:nvPr/>
        </p:nvSpPr>
        <p:spPr>
          <a:xfrm>
            <a:off x="10045701" y="5648424"/>
            <a:ext cx="2446824"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 conteneur Docker</a:t>
            </a:r>
            <a:endParaRPr lang="en-US" sz="1875"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56DBDB"/>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56DBDB"/>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4549122" cy="342900"/>
          </a:xfrm>
          <a:prstGeom prst="rect">
            <a:avLst/>
          </a:prstGeom>
          <a:noFill/>
          <a:ln/>
        </p:spPr>
        <p:txBody>
          <a:bodyPr wrap="square" lIns="0" tIns="0" rIns="0" bIns="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CORRECTION · ATELIER 04</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Apache Spark</a:t>
            </a:r>
            <a:endParaRPr lang="en-US" sz="4800" dirty="0"/>
          </a:p>
        </p:txBody>
      </p:sp>
      <p:sp>
        <p:nvSpPr>
          <p:cNvPr id="6" name="Text 4"/>
          <p:cNvSpPr/>
          <p:nvPr/>
        </p:nvSpPr>
        <p:spPr>
          <a:xfrm>
            <a:off x="106680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Pourquoi Spark est-il souvent plus rapide que MapReduce ?</a:t>
            </a:r>
            <a:endParaRPr lang="en-US" sz="2175" dirty="0"/>
          </a:p>
        </p:txBody>
      </p:sp>
      <p:sp>
        <p:nvSpPr>
          <p:cNvPr id="7" name="Shape 5"/>
          <p:cNvSpPr/>
          <p:nvPr/>
        </p:nvSpPr>
        <p:spPr>
          <a:xfrm>
            <a:off x="1066800" y="3022699"/>
            <a:ext cx="7867650" cy="965200"/>
          </a:xfrm>
          <a:prstGeom prst="roundRect">
            <a:avLst>
              <a:gd name="adj" fmla="val 11842"/>
            </a:avLst>
          </a:prstGeom>
          <a:solidFill>
            <a:srgbClr val="FFFFFF">
              <a:alpha val="3000"/>
            </a:srgbClr>
          </a:solidFill>
          <a:ln w="6350">
            <a:solidFill>
              <a:srgbClr val="73E0E0">
                <a:alpha val="48000"/>
              </a:srgbClr>
            </a:solidFill>
            <a:prstDash val="solid"/>
          </a:ln>
        </p:spPr>
      </p:sp>
      <p:sp>
        <p:nvSpPr>
          <p:cNvPr id="8" name="Shape 6"/>
          <p:cNvSpPr/>
          <p:nvPr/>
        </p:nvSpPr>
        <p:spPr>
          <a:xfrm>
            <a:off x="1282700" y="3343374"/>
            <a:ext cx="321171" cy="323850"/>
          </a:xfrm>
          <a:prstGeom prst="roundRect">
            <a:avLst>
              <a:gd name="adj" fmla="val 23726"/>
            </a:avLst>
          </a:prstGeom>
          <a:solidFill>
            <a:srgbClr val="56DBDB"/>
          </a:solidFill>
          <a:ln/>
        </p:spPr>
      </p:sp>
      <p:sp>
        <p:nvSpPr>
          <p:cNvPr id="9" name="Text 7"/>
          <p:cNvSpPr/>
          <p:nvPr/>
        </p:nvSpPr>
        <p:spPr>
          <a:xfrm>
            <a:off x="1244600" y="3343374"/>
            <a:ext cx="397371"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04070C"/>
                </a:solidFill>
                <a:latin typeface="Arial" pitchFamily="34" charset="0"/>
                <a:ea typeface="Arial" pitchFamily="34" charset="-122"/>
                <a:cs typeface="Arial" pitchFamily="34" charset="-120"/>
              </a:rPr>
              <a:t>A</a:t>
            </a:r>
            <a:endParaRPr lang="en-US" sz="1875" dirty="0"/>
          </a:p>
        </p:txBody>
      </p:sp>
      <p:sp>
        <p:nvSpPr>
          <p:cNvPr id="10" name="Text 8"/>
          <p:cNvSpPr/>
          <p:nvPr/>
        </p:nvSpPr>
        <p:spPr>
          <a:xfrm>
            <a:off x="1756271" y="3200499"/>
            <a:ext cx="6823070" cy="64770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Arial" pitchFamily="34" charset="0"/>
                <a:ea typeface="Arial" pitchFamily="34" charset="-122"/>
                <a:cs typeface="Arial" pitchFamily="34" charset="-120"/>
              </a:rPr>
              <a:t>Il utilise principalement la mémoire (RAM) pour l'intermédiaire</a:t>
            </a:r>
            <a:endParaRPr lang="en-US" sz="1875" dirty="0"/>
          </a:p>
        </p:txBody>
      </p:sp>
      <p:sp>
        <p:nvSpPr>
          <p:cNvPr id="11" name="Text 9"/>
          <p:cNvSpPr/>
          <p:nvPr/>
        </p:nvSpPr>
        <p:spPr>
          <a:xfrm>
            <a:off x="8533011" y="3337024"/>
            <a:ext cx="261739" cy="3746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12" name="Shape 10"/>
          <p:cNvSpPr/>
          <p:nvPr/>
        </p:nvSpPr>
        <p:spPr>
          <a:xfrm>
            <a:off x="1066800" y="412124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3" name="Shape 11"/>
          <p:cNvSpPr/>
          <p:nvPr/>
        </p:nvSpPr>
        <p:spPr>
          <a:xfrm>
            <a:off x="1282700" y="4299049"/>
            <a:ext cx="323850" cy="323850"/>
          </a:xfrm>
          <a:prstGeom prst="roundRect">
            <a:avLst>
              <a:gd name="adj" fmla="val 23529"/>
            </a:avLst>
          </a:prstGeom>
          <a:solidFill>
            <a:srgbClr val="FFFFFF">
              <a:alpha val="6000"/>
            </a:srgbClr>
          </a:solidFill>
          <a:ln/>
        </p:spPr>
      </p:sp>
      <p:sp>
        <p:nvSpPr>
          <p:cNvPr id="14" name="Text 12"/>
          <p:cNvSpPr/>
          <p:nvPr/>
        </p:nvSpPr>
        <p:spPr>
          <a:xfrm>
            <a:off x="1244600" y="42990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B</a:t>
            </a:r>
            <a:endParaRPr lang="en-US" sz="1875" dirty="0"/>
          </a:p>
        </p:txBody>
      </p:sp>
      <p:sp>
        <p:nvSpPr>
          <p:cNvPr id="15" name="Text 13"/>
          <p:cNvSpPr/>
          <p:nvPr/>
        </p:nvSpPr>
        <p:spPr>
          <a:xfrm>
            <a:off x="1758950" y="4308574"/>
            <a:ext cx="2326332"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remplace Hadoop</a:t>
            </a:r>
            <a:endParaRPr lang="en-US" sz="1875" dirty="0"/>
          </a:p>
        </p:txBody>
      </p:sp>
      <p:sp>
        <p:nvSpPr>
          <p:cNvPr id="16" name="Shape 14"/>
          <p:cNvSpPr/>
          <p:nvPr/>
        </p:nvSpPr>
        <p:spPr>
          <a:xfrm>
            <a:off x="1066800" y="493404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17" name="Shape 15"/>
          <p:cNvSpPr/>
          <p:nvPr/>
        </p:nvSpPr>
        <p:spPr>
          <a:xfrm>
            <a:off x="1282700" y="5111850"/>
            <a:ext cx="323850" cy="323850"/>
          </a:xfrm>
          <a:prstGeom prst="roundRect">
            <a:avLst>
              <a:gd name="adj" fmla="val 23529"/>
            </a:avLst>
          </a:prstGeom>
          <a:solidFill>
            <a:srgbClr val="FFFFFF">
              <a:alpha val="6000"/>
            </a:srgbClr>
          </a:solidFill>
          <a:ln/>
        </p:spPr>
      </p:sp>
      <p:sp>
        <p:nvSpPr>
          <p:cNvPr id="18" name="Text 16"/>
          <p:cNvSpPr/>
          <p:nvPr/>
        </p:nvSpPr>
        <p:spPr>
          <a:xfrm>
            <a:off x="1244600" y="5111850"/>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19" name="Text 17"/>
          <p:cNvSpPr/>
          <p:nvPr/>
        </p:nvSpPr>
        <p:spPr>
          <a:xfrm>
            <a:off x="1758950" y="5121375"/>
            <a:ext cx="3322241"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utilise uniquement Python</a:t>
            </a:r>
            <a:endParaRPr lang="en-US" sz="1875" dirty="0"/>
          </a:p>
        </p:txBody>
      </p:sp>
      <p:sp>
        <p:nvSpPr>
          <p:cNvPr id="20" name="Shape 18"/>
          <p:cNvSpPr/>
          <p:nvPr/>
        </p:nvSpPr>
        <p:spPr>
          <a:xfrm>
            <a:off x="1066800" y="574684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1" name="Shape 19"/>
          <p:cNvSpPr/>
          <p:nvPr/>
        </p:nvSpPr>
        <p:spPr>
          <a:xfrm>
            <a:off x="1282700" y="5924649"/>
            <a:ext cx="323850" cy="323850"/>
          </a:xfrm>
          <a:prstGeom prst="roundRect">
            <a:avLst>
              <a:gd name="adj" fmla="val 23529"/>
            </a:avLst>
          </a:prstGeom>
          <a:solidFill>
            <a:srgbClr val="FFFFFF">
              <a:alpha val="6000"/>
            </a:srgbClr>
          </a:solidFill>
          <a:ln/>
        </p:spPr>
      </p:sp>
      <p:sp>
        <p:nvSpPr>
          <p:cNvPr id="22" name="Text 20"/>
          <p:cNvSpPr/>
          <p:nvPr/>
        </p:nvSpPr>
        <p:spPr>
          <a:xfrm>
            <a:off x="1244600" y="59246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23" name="Text 21"/>
          <p:cNvSpPr/>
          <p:nvPr/>
        </p:nvSpPr>
        <p:spPr>
          <a:xfrm>
            <a:off x="1758950" y="5934174"/>
            <a:ext cx="2779703"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Il ne lit pas les données</a:t>
            </a:r>
            <a:endParaRPr lang="en-US" sz="1875" dirty="0"/>
          </a:p>
        </p:txBody>
      </p:sp>
      <p:sp>
        <p:nvSpPr>
          <p:cNvPr id="24" name="Text 22"/>
          <p:cNvSpPr/>
          <p:nvPr/>
        </p:nvSpPr>
        <p:spPr>
          <a:xfrm>
            <a:off x="9353550" y="2481759"/>
            <a:ext cx="865441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dirty="0">
                <a:solidFill>
                  <a:srgbClr val="EEF3F9"/>
                </a:solidFill>
                <a:latin typeface="Arial" pitchFamily="34" charset="0"/>
                <a:ea typeface="Arial" pitchFamily="34" charset="-122"/>
                <a:cs typeface="Arial" pitchFamily="34" charset="-120"/>
              </a:rPr>
              <a:t>PySpark est…</a:t>
            </a:r>
            <a:endParaRPr lang="en-US" sz="2175" dirty="0"/>
          </a:p>
        </p:txBody>
      </p:sp>
      <p:sp>
        <p:nvSpPr>
          <p:cNvPr id="25" name="Shape 23"/>
          <p:cNvSpPr/>
          <p:nvPr/>
        </p:nvSpPr>
        <p:spPr>
          <a:xfrm>
            <a:off x="9353550" y="30226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26" name="Shape 24"/>
          <p:cNvSpPr/>
          <p:nvPr/>
        </p:nvSpPr>
        <p:spPr>
          <a:xfrm>
            <a:off x="9569450" y="3200499"/>
            <a:ext cx="323850" cy="323850"/>
          </a:xfrm>
          <a:prstGeom prst="roundRect">
            <a:avLst>
              <a:gd name="adj" fmla="val 23529"/>
            </a:avLst>
          </a:prstGeom>
          <a:solidFill>
            <a:srgbClr val="FFFFFF">
              <a:alpha val="6000"/>
            </a:srgbClr>
          </a:solidFill>
          <a:ln/>
        </p:spPr>
      </p:sp>
      <p:sp>
        <p:nvSpPr>
          <p:cNvPr id="27" name="Text 25"/>
          <p:cNvSpPr/>
          <p:nvPr/>
        </p:nvSpPr>
        <p:spPr>
          <a:xfrm>
            <a:off x="9531350" y="32004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A</a:t>
            </a:r>
            <a:endParaRPr lang="en-US" sz="1875" dirty="0"/>
          </a:p>
        </p:txBody>
      </p:sp>
      <p:sp>
        <p:nvSpPr>
          <p:cNvPr id="28" name="Text 26"/>
          <p:cNvSpPr/>
          <p:nvPr/>
        </p:nvSpPr>
        <p:spPr>
          <a:xfrm>
            <a:off x="10045701" y="3210024"/>
            <a:ext cx="796826"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 IDE</a:t>
            </a:r>
            <a:endParaRPr lang="en-US" sz="1875" dirty="0"/>
          </a:p>
        </p:txBody>
      </p:sp>
      <p:sp>
        <p:nvSpPr>
          <p:cNvPr id="29" name="Shape 27"/>
          <p:cNvSpPr/>
          <p:nvPr/>
        </p:nvSpPr>
        <p:spPr>
          <a:xfrm>
            <a:off x="9353550" y="3835499"/>
            <a:ext cx="7867650" cy="692150"/>
          </a:xfrm>
          <a:prstGeom prst="roundRect">
            <a:avLst>
              <a:gd name="adj" fmla="val 16514"/>
            </a:avLst>
          </a:prstGeom>
          <a:solidFill>
            <a:srgbClr val="FFFFFF">
              <a:alpha val="3000"/>
            </a:srgbClr>
          </a:solidFill>
          <a:ln w="6350">
            <a:solidFill>
              <a:srgbClr val="73E0E0">
                <a:alpha val="48000"/>
              </a:srgbClr>
            </a:solidFill>
            <a:prstDash val="solid"/>
          </a:ln>
        </p:spPr>
      </p:sp>
      <p:sp>
        <p:nvSpPr>
          <p:cNvPr id="30" name="Shape 28"/>
          <p:cNvSpPr/>
          <p:nvPr/>
        </p:nvSpPr>
        <p:spPr>
          <a:xfrm>
            <a:off x="9569450" y="4019649"/>
            <a:ext cx="323850" cy="323850"/>
          </a:xfrm>
          <a:prstGeom prst="roundRect">
            <a:avLst>
              <a:gd name="adj" fmla="val 23529"/>
            </a:avLst>
          </a:prstGeom>
          <a:solidFill>
            <a:srgbClr val="56DBDB"/>
          </a:solidFill>
          <a:ln/>
        </p:spPr>
      </p:sp>
      <p:sp>
        <p:nvSpPr>
          <p:cNvPr id="31" name="Text 29"/>
          <p:cNvSpPr/>
          <p:nvPr/>
        </p:nvSpPr>
        <p:spPr>
          <a:xfrm>
            <a:off x="9531350" y="401964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04070C"/>
                </a:solidFill>
                <a:latin typeface="Arial" pitchFamily="34" charset="0"/>
                <a:ea typeface="Arial" pitchFamily="34" charset="-122"/>
                <a:cs typeface="Arial" pitchFamily="34" charset="-120"/>
              </a:rPr>
              <a:t>B</a:t>
            </a:r>
            <a:endParaRPr lang="en-US" sz="1875" dirty="0"/>
          </a:p>
        </p:txBody>
      </p:sp>
      <p:sp>
        <p:nvSpPr>
          <p:cNvPr id="32" name="Text 30"/>
          <p:cNvSpPr/>
          <p:nvPr/>
        </p:nvSpPr>
        <p:spPr>
          <a:xfrm>
            <a:off x="10045701" y="4029174"/>
            <a:ext cx="6035914" cy="342900"/>
          </a:xfrm>
          <a:prstGeom prst="rect">
            <a:avLst/>
          </a:prstGeom>
          <a:noFill/>
          <a:ln/>
        </p:spPr>
        <p:txBody>
          <a:bodyPr wrap="square" lIns="25400" tIns="25400" rIns="25400" bIns="25400" rtlCol="0" anchor="t">
            <a:normAutofit/>
          </a:bodyPr>
          <a:lstStyle/>
          <a:p>
            <a:pPr algn="l" indent="0" marL="0">
              <a:buNone/>
            </a:pPr>
            <a:r>
              <a:rPr lang="en-US" sz="1875" dirty="0">
                <a:solidFill>
                  <a:srgbClr val="EEF3F9"/>
                </a:solidFill>
                <a:latin typeface="Arial" pitchFamily="34" charset="0"/>
                <a:ea typeface="Arial" pitchFamily="34" charset="-122"/>
                <a:cs typeface="Arial" pitchFamily="34" charset="-120"/>
              </a:rPr>
              <a:t>une bibliothèque Python pour utiliser Apache Spark</a:t>
            </a:r>
            <a:endParaRPr lang="en-US" sz="1875" dirty="0"/>
          </a:p>
        </p:txBody>
      </p:sp>
      <p:sp>
        <p:nvSpPr>
          <p:cNvPr id="33" name="Text 31"/>
          <p:cNvSpPr/>
          <p:nvPr/>
        </p:nvSpPr>
        <p:spPr>
          <a:xfrm>
            <a:off x="16819762" y="4013299"/>
            <a:ext cx="261739" cy="3746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34" name="Shape 32"/>
          <p:cNvSpPr/>
          <p:nvPr/>
        </p:nvSpPr>
        <p:spPr>
          <a:xfrm>
            <a:off x="9353550" y="4660999"/>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5" name="Shape 33"/>
          <p:cNvSpPr/>
          <p:nvPr/>
        </p:nvSpPr>
        <p:spPr>
          <a:xfrm>
            <a:off x="9569450" y="4838799"/>
            <a:ext cx="323850" cy="323850"/>
          </a:xfrm>
          <a:prstGeom prst="roundRect">
            <a:avLst>
              <a:gd name="adj" fmla="val 23529"/>
            </a:avLst>
          </a:prstGeom>
          <a:solidFill>
            <a:srgbClr val="FFFFFF">
              <a:alpha val="6000"/>
            </a:srgbClr>
          </a:solidFill>
          <a:ln/>
        </p:spPr>
      </p:sp>
      <p:sp>
        <p:nvSpPr>
          <p:cNvPr id="36" name="Text 34"/>
          <p:cNvSpPr/>
          <p:nvPr/>
        </p:nvSpPr>
        <p:spPr>
          <a:xfrm>
            <a:off x="9531350" y="48387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C</a:t>
            </a:r>
            <a:endParaRPr lang="en-US" sz="1875" dirty="0"/>
          </a:p>
        </p:txBody>
      </p:sp>
      <p:sp>
        <p:nvSpPr>
          <p:cNvPr id="37" name="Text 35"/>
          <p:cNvSpPr/>
          <p:nvPr/>
        </p:nvSpPr>
        <p:spPr>
          <a:xfrm>
            <a:off x="10045701" y="4848324"/>
            <a:ext cx="2497138"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une base de données</a:t>
            </a:r>
            <a:endParaRPr lang="en-US" sz="1875" dirty="0"/>
          </a:p>
        </p:txBody>
      </p:sp>
      <p:sp>
        <p:nvSpPr>
          <p:cNvPr id="38" name="Shape 36"/>
          <p:cNvSpPr/>
          <p:nvPr/>
        </p:nvSpPr>
        <p:spPr>
          <a:xfrm>
            <a:off x="9353550" y="5473800"/>
            <a:ext cx="7867650" cy="679450"/>
          </a:xfrm>
          <a:prstGeom prst="roundRect">
            <a:avLst>
              <a:gd name="adj" fmla="val 16822"/>
            </a:avLst>
          </a:prstGeom>
          <a:solidFill>
            <a:srgbClr val="FFFFFF">
              <a:alpha val="3000"/>
            </a:srgbClr>
          </a:solidFill>
          <a:ln w="6350">
            <a:solidFill>
              <a:srgbClr val="FFFFFF">
                <a:alpha val="10000"/>
              </a:srgbClr>
            </a:solidFill>
            <a:prstDash val="solid"/>
          </a:ln>
        </p:spPr>
      </p:sp>
      <p:sp>
        <p:nvSpPr>
          <p:cNvPr id="39" name="Shape 37"/>
          <p:cNvSpPr/>
          <p:nvPr/>
        </p:nvSpPr>
        <p:spPr>
          <a:xfrm>
            <a:off x="9569450" y="5651599"/>
            <a:ext cx="323850" cy="323850"/>
          </a:xfrm>
          <a:prstGeom prst="roundRect">
            <a:avLst>
              <a:gd name="adj" fmla="val 23529"/>
            </a:avLst>
          </a:prstGeom>
          <a:solidFill>
            <a:srgbClr val="FFFFFF">
              <a:alpha val="6000"/>
            </a:srgbClr>
          </a:solidFill>
          <a:ln/>
        </p:spPr>
      </p:sp>
      <p:sp>
        <p:nvSpPr>
          <p:cNvPr id="40" name="Text 38"/>
          <p:cNvSpPr/>
          <p:nvPr/>
        </p:nvSpPr>
        <p:spPr>
          <a:xfrm>
            <a:off x="9531350" y="5651599"/>
            <a:ext cx="400050" cy="361950"/>
          </a:xfrm>
          <a:prstGeom prst="rect">
            <a:avLst/>
          </a:prstGeom>
          <a:noFill/>
          <a:ln/>
        </p:spPr>
        <p:txBody>
          <a:bodyPr wrap="square" lIns="25400" tIns="25400" rIns="25400" bIns="25400" rtlCol="0" anchor="ctr">
            <a:normAutofit/>
          </a:bodyPr>
          <a:lstStyle/>
          <a:p>
            <a:pPr algn="ctr" indent="0" marL="0">
              <a:buNone/>
            </a:pPr>
            <a:r>
              <a:rPr lang="en-US" sz="1875" b="1" dirty="0">
                <a:solidFill>
                  <a:srgbClr val="8EA0B5"/>
                </a:solidFill>
                <a:latin typeface="Arial" pitchFamily="34" charset="0"/>
                <a:ea typeface="Arial" pitchFamily="34" charset="-122"/>
                <a:cs typeface="Arial" pitchFamily="34" charset="-120"/>
              </a:rPr>
              <a:t>D</a:t>
            </a:r>
            <a:endParaRPr lang="en-US" sz="1875" dirty="0"/>
          </a:p>
        </p:txBody>
      </p:sp>
      <p:sp>
        <p:nvSpPr>
          <p:cNvPr id="41" name="Text 39"/>
          <p:cNvSpPr/>
          <p:nvPr/>
        </p:nvSpPr>
        <p:spPr>
          <a:xfrm>
            <a:off x="10045701" y="5661124"/>
            <a:ext cx="2446824"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un conteneur Docker</a:t>
            </a:r>
            <a:endParaRPr lang="en-US" sz="1875"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2563713"/>
            <a:ext cx="17769840" cy="368300"/>
          </a:xfrm>
          <a:prstGeom prst="rect">
            <a:avLst/>
          </a:prstGeom>
          <a:noFill/>
          <a:ln/>
        </p:spPr>
        <p:txBody>
          <a:bodyPr wrap="square" lIns="25400" tIns="25400" rIns="25400" bIns="25400" rtlCol="0" anchor="t">
            <a:normAutofit/>
          </a:bodyPr>
          <a:lstStyle/>
          <a:p>
            <a:pPr algn="l" indent="0" marL="0">
              <a:buNone/>
            </a:pPr>
            <a:r>
              <a:rPr lang="en-US" sz="1950" spc="546" kern="0" dirty="0">
                <a:solidFill>
                  <a:srgbClr val="B897F0"/>
                </a:solidFill>
                <a:latin typeface="Courier New" pitchFamily="34" charset="0"/>
                <a:ea typeface="Courier New" pitchFamily="34" charset="-122"/>
                <a:cs typeface="Courier New" pitchFamily="34" charset="-120"/>
              </a:rPr>
              <a:t>ATELIER 05 · 2 HEURES</a:t>
            </a:r>
            <a:endParaRPr lang="en-US" sz="1950" dirty="0"/>
          </a:p>
        </p:txBody>
      </p:sp>
      <p:sp>
        <p:nvSpPr>
          <p:cNvPr id="3" name="Text 1"/>
          <p:cNvSpPr/>
          <p:nvPr/>
        </p:nvSpPr>
        <p:spPr>
          <a:xfrm>
            <a:off x="1066800" y="2970113"/>
            <a:ext cx="17769840" cy="1924050"/>
          </a:xfrm>
          <a:prstGeom prst="rect">
            <a:avLst/>
          </a:prstGeom>
          <a:noFill/>
          <a:ln/>
        </p:spPr>
        <p:txBody>
          <a:bodyPr wrap="square" lIns="25400" tIns="25400" rIns="25400" bIns="25400" rtlCol="0" anchor="t">
            <a:normAutofit/>
          </a:bodyPr>
          <a:lstStyle/>
          <a:p>
            <a:pPr algn="l" indent="0" marL="0">
              <a:lnSpc>
                <a:spcPct val="78158"/>
              </a:lnSpc>
              <a:buNone/>
            </a:pPr>
            <a:r>
              <a:rPr lang="en-US" sz="16500" b="1" spc="-660" kern="0" dirty="0">
                <a:solidFill>
                  <a:srgbClr val="C5AFF4"/>
                </a:solidFill>
                <a:latin typeface="Arial" pitchFamily="34" charset="0"/>
                <a:ea typeface="Arial" pitchFamily="34" charset="-122"/>
                <a:cs typeface="Arial" pitchFamily="34" charset="-120"/>
              </a:rPr>
              <a:t>05</a:t>
            </a:r>
            <a:endParaRPr lang="en-US" sz="16500" dirty="0"/>
          </a:p>
        </p:txBody>
      </p:sp>
      <p:sp>
        <p:nvSpPr>
          <p:cNvPr id="4" name="Text 2"/>
          <p:cNvSpPr/>
          <p:nvPr/>
        </p:nvSpPr>
        <p:spPr>
          <a:xfrm>
            <a:off x="1066800" y="4932263"/>
            <a:ext cx="16639032" cy="1514674"/>
          </a:xfrm>
          <a:prstGeom prst="rect">
            <a:avLst/>
          </a:prstGeom>
          <a:noFill/>
          <a:ln/>
        </p:spPr>
        <p:txBody>
          <a:bodyPr wrap="square" lIns="25400" tIns="25400" rIns="25400" bIns="25400" rtlCol="0" anchor="t">
            <a:normAutofit/>
          </a:bodyPr>
          <a:lstStyle/>
          <a:p>
            <a:pPr algn="l" indent="0" marL="0">
              <a:lnSpc>
                <a:spcPct val="88763"/>
              </a:lnSpc>
              <a:buNone/>
            </a:pPr>
            <a:r>
              <a:rPr lang="en-US" sz="5700" b="1" spc="-114" kern="0" dirty="0">
                <a:solidFill>
                  <a:srgbClr val="EEF3F9"/>
                </a:solidFill>
                <a:latin typeface="Arial" pitchFamily="34" charset="0"/>
                <a:ea typeface="Arial" pitchFamily="34" charset="-122"/>
                <a:cs typeface="Arial" pitchFamily="34" charset="-120"/>
              </a:rPr>
              <a:t>Interrogation de données distribuées avec Spark SQL et Hive</a:t>
            </a:r>
            <a:endParaRPr lang="en-US" sz="5700" dirty="0"/>
          </a:p>
        </p:txBody>
      </p:sp>
      <p:sp>
        <p:nvSpPr>
          <p:cNvPr id="5" name="Text 3"/>
          <p:cNvSpPr/>
          <p:nvPr/>
        </p:nvSpPr>
        <p:spPr>
          <a:xfrm>
            <a:off x="1066800" y="6656487"/>
            <a:ext cx="10831068" cy="1104900"/>
          </a:xfrm>
          <a:prstGeom prst="rect">
            <a:avLst/>
          </a:prstGeom>
          <a:noFill/>
          <a:ln/>
        </p:spPr>
        <p:txBody>
          <a:bodyPr wrap="square" lIns="25400" tIns="25400" rIns="25400" bIns="25400" rtlCol="0" anchor="t">
            <a:normAutofit/>
          </a:bodyPr>
          <a:lstStyle/>
          <a:p>
            <a:pPr algn="l" indent="0" marL="0">
              <a:lnSpc>
                <a:spcPct val="121739"/>
              </a:lnSpc>
              <a:buNone/>
            </a:pPr>
            <a:r>
              <a:rPr lang="en-US" sz="3000" dirty="0">
                <a:solidFill>
                  <a:srgbClr val="8EA0B5"/>
                </a:solidFill>
                <a:latin typeface="Arial" pitchFamily="34" charset="0"/>
                <a:ea typeface="Arial" pitchFamily="34" charset="-122"/>
                <a:cs typeface="Arial" pitchFamily="34" charset="-120"/>
              </a:rPr>
              <a:t>Le SQL comme quatrième façon d'exprimer un même traitement — et la place de Hive dans l'écosystème Hadoop.</a:t>
            </a:r>
            <a:endParaRPr lang="en-US" sz="3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05 · CONCEPTS</a:t>
            </a:r>
            <a:endParaRPr lang="en-US" sz="1800" dirty="0"/>
          </a:p>
        </p:txBody>
      </p:sp>
      <p:sp>
        <p:nvSpPr>
          <p:cNvPr id="3" name="Text 1"/>
          <p:cNvSpPr/>
          <p:nvPr/>
        </p:nvSpPr>
        <p:spPr>
          <a:xfrm>
            <a:off x="1066800" y="1314450"/>
            <a:ext cx="9696271"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Spark SQL et le métastore</a:t>
            </a:r>
            <a:endParaRPr lang="en-US" sz="4800" dirty="0"/>
          </a:p>
        </p:txBody>
      </p:sp>
      <p:sp>
        <p:nvSpPr>
          <p:cNvPr id="4" name="Shape 2"/>
          <p:cNvSpPr/>
          <p:nvPr/>
        </p:nvSpPr>
        <p:spPr>
          <a:xfrm>
            <a:off x="1066800" y="2405559"/>
            <a:ext cx="7934325" cy="7062292"/>
          </a:xfrm>
          <a:prstGeom prst="roundRect">
            <a:avLst>
              <a:gd name="adj" fmla="val 2428"/>
            </a:avLst>
          </a:prstGeom>
          <a:solidFill>
            <a:srgbClr val="FFFFFF">
              <a:alpha val="3000"/>
            </a:srgbClr>
          </a:solidFill>
          <a:ln w="6350">
            <a:solidFill>
              <a:srgbClr val="FFFFFF">
                <a:alpha val="10000"/>
              </a:srgbClr>
            </a:solidFill>
            <a:prstDash val="solid"/>
          </a:ln>
        </p:spPr>
      </p:sp>
      <p:sp>
        <p:nvSpPr>
          <p:cNvPr id="5" name="Text 3"/>
          <p:cNvSpPr/>
          <p:nvPr/>
        </p:nvSpPr>
        <p:spPr>
          <a:xfrm>
            <a:off x="1435100" y="2792909"/>
            <a:ext cx="7917498" cy="412750"/>
          </a:xfrm>
          <a:prstGeom prst="rect">
            <a:avLst/>
          </a:prstGeom>
          <a:noFill/>
          <a:ln/>
        </p:spPr>
        <p:txBody>
          <a:bodyPr wrap="square" lIns="25400" tIns="25400" rIns="25400" bIns="25400" rtlCol="0" anchor="t">
            <a:normAutofit/>
          </a:bodyPr>
          <a:lstStyle/>
          <a:p>
            <a:pPr algn="l" indent="0" marL="0">
              <a:buNone/>
            </a:pPr>
            <a:r>
              <a:rPr lang="en-US" sz="2550" b="1" dirty="0">
                <a:solidFill>
                  <a:srgbClr val="B897F0"/>
                </a:solidFill>
                <a:latin typeface="Arial" pitchFamily="34" charset="0"/>
                <a:ea typeface="Arial" pitchFamily="34" charset="-122"/>
                <a:cs typeface="Arial" pitchFamily="34" charset="-120"/>
              </a:rPr>
              <a:t>Spark SQL</a:t>
            </a:r>
            <a:endParaRPr lang="en-US" sz="2550" dirty="0"/>
          </a:p>
        </p:txBody>
      </p:sp>
      <p:sp>
        <p:nvSpPr>
          <p:cNvPr id="6" name="Text 4"/>
          <p:cNvSpPr/>
          <p:nvPr/>
        </p:nvSpPr>
        <p:spPr>
          <a:xfrm>
            <a:off x="1435100" y="3319959"/>
            <a:ext cx="7413657"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Interroger un DataFrame en SQL standard — </a:t>
            </a:r>
            <a:pPr algn="l" indent="0" marL="0">
              <a:lnSpc>
                <a:spcPct val="129255"/>
              </a:lnSpc>
              <a:buNone/>
            </a:pPr>
            <a:r>
              <a:rPr lang="en-US" sz="2025" dirty="0">
                <a:solidFill>
                  <a:srgbClr val="EEF3F9"/>
                </a:solidFill>
                <a:latin typeface="Arial" pitchFamily="34" charset="0"/>
                <a:ea typeface="Arial" pitchFamily="34" charset="-122"/>
                <a:cs typeface="Arial" pitchFamily="34" charset="-120"/>
              </a:rPr>
              <a:t>strictement équivalent </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à l'API programmatique, car les deux passent par le même moteur Catalyst.</a:t>
            </a:r>
            <a:endParaRPr lang="en-US" sz="2025" dirty="0"/>
          </a:p>
        </p:txBody>
      </p:sp>
      <p:sp>
        <p:nvSpPr>
          <p:cNvPr id="7" name="Text 5"/>
          <p:cNvSpPr/>
          <p:nvPr/>
        </p:nvSpPr>
        <p:spPr>
          <a:xfrm>
            <a:off x="1435100" y="8737600"/>
            <a:ext cx="7413657" cy="381000"/>
          </a:xfrm>
          <a:prstGeom prst="rect">
            <a:avLst/>
          </a:prstGeom>
          <a:noFill/>
          <a:ln/>
        </p:spPr>
        <p:txBody>
          <a:bodyPr wrap="square" lIns="25400" tIns="25400" rIns="25400" bIns="25400" rtlCol="0" anchor="t">
            <a:normAutofit/>
          </a:bodyPr>
          <a:lstStyle/>
          <a:p>
            <a:pPr algn="l" indent="0" marL="0">
              <a:lnSpc>
                <a:spcPct val="128571"/>
              </a:lnSpc>
              <a:buNone/>
            </a:pPr>
            <a:r>
              <a:rPr lang="en-US" sz="1800" dirty="0">
                <a:solidFill>
                  <a:srgbClr val="8EA0B5"/>
                </a:solidFill>
                <a:latin typeface="Arial" pitchFamily="34" charset="0"/>
                <a:ea typeface="Arial" pitchFamily="34" charset="-122"/>
                <a:cs typeface="Arial" pitchFamily="34" charset="-120"/>
              </a:rPr>
              <a:t>Le choix API / SQL est une question de préférence et de lisibilité.</a:t>
            </a:r>
            <a:endParaRPr lang="en-US" sz="1800" dirty="0"/>
          </a:p>
        </p:txBody>
      </p:sp>
      <p:sp>
        <p:nvSpPr>
          <p:cNvPr id="8" name="Shape 6"/>
          <p:cNvSpPr/>
          <p:nvPr/>
        </p:nvSpPr>
        <p:spPr>
          <a:xfrm>
            <a:off x="9286875" y="2405559"/>
            <a:ext cx="7934325" cy="7062292"/>
          </a:xfrm>
          <a:prstGeom prst="roundRect">
            <a:avLst>
              <a:gd name="adj" fmla="val 2428"/>
            </a:avLst>
          </a:prstGeom>
          <a:solidFill>
            <a:srgbClr val="FFFFFF">
              <a:alpha val="3000"/>
            </a:srgbClr>
          </a:solidFill>
          <a:ln w="6350">
            <a:solidFill>
              <a:srgbClr val="FFFFFF">
                <a:alpha val="10000"/>
              </a:srgbClr>
            </a:solidFill>
            <a:prstDash val="solid"/>
          </a:ln>
        </p:spPr>
      </p:sp>
      <p:sp>
        <p:nvSpPr>
          <p:cNvPr id="9" name="Text 7"/>
          <p:cNvSpPr/>
          <p:nvPr/>
        </p:nvSpPr>
        <p:spPr>
          <a:xfrm>
            <a:off x="9655175" y="2792909"/>
            <a:ext cx="7917498" cy="412750"/>
          </a:xfrm>
          <a:prstGeom prst="rect">
            <a:avLst/>
          </a:prstGeom>
          <a:noFill/>
          <a:ln/>
        </p:spPr>
        <p:txBody>
          <a:bodyPr wrap="square" lIns="25400" tIns="25400" rIns="25400" bIns="25400" rtlCol="0" anchor="t">
            <a:normAutofit/>
          </a:bodyPr>
          <a:lstStyle/>
          <a:p>
            <a:pPr algn="l" indent="0" marL="0">
              <a:buNone/>
            </a:pPr>
            <a:r>
              <a:rPr lang="en-US" sz="2550" b="1" dirty="0">
                <a:solidFill>
                  <a:srgbClr val="B897F0"/>
                </a:solidFill>
                <a:latin typeface="Arial" pitchFamily="34" charset="0"/>
                <a:ea typeface="Arial" pitchFamily="34" charset="-122"/>
                <a:cs typeface="Arial" pitchFamily="34" charset="-120"/>
              </a:rPr>
              <a:t>Le métastore</a:t>
            </a:r>
            <a:endParaRPr lang="en-US" sz="2550" dirty="0"/>
          </a:p>
        </p:txBody>
      </p:sp>
      <p:sp>
        <p:nvSpPr>
          <p:cNvPr id="10" name="Text 8"/>
          <p:cNvSpPr/>
          <p:nvPr/>
        </p:nvSpPr>
        <p:spPr>
          <a:xfrm>
            <a:off x="9655175" y="3319959"/>
            <a:ext cx="7413657"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Un catalogue centralisé : noms de tables, colonnes, types, emplacement physique, format de stockage.</a:t>
            </a:r>
            <a:endParaRPr lang="en-US" sz="2025" dirty="0"/>
          </a:p>
        </p:txBody>
      </p:sp>
      <p:sp>
        <p:nvSpPr>
          <p:cNvPr id="11" name="Shape 9"/>
          <p:cNvSpPr/>
          <p:nvPr/>
        </p:nvSpPr>
        <p:spPr>
          <a:xfrm>
            <a:off x="9655175" y="4301034"/>
            <a:ext cx="7197725" cy="1117600"/>
          </a:xfrm>
          <a:prstGeom prst="roundRect">
            <a:avLst>
              <a:gd name="adj" fmla="val 10227"/>
            </a:avLst>
          </a:prstGeom>
          <a:solidFill>
            <a:srgbClr val="06090E"/>
          </a:solidFill>
          <a:ln w="6350">
            <a:solidFill>
              <a:srgbClr val="FFFFFF">
                <a:alpha val="10000"/>
              </a:srgbClr>
            </a:solidFill>
            <a:prstDash val="solid"/>
          </a:ln>
        </p:spPr>
      </p:sp>
      <p:sp>
        <p:nvSpPr>
          <p:cNvPr id="12" name="Text 10"/>
          <p:cNvSpPr/>
          <p:nvPr/>
        </p:nvSpPr>
        <p:spPr>
          <a:xfrm>
            <a:off x="9890125" y="4516934"/>
            <a:ext cx="6943757" cy="723900"/>
          </a:xfrm>
          <a:prstGeom prst="rect">
            <a:avLst/>
          </a:prstGeom>
          <a:noFill/>
          <a:ln/>
        </p:spPr>
        <p:txBody>
          <a:bodyPr wrap="square" lIns="25400" tIns="25400" rIns="25400" bIns="25400" rtlCol="0" anchor="t">
            <a:normAutofit/>
          </a:bodyPr>
          <a:lstStyle/>
          <a:p>
            <a:pPr algn="l" indent="0" marL="0">
              <a:lnSpc>
                <a:spcPct val="131707"/>
              </a:lnSpc>
              <a:buNone/>
            </a:pPr>
            <a:r>
              <a:rPr lang="en-US" sz="1800" dirty="0">
                <a:solidFill>
                  <a:srgbClr val="8EA0B5"/>
                </a:solidFill>
                <a:highlight>
                  <a:srgbClr val="06090E"/>
                </a:highlight>
                <a:latin typeface="Courier New" pitchFamily="34" charset="0"/>
                <a:ea typeface="Courier New" pitchFamily="34" charset="-122"/>
                <a:cs typeface="Courier New" pitchFamily="34" charset="-120"/>
              </a:rPr>
              <a:t>« La table </a:t>
            </a:r>
            <a:pPr algn="l" indent="0" marL="0">
              <a:lnSpc>
                <a:spcPct val="131707"/>
              </a:lnSpc>
              <a:buNone/>
            </a:pPr>
            <a:r>
              <a:rPr lang="en-US" sz="1800" dirty="0">
                <a:solidFill>
                  <a:srgbClr val="B897F0"/>
                </a:solidFill>
                <a:latin typeface="Courier New" pitchFamily="34" charset="0"/>
                <a:ea typeface="Courier New" pitchFamily="34" charset="-122"/>
                <a:cs typeface="Courier New" pitchFamily="34" charset="-120"/>
              </a:rPr>
              <a:t>purchases </a:t>
            </a:r>
            <a:pPr algn="l" indent="0" marL="0">
              <a:lnSpc>
                <a:spcPct val="131707"/>
              </a:lnSpc>
              <a:buNone/>
            </a:pPr>
            <a:r>
              <a:rPr lang="en-US" sz="1800" dirty="0">
                <a:solidFill>
                  <a:srgbClr val="8EA0B5"/>
                </a:solidFill>
                <a:highlight>
                  <a:srgbClr val="06090E"/>
                </a:highlight>
                <a:latin typeface="Courier New" pitchFamily="34" charset="0"/>
                <a:ea typeface="Courier New" pitchFamily="34" charset="-122"/>
                <a:cs typeface="Courier New" pitchFamily="34" charset="-120"/>
              </a:rPr>
              <a:t>existe, ses colonnes sont pdate, ptime, store… et ses fichiers sont ici. »</a:t>
            </a:r>
            <a:endParaRPr lang="en-US" sz="1800" dirty="0"/>
          </a:p>
        </p:txBody>
      </p:sp>
      <p:sp>
        <p:nvSpPr>
          <p:cNvPr id="13" name="Text 11"/>
          <p:cNvSpPr/>
          <p:nvPr/>
        </p:nvSpPr>
        <p:spPr>
          <a:xfrm>
            <a:off x="9655175" y="8782050"/>
            <a:ext cx="7413657"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Introduit par Hive, réutilisé par Spark SQL.</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05 · HADOOP</a:t>
            </a:r>
            <a:endParaRPr lang="en-US" sz="1800" dirty="0"/>
          </a:p>
        </p:txBody>
      </p:sp>
      <p:sp>
        <p:nvSpPr>
          <p:cNvPr id="3" name="Text 1"/>
          <p:cNvSpPr/>
          <p:nvPr/>
        </p:nvSpPr>
        <p:spPr>
          <a:xfrm>
            <a:off x="1066800" y="1314450"/>
            <a:ext cx="9696271"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Hive dans l'écosystème Hadoop</a:t>
            </a:r>
            <a:endParaRPr lang="en-US" sz="4800" dirty="0"/>
          </a:p>
        </p:txBody>
      </p:sp>
      <p:sp>
        <p:nvSpPr>
          <p:cNvPr id="4" name="Shape 2"/>
          <p:cNvSpPr/>
          <p:nvPr/>
        </p:nvSpPr>
        <p:spPr>
          <a:xfrm>
            <a:off x="13849350" y="819150"/>
            <a:ext cx="1619250" cy="685800"/>
          </a:xfrm>
          <a:prstGeom prst="roundRect">
            <a:avLst>
              <a:gd name="adj" fmla="val 16667"/>
            </a:avLst>
          </a:prstGeom>
          <a:solidFill>
            <a:srgbClr val="FFFFFF"/>
          </a:solidFill>
          <a:ln w="6350">
            <a:solidFill>
              <a:srgbClr val="FFFFFF">
                <a:alpha val="10000"/>
              </a:srgbClr>
            </a:solidFill>
            <a:prstDash val="solid"/>
          </a:ln>
        </p:spPr>
      </p:sp>
      <p:sp>
        <p:nvSpPr>
          <p:cNvPr id="5" name="Shape 3"/>
          <p:cNvSpPr/>
          <p:nvPr/>
        </p:nvSpPr>
        <p:spPr>
          <a:xfrm>
            <a:off x="13950951" y="920750"/>
            <a:ext cx="1416050" cy="482600"/>
          </a:xfrm>
          <a:prstGeom prst="rect">
            <a:avLst/>
          </a:prstGeom>
          <a:solidFill>
            <a:srgbClr val="000000">
              <a:alpha val="4000"/>
            </a:srgbClr>
          </a:solidFill>
          <a:ln/>
        </p:spPr>
      </p:sp>
      <p:pic>
        <p:nvPicPr>
          <p:cNvPr id="6" name="Image 0" descr="preencoded.png">    </p:cNvPr>
          <p:cNvPicPr>
            <a:picLocks noChangeAspect="1"/>
          </p:cNvPicPr>
          <p:nvPr/>
        </p:nvPicPr>
        <p:blipFill>
          <a:blip r:embed="rId1"/>
          <a:srcRect l="-110372" r="-110372" t="0" b="0"/>
          <a:stretch/>
        </p:blipFill>
        <p:spPr>
          <a:xfrm>
            <a:off x="13950951" y="920750"/>
            <a:ext cx="1416050" cy="482600"/>
          </a:xfrm>
          <a:prstGeom prst="rect">
            <a:avLst/>
          </a:prstGeom>
        </p:spPr>
      </p:pic>
      <p:sp>
        <p:nvSpPr>
          <p:cNvPr id="7" name="Shape 4"/>
          <p:cNvSpPr/>
          <p:nvPr/>
        </p:nvSpPr>
        <p:spPr>
          <a:xfrm>
            <a:off x="15601950" y="819150"/>
            <a:ext cx="1619250" cy="685800"/>
          </a:xfrm>
          <a:prstGeom prst="roundRect">
            <a:avLst>
              <a:gd name="adj" fmla="val 16667"/>
            </a:avLst>
          </a:prstGeom>
          <a:solidFill>
            <a:srgbClr val="FFFFFF"/>
          </a:solidFill>
          <a:ln w="6350">
            <a:solidFill>
              <a:srgbClr val="FFFFFF">
                <a:alpha val="10000"/>
              </a:srgbClr>
            </a:solidFill>
            <a:prstDash val="solid"/>
          </a:ln>
        </p:spPr>
      </p:sp>
      <p:sp>
        <p:nvSpPr>
          <p:cNvPr id="8" name="Shape 5"/>
          <p:cNvSpPr/>
          <p:nvPr/>
        </p:nvSpPr>
        <p:spPr>
          <a:xfrm>
            <a:off x="15703551" y="920750"/>
            <a:ext cx="1416050" cy="482600"/>
          </a:xfrm>
          <a:prstGeom prst="rect">
            <a:avLst/>
          </a:prstGeom>
          <a:solidFill>
            <a:srgbClr val="000000">
              <a:alpha val="4000"/>
            </a:srgbClr>
          </a:solidFill>
          <a:ln/>
        </p:spPr>
      </p:sp>
      <p:pic>
        <p:nvPicPr>
          <p:cNvPr id="9" name="Image 1" descr="preencoded.png">    </p:cNvPr>
          <p:cNvPicPr>
            <a:picLocks noChangeAspect="1"/>
          </p:cNvPicPr>
          <p:nvPr/>
        </p:nvPicPr>
        <p:blipFill>
          <a:blip r:embed="rId2"/>
          <a:srcRect l="-39015" r="-39015" t="0" b="0"/>
          <a:stretch/>
        </p:blipFill>
        <p:spPr>
          <a:xfrm>
            <a:off x="15703551" y="920750"/>
            <a:ext cx="1416050" cy="482600"/>
          </a:xfrm>
          <a:prstGeom prst="rect">
            <a:avLst/>
          </a:prstGeom>
        </p:spPr>
      </p:pic>
      <p:sp>
        <p:nvSpPr>
          <p:cNvPr id="10" name="Shape 6"/>
          <p:cNvSpPr/>
          <p:nvPr/>
        </p:nvSpPr>
        <p:spPr>
          <a:xfrm>
            <a:off x="1066800" y="4169767"/>
            <a:ext cx="7861300" cy="742950"/>
          </a:xfrm>
          <a:prstGeom prst="roundRect">
            <a:avLst>
              <a:gd name="adj" fmla="val 12821"/>
            </a:avLst>
          </a:prstGeom>
          <a:solidFill>
            <a:srgbClr val="C1A4F3">
              <a:alpha val="34000"/>
            </a:srgbClr>
          </a:solidFill>
          <a:ln w="6350">
            <a:solidFill>
              <a:srgbClr val="BFA3F3">
                <a:alpha val="50000"/>
              </a:srgbClr>
            </a:solidFill>
            <a:prstDash val="solid"/>
          </a:ln>
        </p:spPr>
      </p:sp>
      <p:sp>
        <p:nvSpPr>
          <p:cNvPr id="11" name="Text 7"/>
          <p:cNvSpPr/>
          <p:nvPr/>
        </p:nvSpPr>
        <p:spPr>
          <a:xfrm>
            <a:off x="1164780" y="4385667"/>
            <a:ext cx="7665339" cy="34925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highlight>
                  <a:srgbClr val="EAE0FB"/>
                </a:highlight>
                <a:latin typeface="Arial" pitchFamily="34" charset="0"/>
                <a:ea typeface="Arial" pitchFamily="34" charset="-122"/>
                <a:cs typeface="Arial" pitchFamily="34" charset="-120"/>
              </a:rPr>
              <a:t>Hive </a:t>
            </a:r>
            <a:pPr algn="ctr" indent="0" marL="0">
              <a:buNone/>
            </a:pPr>
            <a:r>
              <a:rPr lang="en-US" sz="1800" b="1" dirty="0">
                <a:solidFill>
                  <a:srgbClr val="8EA0B5"/>
                </a:solidFill>
                <a:latin typeface="Courier New" pitchFamily="34" charset="0"/>
                <a:ea typeface="Courier New" pitchFamily="34" charset="-122"/>
                <a:cs typeface="Courier New" pitchFamily="34" charset="-120"/>
              </a:rPr>
              <a:t>— interface SQL (HiveQL)</a:t>
            </a:r>
            <a:endParaRPr lang="en-US" sz="2100" dirty="0"/>
          </a:p>
        </p:txBody>
      </p:sp>
      <p:sp>
        <p:nvSpPr>
          <p:cNvPr id="12" name="Shape 8"/>
          <p:cNvSpPr/>
          <p:nvPr/>
        </p:nvSpPr>
        <p:spPr>
          <a:xfrm>
            <a:off x="1066800" y="5007968"/>
            <a:ext cx="7861300" cy="768350"/>
          </a:xfrm>
          <a:prstGeom prst="roundRect">
            <a:avLst>
              <a:gd name="adj" fmla="val 4959"/>
            </a:avLst>
          </a:prstGeom>
          <a:solidFill>
            <a:srgbClr val="FFFFFF">
              <a:alpha val="6000"/>
            </a:srgbClr>
          </a:solidFill>
          <a:ln w="6350">
            <a:solidFill>
              <a:srgbClr val="FFFFFF">
                <a:alpha val="10000"/>
              </a:srgbClr>
            </a:solidFill>
            <a:prstDash val="solid"/>
          </a:ln>
        </p:spPr>
      </p:sp>
      <p:sp>
        <p:nvSpPr>
          <p:cNvPr id="13" name="Text 9"/>
          <p:cNvSpPr/>
          <p:nvPr/>
        </p:nvSpPr>
        <p:spPr>
          <a:xfrm>
            <a:off x="1164780" y="5223868"/>
            <a:ext cx="7665339" cy="374650"/>
          </a:xfrm>
          <a:prstGeom prst="rect">
            <a:avLst/>
          </a:prstGeom>
          <a:noFill/>
          <a:ln/>
        </p:spPr>
        <p:txBody>
          <a:bodyPr wrap="square" lIns="25400" tIns="25400" rIns="25400" bIns="25400" rtlCol="0" anchor="t">
            <a:normAutofit/>
          </a:bodyPr>
          <a:lstStyle/>
          <a:p>
            <a:pPr algn="ctr" indent="0" marL="0">
              <a:buNone/>
            </a:pPr>
            <a:r>
              <a:rPr lang="en-US" sz="2025" dirty="0">
                <a:solidFill>
                  <a:srgbClr val="EEF3F9"/>
                </a:solidFill>
                <a:highlight>
                  <a:srgbClr val="FFFFFF"/>
                </a:highlight>
                <a:latin typeface="Arial" pitchFamily="34" charset="0"/>
                <a:ea typeface="Arial" pitchFamily="34" charset="-122"/>
                <a:cs typeface="Arial" pitchFamily="34" charset="-120"/>
              </a:rPr>
              <a:t>Hive Metastore </a:t>
            </a:r>
            <a:pPr algn="ctr" indent="0" marL="0">
              <a:buNone/>
            </a:pPr>
            <a:r>
              <a:rPr lang="en-US" sz="1800" dirty="0">
                <a:solidFill>
                  <a:srgbClr val="8EA0B5"/>
                </a:solidFill>
                <a:latin typeface="Courier New" pitchFamily="34" charset="0"/>
                <a:ea typeface="Courier New" pitchFamily="34" charset="-122"/>
                <a:cs typeface="Courier New" pitchFamily="34" charset="-120"/>
              </a:rPr>
              <a:t>— catalogue des tables</a:t>
            </a:r>
            <a:endParaRPr lang="en-US" sz="2025" dirty="0"/>
          </a:p>
        </p:txBody>
      </p:sp>
      <p:sp>
        <p:nvSpPr>
          <p:cNvPr id="14" name="Shape 10"/>
          <p:cNvSpPr/>
          <p:nvPr/>
        </p:nvSpPr>
        <p:spPr>
          <a:xfrm>
            <a:off x="1066800" y="5871567"/>
            <a:ext cx="3883025" cy="755650"/>
          </a:xfrm>
          <a:prstGeom prst="roundRect">
            <a:avLst>
              <a:gd name="adj" fmla="val 5042"/>
            </a:avLst>
          </a:prstGeom>
          <a:solidFill>
            <a:srgbClr val="FFFFFF">
              <a:alpha val="6000"/>
            </a:srgbClr>
          </a:solidFill>
          <a:ln w="6350">
            <a:solidFill>
              <a:srgbClr val="FFFFFF">
                <a:alpha val="10000"/>
              </a:srgbClr>
            </a:solidFill>
            <a:prstDash val="solid"/>
          </a:ln>
        </p:spPr>
      </p:sp>
      <p:sp>
        <p:nvSpPr>
          <p:cNvPr id="15" name="Text 11"/>
          <p:cNvSpPr/>
          <p:nvPr/>
        </p:nvSpPr>
        <p:spPr>
          <a:xfrm>
            <a:off x="1224455" y="6087467"/>
            <a:ext cx="3567716" cy="361950"/>
          </a:xfrm>
          <a:prstGeom prst="rect">
            <a:avLst/>
          </a:prstGeom>
          <a:noFill/>
          <a:ln/>
        </p:spPr>
        <p:txBody>
          <a:bodyPr wrap="square" lIns="25400" tIns="25400" rIns="25400" bIns="25400" rtlCol="0" anchor="t">
            <a:normAutofit/>
          </a:bodyPr>
          <a:lstStyle/>
          <a:p>
            <a:pPr algn="ctr" indent="0" marL="0">
              <a:buNone/>
            </a:pPr>
            <a:r>
              <a:rPr lang="en-US" sz="1950" dirty="0">
                <a:solidFill>
                  <a:srgbClr val="EEF3F9"/>
                </a:solidFill>
                <a:highlight>
                  <a:srgbClr val="FFFFFF"/>
                </a:highlight>
                <a:latin typeface="Arial" pitchFamily="34" charset="0"/>
                <a:ea typeface="Arial" pitchFamily="34" charset="-122"/>
                <a:cs typeface="Arial" pitchFamily="34" charset="-120"/>
              </a:rPr>
              <a:t>YARN </a:t>
            </a:r>
            <a:pPr algn="ctr" indent="0" marL="0">
              <a:buNone/>
            </a:pPr>
            <a:r>
              <a:rPr lang="en-US" sz="1800" dirty="0">
                <a:solidFill>
                  <a:srgbClr val="8EA0B5"/>
                </a:solidFill>
                <a:latin typeface="Courier New" pitchFamily="34" charset="0"/>
                <a:ea typeface="Courier New" pitchFamily="34" charset="-122"/>
                <a:cs typeface="Courier New" pitchFamily="34" charset="-120"/>
              </a:rPr>
              <a:t>ressources</a:t>
            </a:r>
            <a:endParaRPr lang="en-US" sz="1950" dirty="0"/>
          </a:p>
        </p:txBody>
      </p:sp>
      <p:sp>
        <p:nvSpPr>
          <p:cNvPr id="16" name="Shape 12"/>
          <p:cNvSpPr/>
          <p:nvPr/>
        </p:nvSpPr>
        <p:spPr>
          <a:xfrm>
            <a:off x="5045075" y="5871567"/>
            <a:ext cx="3883025" cy="755650"/>
          </a:xfrm>
          <a:prstGeom prst="roundRect">
            <a:avLst>
              <a:gd name="adj" fmla="val 5042"/>
            </a:avLst>
          </a:prstGeom>
          <a:solidFill>
            <a:srgbClr val="FFFFFF">
              <a:alpha val="6000"/>
            </a:srgbClr>
          </a:solidFill>
          <a:ln w="6350">
            <a:solidFill>
              <a:srgbClr val="FFFFFF">
                <a:alpha val="10000"/>
              </a:srgbClr>
            </a:solidFill>
            <a:prstDash val="solid"/>
          </a:ln>
        </p:spPr>
      </p:sp>
      <p:sp>
        <p:nvSpPr>
          <p:cNvPr id="17" name="Text 13"/>
          <p:cNvSpPr/>
          <p:nvPr/>
        </p:nvSpPr>
        <p:spPr>
          <a:xfrm>
            <a:off x="5202730" y="6087467"/>
            <a:ext cx="3567716" cy="361950"/>
          </a:xfrm>
          <a:prstGeom prst="rect">
            <a:avLst/>
          </a:prstGeom>
          <a:noFill/>
          <a:ln/>
        </p:spPr>
        <p:txBody>
          <a:bodyPr wrap="square" lIns="25400" tIns="25400" rIns="25400" bIns="25400" rtlCol="0" anchor="t">
            <a:normAutofit/>
          </a:bodyPr>
          <a:lstStyle/>
          <a:p>
            <a:pPr algn="ctr" indent="0" marL="0">
              <a:buNone/>
            </a:pPr>
            <a:r>
              <a:rPr lang="en-US" sz="1950" dirty="0">
                <a:solidFill>
                  <a:srgbClr val="EEF3F9"/>
                </a:solidFill>
                <a:highlight>
                  <a:srgbClr val="FFFFFF"/>
                </a:highlight>
                <a:latin typeface="Arial" pitchFamily="34" charset="0"/>
                <a:ea typeface="Arial" pitchFamily="34" charset="-122"/>
                <a:cs typeface="Arial" pitchFamily="34" charset="-120"/>
              </a:rPr>
              <a:t>HDFS </a:t>
            </a:r>
            <a:pPr algn="ctr" indent="0" marL="0">
              <a:buNone/>
            </a:pPr>
            <a:r>
              <a:rPr lang="en-US" sz="1800" dirty="0">
                <a:solidFill>
                  <a:srgbClr val="8EA0B5"/>
                </a:solidFill>
                <a:latin typeface="Courier New" pitchFamily="34" charset="0"/>
                <a:ea typeface="Courier New" pitchFamily="34" charset="-122"/>
                <a:cs typeface="Courier New" pitchFamily="34" charset="-120"/>
              </a:rPr>
              <a:t>stockage</a:t>
            </a:r>
            <a:endParaRPr lang="en-US" sz="1950" dirty="0"/>
          </a:p>
        </p:txBody>
      </p:sp>
      <p:sp>
        <p:nvSpPr>
          <p:cNvPr id="18" name="Shape 14"/>
          <p:cNvSpPr/>
          <p:nvPr/>
        </p:nvSpPr>
        <p:spPr>
          <a:xfrm>
            <a:off x="9347200" y="4001492"/>
            <a:ext cx="7874000" cy="2794000"/>
          </a:xfrm>
          <a:prstGeom prst="roundRect">
            <a:avLst>
              <a:gd name="adj" fmla="val 5455"/>
            </a:avLst>
          </a:prstGeom>
          <a:solidFill>
            <a:srgbClr val="FFFFFF">
              <a:alpha val="3000"/>
            </a:srgbClr>
          </a:solidFill>
          <a:ln w="6350">
            <a:solidFill>
              <a:srgbClr val="FFFFFF">
                <a:alpha val="10000"/>
              </a:srgbClr>
            </a:solidFill>
            <a:prstDash val="solid"/>
          </a:ln>
        </p:spPr>
      </p:sp>
      <p:sp>
        <p:nvSpPr>
          <p:cNvPr id="19" name="Shape 15"/>
          <p:cNvSpPr/>
          <p:nvPr/>
        </p:nvSpPr>
        <p:spPr>
          <a:xfrm>
            <a:off x="9353550" y="4731742"/>
            <a:ext cx="7861300" cy="9525"/>
          </a:xfrm>
          <a:prstGeom prst="rect">
            <a:avLst/>
          </a:prstGeom>
          <a:solidFill>
            <a:srgbClr val="FFFFFF">
              <a:alpha val="10000"/>
            </a:srgbClr>
          </a:solidFill>
          <a:ln/>
        </p:spPr>
      </p:sp>
      <p:sp>
        <p:nvSpPr>
          <p:cNvPr id="20" name="Text 16"/>
          <p:cNvSpPr/>
          <p:nvPr/>
        </p:nvSpPr>
        <p:spPr>
          <a:xfrm>
            <a:off x="9639300" y="4217392"/>
            <a:ext cx="400939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Hive</a:t>
            </a:r>
            <a:endParaRPr lang="en-US" sz="1800" dirty="0"/>
          </a:p>
        </p:txBody>
      </p:sp>
      <p:sp>
        <p:nvSpPr>
          <p:cNvPr id="21" name="Text 17"/>
          <p:cNvSpPr/>
          <p:nvPr/>
        </p:nvSpPr>
        <p:spPr>
          <a:xfrm>
            <a:off x="13284201" y="4217392"/>
            <a:ext cx="400939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Courier New" pitchFamily="34" charset="0"/>
                <a:ea typeface="Courier New" pitchFamily="34" charset="-122"/>
                <a:cs typeface="Courier New" pitchFamily="34" charset="-120"/>
              </a:rPr>
              <a:t>Spark</a:t>
            </a:r>
            <a:endParaRPr lang="en-US" sz="1800" dirty="0"/>
          </a:p>
        </p:txBody>
      </p:sp>
      <p:sp>
        <p:nvSpPr>
          <p:cNvPr id="22" name="Shape 18"/>
          <p:cNvSpPr/>
          <p:nvPr/>
        </p:nvSpPr>
        <p:spPr>
          <a:xfrm>
            <a:off x="9353550" y="5417542"/>
            <a:ext cx="7861300" cy="9525"/>
          </a:xfrm>
          <a:prstGeom prst="rect">
            <a:avLst/>
          </a:prstGeom>
          <a:solidFill>
            <a:srgbClr val="FFFFFF">
              <a:alpha val="6000"/>
            </a:srgbClr>
          </a:solidFill>
          <a:ln/>
        </p:spPr>
      </p:sp>
      <p:sp>
        <p:nvSpPr>
          <p:cNvPr id="23" name="Text 19"/>
          <p:cNvSpPr/>
          <p:nvPr/>
        </p:nvSpPr>
        <p:spPr>
          <a:xfrm>
            <a:off x="9639300" y="4928592"/>
            <a:ext cx="400939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MapReduce (disque)</a:t>
            </a:r>
            <a:endParaRPr lang="en-US" sz="1800" dirty="0"/>
          </a:p>
        </p:txBody>
      </p:sp>
      <p:sp>
        <p:nvSpPr>
          <p:cNvPr id="24" name="Text 20"/>
          <p:cNvSpPr/>
          <p:nvPr/>
        </p:nvSpPr>
        <p:spPr>
          <a:xfrm>
            <a:off x="13284201" y="4928592"/>
            <a:ext cx="400939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Arial" pitchFamily="34" charset="0"/>
                <a:ea typeface="Arial" pitchFamily="34" charset="-122"/>
                <a:cs typeface="Arial" pitchFamily="34" charset="-120"/>
              </a:rPr>
              <a:t>En mémoire</a:t>
            </a:r>
            <a:endParaRPr lang="en-US" sz="1800" dirty="0"/>
          </a:p>
        </p:txBody>
      </p:sp>
      <p:sp>
        <p:nvSpPr>
          <p:cNvPr id="25" name="Shape 21"/>
          <p:cNvSpPr/>
          <p:nvPr/>
        </p:nvSpPr>
        <p:spPr>
          <a:xfrm>
            <a:off x="9353550" y="6103342"/>
            <a:ext cx="7861300" cy="9525"/>
          </a:xfrm>
          <a:prstGeom prst="rect">
            <a:avLst/>
          </a:prstGeom>
          <a:solidFill>
            <a:srgbClr val="FFFFFF">
              <a:alpha val="6000"/>
            </a:srgbClr>
          </a:solidFill>
          <a:ln/>
        </p:spPr>
      </p:sp>
      <p:sp>
        <p:nvSpPr>
          <p:cNvPr id="26" name="Text 22"/>
          <p:cNvSpPr/>
          <p:nvPr/>
        </p:nvSpPr>
        <p:spPr>
          <a:xfrm>
            <a:off x="9639300" y="5614392"/>
            <a:ext cx="400939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Plus lent</a:t>
            </a:r>
            <a:endParaRPr lang="en-US" sz="1800" dirty="0"/>
          </a:p>
        </p:txBody>
      </p:sp>
      <p:sp>
        <p:nvSpPr>
          <p:cNvPr id="27" name="Text 23"/>
          <p:cNvSpPr/>
          <p:nvPr/>
        </p:nvSpPr>
        <p:spPr>
          <a:xfrm>
            <a:off x="13284201" y="5614392"/>
            <a:ext cx="400939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Arial" pitchFamily="34" charset="0"/>
                <a:ea typeface="Arial" pitchFamily="34" charset="-122"/>
                <a:cs typeface="Arial" pitchFamily="34" charset="-120"/>
              </a:rPr>
              <a:t>Nettement plus rapide</a:t>
            </a:r>
            <a:endParaRPr lang="en-US" sz="1800" dirty="0"/>
          </a:p>
        </p:txBody>
      </p:sp>
      <p:sp>
        <p:nvSpPr>
          <p:cNvPr id="28" name="Text 24"/>
          <p:cNvSpPr/>
          <p:nvPr/>
        </p:nvSpPr>
        <p:spPr>
          <a:xfrm>
            <a:off x="9639300" y="6300192"/>
            <a:ext cx="400939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Catalogue de métadonnées</a:t>
            </a:r>
            <a:endParaRPr lang="en-US" sz="1800" dirty="0"/>
          </a:p>
        </p:txBody>
      </p:sp>
      <p:sp>
        <p:nvSpPr>
          <p:cNvPr id="29" name="Text 25"/>
          <p:cNvSpPr/>
          <p:nvPr/>
        </p:nvSpPr>
        <p:spPr>
          <a:xfrm>
            <a:off x="13284201" y="6300192"/>
            <a:ext cx="400939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Arial" pitchFamily="34" charset="0"/>
                <a:ea typeface="Arial" pitchFamily="34" charset="-122"/>
                <a:cs typeface="Arial" pitchFamily="34" charset="-120"/>
              </a:rPr>
              <a:t>Moteur de calcul principal</a:t>
            </a:r>
            <a:endParaRPr lang="en-US" sz="1800" dirty="0"/>
          </a:p>
        </p:txBody>
      </p:sp>
      <p:sp>
        <p:nvSpPr>
          <p:cNvPr id="30" name="Text 26"/>
          <p:cNvSpPr/>
          <p:nvPr/>
        </p:nvSpPr>
        <p:spPr>
          <a:xfrm>
            <a:off x="1066800" y="8753475"/>
            <a:ext cx="14421803" cy="752475"/>
          </a:xfrm>
          <a:prstGeom prst="rect">
            <a:avLst/>
          </a:prstGeom>
          <a:noFill/>
          <a:ln/>
        </p:spPr>
        <p:txBody>
          <a:bodyPr wrap="square" lIns="25400" tIns="25400" rIns="25400" bIns="25400" rtlCol="0" anchor="t">
            <a:normAutofit/>
          </a:bodyPr>
          <a:lstStyle/>
          <a:p>
            <a:pPr algn="l" indent="0" marL="0">
              <a:lnSpc>
                <a:spcPct val="130814"/>
              </a:lnSpc>
              <a:buNone/>
            </a:pPr>
            <a:r>
              <a:rPr lang="en-US" sz="1875" dirty="0">
                <a:solidFill>
                  <a:srgbClr val="8EA0B5"/>
                </a:solidFill>
                <a:latin typeface="Arial" pitchFamily="34" charset="0"/>
                <a:ea typeface="Arial" pitchFamily="34" charset="-122"/>
                <a:cs typeface="Arial" pitchFamily="34" charset="-120"/>
              </a:rPr>
              <a:t>Point clé : Spark est devenu le moteur de calcul principal ; Hive et son metastore restent utiles comme </a:t>
            </a:r>
            <a:pPr algn="l" indent="0" marL="0">
              <a:lnSpc>
                <a:spcPct val="130814"/>
              </a:lnSpc>
              <a:buNone/>
            </a:pPr>
            <a:r>
              <a:rPr lang="en-US" sz="1875" dirty="0">
                <a:solidFill>
                  <a:srgbClr val="EEF3F9"/>
                </a:solidFill>
                <a:latin typeface="Arial" pitchFamily="34" charset="0"/>
                <a:ea typeface="Arial" pitchFamily="34" charset="-122"/>
                <a:cs typeface="Arial" pitchFamily="34" charset="-120"/>
              </a:rPr>
              <a:t>catalogue partagé </a:t>
            </a:r>
            <a:pPr algn="l" indent="0" marL="0">
              <a:lnSpc>
                <a:spcPct val="130814"/>
              </a:lnSpc>
              <a:buNone/>
            </a:pPr>
            <a:r>
              <a:rPr lang="en-US" sz="1875" dirty="0">
                <a:solidFill>
                  <a:srgbClr val="8EA0B5"/>
                </a:solidFill>
                <a:latin typeface="Arial" pitchFamily="34" charset="0"/>
                <a:ea typeface="Arial" pitchFamily="34" charset="-122"/>
                <a:cs typeface="Arial" pitchFamily="34" charset="-120"/>
              </a:rPr>
              <a:t>— l'articulation qu'on retrouve sur Amazon EMR.</a:t>
            </a:r>
            <a:endParaRPr lang="en-US" sz="1875"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05 · PRATIQUE</a:t>
            </a:r>
            <a:endParaRPr lang="en-US" sz="1800" dirty="0"/>
          </a:p>
        </p:txBody>
      </p:sp>
      <p:sp>
        <p:nvSpPr>
          <p:cNvPr id="3" name="Text 1"/>
          <p:cNvSpPr/>
          <p:nvPr/>
        </p:nvSpPr>
        <p:spPr>
          <a:xfrm>
            <a:off x="1066800" y="1314450"/>
            <a:ext cx="11933873"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mêmes questions en Spark SQL</a:t>
            </a:r>
            <a:endParaRPr lang="en-US" sz="4800" dirty="0"/>
          </a:p>
        </p:txBody>
      </p:sp>
      <p:sp>
        <p:nvSpPr>
          <p:cNvPr id="4" name="Shape 2"/>
          <p:cNvSpPr/>
          <p:nvPr/>
        </p:nvSpPr>
        <p:spPr>
          <a:xfrm>
            <a:off x="1066800" y="2291259"/>
            <a:ext cx="9503371" cy="7176592"/>
          </a:xfrm>
          <a:prstGeom prst="roundRect">
            <a:avLst>
              <a:gd name="adj" fmla="val 2124"/>
            </a:avLst>
          </a:prstGeom>
          <a:solidFill>
            <a:srgbClr val="06090E"/>
          </a:solidFill>
          <a:ln w="6350">
            <a:solidFill>
              <a:srgbClr val="FFFFFF">
                <a:alpha val="10000"/>
              </a:srgbClr>
            </a:solidFill>
            <a:prstDash val="solid"/>
          </a:ln>
        </p:spPr>
      </p:sp>
      <p:sp>
        <p:nvSpPr>
          <p:cNvPr id="5" name="Shape 3"/>
          <p:cNvSpPr/>
          <p:nvPr/>
        </p:nvSpPr>
        <p:spPr>
          <a:xfrm>
            <a:off x="1073150" y="2907209"/>
            <a:ext cx="9490671" cy="9525"/>
          </a:xfrm>
          <a:prstGeom prst="rect">
            <a:avLst/>
          </a:prstGeom>
          <a:solidFill>
            <a:srgbClr val="FFFFFF">
              <a:alpha val="6000"/>
            </a:srgbClr>
          </a:solidFill>
          <a:ln/>
        </p:spPr>
      </p:sp>
      <p:sp>
        <p:nvSpPr>
          <p:cNvPr id="6" name="Text 4"/>
          <p:cNvSpPr/>
          <p:nvPr/>
        </p:nvSpPr>
        <p:spPr>
          <a:xfrm>
            <a:off x="1301750" y="2450009"/>
            <a:ext cx="931819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spark.sql — vue temporaire + requête</a:t>
            </a:r>
            <a:endParaRPr lang="en-US" sz="1800" dirty="0"/>
          </a:p>
        </p:txBody>
      </p:sp>
      <p:sp>
        <p:nvSpPr>
          <p:cNvPr id="7" name="Text 5"/>
          <p:cNvSpPr/>
          <p:nvPr/>
        </p:nvSpPr>
        <p:spPr>
          <a:xfrm>
            <a:off x="1358900" y="3161209"/>
            <a:ext cx="9203891" cy="3146425"/>
          </a:xfrm>
          <a:prstGeom prst="rect">
            <a:avLst/>
          </a:prstGeom>
          <a:noFill/>
          <a:ln/>
        </p:spPr>
        <p:txBody>
          <a:bodyPr wrap="none" lIns="25400" tIns="25400" rIns="25400" bIns="25400" rtlCol="0" anchor="t">
            <a:normAutofit/>
          </a:bodyPr>
          <a:lstStyle/>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df.</a:t>
            </a:r>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createOrReplaceTempView</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"purchases" </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spark. </a:t>
            </a:r>
            <a:endParaRPr lang="en-US" sz="1800" dirty="0"/>
          </a:p>
          <a:p>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sql</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 </a:t>
            </a:r>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a:t>
            </a:r>
            <a:endParaRPr lang="en-US" sz="1800" dirty="0"/>
          </a:p>
          <a:p>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  SELECT store, SUM(cost) AS total</a:t>
            </a:r>
            <a:endParaRPr lang="en-US" sz="1800" dirty="0"/>
          </a:p>
          <a:p>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  FROM purchases</a:t>
            </a:r>
            <a:endParaRPr lang="en-US" sz="1800" dirty="0"/>
          </a:p>
          <a:p>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  GROUP BY store</a:t>
            </a:r>
            <a:endParaRPr lang="en-US" sz="1800" dirty="0"/>
          </a:p>
          <a:p>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  ORDER BY total DESC</a:t>
            </a:r>
            <a:endParaRPr lang="en-US" sz="1800" dirty="0"/>
          </a:p>
          <a:p>
            <a:pPr algn="l" indent="0" marL="0">
              <a:lnSpc>
                <a:spcPct val="149268"/>
              </a:lnSpc>
              <a:buNone/>
            </a:pPr>
            <a:r>
              <a:rPr lang="en-US" sz="1800" dirty="0">
                <a:solidFill>
                  <a:srgbClr val="FFB46E"/>
                </a:solidFill>
                <a:latin typeface="Courier New" pitchFamily="34" charset="0"/>
                <a:ea typeface="Courier New" pitchFamily="34" charset="-122"/>
                <a:cs typeface="Courier New" pitchFamily="34" charset="-120"/>
              </a:rPr>
              <a:t>""" </a:t>
            </a:r>
            <a:endParaRPr lang="en-US" sz="1800" dirty="0"/>
          </a:p>
          <a:p>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pPr algn="l" indent="0" marL="0">
              <a:lnSpc>
                <a:spcPct val="149268"/>
              </a:lnSpc>
              <a:buNone/>
            </a:pPr>
            <a:r>
              <a:rPr lang="en-US" sz="1800" dirty="0">
                <a:solidFill>
                  <a:srgbClr val="56DBDB"/>
                </a:solidFill>
                <a:latin typeface="Courier New" pitchFamily="34" charset="0"/>
                <a:ea typeface="Courier New" pitchFamily="34" charset="-122"/>
                <a:cs typeface="Courier New" pitchFamily="34" charset="-120"/>
              </a:rPr>
              <a:t>show</a:t>
            </a:r>
            <a:pPr algn="l" indent="0" marL="0">
              <a:lnSpc>
                <a:spcPct val="149268"/>
              </a:lnSpc>
              <a:buNone/>
            </a:pPr>
            <a:r>
              <a:rPr lang="en-US" sz="1800" dirty="0">
                <a:solidFill>
                  <a:srgbClr val="CDD7E3"/>
                </a:solidFill>
                <a:latin typeface="Courier New" pitchFamily="34" charset="0"/>
                <a:ea typeface="Courier New" pitchFamily="34" charset="-122"/>
                <a:cs typeface="Courier New" pitchFamily="34" charset="-120"/>
              </a:rPr>
              <a:t>()</a:t>
            </a:r>
            <a:endParaRPr lang="en-US" sz="1800" dirty="0"/>
          </a:p>
        </p:txBody>
      </p:sp>
      <p:sp>
        <p:nvSpPr>
          <p:cNvPr id="8" name="Text 6"/>
          <p:cNvSpPr/>
          <p:nvPr/>
        </p:nvSpPr>
        <p:spPr>
          <a:xfrm>
            <a:off x="10894021" y="4615061"/>
            <a:ext cx="283170" cy="37465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Arial" pitchFamily="34" charset="0"/>
                <a:ea typeface="Arial" pitchFamily="34" charset="-122"/>
                <a:cs typeface="Arial" pitchFamily="34" charset="-120"/>
              </a:rPr>
              <a:t>▸</a:t>
            </a:r>
            <a:endParaRPr lang="en-US" sz="1950" dirty="0"/>
          </a:p>
        </p:txBody>
      </p:sp>
      <p:sp>
        <p:nvSpPr>
          <p:cNvPr id="9" name="Text 7"/>
          <p:cNvSpPr/>
          <p:nvPr/>
        </p:nvSpPr>
        <p:spPr>
          <a:xfrm>
            <a:off x="11234341" y="4615061"/>
            <a:ext cx="6166465" cy="728663"/>
          </a:xfrm>
          <a:prstGeom prst="rect">
            <a:avLst/>
          </a:prstGeom>
          <a:noFill/>
          <a:ln/>
        </p:spPr>
        <p:txBody>
          <a:bodyPr wrap="square" lIns="25400" tIns="25400" rIns="25400" bIns="25400" rtlCol="0" anchor="t">
            <a:normAutofit/>
          </a:bodyPr>
          <a:lstStyle/>
          <a:p>
            <a:pPr algn="l" indent="0" marL="0">
              <a:lnSpc>
                <a:spcPct val="126453"/>
              </a:lnSpc>
              <a:buNone/>
            </a:pPr>
            <a:r>
              <a:rPr lang="en-US" sz="1800" dirty="0">
                <a:solidFill>
                  <a:srgbClr val="EEF3F9"/>
                </a:solidFill>
                <a:latin typeface="Courier New" pitchFamily="34" charset="0"/>
                <a:ea typeface="Courier New" pitchFamily="34" charset="-122"/>
                <a:cs typeface="Courier New" pitchFamily="34" charset="-120"/>
              </a:rPr>
              <a:t>createOrReplaceTempView </a:t>
            </a:r>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enregistre le DataFrame comme table SQL</a:t>
            </a:r>
            <a:endParaRPr lang="en-US" sz="1875" dirty="0"/>
          </a:p>
        </p:txBody>
      </p:sp>
      <p:sp>
        <p:nvSpPr>
          <p:cNvPr id="10" name="Text 8"/>
          <p:cNvSpPr/>
          <p:nvPr/>
        </p:nvSpPr>
        <p:spPr>
          <a:xfrm>
            <a:off x="10894021" y="5534224"/>
            <a:ext cx="283170" cy="37465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Arial" pitchFamily="34" charset="0"/>
                <a:ea typeface="Arial" pitchFamily="34" charset="-122"/>
                <a:cs typeface="Arial" pitchFamily="34" charset="-120"/>
              </a:rPr>
              <a:t>▸</a:t>
            </a:r>
            <a:endParaRPr lang="en-US" sz="1950" dirty="0"/>
          </a:p>
        </p:txBody>
      </p:sp>
      <p:sp>
        <p:nvSpPr>
          <p:cNvPr id="11" name="Text 9"/>
          <p:cNvSpPr/>
          <p:nvPr/>
        </p:nvSpPr>
        <p:spPr>
          <a:xfrm>
            <a:off x="11234341" y="5534224"/>
            <a:ext cx="6166465" cy="728663"/>
          </a:xfrm>
          <a:prstGeom prst="rect">
            <a:avLst/>
          </a:prstGeom>
          <a:noFill/>
          <a:ln/>
        </p:spPr>
        <p:txBody>
          <a:bodyPr wrap="square" lIns="25400" tIns="25400" rIns="25400" bIns="25400" rtlCol="0" anchor="t">
            <a:normAutofit/>
          </a:bodyPr>
          <a:lstStyle/>
          <a:p>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Aucune connexion réseau ni serveur : tout tourne dans la session Spark</a:t>
            </a:r>
            <a:endParaRPr lang="en-US" sz="1875" dirty="0"/>
          </a:p>
        </p:txBody>
      </p:sp>
      <p:sp>
        <p:nvSpPr>
          <p:cNvPr id="12" name="Text 10"/>
          <p:cNvSpPr/>
          <p:nvPr/>
        </p:nvSpPr>
        <p:spPr>
          <a:xfrm>
            <a:off x="10894021" y="6453386"/>
            <a:ext cx="283170" cy="374650"/>
          </a:xfrm>
          <a:prstGeom prst="rect">
            <a:avLst/>
          </a:prstGeom>
          <a:noFill/>
          <a:ln/>
        </p:spPr>
        <p:txBody>
          <a:bodyPr wrap="square" lIns="25400" tIns="25400" rIns="25400" bIns="25400" rtlCol="0" anchor="t">
            <a:normAutofit/>
          </a:bodyPr>
          <a:lstStyle/>
          <a:p>
            <a:pPr algn="l" indent="0" marL="0">
              <a:buNone/>
            </a:pPr>
            <a:r>
              <a:rPr lang="en-US" sz="1950" dirty="0">
                <a:solidFill>
                  <a:srgbClr val="B897F0"/>
                </a:solidFill>
                <a:latin typeface="Arial" pitchFamily="34" charset="0"/>
                <a:ea typeface="Arial" pitchFamily="34" charset="-122"/>
                <a:cs typeface="Arial" pitchFamily="34" charset="-120"/>
              </a:rPr>
              <a:t>▸</a:t>
            </a:r>
            <a:endParaRPr lang="en-US" sz="1950" dirty="0"/>
          </a:p>
        </p:txBody>
      </p:sp>
      <p:sp>
        <p:nvSpPr>
          <p:cNvPr id="13" name="Text 11"/>
          <p:cNvSpPr/>
          <p:nvPr/>
        </p:nvSpPr>
        <p:spPr>
          <a:xfrm>
            <a:off x="11234341" y="6453386"/>
            <a:ext cx="6166465" cy="728663"/>
          </a:xfrm>
          <a:prstGeom prst="rect">
            <a:avLst/>
          </a:prstGeom>
          <a:noFill/>
          <a:ln/>
        </p:spPr>
        <p:txBody>
          <a:bodyPr wrap="square" lIns="25400" tIns="25400" rIns="25400" bIns="25400" rtlCol="0" anchor="t">
            <a:normAutofit/>
          </a:bodyPr>
          <a:lstStyle/>
          <a:p>
            <a:pPr algn="l" indent="0" marL="0">
              <a:lnSpc>
                <a:spcPct val="126453"/>
              </a:lnSpc>
              <a:buNone/>
            </a:pPr>
            <a:r>
              <a:rPr lang="en-US" sz="1800" dirty="0">
                <a:solidFill>
                  <a:srgbClr val="EEF3F9"/>
                </a:solidFill>
                <a:latin typeface="Courier New" pitchFamily="34" charset="0"/>
                <a:ea typeface="Courier New" pitchFamily="34" charset="-122"/>
                <a:cs typeface="Courier New" pitchFamily="34" charset="-120"/>
              </a:rPr>
              <a:t>spark.sql(...) </a:t>
            </a:r>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renvoie un DataFrame — on peut y enchaîner </a:t>
            </a:r>
            <a:pPr algn="l" indent="0" marL="0">
              <a:lnSpc>
                <a:spcPct val="126453"/>
              </a:lnSpc>
              <a:buNone/>
            </a:pPr>
            <a:r>
              <a:rPr lang="en-US" sz="1800" dirty="0">
                <a:solidFill>
                  <a:srgbClr val="8EA0B5"/>
                </a:solidFill>
                <a:latin typeface="Courier New" pitchFamily="34" charset="0"/>
                <a:ea typeface="Courier New" pitchFamily="34" charset="-122"/>
                <a:cs typeface="Courier New" pitchFamily="34" charset="-120"/>
              </a:rPr>
              <a:t>.filter()</a:t>
            </a:r>
            <a:pPr algn="l" indent="0" marL="0">
              <a:lnSpc>
                <a:spcPct val="126453"/>
              </a:lnSpc>
              <a:buNone/>
            </a:pPr>
            <a:r>
              <a:rPr lang="en-US" sz="1875" dirty="0">
                <a:solidFill>
                  <a:srgbClr val="8EA0B5"/>
                </a:solidFill>
                <a:latin typeface="Arial" pitchFamily="34" charset="0"/>
                <a:ea typeface="Arial" pitchFamily="34" charset="-122"/>
                <a:cs typeface="Arial" pitchFamily="34" charset="-120"/>
              </a:rPr>
              <a:t>, </a:t>
            </a:r>
            <a:pPr algn="l" indent="0" marL="0">
              <a:lnSpc>
                <a:spcPct val="126453"/>
              </a:lnSpc>
              <a:buNone/>
            </a:pPr>
            <a:r>
              <a:rPr lang="en-US" sz="1800" dirty="0">
                <a:solidFill>
                  <a:srgbClr val="8EA0B5"/>
                </a:solidFill>
                <a:latin typeface="Courier New" pitchFamily="34" charset="0"/>
                <a:ea typeface="Courier New" pitchFamily="34" charset="-122"/>
                <a:cs typeface="Courier New" pitchFamily="34" charset="-120"/>
              </a:rPr>
              <a:t>.orderBy()</a:t>
            </a:r>
            <a:endParaRPr lang="en-US" sz="1875"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B897F0"/>
                </a:solidFill>
                <a:latin typeface="Courier New" pitchFamily="34" charset="0"/>
                <a:ea typeface="Courier New" pitchFamily="34" charset="-122"/>
                <a:cs typeface="Courier New" pitchFamily="34" charset="-120"/>
              </a:rPr>
              <a:t>ATELIER 05 · SYNTHÈSE</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Un résultat, quatre méthodes</a:t>
            </a:r>
            <a:endParaRPr lang="en-US" sz="4800" dirty="0"/>
          </a:p>
        </p:txBody>
      </p:sp>
      <p:sp>
        <p:nvSpPr>
          <p:cNvPr id="4" name="Text 2"/>
          <p:cNvSpPr/>
          <p:nvPr/>
        </p:nvSpPr>
        <p:spPr>
          <a:xfrm>
            <a:off x="1066800" y="2157909"/>
            <a:ext cx="13185648" cy="921941"/>
          </a:xfrm>
          <a:prstGeom prst="rect">
            <a:avLst/>
          </a:prstGeom>
          <a:noFill/>
          <a:ln/>
        </p:spPr>
        <p:txBody>
          <a:bodyPr wrap="square" lIns="25400" tIns="25400" rIns="25400" bIns="25400" rtlCol="0" anchor="t">
            <a:normAutofit/>
          </a:bodyPr>
          <a:lstStyle/>
          <a:p>
            <a:pPr algn="l" indent="0" marL="0">
              <a:lnSpc>
                <a:spcPct val="126545"/>
              </a:lnSpc>
              <a:buNone/>
            </a:pPr>
            <a:r>
              <a:rPr lang="en-US" sz="2400" dirty="0">
                <a:solidFill>
                  <a:srgbClr val="8EA0B5"/>
                </a:solidFill>
                <a:latin typeface="Arial" pitchFamily="34" charset="0"/>
                <a:ea typeface="Arial" pitchFamily="34" charset="-122"/>
                <a:cs typeface="Arial" pitchFamily="34" charset="-120"/>
              </a:rPr>
              <a:t>La même question — </a:t>
            </a:r>
            <a:pPr algn="l" indent="0" marL="0">
              <a:lnSpc>
                <a:spcPct val="126545"/>
              </a:lnSpc>
              <a:buNone/>
            </a:pPr>
            <a:r>
              <a:rPr lang="en-US" sz="2400" dirty="0">
                <a:solidFill>
                  <a:srgbClr val="EEF3F9"/>
                </a:solidFill>
                <a:latin typeface="Arial" pitchFamily="34" charset="0"/>
                <a:ea typeface="Arial" pitchFamily="34" charset="-122"/>
                <a:cs typeface="Arial" pitchFamily="34" charset="-120"/>
              </a:rPr>
              <a:t>ventes par magasin </a:t>
            </a:r>
            <a:pPr algn="l" indent="0" marL="0">
              <a:lnSpc>
                <a:spcPct val="126545"/>
              </a:lnSpc>
              <a:buNone/>
            </a:pPr>
            <a:r>
              <a:rPr lang="en-US" sz="2400" dirty="0">
                <a:solidFill>
                  <a:srgbClr val="8EA0B5"/>
                </a:solidFill>
                <a:latin typeface="Arial" pitchFamily="34" charset="0"/>
                <a:ea typeface="Arial" pitchFamily="34" charset="-122"/>
                <a:cs typeface="Arial" pitchFamily="34" charset="-120"/>
              </a:rPr>
              <a:t>— sur le même fichier, exprimée de quatre façons pour un résultat identique.</a:t>
            </a:r>
            <a:endParaRPr lang="en-US" sz="2400" dirty="0"/>
          </a:p>
        </p:txBody>
      </p:sp>
      <p:sp>
        <p:nvSpPr>
          <p:cNvPr id="5" name="Shape 3"/>
          <p:cNvSpPr/>
          <p:nvPr/>
        </p:nvSpPr>
        <p:spPr>
          <a:xfrm>
            <a:off x="1066800" y="3498949"/>
            <a:ext cx="3681413" cy="5968901"/>
          </a:xfrm>
          <a:prstGeom prst="roundRect">
            <a:avLst>
              <a:gd name="adj" fmla="val 4140"/>
            </a:avLst>
          </a:prstGeom>
          <a:solidFill>
            <a:srgbClr val="FFFFFF">
              <a:alpha val="3000"/>
            </a:srgbClr>
          </a:solidFill>
          <a:ln w="6350">
            <a:solidFill>
              <a:srgbClr val="FFFFFF">
                <a:alpha val="10000"/>
              </a:srgbClr>
            </a:solidFill>
            <a:prstDash val="solid"/>
          </a:ln>
        </p:spPr>
      </p:sp>
      <p:sp>
        <p:nvSpPr>
          <p:cNvPr id="6" name="Text 4"/>
          <p:cNvSpPr/>
          <p:nvPr/>
        </p:nvSpPr>
        <p:spPr>
          <a:xfrm>
            <a:off x="1320800" y="3810099"/>
            <a:ext cx="349075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Atelier 4</a:t>
            </a:r>
            <a:endParaRPr lang="en-US" sz="1800" dirty="0"/>
          </a:p>
        </p:txBody>
      </p:sp>
      <p:sp>
        <p:nvSpPr>
          <p:cNvPr id="7" name="Text 5"/>
          <p:cNvSpPr/>
          <p:nvPr/>
        </p:nvSpPr>
        <p:spPr>
          <a:xfrm>
            <a:off x="1320800" y="4248249"/>
            <a:ext cx="3490754"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RDD</a:t>
            </a:r>
            <a:endParaRPr lang="en-US" sz="2400" dirty="0"/>
          </a:p>
        </p:txBody>
      </p:sp>
      <p:sp>
        <p:nvSpPr>
          <p:cNvPr id="8" name="Text 6"/>
          <p:cNvSpPr/>
          <p:nvPr/>
        </p:nvSpPr>
        <p:spPr>
          <a:xfrm>
            <a:off x="1320800" y="8858250"/>
            <a:ext cx="3268615"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Bas niveau, clé-valeur</a:t>
            </a:r>
            <a:endParaRPr lang="en-US" sz="1800" dirty="0"/>
          </a:p>
        </p:txBody>
      </p:sp>
      <p:sp>
        <p:nvSpPr>
          <p:cNvPr id="9" name="Text 7"/>
          <p:cNvSpPr/>
          <p:nvPr/>
        </p:nvSpPr>
        <p:spPr>
          <a:xfrm>
            <a:off x="4900613" y="3498949"/>
            <a:ext cx="247650" cy="6007001"/>
          </a:xfrm>
          <a:prstGeom prst="rect">
            <a:avLst/>
          </a:prstGeom>
          <a:noFill/>
          <a:ln/>
        </p:spPr>
        <p:txBody>
          <a:bodyPr wrap="square" lIns="25400" tIns="25400" rIns="25400" bIns="25400" rtlCol="0" anchor="ctr">
            <a:normAutofit/>
          </a:bodyPr>
          <a:lstStyle/>
          <a:p>
            <a:pPr algn="l" indent="0" marL="0">
              <a:buNone/>
            </a:pPr>
            <a:r>
              <a:rPr lang="en-US" sz="2250" dirty="0">
                <a:solidFill>
                  <a:srgbClr val="B897F0"/>
                </a:solidFill>
                <a:latin typeface="Arial" pitchFamily="34" charset="0"/>
                <a:ea typeface="Arial" pitchFamily="34" charset="-122"/>
                <a:cs typeface="Arial" pitchFamily="34" charset="-120"/>
              </a:rPr>
              <a:t>=</a:t>
            </a:r>
            <a:endParaRPr lang="en-US" sz="2250" dirty="0"/>
          </a:p>
        </p:txBody>
      </p:sp>
      <p:sp>
        <p:nvSpPr>
          <p:cNvPr id="10" name="Shape 8"/>
          <p:cNvSpPr/>
          <p:nvPr/>
        </p:nvSpPr>
        <p:spPr>
          <a:xfrm>
            <a:off x="5224463" y="3498949"/>
            <a:ext cx="3681413" cy="5968901"/>
          </a:xfrm>
          <a:prstGeom prst="roundRect">
            <a:avLst>
              <a:gd name="adj" fmla="val 4140"/>
            </a:avLst>
          </a:prstGeom>
          <a:solidFill>
            <a:srgbClr val="FFFFFF">
              <a:alpha val="3000"/>
            </a:srgbClr>
          </a:solidFill>
          <a:ln w="6350">
            <a:solidFill>
              <a:srgbClr val="FFFFFF">
                <a:alpha val="10000"/>
              </a:srgbClr>
            </a:solidFill>
            <a:prstDash val="solid"/>
          </a:ln>
        </p:spPr>
      </p:sp>
      <p:sp>
        <p:nvSpPr>
          <p:cNvPr id="11" name="Text 9"/>
          <p:cNvSpPr/>
          <p:nvPr/>
        </p:nvSpPr>
        <p:spPr>
          <a:xfrm>
            <a:off x="5478463" y="3810099"/>
            <a:ext cx="349075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Atelier 4</a:t>
            </a:r>
            <a:endParaRPr lang="en-US" sz="1800" dirty="0"/>
          </a:p>
        </p:txBody>
      </p:sp>
      <p:sp>
        <p:nvSpPr>
          <p:cNvPr id="12" name="Text 10"/>
          <p:cNvSpPr/>
          <p:nvPr/>
        </p:nvSpPr>
        <p:spPr>
          <a:xfrm>
            <a:off x="5478463" y="4248249"/>
            <a:ext cx="3490754"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DataFrame</a:t>
            </a:r>
            <a:endParaRPr lang="en-US" sz="2400" dirty="0"/>
          </a:p>
        </p:txBody>
      </p:sp>
      <p:sp>
        <p:nvSpPr>
          <p:cNvPr id="13" name="Text 11"/>
          <p:cNvSpPr/>
          <p:nvPr/>
        </p:nvSpPr>
        <p:spPr>
          <a:xfrm>
            <a:off x="5478463" y="8858250"/>
            <a:ext cx="3268615"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Haut niveau, Catalyst</a:t>
            </a:r>
            <a:endParaRPr lang="en-US" sz="1800" dirty="0"/>
          </a:p>
        </p:txBody>
      </p:sp>
      <p:sp>
        <p:nvSpPr>
          <p:cNvPr id="14" name="Text 12"/>
          <p:cNvSpPr/>
          <p:nvPr/>
        </p:nvSpPr>
        <p:spPr>
          <a:xfrm>
            <a:off x="9058275" y="3498949"/>
            <a:ext cx="247650" cy="6007001"/>
          </a:xfrm>
          <a:prstGeom prst="rect">
            <a:avLst/>
          </a:prstGeom>
          <a:noFill/>
          <a:ln/>
        </p:spPr>
        <p:txBody>
          <a:bodyPr wrap="square" lIns="25400" tIns="25400" rIns="25400" bIns="25400" rtlCol="0" anchor="ctr">
            <a:normAutofit/>
          </a:bodyPr>
          <a:lstStyle/>
          <a:p>
            <a:pPr algn="l" indent="0" marL="0">
              <a:buNone/>
            </a:pPr>
            <a:r>
              <a:rPr lang="en-US" sz="2250" dirty="0">
                <a:solidFill>
                  <a:srgbClr val="B897F0"/>
                </a:solidFill>
                <a:latin typeface="Arial" pitchFamily="34" charset="0"/>
                <a:ea typeface="Arial" pitchFamily="34" charset="-122"/>
                <a:cs typeface="Arial" pitchFamily="34" charset="-120"/>
              </a:rPr>
              <a:t>=</a:t>
            </a:r>
            <a:endParaRPr lang="en-US" sz="2250" dirty="0"/>
          </a:p>
        </p:txBody>
      </p:sp>
      <p:sp>
        <p:nvSpPr>
          <p:cNvPr id="15" name="Shape 13"/>
          <p:cNvSpPr/>
          <p:nvPr/>
        </p:nvSpPr>
        <p:spPr>
          <a:xfrm>
            <a:off x="9382125" y="3498949"/>
            <a:ext cx="3681413" cy="5968901"/>
          </a:xfrm>
          <a:prstGeom prst="roundRect">
            <a:avLst>
              <a:gd name="adj" fmla="val 4140"/>
            </a:avLst>
          </a:prstGeom>
          <a:solidFill>
            <a:srgbClr val="FFFFFF">
              <a:alpha val="3000"/>
            </a:srgbClr>
          </a:solidFill>
          <a:ln w="6350">
            <a:solidFill>
              <a:srgbClr val="FFFFFF">
                <a:alpha val="10000"/>
              </a:srgbClr>
            </a:solidFill>
            <a:prstDash val="solid"/>
          </a:ln>
        </p:spPr>
      </p:sp>
      <p:sp>
        <p:nvSpPr>
          <p:cNvPr id="16" name="Text 14"/>
          <p:cNvSpPr/>
          <p:nvPr/>
        </p:nvSpPr>
        <p:spPr>
          <a:xfrm>
            <a:off x="9636125" y="3810099"/>
            <a:ext cx="349075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Courier New" pitchFamily="34" charset="0"/>
                <a:ea typeface="Courier New" pitchFamily="34" charset="-122"/>
                <a:cs typeface="Courier New" pitchFamily="34" charset="-120"/>
              </a:rPr>
              <a:t>Atelier 5</a:t>
            </a:r>
            <a:endParaRPr lang="en-US" sz="1800" dirty="0"/>
          </a:p>
        </p:txBody>
      </p:sp>
      <p:sp>
        <p:nvSpPr>
          <p:cNvPr id="17" name="Text 15"/>
          <p:cNvSpPr/>
          <p:nvPr/>
        </p:nvSpPr>
        <p:spPr>
          <a:xfrm>
            <a:off x="9636125" y="4248249"/>
            <a:ext cx="3490754"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Spark SQL</a:t>
            </a:r>
            <a:endParaRPr lang="en-US" sz="2400" dirty="0"/>
          </a:p>
        </p:txBody>
      </p:sp>
      <p:sp>
        <p:nvSpPr>
          <p:cNvPr id="18" name="Text 16"/>
          <p:cNvSpPr/>
          <p:nvPr/>
        </p:nvSpPr>
        <p:spPr>
          <a:xfrm>
            <a:off x="9636125" y="8858250"/>
            <a:ext cx="3268615"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SQL standard, session</a:t>
            </a:r>
            <a:endParaRPr lang="en-US" sz="1800" dirty="0"/>
          </a:p>
        </p:txBody>
      </p:sp>
      <p:sp>
        <p:nvSpPr>
          <p:cNvPr id="19" name="Text 17"/>
          <p:cNvSpPr/>
          <p:nvPr/>
        </p:nvSpPr>
        <p:spPr>
          <a:xfrm>
            <a:off x="13215938" y="3498949"/>
            <a:ext cx="247650" cy="6007001"/>
          </a:xfrm>
          <a:prstGeom prst="rect">
            <a:avLst/>
          </a:prstGeom>
          <a:noFill/>
          <a:ln/>
        </p:spPr>
        <p:txBody>
          <a:bodyPr wrap="square" lIns="25400" tIns="25400" rIns="25400" bIns="25400" rtlCol="0" anchor="ctr">
            <a:normAutofit/>
          </a:bodyPr>
          <a:lstStyle/>
          <a:p>
            <a:pPr algn="l" indent="0" marL="0">
              <a:buNone/>
            </a:pPr>
            <a:r>
              <a:rPr lang="en-US" sz="2250" dirty="0">
                <a:solidFill>
                  <a:srgbClr val="B897F0"/>
                </a:solidFill>
                <a:latin typeface="Arial" pitchFamily="34" charset="0"/>
                <a:ea typeface="Arial" pitchFamily="34" charset="-122"/>
                <a:cs typeface="Arial" pitchFamily="34" charset="-120"/>
              </a:rPr>
              <a:t>=</a:t>
            </a:r>
            <a:endParaRPr lang="en-US" sz="2250" dirty="0"/>
          </a:p>
        </p:txBody>
      </p:sp>
      <p:sp>
        <p:nvSpPr>
          <p:cNvPr id="20" name="Shape 18"/>
          <p:cNvSpPr/>
          <p:nvPr/>
        </p:nvSpPr>
        <p:spPr>
          <a:xfrm>
            <a:off x="13539788" y="3498949"/>
            <a:ext cx="3681413" cy="5968901"/>
          </a:xfrm>
          <a:prstGeom prst="roundRect">
            <a:avLst>
              <a:gd name="adj" fmla="val 4140"/>
            </a:avLst>
          </a:prstGeom>
          <a:solidFill>
            <a:srgbClr val="FFFFFF">
              <a:alpha val="3000"/>
            </a:srgbClr>
          </a:solidFill>
          <a:ln w="6350">
            <a:solidFill>
              <a:srgbClr val="C4ACF4">
                <a:alpha val="37000"/>
              </a:srgbClr>
            </a:solidFill>
            <a:prstDash val="solid"/>
          </a:ln>
        </p:spPr>
      </p:sp>
      <p:sp>
        <p:nvSpPr>
          <p:cNvPr id="21" name="Text 19"/>
          <p:cNvSpPr/>
          <p:nvPr/>
        </p:nvSpPr>
        <p:spPr>
          <a:xfrm>
            <a:off x="13793788" y="3810099"/>
            <a:ext cx="3490754" cy="342900"/>
          </a:xfrm>
          <a:prstGeom prst="rect">
            <a:avLst/>
          </a:prstGeom>
          <a:noFill/>
          <a:ln/>
        </p:spPr>
        <p:txBody>
          <a:bodyPr wrap="square" lIns="25400" tIns="25400" rIns="25400" bIns="25400" rtlCol="0" anchor="t">
            <a:normAutofit/>
          </a:bodyPr>
          <a:lstStyle/>
          <a:p>
            <a:pPr algn="l" indent="0" marL="0">
              <a:buNone/>
            </a:pPr>
            <a:r>
              <a:rPr lang="en-US" sz="1800" dirty="0">
                <a:solidFill>
                  <a:srgbClr val="B897F0"/>
                </a:solidFill>
                <a:latin typeface="Courier New" pitchFamily="34" charset="0"/>
                <a:ea typeface="Courier New" pitchFamily="34" charset="-122"/>
                <a:cs typeface="Courier New" pitchFamily="34" charset="-120"/>
              </a:rPr>
              <a:t>Atelier 5</a:t>
            </a:r>
            <a:endParaRPr lang="en-US" sz="1800" dirty="0"/>
          </a:p>
        </p:txBody>
      </p:sp>
      <p:sp>
        <p:nvSpPr>
          <p:cNvPr id="22" name="Text 20"/>
          <p:cNvSpPr/>
          <p:nvPr/>
        </p:nvSpPr>
        <p:spPr>
          <a:xfrm>
            <a:off x="13793788" y="4248249"/>
            <a:ext cx="3490754"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HiveQL</a:t>
            </a:r>
            <a:endParaRPr lang="en-US" sz="2400" dirty="0"/>
          </a:p>
        </p:txBody>
      </p:sp>
      <p:sp>
        <p:nvSpPr>
          <p:cNvPr id="23" name="Text 21"/>
          <p:cNvSpPr/>
          <p:nvPr/>
        </p:nvSpPr>
        <p:spPr>
          <a:xfrm>
            <a:off x="13793788" y="8858250"/>
            <a:ext cx="3268615"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SQL sur HDFS</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2932807"/>
            <a:ext cx="17769840" cy="368300"/>
          </a:xfrm>
          <a:prstGeom prst="rect">
            <a:avLst/>
          </a:prstGeom>
          <a:noFill/>
          <a:ln/>
        </p:spPr>
        <p:txBody>
          <a:bodyPr wrap="square" lIns="25400" tIns="25400" rIns="25400" bIns="25400" rtlCol="0" anchor="t">
            <a:normAutofit/>
          </a:bodyPr>
          <a:lstStyle/>
          <a:p>
            <a:pPr algn="l" indent="0" marL="0">
              <a:buNone/>
            </a:pPr>
            <a:r>
              <a:rPr lang="en-US" sz="1950" spc="546" kern="0" dirty="0">
                <a:solidFill>
                  <a:srgbClr val="FFB46E"/>
                </a:solidFill>
                <a:latin typeface="Courier New" pitchFamily="34" charset="0"/>
                <a:ea typeface="Courier New" pitchFamily="34" charset="-122"/>
                <a:cs typeface="Courier New" pitchFamily="34" charset="-120"/>
              </a:rPr>
              <a:t>ATELIER 06 · 3 HEURES</a:t>
            </a:r>
            <a:endParaRPr lang="en-US" sz="1950" dirty="0"/>
          </a:p>
        </p:txBody>
      </p:sp>
      <p:sp>
        <p:nvSpPr>
          <p:cNvPr id="3" name="Text 1"/>
          <p:cNvSpPr/>
          <p:nvPr/>
        </p:nvSpPr>
        <p:spPr>
          <a:xfrm>
            <a:off x="1066800" y="3339207"/>
            <a:ext cx="17769840" cy="1924050"/>
          </a:xfrm>
          <a:prstGeom prst="rect">
            <a:avLst/>
          </a:prstGeom>
          <a:noFill/>
          <a:ln/>
        </p:spPr>
        <p:txBody>
          <a:bodyPr wrap="square" lIns="25400" tIns="25400" rIns="25400" bIns="25400" rtlCol="0" anchor="t">
            <a:normAutofit/>
          </a:bodyPr>
          <a:lstStyle/>
          <a:p>
            <a:pPr algn="l" indent="0" marL="0">
              <a:lnSpc>
                <a:spcPct val="78158"/>
              </a:lnSpc>
              <a:buNone/>
            </a:pPr>
            <a:r>
              <a:rPr lang="en-US" sz="16500" b="1" spc="-660" kern="0" dirty="0">
                <a:solidFill>
                  <a:srgbClr val="FEC695"/>
                </a:solidFill>
                <a:latin typeface="Arial" pitchFamily="34" charset="0"/>
                <a:ea typeface="Arial" pitchFamily="34" charset="-122"/>
                <a:cs typeface="Arial" pitchFamily="34" charset="-120"/>
              </a:rPr>
              <a:t>06</a:t>
            </a:r>
            <a:endParaRPr lang="en-US" sz="16500" dirty="0"/>
          </a:p>
        </p:txBody>
      </p:sp>
      <p:sp>
        <p:nvSpPr>
          <p:cNvPr id="4" name="Text 2"/>
          <p:cNvSpPr/>
          <p:nvPr/>
        </p:nvSpPr>
        <p:spPr>
          <a:xfrm>
            <a:off x="1066800" y="5301357"/>
            <a:ext cx="17769840" cy="776387"/>
          </a:xfrm>
          <a:prstGeom prst="rect">
            <a:avLst/>
          </a:prstGeom>
          <a:noFill/>
          <a:ln/>
        </p:spPr>
        <p:txBody>
          <a:bodyPr wrap="square" lIns="25400" tIns="25400" rIns="25400" bIns="25400" rtlCol="0" anchor="t">
            <a:normAutofit/>
          </a:bodyPr>
          <a:lstStyle/>
          <a:p>
            <a:pPr algn="l" indent="0" marL="0">
              <a:lnSpc>
                <a:spcPct val="88763"/>
              </a:lnSpc>
              <a:buNone/>
            </a:pPr>
            <a:r>
              <a:rPr lang="en-US" sz="5700" b="1" spc="-114" kern="0" dirty="0">
                <a:solidFill>
                  <a:srgbClr val="EEF3F9"/>
                </a:solidFill>
                <a:latin typeface="Arial" pitchFamily="34" charset="0"/>
                <a:ea typeface="Arial" pitchFamily="34" charset="-122"/>
                <a:cs typeface="Arial" pitchFamily="34" charset="-120"/>
              </a:rPr>
              <a:t>Introduction au Cloud Computing</a:t>
            </a:r>
            <a:endParaRPr lang="en-US" sz="5700" dirty="0"/>
          </a:p>
        </p:txBody>
      </p:sp>
      <p:sp>
        <p:nvSpPr>
          <p:cNvPr id="5" name="Text 3"/>
          <p:cNvSpPr/>
          <p:nvPr/>
        </p:nvSpPr>
        <p:spPr>
          <a:xfrm>
            <a:off x="1066800" y="6287294"/>
            <a:ext cx="10831068" cy="1104900"/>
          </a:xfrm>
          <a:prstGeom prst="rect">
            <a:avLst/>
          </a:prstGeom>
          <a:noFill/>
          <a:ln/>
        </p:spPr>
        <p:txBody>
          <a:bodyPr wrap="square" lIns="25400" tIns="25400" rIns="25400" bIns="25400" rtlCol="0" anchor="t">
            <a:normAutofit/>
          </a:bodyPr>
          <a:lstStyle/>
          <a:p>
            <a:pPr algn="l" indent="0" marL="0">
              <a:lnSpc>
                <a:spcPct val="121739"/>
              </a:lnSpc>
              <a:buNone/>
            </a:pPr>
            <a:r>
              <a:rPr lang="en-US" sz="3000" dirty="0">
                <a:solidFill>
                  <a:srgbClr val="8EA0B5"/>
                </a:solidFill>
                <a:latin typeface="Arial" pitchFamily="34" charset="0"/>
                <a:ea typeface="Arial" pitchFamily="34" charset="-122"/>
                <a:cs typeface="Arial" pitchFamily="34" charset="-120"/>
              </a:rPr>
              <a:t>Des ressources à la demande, facturées à l'usage — et les briques AWS sur lesquelles reposera EMR.</a:t>
            </a:r>
            <a:endParaRPr lang="en-US" sz="3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06 · FONDEMENTS</a:t>
            </a:r>
            <a:endParaRPr lang="en-US" sz="1800" dirty="0"/>
          </a:p>
        </p:txBody>
      </p:sp>
      <p:sp>
        <p:nvSpPr>
          <p:cNvPr id="3" name="Text 1"/>
          <p:cNvSpPr/>
          <p:nvPr/>
        </p:nvSpPr>
        <p:spPr>
          <a:xfrm>
            <a:off x="1066800" y="1314450"/>
            <a:ext cx="9079236"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Qu'est-ce que le Cloud Computing ?</a:t>
            </a:r>
            <a:endParaRPr lang="en-US" sz="4800" dirty="0"/>
          </a:p>
        </p:txBody>
      </p:sp>
      <p:sp>
        <p:nvSpPr>
          <p:cNvPr id="4" name="Shape 2"/>
          <p:cNvSpPr/>
          <p:nvPr/>
        </p:nvSpPr>
        <p:spPr>
          <a:xfrm>
            <a:off x="1066800" y="3039467"/>
            <a:ext cx="7934325" cy="6428383"/>
          </a:xfrm>
          <a:prstGeom prst="roundRect">
            <a:avLst>
              <a:gd name="adj" fmla="val 2667"/>
            </a:avLst>
          </a:prstGeom>
          <a:solidFill>
            <a:srgbClr val="FFFFFF">
              <a:alpha val="3000"/>
            </a:srgbClr>
          </a:solidFill>
          <a:ln w="6350">
            <a:solidFill>
              <a:srgbClr val="FFFFFF">
                <a:alpha val="10000"/>
              </a:srgbClr>
            </a:solidFill>
            <a:prstDash val="solid"/>
          </a:ln>
        </p:spPr>
      </p:sp>
      <p:pic>
        <p:nvPicPr>
          <p:cNvPr id="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435100" y="3426817"/>
            <a:ext cx="552450" cy="552450"/>
          </a:xfrm>
          <a:prstGeom prst="rect">
            <a:avLst/>
          </a:prstGeom>
        </p:spPr>
      </p:pic>
      <p:sp>
        <p:nvSpPr>
          <p:cNvPr id="6" name="Text 3"/>
          <p:cNvSpPr/>
          <p:nvPr/>
        </p:nvSpPr>
        <p:spPr>
          <a:xfrm>
            <a:off x="1435100" y="4188817"/>
            <a:ext cx="7917498"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FFB46E"/>
                </a:solidFill>
                <a:latin typeface="Arial" pitchFamily="34" charset="0"/>
                <a:ea typeface="Arial" pitchFamily="34" charset="-122"/>
                <a:cs typeface="Arial" pitchFamily="34" charset="-120"/>
              </a:rPr>
              <a:t>À la demande, via Internet</a:t>
            </a:r>
            <a:endParaRPr lang="en-US" sz="2475" dirty="0"/>
          </a:p>
        </p:txBody>
      </p:sp>
      <p:sp>
        <p:nvSpPr>
          <p:cNvPr id="7" name="Text 4"/>
          <p:cNvSpPr/>
          <p:nvPr/>
        </p:nvSpPr>
        <p:spPr>
          <a:xfrm>
            <a:off x="1435100" y="4703167"/>
            <a:ext cx="7413657"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Calcul, stockage, réseau, bases de données auprès d'un fournisseur — plutôt que d'acheter et gérer ses serveurs.</a:t>
            </a:r>
            <a:endParaRPr lang="en-US" sz="2025" dirty="0"/>
          </a:p>
        </p:txBody>
      </p:sp>
      <p:sp>
        <p:nvSpPr>
          <p:cNvPr id="8" name="Text 5"/>
          <p:cNvSpPr/>
          <p:nvPr/>
        </p:nvSpPr>
        <p:spPr>
          <a:xfrm>
            <a:off x="1435100" y="8775700"/>
            <a:ext cx="7413657"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pay-as-you-go</a:t>
            </a:r>
            <a:endParaRPr lang="en-US" sz="1800" dirty="0"/>
          </a:p>
        </p:txBody>
      </p:sp>
      <p:sp>
        <p:nvSpPr>
          <p:cNvPr id="9" name="Shape 6"/>
          <p:cNvSpPr/>
          <p:nvPr/>
        </p:nvSpPr>
        <p:spPr>
          <a:xfrm>
            <a:off x="9286875" y="3039467"/>
            <a:ext cx="7934325" cy="6428383"/>
          </a:xfrm>
          <a:prstGeom prst="roundRect">
            <a:avLst>
              <a:gd name="adj" fmla="val 2667"/>
            </a:avLst>
          </a:prstGeom>
          <a:solidFill>
            <a:srgbClr val="FFFFFF">
              <a:alpha val="3000"/>
            </a:srgbClr>
          </a:solidFill>
          <a:ln w="6350">
            <a:solidFill>
              <a:srgbClr val="FFFFFF">
                <a:alpha val="10000"/>
              </a:srgbClr>
            </a:solidFill>
            <a:prstDash val="solid"/>
          </a:ln>
        </p:spPr>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55175" y="3426817"/>
            <a:ext cx="552450" cy="552450"/>
          </a:xfrm>
          <a:prstGeom prst="rect">
            <a:avLst/>
          </a:prstGeom>
        </p:spPr>
      </p:pic>
      <p:sp>
        <p:nvSpPr>
          <p:cNvPr id="11" name="Text 7"/>
          <p:cNvSpPr/>
          <p:nvPr/>
        </p:nvSpPr>
        <p:spPr>
          <a:xfrm>
            <a:off x="9655175" y="4188817"/>
            <a:ext cx="7917498"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FFB46E"/>
                </a:solidFill>
                <a:latin typeface="Arial" pitchFamily="34" charset="0"/>
                <a:ea typeface="Arial" pitchFamily="34" charset="-122"/>
                <a:cs typeface="Arial" pitchFamily="34" charset="-120"/>
              </a:rPr>
              <a:t>La virtualisation</a:t>
            </a:r>
            <a:endParaRPr lang="en-US" sz="2475" dirty="0"/>
          </a:p>
        </p:txBody>
      </p:sp>
      <p:sp>
        <p:nvSpPr>
          <p:cNvPr id="12" name="Text 8"/>
          <p:cNvSpPr/>
          <p:nvPr/>
        </p:nvSpPr>
        <p:spPr>
          <a:xfrm>
            <a:off x="9655175" y="4703167"/>
            <a:ext cx="7413657"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Plusieurs machines virtuelles isolées sur un même serveur physique, via un </a:t>
            </a:r>
            <a:pPr algn="l" indent="0" marL="0">
              <a:lnSpc>
                <a:spcPct val="129255"/>
              </a:lnSpc>
              <a:buNone/>
            </a:pPr>
            <a:r>
              <a:rPr lang="en-US" sz="2025" dirty="0">
                <a:solidFill>
                  <a:srgbClr val="EEF3F9"/>
                </a:solidFill>
                <a:latin typeface="Arial" pitchFamily="34" charset="0"/>
                <a:ea typeface="Arial" pitchFamily="34" charset="-122"/>
                <a:cs typeface="Arial" pitchFamily="34" charset="-120"/>
              </a:rPr>
              <a:t>hyperviseur </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 C'est ce qui rend le Cloud possible.</a:t>
            </a:r>
            <a:endParaRPr lang="en-US" sz="2025" dirty="0"/>
          </a:p>
        </p:txBody>
      </p:sp>
      <p:sp>
        <p:nvSpPr>
          <p:cNvPr id="13" name="Text 9"/>
          <p:cNvSpPr/>
          <p:nvPr/>
        </p:nvSpPr>
        <p:spPr>
          <a:xfrm>
            <a:off x="9655175" y="8782050"/>
            <a:ext cx="7413657"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Un VPS = une VM louée chez un hébergeur.</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06 · MODÈLES DE SERVICE</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IaaS, PaaS, SaaS</a:t>
            </a:r>
            <a:endParaRPr lang="en-US" sz="4800" dirty="0"/>
          </a:p>
        </p:txBody>
      </p:sp>
      <p:sp>
        <p:nvSpPr>
          <p:cNvPr id="4" name="Shape 2"/>
          <p:cNvSpPr/>
          <p:nvPr/>
        </p:nvSpPr>
        <p:spPr>
          <a:xfrm>
            <a:off x="1066800" y="2367459"/>
            <a:ext cx="5232400" cy="6547942"/>
          </a:xfrm>
          <a:prstGeom prst="roundRect">
            <a:avLst>
              <a:gd name="adj" fmla="val 3277"/>
            </a:avLst>
          </a:prstGeom>
          <a:solidFill>
            <a:srgbClr val="FFFFFF">
              <a:alpha val="3000"/>
            </a:srgbClr>
          </a:solidFill>
          <a:ln w="6350">
            <a:solidFill>
              <a:srgbClr val="FFFFFF">
                <a:alpha val="10000"/>
              </a:srgbClr>
            </a:solidFill>
            <a:prstDash val="solid"/>
          </a:ln>
        </p:spPr>
      </p:sp>
      <p:sp>
        <p:nvSpPr>
          <p:cNvPr id="5" name="Text 3"/>
          <p:cNvSpPr/>
          <p:nvPr/>
        </p:nvSpPr>
        <p:spPr>
          <a:xfrm>
            <a:off x="1358900" y="2697659"/>
            <a:ext cx="722809"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EEF3F9"/>
                </a:solidFill>
                <a:latin typeface="Arial" pitchFamily="34" charset="0"/>
                <a:ea typeface="Arial" pitchFamily="34" charset="-122"/>
                <a:cs typeface="Arial" pitchFamily="34" charset="-120"/>
              </a:rPr>
              <a:t>IaaS</a:t>
            </a:r>
            <a:endParaRPr lang="en-US" sz="2475" dirty="0"/>
          </a:p>
        </p:txBody>
      </p:sp>
      <p:sp>
        <p:nvSpPr>
          <p:cNvPr id="6" name="Text 4"/>
          <p:cNvSpPr/>
          <p:nvPr/>
        </p:nvSpPr>
        <p:spPr>
          <a:xfrm>
            <a:off x="4909741" y="2754809"/>
            <a:ext cx="117355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EC2 · S3</a:t>
            </a:r>
            <a:endParaRPr lang="en-US" sz="1800" dirty="0"/>
          </a:p>
        </p:txBody>
      </p:sp>
      <p:sp>
        <p:nvSpPr>
          <p:cNvPr id="7" name="Text 5"/>
          <p:cNvSpPr/>
          <p:nvPr/>
        </p:nvSpPr>
        <p:spPr>
          <a:xfrm>
            <a:off x="1358900" y="3192959"/>
            <a:ext cx="5113020" cy="369491"/>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Serveurs virtuels, stockage, réseau.</a:t>
            </a:r>
            <a:endParaRPr lang="en-US" sz="1800" dirty="0"/>
          </a:p>
        </p:txBody>
      </p:sp>
      <p:sp>
        <p:nvSpPr>
          <p:cNvPr id="8" name="Shape 6"/>
          <p:cNvSpPr/>
          <p:nvPr/>
        </p:nvSpPr>
        <p:spPr>
          <a:xfrm>
            <a:off x="1358900" y="3752949"/>
            <a:ext cx="4648200" cy="527050"/>
          </a:xfrm>
          <a:prstGeom prst="roundRect">
            <a:avLst>
              <a:gd name="adj" fmla="val 10843"/>
            </a:avLst>
          </a:prstGeom>
          <a:solidFill>
            <a:srgbClr val="FFBE83">
              <a:alpha val="32000"/>
            </a:srgbClr>
          </a:solidFill>
          <a:ln/>
        </p:spPr>
      </p:sp>
      <p:sp>
        <p:nvSpPr>
          <p:cNvPr id="9" name="Text 7"/>
          <p:cNvSpPr/>
          <p:nvPr/>
        </p:nvSpPr>
        <p:spPr>
          <a:xfrm>
            <a:off x="1492250" y="3867249"/>
            <a:ext cx="4520946" cy="33655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Arial" pitchFamily="34" charset="0"/>
                <a:ea typeface="Arial" pitchFamily="34" charset="-122"/>
                <a:cs typeface="Arial" pitchFamily="34" charset="-120"/>
              </a:rPr>
              <a:t>Vous : OS, middleware, apps, données</a:t>
            </a:r>
            <a:endParaRPr lang="en-US" sz="1800" dirty="0"/>
          </a:p>
        </p:txBody>
      </p:sp>
      <p:sp>
        <p:nvSpPr>
          <p:cNvPr id="10" name="Shape 8"/>
          <p:cNvSpPr/>
          <p:nvPr/>
        </p:nvSpPr>
        <p:spPr>
          <a:xfrm>
            <a:off x="1358900" y="4356199"/>
            <a:ext cx="4648200" cy="527050"/>
          </a:xfrm>
          <a:prstGeom prst="roundRect">
            <a:avLst>
              <a:gd name="adj" fmla="val 10843"/>
            </a:avLst>
          </a:prstGeom>
          <a:solidFill>
            <a:srgbClr val="FFFFFF">
              <a:alpha val="6000"/>
            </a:srgbClr>
          </a:solidFill>
          <a:ln/>
        </p:spPr>
      </p:sp>
      <p:sp>
        <p:nvSpPr>
          <p:cNvPr id="11" name="Text 9"/>
          <p:cNvSpPr/>
          <p:nvPr/>
        </p:nvSpPr>
        <p:spPr>
          <a:xfrm>
            <a:off x="1492250" y="4470499"/>
            <a:ext cx="4520946"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Fournisseur : virtualisation, matériel</a:t>
            </a:r>
            <a:endParaRPr lang="en-US" sz="1800" dirty="0"/>
          </a:p>
        </p:txBody>
      </p:sp>
      <p:sp>
        <p:nvSpPr>
          <p:cNvPr id="12" name="Shape 10"/>
          <p:cNvSpPr/>
          <p:nvPr/>
        </p:nvSpPr>
        <p:spPr>
          <a:xfrm>
            <a:off x="6527800" y="2367459"/>
            <a:ext cx="5232400" cy="6547942"/>
          </a:xfrm>
          <a:prstGeom prst="roundRect">
            <a:avLst>
              <a:gd name="adj" fmla="val 3277"/>
            </a:avLst>
          </a:prstGeom>
          <a:solidFill>
            <a:srgbClr val="FFFFFF">
              <a:alpha val="3000"/>
            </a:srgbClr>
          </a:solidFill>
          <a:ln w="6350">
            <a:solidFill>
              <a:srgbClr val="FFFFFF">
                <a:alpha val="10000"/>
              </a:srgbClr>
            </a:solidFill>
            <a:prstDash val="solid"/>
          </a:ln>
        </p:spPr>
      </p:sp>
      <p:sp>
        <p:nvSpPr>
          <p:cNvPr id="13" name="Text 11"/>
          <p:cNvSpPr/>
          <p:nvPr/>
        </p:nvSpPr>
        <p:spPr>
          <a:xfrm>
            <a:off x="6819900" y="2697659"/>
            <a:ext cx="845145"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EEF3F9"/>
                </a:solidFill>
                <a:latin typeface="Arial" pitchFamily="34" charset="0"/>
                <a:ea typeface="Arial" pitchFamily="34" charset="-122"/>
                <a:cs typeface="Arial" pitchFamily="34" charset="-120"/>
              </a:rPr>
              <a:t>PaaS</a:t>
            </a:r>
            <a:endParaRPr lang="en-US" sz="2475" dirty="0"/>
          </a:p>
        </p:txBody>
      </p:sp>
      <p:sp>
        <p:nvSpPr>
          <p:cNvPr id="14" name="Text 12"/>
          <p:cNvSpPr/>
          <p:nvPr/>
        </p:nvSpPr>
        <p:spPr>
          <a:xfrm>
            <a:off x="8999141" y="2754809"/>
            <a:ext cx="271585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Beanstalk · Heroku</a:t>
            </a:r>
            <a:endParaRPr lang="en-US" sz="1800" dirty="0"/>
          </a:p>
        </p:txBody>
      </p:sp>
      <p:sp>
        <p:nvSpPr>
          <p:cNvPr id="15" name="Text 13"/>
          <p:cNvSpPr/>
          <p:nvPr/>
        </p:nvSpPr>
        <p:spPr>
          <a:xfrm>
            <a:off x="6819900" y="3192959"/>
            <a:ext cx="5113020" cy="369491"/>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 environnement d'exécution géré.</a:t>
            </a:r>
            <a:endParaRPr lang="en-US" sz="1800" dirty="0"/>
          </a:p>
        </p:txBody>
      </p:sp>
      <p:sp>
        <p:nvSpPr>
          <p:cNvPr id="16" name="Shape 14"/>
          <p:cNvSpPr/>
          <p:nvPr/>
        </p:nvSpPr>
        <p:spPr>
          <a:xfrm>
            <a:off x="6819900" y="3752949"/>
            <a:ext cx="4648200" cy="527050"/>
          </a:xfrm>
          <a:prstGeom prst="roundRect">
            <a:avLst>
              <a:gd name="adj" fmla="val 10843"/>
            </a:avLst>
          </a:prstGeom>
          <a:solidFill>
            <a:srgbClr val="FFBE83">
              <a:alpha val="32000"/>
            </a:srgbClr>
          </a:solidFill>
          <a:ln/>
        </p:spPr>
      </p:sp>
      <p:sp>
        <p:nvSpPr>
          <p:cNvPr id="17" name="Text 15"/>
          <p:cNvSpPr/>
          <p:nvPr/>
        </p:nvSpPr>
        <p:spPr>
          <a:xfrm>
            <a:off x="6953250" y="3867249"/>
            <a:ext cx="4520946" cy="33655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Arial" pitchFamily="34" charset="0"/>
                <a:ea typeface="Arial" pitchFamily="34" charset="-122"/>
                <a:cs typeface="Arial" pitchFamily="34" charset="-120"/>
              </a:rPr>
              <a:t>Vous : code applicatif, données</a:t>
            </a:r>
            <a:endParaRPr lang="en-US" sz="1800" dirty="0"/>
          </a:p>
        </p:txBody>
      </p:sp>
      <p:sp>
        <p:nvSpPr>
          <p:cNvPr id="18" name="Shape 16"/>
          <p:cNvSpPr/>
          <p:nvPr/>
        </p:nvSpPr>
        <p:spPr>
          <a:xfrm>
            <a:off x="6819900" y="4356199"/>
            <a:ext cx="4648200" cy="527050"/>
          </a:xfrm>
          <a:prstGeom prst="roundRect">
            <a:avLst>
              <a:gd name="adj" fmla="val 10843"/>
            </a:avLst>
          </a:prstGeom>
          <a:solidFill>
            <a:srgbClr val="FFFFFF">
              <a:alpha val="6000"/>
            </a:srgbClr>
          </a:solidFill>
          <a:ln/>
        </p:spPr>
      </p:sp>
      <p:sp>
        <p:nvSpPr>
          <p:cNvPr id="19" name="Text 17"/>
          <p:cNvSpPr/>
          <p:nvPr/>
        </p:nvSpPr>
        <p:spPr>
          <a:xfrm>
            <a:off x="6953250" y="4470499"/>
            <a:ext cx="4520946"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Fournisseur : tout le reste</a:t>
            </a:r>
            <a:endParaRPr lang="en-US" sz="1800" dirty="0"/>
          </a:p>
        </p:txBody>
      </p:sp>
      <p:sp>
        <p:nvSpPr>
          <p:cNvPr id="20" name="Shape 18"/>
          <p:cNvSpPr/>
          <p:nvPr/>
        </p:nvSpPr>
        <p:spPr>
          <a:xfrm>
            <a:off x="11988801" y="2367459"/>
            <a:ext cx="5232400" cy="6547942"/>
          </a:xfrm>
          <a:prstGeom prst="roundRect">
            <a:avLst>
              <a:gd name="adj" fmla="val 3277"/>
            </a:avLst>
          </a:prstGeom>
          <a:solidFill>
            <a:srgbClr val="FFFFFF">
              <a:alpha val="3000"/>
            </a:srgbClr>
          </a:solidFill>
          <a:ln w="6350">
            <a:solidFill>
              <a:srgbClr val="FFFFFF">
                <a:alpha val="10000"/>
              </a:srgbClr>
            </a:solidFill>
            <a:prstDash val="solid"/>
          </a:ln>
        </p:spPr>
      </p:sp>
      <p:sp>
        <p:nvSpPr>
          <p:cNvPr id="21" name="Text 19"/>
          <p:cNvSpPr/>
          <p:nvPr/>
        </p:nvSpPr>
        <p:spPr>
          <a:xfrm>
            <a:off x="12280900" y="2697659"/>
            <a:ext cx="845145"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EEF3F9"/>
                </a:solidFill>
                <a:latin typeface="Arial" pitchFamily="34" charset="0"/>
                <a:ea typeface="Arial" pitchFamily="34" charset="-122"/>
                <a:cs typeface="Arial" pitchFamily="34" charset="-120"/>
              </a:rPr>
              <a:t>SaaS</a:t>
            </a:r>
            <a:endParaRPr lang="en-US" sz="2475" dirty="0"/>
          </a:p>
        </p:txBody>
      </p:sp>
      <p:sp>
        <p:nvSpPr>
          <p:cNvPr id="22" name="Text 20"/>
          <p:cNvSpPr/>
          <p:nvPr/>
        </p:nvSpPr>
        <p:spPr>
          <a:xfrm>
            <a:off x="14460141" y="2754809"/>
            <a:ext cx="2715855"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Gmail · Salesforce</a:t>
            </a:r>
            <a:endParaRPr lang="en-US" sz="1800" dirty="0"/>
          </a:p>
        </p:txBody>
      </p:sp>
      <p:sp>
        <p:nvSpPr>
          <p:cNvPr id="23" name="Text 21"/>
          <p:cNvSpPr/>
          <p:nvPr/>
        </p:nvSpPr>
        <p:spPr>
          <a:xfrm>
            <a:off x="12280900" y="3192959"/>
            <a:ext cx="5113020" cy="369491"/>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Application complète, prête à l'emploi.</a:t>
            </a:r>
            <a:endParaRPr lang="en-US" sz="1800" dirty="0"/>
          </a:p>
        </p:txBody>
      </p:sp>
      <p:sp>
        <p:nvSpPr>
          <p:cNvPr id="24" name="Shape 22"/>
          <p:cNvSpPr/>
          <p:nvPr/>
        </p:nvSpPr>
        <p:spPr>
          <a:xfrm>
            <a:off x="12280900" y="3752949"/>
            <a:ext cx="4648200" cy="527050"/>
          </a:xfrm>
          <a:prstGeom prst="roundRect">
            <a:avLst>
              <a:gd name="adj" fmla="val 10843"/>
            </a:avLst>
          </a:prstGeom>
          <a:solidFill>
            <a:srgbClr val="FFBE83">
              <a:alpha val="32000"/>
            </a:srgbClr>
          </a:solidFill>
          <a:ln/>
        </p:spPr>
      </p:sp>
      <p:sp>
        <p:nvSpPr>
          <p:cNvPr id="25" name="Text 23"/>
          <p:cNvSpPr/>
          <p:nvPr/>
        </p:nvSpPr>
        <p:spPr>
          <a:xfrm>
            <a:off x="12414250" y="3867249"/>
            <a:ext cx="4520946" cy="33655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Arial" pitchFamily="34" charset="0"/>
                <a:ea typeface="Arial" pitchFamily="34" charset="-122"/>
                <a:cs typeface="Arial" pitchFamily="34" charset="-120"/>
              </a:rPr>
              <a:t>Vous : utilisation, configuration</a:t>
            </a:r>
            <a:endParaRPr lang="en-US" sz="1800" dirty="0"/>
          </a:p>
        </p:txBody>
      </p:sp>
      <p:sp>
        <p:nvSpPr>
          <p:cNvPr id="26" name="Shape 24"/>
          <p:cNvSpPr/>
          <p:nvPr/>
        </p:nvSpPr>
        <p:spPr>
          <a:xfrm>
            <a:off x="12280900" y="4356199"/>
            <a:ext cx="4648200" cy="527050"/>
          </a:xfrm>
          <a:prstGeom prst="roundRect">
            <a:avLst>
              <a:gd name="adj" fmla="val 10843"/>
            </a:avLst>
          </a:prstGeom>
          <a:solidFill>
            <a:srgbClr val="FFFFFF">
              <a:alpha val="6000"/>
            </a:srgbClr>
          </a:solidFill>
          <a:ln/>
        </p:spPr>
      </p:sp>
      <p:sp>
        <p:nvSpPr>
          <p:cNvPr id="27" name="Text 25"/>
          <p:cNvSpPr/>
          <p:nvPr/>
        </p:nvSpPr>
        <p:spPr>
          <a:xfrm>
            <a:off x="12414250" y="4470499"/>
            <a:ext cx="4520946"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Fournisseur : l'application entière</a:t>
            </a:r>
            <a:endParaRPr lang="en-US" sz="1800" dirty="0"/>
          </a:p>
        </p:txBody>
      </p:sp>
      <p:sp>
        <p:nvSpPr>
          <p:cNvPr id="28" name="Text 26"/>
          <p:cNvSpPr/>
          <p:nvPr/>
        </p:nvSpPr>
        <p:spPr>
          <a:xfrm>
            <a:off x="1066800" y="9163050"/>
            <a:ext cx="17769840" cy="342900"/>
          </a:xfrm>
          <a:prstGeom prst="rect">
            <a:avLst/>
          </a:prstGeom>
          <a:noFill/>
          <a:ln/>
        </p:spPr>
        <p:txBody>
          <a:bodyPr wrap="square" lIns="25400" tIns="25400" rIns="25400" bIns="25400" rtlCol="0" anchor="t">
            <a:normAutofit/>
          </a:bodyPr>
          <a:lstStyle/>
          <a:p>
            <a:pPr algn="l" indent="0" marL="0">
              <a:buNone/>
            </a:pPr>
            <a:r>
              <a:rPr lang="en-US" sz="1875" dirty="0">
                <a:solidFill>
                  <a:srgbClr val="8EA0B5"/>
                </a:solidFill>
                <a:latin typeface="Arial" pitchFamily="34" charset="0"/>
                <a:ea typeface="Arial" pitchFamily="34" charset="-122"/>
                <a:cs typeface="Arial" pitchFamily="34" charset="-120"/>
              </a:rPr>
              <a:t>Amazon EMR se situe </a:t>
            </a:r>
            <a:pPr algn="l" indent="0" marL="0">
              <a:buNone/>
            </a:pPr>
            <a:r>
              <a:rPr lang="en-US" sz="1875" dirty="0">
                <a:solidFill>
                  <a:srgbClr val="EEF3F9"/>
                </a:solidFill>
                <a:latin typeface="Arial" pitchFamily="34" charset="0"/>
                <a:ea typeface="Arial" pitchFamily="34" charset="-122"/>
                <a:cs typeface="Arial" pitchFamily="34" charset="-120"/>
              </a:rPr>
              <a:t>entre IaaS et PaaS </a:t>
            </a:r>
            <a:pPr algn="l" indent="0" marL="0">
              <a:buNone/>
            </a:pPr>
            <a:r>
              <a:rPr lang="en-US" sz="1875" dirty="0">
                <a:solidFill>
                  <a:srgbClr val="8EA0B5"/>
                </a:solidFill>
                <a:latin typeface="Arial" pitchFamily="34" charset="0"/>
                <a:ea typeface="Arial" pitchFamily="34" charset="-122"/>
                <a:cs typeface="Arial" pitchFamily="34" charset="-120"/>
              </a:rPr>
              <a:t>: AWS provisionne le cluster et installe les outils, vous gérez traitements et données.</a:t>
            </a:r>
            <a:endParaRPr lang="en-US" sz="1875"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06 · DÉPLOIEMENT</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Cloud public, privé, hybride</a:t>
            </a:r>
            <a:endParaRPr lang="en-US" sz="4800" dirty="0"/>
          </a:p>
        </p:txBody>
      </p:sp>
      <p:sp>
        <p:nvSpPr>
          <p:cNvPr id="4" name="Shape 2"/>
          <p:cNvSpPr/>
          <p:nvPr/>
        </p:nvSpPr>
        <p:spPr>
          <a:xfrm>
            <a:off x="1066800" y="2367459"/>
            <a:ext cx="5232400" cy="2408238"/>
          </a:xfrm>
          <a:prstGeom prst="roundRect">
            <a:avLst>
              <a:gd name="adj" fmla="val 7119"/>
            </a:avLst>
          </a:prstGeom>
          <a:solidFill>
            <a:srgbClr val="FFFFFF">
              <a:alpha val="3000"/>
            </a:srgbClr>
          </a:solidFill>
          <a:ln w="6350">
            <a:solidFill>
              <a:srgbClr val="FFFFFF">
                <a:alpha val="10000"/>
              </a:srgbClr>
            </a:solidFill>
            <a:prstDash val="solid"/>
          </a:ln>
        </p:spPr>
      </p:sp>
      <p:sp>
        <p:nvSpPr>
          <p:cNvPr id="5" name="Text 3"/>
          <p:cNvSpPr/>
          <p:nvPr/>
        </p:nvSpPr>
        <p:spPr>
          <a:xfrm>
            <a:off x="1397000" y="2735759"/>
            <a:ext cx="502920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EEF3F9"/>
                </a:solidFill>
                <a:latin typeface="Arial" pitchFamily="34" charset="0"/>
                <a:ea typeface="Arial" pitchFamily="34" charset="-122"/>
                <a:cs typeface="Arial" pitchFamily="34" charset="-120"/>
              </a:rPr>
              <a:t>Public</a:t>
            </a:r>
            <a:endParaRPr lang="en-US" sz="2475" dirty="0"/>
          </a:p>
        </p:txBody>
      </p:sp>
      <p:sp>
        <p:nvSpPr>
          <p:cNvPr id="6" name="Text 4"/>
          <p:cNvSpPr/>
          <p:nvPr/>
        </p:nvSpPr>
        <p:spPr>
          <a:xfrm>
            <a:off x="1397000" y="3250109"/>
            <a:ext cx="4709160"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Infrastructure partagée, gérée par un tiers (AWS, Azure, GCP). Coût faible, mise en œuvre rapide.</a:t>
            </a:r>
            <a:endParaRPr lang="en-US" sz="2025" dirty="0"/>
          </a:p>
        </p:txBody>
      </p:sp>
      <p:sp>
        <p:nvSpPr>
          <p:cNvPr id="7" name="Shape 5"/>
          <p:cNvSpPr/>
          <p:nvPr/>
        </p:nvSpPr>
        <p:spPr>
          <a:xfrm>
            <a:off x="6527800" y="2367459"/>
            <a:ext cx="5232400" cy="2408238"/>
          </a:xfrm>
          <a:prstGeom prst="roundRect">
            <a:avLst>
              <a:gd name="adj" fmla="val 7119"/>
            </a:avLst>
          </a:prstGeom>
          <a:solidFill>
            <a:srgbClr val="FFFFFF">
              <a:alpha val="3000"/>
            </a:srgbClr>
          </a:solidFill>
          <a:ln w="6350">
            <a:solidFill>
              <a:srgbClr val="FFFFFF">
                <a:alpha val="10000"/>
              </a:srgbClr>
            </a:solidFill>
            <a:prstDash val="solid"/>
          </a:ln>
        </p:spPr>
      </p:sp>
      <p:sp>
        <p:nvSpPr>
          <p:cNvPr id="8" name="Text 6"/>
          <p:cNvSpPr/>
          <p:nvPr/>
        </p:nvSpPr>
        <p:spPr>
          <a:xfrm>
            <a:off x="6858000" y="2735759"/>
            <a:ext cx="502920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EEF3F9"/>
                </a:solidFill>
                <a:latin typeface="Arial" pitchFamily="34" charset="0"/>
                <a:ea typeface="Arial" pitchFamily="34" charset="-122"/>
                <a:cs typeface="Arial" pitchFamily="34" charset="-120"/>
              </a:rPr>
              <a:t>Privé</a:t>
            </a:r>
            <a:endParaRPr lang="en-US" sz="2475" dirty="0"/>
          </a:p>
        </p:txBody>
      </p:sp>
      <p:sp>
        <p:nvSpPr>
          <p:cNvPr id="9" name="Text 7"/>
          <p:cNvSpPr/>
          <p:nvPr/>
        </p:nvSpPr>
        <p:spPr>
          <a:xfrm>
            <a:off x="6858000" y="3250109"/>
            <a:ext cx="4709160"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Infrastructure dédiée à une seule organisation. Contrôle et sécurité renforcés, coût plus élevé.</a:t>
            </a:r>
            <a:endParaRPr lang="en-US" sz="2025" dirty="0"/>
          </a:p>
        </p:txBody>
      </p:sp>
      <p:sp>
        <p:nvSpPr>
          <p:cNvPr id="10" name="Shape 8"/>
          <p:cNvSpPr/>
          <p:nvPr/>
        </p:nvSpPr>
        <p:spPr>
          <a:xfrm>
            <a:off x="11988801" y="2367459"/>
            <a:ext cx="5232400" cy="2408238"/>
          </a:xfrm>
          <a:prstGeom prst="roundRect">
            <a:avLst>
              <a:gd name="adj" fmla="val 7119"/>
            </a:avLst>
          </a:prstGeom>
          <a:solidFill>
            <a:srgbClr val="FFFFFF">
              <a:alpha val="3000"/>
            </a:srgbClr>
          </a:solidFill>
          <a:ln w="6350">
            <a:solidFill>
              <a:srgbClr val="FFC48E">
                <a:alpha val="35000"/>
              </a:srgbClr>
            </a:solidFill>
            <a:prstDash val="solid"/>
          </a:ln>
        </p:spPr>
      </p:sp>
      <p:sp>
        <p:nvSpPr>
          <p:cNvPr id="11" name="Text 9"/>
          <p:cNvSpPr/>
          <p:nvPr/>
        </p:nvSpPr>
        <p:spPr>
          <a:xfrm>
            <a:off x="12319000" y="2735759"/>
            <a:ext cx="502920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FFB46E"/>
                </a:solidFill>
                <a:latin typeface="Arial" pitchFamily="34" charset="0"/>
                <a:ea typeface="Arial" pitchFamily="34" charset="-122"/>
                <a:cs typeface="Arial" pitchFamily="34" charset="-120"/>
              </a:rPr>
              <a:t>Hybride</a:t>
            </a:r>
            <a:endParaRPr lang="en-US" sz="2475" dirty="0"/>
          </a:p>
        </p:txBody>
      </p:sp>
      <p:sp>
        <p:nvSpPr>
          <p:cNvPr id="12" name="Text 10"/>
          <p:cNvSpPr/>
          <p:nvPr/>
        </p:nvSpPr>
        <p:spPr>
          <a:xfrm>
            <a:off x="12319000" y="3250109"/>
            <a:ext cx="4709160"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Les deux combinés : données sensibles en interne, élasticité du public pour les pics de charge.</a:t>
            </a:r>
            <a:endParaRPr lang="en-US" sz="2025" dirty="0"/>
          </a:p>
        </p:txBody>
      </p:sp>
      <p:sp>
        <p:nvSpPr>
          <p:cNvPr id="13" name="Text 11"/>
          <p:cNvSpPr/>
          <p:nvPr/>
        </p:nvSpPr>
        <p:spPr>
          <a:xfrm>
            <a:off x="1066800" y="7829550"/>
            <a:ext cx="17769840" cy="342900"/>
          </a:xfrm>
          <a:prstGeom prst="rect">
            <a:avLst/>
          </a:prstGeom>
          <a:noFill/>
          <a:ln/>
        </p:spPr>
        <p:txBody>
          <a:bodyPr wrap="square" lIns="25400" tIns="25400" rIns="25400" bIns="25400" rtlCol="0" anchor="t">
            <a:normAutofit/>
          </a:bodyPr>
          <a:lstStyle/>
          <a:p>
            <a:pPr algn="l" indent="0" marL="0">
              <a:buNone/>
            </a:pPr>
            <a:r>
              <a:rPr lang="en-US" sz="1800" spc="360" kern="0" dirty="0">
                <a:solidFill>
                  <a:srgbClr val="8EA0B5"/>
                </a:solidFill>
                <a:latin typeface="Courier New" pitchFamily="34" charset="0"/>
                <a:ea typeface="Courier New" pitchFamily="34" charset="-122"/>
                <a:cs typeface="Courier New" pitchFamily="34" charset="-120"/>
              </a:rPr>
              <a:t>PRINCIPAUX FOURNISSEURS DE CLOUD PUBLIC</a:t>
            </a:r>
            <a:endParaRPr lang="en-US" sz="1800" dirty="0"/>
          </a:p>
        </p:txBody>
      </p:sp>
      <p:sp>
        <p:nvSpPr>
          <p:cNvPr id="14" name="Shape 12"/>
          <p:cNvSpPr/>
          <p:nvPr/>
        </p:nvSpPr>
        <p:spPr>
          <a:xfrm>
            <a:off x="1066800" y="8324850"/>
            <a:ext cx="5270500" cy="1143000"/>
          </a:xfrm>
          <a:prstGeom prst="roundRect">
            <a:avLst>
              <a:gd name="adj" fmla="val 11667"/>
            </a:avLst>
          </a:prstGeom>
          <a:solidFill>
            <a:srgbClr val="FFFFFF"/>
          </a:solidFill>
          <a:ln w="6350">
            <a:solidFill>
              <a:srgbClr val="FFFFFF">
                <a:alpha val="10000"/>
              </a:srgbClr>
            </a:solidFill>
            <a:prstDash val="solid"/>
          </a:ln>
        </p:spPr>
      </p:sp>
      <p:sp>
        <p:nvSpPr>
          <p:cNvPr id="15" name="Shape 13"/>
          <p:cNvSpPr/>
          <p:nvPr/>
        </p:nvSpPr>
        <p:spPr>
          <a:xfrm>
            <a:off x="1206500" y="8464550"/>
            <a:ext cx="4991100" cy="863600"/>
          </a:xfrm>
          <a:prstGeom prst="rect">
            <a:avLst/>
          </a:prstGeom>
          <a:solidFill>
            <a:srgbClr val="000000">
              <a:alpha val="4000"/>
            </a:srgbClr>
          </a:solidFill>
          <a:ln/>
        </p:spPr>
      </p:sp>
      <p:pic>
        <p:nvPicPr>
          <p:cNvPr id="16" name="Image 0" descr="preencoded.png">    </p:cNvPr>
          <p:cNvPicPr>
            <a:picLocks noChangeAspect="1"/>
          </p:cNvPicPr>
          <p:nvPr/>
        </p:nvPicPr>
        <p:blipFill>
          <a:blip r:embed="rId1"/>
          <a:srcRect l="-94485" r="-94485" t="0" b="0"/>
          <a:stretch/>
        </p:blipFill>
        <p:spPr>
          <a:xfrm>
            <a:off x="1206500" y="8464550"/>
            <a:ext cx="4991100" cy="863600"/>
          </a:xfrm>
          <a:prstGeom prst="rect">
            <a:avLst/>
          </a:prstGeom>
        </p:spPr>
      </p:pic>
      <p:sp>
        <p:nvSpPr>
          <p:cNvPr id="17" name="Shape 14"/>
          <p:cNvSpPr/>
          <p:nvPr/>
        </p:nvSpPr>
        <p:spPr>
          <a:xfrm>
            <a:off x="6508750" y="8324850"/>
            <a:ext cx="5270500" cy="1143000"/>
          </a:xfrm>
          <a:prstGeom prst="roundRect">
            <a:avLst>
              <a:gd name="adj" fmla="val 11667"/>
            </a:avLst>
          </a:prstGeom>
          <a:solidFill>
            <a:srgbClr val="FFFFFF"/>
          </a:solidFill>
          <a:ln w="6350">
            <a:solidFill>
              <a:srgbClr val="FFFFFF">
                <a:alpha val="10000"/>
              </a:srgbClr>
            </a:solidFill>
            <a:prstDash val="solid"/>
          </a:ln>
        </p:spPr>
      </p:sp>
      <p:sp>
        <p:nvSpPr>
          <p:cNvPr id="18" name="Shape 15"/>
          <p:cNvSpPr/>
          <p:nvPr/>
        </p:nvSpPr>
        <p:spPr>
          <a:xfrm>
            <a:off x="6648450" y="8464550"/>
            <a:ext cx="4991100" cy="863600"/>
          </a:xfrm>
          <a:prstGeom prst="rect">
            <a:avLst/>
          </a:prstGeom>
          <a:solidFill>
            <a:srgbClr val="000000">
              <a:alpha val="4000"/>
            </a:srgbClr>
          </a:solidFill>
          <a:ln/>
        </p:spPr>
      </p:sp>
      <p:pic>
        <p:nvPicPr>
          <p:cNvPr id="19" name="Image 1" descr="preencoded.png">    </p:cNvPr>
          <p:cNvPicPr>
            <a:picLocks noChangeAspect="1"/>
          </p:cNvPicPr>
          <p:nvPr/>
        </p:nvPicPr>
        <p:blipFill>
          <a:blip r:embed="rId2"/>
          <a:srcRect l="-32144" r="-32144" t="0" b="0"/>
          <a:stretch/>
        </p:blipFill>
        <p:spPr>
          <a:xfrm>
            <a:off x="6648450" y="8464550"/>
            <a:ext cx="4991100" cy="863600"/>
          </a:xfrm>
          <a:prstGeom prst="rect">
            <a:avLst/>
          </a:prstGeom>
        </p:spPr>
      </p:pic>
      <p:sp>
        <p:nvSpPr>
          <p:cNvPr id="20" name="Shape 16"/>
          <p:cNvSpPr/>
          <p:nvPr/>
        </p:nvSpPr>
        <p:spPr>
          <a:xfrm>
            <a:off x="11950701" y="8324850"/>
            <a:ext cx="5270500" cy="1143000"/>
          </a:xfrm>
          <a:prstGeom prst="roundRect">
            <a:avLst>
              <a:gd name="adj" fmla="val 11667"/>
            </a:avLst>
          </a:prstGeom>
          <a:solidFill>
            <a:srgbClr val="FFFFFF"/>
          </a:solidFill>
          <a:ln w="6350">
            <a:solidFill>
              <a:srgbClr val="FFFFFF">
                <a:alpha val="10000"/>
              </a:srgbClr>
            </a:solidFill>
            <a:prstDash val="solid"/>
          </a:ln>
        </p:spPr>
      </p:sp>
      <p:sp>
        <p:nvSpPr>
          <p:cNvPr id="21" name="Shape 17"/>
          <p:cNvSpPr/>
          <p:nvPr/>
        </p:nvSpPr>
        <p:spPr>
          <a:xfrm>
            <a:off x="12090400" y="8464550"/>
            <a:ext cx="4991100" cy="863600"/>
          </a:xfrm>
          <a:prstGeom prst="rect">
            <a:avLst/>
          </a:prstGeom>
          <a:solidFill>
            <a:srgbClr val="000000">
              <a:alpha val="4000"/>
            </a:srgbClr>
          </a:solidFill>
          <a:ln/>
        </p:spPr>
      </p:sp>
      <p:pic>
        <p:nvPicPr>
          <p:cNvPr id="22" name="Image 2" descr="preencoded.png">    </p:cNvPr>
          <p:cNvPicPr>
            <a:picLocks noChangeAspect="1"/>
          </p:cNvPicPr>
          <p:nvPr/>
        </p:nvPicPr>
        <p:blipFill>
          <a:blip r:embed="rId3"/>
          <a:srcRect l="-94485" r="-94485" t="0" b="0"/>
          <a:stretch/>
        </p:blipFill>
        <p:spPr>
          <a:xfrm>
            <a:off x="12090400" y="8464550"/>
            <a:ext cx="4991100" cy="86360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06 · PROMESSES</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Élasticité et haute disponibilité</a:t>
            </a:r>
            <a:endParaRPr lang="en-US" sz="4800" dirty="0"/>
          </a:p>
        </p:txBody>
      </p:sp>
      <p:sp>
        <p:nvSpPr>
          <p:cNvPr id="4" name="Shape 2"/>
          <p:cNvSpPr/>
          <p:nvPr/>
        </p:nvSpPr>
        <p:spPr>
          <a:xfrm>
            <a:off x="1066800" y="2405559"/>
            <a:ext cx="7934325" cy="7062292"/>
          </a:xfrm>
          <a:prstGeom prst="roundRect">
            <a:avLst>
              <a:gd name="adj" fmla="val 2428"/>
            </a:avLst>
          </a:prstGeom>
          <a:solidFill>
            <a:srgbClr val="FFFFFF">
              <a:alpha val="3000"/>
            </a:srgbClr>
          </a:solidFill>
          <a:ln w="6350">
            <a:solidFill>
              <a:srgbClr val="FFFFFF">
                <a:alpha val="10000"/>
              </a:srgbClr>
            </a:solidFill>
            <a:prstDash val="solid"/>
          </a:ln>
        </p:spPr>
      </p:sp>
      <p:sp>
        <p:nvSpPr>
          <p:cNvPr id="5" name="Text 3"/>
          <p:cNvSpPr/>
          <p:nvPr/>
        </p:nvSpPr>
        <p:spPr>
          <a:xfrm>
            <a:off x="1454150" y="2811959"/>
            <a:ext cx="7875588" cy="431800"/>
          </a:xfrm>
          <a:prstGeom prst="rect">
            <a:avLst/>
          </a:prstGeom>
          <a:noFill/>
          <a:ln/>
        </p:spPr>
        <p:txBody>
          <a:bodyPr wrap="square" lIns="25400" tIns="25400" rIns="25400" bIns="25400" rtlCol="0" anchor="t">
            <a:normAutofit/>
          </a:bodyPr>
          <a:lstStyle/>
          <a:p>
            <a:pPr algn="l" indent="0" marL="0">
              <a:buNone/>
            </a:pPr>
            <a:r>
              <a:rPr lang="en-US" sz="2700" b="1" dirty="0">
                <a:solidFill>
                  <a:srgbClr val="FFB46E"/>
                </a:solidFill>
                <a:latin typeface="Arial" pitchFamily="34" charset="0"/>
                <a:ea typeface="Arial" pitchFamily="34" charset="-122"/>
                <a:cs typeface="Arial" pitchFamily="34" charset="-120"/>
              </a:rPr>
              <a:t>Élasticité</a:t>
            </a:r>
            <a:endParaRPr lang="en-US" sz="2700" dirty="0"/>
          </a:p>
        </p:txBody>
      </p:sp>
      <p:sp>
        <p:nvSpPr>
          <p:cNvPr id="6" name="Text 4"/>
          <p:cNvSpPr/>
          <p:nvPr/>
        </p:nvSpPr>
        <p:spPr>
          <a:xfrm>
            <a:off x="1454150" y="3377109"/>
            <a:ext cx="7374414" cy="14097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Ajuster automatiquement les ressources — à la hausse comme à la baisse — selon la charge réelle, sans intervention manuelle.</a:t>
            </a:r>
            <a:endParaRPr lang="en-US" sz="2400" dirty="0"/>
          </a:p>
        </p:txBody>
      </p:sp>
      <p:sp>
        <p:nvSpPr>
          <p:cNvPr id="7" name="Shape 5"/>
          <p:cNvSpPr/>
          <p:nvPr/>
        </p:nvSpPr>
        <p:spPr>
          <a:xfrm>
            <a:off x="1454150" y="8848130"/>
            <a:ext cx="1370906" cy="213320"/>
          </a:xfrm>
          <a:prstGeom prst="roundRect">
            <a:avLst>
              <a:gd name="adj" fmla="val 17860"/>
            </a:avLst>
          </a:prstGeom>
          <a:solidFill>
            <a:srgbClr val="FFBA7C">
              <a:alpha val="44000"/>
            </a:srgbClr>
          </a:solidFill>
          <a:ln/>
        </p:spPr>
      </p:sp>
      <p:sp>
        <p:nvSpPr>
          <p:cNvPr id="8" name="Shape 6"/>
          <p:cNvSpPr/>
          <p:nvPr/>
        </p:nvSpPr>
        <p:spPr>
          <a:xfrm>
            <a:off x="2901255" y="8688090"/>
            <a:ext cx="1371005" cy="373360"/>
          </a:xfrm>
          <a:prstGeom prst="roundRect">
            <a:avLst>
              <a:gd name="adj" fmla="val 10205"/>
            </a:avLst>
          </a:prstGeom>
          <a:solidFill>
            <a:srgbClr val="FFBA7C">
              <a:alpha val="44000"/>
            </a:srgbClr>
          </a:solidFill>
          <a:ln/>
        </p:spPr>
      </p:sp>
      <p:sp>
        <p:nvSpPr>
          <p:cNvPr id="9" name="Shape 7"/>
          <p:cNvSpPr/>
          <p:nvPr/>
        </p:nvSpPr>
        <p:spPr>
          <a:xfrm>
            <a:off x="4348460" y="8528050"/>
            <a:ext cx="1370906" cy="533400"/>
          </a:xfrm>
          <a:prstGeom prst="roundRect">
            <a:avLst>
              <a:gd name="adj" fmla="val 7143"/>
            </a:avLst>
          </a:prstGeom>
          <a:solidFill>
            <a:srgbClr val="FFB977">
              <a:alpha val="53000"/>
            </a:srgbClr>
          </a:solidFill>
          <a:ln/>
        </p:spPr>
      </p:sp>
      <p:sp>
        <p:nvSpPr>
          <p:cNvPr id="10" name="Shape 8"/>
          <p:cNvSpPr/>
          <p:nvPr/>
        </p:nvSpPr>
        <p:spPr>
          <a:xfrm>
            <a:off x="5795566" y="8768160"/>
            <a:ext cx="1371005" cy="293291"/>
          </a:xfrm>
          <a:prstGeom prst="roundRect">
            <a:avLst>
              <a:gd name="adj" fmla="val 12991"/>
            </a:avLst>
          </a:prstGeom>
          <a:solidFill>
            <a:srgbClr val="FFBA7C">
              <a:alpha val="44000"/>
            </a:srgbClr>
          </a:solidFill>
          <a:ln/>
        </p:spPr>
      </p:sp>
      <p:sp>
        <p:nvSpPr>
          <p:cNvPr id="11" name="Shape 9"/>
          <p:cNvSpPr/>
          <p:nvPr/>
        </p:nvSpPr>
        <p:spPr>
          <a:xfrm>
            <a:off x="7242771" y="8901510"/>
            <a:ext cx="1371005" cy="159941"/>
          </a:xfrm>
          <a:prstGeom prst="roundRect">
            <a:avLst>
              <a:gd name="adj" fmla="val 23821"/>
            </a:avLst>
          </a:prstGeom>
          <a:solidFill>
            <a:srgbClr val="FFBA7C">
              <a:alpha val="44000"/>
            </a:srgbClr>
          </a:solidFill>
          <a:ln/>
        </p:spPr>
      </p:sp>
      <p:sp>
        <p:nvSpPr>
          <p:cNvPr id="12" name="Shape 10"/>
          <p:cNvSpPr/>
          <p:nvPr/>
        </p:nvSpPr>
        <p:spPr>
          <a:xfrm>
            <a:off x="9286875" y="2405559"/>
            <a:ext cx="7934325" cy="7062292"/>
          </a:xfrm>
          <a:prstGeom prst="roundRect">
            <a:avLst>
              <a:gd name="adj" fmla="val 2428"/>
            </a:avLst>
          </a:prstGeom>
          <a:solidFill>
            <a:srgbClr val="FFFFFF">
              <a:alpha val="3000"/>
            </a:srgbClr>
          </a:solidFill>
          <a:ln w="6350">
            <a:solidFill>
              <a:srgbClr val="FFFFFF">
                <a:alpha val="10000"/>
              </a:srgbClr>
            </a:solidFill>
            <a:prstDash val="solid"/>
          </a:ln>
        </p:spPr>
      </p:sp>
      <p:sp>
        <p:nvSpPr>
          <p:cNvPr id="13" name="Text 11"/>
          <p:cNvSpPr/>
          <p:nvPr/>
        </p:nvSpPr>
        <p:spPr>
          <a:xfrm>
            <a:off x="9674225" y="2811959"/>
            <a:ext cx="7875588" cy="431800"/>
          </a:xfrm>
          <a:prstGeom prst="rect">
            <a:avLst/>
          </a:prstGeom>
          <a:noFill/>
          <a:ln/>
        </p:spPr>
        <p:txBody>
          <a:bodyPr wrap="square" lIns="25400" tIns="25400" rIns="25400" bIns="25400" rtlCol="0" anchor="t">
            <a:normAutofit/>
          </a:bodyPr>
          <a:lstStyle/>
          <a:p>
            <a:pPr algn="l" indent="0" marL="0">
              <a:buNone/>
            </a:pPr>
            <a:r>
              <a:rPr lang="en-US" sz="2700" b="1" dirty="0">
                <a:solidFill>
                  <a:srgbClr val="FFB46E"/>
                </a:solidFill>
                <a:latin typeface="Arial" pitchFamily="34" charset="0"/>
                <a:ea typeface="Arial" pitchFamily="34" charset="-122"/>
                <a:cs typeface="Arial" pitchFamily="34" charset="-120"/>
              </a:rPr>
              <a:t>Haute disponibilité</a:t>
            </a:r>
            <a:endParaRPr lang="en-US" sz="2700" dirty="0"/>
          </a:p>
        </p:txBody>
      </p:sp>
      <p:sp>
        <p:nvSpPr>
          <p:cNvPr id="14" name="Text 12"/>
          <p:cNvSpPr/>
          <p:nvPr/>
        </p:nvSpPr>
        <p:spPr>
          <a:xfrm>
            <a:off x="9674225" y="3377109"/>
            <a:ext cx="7374414" cy="14097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Rester opérationnel malgré la panne d'un composant, par réplication des ressources sur plusieurs zones physiquement séparées.</a:t>
            </a:r>
            <a:endParaRPr lang="en-US" sz="2400" dirty="0"/>
          </a:p>
        </p:txBody>
      </p:sp>
      <p:sp>
        <p:nvSpPr>
          <p:cNvPr id="15" name="Shape 13"/>
          <p:cNvSpPr/>
          <p:nvPr/>
        </p:nvSpPr>
        <p:spPr>
          <a:xfrm>
            <a:off x="9674225" y="8401050"/>
            <a:ext cx="2293342" cy="660400"/>
          </a:xfrm>
          <a:prstGeom prst="roundRect">
            <a:avLst>
              <a:gd name="adj" fmla="val 11538"/>
            </a:avLst>
          </a:prstGeom>
          <a:solidFill>
            <a:srgbClr val="FFC085">
              <a:alpha val="29000"/>
            </a:srgbClr>
          </a:solidFill>
          <a:ln/>
        </p:spPr>
      </p:sp>
      <p:sp>
        <p:nvSpPr>
          <p:cNvPr id="16" name="Text 14"/>
          <p:cNvSpPr/>
          <p:nvPr/>
        </p:nvSpPr>
        <p:spPr>
          <a:xfrm>
            <a:off x="9807575" y="8572500"/>
            <a:ext cx="2026642" cy="355600"/>
          </a:xfrm>
          <a:prstGeom prst="rect">
            <a:avLst/>
          </a:prstGeom>
          <a:noFill/>
          <a:ln/>
        </p:spPr>
        <p:txBody>
          <a:bodyPr wrap="square" lIns="25400" tIns="25400" rIns="25400" bIns="25400" rtlCol="0" anchor="t">
            <a:normAutofit/>
          </a:bodyPr>
          <a:lstStyle/>
          <a:p>
            <a:pPr algn="ctr" indent="0" marL="0">
              <a:buNone/>
            </a:pPr>
            <a:r>
              <a:rPr lang="en-US" sz="1800" dirty="0">
                <a:solidFill>
                  <a:srgbClr val="EEF3F9"/>
                </a:solidFill>
                <a:latin typeface="Courier New" pitchFamily="34" charset="0"/>
                <a:ea typeface="Courier New" pitchFamily="34" charset="-122"/>
                <a:cs typeface="Courier New" pitchFamily="34" charset="-120"/>
              </a:rPr>
              <a:t>Zone A</a:t>
            </a:r>
            <a:endParaRPr lang="en-US" sz="1800" dirty="0"/>
          </a:p>
        </p:txBody>
      </p:sp>
      <p:sp>
        <p:nvSpPr>
          <p:cNvPr id="17" name="Shape 15"/>
          <p:cNvSpPr/>
          <p:nvPr/>
        </p:nvSpPr>
        <p:spPr>
          <a:xfrm>
            <a:off x="12100917" y="8401050"/>
            <a:ext cx="2293441" cy="660400"/>
          </a:xfrm>
          <a:prstGeom prst="roundRect">
            <a:avLst>
              <a:gd name="adj" fmla="val 11538"/>
            </a:avLst>
          </a:prstGeom>
          <a:solidFill>
            <a:srgbClr val="FFC085">
              <a:alpha val="29000"/>
            </a:srgbClr>
          </a:solidFill>
          <a:ln/>
        </p:spPr>
      </p:sp>
      <p:sp>
        <p:nvSpPr>
          <p:cNvPr id="18" name="Text 16"/>
          <p:cNvSpPr/>
          <p:nvPr/>
        </p:nvSpPr>
        <p:spPr>
          <a:xfrm>
            <a:off x="12234267" y="8572500"/>
            <a:ext cx="2026741" cy="355600"/>
          </a:xfrm>
          <a:prstGeom prst="rect">
            <a:avLst/>
          </a:prstGeom>
          <a:noFill/>
          <a:ln/>
        </p:spPr>
        <p:txBody>
          <a:bodyPr wrap="square" lIns="25400" tIns="25400" rIns="25400" bIns="25400" rtlCol="0" anchor="t">
            <a:normAutofit/>
          </a:bodyPr>
          <a:lstStyle/>
          <a:p>
            <a:pPr algn="ctr" indent="0" marL="0">
              <a:buNone/>
            </a:pPr>
            <a:r>
              <a:rPr lang="en-US" sz="1800" dirty="0">
                <a:solidFill>
                  <a:srgbClr val="EEF3F9"/>
                </a:solidFill>
                <a:latin typeface="Courier New" pitchFamily="34" charset="0"/>
                <a:ea typeface="Courier New" pitchFamily="34" charset="-122"/>
                <a:cs typeface="Courier New" pitchFamily="34" charset="-120"/>
              </a:rPr>
              <a:t>Zone B</a:t>
            </a:r>
            <a:endParaRPr lang="en-US" sz="1800" dirty="0"/>
          </a:p>
        </p:txBody>
      </p:sp>
      <p:sp>
        <p:nvSpPr>
          <p:cNvPr id="19" name="Shape 17"/>
          <p:cNvSpPr/>
          <p:nvPr/>
        </p:nvSpPr>
        <p:spPr>
          <a:xfrm>
            <a:off x="14527709" y="8401050"/>
            <a:ext cx="2306142" cy="660400"/>
          </a:xfrm>
          <a:prstGeom prst="roundRect">
            <a:avLst>
              <a:gd name="adj" fmla="val 11538"/>
            </a:avLst>
          </a:prstGeom>
          <a:solidFill>
            <a:srgbClr val="FFFFFF">
              <a:alpha val="6000"/>
            </a:srgbClr>
          </a:solidFill>
          <a:ln w="6350">
            <a:solidFill>
              <a:srgbClr val="FFFFFF">
                <a:alpha val="10000"/>
              </a:srgbClr>
            </a:solidFill>
            <a:prstDash val="dash"/>
          </a:ln>
        </p:spPr>
      </p:sp>
      <p:sp>
        <p:nvSpPr>
          <p:cNvPr id="20" name="Text 18"/>
          <p:cNvSpPr/>
          <p:nvPr/>
        </p:nvSpPr>
        <p:spPr>
          <a:xfrm>
            <a:off x="14667409" y="8578850"/>
            <a:ext cx="2026741"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Zone C</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06 · AWS</a:t>
            </a:r>
            <a:endParaRPr lang="en-US" sz="1800" dirty="0"/>
          </a:p>
        </p:txBody>
      </p:sp>
      <p:sp>
        <p:nvSpPr>
          <p:cNvPr id="3" name="Text 1"/>
          <p:cNvSpPr/>
          <p:nvPr/>
        </p:nvSpPr>
        <p:spPr>
          <a:xfrm>
            <a:off x="1066800" y="1314450"/>
            <a:ext cx="11188005"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Régions et zones de disponibilité</a:t>
            </a:r>
            <a:endParaRPr lang="en-US" sz="4800" dirty="0"/>
          </a:p>
        </p:txBody>
      </p:sp>
      <p:sp>
        <p:nvSpPr>
          <p:cNvPr id="4" name="Shape 2"/>
          <p:cNvSpPr/>
          <p:nvPr/>
        </p:nvSpPr>
        <p:spPr>
          <a:xfrm>
            <a:off x="1066800" y="2367459"/>
            <a:ext cx="16154400" cy="7100392"/>
          </a:xfrm>
          <a:prstGeom prst="roundRect">
            <a:avLst>
              <a:gd name="adj" fmla="val 2683"/>
            </a:avLst>
          </a:prstGeom>
          <a:solidFill>
            <a:srgbClr val="FFFFFF">
              <a:alpha val="3000"/>
            </a:srgbClr>
          </a:solidFill>
          <a:ln w="6350">
            <a:solidFill>
              <a:srgbClr val="FFFFFF">
                <a:alpha val="10000"/>
              </a:srgbClr>
            </a:solidFill>
            <a:prstDash val="solid"/>
          </a:ln>
        </p:spPr>
      </p:sp>
      <p:sp>
        <p:nvSpPr>
          <p:cNvPr id="5" name="Text 3"/>
          <p:cNvSpPr/>
          <p:nvPr/>
        </p:nvSpPr>
        <p:spPr>
          <a:xfrm>
            <a:off x="1492250" y="2792909"/>
            <a:ext cx="16833851" cy="368300"/>
          </a:xfrm>
          <a:prstGeom prst="rect">
            <a:avLst/>
          </a:prstGeom>
          <a:noFill/>
          <a:ln/>
        </p:spPr>
        <p:txBody>
          <a:bodyPr wrap="square" lIns="25400" tIns="25400" rIns="25400" bIns="25400" rtlCol="0" anchor="t">
            <a:normAutofit/>
          </a:bodyPr>
          <a:lstStyle/>
          <a:p>
            <a:pPr algn="l" indent="0" marL="0">
              <a:buNone/>
            </a:pPr>
            <a:r>
              <a:rPr lang="en-US" sz="1950" dirty="0">
                <a:solidFill>
                  <a:srgbClr val="FFB46E"/>
                </a:solidFill>
                <a:latin typeface="Courier New" pitchFamily="34" charset="0"/>
                <a:ea typeface="Courier New" pitchFamily="34" charset="-122"/>
                <a:cs typeface="Courier New" pitchFamily="34" charset="-120"/>
              </a:rPr>
              <a:t>Région eu-west-3 </a:t>
            </a:r>
            <a:pPr algn="l" indent="0" marL="0">
              <a:buNone/>
            </a:pPr>
            <a:r>
              <a:rPr lang="en-US" sz="1950" dirty="0">
                <a:solidFill>
                  <a:srgbClr val="8EA0B5"/>
                </a:solidFill>
                <a:latin typeface="Courier New" pitchFamily="34" charset="0"/>
                <a:ea typeface="Courier New" pitchFamily="34" charset="-122"/>
                <a:cs typeface="Courier New" pitchFamily="34" charset="-120"/>
              </a:rPr>
              <a:t>(Paris)</a:t>
            </a:r>
            <a:endParaRPr lang="en-US" sz="1950" dirty="0"/>
          </a:p>
        </p:txBody>
      </p:sp>
      <p:sp>
        <p:nvSpPr>
          <p:cNvPr id="6" name="Shape 4"/>
          <p:cNvSpPr/>
          <p:nvPr/>
        </p:nvSpPr>
        <p:spPr>
          <a:xfrm>
            <a:off x="1492250" y="3427909"/>
            <a:ext cx="4936034" cy="4971554"/>
          </a:xfrm>
          <a:prstGeom prst="roundRect">
            <a:avLst>
              <a:gd name="adj" fmla="val 2702"/>
            </a:avLst>
          </a:prstGeom>
          <a:solidFill>
            <a:srgbClr val="FFFFFF">
              <a:alpha val="6000"/>
            </a:srgbClr>
          </a:solidFill>
          <a:ln w="6350">
            <a:solidFill>
              <a:srgbClr val="FFFFFF">
                <a:alpha val="10000"/>
              </a:srgbClr>
            </a:solidFill>
            <a:prstDash val="solid"/>
          </a:ln>
        </p:spPr>
      </p:sp>
      <p:sp>
        <p:nvSpPr>
          <p:cNvPr id="7" name="Text 5"/>
          <p:cNvSpPr/>
          <p:nvPr/>
        </p:nvSpPr>
        <p:spPr>
          <a:xfrm>
            <a:off x="3650655" y="5405636"/>
            <a:ext cx="695424"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AZ-a</a:t>
            </a:r>
            <a:endParaRPr lang="en-US" sz="2250" dirty="0"/>
          </a:p>
        </p:txBody>
      </p:sp>
      <p:sp>
        <p:nvSpPr>
          <p:cNvPr id="8" name="Shape 6"/>
          <p:cNvSpPr/>
          <p:nvPr/>
        </p:nvSpPr>
        <p:spPr>
          <a:xfrm>
            <a:off x="1822450" y="5888236"/>
            <a:ext cx="4275634" cy="76200"/>
          </a:xfrm>
          <a:prstGeom prst="roundRect">
            <a:avLst>
              <a:gd name="adj" fmla="val 50000"/>
            </a:avLst>
          </a:prstGeom>
          <a:solidFill>
            <a:srgbClr val="FFBA7C">
              <a:alpha val="44000"/>
            </a:srgbClr>
          </a:solidFill>
          <a:ln/>
        </p:spPr>
      </p:sp>
      <p:sp>
        <p:nvSpPr>
          <p:cNvPr id="9" name="Text 7"/>
          <p:cNvSpPr/>
          <p:nvPr/>
        </p:nvSpPr>
        <p:spPr>
          <a:xfrm>
            <a:off x="3274417" y="6116836"/>
            <a:ext cx="150876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Datacenter</a:t>
            </a:r>
            <a:endParaRPr lang="en-US" sz="1800" dirty="0"/>
          </a:p>
        </p:txBody>
      </p:sp>
      <p:sp>
        <p:nvSpPr>
          <p:cNvPr id="10" name="Shape 8"/>
          <p:cNvSpPr/>
          <p:nvPr/>
        </p:nvSpPr>
        <p:spPr>
          <a:xfrm>
            <a:off x="6675934" y="3427909"/>
            <a:ext cx="4936133" cy="4971554"/>
          </a:xfrm>
          <a:prstGeom prst="roundRect">
            <a:avLst>
              <a:gd name="adj" fmla="val 2702"/>
            </a:avLst>
          </a:prstGeom>
          <a:solidFill>
            <a:srgbClr val="FFFFFF">
              <a:alpha val="6000"/>
            </a:srgbClr>
          </a:solidFill>
          <a:ln w="6350">
            <a:solidFill>
              <a:srgbClr val="FFFFFF">
                <a:alpha val="10000"/>
              </a:srgbClr>
            </a:solidFill>
            <a:prstDash val="solid"/>
          </a:ln>
        </p:spPr>
      </p:sp>
      <p:sp>
        <p:nvSpPr>
          <p:cNvPr id="11" name="Text 9"/>
          <p:cNvSpPr/>
          <p:nvPr/>
        </p:nvSpPr>
        <p:spPr>
          <a:xfrm>
            <a:off x="8834339" y="5405636"/>
            <a:ext cx="695424"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AZ-b</a:t>
            </a:r>
            <a:endParaRPr lang="en-US" sz="2250" dirty="0"/>
          </a:p>
        </p:txBody>
      </p:sp>
      <p:sp>
        <p:nvSpPr>
          <p:cNvPr id="12" name="Shape 10"/>
          <p:cNvSpPr/>
          <p:nvPr/>
        </p:nvSpPr>
        <p:spPr>
          <a:xfrm>
            <a:off x="7006134" y="5888236"/>
            <a:ext cx="4275733" cy="76200"/>
          </a:xfrm>
          <a:prstGeom prst="roundRect">
            <a:avLst>
              <a:gd name="adj" fmla="val 50000"/>
            </a:avLst>
          </a:prstGeom>
          <a:solidFill>
            <a:srgbClr val="FFBA7C">
              <a:alpha val="44000"/>
            </a:srgbClr>
          </a:solidFill>
          <a:ln/>
        </p:spPr>
      </p:sp>
      <p:sp>
        <p:nvSpPr>
          <p:cNvPr id="13" name="Text 11"/>
          <p:cNvSpPr/>
          <p:nvPr/>
        </p:nvSpPr>
        <p:spPr>
          <a:xfrm>
            <a:off x="8458200" y="6116836"/>
            <a:ext cx="150876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Datacenter</a:t>
            </a:r>
            <a:endParaRPr lang="en-US" sz="1800" dirty="0"/>
          </a:p>
        </p:txBody>
      </p:sp>
      <p:sp>
        <p:nvSpPr>
          <p:cNvPr id="14" name="Shape 12"/>
          <p:cNvSpPr/>
          <p:nvPr/>
        </p:nvSpPr>
        <p:spPr>
          <a:xfrm>
            <a:off x="11859717" y="3427909"/>
            <a:ext cx="4936034" cy="4971554"/>
          </a:xfrm>
          <a:prstGeom prst="roundRect">
            <a:avLst>
              <a:gd name="adj" fmla="val 2702"/>
            </a:avLst>
          </a:prstGeom>
          <a:solidFill>
            <a:srgbClr val="FFFFFF">
              <a:alpha val="6000"/>
            </a:srgbClr>
          </a:solidFill>
          <a:ln w="6350">
            <a:solidFill>
              <a:srgbClr val="FFFFFF">
                <a:alpha val="10000"/>
              </a:srgbClr>
            </a:solidFill>
            <a:prstDash val="solid"/>
          </a:ln>
        </p:spPr>
      </p:sp>
      <p:sp>
        <p:nvSpPr>
          <p:cNvPr id="15" name="Text 13"/>
          <p:cNvSpPr/>
          <p:nvPr/>
        </p:nvSpPr>
        <p:spPr>
          <a:xfrm>
            <a:off x="14026059" y="5405636"/>
            <a:ext cx="679450" cy="368300"/>
          </a:xfrm>
          <a:prstGeom prst="rect">
            <a:avLst/>
          </a:prstGeom>
          <a:noFill/>
          <a:ln/>
        </p:spPr>
        <p:txBody>
          <a:bodyPr wrap="square" lIns="25400" tIns="25400" rIns="25400" bIns="25400" rtlCol="0" anchor="t">
            <a:normAutofit/>
          </a:bodyPr>
          <a:lstStyle/>
          <a:p>
            <a:pPr algn="l" indent="0" marL="0">
              <a:buNone/>
            </a:pPr>
            <a:r>
              <a:rPr lang="en-US" sz="2250" b="1" dirty="0">
                <a:solidFill>
                  <a:srgbClr val="EEF3F9"/>
                </a:solidFill>
                <a:latin typeface="Arial" pitchFamily="34" charset="0"/>
                <a:ea typeface="Arial" pitchFamily="34" charset="-122"/>
                <a:cs typeface="Arial" pitchFamily="34" charset="-120"/>
              </a:rPr>
              <a:t>AZ-c</a:t>
            </a:r>
            <a:endParaRPr lang="en-US" sz="2250" dirty="0"/>
          </a:p>
        </p:txBody>
      </p:sp>
      <p:sp>
        <p:nvSpPr>
          <p:cNvPr id="16" name="Shape 14"/>
          <p:cNvSpPr/>
          <p:nvPr/>
        </p:nvSpPr>
        <p:spPr>
          <a:xfrm>
            <a:off x="12189916" y="5888236"/>
            <a:ext cx="4275634" cy="76200"/>
          </a:xfrm>
          <a:prstGeom prst="roundRect">
            <a:avLst>
              <a:gd name="adj" fmla="val 50000"/>
            </a:avLst>
          </a:prstGeom>
          <a:solidFill>
            <a:srgbClr val="FFBA7C">
              <a:alpha val="44000"/>
            </a:srgbClr>
          </a:solidFill>
          <a:ln/>
        </p:spPr>
      </p:sp>
      <p:sp>
        <p:nvSpPr>
          <p:cNvPr id="17" name="Text 15"/>
          <p:cNvSpPr/>
          <p:nvPr/>
        </p:nvSpPr>
        <p:spPr>
          <a:xfrm>
            <a:off x="13641884" y="6116836"/>
            <a:ext cx="150876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Datacenter</a:t>
            </a:r>
            <a:endParaRPr lang="en-US" sz="1800" dirty="0"/>
          </a:p>
        </p:txBody>
      </p:sp>
      <p:sp>
        <p:nvSpPr>
          <p:cNvPr id="18" name="Text 16"/>
          <p:cNvSpPr/>
          <p:nvPr/>
        </p:nvSpPr>
        <p:spPr>
          <a:xfrm>
            <a:off x="1492250" y="8685213"/>
            <a:ext cx="16833851" cy="395288"/>
          </a:xfrm>
          <a:prstGeom prst="rect">
            <a:avLst/>
          </a:prstGeom>
          <a:noFill/>
          <a:ln/>
        </p:spPr>
        <p:txBody>
          <a:bodyPr wrap="square" lIns="25400" tIns="25400" rIns="25400" bIns="25400" rtlCol="0" anchor="t">
            <a:normAutofit/>
          </a:bodyPr>
          <a:lstStyle/>
          <a:p>
            <a:pPr algn="l" indent="0" marL="0">
              <a:lnSpc>
                <a:spcPct val="130814"/>
              </a:lnSpc>
              <a:buNone/>
            </a:pPr>
            <a:r>
              <a:rPr lang="en-US" sz="1875" dirty="0">
                <a:solidFill>
                  <a:srgbClr val="8EA0B5"/>
                </a:solidFill>
                <a:latin typeface="Arial" pitchFamily="34" charset="0"/>
                <a:ea typeface="Arial" pitchFamily="34" charset="-122"/>
                <a:cs typeface="Arial" pitchFamily="34" charset="-120"/>
              </a:rPr>
              <a:t>Réseau à faible latence entre AZ · répartir les ressources permet de </a:t>
            </a:r>
            <a:pPr algn="l" indent="0" marL="0">
              <a:lnSpc>
                <a:spcPct val="130814"/>
              </a:lnSpc>
              <a:buNone/>
            </a:pPr>
            <a:r>
              <a:rPr lang="en-US" sz="1875" dirty="0">
                <a:solidFill>
                  <a:srgbClr val="EEF3F9"/>
                </a:solidFill>
                <a:latin typeface="Arial" pitchFamily="34" charset="0"/>
                <a:ea typeface="Arial" pitchFamily="34" charset="-122"/>
                <a:cs typeface="Arial" pitchFamily="34" charset="-120"/>
              </a:rPr>
              <a:t>survivre à la panne d'un datacenter</a:t>
            </a:r>
            <a:pPr algn="l" indent="0" marL="0">
              <a:lnSpc>
                <a:spcPct val="130814"/>
              </a:lnSpc>
              <a:buNone/>
            </a:pPr>
            <a:r>
              <a:rPr lang="en-US" sz="1875" dirty="0">
                <a:solidFill>
                  <a:srgbClr val="8EA0B5"/>
                </a:solidFill>
                <a:latin typeface="Arial" pitchFamily="34" charset="0"/>
                <a:ea typeface="Arial" pitchFamily="34" charset="-122"/>
                <a:cs typeface="Arial" pitchFamily="34" charset="-120"/>
              </a:rPr>
              <a:t>.</a:t>
            </a:r>
            <a:endParaRPr lang="en-US" sz="1875"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ATELIER 06 · AWS</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Les services AWS fondamentaux</a:t>
            </a:r>
            <a:endParaRPr lang="en-US" sz="4800" dirty="0"/>
          </a:p>
        </p:txBody>
      </p:sp>
      <p:sp>
        <p:nvSpPr>
          <p:cNvPr id="4" name="Shape 2"/>
          <p:cNvSpPr/>
          <p:nvPr/>
        </p:nvSpPr>
        <p:spPr>
          <a:xfrm>
            <a:off x="1066800" y="2367459"/>
            <a:ext cx="3063180" cy="7100392"/>
          </a:xfrm>
          <a:prstGeom prst="roundRect">
            <a:avLst>
              <a:gd name="adj" fmla="val 4975"/>
            </a:avLst>
          </a:prstGeom>
          <a:solidFill>
            <a:srgbClr val="FFFFFF">
              <a:alpha val="3000"/>
            </a:srgbClr>
          </a:solidFill>
          <a:ln w="6350">
            <a:solidFill>
              <a:srgbClr val="FFC491">
                <a:alpha val="34000"/>
              </a:srgbClr>
            </a:solidFill>
            <a:prstDash val="solid"/>
          </a:ln>
        </p:spPr>
      </p:sp>
      <p:sp>
        <p:nvSpPr>
          <p:cNvPr id="5" name="Text 3"/>
          <p:cNvSpPr/>
          <p:nvPr/>
        </p:nvSpPr>
        <p:spPr>
          <a:xfrm>
            <a:off x="1339850" y="2678609"/>
            <a:ext cx="276878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EC2</a:t>
            </a:r>
            <a:endParaRPr lang="en-US" sz="1800" dirty="0"/>
          </a:p>
        </p:txBody>
      </p:sp>
      <p:sp>
        <p:nvSpPr>
          <p:cNvPr id="6" name="Text 4"/>
          <p:cNvSpPr/>
          <p:nvPr/>
        </p:nvSpPr>
        <p:spPr>
          <a:xfrm>
            <a:off x="1339850" y="3097709"/>
            <a:ext cx="2768789"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EEF3F9"/>
                </a:solidFill>
                <a:latin typeface="Arial" pitchFamily="34" charset="0"/>
                <a:ea typeface="Arial" pitchFamily="34" charset="-122"/>
                <a:cs typeface="Arial" pitchFamily="34" charset="-120"/>
              </a:rPr>
              <a:t>Calcul</a:t>
            </a:r>
            <a:endParaRPr lang="en-US" sz="2175" dirty="0"/>
          </a:p>
        </p:txBody>
      </p:sp>
      <p:sp>
        <p:nvSpPr>
          <p:cNvPr id="7" name="Text 5"/>
          <p:cNvSpPr/>
          <p:nvPr/>
        </p:nvSpPr>
        <p:spPr>
          <a:xfrm>
            <a:off x="1339850" y="3523159"/>
            <a:ext cx="2593281" cy="1363663"/>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Machines virtuelles (instances) à la demande, facturées à l'usage.</a:t>
            </a:r>
            <a:endParaRPr lang="en-US" sz="1800" dirty="0"/>
          </a:p>
        </p:txBody>
      </p:sp>
      <p:sp>
        <p:nvSpPr>
          <p:cNvPr id="8" name="Shape 6"/>
          <p:cNvSpPr/>
          <p:nvPr/>
        </p:nvSpPr>
        <p:spPr>
          <a:xfrm>
            <a:off x="4339530" y="2367459"/>
            <a:ext cx="3063280" cy="7100392"/>
          </a:xfrm>
          <a:prstGeom prst="roundRect">
            <a:avLst>
              <a:gd name="adj" fmla="val 4975"/>
            </a:avLst>
          </a:prstGeom>
          <a:solidFill>
            <a:srgbClr val="FFFFFF">
              <a:alpha val="3000"/>
            </a:srgbClr>
          </a:solidFill>
          <a:ln w="6350">
            <a:solidFill>
              <a:srgbClr val="FFC491">
                <a:alpha val="34000"/>
              </a:srgbClr>
            </a:solidFill>
            <a:prstDash val="solid"/>
          </a:ln>
        </p:spPr>
      </p:sp>
      <p:sp>
        <p:nvSpPr>
          <p:cNvPr id="9" name="Text 7"/>
          <p:cNvSpPr/>
          <p:nvPr/>
        </p:nvSpPr>
        <p:spPr>
          <a:xfrm>
            <a:off x="4612581" y="2678609"/>
            <a:ext cx="2768898"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Courier New" pitchFamily="34" charset="0"/>
                <a:ea typeface="Courier New" pitchFamily="34" charset="-122"/>
                <a:cs typeface="Courier New" pitchFamily="34" charset="-120"/>
              </a:rPr>
              <a:t>S3</a:t>
            </a:r>
            <a:endParaRPr lang="en-US" sz="1800" dirty="0"/>
          </a:p>
        </p:txBody>
      </p:sp>
      <p:sp>
        <p:nvSpPr>
          <p:cNvPr id="10" name="Text 8"/>
          <p:cNvSpPr/>
          <p:nvPr/>
        </p:nvSpPr>
        <p:spPr>
          <a:xfrm>
            <a:off x="4612581" y="3097709"/>
            <a:ext cx="2768898"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EEF3F9"/>
                </a:solidFill>
                <a:latin typeface="Arial" pitchFamily="34" charset="0"/>
                <a:ea typeface="Arial" pitchFamily="34" charset="-122"/>
                <a:cs typeface="Arial" pitchFamily="34" charset="-120"/>
              </a:rPr>
              <a:t>Stockage</a:t>
            </a:r>
            <a:endParaRPr lang="en-US" sz="2175" dirty="0"/>
          </a:p>
        </p:txBody>
      </p:sp>
      <p:sp>
        <p:nvSpPr>
          <p:cNvPr id="11" name="Text 9"/>
          <p:cNvSpPr/>
          <p:nvPr/>
        </p:nvSpPr>
        <p:spPr>
          <a:xfrm>
            <a:off x="4612581" y="3523159"/>
            <a:ext cx="2593380" cy="1363663"/>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Objets en buckets, durable et disponible. Le socle des données Big Data.</a:t>
            </a:r>
            <a:endParaRPr lang="en-US" sz="1800" dirty="0"/>
          </a:p>
        </p:txBody>
      </p:sp>
      <p:sp>
        <p:nvSpPr>
          <p:cNvPr id="12" name="Shape 10"/>
          <p:cNvSpPr/>
          <p:nvPr/>
        </p:nvSpPr>
        <p:spPr>
          <a:xfrm>
            <a:off x="7612360" y="2367459"/>
            <a:ext cx="3063180" cy="7100392"/>
          </a:xfrm>
          <a:prstGeom prst="roundRect">
            <a:avLst>
              <a:gd name="adj" fmla="val 4975"/>
            </a:avLst>
          </a:prstGeom>
          <a:solidFill>
            <a:srgbClr val="FFFFFF">
              <a:alpha val="3000"/>
            </a:srgbClr>
          </a:solidFill>
          <a:ln w="6350">
            <a:solidFill>
              <a:srgbClr val="FFFFFF">
                <a:alpha val="10000"/>
              </a:srgbClr>
            </a:solidFill>
            <a:prstDash val="solid"/>
          </a:ln>
        </p:spPr>
      </p:sp>
      <p:sp>
        <p:nvSpPr>
          <p:cNvPr id="13" name="Text 11"/>
          <p:cNvSpPr/>
          <p:nvPr/>
        </p:nvSpPr>
        <p:spPr>
          <a:xfrm>
            <a:off x="7885411" y="2678609"/>
            <a:ext cx="2768789"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IAM</a:t>
            </a:r>
            <a:endParaRPr lang="en-US" sz="1800" dirty="0"/>
          </a:p>
        </p:txBody>
      </p:sp>
      <p:sp>
        <p:nvSpPr>
          <p:cNvPr id="14" name="Text 12"/>
          <p:cNvSpPr/>
          <p:nvPr/>
        </p:nvSpPr>
        <p:spPr>
          <a:xfrm>
            <a:off x="7885411" y="3097709"/>
            <a:ext cx="2768789"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EEF3F9"/>
                </a:solidFill>
                <a:latin typeface="Arial" pitchFamily="34" charset="0"/>
                <a:ea typeface="Arial" pitchFamily="34" charset="-122"/>
                <a:cs typeface="Arial" pitchFamily="34" charset="-120"/>
              </a:rPr>
              <a:t>Identités</a:t>
            </a:r>
            <a:endParaRPr lang="en-US" sz="2175" dirty="0"/>
          </a:p>
        </p:txBody>
      </p:sp>
      <p:sp>
        <p:nvSpPr>
          <p:cNvPr id="15" name="Text 13"/>
          <p:cNvSpPr/>
          <p:nvPr/>
        </p:nvSpPr>
        <p:spPr>
          <a:xfrm>
            <a:off x="7885411" y="3523159"/>
            <a:ext cx="2593281" cy="1032272"/>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Qui peut faire quoi, sur quelle ressource. Moindre privilège.</a:t>
            </a:r>
            <a:endParaRPr lang="en-US" sz="1800" dirty="0"/>
          </a:p>
        </p:txBody>
      </p:sp>
      <p:sp>
        <p:nvSpPr>
          <p:cNvPr id="16" name="Shape 14"/>
          <p:cNvSpPr/>
          <p:nvPr/>
        </p:nvSpPr>
        <p:spPr>
          <a:xfrm>
            <a:off x="10885091" y="2367459"/>
            <a:ext cx="3063280" cy="7100392"/>
          </a:xfrm>
          <a:prstGeom prst="roundRect">
            <a:avLst>
              <a:gd name="adj" fmla="val 4975"/>
            </a:avLst>
          </a:prstGeom>
          <a:solidFill>
            <a:srgbClr val="FFFFFF">
              <a:alpha val="3000"/>
            </a:srgbClr>
          </a:solidFill>
          <a:ln w="6350">
            <a:solidFill>
              <a:srgbClr val="FFFFFF">
                <a:alpha val="10000"/>
              </a:srgbClr>
            </a:solidFill>
            <a:prstDash val="solid"/>
          </a:ln>
        </p:spPr>
      </p:sp>
      <p:sp>
        <p:nvSpPr>
          <p:cNvPr id="17" name="Text 15"/>
          <p:cNvSpPr/>
          <p:nvPr/>
        </p:nvSpPr>
        <p:spPr>
          <a:xfrm>
            <a:off x="11158141" y="2678609"/>
            <a:ext cx="2768898"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VPC</a:t>
            </a:r>
            <a:endParaRPr lang="en-US" sz="1800" dirty="0"/>
          </a:p>
        </p:txBody>
      </p:sp>
      <p:sp>
        <p:nvSpPr>
          <p:cNvPr id="18" name="Text 16"/>
          <p:cNvSpPr/>
          <p:nvPr/>
        </p:nvSpPr>
        <p:spPr>
          <a:xfrm>
            <a:off x="11158141" y="3097709"/>
            <a:ext cx="2768898"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EEF3F9"/>
                </a:solidFill>
                <a:latin typeface="Arial" pitchFamily="34" charset="0"/>
                <a:ea typeface="Arial" pitchFamily="34" charset="-122"/>
                <a:cs typeface="Arial" pitchFamily="34" charset="-120"/>
              </a:rPr>
              <a:t>Réseau</a:t>
            </a:r>
            <a:endParaRPr lang="en-US" sz="2175" dirty="0"/>
          </a:p>
        </p:txBody>
      </p:sp>
      <p:sp>
        <p:nvSpPr>
          <p:cNvPr id="19" name="Text 17"/>
          <p:cNvSpPr/>
          <p:nvPr/>
        </p:nvSpPr>
        <p:spPr>
          <a:xfrm>
            <a:off x="11158141" y="3523159"/>
            <a:ext cx="2593380" cy="1363663"/>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Réseau privé isolé, découpé en sous-réseaux publics ou privés.</a:t>
            </a:r>
            <a:endParaRPr lang="en-US" sz="1800" dirty="0"/>
          </a:p>
        </p:txBody>
      </p:sp>
      <p:sp>
        <p:nvSpPr>
          <p:cNvPr id="20" name="Shape 18"/>
          <p:cNvSpPr/>
          <p:nvPr/>
        </p:nvSpPr>
        <p:spPr>
          <a:xfrm>
            <a:off x="14157921" y="2367459"/>
            <a:ext cx="3063280" cy="7100392"/>
          </a:xfrm>
          <a:prstGeom prst="roundRect">
            <a:avLst>
              <a:gd name="adj" fmla="val 4975"/>
            </a:avLst>
          </a:prstGeom>
          <a:solidFill>
            <a:srgbClr val="FFFFFF">
              <a:alpha val="3000"/>
            </a:srgbClr>
          </a:solidFill>
          <a:ln w="6350">
            <a:solidFill>
              <a:srgbClr val="FFFFFF">
                <a:alpha val="10000"/>
              </a:srgbClr>
            </a:solidFill>
            <a:prstDash val="solid"/>
          </a:ln>
        </p:spPr>
      </p:sp>
      <p:sp>
        <p:nvSpPr>
          <p:cNvPr id="21" name="Text 19"/>
          <p:cNvSpPr/>
          <p:nvPr/>
        </p:nvSpPr>
        <p:spPr>
          <a:xfrm>
            <a:off x="14430970" y="2678609"/>
            <a:ext cx="2768898" cy="3429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Courier New" pitchFamily="34" charset="0"/>
                <a:ea typeface="Courier New" pitchFamily="34" charset="-122"/>
                <a:cs typeface="Courier New" pitchFamily="34" charset="-120"/>
              </a:rPr>
              <a:t>Security Group</a:t>
            </a:r>
            <a:endParaRPr lang="en-US" sz="1800" dirty="0"/>
          </a:p>
        </p:txBody>
      </p:sp>
      <p:sp>
        <p:nvSpPr>
          <p:cNvPr id="22" name="Text 20"/>
          <p:cNvSpPr/>
          <p:nvPr/>
        </p:nvSpPr>
        <p:spPr>
          <a:xfrm>
            <a:off x="14430970" y="3097709"/>
            <a:ext cx="2768898" cy="349250"/>
          </a:xfrm>
          <a:prstGeom prst="rect">
            <a:avLst/>
          </a:prstGeom>
          <a:noFill/>
          <a:ln/>
        </p:spPr>
        <p:txBody>
          <a:bodyPr wrap="square" lIns="25400" tIns="25400" rIns="25400" bIns="25400" rtlCol="0" anchor="t">
            <a:normAutofit/>
          </a:bodyPr>
          <a:lstStyle/>
          <a:p>
            <a:pPr algn="l" indent="0" marL="0">
              <a:buNone/>
            </a:pPr>
            <a:r>
              <a:rPr lang="en-US" sz="2175" b="1" dirty="0">
                <a:solidFill>
                  <a:srgbClr val="EEF3F9"/>
                </a:solidFill>
                <a:latin typeface="Arial" pitchFamily="34" charset="0"/>
                <a:ea typeface="Arial" pitchFamily="34" charset="-122"/>
                <a:cs typeface="Arial" pitchFamily="34" charset="-120"/>
              </a:rPr>
              <a:t>Pare-feu</a:t>
            </a:r>
            <a:endParaRPr lang="en-US" sz="2175" dirty="0"/>
          </a:p>
        </p:txBody>
      </p:sp>
      <p:sp>
        <p:nvSpPr>
          <p:cNvPr id="23" name="Text 21"/>
          <p:cNvSpPr/>
          <p:nvPr/>
        </p:nvSpPr>
        <p:spPr>
          <a:xfrm>
            <a:off x="14430970" y="3523159"/>
            <a:ext cx="2593380" cy="1032272"/>
          </a:xfrm>
          <a:prstGeom prst="rect">
            <a:avLst/>
          </a:prstGeom>
          <a:noFill/>
          <a:ln/>
        </p:spPr>
        <p:txBody>
          <a:bodyPr wrap="square" lIns="25400" tIns="25400" rIns="25400" bIns="25400" rtlCol="0" anchor="t">
            <a:normAutofit/>
          </a:bodyPr>
          <a:lstStyle/>
          <a:p>
            <a:pPr algn="l" indent="0" marL="0">
              <a:lnSpc>
                <a:spcPct val="124286"/>
              </a:lnSpc>
              <a:buNone/>
            </a:pPr>
            <a:r>
              <a:rPr lang="en-US" sz="1800" dirty="0">
                <a:solidFill>
                  <a:srgbClr val="8EA0B5"/>
                </a:solidFill>
                <a:latin typeface="Arial" pitchFamily="34" charset="0"/>
                <a:ea typeface="Arial" pitchFamily="34" charset="-122"/>
                <a:cs typeface="Arial" pitchFamily="34" charset="-120"/>
              </a:rPr>
              <a:t>Règles de trafic entrant/sortant au niveau d'une ressource.</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FFB46E"/>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FFB46E"/>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3362430" cy="342900"/>
          </a:xfrm>
          <a:prstGeom prst="rect">
            <a:avLst/>
          </a:prstGeom>
          <a:noFill/>
          <a:ln/>
        </p:spPr>
        <p:txBody>
          <a:bodyPr wrap="square" lIns="0" tIns="0" rIns="0" bIns="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QUIZ · ATELIER 06</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Cloud Computing &amp; AWS</a:t>
            </a:r>
            <a:endParaRPr lang="en-US" sz="4800" dirty="0"/>
          </a:p>
        </p:txBody>
      </p:sp>
      <p:sp>
        <p:nvSpPr>
          <p:cNvPr id="6" name="Text 4"/>
          <p:cNvSpPr/>
          <p:nvPr/>
        </p:nvSpPr>
        <p:spPr>
          <a:xfrm>
            <a:off x="1066800" y="2443659"/>
            <a:ext cx="5741670" cy="346670"/>
          </a:xfrm>
          <a:prstGeom prst="rect">
            <a:avLst/>
          </a:prstGeom>
          <a:noFill/>
          <a:ln/>
        </p:spPr>
        <p:txBody>
          <a:bodyPr wrap="square" lIns="25400" tIns="25400" rIns="25400" bIns="25400" rtlCol="0" anchor="t">
            <a:normAutofit/>
          </a:bodyPr>
          <a:lstStyle/>
          <a:p>
            <a:pPr algn="l" indent="0" marL="0">
              <a:lnSpc>
                <a:spcPct val="103404"/>
              </a:lnSpc>
              <a:buNone/>
            </a:pPr>
            <a:r>
              <a:rPr lang="en-US" sz="2025" b="1" dirty="0">
                <a:solidFill>
                  <a:srgbClr val="EEF3F9"/>
                </a:solidFill>
                <a:latin typeface="Arial" pitchFamily="34" charset="0"/>
                <a:ea typeface="Arial" pitchFamily="34" charset="-122"/>
                <a:cs typeface="Arial" pitchFamily="34" charset="-120"/>
              </a:rPr>
              <a:t>Lequel correspond à de l'IaaS ?</a:t>
            </a:r>
            <a:endParaRPr lang="en-US" sz="2025" dirty="0"/>
          </a:p>
        </p:txBody>
      </p:sp>
      <p:sp>
        <p:nvSpPr>
          <p:cNvPr id="7" name="Shape 5"/>
          <p:cNvSpPr/>
          <p:nvPr/>
        </p:nvSpPr>
        <p:spPr>
          <a:xfrm>
            <a:off x="1066800" y="29236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8" name="Shape 6"/>
          <p:cNvSpPr/>
          <p:nvPr/>
        </p:nvSpPr>
        <p:spPr>
          <a:xfrm>
            <a:off x="1263650" y="3082429"/>
            <a:ext cx="304800" cy="304800"/>
          </a:xfrm>
          <a:prstGeom prst="roundRect">
            <a:avLst>
              <a:gd name="adj" fmla="val 25000"/>
            </a:avLst>
          </a:prstGeom>
          <a:solidFill>
            <a:srgbClr val="FFFFFF">
              <a:alpha val="6000"/>
            </a:srgbClr>
          </a:solidFill>
          <a:ln/>
        </p:spPr>
      </p:sp>
      <p:sp>
        <p:nvSpPr>
          <p:cNvPr id="9" name="Text 7"/>
          <p:cNvSpPr/>
          <p:nvPr/>
        </p:nvSpPr>
        <p:spPr>
          <a:xfrm>
            <a:off x="1225550" y="30824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A</a:t>
            </a:r>
            <a:endParaRPr lang="en-US" sz="1800" dirty="0"/>
          </a:p>
        </p:txBody>
      </p:sp>
      <p:sp>
        <p:nvSpPr>
          <p:cNvPr id="10" name="Text 8"/>
          <p:cNvSpPr/>
          <p:nvPr/>
        </p:nvSpPr>
        <p:spPr>
          <a:xfrm>
            <a:off x="1701800" y="3085604"/>
            <a:ext cx="676077"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Gmail</a:t>
            </a:r>
            <a:endParaRPr lang="en-US" sz="1800" dirty="0"/>
          </a:p>
        </p:txBody>
      </p:sp>
      <p:sp>
        <p:nvSpPr>
          <p:cNvPr id="11" name="Shape 9"/>
          <p:cNvSpPr/>
          <p:nvPr/>
        </p:nvSpPr>
        <p:spPr>
          <a:xfrm>
            <a:off x="1066800" y="36602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12" name="Shape 10"/>
          <p:cNvSpPr/>
          <p:nvPr/>
        </p:nvSpPr>
        <p:spPr>
          <a:xfrm>
            <a:off x="1263650" y="3819029"/>
            <a:ext cx="304800" cy="304800"/>
          </a:xfrm>
          <a:prstGeom prst="roundRect">
            <a:avLst>
              <a:gd name="adj" fmla="val 25000"/>
            </a:avLst>
          </a:prstGeom>
          <a:solidFill>
            <a:srgbClr val="FFFFFF">
              <a:alpha val="6000"/>
            </a:srgbClr>
          </a:solidFill>
          <a:ln/>
        </p:spPr>
      </p:sp>
      <p:sp>
        <p:nvSpPr>
          <p:cNvPr id="13" name="Text 11"/>
          <p:cNvSpPr/>
          <p:nvPr/>
        </p:nvSpPr>
        <p:spPr>
          <a:xfrm>
            <a:off x="1225550" y="38190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B</a:t>
            </a:r>
            <a:endParaRPr lang="en-US" sz="1800" dirty="0"/>
          </a:p>
        </p:txBody>
      </p:sp>
      <p:sp>
        <p:nvSpPr>
          <p:cNvPr id="14" name="Text 12"/>
          <p:cNvSpPr/>
          <p:nvPr/>
        </p:nvSpPr>
        <p:spPr>
          <a:xfrm>
            <a:off x="1701800" y="3822204"/>
            <a:ext cx="1425813"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Amazon EC2</a:t>
            </a:r>
            <a:endParaRPr lang="en-US" sz="1800" dirty="0"/>
          </a:p>
        </p:txBody>
      </p:sp>
      <p:sp>
        <p:nvSpPr>
          <p:cNvPr id="15" name="Shape 13"/>
          <p:cNvSpPr/>
          <p:nvPr/>
        </p:nvSpPr>
        <p:spPr>
          <a:xfrm>
            <a:off x="1066800" y="43968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16" name="Shape 14"/>
          <p:cNvSpPr/>
          <p:nvPr/>
        </p:nvSpPr>
        <p:spPr>
          <a:xfrm>
            <a:off x="1263650" y="4555629"/>
            <a:ext cx="304800" cy="304800"/>
          </a:xfrm>
          <a:prstGeom prst="roundRect">
            <a:avLst>
              <a:gd name="adj" fmla="val 25000"/>
            </a:avLst>
          </a:prstGeom>
          <a:solidFill>
            <a:srgbClr val="FFFFFF">
              <a:alpha val="6000"/>
            </a:srgbClr>
          </a:solidFill>
          <a:ln/>
        </p:spPr>
      </p:sp>
      <p:sp>
        <p:nvSpPr>
          <p:cNvPr id="17" name="Text 15"/>
          <p:cNvSpPr/>
          <p:nvPr/>
        </p:nvSpPr>
        <p:spPr>
          <a:xfrm>
            <a:off x="1225550" y="45556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C</a:t>
            </a:r>
            <a:endParaRPr lang="en-US" sz="1800" dirty="0"/>
          </a:p>
        </p:txBody>
      </p:sp>
      <p:sp>
        <p:nvSpPr>
          <p:cNvPr id="18" name="Text 16"/>
          <p:cNvSpPr/>
          <p:nvPr/>
        </p:nvSpPr>
        <p:spPr>
          <a:xfrm>
            <a:off x="1701800" y="4558804"/>
            <a:ext cx="141348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Google Docs</a:t>
            </a:r>
            <a:endParaRPr lang="en-US" sz="1800" dirty="0"/>
          </a:p>
        </p:txBody>
      </p:sp>
      <p:sp>
        <p:nvSpPr>
          <p:cNvPr id="19" name="Shape 17"/>
          <p:cNvSpPr/>
          <p:nvPr/>
        </p:nvSpPr>
        <p:spPr>
          <a:xfrm>
            <a:off x="1066800" y="51334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20" name="Shape 18"/>
          <p:cNvSpPr/>
          <p:nvPr/>
        </p:nvSpPr>
        <p:spPr>
          <a:xfrm>
            <a:off x="1263650" y="5292229"/>
            <a:ext cx="304800" cy="304800"/>
          </a:xfrm>
          <a:prstGeom prst="roundRect">
            <a:avLst>
              <a:gd name="adj" fmla="val 25000"/>
            </a:avLst>
          </a:prstGeom>
          <a:solidFill>
            <a:srgbClr val="FFFFFF">
              <a:alpha val="6000"/>
            </a:srgbClr>
          </a:solidFill>
          <a:ln/>
        </p:spPr>
      </p:sp>
      <p:sp>
        <p:nvSpPr>
          <p:cNvPr id="21" name="Text 19"/>
          <p:cNvSpPr/>
          <p:nvPr/>
        </p:nvSpPr>
        <p:spPr>
          <a:xfrm>
            <a:off x="1225550" y="52922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D</a:t>
            </a:r>
            <a:endParaRPr lang="en-US" sz="1800" dirty="0"/>
          </a:p>
        </p:txBody>
      </p:sp>
      <p:sp>
        <p:nvSpPr>
          <p:cNvPr id="22" name="Text 20"/>
          <p:cNvSpPr/>
          <p:nvPr/>
        </p:nvSpPr>
        <p:spPr>
          <a:xfrm>
            <a:off x="1701800" y="5295404"/>
            <a:ext cx="946745"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Dropbox</a:t>
            </a:r>
            <a:endParaRPr lang="en-US" sz="1800" dirty="0"/>
          </a:p>
        </p:txBody>
      </p:sp>
      <p:sp>
        <p:nvSpPr>
          <p:cNvPr id="23" name="Text 21"/>
          <p:cNvSpPr/>
          <p:nvPr/>
        </p:nvSpPr>
        <p:spPr>
          <a:xfrm>
            <a:off x="6534150" y="2443659"/>
            <a:ext cx="5741670" cy="346670"/>
          </a:xfrm>
          <a:prstGeom prst="rect">
            <a:avLst/>
          </a:prstGeom>
          <a:noFill/>
          <a:ln/>
        </p:spPr>
        <p:txBody>
          <a:bodyPr wrap="square" lIns="25400" tIns="25400" rIns="25400" bIns="25400" rtlCol="0" anchor="t">
            <a:normAutofit/>
          </a:bodyPr>
          <a:lstStyle/>
          <a:p>
            <a:pPr algn="l" indent="0" marL="0">
              <a:lnSpc>
                <a:spcPct val="103404"/>
              </a:lnSpc>
              <a:buNone/>
            </a:pPr>
            <a:r>
              <a:rPr lang="en-US" sz="2025" b="1" dirty="0">
                <a:solidFill>
                  <a:srgbClr val="EEF3F9"/>
                </a:solidFill>
                <a:latin typeface="Arial" pitchFamily="34" charset="0"/>
                <a:ea typeface="Arial" pitchFamily="34" charset="-122"/>
                <a:cs typeface="Arial" pitchFamily="34" charset="-120"/>
              </a:rPr>
              <a:t>Rôle principal d'un Security Group ?</a:t>
            </a:r>
            <a:endParaRPr lang="en-US" sz="2025" dirty="0"/>
          </a:p>
        </p:txBody>
      </p:sp>
      <p:sp>
        <p:nvSpPr>
          <p:cNvPr id="24" name="Shape 22"/>
          <p:cNvSpPr/>
          <p:nvPr/>
        </p:nvSpPr>
        <p:spPr>
          <a:xfrm>
            <a:off x="6534150" y="29236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25" name="Shape 23"/>
          <p:cNvSpPr/>
          <p:nvPr/>
        </p:nvSpPr>
        <p:spPr>
          <a:xfrm>
            <a:off x="6731000" y="3082429"/>
            <a:ext cx="304800" cy="304800"/>
          </a:xfrm>
          <a:prstGeom prst="roundRect">
            <a:avLst>
              <a:gd name="adj" fmla="val 25000"/>
            </a:avLst>
          </a:prstGeom>
          <a:solidFill>
            <a:srgbClr val="FFFFFF">
              <a:alpha val="6000"/>
            </a:srgbClr>
          </a:solidFill>
          <a:ln/>
        </p:spPr>
      </p:sp>
      <p:sp>
        <p:nvSpPr>
          <p:cNvPr id="26" name="Text 24"/>
          <p:cNvSpPr/>
          <p:nvPr/>
        </p:nvSpPr>
        <p:spPr>
          <a:xfrm>
            <a:off x="6692900" y="30824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A</a:t>
            </a:r>
            <a:endParaRPr lang="en-US" sz="1800" dirty="0"/>
          </a:p>
        </p:txBody>
      </p:sp>
      <p:sp>
        <p:nvSpPr>
          <p:cNvPr id="27" name="Text 25"/>
          <p:cNvSpPr/>
          <p:nvPr/>
        </p:nvSpPr>
        <p:spPr>
          <a:xfrm>
            <a:off x="7169150" y="3085604"/>
            <a:ext cx="2264668"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Chiffrer les données</a:t>
            </a:r>
            <a:endParaRPr lang="en-US" sz="1800" dirty="0"/>
          </a:p>
        </p:txBody>
      </p:sp>
      <p:sp>
        <p:nvSpPr>
          <p:cNvPr id="28" name="Shape 26"/>
          <p:cNvSpPr/>
          <p:nvPr/>
        </p:nvSpPr>
        <p:spPr>
          <a:xfrm>
            <a:off x="6534150" y="3660279"/>
            <a:ext cx="5219700" cy="914400"/>
          </a:xfrm>
          <a:prstGeom prst="roundRect">
            <a:avLst>
              <a:gd name="adj" fmla="val 12500"/>
            </a:avLst>
          </a:prstGeom>
          <a:solidFill>
            <a:srgbClr val="FFFFFF">
              <a:alpha val="3000"/>
            </a:srgbClr>
          </a:solidFill>
          <a:ln w="6350">
            <a:solidFill>
              <a:srgbClr val="FFFFFF">
                <a:alpha val="10000"/>
              </a:srgbClr>
            </a:solidFill>
            <a:prstDash val="solid"/>
          </a:ln>
        </p:spPr>
      </p:sp>
      <p:sp>
        <p:nvSpPr>
          <p:cNvPr id="29" name="Shape 27"/>
          <p:cNvSpPr/>
          <p:nvPr/>
        </p:nvSpPr>
        <p:spPr>
          <a:xfrm>
            <a:off x="6731000" y="3965079"/>
            <a:ext cx="274340" cy="304800"/>
          </a:xfrm>
          <a:prstGeom prst="roundRect">
            <a:avLst>
              <a:gd name="adj" fmla="val 27776"/>
            </a:avLst>
          </a:prstGeom>
          <a:solidFill>
            <a:srgbClr val="FFFFFF">
              <a:alpha val="6000"/>
            </a:srgbClr>
          </a:solidFill>
          <a:ln/>
        </p:spPr>
      </p:sp>
      <p:sp>
        <p:nvSpPr>
          <p:cNvPr id="30" name="Text 28"/>
          <p:cNvSpPr/>
          <p:nvPr/>
        </p:nvSpPr>
        <p:spPr>
          <a:xfrm>
            <a:off x="6692900" y="3965079"/>
            <a:ext cx="35054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B</a:t>
            </a:r>
            <a:endParaRPr lang="en-US" sz="1800" dirty="0"/>
          </a:p>
        </p:txBody>
      </p:sp>
      <p:sp>
        <p:nvSpPr>
          <p:cNvPr id="31" name="Text 29"/>
          <p:cNvSpPr/>
          <p:nvPr/>
        </p:nvSpPr>
        <p:spPr>
          <a:xfrm>
            <a:off x="7138690" y="3819029"/>
            <a:ext cx="4550860" cy="6350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Définir le trafic entrant et sortant d'une instance</a:t>
            </a:r>
            <a:endParaRPr lang="en-US" sz="1800" dirty="0"/>
          </a:p>
        </p:txBody>
      </p:sp>
      <p:sp>
        <p:nvSpPr>
          <p:cNvPr id="32" name="Shape 30"/>
          <p:cNvSpPr/>
          <p:nvPr/>
        </p:nvSpPr>
        <p:spPr>
          <a:xfrm>
            <a:off x="6534150" y="46889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33" name="Shape 31"/>
          <p:cNvSpPr/>
          <p:nvPr/>
        </p:nvSpPr>
        <p:spPr>
          <a:xfrm>
            <a:off x="6731000" y="4847729"/>
            <a:ext cx="304800" cy="304800"/>
          </a:xfrm>
          <a:prstGeom prst="roundRect">
            <a:avLst>
              <a:gd name="adj" fmla="val 25000"/>
            </a:avLst>
          </a:prstGeom>
          <a:solidFill>
            <a:srgbClr val="FFFFFF">
              <a:alpha val="6000"/>
            </a:srgbClr>
          </a:solidFill>
          <a:ln/>
        </p:spPr>
      </p:sp>
      <p:sp>
        <p:nvSpPr>
          <p:cNvPr id="34" name="Text 32"/>
          <p:cNvSpPr/>
          <p:nvPr/>
        </p:nvSpPr>
        <p:spPr>
          <a:xfrm>
            <a:off x="6692900" y="48477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C</a:t>
            </a:r>
            <a:endParaRPr lang="en-US" sz="1800" dirty="0"/>
          </a:p>
        </p:txBody>
      </p:sp>
      <p:sp>
        <p:nvSpPr>
          <p:cNvPr id="35" name="Text 33"/>
          <p:cNvSpPr/>
          <p:nvPr/>
        </p:nvSpPr>
        <p:spPr>
          <a:xfrm>
            <a:off x="7169150" y="4850904"/>
            <a:ext cx="283471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Sauvegarder les données</a:t>
            </a:r>
            <a:endParaRPr lang="en-US" sz="1800" dirty="0"/>
          </a:p>
        </p:txBody>
      </p:sp>
      <p:sp>
        <p:nvSpPr>
          <p:cNvPr id="36" name="Shape 34"/>
          <p:cNvSpPr/>
          <p:nvPr/>
        </p:nvSpPr>
        <p:spPr>
          <a:xfrm>
            <a:off x="6534150" y="54255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37" name="Shape 35"/>
          <p:cNvSpPr/>
          <p:nvPr/>
        </p:nvSpPr>
        <p:spPr>
          <a:xfrm>
            <a:off x="6731000" y="5584329"/>
            <a:ext cx="304800" cy="304800"/>
          </a:xfrm>
          <a:prstGeom prst="roundRect">
            <a:avLst>
              <a:gd name="adj" fmla="val 25000"/>
            </a:avLst>
          </a:prstGeom>
          <a:solidFill>
            <a:srgbClr val="FFFFFF">
              <a:alpha val="6000"/>
            </a:srgbClr>
          </a:solidFill>
          <a:ln/>
        </p:spPr>
      </p:sp>
      <p:sp>
        <p:nvSpPr>
          <p:cNvPr id="38" name="Text 36"/>
          <p:cNvSpPr/>
          <p:nvPr/>
        </p:nvSpPr>
        <p:spPr>
          <a:xfrm>
            <a:off x="6692900" y="55843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D</a:t>
            </a:r>
            <a:endParaRPr lang="en-US" sz="1800" dirty="0"/>
          </a:p>
        </p:txBody>
      </p:sp>
      <p:sp>
        <p:nvSpPr>
          <p:cNvPr id="39" name="Text 37"/>
          <p:cNvSpPr/>
          <p:nvPr/>
        </p:nvSpPr>
        <p:spPr>
          <a:xfrm>
            <a:off x="7169150" y="5587504"/>
            <a:ext cx="3283168"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Héberger une base MongoDB</a:t>
            </a:r>
            <a:endParaRPr lang="en-US" sz="1800" dirty="0"/>
          </a:p>
        </p:txBody>
      </p:sp>
      <p:sp>
        <p:nvSpPr>
          <p:cNvPr id="40" name="Text 38"/>
          <p:cNvSpPr/>
          <p:nvPr/>
        </p:nvSpPr>
        <p:spPr>
          <a:xfrm>
            <a:off x="12001500" y="2443659"/>
            <a:ext cx="5376291" cy="655241"/>
          </a:xfrm>
          <a:prstGeom prst="rect">
            <a:avLst/>
          </a:prstGeom>
          <a:noFill/>
          <a:ln/>
        </p:spPr>
        <p:txBody>
          <a:bodyPr wrap="square" lIns="25400" tIns="25400" rIns="25400" bIns="25400" rtlCol="0" anchor="t">
            <a:normAutofit/>
          </a:bodyPr>
          <a:lstStyle/>
          <a:p>
            <a:pPr algn="l" indent="0" marL="0">
              <a:lnSpc>
                <a:spcPct val="103404"/>
              </a:lnSpc>
              <a:buNone/>
            </a:pPr>
            <a:r>
              <a:rPr lang="en-US" sz="2025" b="1" dirty="0">
                <a:solidFill>
                  <a:srgbClr val="EEF3F9"/>
                </a:solidFill>
                <a:latin typeface="Arial" pitchFamily="34" charset="0"/>
                <a:ea typeface="Arial" pitchFamily="34" charset="-122"/>
                <a:cs typeface="Arial" pitchFamily="34" charset="-120"/>
              </a:rPr>
              <a:t>Pourquoi S3 plutôt que le disque local d'EC2 ?</a:t>
            </a:r>
            <a:endParaRPr lang="en-US" sz="2025" dirty="0"/>
          </a:p>
        </p:txBody>
      </p:sp>
      <p:sp>
        <p:nvSpPr>
          <p:cNvPr id="41" name="Shape 39"/>
          <p:cNvSpPr/>
          <p:nvPr/>
        </p:nvSpPr>
        <p:spPr>
          <a:xfrm>
            <a:off x="12001500" y="3232249"/>
            <a:ext cx="5219700" cy="914400"/>
          </a:xfrm>
          <a:prstGeom prst="roundRect">
            <a:avLst>
              <a:gd name="adj" fmla="val 12500"/>
            </a:avLst>
          </a:prstGeom>
          <a:solidFill>
            <a:srgbClr val="FFFFFF">
              <a:alpha val="3000"/>
            </a:srgbClr>
          </a:solidFill>
          <a:ln w="6350">
            <a:solidFill>
              <a:srgbClr val="FFFFFF">
                <a:alpha val="10000"/>
              </a:srgbClr>
            </a:solidFill>
            <a:prstDash val="solid"/>
          </a:ln>
        </p:spPr>
      </p:sp>
      <p:sp>
        <p:nvSpPr>
          <p:cNvPr id="42" name="Shape 40"/>
          <p:cNvSpPr/>
          <p:nvPr/>
        </p:nvSpPr>
        <p:spPr>
          <a:xfrm>
            <a:off x="12198351" y="3537049"/>
            <a:ext cx="251222" cy="304800"/>
          </a:xfrm>
          <a:prstGeom prst="roundRect">
            <a:avLst>
              <a:gd name="adj" fmla="val 30332"/>
            </a:avLst>
          </a:prstGeom>
          <a:solidFill>
            <a:srgbClr val="FFFFFF">
              <a:alpha val="6000"/>
            </a:srgbClr>
          </a:solidFill>
          <a:ln/>
        </p:spPr>
      </p:sp>
      <p:sp>
        <p:nvSpPr>
          <p:cNvPr id="43" name="Text 41"/>
          <p:cNvSpPr/>
          <p:nvPr/>
        </p:nvSpPr>
        <p:spPr>
          <a:xfrm>
            <a:off x="12160251" y="3537049"/>
            <a:ext cx="327422"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A</a:t>
            </a:r>
            <a:endParaRPr lang="en-US" sz="1800" dirty="0"/>
          </a:p>
        </p:txBody>
      </p:sp>
      <p:sp>
        <p:nvSpPr>
          <p:cNvPr id="44" name="Text 42"/>
          <p:cNvSpPr/>
          <p:nvPr/>
        </p:nvSpPr>
        <p:spPr>
          <a:xfrm>
            <a:off x="12582923" y="3390999"/>
            <a:ext cx="4574671" cy="63500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Stockage objet durable, scalable, indépendant d'EC2</a:t>
            </a:r>
            <a:endParaRPr lang="en-US" sz="1800" dirty="0"/>
          </a:p>
        </p:txBody>
      </p:sp>
      <p:sp>
        <p:nvSpPr>
          <p:cNvPr id="45" name="Shape 43"/>
          <p:cNvSpPr/>
          <p:nvPr/>
        </p:nvSpPr>
        <p:spPr>
          <a:xfrm>
            <a:off x="12001500" y="426094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46" name="Shape 44"/>
          <p:cNvSpPr/>
          <p:nvPr/>
        </p:nvSpPr>
        <p:spPr>
          <a:xfrm>
            <a:off x="12198351" y="4419699"/>
            <a:ext cx="304800" cy="304800"/>
          </a:xfrm>
          <a:prstGeom prst="roundRect">
            <a:avLst>
              <a:gd name="adj" fmla="val 25000"/>
            </a:avLst>
          </a:prstGeom>
          <a:solidFill>
            <a:srgbClr val="FFFFFF">
              <a:alpha val="6000"/>
            </a:srgbClr>
          </a:solidFill>
          <a:ln/>
        </p:spPr>
      </p:sp>
      <p:sp>
        <p:nvSpPr>
          <p:cNvPr id="47" name="Text 45"/>
          <p:cNvSpPr/>
          <p:nvPr/>
        </p:nvSpPr>
        <p:spPr>
          <a:xfrm>
            <a:off x="12160251" y="441969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B</a:t>
            </a:r>
            <a:endParaRPr lang="en-US" sz="1800" dirty="0"/>
          </a:p>
        </p:txBody>
      </p:sp>
      <p:sp>
        <p:nvSpPr>
          <p:cNvPr id="48" name="Text 46"/>
          <p:cNvSpPr/>
          <p:nvPr/>
        </p:nvSpPr>
        <p:spPr>
          <a:xfrm>
            <a:off x="12636501" y="4422874"/>
            <a:ext cx="3353564"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S3 est plus rapide que la RAM</a:t>
            </a:r>
            <a:endParaRPr lang="en-US" sz="1800" dirty="0"/>
          </a:p>
        </p:txBody>
      </p:sp>
      <p:sp>
        <p:nvSpPr>
          <p:cNvPr id="49" name="Shape 47"/>
          <p:cNvSpPr/>
          <p:nvPr/>
        </p:nvSpPr>
        <p:spPr>
          <a:xfrm>
            <a:off x="12001500" y="4997550"/>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50" name="Shape 48"/>
          <p:cNvSpPr/>
          <p:nvPr/>
        </p:nvSpPr>
        <p:spPr>
          <a:xfrm>
            <a:off x="12198351" y="5156299"/>
            <a:ext cx="304800" cy="304800"/>
          </a:xfrm>
          <a:prstGeom prst="roundRect">
            <a:avLst>
              <a:gd name="adj" fmla="val 25000"/>
            </a:avLst>
          </a:prstGeom>
          <a:solidFill>
            <a:srgbClr val="FFFFFF">
              <a:alpha val="6000"/>
            </a:srgbClr>
          </a:solidFill>
          <a:ln/>
        </p:spPr>
      </p:sp>
      <p:sp>
        <p:nvSpPr>
          <p:cNvPr id="51" name="Text 49"/>
          <p:cNvSpPr/>
          <p:nvPr/>
        </p:nvSpPr>
        <p:spPr>
          <a:xfrm>
            <a:off x="12160251" y="515629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C</a:t>
            </a:r>
            <a:endParaRPr lang="en-US" sz="1800" dirty="0"/>
          </a:p>
        </p:txBody>
      </p:sp>
      <p:sp>
        <p:nvSpPr>
          <p:cNvPr id="52" name="Text 50"/>
          <p:cNvSpPr/>
          <p:nvPr/>
        </p:nvSpPr>
        <p:spPr>
          <a:xfrm>
            <a:off x="12636501" y="5159475"/>
            <a:ext cx="395351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EC2 ne peut pas stocker de fichiers</a:t>
            </a:r>
            <a:endParaRPr lang="en-US" sz="1800" dirty="0"/>
          </a:p>
        </p:txBody>
      </p:sp>
      <p:sp>
        <p:nvSpPr>
          <p:cNvPr id="53" name="Shape 51"/>
          <p:cNvSpPr/>
          <p:nvPr/>
        </p:nvSpPr>
        <p:spPr>
          <a:xfrm>
            <a:off x="12001500" y="573414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54" name="Shape 52"/>
          <p:cNvSpPr/>
          <p:nvPr/>
        </p:nvSpPr>
        <p:spPr>
          <a:xfrm>
            <a:off x="12198351" y="5892900"/>
            <a:ext cx="304800" cy="304800"/>
          </a:xfrm>
          <a:prstGeom prst="roundRect">
            <a:avLst>
              <a:gd name="adj" fmla="val 25000"/>
            </a:avLst>
          </a:prstGeom>
          <a:solidFill>
            <a:srgbClr val="FFFFFF">
              <a:alpha val="6000"/>
            </a:srgbClr>
          </a:solidFill>
          <a:ln/>
        </p:spPr>
      </p:sp>
      <p:sp>
        <p:nvSpPr>
          <p:cNvPr id="55" name="Text 53"/>
          <p:cNvSpPr/>
          <p:nvPr/>
        </p:nvSpPr>
        <p:spPr>
          <a:xfrm>
            <a:off x="12160251" y="5892900"/>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D</a:t>
            </a:r>
            <a:endParaRPr lang="en-US" sz="1800" dirty="0"/>
          </a:p>
        </p:txBody>
      </p:sp>
      <p:sp>
        <p:nvSpPr>
          <p:cNvPr id="56" name="Text 54"/>
          <p:cNvSpPr/>
          <p:nvPr/>
        </p:nvSpPr>
        <p:spPr>
          <a:xfrm>
            <a:off x="12636501" y="5896074"/>
            <a:ext cx="3889117"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S3 est uniquement pour les vidéos</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A0E15"/>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FFB46E"/>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FFB46E"/>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4549122" cy="342900"/>
          </a:xfrm>
          <a:prstGeom prst="rect">
            <a:avLst/>
          </a:prstGeom>
          <a:noFill/>
          <a:ln/>
        </p:spPr>
        <p:txBody>
          <a:bodyPr wrap="square" lIns="0" tIns="0" rIns="0" bIns="0" rtlCol="0" anchor="t">
            <a:normAutofit/>
          </a:bodyPr>
          <a:lstStyle/>
          <a:p>
            <a:pPr algn="l" indent="0" marL="0">
              <a:buNone/>
            </a:pPr>
            <a:r>
              <a:rPr lang="en-US" sz="1800" spc="432" kern="0" dirty="0">
                <a:solidFill>
                  <a:srgbClr val="FFB46E"/>
                </a:solidFill>
                <a:latin typeface="Courier New" pitchFamily="34" charset="0"/>
                <a:ea typeface="Courier New" pitchFamily="34" charset="-122"/>
                <a:cs typeface="Courier New" pitchFamily="34" charset="-120"/>
              </a:rPr>
              <a:t>CORRECTION · ATELIER 06</a:t>
            </a:r>
            <a:endParaRPr lang="en-US" sz="1800" dirty="0"/>
          </a:p>
        </p:txBody>
      </p:sp>
      <p:sp>
        <p:nvSpPr>
          <p:cNvPr id="5" name="Text 3"/>
          <p:cNvSpPr/>
          <p:nvPr/>
        </p:nvSpPr>
        <p:spPr>
          <a:xfrm>
            <a:off x="1066800" y="14287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Cloud Computing &amp; AWS</a:t>
            </a:r>
            <a:endParaRPr lang="en-US" sz="4800" dirty="0"/>
          </a:p>
        </p:txBody>
      </p:sp>
      <p:sp>
        <p:nvSpPr>
          <p:cNvPr id="6" name="Text 4"/>
          <p:cNvSpPr/>
          <p:nvPr/>
        </p:nvSpPr>
        <p:spPr>
          <a:xfrm>
            <a:off x="1066800" y="2443659"/>
            <a:ext cx="5741670" cy="346670"/>
          </a:xfrm>
          <a:prstGeom prst="rect">
            <a:avLst/>
          </a:prstGeom>
          <a:noFill/>
          <a:ln/>
        </p:spPr>
        <p:txBody>
          <a:bodyPr wrap="square" lIns="25400" tIns="25400" rIns="25400" bIns="25400" rtlCol="0" anchor="t">
            <a:normAutofit/>
          </a:bodyPr>
          <a:lstStyle/>
          <a:p>
            <a:pPr algn="l" indent="0" marL="0">
              <a:lnSpc>
                <a:spcPct val="103404"/>
              </a:lnSpc>
              <a:buNone/>
            </a:pPr>
            <a:r>
              <a:rPr lang="en-US" sz="2025" b="1" dirty="0">
                <a:solidFill>
                  <a:srgbClr val="EEF3F9"/>
                </a:solidFill>
                <a:latin typeface="Arial" pitchFamily="34" charset="0"/>
                <a:ea typeface="Arial" pitchFamily="34" charset="-122"/>
                <a:cs typeface="Arial" pitchFamily="34" charset="-120"/>
              </a:rPr>
              <a:t>Lequel correspond à de l'IaaS ?</a:t>
            </a:r>
            <a:endParaRPr lang="en-US" sz="2025" dirty="0"/>
          </a:p>
        </p:txBody>
      </p:sp>
      <p:sp>
        <p:nvSpPr>
          <p:cNvPr id="7" name="Shape 5"/>
          <p:cNvSpPr/>
          <p:nvPr/>
        </p:nvSpPr>
        <p:spPr>
          <a:xfrm>
            <a:off x="1066800" y="29236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8" name="Shape 6"/>
          <p:cNvSpPr/>
          <p:nvPr/>
        </p:nvSpPr>
        <p:spPr>
          <a:xfrm>
            <a:off x="1263650" y="3082429"/>
            <a:ext cx="304800" cy="304800"/>
          </a:xfrm>
          <a:prstGeom prst="roundRect">
            <a:avLst>
              <a:gd name="adj" fmla="val 25000"/>
            </a:avLst>
          </a:prstGeom>
          <a:solidFill>
            <a:srgbClr val="FFFFFF">
              <a:alpha val="6000"/>
            </a:srgbClr>
          </a:solidFill>
          <a:ln/>
        </p:spPr>
      </p:sp>
      <p:sp>
        <p:nvSpPr>
          <p:cNvPr id="9" name="Text 7"/>
          <p:cNvSpPr/>
          <p:nvPr/>
        </p:nvSpPr>
        <p:spPr>
          <a:xfrm>
            <a:off x="1225550" y="30824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A</a:t>
            </a:r>
            <a:endParaRPr lang="en-US" sz="1800" dirty="0"/>
          </a:p>
        </p:txBody>
      </p:sp>
      <p:sp>
        <p:nvSpPr>
          <p:cNvPr id="10" name="Text 8"/>
          <p:cNvSpPr/>
          <p:nvPr/>
        </p:nvSpPr>
        <p:spPr>
          <a:xfrm>
            <a:off x="1701800" y="3085604"/>
            <a:ext cx="676077"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Gmail</a:t>
            </a:r>
            <a:endParaRPr lang="en-US" sz="1800" dirty="0"/>
          </a:p>
        </p:txBody>
      </p:sp>
      <p:sp>
        <p:nvSpPr>
          <p:cNvPr id="11" name="Shape 9"/>
          <p:cNvSpPr/>
          <p:nvPr/>
        </p:nvSpPr>
        <p:spPr>
          <a:xfrm>
            <a:off x="1066800" y="3660279"/>
            <a:ext cx="5219700" cy="628650"/>
          </a:xfrm>
          <a:prstGeom prst="roundRect">
            <a:avLst>
              <a:gd name="adj" fmla="val 18182"/>
            </a:avLst>
          </a:prstGeom>
          <a:solidFill>
            <a:srgbClr val="FFFFFF">
              <a:alpha val="3000"/>
            </a:srgbClr>
          </a:solidFill>
          <a:ln w="6350">
            <a:solidFill>
              <a:srgbClr val="FFBE82">
                <a:alpha val="48000"/>
              </a:srgbClr>
            </a:solidFill>
            <a:prstDash val="solid"/>
          </a:ln>
        </p:spPr>
      </p:sp>
      <p:sp>
        <p:nvSpPr>
          <p:cNvPr id="12" name="Shape 10"/>
          <p:cNvSpPr/>
          <p:nvPr/>
        </p:nvSpPr>
        <p:spPr>
          <a:xfrm>
            <a:off x="1263650" y="3822204"/>
            <a:ext cx="304800" cy="304800"/>
          </a:xfrm>
          <a:prstGeom prst="roundRect">
            <a:avLst>
              <a:gd name="adj" fmla="val 25000"/>
            </a:avLst>
          </a:prstGeom>
          <a:solidFill>
            <a:srgbClr val="FFB46E"/>
          </a:solidFill>
          <a:ln/>
        </p:spPr>
      </p:sp>
      <p:sp>
        <p:nvSpPr>
          <p:cNvPr id="13" name="Text 11"/>
          <p:cNvSpPr/>
          <p:nvPr/>
        </p:nvSpPr>
        <p:spPr>
          <a:xfrm>
            <a:off x="1225550" y="3822204"/>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04070C"/>
                </a:solidFill>
                <a:latin typeface="Arial" pitchFamily="34" charset="0"/>
                <a:ea typeface="Arial" pitchFamily="34" charset="-122"/>
                <a:cs typeface="Arial" pitchFamily="34" charset="-120"/>
              </a:rPr>
              <a:t>B</a:t>
            </a:r>
            <a:endParaRPr lang="en-US" sz="1800" dirty="0"/>
          </a:p>
        </p:txBody>
      </p:sp>
      <p:sp>
        <p:nvSpPr>
          <p:cNvPr id="14" name="Text 12"/>
          <p:cNvSpPr/>
          <p:nvPr/>
        </p:nvSpPr>
        <p:spPr>
          <a:xfrm>
            <a:off x="1701800" y="3825379"/>
            <a:ext cx="1425813" cy="33655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Arial" pitchFamily="34" charset="0"/>
                <a:ea typeface="Arial" pitchFamily="34" charset="-122"/>
                <a:cs typeface="Arial" pitchFamily="34" charset="-120"/>
              </a:rPr>
              <a:t>Amazon EC2</a:t>
            </a:r>
            <a:endParaRPr lang="en-US" sz="1800" dirty="0"/>
          </a:p>
        </p:txBody>
      </p:sp>
      <p:sp>
        <p:nvSpPr>
          <p:cNvPr id="15" name="Text 13"/>
          <p:cNvSpPr/>
          <p:nvPr/>
        </p:nvSpPr>
        <p:spPr>
          <a:xfrm>
            <a:off x="5918399" y="3819029"/>
            <a:ext cx="247452" cy="34925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1066800" y="440322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17" name="Shape 15"/>
          <p:cNvSpPr/>
          <p:nvPr/>
        </p:nvSpPr>
        <p:spPr>
          <a:xfrm>
            <a:off x="1263650" y="4561979"/>
            <a:ext cx="304800" cy="304800"/>
          </a:xfrm>
          <a:prstGeom prst="roundRect">
            <a:avLst>
              <a:gd name="adj" fmla="val 25000"/>
            </a:avLst>
          </a:prstGeom>
          <a:solidFill>
            <a:srgbClr val="FFFFFF">
              <a:alpha val="6000"/>
            </a:srgbClr>
          </a:solidFill>
          <a:ln/>
        </p:spPr>
      </p:sp>
      <p:sp>
        <p:nvSpPr>
          <p:cNvPr id="18" name="Text 16"/>
          <p:cNvSpPr/>
          <p:nvPr/>
        </p:nvSpPr>
        <p:spPr>
          <a:xfrm>
            <a:off x="1225550" y="456197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C</a:t>
            </a:r>
            <a:endParaRPr lang="en-US" sz="1800" dirty="0"/>
          </a:p>
        </p:txBody>
      </p:sp>
      <p:sp>
        <p:nvSpPr>
          <p:cNvPr id="19" name="Text 17"/>
          <p:cNvSpPr/>
          <p:nvPr/>
        </p:nvSpPr>
        <p:spPr>
          <a:xfrm>
            <a:off x="1701800" y="4565154"/>
            <a:ext cx="141348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Google Docs</a:t>
            </a:r>
            <a:endParaRPr lang="en-US" sz="1800" dirty="0"/>
          </a:p>
        </p:txBody>
      </p:sp>
      <p:sp>
        <p:nvSpPr>
          <p:cNvPr id="20" name="Shape 18"/>
          <p:cNvSpPr/>
          <p:nvPr/>
        </p:nvSpPr>
        <p:spPr>
          <a:xfrm>
            <a:off x="1066800" y="513982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21" name="Shape 19"/>
          <p:cNvSpPr/>
          <p:nvPr/>
        </p:nvSpPr>
        <p:spPr>
          <a:xfrm>
            <a:off x="1263650" y="5298579"/>
            <a:ext cx="304800" cy="304800"/>
          </a:xfrm>
          <a:prstGeom prst="roundRect">
            <a:avLst>
              <a:gd name="adj" fmla="val 25000"/>
            </a:avLst>
          </a:prstGeom>
          <a:solidFill>
            <a:srgbClr val="FFFFFF">
              <a:alpha val="6000"/>
            </a:srgbClr>
          </a:solidFill>
          <a:ln/>
        </p:spPr>
      </p:sp>
      <p:sp>
        <p:nvSpPr>
          <p:cNvPr id="22" name="Text 20"/>
          <p:cNvSpPr/>
          <p:nvPr/>
        </p:nvSpPr>
        <p:spPr>
          <a:xfrm>
            <a:off x="1225550" y="529857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D</a:t>
            </a:r>
            <a:endParaRPr lang="en-US" sz="1800" dirty="0"/>
          </a:p>
        </p:txBody>
      </p:sp>
      <p:sp>
        <p:nvSpPr>
          <p:cNvPr id="23" name="Text 21"/>
          <p:cNvSpPr/>
          <p:nvPr/>
        </p:nvSpPr>
        <p:spPr>
          <a:xfrm>
            <a:off x="1701800" y="5301754"/>
            <a:ext cx="946745"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Dropbox</a:t>
            </a:r>
            <a:endParaRPr lang="en-US" sz="1800" dirty="0"/>
          </a:p>
        </p:txBody>
      </p:sp>
      <p:sp>
        <p:nvSpPr>
          <p:cNvPr id="24" name="Text 22"/>
          <p:cNvSpPr/>
          <p:nvPr/>
        </p:nvSpPr>
        <p:spPr>
          <a:xfrm>
            <a:off x="6534150" y="2443659"/>
            <a:ext cx="5741670" cy="346670"/>
          </a:xfrm>
          <a:prstGeom prst="rect">
            <a:avLst/>
          </a:prstGeom>
          <a:noFill/>
          <a:ln/>
        </p:spPr>
        <p:txBody>
          <a:bodyPr wrap="square" lIns="25400" tIns="25400" rIns="25400" bIns="25400" rtlCol="0" anchor="t">
            <a:normAutofit/>
          </a:bodyPr>
          <a:lstStyle/>
          <a:p>
            <a:pPr algn="l" indent="0" marL="0">
              <a:lnSpc>
                <a:spcPct val="103404"/>
              </a:lnSpc>
              <a:buNone/>
            </a:pPr>
            <a:r>
              <a:rPr lang="en-US" sz="2025" b="1" dirty="0">
                <a:solidFill>
                  <a:srgbClr val="EEF3F9"/>
                </a:solidFill>
                <a:latin typeface="Arial" pitchFamily="34" charset="0"/>
                <a:ea typeface="Arial" pitchFamily="34" charset="-122"/>
                <a:cs typeface="Arial" pitchFamily="34" charset="-120"/>
              </a:rPr>
              <a:t>Rôle principal d'un Security Group ?</a:t>
            </a:r>
            <a:endParaRPr lang="en-US" sz="2025" dirty="0"/>
          </a:p>
        </p:txBody>
      </p:sp>
      <p:sp>
        <p:nvSpPr>
          <p:cNvPr id="25" name="Shape 23"/>
          <p:cNvSpPr/>
          <p:nvPr/>
        </p:nvSpPr>
        <p:spPr>
          <a:xfrm>
            <a:off x="6534150" y="29236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26" name="Shape 24"/>
          <p:cNvSpPr/>
          <p:nvPr/>
        </p:nvSpPr>
        <p:spPr>
          <a:xfrm>
            <a:off x="6731000" y="3082429"/>
            <a:ext cx="304800" cy="304800"/>
          </a:xfrm>
          <a:prstGeom prst="roundRect">
            <a:avLst>
              <a:gd name="adj" fmla="val 25000"/>
            </a:avLst>
          </a:prstGeom>
          <a:solidFill>
            <a:srgbClr val="FFFFFF">
              <a:alpha val="6000"/>
            </a:srgbClr>
          </a:solidFill>
          <a:ln/>
        </p:spPr>
      </p:sp>
      <p:sp>
        <p:nvSpPr>
          <p:cNvPr id="27" name="Text 25"/>
          <p:cNvSpPr/>
          <p:nvPr/>
        </p:nvSpPr>
        <p:spPr>
          <a:xfrm>
            <a:off x="6692900" y="30824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A</a:t>
            </a:r>
            <a:endParaRPr lang="en-US" sz="1800" dirty="0"/>
          </a:p>
        </p:txBody>
      </p:sp>
      <p:sp>
        <p:nvSpPr>
          <p:cNvPr id="28" name="Text 26"/>
          <p:cNvSpPr/>
          <p:nvPr/>
        </p:nvSpPr>
        <p:spPr>
          <a:xfrm>
            <a:off x="7169150" y="3085604"/>
            <a:ext cx="2264668"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Chiffrer les données</a:t>
            </a:r>
            <a:endParaRPr lang="en-US" sz="1800" dirty="0"/>
          </a:p>
        </p:txBody>
      </p:sp>
      <p:sp>
        <p:nvSpPr>
          <p:cNvPr id="29" name="Shape 27"/>
          <p:cNvSpPr/>
          <p:nvPr/>
        </p:nvSpPr>
        <p:spPr>
          <a:xfrm>
            <a:off x="6534150" y="3660279"/>
            <a:ext cx="5219700" cy="914400"/>
          </a:xfrm>
          <a:prstGeom prst="roundRect">
            <a:avLst>
              <a:gd name="adj" fmla="val 12500"/>
            </a:avLst>
          </a:prstGeom>
          <a:solidFill>
            <a:srgbClr val="FFFFFF">
              <a:alpha val="3000"/>
            </a:srgbClr>
          </a:solidFill>
          <a:ln w="6350">
            <a:solidFill>
              <a:srgbClr val="FFBE82">
                <a:alpha val="48000"/>
              </a:srgbClr>
            </a:solidFill>
            <a:prstDash val="solid"/>
          </a:ln>
        </p:spPr>
      </p:sp>
      <p:sp>
        <p:nvSpPr>
          <p:cNvPr id="30" name="Shape 28"/>
          <p:cNvSpPr/>
          <p:nvPr/>
        </p:nvSpPr>
        <p:spPr>
          <a:xfrm>
            <a:off x="6731000" y="3965079"/>
            <a:ext cx="256580" cy="304800"/>
          </a:xfrm>
          <a:prstGeom prst="roundRect">
            <a:avLst>
              <a:gd name="adj" fmla="val 29698"/>
            </a:avLst>
          </a:prstGeom>
          <a:solidFill>
            <a:srgbClr val="FFB46E"/>
          </a:solidFill>
          <a:ln/>
        </p:spPr>
      </p:sp>
      <p:sp>
        <p:nvSpPr>
          <p:cNvPr id="31" name="Text 29"/>
          <p:cNvSpPr/>
          <p:nvPr/>
        </p:nvSpPr>
        <p:spPr>
          <a:xfrm>
            <a:off x="6692900" y="3965079"/>
            <a:ext cx="33278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04070C"/>
                </a:solidFill>
                <a:latin typeface="Arial" pitchFamily="34" charset="0"/>
                <a:ea typeface="Arial" pitchFamily="34" charset="-122"/>
                <a:cs typeface="Arial" pitchFamily="34" charset="-120"/>
              </a:rPr>
              <a:t>B</a:t>
            </a:r>
            <a:endParaRPr lang="en-US" sz="1800" dirty="0"/>
          </a:p>
        </p:txBody>
      </p:sp>
      <p:sp>
        <p:nvSpPr>
          <p:cNvPr id="32" name="Text 30"/>
          <p:cNvSpPr/>
          <p:nvPr/>
        </p:nvSpPr>
        <p:spPr>
          <a:xfrm>
            <a:off x="7120930" y="3819029"/>
            <a:ext cx="4255413" cy="6350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Arial" pitchFamily="34" charset="0"/>
                <a:ea typeface="Arial" pitchFamily="34" charset="-122"/>
                <a:cs typeface="Arial" pitchFamily="34" charset="-120"/>
              </a:rPr>
              <a:t>Définir le trafic entrant et sortant d'une instance</a:t>
            </a:r>
            <a:endParaRPr lang="en-US" sz="1800" dirty="0"/>
          </a:p>
        </p:txBody>
      </p:sp>
      <p:sp>
        <p:nvSpPr>
          <p:cNvPr id="33" name="Text 31"/>
          <p:cNvSpPr/>
          <p:nvPr/>
        </p:nvSpPr>
        <p:spPr>
          <a:xfrm>
            <a:off x="11385749" y="3961904"/>
            <a:ext cx="247452" cy="34925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Arial" pitchFamily="34" charset="0"/>
                <a:ea typeface="Arial" pitchFamily="34" charset="-122"/>
                <a:cs typeface="Arial" pitchFamily="34" charset="-120"/>
              </a:rPr>
              <a:t>✓</a:t>
            </a:r>
            <a:endParaRPr lang="en-US" sz="1800" dirty="0"/>
          </a:p>
        </p:txBody>
      </p:sp>
      <p:sp>
        <p:nvSpPr>
          <p:cNvPr id="34" name="Shape 32"/>
          <p:cNvSpPr/>
          <p:nvPr/>
        </p:nvSpPr>
        <p:spPr>
          <a:xfrm>
            <a:off x="6534150" y="46889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35" name="Shape 33"/>
          <p:cNvSpPr/>
          <p:nvPr/>
        </p:nvSpPr>
        <p:spPr>
          <a:xfrm>
            <a:off x="6731000" y="4847729"/>
            <a:ext cx="304800" cy="304800"/>
          </a:xfrm>
          <a:prstGeom prst="roundRect">
            <a:avLst>
              <a:gd name="adj" fmla="val 25000"/>
            </a:avLst>
          </a:prstGeom>
          <a:solidFill>
            <a:srgbClr val="FFFFFF">
              <a:alpha val="6000"/>
            </a:srgbClr>
          </a:solidFill>
          <a:ln/>
        </p:spPr>
      </p:sp>
      <p:sp>
        <p:nvSpPr>
          <p:cNvPr id="36" name="Text 34"/>
          <p:cNvSpPr/>
          <p:nvPr/>
        </p:nvSpPr>
        <p:spPr>
          <a:xfrm>
            <a:off x="6692900" y="48477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C</a:t>
            </a:r>
            <a:endParaRPr lang="en-US" sz="1800" dirty="0"/>
          </a:p>
        </p:txBody>
      </p:sp>
      <p:sp>
        <p:nvSpPr>
          <p:cNvPr id="37" name="Text 35"/>
          <p:cNvSpPr/>
          <p:nvPr/>
        </p:nvSpPr>
        <p:spPr>
          <a:xfrm>
            <a:off x="7169150" y="4850904"/>
            <a:ext cx="283471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Sauvegarder les données</a:t>
            </a:r>
            <a:endParaRPr lang="en-US" sz="1800" dirty="0"/>
          </a:p>
        </p:txBody>
      </p:sp>
      <p:sp>
        <p:nvSpPr>
          <p:cNvPr id="38" name="Shape 36"/>
          <p:cNvSpPr/>
          <p:nvPr/>
        </p:nvSpPr>
        <p:spPr>
          <a:xfrm>
            <a:off x="6534150" y="542557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39" name="Shape 37"/>
          <p:cNvSpPr/>
          <p:nvPr/>
        </p:nvSpPr>
        <p:spPr>
          <a:xfrm>
            <a:off x="6731000" y="5584329"/>
            <a:ext cx="304800" cy="304800"/>
          </a:xfrm>
          <a:prstGeom prst="roundRect">
            <a:avLst>
              <a:gd name="adj" fmla="val 25000"/>
            </a:avLst>
          </a:prstGeom>
          <a:solidFill>
            <a:srgbClr val="FFFFFF">
              <a:alpha val="6000"/>
            </a:srgbClr>
          </a:solidFill>
          <a:ln/>
        </p:spPr>
      </p:sp>
      <p:sp>
        <p:nvSpPr>
          <p:cNvPr id="40" name="Text 38"/>
          <p:cNvSpPr/>
          <p:nvPr/>
        </p:nvSpPr>
        <p:spPr>
          <a:xfrm>
            <a:off x="6692900" y="558432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D</a:t>
            </a:r>
            <a:endParaRPr lang="en-US" sz="1800" dirty="0"/>
          </a:p>
        </p:txBody>
      </p:sp>
      <p:sp>
        <p:nvSpPr>
          <p:cNvPr id="41" name="Text 39"/>
          <p:cNvSpPr/>
          <p:nvPr/>
        </p:nvSpPr>
        <p:spPr>
          <a:xfrm>
            <a:off x="7169150" y="5587504"/>
            <a:ext cx="3283168"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Héberger une base MongoDB</a:t>
            </a:r>
            <a:endParaRPr lang="en-US" sz="1800" dirty="0"/>
          </a:p>
        </p:txBody>
      </p:sp>
      <p:sp>
        <p:nvSpPr>
          <p:cNvPr id="42" name="Text 40"/>
          <p:cNvSpPr/>
          <p:nvPr/>
        </p:nvSpPr>
        <p:spPr>
          <a:xfrm>
            <a:off x="12001500" y="2443659"/>
            <a:ext cx="5376291" cy="655241"/>
          </a:xfrm>
          <a:prstGeom prst="rect">
            <a:avLst/>
          </a:prstGeom>
          <a:noFill/>
          <a:ln/>
        </p:spPr>
        <p:txBody>
          <a:bodyPr wrap="square" lIns="25400" tIns="25400" rIns="25400" bIns="25400" rtlCol="0" anchor="t">
            <a:normAutofit/>
          </a:bodyPr>
          <a:lstStyle/>
          <a:p>
            <a:pPr algn="l" indent="0" marL="0">
              <a:lnSpc>
                <a:spcPct val="103404"/>
              </a:lnSpc>
              <a:buNone/>
            </a:pPr>
            <a:r>
              <a:rPr lang="en-US" sz="2025" b="1" dirty="0">
                <a:solidFill>
                  <a:srgbClr val="EEF3F9"/>
                </a:solidFill>
                <a:latin typeface="Arial" pitchFamily="34" charset="0"/>
                <a:ea typeface="Arial" pitchFamily="34" charset="-122"/>
                <a:cs typeface="Arial" pitchFamily="34" charset="-120"/>
              </a:rPr>
              <a:t>Pourquoi S3 plutôt que le disque local d'EC2 ?</a:t>
            </a:r>
            <a:endParaRPr lang="en-US" sz="2025" dirty="0"/>
          </a:p>
        </p:txBody>
      </p:sp>
      <p:sp>
        <p:nvSpPr>
          <p:cNvPr id="43" name="Shape 41"/>
          <p:cNvSpPr/>
          <p:nvPr/>
        </p:nvSpPr>
        <p:spPr>
          <a:xfrm>
            <a:off x="12001500" y="3232249"/>
            <a:ext cx="5219700" cy="914400"/>
          </a:xfrm>
          <a:prstGeom prst="roundRect">
            <a:avLst>
              <a:gd name="adj" fmla="val 12500"/>
            </a:avLst>
          </a:prstGeom>
          <a:solidFill>
            <a:srgbClr val="FFFFFF">
              <a:alpha val="3000"/>
            </a:srgbClr>
          </a:solidFill>
          <a:ln w="6350">
            <a:solidFill>
              <a:srgbClr val="FFBE82">
                <a:alpha val="48000"/>
              </a:srgbClr>
            </a:solidFill>
            <a:prstDash val="solid"/>
          </a:ln>
        </p:spPr>
      </p:sp>
      <p:sp>
        <p:nvSpPr>
          <p:cNvPr id="44" name="Shape 42"/>
          <p:cNvSpPr/>
          <p:nvPr/>
        </p:nvSpPr>
        <p:spPr>
          <a:xfrm>
            <a:off x="12198351" y="3537049"/>
            <a:ext cx="234950" cy="304800"/>
          </a:xfrm>
          <a:prstGeom prst="roundRect">
            <a:avLst>
              <a:gd name="adj" fmla="val 32432"/>
            </a:avLst>
          </a:prstGeom>
          <a:solidFill>
            <a:srgbClr val="FFB46E"/>
          </a:solidFill>
          <a:ln/>
        </p:spPr>
      </p:sp>
      <p:sp>
        <p:nvSpPr>
          <p:cNvPr id="45" name="Text 43"/>
          <p:cNvSpPr/>
          <p:nvPr/>
        </p:nvSpPr>
        <p:spPr>
          <a:xfrm>
            <a:off x="12160251" y="3537049"/>
            <a:ext cx="31115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04070C"/>
                </a:solidFill>
                <a:latin typeface="Arial" pitchFamily="34" charset="0"/>
                <a:ea typeface="Arial" pitchFamily="34" charset="-122"/>
                <a:cs typeface="Arial" pitchFamily="34" charset="-120"/>
              </a:rPr>
              <a:t>A</a:t>
            </a:r>
            <a:endParaRPr lang="en-US" sz="1800" dirty="0"/>
          </a:p>
        </p:txBody>
      </p:sp>
      <p:sp>
        <p:nvSpPr>
          <p:cNvPr id="46" name="Text 44"/>
          <p:cNvSpPr/>
          <p:nvPr/>
        </p:nvSpPr>
        <p:spPr>
          <a:xfrm>
            <a:off x="12566650" y="3390999"/>
            <a:ext cx="4277691" cy="635000"/>
          </a:xfrm>
          <a:prstGeom prst="rect">
            <a:avLst/>
          </a:prstGeom>
          <a:noFill/>
          <a:ln/>
        </p:spPr>
        <p:txBody>
          <a:bodyPr wrap="square" lIns="25400" tIns="25400" rIns="25400" bIns="25400" rtlCol="0" anchor="t">
            <a:normAutofit/>
          </a:bodyPr>
          <a:lstStyle/>
          <a:p>
            <a:pPr algn="l" indent="0" marL="0">
              <a:buNone/>
            </a:pPr>
            <a:r>
              <a:rPr lang="en-US" sz="1800" dirty="0">
                <a:solidFill>
                  <a:srgbClr val="EEF3F9"/>
                </a:solidFill>
                <a:latin typeface="Arial" pitchFamily="34" charset="0"/>
                <a:ea typeface="Arial" pitchFamily="34" charset="-122"/>
                <a:cs typeface="Arial" pitchFamily="34" charset="-120"/>
              </a:rPr>
              <a:t>Stockage objet durable, scalable, indépendant d'EC2</a:t>
            </a:r>
            <a:endParaRPr lang="en-US" sz="1800" dirty="0"/>
          </a:p>
        </p:txBody>
      </p:sp>
      <p:sp>
        <p:nvSpPr>
          <p:cNvPr id="47" name="Text 45"/>
          <p:cNvSpPr/>
          <p:nvPr/>
        </p:nvSpPr>
        <p:spPr>
          <a:xfrm>
            <a:off x="16853099" y="3533874"/>
            <a:ext cx="247452" cy="34925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latin typeface="Arial" pitchFamily="34" charset="0"/>
                <a:ea typeface="Arial" pitchFamily="34" charset="-122"/>
                <a:cs typeface="Arial" pitchFamily="34" charset="-120"/>
              </a:rPr>
              <a:t>✓</a:t>
            </a:r>
            <a:endParaRPr lang="en-US" sz="1800" dirty="0"/>
          </a:p>
        </p:txBody>
      </p:sp>
      <p:sp>
        <p:nvSpPr>
          <p:cNvPr id="48" name="Shape 46"/>
          <p:cNvSpPr/>
          <p:nvPr/>
        </p:nvSpPr>
        <p:spPr>
          <a:xfrm>
            <a:off x="12001500" y="426094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49" name="Shape 47"/>
          <p:cNvSpPr/>
          <p:nvPr/>
        </p:nvSpPr>
        <p:spPr>
          <a:xfrm>
            <a:off x="12198351" y="4419699"/>
            <a:ext cx="304800" cy="304800"/>
          </a:xfrm>
          <a:prstGeom prst="roundRect">
            <a:avLst>
              <a:gd name="adj" fmla="val 25000"/>
            </a:avLst>
          </a:prstGeom>
          <a:solidFill>
            <a:srgbClr val="FFFFFF">
              <a:alpha val="6000"/>
            </a:srgbClr>
          </a:solidFill>
          <a:ln/>
        </p:spPr>
      </p:sp>
      <p:sp>
        <p:nvSpPr>
          <p:cNvPr id="50" name="Text 48"/>
          <p:cNvSpPr/>
          <p:nvPr/>
        </p:nvSpPr>
        <p:spPr>
          <a:xfrm>
            <a:off x="12160251" y="441969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B</a:t>
            </a:r>
            <a:endParaRPr lang="en-US" sz="1800" dirty="0"/>
          </a:p>
        </p:txBody>
      </p:sp>
      <p:sp>
        <p:nvSpPr>
          <p:cNvPr id="51" name="Text 49"/>
          <p:cNvSpPr/>
          <p:nvPr/>
        </p:nvSpPr>
        <p:spPr>
          <a:xfrm>
            <a:off x="12636501" y="4422874"/>
            <a:ext cx="3353564"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S3 est plus rapide que la RAM</a:t>
            </a:r>
            <a:endParaRPr lang="en-US" sz="1800" dirty="0"/>
          </a:p>
        </p:txBody>
      </p:sp>
      <p:sp>
        <p:nvSpPr>
          <p:cNvPr id="52" name="Shape 50"/>
          <p:cNvSpPr/>
          <p:nvPr/>
        </p:nvSpPr>
        <p:spPr>
          <a:xfrm>
            <a:off x="12001500" y="4997550"/>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53" name="Shape 51"/>
          <p:cNvSpPr/>
          <p:nvPr/>
        </p:nvSpPr>
        <p:spPr>
          <a:xfrm>
            <a:off x="12198351" y="5156299"/>
            <a:ext cx="304800" cy="304800"/>
          </a:xfrm>
          <a:prstGeom prst="roundRect">
            <a:avLst>
              <a:gd name="adj" fmla="val 25000"/>
            </a:avLst>
          </a:prstGeom>
          <a:solidFill>
            <a:srgbClr val="FFFFFF">
              <a:alpha val="6000"/>
            </a:srgbClr>
          </a:solidFill>
          <a:ln/>
        </p:spPr>
      </p:sp>
      <p:sp>
        <p:nvSpPr>
          <p:cNvPr id="54" name="Text 52"/>
          <p:cNvSpPr/>
          <p:nvPr/>
        </p:nvSpPr>
        <p:spPr>
          <a:xfrm>
            <a:off x="12160251" y="5156299"/>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C</a:t>
            </a:r>
            <a:endParaRPr lang="en-US" sz="1800" dirty="0"/>
          </a:p>
        </p:txBody>
      </p:sp>
      <p:sp>
        <p:nvSpPr>
          <p:cNvPr id="55" name="Text 53"/>
          <p:cNvSpPr/>
          <p:nvPr/>
        </p:nvSpPr>
        <p:spPr>
          <a:xfrm>
            <a:off x="12636501" y="5159475"/>
            <a:ext cx="3953510"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EC2 ne peut pas stocker de fichiers</a:t>
            </a:r>
            <a:endParaRPr lang="en-US" sz="1800" dirty="0"/>
          </a:p>
        </p:txBody>
      </p:sp>
      <p:sp>
        <p:nvSpPr>
          <p:cNvPr id="56" name="Shape 54"/>
          <p:cNvSpPr/>
          <p:nvPr/>
        </p:nvSpPr>
        <p:spPr>
          <a:xfrm>
            <a:off x="12001500" y="5734149"/>
            <a:ext cx="5219700" cy="622300"/>
          </a:xfrm>
          <a:prstGeom prst="roundRect">
            <a:avLst>
              <a:gd name="adj" fmla="val 18367"/>
            </a:avLst>
          </a:prstGeom>
          <a:solidFill>
            <a:srgbClr val="FFFFFF">
              <a:alpha val="3000"/>
            </a:srgbClr>
          </a:solidFill>
          <a:ln w="6350">
            <a:solidFill>
              <a:srgbClr val="FFFFFF">
                <a:alpha val="10000"/>
              </a:srgbClr>
            </a:solidFill>
            <a:prstDash val="solid"/>
          </a:ln>
        </p:spPr>
      </p:sp>
      <p:sp>
        <p:nvSpPr>
          <p:cNvPr id="57" name="Shape 55"/>
          <p:cNvSpPr/>
          <p:nvPr/>
        </p:nvSpPr>
        <p:spPr>
          <a:xfrm>
            <a:off x="12198351" y="5892900"/>
            <a:ext cx="304800" cy="304800"/>
          </a:xfrm>
          <a:prstGeom prst="roundRect">
            <a:avLst>
              <a:gd name="adj" fmla="val 25000"/>
            </a:avLst>
          </a:prstGeom>
          <a:solidFill>
            <a:srgbClr val="FFFFFF">
              <a:alpha val="6000"/>
            </a:srgbClr>
          </a:solidFill>
          <a:ln/>
        </p:spPr>
      </p:sp>
      <p:sp>
        <p:nvSpPr>
          <p:cNvPr id="58" name="Text 56"/>
          <p:cNvSpPr/>
          <p:nvPr/>
        </p:nvSpPr>
        <p:spPr>
          <a:xfrm>
            <a:off x="12160251" y="5892900"/>
            <a:ext cx="381000" cy="342900"/>
          </a:xfrm>
          <a:prstGeom prst="rect">
            <a:avLst/>
          </a:prstGeom>
          <a:noFill/>
          <a:ln/>
        </p:spPr>
        <p:txBody>
          <a:bodyPr wrap="square" lIns="25400" tIns="25400" rIns="25400" bIns="25400" rtlCol="0" anchor="ctr">
            <a:normAutofit/>
          </a:bodyPr>
          <a:lstStyle/>
          <a:p>
            <a:pPr algn="ctr" indent="0" marL="0">
              <a:buNone/>
            </a:pPr>
            <a:r>
              <a:rPr lang="en-US" sz="1800" b="1" dirty="0">
                <a:solidFill>
                  <a:srgbClr val="8EA0B5"/>
                </a:solidFill>
                <a:latin typeface="Arial" pitchFamily="34" charset="0"/>
                <a:ea typeface="Arial" pitchFamily="34" charset="-122"/>
                <a:cs typeface="Arial" pitchFamily="34" charset="-120"/>
              </a:rPr>
              <a:t>D</a:t>
            </a:r>
            <a:endParaRPr lang="en-US" sz="1800" dirty="0"/>
          </a:p>
        </p:txBody>
      </p:sp>
      <p:sp>
        <p:nvSpPr>
          <p:cNvPr id="59" name="Text 57"/>
          <p:cNvSpPr/>
          <p:nvPr/>
        </p:nvSpPr>
        <p:spPr>
          <a:xfrm>
            <a:off x="12636501" y="5896074"/>
            <a:ext cx="3889117" cy="336550"/>
          </a:xfrm>
          <a:prstGeom prst="rect">
            <a:avLst/>
          </a:prstGeom>
          <a:noFill/>
          <a:ln/>
        </p:spPr>
        <p:txBody>
          <a:bodyPr wrap="square" lIns="25400" tIns="25400" rIns="25400" bIns="25400" rtlCol="0" anchor="t">
            <a:normAutofit/>
          </a:bodyPr>
          <a:lstStyle/>
          <a:p>
            <a:pPr algn="l" indent="0" marL="0">
              <a:buNone/>
            </a:pPr>
            <a:r>
              <a:rPr lang="en-US" sz="1800" dirty="0">
                <a:solidFill>
                  <a:srgbClr val="8EA0B5"/>
                </a:solidFill>
                <a:latin typeface="Arial" pitchFamily="34" charset="0"/>
                <a:ea typeface="Arial" pitchFamily="34" charset="-122"/>
                <a:cs typeface="Arial" pitchFamily="34" charset="-120"/>
              </a:rPr>
              <a:t>S3 est uniquement pour les vidéos</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2932807"/>
            <a:ext cx="17769840" cy="368300"/>
          </a:xfrm>
          <a:prstGeom prst="rect">
            <a:avLst/>
          </a:prstGeom>
          <a:noFill/>
          <a:ln/>
        </p:spPr>
        <p:txBody>
          <a:bodyPr wrap="square" lIns="25400" tIns="25400" rIns="25400" bIns="25400" rtlCol="0" anchor="t">
            <a:normAutofit/>
          </a:bodyPr>
          <a:lstStyle/>
          <a:p>
            <a:pPr algn="l" indent="0" marL="0">
              <a:buNone/>
            </a:pPr>
            <a:r>
              <a:rPr lang="en-US" sz="1950" spc="546" kern="0" dirty="0">
                <a:solidFill>
                  <a:srgbClr val="56DBDB"/>
                </a:solidFill>
                <a:latin typeface="Courier New" pitchFamily="34" charset="0"/>
                <a:ea typeface="Courier New" pitchFamily="34" charset="-122"/>
                <a:cs typeface="Courier New" pitchFamily="34" charset="-120"/>
              </a:rPr>
              <a:t>ATELIER 07 · 4 HEURES</a:t>
            </a:r>
            <a:endParaRPr lang="en-US" sz="1950" dirty="0"/>
          </a:p>
        </p:txBody>
      </p:sp>
      <p:sp>
        <p:nvSpPr>
          <p:cNvPr id="3" name="Text 1"/>
          <p:cNvSpPr/>
          <p:nvPr/>
        </p:nvSpPr>
        <p:spPr>
          <a:xfrm>
            <a:off x="1066800" y="3339207"/>
            <a:ext cx="17769840" cy="1924050"/>
          </a:xfrm>
          <a:prstGeom prst="rect">
            <a:avLst/>
          </a:prstGeom>
          <a:noFill/>
          <a:ln/>
        </p:spPr>
        <p:txBody>
          <a:bodyPr wrap="square" lIns="25400" tIns="25400" rIns="25400" bIns="25400" rtlCol="0" anchor="t">
            <a:normAutofit/>
          </a:bodyPr>
          <a:lstStyle/>
          <a:p>
            <a:pPr algn="l" indent="0" marL="0">
              <a:lnSpc>
                <a:spcPct val="78158"/>
              </a:lnSpc>
              <a:buNone/>
            </a:pPr>
            <a:r>
              <a:rPr lang="en-US" sz="16500" b="1" spc="-660" kern="0" dirty="0">
                <a:solidFill>
                  <a:srgbClr val="8EE3E4"/>
                </a:solidFill>
                <a:latin typeface="Arial" pitchFamily="34" charset="0"/>
                <a:ea typeface="Arial" pitchFamily="34" charset="-122"/>
                <a:cs typeface="Arial" pitchFamily="34" charset="-120"/>
              </a:rPr>
              <a:t>07</a:t>
            </a:r>
            <a:endParaRPr lang="en-US" sz="16500" dirty="0"/>
          </a:p>
        </p:txBody>
      </p:sp>
      <p:sp>
        <p:nvSpPr>
          <p:cNvPr id="4" name="Text 2"/>
          <p:cNvSpPr/>
          <p:nvPr/>
        </p:nvSpPr>
        <p:spPr>
          <a:xfrm>
            <a:off x="1066800" y="5301357"/>
            <a:ext cx="17769840" cy="776387"/>
          </a:xfrm>
          <a:prstGeom prst="rect">
            <a:avLst/>
          </a:prstGeom>
          <a:noFill/>
          <a:ln/>
        </p:spPr>
        <p:txBody>
          <a:bodyPr wrap="square" lIns="25400" tIns="25400" rIns="25400" bIns="25400" rtlCol="0" anchor="t">
            <a:normAutofit/>
          </a:bodyPr>
          <a:lstStyle/>
          <a:p>
            <a:pPr algn="l" indent="0" marL="0">
              <a:lnSpc>
                <a:spcPct val="88763"/>
              </a:lnSpc>
              <a:buNone/>
            </a:pPr>
            <a:r>
              <a:rPr lang="en-US" sz="5700" b="1" spc="-114" kern="0" dirty="0">
                <a:solidFill>
                  <a:srgbClr val="EEF3F9"/>
                </a:solidFill>
                <a:latin typeface="Arial" pitchFamily="34" charset="0"/>
                <a:ea typeface="Arial" pitchFamily="34" charset="-122"/>
                <a:cs typeface="Arial" pitchFamily="34" charset="-120"/>
              </a:rPr>
              <a:t>Big Data sur AWS avec Amazon EMR</a:t>
            </a:r>
            <a:endParaRPr lang="en-US" sz="5700" dirty="0"/>
          </a:p>
        </p:txBody>
      </p:sp>
      <p:sp>
        <p:nvSpPr>
          <p:cNvPr id="5" name="Text 3"/>
          <p:cNvSpPr/>
          <p:nvPr/>
        </p:nvSpPr>
        <p:spPr>
          <a:xfrm>
            <a:off x="1066800" y="6287294"/>
            <a:ext cx="11301984" cy="1104900"/>
          </a:xfrm>
          <a:prstGeom prst="rect">
            <a:avLst/>
          </a:prstGeom>
          <a:noFill/>
          <a:ln/>
        </p:spPr>
        <p:txBody>
          <a:bodyPr wrap="square" lIns="25400" tIns="25400" rIns="25400" bIns="25400" rtlCol="0" anchor="t">
            <a:normAutofit/>
          </a:bodyPr>
          <a:lstStyle/>
          <a:p>
            <a:pPr algn="l" indent="0" marL="0">
              <a:lnSpc>
                <a:spcPct val="121739"/>
              </a:lnSpc>
              <a:buNone/>
            </a:pPr>
            <a:r>
              <a:rPr lang="en-US" sz="3000" dirty="0">
                <a:solidFill>
                  <a:srgbClr val="8EA0B5"/>
                </a:solidFill>
                <a:latin typeface="Arial" pitchFamily="34" charset="0"/>
                <a:ea typeface="Arial" pitchFamily="34" charset="-122"/>
                <a:cs typeface="Arial" pitchFamily="34" charset="-120"/>
              </a:rPr>
              <a:t>Mise en œuvre du projet fil conducteur dans un environnement Cloud managé, à grande échelle.</a:t>
            </a:r>
            <a:endParaRPr lang="en-US" sz="3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07 · MOTIVATION</a:t>
            </a:r>
            <a:endParaRPr lang="en-US" sz="1800" dirty="0"/>
          </a:p>
        </p:txBody>
      </p:sp>
      <p:sp>
        <p:nvSpPr>
          <p:cNvPr id="3" name="Text 1"/>
          <p:cNvSpPr/>
          <p:nvPr/>
        </p:nvSpPr>
        <p:spPr>
          <a:xfrm>
            <a:off x="1066800" y="1314450"/>
            <a:ext cx="10476041"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Justification des architectures en cluster</a:t>
            </a:r>
            <a:endParaRPr lang="en-US" sz="4800" dirty="0"/>
          </a:p>
        </p:txBody>
      </p:sp>
      <p:sp>
        <p:nvSpPr>
          <p:cNvPr id="4" name="Shape 2"/>
          <p:cNvSpPr/>
          <p:nvPr/>
        </p:nvSpPr>
        <p:spPr>
          <a:xfrm>
            <a:off x="1066800" y="3077567"/>
            <a:ext cx="5232400" cy="6390283"/>
          </a:xfrm>
          <a:prstGeom prst="roundRect">
            <a:avLst>
              <a:gd name="adj" fmla="val 3277"/>
            </a:avLst>
          </a:prstGeom>
          <a:solidFill>
            <a:srgbClr val="FFFFFF">
              <a:alpha val="3000"/>
            </a:srgbClr>
          </a:solidFill>
          <a:ln w="6350">
            <a:solidFill>
              <a:srgbClr val="FFFFFF">
                <a:alpha val="10000"/>
              </a:srgbClr>
            </a:solidFill>
            <a:prstDash val="solid"/>
          </a:ln>
        </p:spPr>
      </p:sp>
      <p:sp>
        <p:nvSpPr>
          <p:cNvPr id="5" name="Text 3"/>
          <p:cNvSpPr/>
          <p:nvPr/>
        </p:nvSpPr>
        <p:spPr>
          <a:xfrm>
            <a:off x="1416050" y="3464917"/>
            <a:ext cx="498729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01</a:t>
            </a:r>
            <a:endParaRPr lang="en-US" sz="1800" dirty="0"/>
          </a:p>
        </p:txBody>
      </p:sp>
      <p:sp>
        <p:nvSpPr>
          <p:cNvPr id="6" name="Text 4"/>
          <p:cNvSpPr/>
          <p:nvPr/>
        </p:nvSpPr>
        <p:spPr>
          <a:xfrm>
            <a:off x="1416050" y="3922117"/>
            <a:ext cx="498729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EEF3F9"/>
                </a:solidFill>
                <a:latin typeface="Arial" pitchFamily="34" charset="0"/>
                <a:ea typeface="Arial" pitchFamily="34" charset="-122"/>
                <a:cs typeface="Arial" pitchFamily="34" charset="-120"/>
              </a:rPr>
              <a:t>Scalabilité horizontale</a:t>
            </a:r>
            <a:endParaRPr lang="en-US" sz="2475" dirty="0"/>
          </a:p>
        </p:txBody>
      </p:sp>
      <p:sp>
        <p:nvSpPr>
          <p:cNvPr id="7" name="Text 5"/>
          <p:cNvSpPr/>
          <p:nvPr/>
        </p:nvSpPr>
        <p:spPr>
          <a:xfrm>
            <a:off x="1416050" y="4417417"/>
            <a:ext cx="4669917"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Augmenter la capacité en ajoutant des nœuds, plutôt qu'en changeant de machine.</a:t>
            </a:r>
            <a:endParaRPr lang="en-US" sz="2025" dirty="0"/>
          </a:p>
        </p:txBody>
      </p:sp>
      <p:sp>
        <p:nvSpPr>
          <p:cNvPr id="8" name="Shape 6"/>
          <p:cNvSpPr/>
          <p:nvPr/>
        </p:nvSpPr>
        <p:spPr>
          <a:xfrm>
            <a:off x="6527800" y="3077567"/>
            <a:ext cx="5232400" cy="6390283"/>
          </a:xfrm>
          <a:prstGeom prst="roundRect">
            <a:avLst>
              <a:gd name="adj" fmla="val 3277"/>
            </a:avLst>
          </a:prstGeom>
          <a:solidFill>
            <a:srgbClr val="FFFFFF">
              <a:alpha val="3000"/>
            </a:srgbClr>
          </a:solidFill>
          <a:ln w="6350">
            <a:solidFill>
              <a:srgbClr val="FFFFFF">
                <a:alpha val="10000"/>
              </a:srgbClr>
            </a:solidFill>
            <a:prstDash val="solid"/>
          </a:ln>
        </p:spPr>
      </p:sp>
      <p:sp>
        <p:nvSpPr>
          <p:cNvPr id="9" name="Text 7"/>
          <p:cNvSpPr/>
          <p:nvPr/>
        </p:nvSpPr>
        <p:spPr>
          <a:xfrm>
            <a:off x="6877050" y="3464917"/>
            <a:ext cx="498729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02</a:t>
            </a:r>
            <a:endParaRPr lang="en-US" sz="1800" dirty="0"/>
          </a:p>
        </p:txBody>
      </p:sp>
      <p:sp>
        <p:nvSpPr>
          <p:cNvPr id="10" name="Text 8"/>
          <p:cNvSpPr/>
          <p:nvPr/>
        </p:nvSpPr>
        <p:spPr>
          <a:xfrm>
            <a:off x="6877050" y="3922117"/>
            <a:ext cx="498729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EEF3F9"/>
                </a:solidFill>
                <a:latin typeface="Arial" pitchFamily="34" charset="0"/>
                <a:ea typeface="Arial" pitchFamily="34" charset="-122"/>
                <a:cs typeface="Arial" pitchFamily="34" charset="-120"/>
              </a:rPr>
              <a:t>Parallélisme réel</a:t>
            </a:r>
            <a:endParaRPr lang="en-US" sz="2475" dirty="0"/>
          </a:p>
        </p:txBody>
      </p:sp>
      <p:sp>
        <p:nvSpPr>
          <p:cNvPr id="11" name="Text 9"/>
          <p:cNvSpPr/>
          <p:nvPr/>
        </p:nvSpPr>
        <p:spPr>
          <a:xfrm>
            <a:off x="6877050" y="4417417"/>
            <a:ext cx="4669917"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Les traitements Spark et Hive s'exécutent simultanément sur plusieurs nœuds.</a:t>
            </a:r>
            <a:endParaRPr lang="en-US" sz="2025" dirty="0"/>
          </a:p>
        </p:txBody>
      </p:sp>
      <p:sp>
        <p:nvSpPr>
          <p:cNvPr id="12" name="Shape 10"/>
          <p:cNvSpPr/>
          <p:nvPr/>
        </p:nvSpPr>
        <p:spPr>
          <a:xfrm>
            <a:off x="11988801" y="3077567"/>
            <a:ext cx="5232400" cy="6390283"/>
          </a:xfrm>
          <a:prstGeom prst="roundRect">
            <a:avLst>
              <a:gd name="adj" fmla="val 3277"/>
            </a:avLst>
          </a:prstGeom>
          <a:solidFill>
            <a:srgbClr val="FFFFFF">
              <a:alpha val="3000"/>
            </a:srgbClr>
          </a:solidFill>
          <a:ln w="6350">
            <a:solidFill>
              <a:srgbClr val="FFFFFF">
                <a:alpha val="10000"/>
              </a:srgbClr>
            </a:solidFill>
            <a:prstDash val="solid"/>
          </a:ln>
        </p:spPr>
      </p:sp>
      <p:sp>
        <p:nvSpPr>
          <p:cNvPr id="13" name="Text 11"/>
          <p:cNvSpPr/>
          <p:nvPr/>
        </p:nvSpPr>
        <p:spPr>
          <a:xfrm>
            <a:off x="12338050" y="3464917"/>
            <a:ext cx="4987290" cy="342900"/>
          </a:xfrm>
          <a:prstGeom prst="rect">
            <a:avLst/>
          </a:prstGeom>
          <a:noFill/>
          <a:ln/>
        </p:spPr>
        <p:txBody>
          <a:bodyPr wrap="square" lIns="25400" tIns="25400" rIns="25400" bIns="25400" rtlCol="0" anchor="t">
            <a:normAutofit/>
          </a:bodyPr>
          <a:lstStyle/>
          <a:p>
            <a:pPr algn="l" indent="0" marL="0">
              <a:buNone/>
            </a:pPr>
            <a:r>
              <a:rPr lang="en-US" sz="1800" dirty="0">
                <a:solidFill>
                  <a:srgbClr val="56DBDB"/>
                </a:solidFill>
                <a:latin typeface="Courier New" pitchFamily="34" charset="0"/>
                <a:ea typeface="Courier New" pitchFamily="34" charset="-122"/>
                <a:cs typeface="Courier New" pitchFamily="34" charset="-120"/>
              </a:rPr>
              <a:t>03</a:t>
            </a:r>
            <a:endParaRPr lang="en-US" sz="1800" dirty="0"/>
          </a:p>
        </p:txBody>
      </p:sp>
      <p:sp>
        <p:nvSpPr>
          <p:cNvPr id="14" name="Text 12"/>
          <p:cNvSpPr/>
          <p:nvPr/>
        </p:nvSpPr>
        <p:spPr>
          <a:xfrm>
            <a:off x="12338050" y="3922117"/>
            <a:ext cx="4987290" cy="400050"/>
          </a:xfrm>
          <a:prstGeom prst="rect">
            <a:avLst/>
          </a:prstGeom>
          <a:noFill/>
          <a:ln/>
        </p:spPr>
        <p:txBody>
          <a:bodyPr wrap="square" lIns="25400" tIns="25400" rIns="25400" bIns="25400" rtlCol="0" anchor="t">
            <a:normAutofit/>
          </a:bodyPr>
          <a:lstStyle/>
          <a:p>
            <a:pPr algn="l" indent="0" marL="0">
              <a:buNone/>
            </a:pPr>
            <a:r>
              <a:rPr lang="en-US" sz="2475" b="1" dirty="0">
                <a:solidFill>
                  <a:srgbClr val="EEF3F9"/>
                </a:solidFill>
                <a:latin typeface="Arial" pitchFamily="34" charset="0"/>
                <a:ea typeface="Arial" pitchFamily="34" charset="-122"/>
                <a:cs typeface="Arial" pitchFamily="34" charset="-120"/>
              </a:rPr>
              <a:t>Résilience</a:t>
            </a:r>
            <a:endParaRPr lang="en-US" sz="2475" dirty="0"/>
          </a:p>
        </p:txBody>
      </p:sp>
      <p:sp>
        <p:nvSpPr>
          <p:cNvPr id="15" name="Text 13"/>
          <p:cNvSpPr/>
          <p:nvPr/>
        </p:nvSpPr>
        <p:spPr>
          <a:xfrm>
            <a:off x="12338050" y="4417417"/>
            <a:ext cx="4669917" cy="809625"/>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La perte d'un nœud ne compromet pas l'ensemble du traitement.</a:t>
            </a:r>
            <a:endParaRPr lang="en-US" sz="2025"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07 · ARCHITECTURE</a:t>
            </a:r>
            <a:endParaRPr lang="en-US" sz="1800" dirty="0"/>
          </a:p>
        </p:txBody>
      </p:sp>
      <p:sp>
        <p:nvSpPr>
          <p:cNvPr id="3" name="Text 1"/>
          <p:cNvSpPr/>
          <p:nvPr/>
        </p:nvSpPr>
        <p:spPr>
          <a:xfrm>
            <a:off x="1066800" y="1314450"/>
            <a:ext cx="10442138"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Amazon EMR et son architecture</a:t>
            </a:r>
            <a:endParaRPr lang="en-US" sz="4800" dirty="0"/>
          </a:p>
        </p:txBody>
      </p:sp>
      <p:sp>
        <p:nvSpPr>
          <p:cNvPr id="4" name="Shape 2"/>
          <p:cNvSpPr/>
          <p:nvPr/>
        </p:nvSpPr>
        <p:spPr>
          <a:xfrm>
            <a:off x="15220950" y="762000"/>
            <a:ext cx="2000250" cy="914400"/>
          </a:xfrm>
          <a:prstGeom prst="roundRect">
            <a:avLst>
              <a:gd name="adj" fmla="val 14583"/>
            </a:avLst>
          </a:prstGeom>
          <a:solidFill>
            <a:srgbClr val="FFFFFF"/>
          </a:solidFill>
          <a:ln w="6350">
            <a:solidFill>
              <a:srgbClr val="FFFFFF">
                <a:alpha val="10000"/>
              </a:srgbClr>
            </a:solidFill>
            <a:prstDash val="solid"/>
          </a:ln>
        </p:spPr>
      </p:sp>
      <p:sp>
        <p:nvSpPr>
          <p:cNvPr id="5" name="Shape 3"/>
          <p:cNvSpPr/>
          <p:nvPr/>
        </p:nvSpPr>
        <p:spPr>
          <a:xfrm>
            <a:off x="15341601" y="882650"/>
            <a:ext cx="1758950" cy="673100"/>
          </a:xfrm>
          <a:prstGeom prst="rect">
            <a:avLst/>
          </a:prstGeom>
          <a:solidFill>
            <a:srgbClr val="000000">
              <a:alpha val="4000"/>
            </a:srgbClr>
          </a:solidFill>
          <a:ln/>
        </p:spPr>
      </p:sp>
      <p:pic>
        <p:nvPicPr>
          <p:cNvPr id="6" name="Image 0" descr="preencoded.png">    </p:cNvPr>
          <p:cNvPicPr>
            <a:picLocks noChangeAspect="1"/>
          </p:cNvPicPr>
          <p:nvPr/>
        </p:nvPicPr>
        <p:blipFill>
          <a:blip r:embed="rId1"/>
          <a:srcRect l="-27031" r="-27031" t="0" b="0"/>
          <a:stretch/>
        </p:blipFill>
        <p:spPr>
          <a:xfrm>
            <a:off x="15341601" y="882650"/>
            <a:ext cx="1758950" cy="673100"/>
          </a:xfrm>
          <a:prstGeom prst="rect">
            <a:avLst/>
          </a:prstGeom>
        </p:spPr>
      </p:pic>
      <p:sp>
        <p:nvSpPr>
          <p:cNvPr id="7" name="Shape 4"/>
          <p:cNvSpPr/>
          <p:nvPr/>
        </p:nvSpPr>
        <p:spPr>
          <a:xfrm>
            <a:off x="2451695" y="4247555"/>
            <a:ext cx="6123980" cy="1066800"/>
          </a:xfrm>
          <a:prstGeom prst="roundRect">
            <a:avLst>
              <a:gd name="adj" fmla="val 10714"/>
            </a:avLst>
          </a:prstGeom>
          <a:solidFill>
            <a:srgbClr val="FFFFFF">
              <a:alpha val="6000"/>
            </a:srgbClr>
          </a:solidFill>
          <a:ln w="6350">
            <a:solidFill>
              <a:srgbClr val="75E1E1">
                <a:alpha val="46000"/>
              </a:srgbClr>
            </a:solidFill>
            <a:prstDash val="solid"/>
          </a:ln>
        </p:spPr>
      </p:sp>
      <p:sp>
        <p:nvSpPr>
          <p:cNvPr id="8" name="Text 5"/>
          <p:cNvSpPr/>
          <p:nvPr/>
        </p:nvSpPr>
        <p:spPr>
          <a:xfrm>
            <a:off x="4727873" y="4444405"/>
            <a:ext cx="1647825" cy="349250"/>
          </a:xfrm>
          <a:prstGeom prst="rect">
            <a:avLst/>
          </a:prstGeom>
          <a:noFill/>
          <a:ln/>
        </p:spPr>
        <p:txBody>
          <a:bodyPr wrap="square" lIns="0" tIns="0" rIns="0" bIns="0" rtlCol="0" anchor="t">
            <a:normAutofit/>
          </a:bodyPr>
          <a:lstStyle/>
          <a:p>
            <a:pPr algn="ctr" indent="0" marL="0">
              <a:buNone/>
            </a:pPr>
            <a:r>
              <a:rPr lang="en-US" sz="1875" dirty="0">
                <a:solidFill>
                  <a:srgbClr val="56DBDB"/>
                </a:solidFill>
                <a:latin typeface="Courier New" pitchFamily="34" charset="0"/>
                <a:ea typeface="Courier New" pitchFamily="34" charset="-122"/>
                <a:cs typeface="Courier New" pitchFamily="34" charset="-120"/>
              </a:rPr>
              <a:t>Nœud maître</a:t>
            </a:r>
            <a:endParaRPr lang="en-US" sz="1875" dirty="0"/>
          </a:p>
        </p:txBody>
      </p:sp>
      <p:sp>
        <p:nvSpPr>
          <p:cNvPr id="9" name="Text 6"/>
          <p:cNvSpPr/>
          <p:nvPr/>
        </p:nvSpPr>
        <p:spPr>
          <a:xfrm>
            <a:off x="2571581" y="4812705"/>
            <a:ext cx="5884208"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YARN · NameNode · Driver · Hue/Zeppelin</a:t>
            </a:r>
            <a:endParaRPr lang="en-US" sz="1800" dirty="0"/>
          </a:p>
        </p:txBody>
      </p:sp>
      <p:sp>
        <p:nvSpPr>
          <p:cNvPr id="10" name="Shape 7"/>
          <p:cNvSpPr/>
          <p:nvPr/>
        </p:nvSpPr>
        <p:spPr>
          <a:xfrm>
            <a:off x="5504161" y="5314355"/>
            <a:ext cx="19050" cy="247650"/>
          </a:xfrm>
          <a:prstGeom prst="rect">
            <a:avLst/>
          </a:prstGeom>
          <a:solidFill>
            <a:srgbClr val="56DBDB">
              <a:alpha val="51000"/>
            </a:srgbClr>
          </a:solidFill>
          <a:ln/>
        </p:spPr>
      </p:sp>
      <p:sp>
        <p:nvSpPr>
          <p:cNvPr id="11" name="Shape 8"/>
          <p:cNvSpPr/>
          <p:nvPr/>
        </p:nvSpPr>
        <p:spPr>
          <a:xfrm>
            <a:off x="2038846" y="5562005"/>
            <a:ext cx="2214959" cy="1060450"/>
          </a:xfrm>
          <a:prstGeom prst="roundRect">
            <a:avLst>
              <a:gd name="adj" fmla="val 10778"/>
            </a:avLst>
          </a:prstGeom>
          <a:solidFill>
            <a:srgbClr val="FFFFFF">
              <a:alpha val="3000"/>
            </a:srgbClr>
          </a:solidFill>
          <a:ln w="6350">
            <a:solidFill>
              <a:srgbClr val="FFFFFF">
                <a:alpha val="10000"/>
              </a:srgbClr>
            </a:solidFill>
            <a:prstDash val="solid"/>
          </a:ln>
        </p:spPr>
      </p:sp>
      <p:sp>
        <p:nvSpPr>
          <p:cNvPr id="12" name="Text 9"/>
          <p:cNvSpPr/>
          <p:nvPr/>
        </p:nvSpPr>
        <p:spPr>
          <a:xfrm>
            <a:off x="2529086" y="5758855"/>
            <a:ext cx="1310680" cy="342900"/>
          </a:xfrm>
          <a:prstGeom prst="rect">
            <a:avLst/>
          </a:prstGeom>
          <a:noFill/>
          <a:ln/>
        </p:spPr>
        <p:txBody>
          <a:bodyPr wrap="square" lIns="0" tIns="0" rIns="0" bIns="0" rtlCol="0" anchor="t">
            <a:normAutofit/>
          </a:bodyPr>
          <a:lstStyle/>
          <a:p>
            <a:pPr algn="ctr" indent="0" marL="0">
              <a:buNone/>
            </a:pPr>
            <a:r>
              <a:rPr lang="en-US" sz="1800" dirty="0">
                <a:solidFill>
                  <a:srgbClr val="EEF3F9"/>
                </a:solidFill>
                <a:latin typeface="Courier New" pitchFamily="34" charset="0"/>
                <a:ea typeface="Courier New" pitchFamily="34" charset="-122"/>
                <a:cs typeface="Courier New" pitchFamily="34" charset="-120"/>
              </a:rPr>
              <a:t>Nœud core</a:t>
            </a:r>
            <a:endParaRPr lang="en-US" sz="1800" dirty="0"/>
          </a:p>
        </p:txBody>
      </p:sp>
      <p:sp>
        <p:nvSpPr>
          <p:cNvPr id="13" name="Text 10"/>
          <p:cNvSpPr/>
          <p:nvPr/>
        </p:nvSpPr>
        <p:spPr>
          <a:xfrm>
            <a:off x="2165588" y="6120805"/>
            <a:ext cx="196147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HDFS + calcul</a:t>
            </a:r>
            <a:endParaRPr lang="en-US" sz="1800" dirty="0"/>
          </a:p>
        </p:txBody>
      </p:sp>
      <p:sp>
        <p:nvSpPr>
          <p:cNvPr id="14" name="Shape 11"/>
          <p:cNvSpPr/>
          <p:nvPr/>
        </p:nvSpPr>
        <p:spPr>
          <a:xfrm>
            <a:off x="4406205" y="5562005"/>
            <a:ext cx="2214959" cy="1060450"/>
          </a:xfrm>
          <a:prstGeom prst="roundRect">
            <a:avLst>
              <a:gd name="adj" fmla="val 10778"/>
            </a:avLst>
          </a:prstGeom>
          <a:solidFill>
            <a:srgbClr val="FFFFFF">
              <a:alpha val="3000"/>
            </a:srgbClr>
          </a:solidFill>
          <a:ln w="6350">
            <a:solidFill>
              <a:srgbClr val="FFFFFF">
                <a:alpha val="10000"/>
              </a:srgbClr>
            </a:solidFill>
            <a:prstDash val="solid"/>
          </a:ln>
        </p:spPr>
      </p:sp>
      <p:sp>
        <p:nvSpPr>
          <p:cNvPr id="15" name="Text 12"/>
          <p:cNvSpPr/>
          <p:nvPr/>
        </p:nvSpPr>
        <p:spPr>
          <a:xfrm>
            <a:off x="4896445" y="5758855"/>
            <a:ext cx="1310680" cy="342900"/>
          </a:xfrm>
          <a:prstGeom prst="rect">
            <a:avLst/>
          </a:prstGeom>
          <a:noFill/>
          <a:ln/>
        </p:spPr>
        <p:txBody>
          <a:bodyPr wrap="square" lIns="0" tIns="0" rIns="0" bIns="0" rtlCol="0" anchor="t">
            <a:normAutofit/>
          </a:bodyPr>
          <a:lstStyle/>
          <a:p>
            <a:pPr algn="ctr" indent="0" marL="0">
              <a:buNone/>
            </a:pPr>
            <a:r>
              <a:rPr lang="en-US" sz="1800" dirty="0">
                <a:solidFill>
                  <a:srgbClr val="EEF3F9"/>
                </a:solidFill>
                <a:latin typeface="Courier New" pitchFamily="34" charset="0"/>
                <a:ea typeface="Courier New" pitchFamily="34" charset="-122"/>
                <a:cs typeface="Courier New" pitchFamily="34" charset="-120"/>
              </a:rPr>
              <a:t>Nœud core</a:t>
            </a:r>
            <a:endParaRPr lang="en-US" sz="1800" dirty="0"/>
          </a:p>
        </p:txBody>
      </p:sp>
      <p:sp>
        <p:nvSpPr>
          <p:cNvPr id="16" name="Text 13"/>
          <p:cNvSpPr/>
          <p:nvPr/>
        </p:nvSpPr>
        <p:spPr>
          <a:xfrm>
            <a:off x="4532948" y="6120805"/>
            <a:ext cx="196147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HDFS + calcul</a:t>
            </a:r>
            <a:endParaRPr lang="en-US" sz="1800" dirty="0"/>
          </a:p>
        </p:txBody>
      </p:sp>
      <p:sp>
        <p:nvSpPr>
          <p:cNvPr id="17" name="Shape 14"/>
          <p:cNvSpPr/>
          <p:nvPr/>
        </p:nvSpPr>
        <p:spPr>
          <a:xfrm>
            <a:off x="6773565" y="5562005"/>
            <a:ext cx="2214959" cy="1060450"/>
          </a:xfrm>
          <a:prstGeom prst="roundRect">
            <a:avLst>
              <a:gd name="adj" fmla="val 10778"/>
            </a:avLst>
          </a:prstGeom>
          <a:solidFill>
            <a:srgbClr val="FFFFFF">
              <a:alpha val="6000"/>
            </a:srgbClr>
          </a:solidFill>
          <a:ln w="6350">
            <a:solidFill>
              <a:srgbClr val="FFFFFF">
                <a:alpha val="10000"/>
              </a:srgbClr>
            </a:solidFill>
            <a:prstDash val="dash"/>
          </a:ln>
        </p:spPr>
      </p:sp>
      <p:sp>
        <p:nvSpPr>
          <p:cNvPr id="18" name="Text 15"/>
          <p:cNvSpPr/>
          <p:nvPr/>
        </p:nvSpPr>
        <p:spPr>
          <a:xfrm>
            <a:off x="7263805" y="5758855"/>
            <a:ext cx="1310680" cy="342900"/>
          </a:xfrm>
          <a:prstGeom prst="rect">
            <a:avLst/>
          </a:prstGeom>
          <a:noFill/>
          <a:ln/>
        </p:spPr>
        <p:txBody>
          <a:bodyPr wrap="square" lIns="0" tIns="0" rIns="0" bIns="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Nœud task</a:t>
            </a:r>
            <a:endParaRPr lang="en-US" sz="1800" dirty="0"/>
          </a:p>
        </p:txBody>
      </p:sp>
      <p:sp>
        <p:nvSpPr>
          <p:cNvPr id="19" name="Text 16"/>
          <p:cNvSpPr/>
          <p:nvPr/>
        </p:nvSpPr>
        <p:spPr>
          <a:xfrm>
            <a:off x="6900307" y="6120805"/>
            <a:ext cx="1961475"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calcul · Spot</a:t>
            </a:r>
            <a:endParaRPr lang="en-US" sz="1800" dirty="0"/>
          </a:p>
        </p:txBody>
      </p:sp>
      <p:sp>
        <p:nvSpPr>
          <p:cNvPr id="20" name="Shape 17"/>
          <p:cNvSpPr/>
          <p:nvPr/>
        </p:nvSpPr>
        <p:spPr>
          <a:xfrm>
            <a:off x="5504161" y="6622455"/>
            <a:ext cx="19050" cy="247650"/>
          </a:xfrm>
          <a:prstGeom prst="rect">
            <a:avLst/>
          </a:prstGeom>
          <a:solidFill>
            <a:srgbClr val="FFB46E">
              <a:alpha val="51000"/>
            </a:srgbClr>
          </a:solidFill>
          <a:ln/>
        </p:spPr>
      </p:sp>
      <p:sp>
        <p:nvSpPr>
          <p:cNvPr id="21" name="Shape 18"/>
          <p:cNvSpPr/>
          <p:nvPr/>
        </p:nvSpPr>
        <p:spPr>
          <a:xfrm>
            <a:off x="3274715" y="6870105"/>
            <a:ext cx="4478040" cy="660400"/>
          </a:xfrm>
          <a:prstGeom prst="roundRect">
            <a:avLst>
              <a:gd name="adj" fmla="val 17308"/>
            </a:avLst>
          </a:prstGeom>
          <a:solidFill>
            <a:srgbClr val="FFBF87">
              <a:alpha val="27000"/>
            </a:srgbClr>
          </a:solidFill>
          <a:ln w="6350">
            <a:solidFill>
              <a:srgbClr val="FFC287">
                <a:alpha val="41000"/>
              </a:srgbClr>
            </a:solidFill>
            <a:prstDash val="solid"/>
          </a:ln>
        </p:spPr>
      </p:sp>
      <p:sp>
        <p:nvSpPr>
          <p:cNvPr id="22" name="Text 19"/>
          <p:cNvSpPr/>
          <p:nvPr/>
        </p:nvSpPr>
        <p:spPr>
          <a:xfrm>
            <a:off x="3662065" y="7047905"/>
            <a:ext cx="3837681" cy="342900"/>
          </a:xfrm>
          <a:prstGeom prst="rect">
            <a:avLst/>
          </a:prstGeom>
          <a:noFill/>
          <a:ln/>
        </p:spPr>
        <p:txBody>
          <a:bodyPr wrap="square" lIns="25400" tIns="25400" rIns="25400" bIns="25400" rtlCol="0" anchor="t">
            <a:normAutofit/>
          </a:bodyPr>
          <a:lstStyle/>
          <a:p>
            <a:pPr algn="l" indent="0" marL="0">
              <a:buNone/>
            </a:pPr>
            <a:r>
              <a:rPr lang="en-US" sz="1800" dirty="0">
                <a:solidFill>
                  <a:srgbClr val="FFB46E"/>
                </a:solidFill>
                <a:highlight>
                  <a:srgbClr val="FFEEDF"/>
                </a:highlight>
                <a:latin typeface="Courier New" pitchFamily="34" charset="0"/>
                <a:ea typeface="Courier New" pitchFamily="34" charset="-122"/>
                <a:cs typeface="Courier New" pitchFamily="34" charset="-120"/>
              </a:rPr>
              <a:t>Amazon S3 </a:t>
            </a:r>
            <a:pPr algn="l" indent="0" marL="0">
              <a:buNone/>
            </a:pPr>
            <a:r>
              <a:rPr lang="en-US" sz="1800" dirty="0">
                <a:solidFill>
                  <a:srgbClr val="8EA0B5"/>
                </a:solidFill>
                <a:latin typeface="Courier New" pitchFamily="34" charset="0"/>
                <a:ea typeface="Courier New" pitchFamily="34" charset="-122"/>
                <a:cs typeface="Courier New" pitchFamily="34" charset="-120"/>
              </a:rPr>
              <a:t>— entrée / sortie</a:t>
            </a:r>
            <a:endParaRPr lang="en-US" sz="1800" dirty="0"/>
          </a:p>
        </p:txBody>
      </p:sp>
      <p:sp>
        <p:nvSpPr>
          <p:cNvPr id="23" name="Text 20"/>
          <p:cNvSpPr/>
          <p:nvPr/>
        </p:nvSpPr>
        <p:spPr>
          <a:xfrm>
            <a:off x="10379770" y="4039890"/>
            <a:ext cx="7046674" cy="1195388"/>
          </a:xfrm>
          <a:prstGeom prst="rect">
            <a:avLst/>
          </a:prstGeom>
          <a:noFill/>
          <a:ln/>
        </p:spPr>
        <p:txBody>
          <a:bodyPr wrap="square" lIns="25400" tIns="25400" rIns="25400" bIns="25400" rtlCol="0" anchor="t">
            <a:normAutofit/>
          </a:bodyPr>
          <a:lstStyle/>
          <a:p>
            <a:pPr algn="l" indent="0" marL="0">
              <a:lnSpc>
                <a:spcPct val="129255"/>
              </a:lnSpc>
              <a:buNone/>
            </a:pPr>
            <a:r>
              <a:rPr lang="en-US" sz="2025" dirty="0">
                <a:solidFill>
                  <a:srgbClr val="EEF3F9"/>
                </a:solidFill>
                <a:latin typeface="Arial" pitchFamily="34" charset="0"/>
                <a:ea typeface="Arial" pitchFamily="34" charset="-122"/>
                <a:cs typeface="Arial" pitchFamily="34" charset="-120"/>
              </a:rPr>
              <a:t>EMR </a:t>
            </a:r>
            <a:pPr algn="l" indent="0" marL="0">
              <a:lnSpc>
                <a:spcPct val="129255"/>
              </a:lnSpc>
              <a:buNone/>
            </a:pPr>
            <a:r>
              <a:rPr lang="en-US" sz="2025" dirty="0">
                <a:solidFill>
                  <a:srgbClr val="8EA0B5"/>
                </a:solidFill>
                <a:latin typeface="Arial" pitchFamily="34" charset="0"/>
                <a:ea typeface="Arial" pitchFamily="34" charset="-122"/>
                <a:cs typeface="Arial" pitchFamily="34" charset="-120"/>
              </a:rPr>
              <a:t>— Elastic MapReduce — provisionne les instances EC2, installe et configure les outils Big Data en quelques minutes.</a:t>
            </a:r>
            <a:endParaRPr lang="en-US" sz="2025" dirty="0"/>
          </a:p>
        </p:txBody>
      </p:sp>
      <p:sp>
        <p:nvSpPr>
          <p:cNvPr id="24" name="Shape 21"/>
          <p:cNvSpPr/>
          <p:nvPr/>
        </p:nvSpPr>
        <p:spPr>
          <a:xfrm>
            <a:off x="10379770" y="5406728"/>
            <a:ext cx="25400" cy="637480"/>
          </a:xfrm>
          <a:prstGeom prst="rect">
            <a:avLst/>
          </a:prstGeom>
          <a:solidFill>
            <a:srgbClr val="56DBDB"/>
          </a:solidFill>
          <a:ln/>
        </p:spPr>
      </p:sp>
      <p:sp>
        <p:nvSpPr>
          <p:cNvPr id="25" name="Text 22"/>
          <p:cNvSpPr/>
          <p:nvPr/>
        </p:nvSpPr>
        <p:spPr>
          <a:xfrm>
            <a:off x="10595670" y="5406728"/>
            <a:ext cx="7288084" cy="317500"/>
          </a:xfrm>
          <a:prstGeom prst="rect">
            <a:avLst/>
          </a:prstGeom>
          <a:noFill/>
          <a:ln/>
        </p:spPr>
        <p:txBody>
          <a:bodyPr wrap="square" lIns="25400" tIns="25400" rIns="25400" bIns="25400" rtlCol="0" anchor="t">
            <a:normAutofit/>
          </a:bodyPr>
          <a:lstStyle/>
          <a:p>
            <a:pPr algn="l" indent="0" marL="0">
              <a:buNone/>
            </a:pPr>
            <a:r>
              <a:rPr lang="en-US" sz="1950" b="1" dirty="0">
                <a:solidFill>
                  <a:srgbClr val="EEF3F9"/>
                </a:solidFill>
                <a:latin typeface="Arial" pitchFamily="34" charset="0"/>
                <a:ea typeface="Arial" pitchFamily="34" charset="-122"/>
                <a:cs typeface="Arial" pitchFamily="34" charset="-120"/>
              </a:rPr>
              <a:t>Maître</a:t>
            </a:r>
            <a:endParaRPr lang="en-US" sz="1950" dirty="0"/>
          </a:p>
        </p:txBody>
      </p:sp>
      <p:sp>
        <p:nvSpPr>
          <p:cNvPr id="26" name="Text 23"/>
          <p:cNvSpPr/>
          <p:nvPr/>
        </p:nvSpPr>
        <p:spPr>
          <a:xfrm>
            <a:off x="10595670" y="5724227"/>
            <a:ext cx="7288084"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Coordonne le cluster, héberge Driver et interfaces.</a:t>
            </a:r>
            <a:endParaRPr lang="en-US" sz="1800" dirty="0"/>
          </a:p>
        </p:txBody>
      </p:sp>
      <p:sp>
        <p:nvSpPr>
          <p:cNvPr id="27" name="Shape 24"/>
          <p:cNvSpPr/>
          <p:nvPr/>
        </p:nvSpPr>
        <p:spPr>
          <a:xfrm>
            <a:off x="10379770" y="6253758"/>
            <a:ext cx="25400" cy="637480"/>
          </a:xfrm>
          <a:prstGeom prst="rect">
            <a:avLst/>
          </a:prstGeom>
          <a:solidFill>
            <a:srgbClr val="56DBDB"/>
          </a:solidFill>
          <a:ln/>
        </p:spPr>
      </p:sp>
      <p:sp>
        <p:nvSpPr>
          <p:cNvPr id="28" name="Text 25"/>
          <p:cNvSpPr/>
          <p:nvPr/>
        </p:nvSpPr>
        <p:spPr>
          <a:xfrm>
            <a:off x="10595670" y="6253758"/>
            <a:ext cx="7288084" cy="317500"/>
          </a:xfrm>
          <a:prstGeom prst="rect">
            <a:avLst/>
          </a:prstGeom>
          <a:noFill/>
          <a:ln/>
        </p:spPr>
        <p:txBody>
          <a:bodyPr wrap="square" lIns="25400" tIns="25400" rIns="25400" bIns="25400" rtlCol="0" anchor="t">
            <a:normAutofit/>
          </a:bodyPr>
          <a:lstStyle/>
          <a:p>
            <a:pPr algn="l" indent="0" marL="0">
              <a:buNone/>
            </a:pPr>
            <a:r>
              <a:rPr lang="en-US" sz="1950" b="1" dirty="0">
                <a:solidFill>
                  <a:srgbClr val="EEF3F9"/>
                </a:solidFill>
                <a:latin typeface="Arial" pitchFamily="34" charset="0"/>
                <a:ea typeface="Arial" pitchFamily="34" charset="-122"/>
                <a:cs typeface="Arial" pitchFamily="34" charset="-120"/>
              </a:rPr>
              <a:t>Core</a:t>
            </a:r>
            <a:endParaRPr lang="en-US" sz="1950" dirty="0"/>
          </a:p>
        </p:txBody>
      </p:sp>
      <p:sp>
        <p:nvSpPr>
          <p:cNvPr id="29" name="Text 26"/>
          <p:cNvSpPr/>
          <p:nvPr/>
        </p:nvSpPr>
        <p:spPr>
          <a:xfrm>
            <a:off x="10595670" y="6571258"/>
            <a:ext cx="7288084"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Exécutent les tâches et stockent sur HDFS.</a:t>
            </a:r>
            <a:endParaRPr lang="en-US" sz="1800" dirty="0"/>
          </a:p>
        </p:txBody>
      </p:sp>
      <p:sp>
        <p:nvSpPr>
          <p:cNvPr id="30" name="Shape 27"/>
          <p:cNvSpPr/>
          <p:nvPr/>
        </p:nvSpPr>
        <p:spPr>
          <a:xfrm>
            <a:off x="10379770" y="7100789"/>
            <a:ext cx="25400" cy="637480"/>
          </a:xfrm>
          <a:prstGeom prst="rect">
            <a:avLst/>
          </a:prstGeom>
          <a:solidFill>
            <a:srgbClr val="8EA0B5"/>
          </a:solidFill>
          <a:ln/>
        </p:spPr>
      </p:sp>
      <p:sp>
        <p:nvSpPr>
          <p:cNvPr id="31" name="Text 28"/>
          <p:cNvSpPr/>
          <p:nvPr/>
        </p:nvSpPr>
        <p:spPr>
          <a:xfrm>
            <a:off x="10595670" y="7100789"/>
            <a:ext cx="7288084" cy="317500"/>
          </a:xfrm>
          <a:prstGeom prst="rect">
            <a:avLst/>
          </a:prstGeom>
          <a:noFill/>
          <a:ln/>
        </p:spPr>
        <p:txBody>
          <a:bodyPr wrap="square" lIns="25400" tIns="25400" rIns="25400" bIns="25400" rtlCol="0" anchor="t">
            <a:normAutofit/>
          </a:bodyPr>
          <a:lstStyle/>
          <a:p>
            <a:pPr algn="l" indent="0" marL="0">
              <a:buNone/>
            </a:pPr>
            <a:r>
              <a:rPr lang="en-US" sz="1950" b="1" dirty="0">
                <a:solidFill>
                  <a:srgbClr val="EEF3F9"/>
                </a:solidFill>
                <a:latin typeface="Arial" pitchFamily="34" charset="0"/>
                <a:ea typeface="Arial" pitchFamily="34" charset="-122"/>
                <a:cs typeface="Arial" pitchFamily="34" charset="-120"/>
              </a:rPr>
              <a:t>Task</a:t>
            </a:r>
            <a:endParaRPr lang="en-US" sz="1950" dirty="0"/>
          </a:p>
        </p:txBody>
      </p:sp>
      <p:sp>
        <p:nvSpPr>
          <p:cNvPr id="32" name="Text 29"/>
          <p:cNvSpPr/>
          <p:nvPr/>
        </p:nvSpPr>
        <p:spPr>
          <a:xfrm>
            <a:off x="10595670" y="7418288"/>
            <a:ext cx="7288084" cy="358080"/>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8EA0B5"/>
                </a:solidFill>
                <a:latin typeface="Arial" pitchFamily="34" charset="0"/>
                <a:ea typeface="Arial" pitchFamily="34" charset="-122"/>
                <a:cs typeface="Arial" pitchFamily="34" charset="-120"/>
              </a:rPr>
              <a:t>Calcul supplémentaire sans stockage, souvent en Spot.</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07 · PRINCIPE CENTRAL</a:t>
            </a:r>
            <a:endParaRPr lang="en-US" sz="1800" dirty="0"/>
          </a:p>
        </p:txBody>
      </p:sp>
      <p:sp>
        <p:nvSpPr>
          <p:cNvPr id="3" name="Text 1"/>
          <p:cNvSpPr/>
          <p:nvPr/>
        </p:nvSpPr>
        <p:spPr>
          <a:xfrm>
            <a:off x="1066800" y="1314450"/>
            <a:ext cx="8950404"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Séparer le stockage du calcul</a:t>
            </a:r>
            <a:endParaRPr lang="en-US" sz="4800" dirty="0"/>
          </a:p>
        </p:txBody>
      </p:sp>
      <p:sp>
        <p:nvSpPr>
          <p:cNvPr id="4" name="Shape 2"/>
          <p:cNvSpPr/>
          <p:nvPr/>
        </p:nvSpPr>
        <p:spPr>
          <a:xfrm>
            <a:off x="1066800" y="2481759"/>
            <a:ext cx="3581400" cy="1739900"/>
          </a:xfrm>
          <a:prstGeom prst="roundRect">
            <a:avLst>
              <a:gd name="adj" fmla="val 8759"/>
            </a:avLst>
          </a:prstGeom>
          <a:solidFill>
            <a:srgbClr val="FFFFFF">
              <a:alpha val="3000"/>
            </a:srgbClr>
          </a:solidFill>
          <a:ln w="6350">
            <a:solidFill>
              <a:srgbClr val="FFC48E">
                <a:alpha val="35000"/>
              </a:srgbClr>
            </a:solidFill>
            <a:prstDash val="solid"/>
          </a:ln>
        </p:spPr>
      </p:sp>
      <p:sp>
        <p:nvSpPr>
          <p:cNvPr id="5" name="Text 3"/>
          <p:cNvSpPr/>
          <p:nvPr/>
        </p:nvSpPr>
        <p:spPr>
          <a:xfrm>
            <a:off x="1167130" y="2811959"/>
            <a:ext cx="338074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FFB46E"/>
                </a:solidFill>
                <a:latin typeface="Courier New" pitchFamily="34" charset="0"/>
                <a:ea typeface="Courier New" pitchFamily="34" charset="-122"/>
                <a:cs typeface="Courier New" pitchFamily="34" charset="-120"/>
              </a:rPr>
              <a:t>S3</a:t>
            </a:r>
            <a:endParaRPr lang="en-US" sz="1800" dirty="0"/>
          </a:p>
        </p:txBody>
      </p:sp>
      <p:sp>
        <p:nvSpPr>
          <p:cNvPr id="6" name="Text 4"/>
          <p:cNvSpPr/>
          <p:nvPr/>
        </p:nvSpPr>
        <p:spPr>
          <a:xfrm>
            <a:off x="1167130" y="3212009"/>
            <a:ext cx="3380740"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latin typeface="Arial" pitchFamily="34" charset="0"/>
                <a:ea typeface="Arial" pitchFamily="34" charset="-122"/>
                <a:cs typeface="Arial" pitchFamily="34" charset="-120"/>
              </a:rPr>
              <a:t>purchases.txt</a:t>
            </a:r>
            <a:endParaRPr lang="en-US" sz="2100" dirty="0"/>
          </a:p>
        </p:txBody>
      </p:sp>
      <p:sp>
        <p:nvSpPr>
          <p:cNvPr id="7" name="Text 5"/>
          <p:cNvSpPr/>
          <p:nvPr/>
        </p:nvSpPr>
        <p:spPr>
          <a:xfrm>
            <a:off x="1167130" y="3593009"/>
            <a:ext cx="3380740" cy="33655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Arial" pitchFamily="34" charset="0"/>
                <a:ea typeface="Arial" pitchFamily="34" charset="-122"/>
                <a:cs typeface="Arial" pitchFamily="34" charset="-120"/>
              </a:rPr>
              <a:t>données brutes</a:t>
            </a:r>
            <a:endParaRPr lang="en-US" sz="1800" dirty="0"/>
          </a:p>
        </p:txBody>
      </p:sp>
      <p:sp>
        <p:nvSpPr>
          <p:cNvPr id="8" name="Text 6"/>
          <p:cNvSpPr/>
          <p:nvPr/>
        </p:nvSpPr>
        <p:spPr>
          <a:xfrm>
            <a:off x="4800600" y="3154859"/>
            <a:ext cx="381000" cy="431800"/>
          </a:xfrm>
          <a:prstGeom prst="rect">
            <a:avLst/>
          </a:prstGeom>
          <a:noFill/>
          <a:ln/>
        </p:spPr>
        <p:txBody>
          <a:bodyPr wrap="square" lIns="25400" tIns="25400" rIns="25400" bIns="25400" rtlCol="0" anchor="t">
            <a:normAutofit/>
          </a:bodyPr>
          <a:lstStyle/>
          <a:p>
            <a:pPr algn="l" indent="0" marL="0">
              <a:buNone/>
            </a:pPr>
            <a:r>
              <a:rPr lang="en-US" sz="2400" dirty="0">
                <a:solidFill>
                  <a:srgbClr val="56DBDB"/>
                </a:solidFill>
                <a:latin typeface="Arial" pitchFamily="34" charset="0"/>
                <a:ea typeface="Arial" pitchFamily="34" charset="-122"/>
                <a:cs typeface="Arial" pitchFamily="34" charset="-120"/>
              </a:rPr>
              <a:t>→</a:t>
            </a:r>
            <a:endParaRPr lang="en-US" sz="2400" dirty="0"/>
          </a:p>
        </p:txBody>
      </p:sp>
      <p:sp>
        <p:nvSpPr>
          <p:cNvPr id="9" name="Shape 7"/>
          <p:cNvSpPr/>
          <p:nvPr/>
        </p:nvSpPr>
        <p:spPr>
          <a:xfrm>
            <a:off x="5257800" y="2481759"/>
            <a:ext cx="3581400" cy="1739900"/>
          </a:xfrm>
          <a:prstGeom prst="roundRect">
            <a:avLst>
              <a:gd name="adj" fmla="val 8759"/>
            </a:avLst>
          </a:prstGeom>
          <a:solidFill>
            <a:srgbClr val="FFFFFF">
              <a:alpha val="3000"/>
            </a:srgbClr>
          </a:solidFill>
          <a:ln w="6350">
            <a:solidFill>
              <a:srgbClr val="81E4E1">
                <a:alpha val="37000"/>
              </a:srgbClr>
            </a:solidFill>
            <a:prstDash val="solid"/>
          </a:ln>
        </p:spPr>
      </p:sp>
      <p:sp>
        <p:nvSpPr>
          <p:cNvPr id="10" name="Text 8"/>
          <p:cNvSpPr/>
          <p:nvPr/>
        </p:nvSpPr>
        <p:spPr>
          <a:xfrm>
            <a:off x="5358130" y="2811959"/>
            <a:ext cx="338074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56DBDB"/>
                </a:solidFill>
                <a:latin typeface="Courier New" pitchFamily="34" charset="0"/>
                <a:ea typeface="Courier New" pitchFamily="34" charset="-122"/>
                <a:cs typeface="Courier New" pitchFamily="34" charset="-120"/>
              </a:rPr>
              <a:t>Cluster EMR</a:t>
            </a:r>
            <a:endParaRPr lang="en-US" sz="1800" dirty="0"/>
          </a:p>
        </p:txBody>
      </p:sp>
      <p:sp>
        <p:nvSpPr>
          <p:cNvPr id="11" name="Text 9"/>
          <p:cNvSpPr/>
          <p:nvPr/>
        </p:nvSpPr>
        <p:spPr>
          <a:xfrm>
            <a:off x="5358130" y="3212009"/>
            <a:ext cx="3380740"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latin typeface="Arial" pitchFamily="34" charset="0"/>
                <a:ea typeface="Arial" pitchFamily="34" charset="-122"/>
                <a:cs typeface="Arial" pitchFamily="34" charset="-120"/>
              </a:rPr>
              <a:t>Spark / Hive</a:t>
            </a:r>
            <a:endParaRPr lang="en-US" sz="2100" dirty="0"/>
          </a:p>
        </p:txBody>
      </p:sp>
      <p:sp>
        <p:nvSpPr>
          <p:cNvPr id="12" name="Text 10"/>
          <p:cNvSpPr/>
          <p:nvPr/>
        </p:nvSpPr>
        <p:spPr>
          <a:xfrm>
            <a:off x="5358130" y="3593009"/>
            <a:ext cx="3380740" cy="33655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Arial" pitchFamily="34" charset="0"/>
                <a:ea typeface="Arial" pitchFamily="34" charset="-122"/>
                <a:cs typeface="Arial" pitchFamily="34" charset="-120"/>
              </a:rPr>
              <a:t>traitement</a:t>
            </a:r>
            <a:endParaRPr lang="en-US" sz="1800" dirty="0"/>
          </a:p>
        </p:txBody>
      </p:sp>
      <p:sp>
        <p:nvSpPr>
          <p:cNvPr id="13" name="Text 11"/>
          <p:cNvSpPr/>
          <p:nvPr/>
        </p:nvSpPr>
        <p:spPr>
          <a:xfrm>
            <a:off x="8991600" y="3154859"/>
            <a:ext cx="381000" cy="431800"/>
          </a:xfrm>
          <a:prstGeom prst="rect">
            <a:avLst/>
          </a:prstGeom>
          <a:noFill/>
          <a:ln/>
        </p:spPr>
        <p:txBody>
          <a:bodyPr wrap="square" lIns="25400" tIns="25400" rIns="25400" bIns="25400" rtlCol="0" anchor="t">
            <a:normAutofit/>
          </a:bodyPr>
          <a:lstStyle/>
          <a:p>
            <a:pPr algn="l" indent="0" marL="0">
              <a:buNone/>
            </a:pPr>
            <a:r>
              <a:rPr lang="en-US" sz="2400" dirty="0">
                <a:solidFill>
                  <a:srgbClr val="56DBDB"/>
                </a:solidFill>
                <a:latin typeface="Arial" pitchFamily="34" charset="0"/>
                <a:ea typeface="Arial" pitchFamily="34" charset="-122"/>
                <a:cs typeface="Arial" pitchFamily="34" charset="-120"/>
              </a:rPr>
              <a:t>→</a:t>
            </a:r>
            <a:endParaRPr lang="en-US" sz="2400" dirty="0"/>
          </a:p>
        </p:txBody>
      </p:sp>
      <p:sp>
        <p:nvSpPr>
          <p:cNvPr id="14" name="Shape 12"/>
          <p:cNvSpPr/>
          <p:nvPr/>
        </p:nvSpPr>
        <p:spPr>
          <a:xfrm>
            <a:off x="9448800" y="2481759"/>
            <a:ext cx="3581400" cy="1739900"/>
          </a:xfrm>
          <a:prstGeom prst="roundRect">
            <a:avLst>
              <a:gd name="adj" fmla="val 8759"/>
            </a:avLst>
          </a:prstGeom>
          <a:solidFill>
            <a:srgbClr val="FFFFFF">
              <a:alpha val="3000"/>
            </a:srgbClr>
          </a:solidFill>
          <a:ln w="6350">
            <a:solidFill>
              <a:srgbClr val="FFC48E">
                <a:alpha val="35000"/>
              </a:srgbClr>
            </a:solidFill>
            <a:prstDash val="solid"/>
          </a:ln>
        </p:spPr>
      </p:sp>
      <p:sp>
        <p:nvSpPr>
          <p:cNvPr id="15" name="Text 13"/>
          <p:cNvSpPr/>
          <p:nvPr/>
        </p:nvSpPr>
        <p:spPr>
          <a:xfrm>
            <a:off x="9549130" y="2811959"/>
            <a:ext cx="338074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FFB46E"/>
                </a:solidFill>
                <a:latin typeface="Courier New" pitchFamily="34" charset="0"/>
                <a:ea typeface="Courier New" pitchFamily="34" charset="-122"/>
                <a:cs typeface="Courier New" pitchFamily="34" charset="-120"/>
              </a:rPr>
              <a:t>S3</a:t>
            </a:r>
            <a:endParaRPr lang="en-US" sz="1800" dirty="0"/>
          </a:p>
        </p:txBody>
      </p:sp>
      <p:sp>
        <p:nvSpPr>
          <p:cNvPr id="16" name="Text 14"/>
          <p:cNvSpPr/>
          <p:nvPr/>
        </p:nvSpPr>
        <p:spPr>
          <a:xfrm>
            <a:off x="9549130" y="3212009"/>
            <a:ext cx="3380740"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latin typeface="Arial" pitchFamily="34" charset="0"/>
                <a:ea typeface="Arial" pitchFamily="34" charset="-122"/>
                <a:cs typeface="Arial" pitchFamily="34" charset="-120"/>
              </a:rPr>
              <a:t>résultats</a:t>
            </a:r>
            <a:endParaRPr lang="en-US" sz="2100" dirty="0"/>
          </a:p>
        </p:txBody>
      </p:sp>
      <p:sp>
        <p:nvSpPr>
          <p:cNvPr id="17" name="Text 15"/>
          <p:cNvSpPr/>
          <p:nvPr/>
        </p:nvSpPr>
        <p:spPr>
          <a:xfrm>
            <a:off x="9549130" y="3593009"/>
            <a:ext cx="3380740" cy="33655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Arial" pitchFamily="34" charset="0"/>
                <a:ea typeface="Arial" pitchFamily="34" charset="-122"/>
                <a:cs typeface="Arial" pitchFamily="34" charset="-120"/>
              </a:rPr>
              <a:t>rq5 · rq7 · rq8 · rq9</a:t>
            </a:r>
            <a:endParaRPr lang="en-US" sz="1800" dirty="0"/>
          </a:p>
        </p:txBody>
      </p:sp>
      <p:sp>
        <p:nvSpPr>
          <p:cNvPr id="18" name="Text 16"/>
          <p:cNvSpPr/>
          <p:nvPr/>
        </p:nvSpPr>
        <p:spPr>
          <a:xfrm>
            <a:off x="13182600" y="3154859"/>
            <a:ext cx="381000" cy="431800"/>
          </a:xfrm>
          <a:prstGeom prst="rect">
            <a:avLst/>
          </a:prstGeom>
          <a:noFill/>
          <a:ln/>
        </p:spPr>
        <p:txBody>
          <a:bodyPr wrap="square" lIns="25400" tIns="25400" rIns="25400" bIns="25400" rtlCol="0" anchor="t">
            <a:normAutofit/>
          </a:bodyPr>
          <a:lstStyle/>
          <a:p>
            <a:pPr algn="l" indent="0" marL="0">
              <a:buNone/>
            </a:pPr>
            <a:r>
              <a:rPr lang="en-US" sz="2400" dirty="0">
                <a:solidFill>
                  <a:srgbClr val="56DBDB"/>
                </a:solidFill>
                <a:latin typeface="Arial" pitchFamily="34" charset="0"/>
                <a:ea typeface="Arial" pitchFamily="34" charset="-122"/>
                <a:cs typeface="Arial" pitchFamily="34" charset="-120"/>
              </a:rPr>
              <a:t>→</a:t>
            </a:r>
            <a:endParaRPr lang="en-US" sz="2400" dirty="0"/>
          </a:p>
        </p:txBody>
      </p:sp>
      <p:sp>
        <p:nvSpPr>
          <p:cNvPr id="19" name="Shape 17"/>
          <p:cNvSpPr/>
          <p:nvPr/>
        </p:nvSpPr>
        <p:spPr>
          <a:xfrm>
            <a:off x="13639800" y="2481759"/>
            <a:ext cx="3581400" cy="1739900"/>
          </a:xfrm>
          <a:prstGeom prst="roundRect">
            <a:avLst>
              <a:gd name="adj" fmla="val 8759"/>
            </a:avLst>
          </a:prstGeom>
          <a:solidFill>
            <a:srgbClr val="FFFFFF">
              <a:alpha val="3000"/>
            </a:srgbClr>
          </a:solidFill>
          <a:ln w="6350">
            <a:solidFill>
              <a:srgbClr val="FFFFFF">
                <a:alpha val="10000"/>
              </a:srgbClr>
            </a:solidFill>
            <a:prstDash val="solid"/>
          </a:ln>
        </p:spPr>
      </p:sp>
      <p:sp>
        <p:nvSpPr>
          <p:cNvPr id="20" name="Text 18"/>
          <p:cNvSpPr/>
          <p:nvPr/>
        </p:nvSpPr>
        <p:spPr>
          <a:xfrm>
            <a:off x="13740131" y="2811959"/>
            <a:ext cx="3380740" cy="34290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Courier New" pitchFamily="34" charset="0"/>
                <a:ea typeface="Courier New" pitchFamily="34" charset="-122"/>
                <a:cs typeface="Courier New" pitchFamily="34" charset="-120"/>
              </a:rPr>
              <a:t>QuickSight</a:t>
            </a:r>
            <a:endParaRPr lang="en-US" sz="1800" dirty="0"/>
          </a:p>
        </p:txBody>
      </p:sp>
      <p:sp>
        <p:nvSpPr>
          <p:cNvPr id="21" name="Text 19"/>
          <p:cNvSpPr/>
          <p:nvPr/>
        </p:nvSpPr>
        <p:spPr>
          <a:xfrm>
            <a:off x="13740131" y="3212009"/>
            <a:ext cx="3380740" cy="342900"/>
          </a:xfrm>
          <a:prstGeom prst="rect">
            <a:avLst/>
          </a:prstGeom>
          <a:noFill/>
          <a:ln/>
        </p:spPr>
        <p:txBody>
          <a:bodyPr wrap="square" lIns="25400" tIns="25400" rIns="25400" bIns="25400" rtlCol="0" anchor="t">
            <a:normAutofit/>
          </a:bodyPr>
          <a:lstStyle/>
          <a:p>
            <a:pPr algn="ctr" indent="0" marL="0">
              <a:buNone/>
            </a:pPr>
            <a:r>
              <a:rPr lang="en-US" sz="2100" b="1" dirty="0">
                <a:solidFill>
                  <a:srgbClr val="EEF3F9"/>
                </a:solidFill>
                <a:latin typeface="Arial" pitchFamily="34" charset="0"/>
                <a:ea typeface="Arial" pitchFamily="34" charset="-122"/>
                <a:cs typeface="Arial" pitchFamily="34" charset="-120"/>
              </a:rPr>
              <a:t>Athena</a:t>
            </a:r>
            <a:endParaRPr lang="en-US" sz="2100" dirty="0"/>
          </a:p>
        </p:txBody>
      </p:sp>
      <p:sp>
        <p:nvSpPr>
          <p:cNvPr id="22" name="Text 20"/>
          <p:cNvSpPr/>
          <p:nvPr/>
        </p:nvSpPr>
        <p:spPr>
          <a:xfrm>
            <a:off x="13740131" y="3593009"/>
            <a:ext cx="3380740" cy="336550"/>
          </a:xfrm>
          <a:prstGeom prst="rect">
            <a:avLst/>
          </a:prstGeom>
          <a:noFill/>
          <a:ln/>
        </p:spPr>
        <p:txBody>
          <a:bodyPr wrap="square" lIns="25400" tIns="25400" rIns="25400" bIns="25400" rtlCol="0" anchor="t">
            <a:normAutofit/>
          </a:bodyPr>
          <a:lstStyle/>
          <a:p>
            <a:pPr algn="ctr" indent="0" marL="0">
              <a:buNone/>
            </a:pPr>
            <a:r>
              <a:rPr lang="en-US" sz="1800" dirty="0">
                <a:solidFill>
                  <a:srgbClr val="8EA0B5"/>
                </a:solidFill>
                <a:latin typeface="Arial" pitchFamily="34" charset="0"/>
                <a:ea typeface="Arial" pitchFamily="34" charset="-122"/>
                <a:cs typeface="Arial" pitchFamily="34" charset="-120"/>
              </a:rPr>
              <a:t>analyse &amp; viz</a:t>
            </a:r>
            <a:endParaRPr lang="en-US" sz="1800" dirty="0"/>
          </a:p>
        </p:txBody>
      </p:sp>
      <p:sp>
        <p:nvSpPr>
          <p:cNvPr id="23" name="Shape 21"/>
          <p:cNvSpPr/>
          <p:nvPr/>
        </p:nvSpPr>
        <p:spPr>
          <a:xfrm>
            <a:off x="1066800" y="4716959"/>
            <a:ext cx="25400" cy="914400"/>
          </a:xfrm>
          <a:prstGeom prst="rect">
            <a:avLst/>
          </a:prstGeom>
          <a:solidFill>
            <a:srgbClr val="56DBDB"/>
          </a:solidFill>
          <a:ln/>
        </p:spPr>
      </p:sp>
      <p:sp>
        <p:nvSpPr>
          <p:cNvPr id="24" name="Text 22"/>
          <p:cNvSpPr/>
          <p:nvPr/>
        </p:nvSpPr>
        <p:spPr>
          <a:xfrm>
            <a:off x="1339850" y="4716959"/>
            <a:ext cx="16365982" cy="9525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Stockage </a:t>
            </a:r>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permanent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sur S3, calcul </a:t>
            </a:r>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temporaire et facturé à l'usage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sur EMR : on peut supprimer un cluster sans perdre les données.</a:t>
            </a:r>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ATELIER 07 · EXPLOITATION</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Coûts et bonnes pratiques</a:t>
            </a:r>
            <a:endParaRPr lang="en-US" sz="4800" dirty="0"/>
          </a:p>
        </p:txBody>
      </p:sp>
      <p:sp>
        <p:nvSpPr>
          <p:cNvPr id="4" name="Text 2"/>
          <p:cNvSpPr/>
          <p:nvPr/>
        </p:nvSpPr>
        <p:spPr>
          <a:xfrm>
            <a:off x="1066800" y="4511774"/>
            <a:ext cx="276027" cy="400050"/>
          </a:xfrm>
          <a:prstGeom prst="rect">
            <a:avLst/>
          </a:prstGeom>
          <a:noFill/>
          <a:ln/>
        </p:spPr>
        <p:txBody>
          <a:bodyPr wrap="square" lIns="25400" tIns="25400" rIns="25400" bIns="25400" rtlCol="0" anchor="t">
            <a:normAutofit/>
          </a:bodyPr>
          <a:lstStyle/>
          <a:p>
            <a:pPr algn="l" indent="0" marL="0">
              <a:buNone/>
            </a:pPr>
            <a:r>
              <a:rPr lang="en-US" sz="2100" dirty="0">
                <a:solidFill>
                  <a:srgbClr val="56DBDB"/>
                </a:solidFill>
                <a:latin typeface="Arial" pitchFamily="34" charset="0"/>
                <a:ea typeface="Arial" pitchFamily="34" charset="-122"/>
                <a:cs typeface="Arial" pitchFamily="34" charset="-120"/>
              </a:rPr>
              <a:t>✓</a:t>
            </a:r>
            <a:endParaRPr lang="en-US" sz="2100" dirty="0"/>
          </a:p>
        </p:txBody>
      </p:sp>
      <p:sp>
        <p:nvSpPr>
          <p:cNvPr id="5" name="Text 3"/>
          <p:cNvSpPr/>
          <p:nvPr/>
        </p:nvSpPr>
        <p:spPr>
          <a:xfrm>
            <a:off x="1457127" y="4511774"/>
            <a:ext cx="7721265"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Terminer systématiquement le cluster — un cluster oublié facture même à vide</a:t>
            </a:r>
            <a:endParaRPr lang="en-US" sz="2400" dirty="0"/>
          </a:p>
        </p:txBody>
      </p:sp>
      <p:sp>
        <p:nvSpPr>
          <p:cNvPr id="6" name="Text 4"/>
          <p:cNvSpPr/>
          <p:nvPr/>
        </p:nvSpPr>
        <p:spPr>
          <a:xfrm>
            <a:off x="9334500" y="4511774"/>
            <a:ext cx="276027" cy="400050"/>
          </a:xfrm>
          <a:prstGeom prst="rect">
            <a:avLst/>
          </a:prstGeom>
          <a:noFill/>
          <a:ln/>
        </p:spPr>
        <p:txBody>
          <a:bodyPr wrap="square" lIns="25400" tIns="25400" rIns="25400" bIns="25400" rtlCol="0" anchor="t">
            <a:normAutofit/>
          </a:bodyPr>
          <a:lstStyle/>
          <a:p>
            <a:pPr algn="l" indent="0" marL="0">
              <a:buNone/>
            </a:pPr>
            <a:r>
              <a:rPr lang="en-US" sz="2100" dirty="0">
                <a:solidFill>
                  <a:srgbClr val="56DBDB"/>
                </a:solidFill>
                <a:latin typeface="Arial" pitchFamily="34" charset="0"/>
                <a:ea typeface="Arial" pitchFamily="34" charset="-122"/>
                <a:cs typeface="Arial" pitchFamily="34" charset="-120"/>
              </a:rPr>
              <a:t>✓</a:t>
            </a:r>
            <a:endParaRPr lang="en-US" sz="2100" dirty="0"/>
          </a:p>
        </p:txBody>
      </p:sp>
      <p:sp>
        <p:nvSpPr>
          <p:cNvPr id="7" name="Text 5"/>
          <p:cNvSpPr/>
          <p:nvPr/>
        </p:nvSpPr>
        <p:spPr>
          <a:xfrm>
            <a:off x="9724827" y="4511774"/>
            <a:ext cx="7721265"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Séparer stockage et calcul — garder les données sur S3</a:t>
            </a:r>
            <a:endParaRPr lang="en-US" sz="2400" dirty="0"/>
          </a:p>
        </p:txBody>
      </p:sp>
      <p:sp>
        <p:nvSpPr>
          <p:cNvPr id="8" name="Text 6"/>
          <p:cNvSpPr/>
          <p:nvPr/>
        </p:nvSpPr>
        <p:spPr>
          <a:xfrm>
            <a:off x="1066800" y="5525195"/>
            <a:ext cx="276027" cy="400050"/>
          </a:xfrm>
          <a:prstGeom prst="rect">
            <a:avLst/>
          </a:prstGeom>
          <a:noFill/>
          <a:ln/>
        </p:spPr>
        <p:txBody>
          <a:bodyPr wrap="square" lIns="25400" tIns="25400" rIns="25400" bIns="25400" rtlCol="0" anchor="t">
            <a:normAutofit/>
          </a:bodyPr>
          <a:lstStyle/>
          <a:p>
            <a:pPr algn="l" indent="0" marL="0">
              <a:buNone/>
            </a:pPr>
            <a:r>
              <a:rPr lang="en-US" sz="2100" dirty="0">
                <a:solidFill>
                  <a:srgbClr val="56DBDB"/>
                </a:solidFill>
                <a:latin typeface="Arial" pitchFamily="34" charset="0"/>
                <a:ea typeface="Arial" pitchFamily="34" charset="-122"/>
                <a:cs typeface="Arial" pitchFamily="34" charset="-120"/>
              </a:rPr>
              <a:t>✓</a:t>
            </a:r>
            <a:endParaRPr lang="en-US" sz="2100" dirty="0"/>
          </a:p>
        </p:txBody>
      </p:sp>
      <p:sp>
        <p:nvSpPr>
          <p:cNvPr id="9" name="Text 7"/>
          <p:cNvSpPr/>
          <p:nvPr/>
        </p:nvSpPr>
        <p:spPr>
          <a:xfrm>
            <a:off x="1457127" y="5525195"/>
            <a:ext cx="7721265"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Instances Spot pour les nœuds task quand l'interruption est tolérable</a:t>
            </a:r>
            <a:endParaRPr lang="en-US" sz="2400" dirty="0"/>
          </a:p>
        </p:txBody>
      </p:sp>
      <p:sp>
        <p:nvSpPr>
          <p:cNvPr id="10" name="Text 8"/>
          <p:cNvSpPr/>
          <p:nvPr/>
        </p:nvSpPr>
        <p:spPr>
          <a:xfrm>
            <a:off x="9334500" y="5525195"/>
            <a:ext cx="276027" cy="400050"/>
          </a:xfrm>
          <a:prstGeom prst="rect">
            <a:avLst/>
          </a:prstGeom>
          <a:noFill/>
          <a:ln/>
        </p:spPr>
        <p:txBody>
          <a:bodyPr wrap="square" lIns="25400" tIns="25400" rIns="25400" bIns="25400" rtlCol="0" anchor="t">
            <a:normAutofit/>
          </a:bodyPr>
          <a:lstStyle/>
          <a:p>
            <a:pPr algn="l" indent="0" marL="0">
              <a:buNone/>
            </a:pPr>
            <a:r>
              <a:rPr lang="en-US" sz="2100" dirty="0">
                <a:solidFill>
                  <a:srgbClr val="56DBDB"/>
                </a:solidFill>
                <a:latin typeface="Arial" pitchFamily="34" charset="0"/>
                <a:ea typeface="Arial" pitchFamily="34" charset="-122"/>
                <a:cs typeface="Arial" pitchFamily="34" charset="-120"/>
              </a:rPr>
              <a:t>✓</a:t>
            </a:r>
            <a:endParaRPr lang="en-US" sz="2100" dirty="0"/>
          </a:p>
        </p:txBody>
      </p:sp>
      <p:sp>
        <p:nvSpPr>
          <p:cNvPr id="11" name="Text 9"/>
          <p:cNvSpPr/>
          <p:nvPr/>
        </p:nvSpPr>
        <p:spPr>
          <a:xfrm>
            <a:off x="9724827" y="5525195"/>
            <a:ext cx="7721265"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Dimensionner au juste besoin plutôt que sur-provisionner</a:t>
            </a:r>
            <a:endParaRPr lang="en-US" sz="2400" dirty="0"/>
          </a:p>
        </p:txBody>
      </p:sp>
      <p:sp>
        <p:nvSpPr>
          <p:cNvPr id="12" name="Text 10"/>
          <p:cNvSpPr/>
          <p:nvPr/>
        </p:nvSpPr>
        <p:spPr>
          <a:xfrm>
            <a:off x="1066800" y="6538615"/>
            <a:ext cx="276027" cy="400050"/>
          </a:xfrm>
          <a:prstGeom prst="rect">
            <a:avLst/>
          </a:prstGeom>
          <a:noFill/>
          <a:ln/>
        </p:spPr>
        <p:txBody>
          <a:bodyPr wrap="square" lIns="25400" tIns="25400" rIns="25400" bIns="25400" rtlCol="0" anchor="t">
            <a:normAutofit/>
          </a:bodyPr>
          <a:lstStyle/>
          <a:p>
            <a:pPr algn="l" indent="0" marL="0">
              <a:buNone/>
            </a:pPr>
            <a:r>
              <a:rPr lang="en-US" sz="2100" dirty="0">
                <a:solidFill>
                  <a:srgbClr val="56DBDB"/>
                </a:solidFill>
                <a:latin typeface="Arial" pitchFamily="34" charset="0"/>
                <a:ea typeface="Arial" pitchFamily="34" charset="-122"/>
                <a:cs typeface="Arial" pitchFamily="34" charset="-120"/>
              </a:rPr>
              <a:t>✓</a:t>
            </a:r>
            <a:endParaRPr lang="en-US" sz="2100" dirty="0"/>
          </a:p>
        </p:txBody>
      </p:sp>
      <p:sp>
        <p:nvSpPr>
          <p:cNvPr id="13" name="Text 11"/>
          <p:cNvSpPr/>
          <p:nvPr/>
        </p:nvSpPr>
        <p:spPr>
          <a:xfrm>
            <a:off x="1457127" y="6538615"/>
            <a:ext cx="7721265"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Automatiser via des Steps pour limiter le temps de cluster actif</a:t>
            </a:r>
            <a:endParaRPr lang="en-US" sz="2400" dirty="0"/>
          </a:p>
        </p:txBody>
      </p:sp>
      <p:sp>
        <p:nvSpPr>
          <p:cNvPr id="14" name="Text 12"/>
          <p:cNvSpPr/>
          <p:nvPr/>
        </p:nvSpPr>
        <p:spPr>
          <a:xfrm>
            <a:off x="9334500" y="6538615"/>
            <a:ext cx="235744" cy="387350"/>
          </a:xfrm>
          <a:prstGeom prst="rect">
            <a:avLst/>
          </a:prstGeom>
          <a:noFill/>
          <a:ln/>
        </p:spPr>
        <p:txBody>
          <a:bodyPr wrap="square" lIns="25400" tIns="25400" rIns="25400" bIns="25400" rtlCol="0" anchor="t">
            <a:normAutofit/>
          </a:bodyPr>
          <a:lstStyle/>
          <a:p>
            <a:pPr algn="l" indent="0" marL="0">
              <a:buNone/>
            </a:pPr>
            <a:r>
              <a:rPr lang="en-US" sz="2100" dirty="0">
                <a:solidFill>
                  <a:srgbClr val="FFB46E"/>
                </a:solidFill>
                <a:latin typeface="Arial" pitchFamily="34" charset="0"/>
                <a:ea typeface="Arial" pitchFamily="34" charset="-122"/>
                <a:cs typeface="Arial" pitchFamily="34" charset="-120"/>
              </a:rPr>
              <a:t>$</a:t>
            </a:r>
            <a:endParaRPr lang="en-US" sz="2100" dirty="0"/>
          </a:p>
        </p:txBody>
      </p:sp>
      <p:sp>
        <p:nvSpPr>
          <p:cNvPr id="15" name="Text 13"/>
          <p:cNvSpPr/>
          <p:nvPr/>
        </p:nvSpPr>
        <p:spPr>
          <a:xfrm>
            <a:off x="9684544" y="6538615"/>
            <a:ext cx="7762756" cy="861020"/>
          </a:xfrm>
          <a:prstGeom prst="rect">
            <a:avLst/>
          </a:prstGeom>
          <a:noFill/>
          <a:ln/>
        </p:spPr>
        <p:txBody>
          <a:bodyPr wrap="square" lIns="25400" tIns="25400" rIns="25400" bIns="25400" rtlCol="0" anchor="t">
            <a:normAutofit/>
          </a:bodyPr>
          <a:lstStyle/>
          <a:p>
            <a:pPr algn="l" indent="0" marL="0">
              <a:lnSpc>
                <a:spcPct val="117818"/>
              </a:lnSpc>
              <a:buNone/>
            </a:pPr>
            <a:r>
              <a:rPr lang="en-US" sz="2400" dirty="0">
                <a:solidFill>
                  <a:srgbClr val="EEF3F9"/>
                </a:solidFill>
                <a:latin typeface="Arial" pitchFamily="34" charset="0"/>
                <a:ea typeface="Arial" pitchFamily="34" charset="-122"/>
                <a:cs typeface="Arial" pitchFamily="34" charset="-120"/>
              </a:rPr>
              <a:t>Facturation : EC2 + surcoût EMR à l'heure ; S3 facturé séparément</a:t>
            </a:r>
            <a:endParaRPr lang="en-US" sz="2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C121C"/>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56DBDB"/>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56DBDB"/>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3362430" cy="342900"/>
          </a:xfrm>
          <a:prstGeom prst="rect">
            <a:avLst/>
          </a:prstGeom>
          <a:noFill/>
          <a:ln/>
        </p:spPr>
        <p:txBody>
          <a:bodyPr wrap="square" lIns="0" tIns="0" rIns="0" bIns="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QUIZ · ATELIER 07</a:t>
            </a:r>
            <a:endParaRPr lang="en-US" sz="1800" dirty="0"/>
          </a:p>
        </p:txBody>
      </p:sp>
      <p:sp>
        <p:nvSpPr>
          <p:cNvPr id="5" name="Text 3"/>
          <p:cNvSpPr/>
          <p:nvPr/>
        </p:nvSpPr>
        <p:spPr>
          <a:xfrm>
            <a:off x="1066800" y="1428750"/>
            <a:ext cx="9079236"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Quel est le principal intérêt d'Amazon EMR ?</a:t>
            </a:r>
            <a:endParaRPr lang="en-US" sz="4800" dirty="0"/>
          </a:p>
        </p:txBody>
      </p:sp>
      <p:sp>
        <p:nvSpPr>
          <p:cNvPr id="6" name="Shape 4"/>
          <p:cNvSpPr/>
          <p:nvPr/>
        </p:nvSpPr>
        <p:spPr>
          <a:xfrm>
            <a:off x="1066800" y="3191867"/>
            <a:ext cx="11430000" cy="850900"/>
          </a:xfrm>
          <a:prstGeom prst="roundRect">
            <a:avLst>
              <a:gd name="adj" fmla="val 15672"/>
            </a:avLst>
          </a:prstGeom>
          <a:solidFill>
            <a:srgbClr val="FFFFFF">
              <a:alpha val="3000"/>
            </a:srgbClr>
          </a:solidFill>
          <a:ln w="6350">
            <a:solidFill>
              <a:srgbClr val="FFFFFF">
                <a:alpha val="10000"/>
              </a:srgbClr>
            </a:solidFill>
            <a:prstDash val="solid"/>
          </a:ln>
        </p:spPr>
      </p:sp>
      <p:sp>
        <p:nvSpPr>
          <p:cNvPr id="7" name="Shape 5"/>
          <p:cNvSpPr/>
          <p:nvPr/>
        </p:nvSpPr>
        <p:spPr>
          <a:xfrm>
            <a:off x="1358900" y="3426817"/>
            <a:ext cx="381000" cy="381000"/>
          </a:xfrm>
          <a:prstGeom prst="roundRect">
            <a:avLst>
              <a:gd name="adj" fmla="val 20000"/>
            </a:avLst>
          </a:prstGeom>
          <a:solidFill>
            <a:srgbClr val="FFFFFF">
              <a:alpha val="6000"/>
            </a:srgbClr>
          </a:solidFill>
          <a:ln/>
        </p:spPr>
      </p:sp>
      <p:sp>
        <p:nvSpPr>
          <p:cNvPr id="8" name="Text 6"/>
          <p:cNvSpPr/>
          <p:nvPr/>
        </p:nvSpPr>
        <p:spPr>
          <a:xfrm>
            <a:off x="1320800" y="3426817"/>
            <a:ext cx="457200" cy="419100"/>
          </a:xfrm>
          <a:prstGeom prst="rect">
            <a:avLst/>
          </a:prstGeom>
          <a:noFill/>
          <a:ln/>
        </p:spPr>
        <p:txBody>
          <a:bodyPr wrap="square" lIns="25400" tIns="25400" rIns="25400" bIns="25400" rtlCol="0" anchor="ctr">
            <a:normAutofit/>
          </a:bodyPr>
          <a:lstStyle/>
          <a:p>
            <a:pPr algn="ctr" indent="0" marL="0">
              <a:buNone/>
            </a:pPr>
            <a:r>
              <a:rPr lang="en-US" sz="2175" b="1" dirty="0">
                <a:solidFill>
                  <a:srgbClr val="8EA0B5"/>
                </a:solidFill>
                <a:latin typeface="Arial" pitchFamily="34" charset="0"/>
                <a:ea typeface="Arial" pitchFamily="34" charset="-122"/>
                <a:cs typeface="Arial" pitchFamily="34" charset="-120"/>
              </a:rPr>
              <a:t>A</a:t>
            </a:r>
            <a:endParaRPr lang="en-US" sz="2175" dirty="0"/>
          </a:p>
        </p:txBody>
      </p:sp>
      <p:sp>
        <p:nvSpPr>
          <p:cNvPr id="9" name="Text 7"/>
          <p:cNvSpPr/>
          <p:nvPr/>
        </p:nvSpPr>
        <p:spPr>
          <a:xfrm>
            <a:off x="1930400" y="3436342"/>
            <a:ext cx="2931845" cy="400050"/>
          </a:xfrm>
          <a:prstGeom prst="rect">
            <a:avLst/>
          </a:prstGeom>
          <a:noFill/>
          <a:ln/>
        </p:spPr>
        <p:txBody>
          <a:bodyPr wrap="square" lIns="25400" tIns="25400" rIns="25400" bIns="25400" rtlCol="0" anchor="t">
            <a:normAutofit/>
          </a:bodyPr>
          <a:lstStyle/>
          <a:p>
            <a:pPr algn="l" indent="0" marL="0">
              <a:buNone/>
            </a:pPr>
            <a:r>
              <a:rPr lang="en-US" sz="2175" dirty="0">
                <a:solidFill>
                  <a:srgbClr val="8EA0B5"/>
                </a:solidFill>
                <a:latin typeface="Arial" pitchFamily="34" charset="0"/>
                <a:ea typeface="Arial" pitchFamily="34" charset="-122"/>
                <a:cs typeface="Arial" pitchFamily="34" charset="-120"/>
              </a:rPr>
              <a:t>Héberger un site Web</a:t>
            </a:r>
            <a:endParaRPr lang="en-US" sz="2175" dirty="0"/>
          </a:p>
        </p:txBody>
      </p:sp>
      <p:sp>
        <p:nvSpPr>
          <p:cNvPr id="10" name="Shape 8"/>
          <p:cNvSpPr/>
          <p:nvPr/>
        </p:nvSpPr>
        <p:spPr>
          <a:xfrm>
            <a:off x="1066800" y="4214217"/>
            <a:ext cx="11430000" cy="1193800"/>
          </a:xfrm>
          <a:prstGeom prst="roundRect">
            <a:avLst>
              <a:gd name="adj" fmla="val 11170"/>
            </a:avLst>
          </a:prstGeom>
          <a:solidFill>
            <a:srgbClr val="FFFFFF">
              <a:alpha val="3000"/>
            </a:srgbClr>
          </a:solidFill>
          <a:ln w="6350">
            <a:solidFill>
              <a:srgbClr val="FFFFFF">
                <a:alpha val="10000"/>
              </a:srgbClr>
            </a:solidFill>
            <a:prstDash val="solid"/>
          </a:ln>
        </p:spPr>
      </p:sp>
      <p:sp>
        <p:nvSpPr>
          <p:cNvPr id="11" name="Shape 9"/>
          <p:cNvSpPr/>
          <p:nvPr/>
        </p:nvSpPr>
        <p:spPr>
          <a:xfrm>
            <a:off x="1358900" y="4620617"/>
            <a:ext cx="291604" cy="381000"/>
          </a:xfrm>
          <a:prstGeom prst="roundRect">
            <a:avLst>
              <a:gd name="adj" fmla="val 26131"/>
            </a:avLst>
          </a:prstGeom>
          <a:solidFill>
            <a:srgbClr val="FFFFFF">
              <a:alpha val="6000"/>
            </a:srgbClr>
          </a:solidFill>
          <a:ln/>
        </p:spPr>
      </p:sp>
      <p:sp>
        <p:nvSpPr>
          <p:cNvPr id="12" name="Text 10"/>
          <p:cNvSpPr/>
          <p:nvPr/>
        </p:nvSpPr>
        <p:spPr>
          <a:xfrm>
            <a:off x="1320800" y="4620617"/>
            <a:ext cx="367804" cy="419100"/>
          </a:xfrm>
          <a:prstGeom prst="rect">
            <a:avLst/>
          </a:prstGeom>
          <a:noFill/>
          <a:ln/>
        </p:spPr>
        <p:txBody>
          <a:bodyPr wrap="square" lIns="25400" tIns="25400" rIns="25400" bIns="25400" rtlCol="0" anchor="ctr">
            <a:normAutofit/>
          </a:bodyPr>
          <a:lstStyle/>
          <a:p>
            <a:pPr algn="ctr" indent="0" marL="0">
              <a:buNone/>
            </a:pPr>
            <a:r>
              <a:rPr lang="en-US" sz="2175" b="1" dirty="0">
                <a:solidFill>
                  <a:srgbClr val="8EA0B5"/>
                </a:solidFill>
                <a:latin typeface="Arial" pitchFamily="34" charset="0"/>
                <a:ea typeface="Arial" pitchFamily="34" charset="-122"/>
                <a:cs typeface="Arial" pitchFamily="34" charset="-120"/>
              </a:rPr>
              <a:t>B</a:t>
            </a:r>
            <a:endParaRPr lang="en-US" sz="2175" dirty="0"/>
          </a:p>
        </p:txBody>
      </p:sp>
      <p:sp>
        <p:nvSpPr>
          <p:cNvPr id="13" name="Text 11"/>
          <p:cNvSpPr/>
          <p:nvPr/>
        </p:nvSpPr>
        <p:spPr>
          <a:xfrm>
            <a:off x="1841004" y="4449167"/>
            <a:ext cx="10257855" cy="762000"/>
          </a:xfrm>
          <a:prstGeom prst="rect">
            <a:avLst/>
          </a:prstGeom>
          <a:noFill/>
          <a:ln/>
        </p:spPr>
        <p:txBody>
          <a:bodyPr wrap="square" lIns="25400" tIns="25400" rIns="25400" bIns="25400" rtlCol="0" anchor="t">
            <a:normAutofit/>
          </a:bodyPr>
          <a:lstStyle/>
          <a:p>
            <a:pPr algn="l" indent="0" marL="0">
              <a:buNone/>
            </a:pPr>
            <a:r>
              <a:rPr lang="en-US" sz="2175" dirty="0">
                <a:solidFill>
                  <a:srgbClr val="8EA0B5"/>
                </a:solidFill>
                <a:latin typeface="Arial" pitchFamily="34" charset="0"/>
                <a:ea typeface="Arial" pitchFamily="34" charset="-122"/>
                <a:cs typeface="Arial" pitchFamily="34" charset="-120"/>
              </a:rPr>
              <a:t>Déployer et gérer un cluster Big Data (Spark, Hadoop, Hive) sans configuration manuelle de chaque nœud</a:t>
            </a:r>
            <a:endParaRPr lang="en-US" sz="2175" dirty="0"/>
          </a:p>
        </p:txBody>
      </p:sp>
      <p:sp>
        <p:nvSpPr>
          <p:cNvPr id="14" name="Text 12"/>
          <p:cNvSpPr/>
          <p:nvPr/>
        </p:nvSpPr>
        <p:spPr>
          <a:xfrm>
            <a:off x="11990587" y="4617442"/>
            <a:ext cx="290314" cy="425450"/>
          </a:xfrm>
          <a:prstGeom prst="rect">
            <a:avLst/>
          </a:prstGeom>
          <a:noFill/>
          <a:ln/>
        </p:spPr>
        <p:txBody>
          <a:bodyPr wrap="square" lIns="25400" tIns="25400" rIns="25400" bIns="25400" rtlCol="0" anchor="t">
            <a:normAutofit/>
          </a:bodyPr>
          <a:lstStyle/>
          <a:p>
            <a:pPr algn="l" indent="0" marL="0">
              <a:buNone/>
            </a:pPr>
            <a:r>
              <a:rPr lang="en-US" sz="2250" dirty="0">
                <a:solidFill>
                  <a:srgbClr val="56DBDB"/>
                </a:solidFill>
                <a:latin typeface="Arial" pitchFamily="34" charset="0"/>
                <a:ea typeface="Arial" pitchFamily="34" charset="-122"/>
                <a:cs typeface="Arial" pitchFamily="34" charset="-120"/>
              </a:rPr>
              <a:t>✓</a:t>
            </a:r>
            <a:endParaRPr lang="en-US" sz="2250" dirty="0"/>
          </a:p>
        </p:txBody>
      </p:sp>
      <p:sp>
        <p:nvSpPr>
          <p:cNvPr id="15" name="Shape 13"/>
          <p:cNvSpPr/>
          <p:nvPr/>
        </p:nvSpPr>
        <p:spPr>
          <a:xfrm>
            <a:off x="1066800" y="5579468"/>
            <a:ext cx="11430000" cy="850900"/>
          </a:xfrm>
          <a:prstGeom prst="roundRect">
            <a:avLst>
              <a:gd name="adj" fmla="val 15672"/>
            </a:avLst>
          </a:prstGeom>
          <a:solidFill>
            <a:srgbClr val="FFFFFF">
              <a:alpha val="3000"/>
            </a:srgbClr>
          </a:solidFill>
          <a:ln w="6350">
            <a:solidFill>
              <a:srgbClr val="FFFFFF">
                <a:alpha val="10000"/>
              </a:srgbClr>
            </a:solidFill>
            <a:prstDash val="solid"/>
          </a:ln>
        </p:spPr>
      </p:sp>
      <p:sp>
        <p:nvSpPr>
          <p:cNvPr id="16" name="Shape 14"/>
          <p:cNvSpPr/>
          <p:nvPr/>
        </p:nvSpPr>
        <p:spPr>
          <a:xfrm>
            <a:off x="1358900" y="5814417"/>
            <a:ext cx="381000" cy="381000"/>
          </a:xfrm>
          <a:prstGeom prst="roundRect">
            <a:avLst>
              <a:gd name="adj" fmla="val 20000"/>
            </a:avLst>
          </a:prstGeom>
          <a:solidFill>
            <a:srgbClr val="FFFFFF">
              <a:alpha val="6000"/>
            </a:srgbClr>
          </a:solidFill>
          <a:ln/>
        </p:spPr>
      </p:sp>
      <p:sp>
        <p:nvSpPr>
          <p:cNvPr id="17" name="Text 15"/>
          <p:cNvSpPr/>
          <p:nvPr/>
        </p:nvSpPr>
        <p:spPr>
          <a:xfrm>
            <a:off x="1320800" y="5814417"/>
            <a:ext cx="457200" cy="419100"/>
          </a:xfrm>
          <a:prstGeom prst="rect">
            <a:avLst/>
          </a:prstGeom>
          <a:noFill/>
          <a:ln/>
        </p:spPr>
        <p:txBody>
          <a:bodyPr wrap="square" lIns="25400" tIns="25400" rIns="25400" bIns="25400" rtlCol="0" anchor="ctr">
            <a:normAutofit/>
          </a:bodyPr>
          <a:lstStyle/>
          <a:p>
            <a:pPr algn="ctr" indent="0" marL="0">
              <a:buNone/>
            </a:pPr>
            <a:r>
              <a:rPr lang="en-US" sz="2175" b="1" dirty="0">
                <a:solidFill>
                  <a:srgbClr val="8EA0B5"/>
                </a:solidFill>
                <a:latin typeface="Arial" pitchFamily="34" charset="0"/>
                <a:ea typeface="Arial" pitchFamily="34" charset="-122"/>
                <a:cs typeface="Arial" pitchFamily="34" charset="-120"/>
              </a:rPr>
              <a:t>C</a:t>
            </a:r>
            <a:endParaRPr lang="en-US" sz="2175" dirty="0"/>
          </a:p>
        </p:txBody>
      </p:sp>
      <p:sp>
        <p:nvSpPr>
          <p:cNvPr id="18" name="Text 16"/>
          <p:cNvSpPr/>
          <p:nvPr/>
        </p:nvSpPr>
        <p:spPr>
          <a:xfrm>
            <a:off x="1930400" y="5823942"/>
            <a:ext cx="2504341" cy="400050"/>
          </a:xfrm>
          <a:prstGeom prst="rect">
            <a:avLst/>
          </a:prstGeom>
          <a:noFill/>
          <a:ln/>
        </p:spPr>
        <p:txBody>
          <a:bodyPr wrap="square" lIns="25400" tIns="25400" rIns="25400" bIns="25400" rtlCol="0" anchor="t">
            <a:normAutofit/>
          </a:bodyPr>
          <a:lstStyle/>
          <a:p>
            <a:pPr algn="l" indent="0" marL="0">
              <a:buNone/>
            </a:pPr>
            <a:r>
              <a:rPr lang="en-US" sz="2175" dirty="0">
                <a:solidFill>
                  <a:srgbClr val="8EA0B5"/>
                </a:solidFill>
                <a:latin typeface="Arial" pitchFamily="34" charset="0"/>
                <a:ea typeface="Arial" pitchFamily="34" charset="-122"/>
                <a:cs typeface="Arial" pitchFamily="34" charset="-120"/>
              </a:rPr>
              <a:t>Remplacer Docker</a:t>
            </a:r>
            <a:endParaRPr lang="en-US" sz="2175" dirty="0"/>
          </a:p>
        </p:txBody>
      </p:sp>
      <p:sp>
        <p:nvSpPr>
          <p:cNvPr id="19" name="Shape 17"/>
          <p:cNvSpPr/>
          <p:nvPr/>
        </p:nvSpPr>
        <p:spPr>
          <a:xfrm>
            <a:off x="1066800" y="6601817"/>
            <a:ext cx="11430000" cy="850900"/>
          </a:xfrm>
          <a:prstGeom prst="roundRect">
            <a:avLst>
              <a:gd name="adj" fmla="val 15672"/>
            </a:avLst>
          </a:prstGeom>
          <a:solidFill>
            <a:srgbClr val="FFFFFF">
              <a:alpha val="3000"/>
            </a:srgbClr>
          </a:solidFill>
          <a:ln w="6350">
            <a:solidFill>
              <a:srgbClr val="FFFFFF">
                <a:alpha val="10000"/>
              </a:srgbClr>
            </a:solidFill>
            <a:prstDash val="solid"/>
          </a:ln>
        </p:spPr>
      </p:sp>
      <p:sp>
        <p:nvSpPr>
          <p:cNvPr id="20" name="Shape 18"/>
          <p:cNvSpPr/>
          <p:nvPr/>
        </p:nvSpPr>
        <p:spPr>
          <a:xfrm>
            <a:off x="1358900" y="6836768"/>
            <a:ext cx="381000" cy="381000"/>
          </a:xfrm>
          <a:prstGeom prst="roundRect">
            <a:avLst>
              <a:gd name="adj" fmla="val 20000"/>
            </a:avLst>
          </a:prstGeom>
          <a:solidFill>
            <a:srgbClr val="FFFFFF">
              <a:alpha val="6000"/>
            </a:srgbClr>
          </a:solidFill>
          <a:ln/>
        </p:spPr>
      </p:sp>
      <p:sp>
        <p:nvSpPr>
          <p:cNvPr id="21" name="Text 19"/>
          <p:cNvSpPr/>
          <p:nvPr/>
        </p:nvSpPr>
        <p:spPr>
          <a:xfrm>
            <a:off x="1320800" y="6836768"/>
            <a:ext cx="457200" cy="419100"/>
          </a:xfrm>
          <a:prstGeom prst="rect">
            <a:avLst/>
          </a:prstGeom>
          <a:noFill/>
          <a:ln/>
        </p:spPr>
        <p:txBody>
          <a:bodyPr wrap="square" lIns="25400" tIns="25400" rIns="25400" bIns="25400" rtlCol="0" anchor="ctr">
            <a:normAutofit/>
          </a:bodyPr>
          <a:lstStyle/>
          <a:p>
            <a:pPr algn="ctr" indent="0" marL="0">
              <a:buNone/>
            </a:pPr>
            <a:r>
              <a:rPr lang="en-US" sz="2175" b="1" dirty="0">
                <a:solidFill>
                  <a:srgbClr val="8EA0B5"/>
                </a:solidFill>
                <a:latin typeface="Arial" pitchFamily="34" charset="0"/>
                <a:ea typeface="Arial" pitchFamily="34" charset="-122"/>
                <a:cs typeface="Arial" pitchFamily="34" charset="-120"/>
              </a:rPr>
              <a:t>D</a:t>
            </a:r>
            <a:endParaRPr lang="en-US" sz="2175" dirty="0"/>
          </a:p>
        </p:txBody>
      </p:sp>
      <p:sp>
        <p:nvSpPr>
          <p:cNvPr id="22" name="Text 20"/>
          <p:cNvSpPr/>
          <p:nvPr/>
        </p:nvSpPr>
        <p:spPr>
          <a:xfrm>
            <a:off x="1930400" y="6846293"/>
            <a:ext cx="3619212" cy="400050"/>
          </a:xfrm>
          <a:prstGeom prst="rect">
            <a:avLst/>
          </a:prstGeom>
          <a:noFill/>
          <a:ln/>
        </p:spPr>
        <p:txBody>
          <a:bodyPr wrap="square" lIns="25400" tIns="25400" rIns="25400" bIns="25400" rtlCol="0" anchor="t">
            <a:normAutofit/>
          </a:bodyPr>
          <a:lstStyle/>
          <a:p>
            <a:pPr algn="l" indent="0" marL="0">
              <a:buNone/>
            </a:pPr>
            <a:r>
              <a:rPr lang="en-US" sz="2175" dirty="0">
                <a:solidFill>
                  <a:srgbClr val="8EA0B5"/>
                </a:solidFill>
                <a:latin typeface="Arial" pitchFamily="34" charset="0"/>
                <a:ea typeface="Arial" pitchFamily="34" charset="-122"/>
                <a:cs typeface="Arial" pitchFamily="34" charset="-120"/>
              </a:rPr>
              <a:t>Créer des utilisateurs AWS</a:t>
            </a:r>
            <a:endParaRPr lang="en-US" sz="2175"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C121C"/>
        </a:solidFill>
      </p:bgPr>
    </p:bg>
    <p:spTree>
      <p:nvGrpSpPr>
        <p:cNvPr id="1" name=""/>
        <p:cNvGrpSpPr/>
        <p:nvPr/>
      </p:nvGrpSpPr>
      <p:grpSpPr>
        <a:xfrm>
          <a:off x="0" y="0"/>
          <a:ext cx="0" cy="0"/>
          <a:chOff x="0" y="0"/>
          <a:chExt cx="0" cy="0"/>
        </a:xfrm>
      </p:grpSpPr>
      <p:sp>
        <p:nvSpPr>
          <p:cNvPr id="2" name="Shape 0"/>
          <p:cNvSpPr/>
          <p:nvPr/>
        </p:nvSpPr>
        <p:spPr>
          <a:xfrm>
            <a:off x="1066800" y="819150"/>
            <a:ext cx="419100" cy="419100"/>
          </a:xfrm>
          <a:prstGeom prst="roundRect">
            <a:avLst>
              <a:gd name="adj" fmla="val 27273"/>
            </a:avLst>
          </a:prstGeom>
          <a:ln w="19050">
            <a:solidFill>
              <a:srgbClr val="56DBDB"/>
            </a:solidFill>
            <a:prstDash val="solid"/>
          </a:ln>
        </p:spPr>
      </p:sp>
      <p:sp>
        <p:nvSpPr>
          <p:cNvPr id="3" name="Text 1"/>
          <p:cNvSpPr/>
          <p:nvPr/>
        </p:nvSpPr>
        <p:spPr>
          <a:xfrm>
            <a:off x="1047750" y="838200"/>
            <a:ext cx="457200" cy="419100"/>
          </a:xfrm>
          <a:prstGeom prst="rect">
            <a:avLst/>
          </a:prstGeom>
          <a:noFill/>
          <a:ln/>
        </p:spPr>
        <p:txBody>
          <a:bodyPr wrap="square" lIns="25400" tIns="25400" rIns="25400" bIns="25400" rtlCol="0" anchor="ctr">
            <a:normAutofit/>
          </a:bodyPr>
          <a:lstStyle/>
          <a:p>
            <a:pPr algn="ctr" indent="0" marL="0">
              <a:buNone/>
            </a:pPr>
            <a:r>
              <a:rPr lang="en-US" sz="1950" spc="432" kern="0" dirty="0">
                <a:solidFill>
                  <a:srgbClr val="56DBDB"/>
                </a:solidFill>
                <a:latin typeface="Courier New" pitchFamily="34" charset="0"/>
                <a:ea typeface="Courier New" pitchFamily="34" charset="-122"/>
                <a:cs typeface="Courier New" pitchFamily="34" charset="-120"/>
              </a:rPr>
              <a:t>?</a:t>
            </a:r>
            <a:endParaRPr lang="en-US" sz="1950" dirty="0"/>
          </a:p>
        </p:txBody>
      </p:sp>
      <p:sp>
        <p:nvSpPr>
          <p:cNvPr id="4" name="Text 2"/>
          <p:cNvSpPr/>
          <p:nvPr/>
        </p:nvSpPr>
        <p:spPr>
          <a:xfrm>
            <a:off x="1638300" y="876300"/>
            <a:ext cx="4549122" cy="342900"/>
          </a:xfrm>
          <a:prstGeom prst="rect">
            <a:avLst/>
          </a:prstGeom>
          <a:noFill/>
          <a:ln/>
        </p:spPr>
        <p:txBody>
          <a:bodyPr wrap="square" lIns="0" tIns="0" rIns="0" bIns="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CORRECTION · ATELIER 07</a:t>
            </a:r>
            <a:endParaRPr lang="en-US" sz="1800" dirty="0"/>
          </a:p>
        </p:txBody>
      </p:sp>
      <p:sp>
        <p:nvSpPr>
          <p:cNvPr id="5" name="Text 3"/>
          <p:cNvSpPr/>
          <p:nvPr/>
        </p:nvSpPr>
        <p:spPr>
          <a:xfrm>
            <a:off x="1066800" y="1428750"/>
            <a:ext cx="9079236"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Quel est le principal intérêt d'Amazon EMR ?</a:t>
            </a:r>
            <a:endParaRPr lang="en-US" sz="4800" dirty="0"/>
          </a:p>
        </p:txBody>
      </p:sp>
      <p:sp>
        <p:nvSpPr>
          <p:cNvPr id="6" name="Shape 4"/>
          <p:cNvSpPr/>
          <p:nvPr/>
        </p:nvSpPr>
        <p:spPr>
          <a:xfrm>
            <a:off x="1066800" y="3191867"/>
            <a:ext cx="11430000" cy="850900"/>
          </a:xfrm>
          <a:prstGeom prst="roundRect">
            <a:avLst>
              <a:gd name="adj" fmla="val 15672"/>
            </a:avLst>
          </a:prstGeom>
          <a:solidFill>
            <a:srgbClr val="FFFFFF">
              <a:alpha val="3000"/>
            </a:srgbClr>
          </a:solidFill>
          <a:ln w="6350">
            <a:solidFill>
              <a:srgbClr val="FFFFFF">
                <a:alpha val="10000"/>
              </a:srgbClr>
            </a:solidFill>
            <a:prstDash val="solid"/>
          </a:ln>
        </p:spPr>
      </p:sp>
      <p:sp>
        <p:nvSpPr>
          <p:cNvPr id="7" name="Shape 5"/>
          <p:cNvSpPr/>
          <p:nvPr/>
        </p:nvSpPr>
        <p:spPr>
          <a:xfrm>
            <a:off x="1358900" y="3426817"/>
            <a:ext cx="381000" cy="381000"/>
          </a:xfrm>
          <a:prstGeom prst="roundRect">
            <a:avLst>
              <a:gd name="adj" fmla="val 20000"/>
            </a:avLst>
          </a:prstGeom>
          <a:solidFill>
            <a:srgbClr val="FFFFFF">
              <a:alpha val="6000"/>
            </a:srgbClr>
          </a:solidFill>
          <a:ln/>
        </p:spPr>
      </p:sp>
      <p:sp>
        <p:nvSpPr>
          <p:cNvPr id="8" name="Text 6"/>
          <p:cNvSpPr/>
          <p:nvPr/>
        </p:nvSpPr>
        <p:spPr>
          <a:xfrm>
            <a:off x="1320800" y="3426817"/>
            <a:ext cx="457200" cy="419100"/>
          </a:xfrm>
          <a:prstGeom prst="rect">
            <a:avLst/>
          </a:prstGeom>
          <a:noFill/>
          <a:ln/>
        </p:spPr>
        <p:txBody>
          <a:bodyPr wrap="square" lIns="25400" tIns="25400" rIns="25400" bIns="25400" rtlCol="0" anchor="ctr">
            <a:normAutofit/>
          </a:bodyPr>
          <a:lstStyle/>
          <a:p>
            <a:pPr algn="ctr" indent="0" marL="0">
              <a:buNone/>
            </a:pPr>
            <a:r>
              <a:rPr lang="en-US" sz="2175" b="1" dirty="0">
                <a:solidFill>
                  <a:srgbClr val="8EA0B5"/>
                </a:solidFill>
                <a:latin typeface="Arial" pitchFamily="34" charset="0"/>
                <a:ea typeface="Arial" pitchFamily="34" charset="-122"/>
                <a:cs typeface="Arial" pitchFamily="34" charset="-120"/>
              </a:rPr>
              <a:t>A</a:t>
            </a:r>
            <a:endParaRPr lang="en-US" sz="2175" dirty="0"/>
          </a:p>
        </p:txBody>
      </p:sp>
      <p:sp>
        <p:nvSpPr>
          <p:cNvPr id="9" name="Text 7"/>
          <p:cNvSpPr/>
          <p:nvPr/>
        </p:nvSpPr>
        <p:spPr>
          <a:xfrm>
            <a:off x="1930400" y="3436342"/>
            <a:ext cx="2931845" cy="400050"/>
          </a:xfrm>
          <a:prstGeom prst="rect">
            <a:avLst/>
          </a:prstGeom>
          <a:noFill/>
          <a:ln/>
        </p:spPr>
        <p:txBody>
          <a:bodyPr wrap="square" lIns="25400" tIns="25400" rIns="25400" bIns="25400" rtlCol="0" anchor="t">
            <a:normAutofit/>
          </a:bodyPr>
          <a:lstStyle/>
          <a:p>
            <a:pPr algn="l" indent="0" marL="0">
              <a:buNone/>
            </a:pPr>
            <a:r>
              <a:rPr lang="en-US" sz="2175" dirty="0">
                <a:solidFill>
                  <a:srgbClr val="8EA0B5"/>
                </a:solidFill>
                <a:latin typeface="Arial" pitchFamily="34" charset="0"/>
                <a:ea typeface="Arial" pitchFamily="34" charset="-122"/>
                <a:cs typeface="Arial" pitchFamily="34" charset="-120"/>
              </a:rPr>
              <a:t>Héberger un site Web</a:t>
            </a:r>
            <a:endParaRPr lang="en-US" sz="2175" dirty="0"/>
          </a:p>
        </p:txBody>
      </p:sp>
      <p:sp>
        <p:nvSpPr>
          <p:cNvPr id="10" name="Shape 8"/>
          <p:cNvSpPr/>
          <p:nvPr/>
        </p:nvSpPr>
        <p:spPr>
          <a:xfrm>
            <a:off x="1066800" y="4214217"/>
            <a:ext cx="11430000" cy="1193800"/>
          </a:xfrm>
          <a:prstGeom prst="roundRect">
            <a:avLst>
              <a:gd name="adj" fmla="val 11170"/>
            </a:avLst>
          </a:prstGeom>
          <a:solidFill>
            <a:srgbClr val="FFFFFF">
              <a:alpha val="3000"/>
            </a:srgbClr>
          </a:solidFill>
          <a:ln w="6350">
            <a:solidFill>
              <a:srgbClr val="73E0E0">
                <a:alpha val="48000"/>
              </a:srgbClr>
            </a:solidFill>
            <a:prstDash val="solid"/>
          </a:ln>
        </p:spPr>
      </p:sp>
      <p:sp>
        <p:nvSpPr>
          <p:cNvPr id="11" name="Shape 9"/>
          <p:cNvSpPr/>
          <p:nvPr/>
        </p:nvSpPr>
        <p:spPr>
          <a:xfrm>
            <a:off x="1358900" y="4620617"/>
            <a:ext cx="291604" cy="381000"/>
          </a:xfrm>
          <a:prstGeom prst="roundRect">
            <a:avLst>
              <a:gd name="adj" fmla="val 26131"/>
            </a:avLst>
          </a:prstGeom>
          <a:solidFill>
            <a:srgbClr val="56DBDB"/>
          </a:solidFill>
          <a:ln/>
        </p:spPr>
      </p:sp>
      <p:sp>
        <p:nvSpPr>
          <p:cNvPr id="12" name="Text 10"/>
          <p:cNvSpPr/>
          <p:nvPr/>
        </p:nvSpPr>
        <p:spPr>
          <a:xfrm>
            <a:off x="1320800" y="4620617"/>
            <a:ext cx="367804" cy="419100"/>
          </a:xfrm>
          <a:prstGeom prst="rect">
            <a:avLst/>
          </a:prstGeom>
          <a:noFill/>
          <a:ln/>
        </p:spPr>
        <p:txBody>
          <a:bodyPr wrap="square" lIns="25400" tIns="25400" rIns="25400" bIns="25400" rtlCol="0" anchor="ctr">
            <a:normAutofit/>
          </a:bodyPr>
          <a:lstStyle/>
          <a:p>
            <a:pPr algn="ctr" indent="0" marL="0">
              <a:buNone/>
            </a:pPr>
            <a:r>
              <a:rPr lang="en-US" sz="2175" b="1" dirty="0">
                <a:solidFill>
                  <a:srgbClr val="04070C"/>
                </a:solidFill>
                <a:latin typeface="Arial" pitchFamily="34" charset="0"/>
                <a:ea typeface="Arial" pitchFamily="34" charset="-122"/>
                <a:cs typeface="Arial" pitchFamily="34" charset="-120"/>
              </a:rPr>
              <a:t>B</a:t>
            </a:r>
            <a:endParaRPr lang="en-US" sz="2175" dirty="0"/>
          </a:p>
        </p:txBody>
      </p:sp>
      <p:sp>
        <p:nvSpPr>
          <p:cNvPr id="13" name="Text 11"/>
          <p:cNvSpPr/>
          <p:nvPr/>
        </p:nvSpPr>
        <p:spPr>
          <a:xfrm>
            <a:off x="1841004" y="4449167"/>
            <a:ext cx="10257855" cy="762000"/>
          </a:xfrm>
          <a:prstGeom prst="rect">
            <a:avLst/>
          </a:prstGeom>
          <a:noFill/>
          <a:ln/>
        </p:spPr>
        <p:txBody>
          <a:bodyPr wrap="square" lIns="25400" tIns="25400" rIns="25400" bIns="25400" rtlCol="0" anchor="t">
            <a:normAutofit/>
          </a:bodyPr>
          <a:lstStyle/>
          <a:p>
            <a:pPr algn="l" indent="0" marL="0">
              <a:buNone/>
            </a:pPr>
            <a:r>
              <a:rPr lang="en-US" sz="2175" dirty="0">
                <a:solidFill>
                  <a:srgbClr val="EEF3F9"/>
                </a:solidFill>
                <a:latin typeface="Arial" pitchFamily="34" charset="0"/>
                <a:ea typeface="Arial" pitchFamily="34" charset="-122"/>
                <a:cs typeface="Arial" pitchFamily="34" charset="-120"/>
              </a:rPr>
              <a:t>Déployer et gérer un cluster Big Data (Spark, Hadoop, Hive) sans configuration manuelle de chaque nœud</a:t>
            </a:r>
            <a:endParaRPr lang="en-US" sz="2175" dirty="0"/>
          </a:p>
        </p:txBody>
      </p:sp>
      <p:sp>
        <p:nvSpPr>
          <p:cNvPr id="14" name="Text 12"/>
          <p:cNvSpPr/>
          <p:nvPr/>
        </p:nvSpPr>
        <p:spPr>
          <a:xfrm>
            <a:off x="11990587" y="4617442"/>
            <a:ext cx="290314" cy="425450"/>
          </a:xfrm>
          <a:prstGeom prst="rect">
            <a:avLst/>
          </a:prstGeom>
          <a:noFill/>
          <a:ln/>
        </p:spPr>
        <p:txBody>
          <a:bodyPr wrap="square" lIns="25400" tIns="25400" rIns="25400" bIns="25400" rtlCol="0" anchor="t">
            <a:normAutofit/>
          </a:bodyPr>
          <a:lstStyle/>
          <a:p>
            <a:pPr algn="l" indent="0" marL="0">
              <a:buNone/>
            </a:pPr>
            <a:r>
              <a:rPr lang="en-US" sz="2250" dirty="0">
                <a:solidFill>
                  <a:srgbClr val="56DBDB"/>
                </a:solidFill>
                <a:latin typeface="Arial" pitchFamily="34" charset="0"/>
                <a:ea typeface="Arial" pitchFamily="34" charset="-122"/>
                <a:cs typeface="Arial" pitchFamily="34" charset="-120"/>
              </a:rPr>
              <a:t>✓</a:t>
            </a:r>
            <a:endParaRPr lang="en-US" sz="2250" dirty="0"/>
          </a:p>
        </p:txBody>
      </p:sp>
      <p:sp>
        <p:nvSpPr>
          <p:cNvPr id="15" name="Shape 13"/>
          <p:cNvSpPr/>
          <p:nvPr/>
        </p:nvSpPr>
        <p:spPr>
          <a:xfrm>
            <a:off x="1066800" y="5579468"/>
            <a:ext cx="11430000" cy="850900"/>
          </a:xfrm>
          <a:prstGeom prst="roundRect">
            <a:avLst>
              <a:gd name="adj" fmla="val 15672"/>
            </a:avLst>
          </a:prstGeom>
          <a:solidFill>
            <a:srgbClr val="FFFFFF">
              <a:alpha val="3000"/>
            </a:srgbClr>
          </a:solidFill>
          <a:ln w="6350">
            <a:solidFill>
              <a:srgbClr val="FFFFFF">
                <a:alpha val="10000"/>
              </a:srgbClr>
            </a:solidFill>
            <a:prstDash val="solid"/>
          </a:ln>
        </p:spPr>
      </p:sp>
      <p:sp>
        <p:nvSpPr>
          <p:cNvPr id="16" name="Shape 14"/>
          <p:cNvSpPr/>
          <p:nvPr/>
        </p:nvSpPr>
        <p:spPr>
          <a:xfrm>
            <a:off x="1358900" y="5814417"/>
            <a:ext cx="381000" cy="381000"/>
          </a:xfrm>
          <a:prstGeom prst="roundRect">
            <a:avLst>
              <a:gd name="adj" fmla="val 20000"/>
            </a:avLst>
          </a:prstGeom>
          <a:solidFill>
            <a:srgbClr val="FFFFFF">
              <a:alpha val="6000"/>
            </a:srgbClr>
          </a:solidFill>
          <a:ln/>
        </p:spPr>
      </p:sp>
      <p:sp>
        <p:nvSpPr>
          <p:cNvPr id="17" name="Text 15"/>
          <p:cNvSpPr/>
          <p:nvPr/>
        </p:nvSpPr>
        <p:spPr>
          <a:xfrm>
            <a:off x="1320800" y="5814417"/>
            <a:ext cx="457200" cy="419100"/>
          </a:xfrm>
          <a:prstGeom prst="rect">
            <a:avLst/>
          </a:prstGeom>
          <a:noFill/>
          <a:ln/>
        </p:spPr>
        <p:txBody>
          <a:bodyPr wrap="square" lIns="25400" tIns="25400" rIns="25400" bIns="25400" rtlCol="0" anchor="ctr">
            <a:normAutofit/>
          </a:bodyPr>
          <a:lstStyle/>
          <a:p>
            <a:pPr algn="ctr" indent="0" marL="0">
              <a:buNone/>
            </a:pPr>
            <a:r>
              <a:rPr lang="en-US" sz="2175" b="1" dirty="0">
                <a:solidFill>
                  <a:srgbClr val="8EA0B5"/>
                </a:solidFill>
                <a:latin typeface="Arial" pitchFamily="34" charset="0"/>
                <a:ea typeface="Arial" pitchFamily="34" charset="-122"/>
                <a:cs typeface="Arial" pitchFamily="34" charset="-120"/>
              </a:rPr>
              <a:t>C</a:t>
            </a:r>
            <a:endParaRPr lang="en-US" sz="2175" dirty="0"/>
          </a:p>
        </p:txBody>
      </p:sp>
      <p:sp>
        <p:nvSpPr>
          <p:cNvPr id="18" name="Text 16"/>
          <p:cNvSpPr/>
          <p:nvPr/>
        </p:nvSpPr>
        <p:spPr>
          <a:xfrm>
            <a:off x="1930400" y="5823942"/>
            <a:ext cx="2504341" cy="400050"/>
          </a:xfrm>
          <a:prstGeom prst="rect">
            <a:avLst/>
          </a:prstGeom>
          <a:noFill/>
          <a:ln/>
        </p:spPr>
        <p:txBody>
          <a:bodyPr wrap="square" lIns="25400" tIns="25400" rIns="25400" bIns="25400" rtlCol="0" anchor="t">
            <a:normAutofit/>
          </a:bodyPr>
          <a:lstStyle/>
          <a:p>
            <a:pPr algn="l" indent="0" marL="0">
              <a:buNone/>
            </a:pPr>
            <a:r>
              <a:rPr lang="en-US" sz="2175" dirty="0">
                <a:solidFill>
                  <a:srgbClr val="8EA0B5"/>
                </a:solidFill>
                <a:latin typeface="Arial" pitchFamily="34" charset="0"/>
                <a:ea typeface="Arial" pitchFamily="34" charset="-122"/>
                <a:cs typeface="Arial" pitchFamily="34" charset="-120"/>
              </a:rPr>
              <a:t>Remplacer Docker</a:t>
            </a:r>
            <a:endParaRPr lang="en-US" sz="2175" dirty="0"/>
          </a:p>
        </p:txBody>
      </p:sp>
      <p:sp>
        <p:nvSpPr>
          <p:cNvPr id="19" name="Shape 17"/>
          <p:cNvSpPr/>
          <p:nvPr/>
        </p:nvSpPr>
        <p:spPr>
          <a:xfrm>
            <a:off x="1066800" y="6601817"/>
            <a:ext cx="11430000" cy="850900"/>
          </a:xfrm>
          <a:prstGeom prst="roundRect">
            <a:avLst>
              <a:gd name="adj" fmla="val 15672"/>
            </a:avLst>
          </a:prstGeom>
          <a:solidFill>
            <a:srgbClr val="FFFFFF">
              <a:alpha val="3000"/>
            </a:srgbClr>
          </a:solidFill>
          <a:ln w="6350">
            <a:solidFill>
              <a:srgbClr val="FFFFFF">
                <a:alpha val="10000"/>
              </a:srgbClr>
            </a:solidFill>
            <a:prstDash val="solid"/>
          </a:ln>
        </p:spPr>
      </p:sp>
      <p:sp>
        <p:nvSpPr>
          <p:cNvPr id="20" name="Shape 18"/>
          <p:cNvSpPr/>
          <p:nvPr/>
        </p:nvSpPr>
        <p:spPr>
          <a:xfrm>
            <a:off x="1358900" y="6836768"/>
            <a:ext cx="381000" cy="381000"/>
          </a:xfrm>
          <a:prstGeom prst="roundRect">
            <a:avLst>
              <a:gd name="adj" fmla="val 20000"/>
            </a:avLst>
          </a:prstGeom>
          <a:solidFill>
            <a:srgbClr val="FFFFFF">
              <a:alpha val="6000"/>
            </a:srgbClr>
          </a:solidFill>
          <a:ln/>
        </p:spPr>
      </p:sp>
      <p:sp>
        <p:nvSpPr>
          <p:cNvPr id="21" name="Text 19"/>
          <p:cNvSpPr/>
          <p:nvPr/>
        </p:nvSpPr>
        <p:spPr>
          <a:xfrm>
            <a:off x="1320800" y="6836768"/>
            <a:ext cx="457200" cy="419100"/>
          </a:xfrm>
          <a:prstGeom prst="rect">
            <a:avLst/>
          </a:prstGeom>
          <a:noFill/>
          <a:ln/>
        </p:spPr>
        <p:txBody>
          <a:bodyPr wrap="square" lIns="25400" tIns="25400" rIns="25400" bIns="25400" rtlCol="0" anchor="ctr">
            <a:normAutofit/>
          </a:bodyPr>
          <a:lstStyle/>
          <a:p>
            <a:pPr algn="ctr" indent="0" marL="0">
              <a:buNone/>
            </a:pPr>
            <a:r>
              <a:rPr lang="en-US" sz="2175" b="1" dirty="0">
                <a:solidFill>
                  <a:srgbClr val="8EA0B5"/>
                </a:solidFill>
                <a:latin typeface="Arial" pitchFamily="34" charset="0"/>
                <a:ea typeface="Arial" pitchFamily="34" charset="-122"/>
                <a:cs typeface="Arial" pitchFamily="34" charset="-120"/>
              </a:rPr>
              <a:t>D</a:t>
            </a:r>
            <a:endParaRPr lang="en-US" sz="2175" dirty="0"/>
          </a:p>
        </p:txBody>
      </p:sp>
      <p:sp>
        <p:nvSpPr>
          <p:cNvPr id="22" name="Text 20"/>
          <p:cNvSpPr/>
          <p:nvPr/>
        </p:nvSpPr>
        <p:spPr>
          <a:xfrm>
            <a:off x="1930400" y="6846293"/>
            <a:ext cx="3619212" cy="400050"/>
          </a:xfrm>
          <a:prstGeom prst="rect">
            <a:avLst/>
          </a:prstGeom>
          <a:noFill/>
          <a:ln/>
        </p:spPr>
        <p:txBody>
          <a:bodyPr wrap="square" lIns="25400" tIns="25400" rIns="25400" bIns="25400" rtlCol="0" anchor="t">
            <a:normAutofit/>
          </a:bodyPr>
          <a:lstStyle/>
          <a:p>
            <a:pPr algn="l" indent="0" marL="0">
              <a:buNone/>
            </a:pPr>
            <a:r>
              <a:rPr lang="en-US" sz="2175" dirty="0">
                <a:solidFill>
                  <a:srgbClr val="8EA0B5"/>
                </a:solidFill>
                <a:latin typeface="Arial" pitchFamily="34" charset="0"/>
                <a:ea typeface="Arial" pitchFamily="34" charset="-122"/>
                <a:cs typeface="Arial" pitchFamily="34" charset="-120"/>
              </a:rPr>
              <a:t>Créer des utilisateurs AWS</a:t>
            </a:r>
            <a:endParaRPr lang="en-US" sz="2175"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A0E15"/>
        </a:solidFill>
      </p:bgPr>
    </p:bg>
    <p:spTree>
      <p:nvGrpSpPr>
        <p:cNvPr id="1" name=""/>
        <p:cNvGrpSpPr/>
        <p:nvPr/>
      </p:nvGrpSpPr>
      <p:grpSpPr>
        <a:xfrm>
          <a:off x="0" y="0"/>
          <a:ext cx="0" cy="0"/>
          <a:chOff x="0" y="0"/>
          <a:chExt cx="0" cy="0"/>
        </a:xfrm>
      </p:grpSpPr>
      <p:sp>
        <p:nvSpPr>
          <p:cNvPr id="2" name="Text 0"/>
          <p:cNvSpPr/>
          <p:nvPr/>
        </p:nvSpPr>
        <p:spPr>
          <a:xfrm>
            <a:off x="1066800" y="819150"/>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SYNTHÈSE</a:t>
            </a:r>
            <a:endParaRPr lang="en-US" sz="1800" dirty="0"/>
          </a:p>
        </p:txBody>
      </p:sp>
      <p:sp>
        <p:nvSpPr>
          <p:cNvPr id="3" name="Text 1"/>
          <p:cNvSpPr/>
          <p:nvPr/>
        </p:nvSpPr>
        <p:spPr>
          <a:xfrm>
            <a:off x="1066800" y="1314450"/>
            <a:ext cx="17769840" cy="672009"/>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pipeline Big Data complet sur AWS</a:t>
            </a:r>
            <a:endParaRPr lang="en-US" sz="4800" dirty="0"/>
          </a:p>
        </p:txBody>
      </p:sp>
      <p:sp>
        <p:nvSpPr>
          <p:cNvPr id="4" name="Text 2"/>
          <p:cNvSpPr/>
          <p:nvPr/>
        </p:nvSpPr>
        <p:spPr>
          <a:xfrm>
            <a:off x="1066800" y="4673005"/>
            <a:ext cx="4953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01</a:t>
            </a:r>
            <a:endParaRPr lang="en-US" sz="1950" dirty="0"/>
          </a:p>
        </p:txBody>
      </p:sp>
      <p:sp>
        <p:nvSpPr>
          <p:cNvPr id="5" name="Text 3"/>
          <p:cNvSpPr/>
          <p:nvPr/>
        </p:nvSpPr>
        <p:spPr>
          <a:xfrm>
            <a:off x="1695450" y="4663480"/>
            <a:ext cx="3429308"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Données brutes sur S3</a:t>
            </a:r>
            <a:endParaRPr lang="en-US" sz="2400" dirty="0"/>
          </a:p>
        </p:txBody>
      </p:sp>
      <p:sp>
        <p:nvSpPr>
          <p:cNvPr id="6" name="Text 4"/>
          <p:cNvSpPr/>
          <p:nvPr/>
        </p:nvSpPr>
        <p:spPr>
          <a:xfrm>
            <a:off x="5022553" y="4669830"/>
            <a:ext cx="5384344"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purchases.txt, indépendant de tout cluster</a:t>
            </a:r>
            <a:endParaRPr lang="en-US" sz="2025" dirty="0"/>
          </a:p>
        </p:txBody>
      </p:sp>
      <p:sp>
        <p:nvSpPr>
          <p:cNvPr id="7" name="Text 5"/>
          <p:cNvSpPr/>
          <p:nvPr/>
        </p:nvSpPr>
        <p:spPr>
          <a:xfrm>
            <a:off x="1066800" y="5231805"/>
            <a:ext cx="4953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02</a:t>
            </a:r>
            <a:endParaRPr lang="en-US" sz="1950" dirty="0"/>
          </a:p>
        </p:txBody>
      </p:sp>
      <p:sp>
        <p:nvSpPr>
          <p:cNvPr id="8" name="Text 6"/>
          <p:cNvSpPr/>
          <p:nvPr/>
        </p:nvSpPr>
        <p:spPr>
          <a:xfrm>
            <a:off x="1695450" y="5222280"/>
            <a:ext cx="4025215"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Cluster EMR à la demande</a:t>
            </a:r>
            <a:endParaRPr lang="en-US" sz="2400" dirty="0"/>
          </a:p>
        </p:txBody>
      </p:sp>
      <p:sp>
        <p:nvSpPr>
          <p:cNvPr id="9" name="Text 7"/>
          <p:cNvSpPr/>
          <p:nvPr/>
        </p:nvSpPr>
        <p:spPr>
          <a:xfrm>
            <a:off x="5564287" y="5228630"/>
            <a:ext cx="4783743"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Spark ou Hive exécutent le traitement</a:t>
            </a:r>
            <a:endParaRPr lang="en-US" sz="2025" dirty="0"/>
          </a:p>
        </p:txBody>
      </p:sp>
      <p:sp>
        <p:nvSpPr>
          <p:cNvPr id="10" name="Text 8"/>
          <p:cNvSpPr/>
          <p:nvPr/>
        </p:nvSpPr>
        <p:spPr>
          <a:xfrm>
            <a:off x="1066800" y="5790605"/>
            <a:ext cx="4953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03</a:t>
            </a:r>
            <a:endParaRPr lang="en-US" sz="1950" dirty="0"/>
          </a:p>
        </p:txBody>
      </p:sp>
      <p:sp>
        <p:nvSpPr>
          <p:cNvPr id="11" name="Text 9"/>
          <p:cNvSpPr/>
          <p:nvPr/>
        </p:nvSpPr>
        <p:spPr>
          <a:xfrm>
            <a:off x="1695450" y="5781080"/>
            <a:ext cx="3652064"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Résultats réécrits sur S3</a:t>
            </a:r>
            <a:endParaRPr lang="en-US" sz="2400" dirty="0"/>
          </a:p>
        </p:txBody>
      </p:sp>
      <p:sp>
        <p:nvSpPr>
          <p:cNvPr id="12" name="Text 10"/>
          <p:cNvSpPr/>
          <p:nvPr/>
        </p:nvSpPr>
        <p:spPr>
          <a:xfrm>
            <a:off x="5225058" y="5787430"/>
            <a:ext cx="2174954"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rq5, rq7, rq8, rq9</a:t>
            </a:r>
            <a:endParaRPr lang="en-US" sz="2025" dirty="0"/>
          </a:p>
        </p:txBody>
      </p:sp>
      <p:sp>
        <p:nvSpPr>
          <p:cNvPr id="13" name="Text 11"/>
          <p:cNvSpPr/>
          <p:nvPr/>
        </p:nvSpPr>
        <p:spPr>
          <a:xfrm>
            <a:off x="1066800" y="6349405"/>
            <a:ext cx="4953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04</a:t>
            </a:r>
            <a:endParaRPr lang="en-US" sz="1950" dirty="0"/>
          </a:p>
        </p:txBody>
      </p:sp>
      <p:sp>
        <p:nvSpPr>
          <p:cNvPr id="14" name="Text 12"/>
          <p:cNvSpPr/>
          <p:nvPr/>
        </p:nvSpPr>
        <p:spPr>
          <a:xfrm>
            <a:off x="1695450" y="6339880"/>
            <a:ext cx="2933700"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EEF3F9"/>
                </a:solidFill>
                <a:latin typeface="Arial" pitchFamily="34" charset="0"/>
                <a:ea typeface="Arial" pitchFamily="34" charset="-122"/>
                <a:cs typeface="Arial" pitchFamily="34" charset="-120"/>
              </a:rPr>
              <a:t>Cluster arrêté</a:t>
            </a:r>
            <a:endParaRPr lang="en-US" sz="2400" dirty="0"/>
          </a:p>
        </p:txBody>
      </p:sp>
      <p:sp>
        <p:nvSpPr>
          <p:cNvPr id="15" name="Text 13"/>
          <p:cNvSpPr/>
          <p:nvPr/>
        </p:nvSpPr>
        <p:spPr>
          <a:xfrm>
            <a:off x="4572000" y="6346230"/>
            <a:ext cx="3273673"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fin de la facturation calcul</a:t>
            </a:r>
            <a:endParaRPr lang="en-US" sz="2025" dirty="0"/>
          </a:p>
        </p:txBody>
      </p:sp>
      <p:sp>
        <p:nvSpPr>
          <p:cNvPr id="16" name="Text 14"/>
          <p:cNvSpPr/>
          <p:nvPr/>
        </p:nvSpPr>
        <p:spPr>
          <a:xfrm>
            <a:off x="1066800" y="6908205"/>
            <a:ext cx="4953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FFB46E"/>
                </a:solidFill>
                <a:latin typeface="Courier New" pitchFamily="34" charset="0"/>
                <a:ea typeface="Courier New" pitchFamily="34" charset="-122"/>
                <a:cs typeface="Courier New" pitchFamily="34" charset="-120"/>
              </a:rPr>
              <a:t>05</a:t>
            </a:r>
            <a:endParaRPr lang="en-US" sz="1950" dirty="0"/>
          </a:p>
        </p:txBody>
      </p:sp>
      <p:sp>
        <p:nvSpPr>
          <p:cNvPr id="17" name="Text 15"/>
          <p:cNvSpPr/>
          <p:nvPr/>
        </p:nvSpPr>
        <p:spPr>
          <a:xfrm>
            <a:off x="1695450" y="6898680"/>
            <a:ext cx="3429089" cy="387350"/>
          </a:xfrm>
          <a:prstGeom prst="rect">
            <a:avLst/>
          </a:prstGeom>
          <a:noFill/>
          <a:ln/>
        </p:spPr>
        <p:txBody>
          <a:bodyPr wrap="square" lIns="25400" tIns="25400" rIns="25400" bIns="25400" rtlCol="0" anchor="t">
            <a:normAutofit/>
          </a:bodyPr>
          <a:lstStyle/>
          <a:p>
            <a:pPr algn="l" indent="0" marL="0">
              <a:buNone/>
            </a:pPr>
            <a:r>
              <a:rPr lang="en-US" sz="2400" b="1" dirty="0">
                <a:solidFill>
                  <a:srgbClr val="FFB46E"/>
                </a:solidFill>
                <a:latin typeface="Arial" pitchFamily="34" charset="0"/>
                <a:ea typeface="Arial" pitchFamily="34" charset="-122"/>
                <a:cs typeface="Arial" pitchFamily="34" charset="-120"/>
              </a:rPr>
              <a:t>Analyse &amp; visualisation</a:t>
            </a:r>
            <a:endParaRPr lang="en-US" sz="2400" dirty="0"/>
          </a:p>
        </p:txBody>
      </p:sp>
      <p:sp>
        <p:nvSpPr>
          <p:cNvPr id="18" name="Text 16"/>
          <p:cNvSpPr/>
          <p:nvPr/>
        </p:nvSpPr>
        <p:spPr>
          <a:xfrm>
            <a:off x="5022354" y="6905030"/>
            <a:ext cx="6759188" cy="374650"/>
          </a:xfrm>
          <a:prstGeom prst="rect">
            <a:avLst/>
          </a:prstGeom>
          <a:noFill/>
          <a:ln/>
        </p:spPr>
        <p:txBody>
          <a:bodyPr wrap="square" lIns="25400" tIns="25400" rIns="25400" bIns="25400" rtlCol="0" anchor="t">
            <a:normAutofit/>
          </a:bodyPr>
          <a:lstStyle/>
          <a:p>
            <a:pPr algn="l" indent="0" marL="0">
              <a:buNone/>
            </a:pPr>
            <a:r>
              <a:rPr lang="en-US" sz="2025" dirty="0">
                <a:solidFill>
                  <a:srgbClr val="8EA0B5"/>
                </a:solidFill>
                <a:latin typeface="Arial" pitchFamily="34" charset="0"/>
                <a:ea typeface="Arial" pitchFamily="34" charset="-122"/>
                <a:cs typeface="Arial" pitchFamily="34" charset="-120"/>
              </a:rPr>
              <a:t>QuickSight (tableaux de bord) ou Athena (SQL sur S3)</a:t>
            </a:r>
            <a:endParaRPr lang="en-US" sz="2025"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C121C"/>
        </a:solidFill>
      </p:bgPr>
    </p:bg>
    <p:spTree>
      <p:nvGrpSpPr>
        <p:cNvPr id="1" name=""/>
        <p:cNvGrpSpPr/>
        <p:nvPr/>
      </p:nvGrpSpPr>
      <p:grpSpPr>
        <a:xfrm>
          <a:off x="0" y="0"/>
          <a:ext cx="0" cy="0"/>
          <a:chOff x="0" y="0"/>
          <a:chExt cx="0" cy="0"/>
        </a:xfrm>
      </p:grpSpPr>
      <p:sp>
        <p:nvSpPr>
          <p:cNvPr id="2" name="Text 0"/>
          <p:cNvSpPr/>
          <p:nvPr/>
        </p:nvSpPr>
        <p:spPr>
          <a:xfrm>
            <a:off x="1066800" y="2680792"/>
            <a:ext cx="17769840" cy="342900"/>
          </a:xfrm>
          <a:prstGeom prst="rect">
            <a:avLst/>
          </a:prstGeom>
          <a:noFill/>
          <a:ln/>
        </p:spPr>
        <p:txBody>
          <a:bodyPr wrap="square" lIns="25400" tIns="25400" rIns="25400" bIns="25400" rtlCol="0" anchor="t">
            <a:normAutofit/>
          </a:bodyPr>
          <a:lstStyle/>
          <a:p>
            <a:pPr algn="l" indent="0" marL="0">
              <a:buNone/>
            </a:pPr>
            <a:r>
              <a:rPr lang="en-US" sz="1800" spc="432" kern="0" dirty="0">
                <a:solidFill>
                  <a:srgbClr val="56DBDB"/>
                </a:solidFill>
                <a:latin typeface="Courier New" pitchFamily="34" charset="0"/>
                <a:ea typeface="Courier New" pitchFamily="34" charset="-122"/>
                <a:cs typeface="Courier New" pitchFamily="34" charset="-120"/>
              </a:rPr>
              <a:t>BILAN DU MODULE</a:t>
            </a:r>
            <a:endParaRPr lang="en-US" sz="1800" dirty="0"/>
          </a:p>
        </p:txBody>
      </p:sp>
      <p:sp>
        <p:nvSpPr>
          <p:cNvPr id="3" name="Text 1"/>
          <p:cNvSpPr/>
          <p:nvPr/>
        </p:nvSpPr>
        <p:spPr>
          <a:xfrm>
            <a:off x="1066800" y="3176092"/>
            <a:ext cx="9079236" cy="1305917"/>
          </a:xfrm>
          <a:prstGeom prst="rect">
            <a:avLst/>
          </a:prstGeom>
          <a:noFill/>
          <a:ln/>
        </p:spPr>
        <p:txBody>
          <a:bodyPr wrap="square" lIns="25400" tIns="25400" rIns="25400" bIns="25400" rtlCol="0" anchor="t">
            <a:normAutofit/>
          </a:bodyPr>
          <a:lstStyle/>
          <a:p>
            <a:pPr algn="l" indent="0" marL="0">
              <a:lnSpc>
                <a:spcPct val="90764"/>
              </a:lnSpc>
              <a:buNone/>
            </a:pPr>
            <a:r>
              <a:rPr lang="en-US" sz="4800" b="1" spc="-96" kern="0" dirty="0">
                <a:solidFill>
                  <a:srgbClr val="EEF3F9"/>
                </a:solidFill>
                <a:latin typeface="Arial" pitchFamily="34" charset="0"/>
                <a:ea typeface="Arial" pitchFamily="34" charset="-122"/>
                <a:cs typeface="Arial" pitchFamily="34" charset="-120"/>
              </a:rPr>
              <a:t>Le projet fil rouge, de bout en bout</a:t>
            </a:r>
            <a:endParaRPr lang="en-US" sz="4800" dirty="0"/>
          </a:p>
        </p:txBody>
      </p:sp>
      <p:sp>
        <p:nvSpPr>
          <p:cNvPr id="4" name="Shape 2"/>
          <p:cNvSpPr/>
          <p:nvPr/>
        </p:nvSpPr>
        <p:spPr>
          <a:xfrm>
            <a:off x="1066800" y="4939209"/>
            <a:ext cx="2401590" cy="571500"/>
          </a:xfrm>
          <a:prstGeom prst="roundRect">
            <a:avLst>
              <a:gd name="adj" fmla="val 50000"/>
            </a:avLst>
          </a:prstGeom>
          <a:solidFill>
            <a:srgbClr val="FFFFFF">
              <a:alpha val="6000"/>
            </a:srgbClr>
          </a:solidFill>
          <a:ln w="6350">
            <a:solidFill>
              <a:srgbClr val="FFFFFF">
                <a:alpha val="10000"/>
              </a:srgbClr>
            </a:solidFill>
            <a:prstDash val="solid"/>
          </a:ln>
        </p:spPr>
      </p:sp>
      <p:sp>
        <p:nvSpPr>
          <p:cNvPr id="5" name="Text 3"/>
          <p:cNvSpPr/>
          <p:nvPr/>
        </p:nvSpPr>
        <p:spPr>
          <a:xfrm>
            <a:off x="1301750" y="5059859"/>
            <a:ext cx="200789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Courier New" pitchFamily="34" charset="0"/>
                <a:ea typeface="Courier New" pitchFamily="34" charset="-122"/>
                <a:cs typeface="Courier New" pitchFamily="34" charset="-120"/>
              </a:rPr>
              <a:t>purchases.txt</a:t>
            </a:r>
            <a:endParaRPr lang="en-US" sz="1950" dirty="0"/>
          </a:p>
        </p:txBody>
      </p:sp>
      <p:sp>
        <p:nvSpPr>
          <p:cNvPr id="6" name="Text 4"/>
          <p:cNvSpPr/>
          <p:nvPr/>
        </p:nvSpPr>
        <p:spPr>
          <a:xfrm>
            <a:off x="3582690" y="5063034"/>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7" name="Shape 5"/>
          <p:cNvSpPr/>
          <p:nvPr/>
        </p:nvSpPr>
        <p:spPr>
          <a:xfrm>
            <a:off x="3944640" y="4939209"/>
            <a:ext cx="1361480" cy="571500"/>
          </a:xfrm>
          <a:prstGeom prst="roundRect">
            <a:avLst>
              <a:gd name="adj" fmla="val 50000"/>
            </a:avLst>
          </a:prstGeom>
          <a:solidFill>
            <a:srgbClr val="FFFFFF">
              <a:alpha val="6000"/>
            </a:srgbClr>
          </a:solidFill>
          <a:ln w="6350">
            <a:solidFill>
              <a:srgbClr val="FFC287">
                <a:alpha val="41000"/>
              </a:srgbClr>
            </a:solidFill>
            <a:prstDash val="solid"/>
          </a:ln>
        </p:spPr>
      </p:sp>
      <p:sp>
        <p:nvSpPr>
          <p:cNvPr id="8" name="Text 6"/>
          <p:cNvSpPr/>
          <p:nvPr/>
        </p:nvSpPr>
        <p:spPr>
          <a:xfrm>
            <a:off x="4179590" y="5059859"/>
            <a:ext cx="96778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FFB46E"/>
                </a:solidFill>
                <a:latin typeface="Courier New" pitchFamily="34" charset="0"/>
                <a:ea typeface="Courier New" pitchFamily="34" charset="-122"/>
                <a:cs typeface="Courier New" pitchFamily="34" charset="-120"/>
              </a:rPr>
              <a:t>Docker</a:t>
            </a:r>
            <a:endParaRPr lang="en-US" sz="1950" dirty="0"/>
          </a:p>
        </p:txBody>
      </p:sp>
      <p:sp>
        <p:nvSpPr>
          <p:cNvPr id="9" name="Text 7"/>
          <p:cNvSpPr/>
          <p:nvPr/>
        </p:nvSpPr>
        <p:spPr>
          <a:xfrm>
            <a:off x="5420420" y="5063034"/>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10" name="Shape 8"/>
          <p:cNvSpPr/>
          <p:nvPr/>
        </p:nvSpPr>
        <p:spPr>
          <a:xfrm>
            <a:off x="5782370" y="4939209"/>
            <a:ext cx="1510109" cy="571500"/>
          </a:xfrm>
          <a:prstGeom prst="roundRect">
            <a:avLst>
              <a:gd name="adj" fmla="val 50000"/>
            </a:avLst>
          </a:prstGeom>
          <a:solidFill>
            <a:srgbClr val="FFFFFF">
              <a:alpha val="6000"/>
            </a:srgbClr>
          </a:solidFill>
          <a:ln w="6350">
            <a:solidFill>
              <a:srgbClr val="FFFFFF">
                <a:alpha val="10000"/>
              </a:srgbClr>
            </a:solidFill>
            <a:prstDash val="solid"/>
          </a:ln>
        </p:spPr>
      </p:sp>
      <p:sp>
        <p:nvSpPr>
          <p:cNvPr id="11" name="Text 9"/>
          <p:cNvSpPr/>
          <p:nvPr/>
        </p:nvSpPr>
        <p:spPr>
          <a:xfrm>
            <a:off x="6017320" y="5059859"/>
            <a:ext cx="1116409" cy="36830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Courier New" pitchFamily="34" charset="0"/>
                <a:ea typeface="Courier New" pitchFamily="34" charset="-122"/>
                <a:cs typeface="Courier New" pitchFamily="34" charset="-120"/>
              </a:rPr>
              <a:t>MongoDB</a:t>
            </a:r>
            <a:endParaRPr lang="en-US" sz="1950" dirty="0"/>
          </a:p>
        </p:txBody>
      </p:sp>
      <p:sp>
        <p:nvSpPr>
          <p:cNvPr id="12" name="Text 10"/>
          <p:cNvSpPr/>
          <p:nvPr/>
        </p:nvSpPr>
        <p:spPr>
          <a:xfrm>
            <a:off x="7406779" y="5063034"/>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13" name="Shape 11"/>
          <p:cNvSpPr/>
          <p:nvPr/>
        </p:nvSpPr>
        <p:spPr>
          <a:xfrm>
            <a:off x="7768729" y="4939209"/>
            <a:ext cx="1807270" cy="571500"/>
          </a:xfrm>
          <a:prstGeom prst="roundRect">
            <a:avLst>
              <a:gd name="adj" fmla="val 50000"/>
            </a:avLst>
          </a:prstGeom>
          <a:solidFill>
            <a:srgbClr val="FFFFFF">
              <a:alpha val="6000"/>
            </a:srgbClr>
          </a:solidFill>
          <a:ln w="6350">
            <a:solidFill>
              <a:srgbClr val="FFFFFF">
                <a:alpha val="10000"/>
              </a:srgbClr>
            </a:solidFill>
            <a:prstDash val="solid"/>
          </a:ln>
        </p:spPr>
      </p:sp>
      <p:sp>
        <p:nvSpPr>
          <p:cNvPr id="14" name="Text 12"/>
          <p:cNvSpPr/>
          <p:nvPr/>
        </p:nvSpPr>
        <p:spPr>
          <a:xfrm>
            <a:off x="8003679" y="5059859"/>
            <a:ext cx="141357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Courier New" pitchFamily="34" charset="0"/>
                <a:ea typeface="Courier New" pitchFamily="34" charset="-122"/>
                <a:cs typeface="Courier New" pitchFamily="34" charset="-120"/>
              </a:rPr>
              <a:t>Spark RDD</a:t>
            </a:r>
            <a:endParaRPr lang="en-US" sz="1950" dirty="0"/>
          </a:p>
        </p:txBody>
      </p:sp>
      <p:sp>
        <p:nvSpPr>
          <p:cNvPr id="15" name="Text 13"/>
          <p:cNvSpPr/>
          <p:nvPr/>
        </p:nvSpPr>
        <p:spPr>
          <a:xfrm>
            <a:off x="9690299" y="5063034"/>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16" name="Shape 14"/>
          <p:cNvSpPr/>
          <p:nvPr/>
        </p:nvSpPr>
        <p:spPr>
          <a:xfrm>
            <a:off x="10052249" y="4939209"/>
            <a:ext cx="1807270" cy="571500"/>
          </a:xfrm>
          <a:prstGeom prst="roundRect">
            <a:avLst>
              <a:gd name="adj" fmla="val 50000"/>
            </a:avLst>
          </a:prstGeom>
          <a:solidFill>
            <a:srgbClr val="FFFFFF">
              <a:alpha val="6000"/>
            </a:srgbClr>
          </a:solidFill>
          <a:ln w="6350">
            <a:solidFill>
              <a:srgbClr val="FFFFFF">
                <a:alpha val="10000"/>
              </a:srgbClr>
            </a:solidFill>
            <a:prstDash val="solid"/>
          </a:ln>
        </p:spPr>
      </p:sp>
      <p:sp>
        <p:nvSpPr>
          <p:cNvPr id="17" name="Text 15"/>
          <p:cNvSpPr/>
          <p:nvPr/>
        </p:nvSpPr>
        <p:spPr>
          <a:xfrm>
            <a:off x="10287199" y="5059859"/>
            <a:ext cx="141357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Courier New" pitchFamily="34" charset="0"/>
                <a:ea typeface="Courier New" pitchFamily="34" charset="-122"/>
                <a:cs typeface="Courier New" pitchFamily="34" charset="-120"/>
              </a:rPr>
              <a:t>DataFrame</a:t>
            </a:r>
            <a:endParaRPr lang="en-US" sz="1950" dirty="0"/>
          </a:p>
        </p:txBody>
      </p:sp>
      <p:sp>
        <p:nvSpPr>
          <p:cNvPr id="18" name="Text 16"/>
          <p:cNvSpPr/>
          <p:nvPr/>
        </p:nvSpPr>
        <p:spPr>
          <a:xfrm>
            <a:off x="11973818" y="5063034"/>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19" name="Shape 17"/>
          <p:cNvSpPr/>
          <p:nvPr/>
        </p:nvSpPr>
        <p:spPr>
          <a:xfrm>
            <a:off x="12335768" y="4939209"/>
            <a:ext cx="2847380" cy="571500"/>
          </a:xfrm>
          <a:prstGeom prst="roundRect">
            <a:avLst>
              <a:gd name="adj" fmla="val 50000"/>
            </a:avLst>
          </a:prstGeom>
          <a:solidFill>
            <a:srgbClr val="FFFFFF">
              <a:alpha val="6000"/>
            </a:srgbClr>
          </a:solidFill>
          <a:ln w="6350">
            <a:solidFill>
              <a:srgbClr val="FFFFFF">
                <a:alpha val="10000"/>
              </a:srgbClr>
            </a:solidFill>
            <a:prstDash val="solid"/>
          </a:ln>
        </p:spPr>
      </p:sp>
      <p:sp>
        <p:nvSpPr>
          <p:cNvPr id="20" name="Text 18"/>
          <p:cNvSpPr/>
          <p:nvPr/>
        </p:nvSpPr>
        <p:spPr>
          <a:xfrm>
            <a:off x="12570718" y="5059859"/>
            <a:ext cx="2462901" cy="36830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Courier New" pitchFamily="34" charset="0"/>
                <a:ea typeface="Courier New" pitchFamily="34" charset="-122"/>
                <a:cs typeface="Courier New" pitchFamily="34" charset="-120"/>
              </a:rPr>
              <a:t>Spark SQL / Hive</a:t>
            </a:r>
            <a:endParaRPr lang="en-US" sz="1950" dirty="0"/>
          </a:p>
        </p:txBody>
      </p:sp>
      <p:sp>
        <p:nvSpPr>
          <p:cNvPr id="21" name="Text 19"/>
          <p:cNvSpPr/>
          <p:nvPr/>
        </p:nvSpPr>
        <p:spPr>
          <a:xfrm>
            <a:off x="15297448" y="5063034"/>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22" name="Shape 20"/>
          <p:cNvSpPr/>
          <p:nvPr/>
        </p:nvSpPr>
        <p:spPr>
          <a:xfrm>
            <a:off x="1066800" y="5625009"/>
            <a:ext cx="1807270" cy="571500"/>
          </a:xfrm>
          <a:prstGeom prst="roundRect">
            <a:avLst>
              <a:gd name="adj" fmla="val 50000"/>
            </a:avLst>
          </a:prstGeom>
          <a:solidFill>
            <a:srgbClr val="FFFFFF">
              <a:alpha val="6000"/>
            </a:srgbClr>
          </a:solidFill>
          <a:ln w="6350">
            <a:solidFill>
              <a:srgbClr val="FFFFFF">
                <a:alpha val="10000"/>
              </a:srgbClr>
            </a:solidFill>
            <a:prstDash val="solid"/>
          </a:ln>
        </p:spPr>
      </p:sp>
      <p:sp>
        <p:nvSpPr>
          <p:cNvPr id="23" name="Text 21"/>
          <p:cNvSpPr/>
          <p:nvPr/>
        </p:nvSpPr>
        <p:spPr>
          <a:xfrm>
            <a:off x="1301750" y="5745659"/>
            <a:ext cx="141357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EEF3F9"/>
                </a:solidFill>
                <a:latin typeface="Courier New" pitchFamily="34" charset="0"/>
                <a:ea typeface="Courier New" pitchFamily="34" charset="-122"/>
                <a:cs typeface="Courier New" pitchFamily="34" charset="-120"/>
              </a:rPr>
              <a:t>Amazon S3</a:t>
            </a:r>
            <a:endParaRPr lang="en-US" sz="1950" dirty="0"/>
          </a:p>
        </p:txBody>
      </p:sp>
      <p:sp>
        <p:nvSpPr>
          <p:cNvPr id="24" name="Text 22"/>
          <p:cNvSpPr/>
          <p:nvPr/>
        </p:nvSpPr>
        <p:spPr>
          <a:xfrm>
            <a:off x="2988370" y="5748834"/>
            <a:ext cx="323850" cy="36195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Arial" pitchFamily="34" charset="0"/>
                <a:ea typeface="Arial" pitchFamily="34" charset="-122"/>
                <a:cs typeface="Arial" pitchFamily="34" charset="-120"/>
              </a:rPr>
              <a:t>→</a:t>
            </a:r>
            <a:endParaRPr lang="en-US" sz="1950" dirty="0"/>
          </a:p>
        </p:txBody>
      </p:sp>
      <p:sp>
        <p:nvSpPr>
          <p:cNvPr id="25" name="Shape 23"/>
          <p:cNvSpPr/>
          <p:nvPr/>
        </p:nvSpPr>
        <p:spPr>
          <a:xfrm>
            <a:off x="3350320" y="5625009"/>
            <a:ext cx="1955800" cy="571500"/>
          </a:xfrm>
          <a:prstGeom prst="roundRect">
            <a:avLst>
              <a:gd name="adj" fmla="val 50000"/>
            </a:avLst>
          </a:prstGeom>
          <a:solidFill>
            <a:srgbClr val="FFFFFF">
              <a:alpha val="6000"/>
            </a:srgbClr>
          </a:solidFill>
          <a:ln w="6350">
            <a:solidFill>
              <a:srgbClr val="75E1E1">
                <a:alpha val="46000"/>
              </a:srgbClr>
            </a:solidFill>
            <a:prstDash val="solid"/>
          </a:ln>
        </p:spPr>
      </p:sp>
      <p:sp>
        <p:nvSpPr>
          <p:cNvPr id="26" name="Text 24"/>
          <p:cNvSpPr/>
          <p:nvPr/>
        </p:nvSpPr>
        <p:spPr>
          <a:xfrm>
            <a:off x="3585270" y="5745659"/>
            <a:ext cx="1562100" cy="368300"/>
          </a:xfrm>
          <a:prstGeom prst="rect">
            <a:avLst/>
          </a:prstGeom>
          <a:noFill/>
          <a:ln/>
        </p:spPr>
        <p:txBody>
          <a:bodyPr wrap="square" lIns="25400" tIns="25400" rIns="25400" bIns="25400" rtlCol="0" anchor="t">
            <a:normAutofit/>
          </a:bodyPr>
          <a:lstStyle/>
          <a:p>
            <a:pPr algn="l" indent="0" marL="0">
              <a:buNone/>
            </a:pPr>
            <a:r>
              <a:rPr lang="en-US" sz="1950" dirty="0">
                <a:solidFill>
                  <a:srgbClr val="56DBDB"/>
                </a:solidFill>
                <a:latin typeface="Courier New" pitchFamily="34" charset="0"/>
                <a:ea typeface="Courier New" pitchFamily="34" charset="-122"/>
                <a:cs typeface="Courier New" pitchFamily="34" charset="-120"/>
              </a:rPr>
              <a:t>Amazon EMR</a:t>
            </a:r>
            <a:endParaRPr lang="en-US" sz="1950" dirty="0"/>
          </a:p>
        </p:txBody>
      </p:sp>
      <p:sp>
        <p:nvSpPr>
          <p:cNvPr id="27" name="Text 25"/>
          <p:cNvSpPr/>
          <p:nvPr/>
        </p:nvSpPr>
        <p:spPr>
          <a:xfrm>
            <a:off x="1066800" y="6691809"/>
            <a:ext cx="16639032" cy="952500"/>
          </a:xfrm>
          <a:prstGeom prst="rect">
            <a:avLst/>
          </a:prstGeom>
          <a:noFill/>
          <a:ln/>
        </p:spPr>
        <p:txBody>
          <a:bodyPr wrap="square" lIns="25400" tIns="25400" rIns="25400" bIns="25400" rtlCol="0" anchor="t">
            <a:normAutofit/>
          </a:bodyPr>
          <a:lstStyle/>
          <a:p>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Pour chaque brique : </a:t>
            </a:r>
            <a:pPr algn="l" indent="0" marL="0">
              <a:lnSpc>
                <a:spcPct val="130909"/>
              </a:lnSpc>
              <a:buNone/>
            </a:pPr>
            <a:r>
              <a:rPr lang="en-US" sz="2400" dirty="0">
                <a:solidFill>
                  <a:srgbClr val="EEF3F9"/>
                </a:solidFill>
                <a:latin typeface="Arial" pitchFamily="34" charset="0"/>
                <a:ea typeface="Arial" pitchFamily="34" charset="-122"/>
                <a:cs typeface="Arial" pitchFamily="34" charset="-120"/>
              </a:rPr>
              <a:t>quelle limite technique elle résout </a:t>
            </a:r>
            <a:pPr algn="l" indent="0" marL="0">
              <a:lnSpc>
                <a:spcPct val="130909"/>
              </a:lnSpc>
              <a:buNone/>
            </a:pPr>
            <a:r>
              <a:rPr lang="en-US" sz="2400" dirty="0">
                <a:solidFill>
                  <a:srgbClr val="8EA0B5"/>
                </a:solidFill>
                <a:latin typeface="Arial" pitchFamily="34" charset="0"/>
                <a:ea typeface="Arial" pitchFamily="34" charset="-122"/>
                <a:cs typeface="Arial" pitchFamily="34" charset="-120"/>
              </a:rPr>
              <a:t>par rapport à l'étape précédente — et un même résultat métier retrouvé par quatre méthodes : RDD, DataFrame, Spark SQL, HiveQL.</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2026-07-15T11:29:01Z</dcterms:created>
  <dcterms:modified xsi:type="dcterms:W3CDTF">2026-07-15T11:29:01Z</dcterms:modified>
</cp:coreProperties>
</file>